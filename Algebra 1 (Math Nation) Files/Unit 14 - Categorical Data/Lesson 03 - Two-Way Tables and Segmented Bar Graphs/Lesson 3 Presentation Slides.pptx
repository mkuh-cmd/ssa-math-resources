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352" r:id="rId8"/>
    <p:sldId id="353" r:id="rId9"/>
    <p:sldId id="354" r:id="rId10"/>
    <p:sldId id="355" r:id="rId11"/>
    <p:sldId id="356" r:id="rId12"/>
    <p:sldId id="357" r:id="rId13"/>
    <p:sldId id="366" r:id="rId14"/>
    <p:sldId id="367" r:id="rId15"/>
    <p:sldId id="359" r:id="rId16"/>
    <p:sldId id="360" r:id="rId17"/>
    <p:sldId id="361" r:id="rId18"/>
    <p:sldId id="362" r:id="rId19"/>
    <p:sldId id="368" r:id="rId20"/>
    <p:sldId id="369" r:id="rId21"/>
    <p:sldId id="363" r:id="rId22"/>
    <p:sldId id="364" r:id="rId23"/>
    <p:sldId id="365" r:id="rId24"/>
    <p:sldId id="306" r:id="rId25"/>
    <p:sldId id="307" r:id="rId26"/>
    <p:sldId id="35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52"/>
    <p:restoredTop sz="94719"/>
  </p:normalViewPr>
  <p:slideViewPr>
    <p:cSldViewPr snapToGrid="0">
      <p:cViewPr varScale="1">
        <p:scale>
          <a:sx n="81" d="100"/>
          <a:sy n="81" d="100"/>
        </p:scale>
        <p:origin x="61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TV</a:t>
            </a:r>
            <a:r>
              <a:rPr lang="en-US" sz="1800" b="1" baseline="0">
                <a:solidFill>
                  <a:schemeClr val="tx1"/>
                </a:solidFill>
                <a:latin typeface="Verdana" panose="020B0604030504040204" pitchFamily="34" charset="0"/>
                <a:ea typeface="Verdana" panose="020B0604030504040204" pitchFamily="34" charset="0"/>
                <a:cs typeface="Verdana" panose="020B0604030504040204" pitchFamily="34" charset="0"/>
              </a:rPr>
              <a:t> Watched by People Who Play Sports and Those Who Don't</a:t>
            </a:r>
            <a:endParaRPr lang="en-US" sz="1800" b="1">
              <a:solidFill>
                <a:schemeClr val="tx1"/>
              </a:solidFill>
              <a:latin typeface="Verdana" panose="020B0604030504040204" pitchFamily="34" charset="0"/>
              <a:ea typeface="Verdana" panose="020B0604030504040204" pitchFamily="34" charset="0"/>
              <a:cs typeface="Verdana" panose="020B060403050404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Watch 1 or more hours of TV per day</c:v>
                </c:pt>
              </c:strCache>
            </c:strRef>
          </c:tx>
          <c:spPr>
            <a:solidFill>
              <a:schemeClr val="accent1"/>
            </a:solidFill>
            <a:ln>
              <a:noFill/>
            </a:ln>
            <a:effectLst/>
          </c:spPr>
          <c:invertIfNegative val="0"/>
          <c:cat>
            <c:strRef>
              <c:f>Sheet1!$A$2:$A$5</c:f>
              <c:strCache>
                <c:ptCount val="2"/>
                <c:pt idx="0">
                  <c:v>Play Sports</c:v>
                </c:pt>
                <c:pt idx="1">
                  <c:v>Don't Play Sports </c:v>
                </c:pt>
              </c:strCache>
            </c:strRef>
          </c:cat>
          <c:val>
            <c:numRef>
              <c:f>Sheet1!$B$2:$B$5</c:f>
              <c:numCache>
                <c:formatCode>General</c:formatCode>
                <c:ptCount val="4"/>
                <c:pt idx="0">
                  <c:v>15</c:v>
                </c:pt>
                <c:pt idx="1">
                  <c:v>50</c:v>
                </c:pt>
              </c:numCache>
            </c:numRef>
          </c:val>
          <c:extLst>
            <c:ext xmlns:c16="http://schemas.microsoft.com/office/drawing/2014/chart" uri="{C3380CC4-5D6E-409C-BE32-E72D297353CC}">
              <c16:uniqueId val="{00000000-E48C-E647-96BC-F61BB5C5E6A1}"/>
            </c:ext>
          </c:extLst>
        </c:ser>
        <c:ser>
          <c:idx val="1"/>
          <c:order val="1"/>
          <c:tx>
            <c:strRef>
              <c:f>Sheet1!$C$1</c:f>
              <c:strCache>
                <c:ptCount val="1"/>
                <c:pt idx="0">
                  <c:v>Watch less than 1 hour of TV per day</c:v>
                </c:pt>
              </c:strCache>
            </c:strRef>
          </c:tx>
          <c:spPr>
            <a:solidFill>
              <a:schemeClr val="accent2"/>
            </a:solidFill>
            <a:ln>
              <a:noFill/>
            </a:ln>
            <a:effectLst/>
          </c:spPr>
          <c:invertIfNegative val="0"/>
          <c:cat>
            <c:strRef>
              <c:f>Sheet1!$A$2:$A$5</c:f>
              <c:strCache>
                <c:ptCount val="2"/>
                <c:pt idx="0">
                  <c:v>Play Sports</c:v>
                </c:pt>
                <c:pt idx="1">
                  <c:v>Don't Play Sports </c:v>
                </c:pt>
              </c:strCache>
            </c:strRef>
          </c:cat>
          <c:val>
            <c:numRef>
              <c:f>Sheet1!$C$2:$C$5</c:f>
              <c:numCache>
                <c:formatCode>General</c:formatCode>
                <c:ptCount val="4"/>
                <c:pt idx="0">
                  <c:v>20</c:v>
                </c:pt>
                <c:pt idx="1">
                  <c:v>30</c:v>
                </c:pt>
              </c:numCache>
            </c:numRef>
          </c:val>
          <c:extLst>
            <c:ext xmlns:c16="http://schemas.microsoft.com/office/drawing/2014/chart" uri="{C3380CC4-5D6E-409C-BE32-E72D297353CC}">
              <c16:uniqueId val="{00000001-E48C-E647-96BC-F61BB5C5E6A1}"/>
            </c:ext>
          </c:extLst>
        </c:ser>
        <c:dLbls>
          <c:showLegendKey val="0"/>
          <c:showVal val="0"/>
          <c:showCatName val="0"/>
          <c:showSerName val="0"/>
          <c:showPercent val="0"/>
          <c:showBubbleSize val="0"/>
        </c:dLbls>
        <c:gapWidth val="150"/>
        <c:overlap val="100"/>
        <c:axId val="2112678584"/>
        <c:axId val="2112682104"/>
      </c:barChart>
      <c:catAx>
        <c:axId val="2112678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2112682104"/>
        <c:crosses val="autoZero"/>
        <c:auto val="1"/>
        <c:lblAlgn val="ctr"/>
        <c:lblOffset val="100"/>
        <c:noMultiLvlLbl val="0"/>
      </c:catAx>
      <c:valAx>
        <c:axId val="2112682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11267858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legendEntry>
      <c:legendEntry>
        <c:idx val="1"/>
        <c:txPr>
          <a:bodyPr rot="0" spcFirstLastPara="1" vertOverflow="ellipsis" vert="horz" wrap="square" anchor="ctr" anchorCtr="1"/>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legendEntry>
      <c:layout>
        <c:manualLayout>
          <c:xMode val="edge"/>
          <c:yMode val="edge"/>
          <c:x val="0.49230076348667801"/>
          <c:y val="0.212313093191937"/>
          <c:w val="0.50332094866244803"/>
          <c:h val="0.4697008186994179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Teen Social Media Survey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Mostly Positive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Too Much</c:v>
                </c:pt>
                <c:pt idx="1">
                  <c:v>Too Little</c:v>
                </c:pt>
                <c:pt idx="2">
                  <c:v>Just Right</c:v>
                </c:pt>
              </c:strCache>
            </c:strRef>
          </c:cat>
          <c:val>
            <c:numRef>
              <c:f>Sheet1!$B$2:$B$4</c:f>
              <c:numCache>
                <c:formatCode>General</c:formatCode>
                <c:ptCount val="3"/>
                <c:pt idx="0">
                  <c:v>22</c:v>
                </c:pt>
                <c:pt idx="1">
                  <c:v>87</c:v>
                </c:pt>
                <c:pt idx="2">
                  <c:v>110</c:v>
                </c:pt>
              </c:numCache>
            </c:numRef>
          </c:val>
          <c:extLst>
            <c:ext xmlns:c16="http://schemas.microsoft.com/office/drawing/2014/chart" uri="{C3380CC4-5D6E-409C-BE32-E72D297353CC}">
              <c16:uniqueId val="{00000000-3CC4-934D-A6B7-69E6B16DBA80}"/>
            </c:ext>
          </c:extLst>
        </c:ser>
        <c:ser>
          <c:idx val="1"/>
          <c:order val="1"/>
          <c:tx>
            <c:strRef>
              <c:f>Sheet1!$C$1</c:f>
              <c:strCache>
                <c:ptCount val="1"/>
                <c:pt idx="0">
                  <c:v>Mostly Negative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Too Much</c:v>
                </c:pt>
                <c:pt idx="1">
                  <c:v>Too Little</c:v>
                </c:pt>
                <c:pt idx="2">
                  <c:v>Just Right</c:v>
                </c:pt>
              </c:strCache>
            </c:strRef>
          </c:cat>
          <c:val>
            <c:numRef>
              <c:f>Sheet1!$C$2:$C$4</c:f>
              <c:numCache>
                <c:formatCode>General</c:formatCode>
                <c:ptCount val="3"/>
                <c:pt idx="0">
                  <c:v>21</c:v>
                </c:pt>
                <c:pt idx="1">
                  <c:v>77</c:v>
                </c:pt>
                <c:pt idx="2">
                  <c:v>113</c:v>
                </c:pt>
              </c:numCache>
            </c:numRef>
          </c:val>
          <c:extLst>
            <c:ext xmlns:c16="http://schemas.microsoft.com/office/drawing/2014/chart" uri="{C3380CC4-5D6E-409C-BE32-E72D297353CC}">
              <c16:uniqueId val="{00000001-3CC4-934D-A6B7-69E6B16DBA80}"/>
            </c:ext>
          </c:extLst>
        </c:ser>
        <c:ser>
          <c:idx val="2"/>
          <c:order val="2"/>
          <c:tx>
            <c:strRef>
              <c:f>Sheet1!$D$1</c:f>
              <c:strCache>
                <c:ptCount val="1"/>
                <c:pt idx="0">
                  <c:v>Neutral</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Too Much</c:v>
                </c:pt>
                <c:pt idx="1">
                  <c:v>Too Little</c:v>
                </c:pt>
                <c:pt idx="2">
                  <c:v>Just Right</c:v>
                </c:pt>
              </c:strCache>
            </c:strRef>
          </c:cat>
          <c:val>
            <c:numRef>
              <c:f>Sheet1!$D$2:$D$4</c:f>
              <c:numCache>
                <c:formatCode>General</c:formatCode>
                <c:ptCount val="3"/>
                <c:pt idx="0">
                  <c:v>20</c:v>
                </c:pt>
                <c:pt idx="1">
                  <c:v>105</c:v>
                </c:pt>
                <c:pt idx="2">
                  <c:v>186</c:v>
                </c:pt>
              </c:numCache>
            </c:numRef>
          </c:val>
          <c:extLst>
            <c:ext xmlns:c16="http://schemas.microsoft.com/office/drawing/2014/chart" uri="{C3380CC4-5D6E-409C-BE32-E72D297353CC}">
              <c16:uniqueId val="{00000002-3CC4-934D-A6B7-69E6B16DBA80}"/>
            </c:ext>
          </c:extLst>
        </c:ser>
        <c:dLbls>
          <c:dLblPos val="ctr"/>
          <c:showLegendKey val="0"/>
          <c:showVal val="1"/>
          <c:showCatName val="0"/>
          <c:showSerName val="0"/>
          <c:showPercent val="0"/>
          <c:showBubbleSize val="0"/>
        </c:dLbls>
        <c:gapWidth val="150"/>
        <c:overlap val="100"/>
        <c:axId val="2020052920"/>
        <c:axId val="2020064520"/>
      </c:barChart>
      <c:catAx>
        <c:axId val="2020052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2020064520"/>
        <c:crosses val="autoZero"/>
        <c:auto val="1"/>
        <c:lblAlgn val="ctr"/>
        <c:lblOffset val="100"/>
        <c:noMultiLvlLbl val="0"/>
      </c:catAx>
      <c:valAx>
        <c:axId val="2020064520"/>
        <c:scaling>
          <c:orientation val="minMax"/>
          <c:max val="45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2020052920"/>
        <c:crosses val="autoZero"/>
        <c:crossBetween val="between"/>
      </c:valAx>
      <c:spPr>
        <a:noFill/>
        <a:ln>
          <a:noFill/>
        </a:ln>
        <a:effectLst/>
      </c:spPr>
    </c:plotArea>
    <c:legend>
      <c:legendPos val="b"/>
      <c:legendEntry>
        <c:idx val="2"/>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legendEntry>
      <c:layout>
        <c:manualLayout>
          <c:xMode val="edge"/>
          <c:yMode val="edge"/>
          <c:x val="4.9999911982833101E-2"/>
          <c:y val="0.90305353077549699"/>
          <c:w val="0.95000008801716695"/>
          <c:h val="7.9263003265175394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Sheet1!$A$1</c:f>
              <c:strCache>
                <c:ptCount val="1"/>
                <c:pt idx="0">
                  <c:v> </c:v>
                </c:pt>
              </c:strCache>
            </c:strRef>
          </c:tx>
          <c:spPr>
            <a:solidFill>
              <a:schemeClr val="accent1"/>
            </a:solidFill>
            <a:ln>
              <a:noFill/>
            </a:ln>
            <a:effectLst/>
          </c:spPr>
          <c:invertIfNegative val="0"/>
          <c:val>
            <c:numRef>
              <c:f>Sheet1!$A$2:$A$4</c:f>
              <c:numCache>
                <c:formatCode>General</c:formatCode>
                <c:ptCount val="3"/>
                <c:pt idx="0">
                  <c:v>0</c:v>
                </c:pt>
                <c:pt idx="1">
                  <c:v>0</c:v>
                </c:pt>
                <c:pt idx="2">
                  <c:v>0</c:v>
                </c:pt>
              </c:numCache>
            </c:numRef>
          </c:val>
          <c:extLst>
            <c:ext xmlns:c16="http://schemas.microsoft.com/office/drawing/2014/chart" uri="{C3380CC4-5D6E-409C-BE32-E72D297353CC}">
              <c16:uniqueId val="{00000000-F6C8-9D40-BCA5-D0768DF3B841}"/>
            </c:ext>
          </c:extLst>
        </c:ser>
        <c:ser>
          <c:idx val="1"/>
          <c:order val="1"/>
          <c:tx>
            <c:strRef>
              <c:f>Sheet1!$B$1</c:f>
              <c:strCache>
                <c:ptCount val="1"/>
                <c:pt idx="0">
                  <c:v>Series 1</c:v>
                </c:pt>
              </c:strCache>
            </c:strRef>
          </c:tx>
          <c:spPr>
            <a:solidFill>
              <a:schemeClr val="accent2"/>
            </a:solidFill>
            <a:ln>
              <a:noFill/>
            </a:ln>
            <a:effectLst/>
          </c:spPr>
          <c:invertIfNegative val="0"/>
          <c:val>
            <c:numRef>
              <c:f>Sheet1!$B$2:$B$4</c:f>
              <c:numCache>
                <c:formatCode>General</c:formatCode>
                <c:ptCount val="3"/>
                <c:pt idx="0">
                  <c:v>18</c:v>
                </c:pt>
                <c:pt idx="1">
                  <c:v>39</c:v>
                </c:pt>
                <c:pt idx="2">
                  <c:v>20</c:v>
                </c:pt>
              </c:numCache>
            </c:numRef>
          </c:val>
          <c:extLst>
            <c:ext xmlns:c16="http://schemas.microsoft.com/office/drawing/2014/chart" uri="{C3380CC4-5D6E-409C-BE32-E72D297353CC}">
              <c16:uniqueId val="{00000001-F6C8-9D40-BCA5-D0768DF3B841}"/>
            </c:ext>
          </c:extLst>
        </c:ser>
        <c:ser>
          <c:idx val="2"/>
          <c:order val="2"/>
          <c:tx>
            <c:strRef>
              <c:f>Sheet1!$C$1</c:f>
              <c:strCache>
                <c:ptCount val="1"/>
                <c:pt idx="0">
                  <c:v>Series 2</c:v>
                </c:pt>
              </c:strCache>
            </c:strRef>
          </c:tx>
          <c:spPr>
            <a:solidFill>
              <a:schemeClr val="accent3"/>
            </a:solidFill>
            <a:ln>
              <a:noFill/>
            </a:ln>
            <a:effectLst/>
          </c:spPr>
          <c:invertIfNegative val="0"/>
          <c:val>
            <c:numRef>
              <c:f>Sheet1!$C$2:$C$4</c:f>
              <c:numCache>
                <c:formatCode>General</c:formatCode>
                <c:ptCount val="3"/>
                <c:pt idx="0">
                  <c:v>22</c:v>
                </c:pt>
                <c:pt idx="1">
                  <c:v>48</c:v>
                </c:pt>
                <c:pt idx="2">
                  <c:v>24</c:v>
                </c:pt>
              </c:numCache>
            </c:numRef>
          </c:val>
          <c:extLst>
            <c:ext xmlns:c16="http://schemas.microsoft.com/office/drawing/2014/chart" uri="{C3380CC4-5D6E-409C-BE32-E72D297353CC}">
              <c16:uniqueId val="{00000002-F6C8-9D40-BCA5-D0768DF3B841}"/>
            </c:ext>
          </c:extLst>
        </c:ser>
        <c:ser>
          <c:idx val="3"/>
          <c:order val="3"/>
          <c:tx>
            <c:strRef>
              <c:f>Sheet1!$D$1</c:f>
              <c:strCache>
                <c:ptCount val="1"/>
                <c:pt idx="0">
                  <c:v>Column1</c:v>
                </c:pt>
              </c:strCache>
            </c:strRef>
          </c:tx>
          <c:spPr>
            <a:solidFill>
              <a:schemeClr val="accent4"/>
            </a:solidFill>
            <a:ln>
              <a:noFill/>
            </a:ln>
            <a:effectLst/>
          </c:spPr>
          <c:invertIfNegative val="0"/>
          <c:val>
            <c:numRef>
              <c:f>Sheet1!$D$2:$D$4</c:f>
              <c:numCache>
                <c:formatCode>General</c:formatCode>
                <c:ptCount val="3"/>
              </c:numCache>
            </c:numRef>
          </c:val>
          <c:extLst>
            <c:ext xmlns:c16="http://schemas.microsoft.com/office/drawing/2014/chart" uri="{C3380CC4-5D6E-409C-BE32-E72D297353CC}">
              <c16:uniqueId val="{00000003-F6C8-9D40-BCA5-D0768DF3B841}"/>
            </c:ext>
          </c:extLst>
        </c:ser>
        <c:dLbls>
          <c:showLegendKey val="0"/>
          <c:showVal val="0"/>
          <c:showCatName val="0"/>
          <c:showSerName val="0"/>
          <c:showPercent val="0"/>
          <c:showBubbleSize val="0"/>
        </c:dLbls>
        <c:gapWidth val="150"/>
        <c:overlap val="100"/>
        <c:axId val="2112149240"/>
        <c:axId val="2112152360"/>
      </c:barChart>
      <c:catAx>
        <c:axId val="2112149240"/>
        <c:scaling>
          <c:orientation val="minMax"/>
        </c:scaling>
        <c:delete val="1"/>
        <c:axPos val="b"/>
        <c:numFmt formatCode="General" sourceLinked="1"/>
        <c:majorTickMark val="none"/>
        <c:minorTickMark val="none"/>
        <c:tickLblPos val="nextTo"/>
        <c:crossAx val="2112152360"/>
        <c:crosses val="autoZero"/>
        <c:auto val="1"/>
        <c:lblAlgn val="ctr"/>
        <c:lblOffset val="100"/>
        <c:noMultiLvlLbl val="0"/>
      </c:catAx>
      <c:valAx>
        <c:axId val="2112152360"/>
        <c:scaling>
          <c:orientation val="minMax"/>
          <c:max val="9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Cambria Math" panose="02040503050406030204" pitchFamily="18" charset="0"/>
                <a:ea typeface="Cambria Math" panose="02040503050406030204" pitchFamily="18" charset="0"/>
                <a:cs typeface="Verdana" panose="020B0604030504040204" pitchFamily="34" charset="0"/>
              </a:defRPr>
            </a:pPr>
            <a:endParaRPr lang="en-US"/>
          </a:p>
        </c:txPr>
        <c:crossAx val="2112149240"/>
        <c:crosses val="autoZero"/>
        <c:crossBetween val="between"/>
        <c:majorUnit val="1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calm</c:v>
                </c:pt>
              </c:strCache>
            </c:strRef>
          </c:tx>
          <c:spPr>
            <a:solidFill>
              <a:schemeClr val="accent1"/>
            </a:solidFill>
            <a:ln>
              <a:noFill/>
            </a:ln>
            <a:effectLst/>
          </c:spPr>
          <c:invertIfNegative val="0"/>
          <c:cat>
            <c:strRef>
              <c:f>Sheet1!$A$2:$A$3</c:f>
              <c:strCache>
                <c:ptCount val="2"/>
                <c:pt idx="0">
                  <c:v>meditated </c:v>
                </c:pt>
                <c:pt idx="1">
                  <c:v>did not meditate</c:v>
                </c:pt>
              </c:strCache>
            </c:strRef>
          </c:cat>
          <c:val>
            <c:numRef>
              <c:f>Sheet1!$B$2:$B$3</c:f>
              <c:numCache>
                <c:formatCode>General</c:formatCode>
                <c:ptCount val="2"/>
                <c:pt idx="0">
                  <c:v>52</c:v>
                </c:pt>
                <c:pt idx="1">
                  <c:v>6</c:v>
                </c:pt>
              </c:numCache>
            </c:numRef>
          </c:val>
          <c:extLst>
            <c:ext xmlns:c16="http://schemas.microsoft.com/office/drawing/2014/chart" uri="{C3380CC4-5D6E-409C-BE32-E72D297353CC}">
              <c16:uniqueId val="{00000000-35FD-214A-8FBA-ED1183D2E9D3}"/>
            </c:ext>
          </c:extLst>
        </c:ser>
        <c:ser>
          <c:idx val="1"/>
          <c:order val="1"/>
          <c:tx>
            <c:strRef>
              <c:f>Sheet1!$C$1</c:f>
              <c:strCache>
                <c:ptCount val="1"/>
                <c:pt idx="0">
                  <c:v>excited</c:v>
                </c:pt>
              </c:strCache>
            </c:strRef>
          </c:tx>
          <c:spPr>
            <a:solidFill>
              <a:schemeClr val="accent2"/>
            </a:solidFill>
            <a:ln>
              <a:noFill/>
            </a:ln>
            <a:effectLst/>
          </c:spPr>
          <c:invertIfNegative val="0"/>
          <c:cat>
            <c:strRef>
              <c:f>Sheet1!$A$2:$A$3</c:f>
              <c:strCache>
                <c:ptCount val="2"/>
                <c:pt idx="0">
                  <c:v>meditated </c:v>
                </c:pt>
                <c:pt idx="1">
                  <c:v>did not meditate</c:v>
                </c:pt>
              </c:strCache>
            </c:strRef>
          </c:cat>
          <c:val>
            <c:numRef>
              <c:f>Sheet1!$C$2:$C$3</c:f>
              <c:numCache>
                <c:formatCode>General</c:formatCode>
                <c:ptCount val="2"/>
                <c:pt idx="0">
                  <c:v>11</c:v>
                </c:pt>
                <c:pt idx="1">
                  <c:v>24</c:v>
                </c:pt>
              </c:numCache>
            </c:numRef>
          </c:val>
          <c:extLst>
            <c:ext xmlns:c16="http://schemas.microsoft.com/office/drawing/2014/chart" uri="{C3380CC4-5D6E-409C-BE32-E72D297353CC}">
              <c16:uniqueId val="{00000001-35FD-214A-8FBA-ED1183D2E9D3}"/>
            </c:ext>
          </c:extLst>
        </c:ser>
        <c:ser>
          <c:idx val="2"/>
          <c:order val="2"/>
          <c:tx>
            <c:strRef>
              <c:f>Sheet1!$D$1</c:f>
              <c:strCache>
                <c:ptCount val="1"/>
                <c:pt idx="0">
                  <c:v>agitated</c:v>
                </c:pt>
              </c:strCache>
            </c:strRef>
          </c:tx>
          <c:spPr>
            <a:solidFill>
              <a:schemeClr val="accent3"/>
            </a:solidFill>
            <a:ln>
              <a:noFill/>
            </a:ln>
            <a:effectLst/>
          </c:spPr>
          <c:invertIfNegative val="0"/>
          <c:cat>
            <c:strRef>
              <c:f>Sheet1!$A$2:$A$3</c:f>
              <c:strCache>
                <c:ptCount val="2"/>
                <c:pt idx="0">
                  <c:v>meditated </c:v>
                </c:pt>
                <c:pt idx="1">
                  <c:v>did not meditate</c:v>
                </c:pt>
              </c:strCache>
            </c:strRef>
          </c:cat>
          <c:val>
            <c:numRef>
              <c:f>Sheet1!$D$2:$D$3</c:f>
              <c:numCache>
                <c:formatCode>General</c:formatCode>
                <c:ptCount val="2"/>
                <c:pt idx="0">
                  <c:v>9</c:v>
                </c:pt>
                <c:pt idx="1">
                  <c:v>15</c:v>
                </c:pt>
              </c:numCache>
            </c:numRef>
          </c:val>
          <c:extLst>
            <c:ext xmlns:c16="http://schemas.microsoft.com/office/drawing/2014/chart" uri="{C3380CC4-5D6E-409C-BE32-E72D297353CC}">
              <c16:uniqueId val="{00000002-35FD-214A-8FBA-ED1183D2E9D3}"/>
            </c:ext>
          </c:extLst>
        </c:ser>
        <c:dLbls>
          <c:showLegendKey val="0"/>
          <c:showVal val="0"/>
          <c:showCatName val="0"/>
          <c:showSerName val="0"/>
          <c:showPercent val="0"/>
          <c:showBubbleSize val="0"/>
        </c:dLbls>
        <c:gapWidth val="150"/>
        <c:overlap val="100"/>
        <c:axId val="2064244760"/>
        <c:axId val="2106294184"/>
      </c:barChart>
      <c:catAx>
        <c:axId val="2064244760"/>
        <c:scaling>
          <c:orientation val="minMax"/>
        </c:scaling>
        <c:delete val="1"/>
        <c:axPos val="b"/>
        <c:numFmt formatCode="General" sourceLinked="1"/>
        <c:majorTickMark val="none"/>
        <c:minorTickMark val="none"/>
        <c:tickLblPos val="nextTo"/>
        <c:crossAx val="2106294184"/>
        <c:crosses val="autoZero"/>
        <c:auto val="1"/>
        <c:lblAlgn val="ctr"/>
        <c:lblOffset val="100"/>
        <c:noMultiLvlLbl val="0"/>
      </c:catAx>
      <c:valAx>
        <c:axId val="2106294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Cambria Math" panose="02040503050406030204" pitchFamily="18" charset="0"/>
                <a:ea typeface="Cambria Math" panose="02040503050406030204" pitchFamily="18" charset="0"/>
                <a:cs typeface="+mn-cs"/>
              </a:defRPr>
            </a:pPr>
            <a:endParaRPr lang="en-US"/>
          </a:p>
        </c:txPr>
        <c:crossAx val="2064244760"/>
        <c:crosses val="autoZero"/>
        <c:crossBetween val="between"/>
        <c:majorUnit val="1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Column 2</c:v>
                </c:pt>
              </c:strCache>
            </c:strRef>
          </c:tx>
          <c:spPr>
            <a:solidFill>
              <a:schemeClr val="accent1"/>
            </a:solidFill>
            <a:ln>
              <a:noFill/>
            </a:ln>
            <a:effectLst/>
          </c:spPr>
          <c:invertIfNegative val="0"/>
          <c:cat>
            <c:numRef>
              <c:f>Sheet1!$A$2:$A$4</c:f>
              <c:numCache>
                <c:formatCode>General</c:formatCode>
                <c:ptCount val="3"/>
              </c:numCache>
            </c:numRef>
          </c:cat>
          <c:val>
            <c:numRef>
              <c:f>Sheet1!$B$2:$B$4</c:f>
              <c:numCache>
                <c:formatCode>General</c:formatCode>
                <c:ptCount val="3"/>
                <c:pt idx="0">
                  <c:v>147</c:v>
                </c:pt>
                <c:pt idx="1">
                  <c:v>72</c:v>
                </c:pt>
                <c:pt idx="2">
                  <c:v>90</c:v>
                </c:pt>
              </c:numCache>
            </c:numRef>
          </c:val>
          <c:extLst>
            <c:ext xmlns:c16="http://schemas.microsoft.com/office/drawing/2014/chart" uri="{C3380CC4-5D6E-409C-BE32-E72D297353CC}">
              <c16:uniqueId val="{00000000-292B-AE40-B38A-0DCA39F68EB2}"/>
            </c:ext>
          </c:extLst>
        </c:ser>
        <c:ser>
          <c:idx val="1"/>
          <c:order val="1"/>
          <c:tx>
            <c:strRef>
              <c:f>Sheet1!$C$1</c:f>
              <c:strCache>
                <c:ptCount val="1"/>
                <c:pt idx="0">
                  <c:v>Column 3</c:v>
                </c:pt>
              </c:strCache>
            </c:strRef>
          </c:tx>
          <c:spPr>
            <a:solidFill>
              <a:schemeClr val="accent2"/>
            </a:solidFill>
            <a:ln>
              <a:noFill/>
            </a:ln>
            <a:effectLst/>
          </c:spPr>
          <c:invertIfNegative val="0"/>
          <c:cat>
            <c:numRef>
              <c:f>Sheet1!$A$2:$A$4</c:f>
              <c:numCache>
                <c:formatCode>General</c:formatCode>
                <c:ptCount val="3"/>
              </c:numCache>
            </c:numRef>
          </c:cat>
          <c:val>
            <c:numRef>
              <c:f>Sheet1!$C$2:$C$4</c:f>
              <c:numCache>
                <c:formatCode>General</c:formatCode>
                <c:ptCount val="3"/>
                <c:pt idx="0">
                  <c:v>23</c:v>
                </c:pt>
                <c:pt idx="1">
                  <c:v>56</c:v>
                </c:pt>
                <c:pt idx="2">
                  <c:v>112</c:v>
                </c:pt>
              </c:numCache>
            </c:numRef>
          </c:val>
          <c:extLst>
            <c:ext xmlns:c16="http://schemas.microsoft.com/office/drawing/2014/chart" uri="{C3380CC4-5D6E-409C-BE32-E72D297353CC}">
              <c16:uniqueId val="{00000001-292B-AE40-B38A-0DCA39F68EB2}"/>
            </c:ext>
          </c:extLst>
        </c:ser>
        <c:ser>
          <c:idx val="2"/>
          <c:order val="2"/>
          <c:tx>
            <c:strRef>
              <c:f>Sheet1!$D$1</c:f>
              <c:strCache>
                <c:ptCount val="1"/>
                <c:pt idx="0">
                  <c:v>Column 1</c:v>
                </c:pt>
              </c:strCache>
            </c:strRef>
          </c:tx>
          <c:spPr>
            <a:solidFill>
              <a:schemeClr val="accent3"/>
            </a:solidFill>
            <a:ln>
              <a:noFill/>
            </a:ln>
            <a:effectLst/>
          </c:spPr>
          <c:invertIfNegative val="0"/>
          <c:cat>
            <c:numRef>
              <c:f>Sheet1!$A$2:$A$4</c:f>
              <c:numCache>
                <c:formatCode>General</c:formatCode>
                <c:ptCount val="3"/>
              </c:numCache>
            </c:numRef>
          </c:cat>
          <c:val>
            <c:numRef>
              <c:f>Sheet1!$D$2:$D$4</c:f>
              <c:numCache>
                <c:formatCode>General</c:formatCode>
                <c:ptCount val="3"/>
              </c:numCache>
            </c:numRef>
          </c:val>
          <c:extLst>
            <c:ext xmlns:c16="http://schemas.microsoft.com/office/drawing/2014/chart" uri="{C3380CC4-5D6E-409C-BE32-E72D297353CC}">
              <c16:uniqueId val="{00000002-292B-AE40-B38A-0DCA39F68EB2}"/>
            </c:ext>
          </c:extLst>
        </c:ser>
        <c:dLbls>
          <c:showLegendKey val="0"/>
          <c:showVal val="0"/>
          <c:showCatName val="0"/>
          <c:showSerName val="0"/>
          <c:showPercent val="0"/>
          <c:showBubbleSize val="0"/>
        </c:dLbls>
        <c:gapWidth val="150"/>
        <c:overlap val="100"/>
        <c:axId val="2023638696"/>
        <c:axId val="2108760440"/>
      </c:barChart>
      <c:catAx>
        <c:axId val="2023638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2108760440"/>
        <c:crosses val="autoZero"/>
        <c:auto val="1"/>
        <c:lblAlgn val="ctr"/>
        <c:lblOffset val="100"/>
        <c:noMultiLvlLbl val="0"/>
      </c:catAx>
      <c:valAx>
        <c:axId val="2108760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Cambria Math" panose="02040503050406030204" pitchFamily="18" charset="0"/>
                <a:ea typeface="Cambria Math" panose="02040503050406030204" pitchFamily="18" charset="0"/>
                <a:cs typeface="+mn-cs"/>
              </a:defRPr>
            </a:pPr>
            <a:endParaRPr lang="en-US"/>
          </a:p>
        </c:txPr>
        <c:crossAx val="2023638696"/>
        <c:crosses val="autoZero"/>
        <c:crossBetween val="between"/>
        <c:majorUnit val="2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solidFill>
              <a:schemeClr val="accent1"/>
            </a:solidFill>
            <a:ln>
              <a:noFill/>
            </a:ln>
            <a:effectLst/>
          </c:spPr>
          <c:invertIfNegative val="0"/>
          <c:cat>
            <c:strRef>
              <c:f>Sheet1!$A$1:$D$1</c:f>
              <c:strCache>
                <c:ptCount val="4"/>
                <c:pt idx="0">
                  <c:v> </c:v>
                </c:pt>
                <c:pt idx="1">
                  <c:v>Series 1</c:v>
                </c:pt>
                <c:pt idx="2">
                  <c:v>Series 2</c:v>
                </c:pt>
                <c:pt idx="3">
                  <c:v>Column1</c:v>
                </c:pt>
              </c:strCache>
            </c:strRef>
          </c:cat>
          <c:val>
            <c:numRef>
              <c:f>Sheet1!$A$2:$D$2</c:f>
              <c:numCache>
                <c:formatCode>General</c:formatCode>
                <c:ptCount val="4"/>
                <c:pt idx="0">
                  <c:v>0</c:v>
                </c:pt>
                <c:pt idx="1">
                  <c:v>68</c:v>
                </c:pt>
                <c:pt idx="2">
                  <c:v>23</c:v>
                </c:pt>
              </c:numCache>
            </c:numRef>
          </c:val>
          <c:extLst>
            <c:ext xmlns:c16="http://schemas.microsoft.com/office/drawing/2014/chart" uri="{C3380CC4-5D6E-409C-BE32-E72D297353CC}">
              <c16:uniqueId val="{00000000-8E22-D946-A560-8FE7E162151D}"/>
            </c:ext>
          </c:extLst>
        </c:ser>
        <c:ser>
          <c:idx val="1"/>
          <c:order val="1"/>
          <c:spPr>
            <a:solidFill>
              <a:schemeClr val="accent2"/>
            </a:solidFill>
            <a:ln>
              <a:noFill/>
            </a:ln>
            <a:effectLst/>
          </c:spPr>
          <c:invertIfNegative val="0"/>
          <c:cat>
            <c:strRef>
              <c:f>Sheet1!$A$1:$D$1</c:f>
              <c:strCache>
                <c:ptCount val="4"/>
                <c:pt idx="0">
                  <c:v> </c:v>
                </c:pt>
                <c:pt idx="1">
                  <c:v>Series 1</c:v>
                </c:pt>
                <c:pt idx="2">
                  <c:v>Series 2</c:v>
                </c:pt>
                <c:pt idx="3">
                  <c:v>Column1</c:v>
                </c:pt>
              </c:strCache>
            </c:strRef>
          </c:cat>
          <c:val>
            <c:numRef>
              <c:f>Sheet1!$A$3:$D$3</c:f>
              <c:numCache>
                <c:formatCode>General</c:formatCode>
                <c:ptCount val="4"/>
                <c:pt idx="0">
                  <c:v>0</c:v>
                </c:pt>
                <c:pt idx="1">
                  <c:v>19</c:v>
                </c:pt>
                <c:pt idx="2">
                  <c:v>21</c:v>
                </c:pt>
              </c:numCache>
            </c:numRef>
          </c:val>
          <c:extLst>
            <c:ext xmlns:c16="http://schemas.microsoft.com/office/drawing/2014/chart" uri="{C3380CC4-5D6E-409C-BE32-E72D297353CC}">
              <c16:uniqueId val="{00000001-8E22-D946-A560-8FE7E162151D}"/>
            </c:ext>
          </c:extLst>
        </c:ser>
        <c:ser>
          <c:idx val="2"/>
          <c:order val="2"/>
          <c:spPr>
            <a:solidFill>
              <a:schemeClr val="accent3"/>
            </a:solidFill>
            <a:ln>
              <a:noFill/>
            </a:ln>
            <a:effectLst/>
          </c:spPr>
          <c:invertIfNegative val="0"/>
          <c:cat>
            <c:strRef>
              <c:f>Sheet1!$A$1:$D$1</c:f>
              <c:strCache>
                <c:ptCount val="4"/>
                <c:pt idx="0">
                  <c:v> </c:v>
                </c:pt>
                <c:pt idx="1">
                  <c:v>Series 1</c:v>
                </c:pt>
                <c:pt idx="2">
                  <c:v>Series 2</c:v>
                </c:pt>
                <c:pt idx="3">
                  <c:v>Column1</c:v>
                </c:pt>
              </c:strCache>
            </c:strRef>
          </c:cat>
          <c:val>
            <c:numRef>
              <c:f>Sheet1!$A$4:$D$4</c:f>
              <c:numCache>
                <c:formatCode>General</c:formatCode>
                <c:ptCount val="4"/>
                <c:pt idx="0">
                  <c:v>0</c:v>
                </c:pt>
                <c:pt idx="1">
                  <c:v>17</c:v>
                </c:pt>
                <c:pt idx="2">
                  <c:v>22</c:v>
                </c:pt>
              </c:numCache>
            </c:numRef>
          </c:val>
          <c:extLst>
            <c:ext xmlns:c16="http://schemas.microsoft.com/office/drawing/2014/chart" uri="{C3380CC4-5D6E-409C-BE32-E72D297353CC}">
              <c16:uniqueId val="{00000002-8E22-D946-A560-8FE7E162151D}"/>
            </c:ext>
          </c:extLst>
        </c:ser>
        <c:dLbls>
          <c:showLegendKey val="0"/>
          <c:showVal val="0"/>
          <c:showCatName val="0"/>
          <c:showSerName val="0"/>
          <c:showPercent val="0"/>
          <c:showBubbleSize val="0"/>
        </c:dLbls>
        <c:gapWidth val="150"/>
        <c:overlap val="100"/>
        <c:axId val="2112832776"/>
        <c:axId val="2112835752"/>
      </c:barChart>
      <c:catAx>
        <c:axId val="2112832776"/>
        <c:scaling>
          <c:orientation val="minMax"/>
        </c:scaling>
        <c:delete val="1"/>
        <c:axPos val="b"/>
        <c:numFmt formatCode="General" sourceLinked="1"/>
        <c:majorTickMark val="none"/>
        <c:minorTickMark val="none"/>
        <c:tickLblPos val="nextTo"/>
        <c:crossAx val="2112835752"/>
        <c:crosses val="autoZero"/>
        <c:auto val="1"/>
        <c:lblAlgn val="ctr"/>
        <c:lblOffset val="100"/>
        <c:noMultiLvlLbl val="0"/>
      </c:catAx>
      <c:valAx>
        <c:axId val="2112835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Cambria Math" panose="02040503050406030204" pitchFamily="18" charset="0"/>
                <a:ea typeface="Cambria Math" panose="02040503050406030204" pitchFamily="18" charset="0"/>
                <a:cs typeface="+mn-cs"/>
              </a:defRPr>
            </a:pPr>
            <a:endParaRPr lang="en-US"/>
          </a:p>
        </c:txPr>
        <c:crossAx val="2112832776"/>
        <c:crosses val="autoZero"/>
        <c:crossBetween val="between"/>
        <c:majorUnit val="2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3"/>
                <c:pt idx="0">
                  <c:v>Category 1</c:v>
                </c:pt>
                <c:pt idx="1">
                  <c:v>Category 2</c:v>
                </c:pt>
                <c:pt idx="2">
                  <c:v>Category 3</c:v>
                </c:pt>
              </c:strCache>
            </c:strRef>
          </c:cat>
          <c:val>
            <c:numRef>
              <c:f>Sheet1!$B$2:$B$5</c:f>
              <c:numCache>
                <c:formatCode>General</c:formatCode>
                <c:ptCount val="4"/>
                <c:pt idx="0">
                  <c:v>52</c:v>
                </c:pt>
                <c:pt idx="1">
                  <c:v>11</c:v>
                </c:pt>
                <c:pt idx="2">
                  <c:v>9</c:v>
                </c:pt>
              </c:numCache>
            </c:numRef>
          </c:val>
          <c:extLst>
            <c:ext xmlns:c16="http://schemas.microsoft.com/office/drawing/2014/chart" uri="{C3380CC4-5D6E-409C-BE32-E72D297353CC}">
              <c16:uniqueId val="{00000000-9801-A84A-8575-1A33D8A0E5C4}"/>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3"/>
                <c:pt idx="0">
                  <c:v>Category 1</c:v>
                </c:pt>
                <c:pt idx="1">
                  <c:v>Category 2</c:v>
                </c:pt>
                <c:pt idx="2">
                  <c:v>Category 3</c:v>
                </c:pt>
              </c:strCache>
            </c:strRef>
          </c:cat>
          <c:val>
            <c:numRef>
              <c:f>Sheet1!$C$2:$C$5</c:f>
              <c:numCache>
                <c:formatCode>General</c:formatCode>
                <c:ptCount val="4"/>
                <c:pt idx="0">
                  <c:v>6</c:v>
                </c:pt>
                <c:pt idx="1">
                  <c:v>24</c:v>
                </c:pt>
                <c:pt idx="2">
                  <c:v>15</c:v>
                </c:pt>
              </c:numCache>
            </c:numRef>
          </c:val>
          <c:extLst>
            <c:ext xmlns:c16="http://schemas.microsoft.com/office/drawing/2014/chart" uri="{C3380CC4-5D6E-409C-BE32-E72D297353CC}">
              <c16:uniqueId val="{00000001-9801-A84A-8575-1A33D8A0E5C4}"/>
            </c:ext>
          </c:extLst>
        </c:ser>
        <c:ser>
          <c:idx val="2"/>
          <c:order val="2"/>
          <c:tx>
            <c:strRef>
              <c:f>Sheet1!$D$1</c:f>
              <c:strCache>
                <c:ptCount val="1"/>
                <c:pt idx="0">
                  <c:v>Column1</c:v>
                </c:pt>
              </c:strCache>
            </c:strRef>
          </c:tx>
          <c:spPr>
            <a:solidFill>
              <a:schemeClr val="accent3"/>
            </a:solidFill>
            <a:ln>
              <a:noFill/>
            </a:ln>
            <a:effectLst/>
          </c:spPr>
          <c:invertIfNegative val="0"/>
          <c:cat>
            <c:strRef>
              <c:f>Sheet1!$A$2:$A$5</c:f>
              <c:strCache>
                <c:ptCount val="3"/>
                <c:pt idx="0">
                  <c:v>Category 1</c:v>
                </c:pt>
                <c:pt idx="1">
                  <c:v>Category 2</c:v>
                </c:pt>
                <c:pt idx="2">
                  <c:v>Category 3</c:v>
                </c:pt>
              </c:strCache>
            </c:strRef>
          </c:cat>
          <c:val>
            <c:numRef>
              <c:f>Sheet1!$D$2:$D$5</c:f>
              <c:numCache>
                <c:formatCode>General</c:formatCode>
                <c:ptCount val="4"/>
              </c:numCache>
            </c:numRef>
          </c:val>
          <c:extLst>
            <c:ext xmlns:c16="http://schemas.microsoft.com/office/drawing/2014/chart" uri="{C3380CC4-5D6E-409C-BE32-E72D297353CC}">
              <c16:uniqueId val="{00000002-9801-A84A-8575-1A33D8A0E5C4}"/>
            </c:ext>
          </c:extLst>
        </c:ser>
        <c:dLbls>
          <c:showLegendKey val="0"/>
          <c:showVal val="0"/>
          <c:showCatName val="0"/>
          <c:showSerName val="0"/>
          <c:showPercent val="0"/>
          <c:showBubbleSize val="0"/>
        </c:dLbls>
        <c:gapWidth val="150"/>
        <c:overlap val="100"/>
        <c:axId val="2106562952"/>
        <c:axId val="2108738984"/>
      </c:barChart>
      <c:catAx>
        <c:axId val="2106562952"/>
        <c:scaling>
          <c:orientation val="minMax"/>
        </c:scaling>
        <c:delete val="1"/>
        <c:axPos val="b"/>
        <c:numFmt formatCode="General" sourceLinked="1"/>
        <c:majorTickMark val="none"/>
        <c:minorTickMark val="none"/>
        <c:tickLblPos val="nextTo"/>
        <c:crossAx val="2108738984"/>
        <c:crosses val="autoZero"/>
        <c:auto val="1"/>
        <c:lblAlgn val="ctr"/>
        <c:lblOffset val="100"/>
        <c:noMultiLvlLbl val="0"/>
      </c:catAx>
      <c:valAx>
        <c:axId val="21087389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Cambria Math" panose="02040503050406030204" pitchFamily="18" charset="0"/>
                <a:ea typeface="Cambria Math" panose="02040503050406030204" pitchFamily="18" charset="0"/>
                <a:cs typeface="+mn-cs"/>
              </a:defRPr>
            </a:pPr>
            <a:endParaRPr lang="en-US"/>
          </a:p>
        </c:txPr>
        <c:crossAx val="21065629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r>
              <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rPr>
              <a:t>Long-Haul</a:t>
            </a:r>
            <a:r>
              <a:rPr lang="en-US" sz="2000" b="1" baseline="0" dirty="0">
                <a:solidFill>
                  <a:schemeClr val="tx1"/>
                </a:solidFill>
                <a:latin typeface="Verdana" panose="020B0604030504040204" pitchFamily="34" charset="0"/>
                <a:ea typeface="Verdana" panose="020B0604030504040204" pitchFamily="34" charset="0"/>
                <a:cs typeface="Verdana" panose="020B0604030504040204" pitchFamily="34" charset="0"/>
              </a:rPr>
              <a:t> Truck Driver Listening Preferences</a:t>
            </a:r>
            <a:endPar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c:rich>
      </c:tx>
      <c:layout>
        <c:manualLayout>
          <c:xMode val="edge"/>
          <c:yMode val="edge"/>
          <c:x val="0.11031160334581411"/>
          <c:y val="3.0494547932333586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title>
    <c:autoTitleDeleted val="0"/>
    <c:plotArea>
      <c:layout/>
      <c:barChart>
        <c:barDir val="col"/>
        <c:grouping val="stacked"/>
        <c:varyColors val="0"/>
        <c:ser>
          <c:idx val="0"/>
          <c:order val="0"/>
          <c:tx>
            <c:strRef>
              <c:f>Sheet1!$B$1</c:f>
              <c:strCache>
                <c:ptCount val="1"/>
                <c:pt idx="0">
                  <c:v>Loud Volume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Talk Radio</c:v>
                </c:pt>
                <c:pt idx="1">
                  <c:v>Music</c:v>
                </c:pt>
              </c:strCache>
            </c:strRef>
          </c:cat>
          <c:val>
            <c:numRef>
              <c:f>Sheet1!$B$2:$B$3</c:f>
              <c:numCache>
                <c:formatCode>General</c:formatCode>
                <c:ptCount val="2"/>
                <c:pt idx="0">
                  <c:v>21</c:v>
                </c:pt>
                <c:pt idx="1">
                  <c:v>63</c:v>
                </c:pt>
              </c:numCache>
            </c:numRef>
          </c:val>
          <c:extLst>
            <c:ext xmlns:c16="http://schemas.microsoft.com/office/drawing/2014/chart" uri="{C3380CC4-5D6E-409C-BE32-E72D297353CC}">
              <c16:uniqueId val="{00000000-1796-6744-A2D3-60CA2A1D7320}"/>
            </c:ext>
          </c:extLst>
        </c:ser>
        <c:ser>
          <c:idx val="1"/>
          <c:order val="1"/>
          <c:tx>
            <c:strRef>
              <c:f>Sheet1!$C$1</c:f>
              <c:strCache>
                <c:ptCount val="1"/>
                <c:pt idx="0">
                  <c:v>Soft Volume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Talk Radio</c:v>
                </c:pt>
                <c:pt idx="1">
                  <c:v>Music</c:v>
                </c:pt>
              </c:strCache>
            </c:strRef>
          </c:cat>
          <c:val>
            <c:numRef>
              <c:f>Sheet1!$C$2:$C$3</c:f>
              <c:numCache>
                <c:formatCode>General</c:formatCode>
                <c:ptCount val="2"/>
                <c:pt idx="0">
                  <c:v>14</c:v>
                </c:pt>
                <c:pt idx="1">
                  <c:v>77</c:v>
                </c:pt>
              </c:numCache>
            </c:numRef>
          </c:val>
          <c:extLst>
            <c:ext xmlns:c16="http://schemas.microsoft.com/office/drawing/2014/chart" uri="{C3380CC4-5D6E-409C-BE32-E72D297353CC}">
              <c16:uniqueId val="{00000001-1796-6744-A2D3-60CA2A1D7320}"/>
            </c:ext>
          </c:extLst>
        </c:ser>
        <c:dLbls>
          <c:showLegendKey val="0"/>
          <c:showVal val="0"/>
          <c:showCatName val="0"/>
          <c:showSerName val="0"/>
          <c:showPercent val="0"/>
          <c:showBubbleSize val="0"/>
        </c:dLbls>
        <c:gapWidth val="150"/>
        <c:overlap val="100"/>
        <c:axId val="2065655384"/>
        <c:axId val="2065658024"/>
      </c:barChart>
      <c:catAx>
        <c:axId val="2065655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2065658024"/>
        <c:crosses val="autoZero"/>
        <c:auto val="1"/>
        <c:lblAlgn val="ctr"/>
        <c:lblOffset val="100"/>
        <c:noMultiLvlLbl val="0"/>
      </c:catAx>
      <c:valAx>
        <c:axId val="2065658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065655384"/>
        <c:crosses val="autoZero"/>
        <c:crossBetween val="between"/>
        <c:majorUnit val="25"/>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1"/>
                </a:solidFill>
                <a:latin typeface="+mn-lt"/>
                <a:ea typeface="+mn-ea"/>
                <a:cs typeface="+mn-cs"/>
              </a:defRPr>
            </a:pPr>
            <a:r>
              <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rPr>
              <a:t>Books Read</a:t>
            </a:r>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Fiction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Macy</c:v>
                </c:pt>
                <c:pt idx="1">
                  <c:v>Elroy</c:v>
                </c:pt>
                <c:pt idx="2">
                  <c:v>Bruno</c:v>
                </c:pt>
                <c:pt idx="3">
                  <c:v>Karla</c:v>
                </c:pt>
              </c:strCache>
            </c:strRef>
          </c:cat>
          <c:val>
            <c:numRef>
              <c:f>Sheet1!$B$2:$B$5</c:f>
              <c:numCache>
                <c:formatCode>General</c:formatCode>
                <c:ptCount val="4"/>
                <c:pt idx="0">
                  <c:v>5</c:v>
                </c:pt>
                <c:pt idx="1">
                  <c:v>7</c:v>
                </c:pt>
                <c:pt idx="2">
                  <c:v>10</c:v>
                </c:pt>
                <c:pt idx="3">
                  <c:v>12</c:v>
                </c:pt>
              </c:numCache>
            </c:numRef>
          </c:val>
          <c:extLst>
            <c:ext xmlns:c16="http://schemas.microsoft.com/office/drawing/2014/chart" uri="{C3380CC4-5D6E-409C-BE32-E72D297353CC}">
              <c16:uniqueId val="{00000000-9D34-F144-8C94-AB58DC23610B}"/>
            </c:ext>
          </c:extLst>
        </c:ser>
        <c:ser>
          <c:idx val="1"/>
          <c:order val="1"/>
          <c:tx>
            <c:strRef>
              <c:f>Sheet1!$C$1</c:f>
              <c:strCache>
                <c:ptCount val="1"/>
                <c:pt idx="0">
                  <c:v>Non-fiction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Macy</c:v>
                </c:pt>
                <c:pt idx="1">
                  <c:v>Elroy</c:v>
                </c:pt>
                <c:pt idx="2">
                  <c:v>Bruno</c:v>
                </c:pt>
                <c:pt idx="3">
                  <c:v>Karla</c:v>
                </c:pt>
              </c:strCache>
            </c:strRef>
          </c:cat>
          <c:val>
            <c:numRef>
              <c:f>Sheet1!$C$2:$C$5</c:f>
              <c:numCache>
                <c:formatCode>General</c:formatCode>
                <c:ptCount val="4"/>
                <c:pt idx="0">
                  <c:v>10</c:v>
                </c:pt>
                <c:pt idx="1">
                  <c:v>6</c:v>
                </c:pt>
                <c:pt idx="2">
                  <c:v>12</c:v>
                </c:pt>
                <c:pt idx="3">
                  <c:v>3</c:v>
                </c:pt>
              </c:numCache>
            </c:numRef>
          </c:val>
          <c:extLst>
            <c:ext xmlns:c16="http://schemas.microsoft.com/office/drawing/2014/chart" uri="{C3380CC4-5D6E-409C-BE32-E72D297353CC}">
              <c16:uniqueId val="{00000001-9D34-F144-8C94-AB58DC23610B}"/>
            </c:ext>
          </c:extLst>
        </c:ser>
        <c:ser>
          <c:idx val="2"/>
          <c:order val="2"/>
          <c:tx>
            <c:strRef>
              <c:f>Sheet1!$D$1</c:f>
              <c:strCache>
                <c:ptCount val="1"/>
                <c:pt idx="0">
                  <c:v>Column1</c:v>
                </c:pt>
              </c:strCache>
            </c:strRef>
          </c:tx>
          <c:spPr>
            <a:solidFill>
              <a:schemeClr val="accent3"/>
            </a:solidFill>
            <a:ln>
              <a:noFill/>
            </a:ln>
            <a:effectLst/>
          </c:spPr>
          <c:invertIfNegative val="0"/>
          <c:cat>
            <c:strRef>
              <c:f>Sheet1!$A$2:$A$5</c:f>
              <c:strCache>
                <c:ptCount val="4"/>
                <c:pt idx="0">
                  <c:v>Macy</c:v>
                </c:pt>
                <c:pt idx="1">
                  <c:v>Elroy</c:v>
                </c:pt>
                <c:pt idx="2">
                  <c:v>Bruno</c:v>
                </c:pt>
                <c:pt idx="3">
                  <c:v>Karla</c:v>
                </c:pt>
              </c:strCache>
            </c:strRef>
          </c:cat>
          <c:val>
            <c:numRef>
              <c:f>Sheet1!$D$2:$D$5</c:f>
              <c:numCache>
                <c:formatCode>General</c:formatCode>
                <c:ptCount val="4"/>
              </c:numCache>
            </c:numRef>
          </c:val>
          <c:extLst>
            <c:ext xmlns:c16="http://schemas.microsoft.com/office/drawing/2014/chart" uri="{C3380CC4-5D6E-409C-BE32-E72D297353CC}">
              <c16:uniqueId val="{00000002-9D34-F144-8C94-AB58DC23610B}"/>
            </c:ext>
          </c:extLst>
        </c:ser>
        <c:dLbls>
          <c:showLegendKey val="0"/>
          <c:showVal val="0"/>
          <c:showCatName val="0"/>
          <c:showSerName val="0"/>
          <c:showPercent val="0"/>
          <c:showBubbleSize val="0"/>
        </c:dLbls>
        <c:gapWidth val="150"/>
        <c:overlap val="100"/>
        <c:axId val="2111711368"/>
        <c:axId val="2111714968"/>
      </c:barChart>
      <c:catAx>
        <c:axId val="2111711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2111714968"/>
        <c:crosses val="autoZero"/>
        <c:auto val="1"/>
        <c:lblAlgn val="ctr"/>
        <c:lblOffset val="100"/>
        <c:noMultiLvlLbl val="0"/>
      </c:catAx>
      <c:valAx>
        <c:axId val="2111714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Cambria Math" panose="02040503050406030204" pitchFamily="18" charset="0"/>
                <a:ea typeface="Cambria Math" panose="02040503050406030204" pitchFamily="18" charset="0"/>
                <a:cs typeface="+mn-cs"/>
              </a:defRPr>
            </a:pPr>
            <a:endParaRPr lang="en-US"/>
          </a:p>
        </c:txPr>
        <c:crossAx val="2111711368"/>
        <c:crosses val="autoZero"/>
        <c:crossBetween val="between"/>
      </c:val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815561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538196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85124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60729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87380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83425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518604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741387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9642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86414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704975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59508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10561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152375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8165366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604047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662407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chart" Target="../charts/chart9.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Two-Way Tables and Segmented Bar Graphs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316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9144"/>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50" y="1284098"/>
            <a:ext cx="963994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200" dirty="0">
                <a:latin typeface="Verdana" charset="0"/>
                <a:ea typeface="Verdana" charset="0"/>
                <a:cs typeface="Verdana" charset="0"/>
              </a:rPr>
              <a:t>MA.912.DP.3.1 </a:t>
            </a:r>
          </a:p>
          <a:p>
            <a:pPr marL="465138" indent="0">
              <a:buNone/>
            </a:pPr>
            <a:r>
              <a:rPr lang="en-US" sz="2200" dirty="0">
                <a:latin typeface="Verdana" charset="0"/>
                <a:ea typeface="Verdana" charset="0"/>
                <a:cs typeface="Verdana" charset="0"/>
              </a:rPr>
              <a:t>Construct a two-way frequency table summarizing bivariate categorical data. Interpret joint and marginal frequencies and determine possible associations in terms of a real-world context.</a:t>
            </a:r>
          </a:p>
          <a:p>
            <a:pPr marL="95250" indent="0">
              <a:buNone/>
            </a:pPr>
            <a:r>
              <a:rPr lang="en-US" sz="2200" dirty="0">
                <a:latin typeface="Verdana" charset="0"/>
                <a:ea typeface="Verdana" charset="0"/>
                <a:cs typeface="Verdana" charset="0"/>
              </a:rPr>
              <a:t>MA.912.DP.1.1 </a:t>
            </a:r>
          </a:p>
          <a:p>
            <a:pPr marL="465138" indent="0">
              <a:buNone/>
            </a:pPr>
            <a:r>
              <a:rPr lang="en-US" sz="2200" dirty="0">
                <a:latin typeface="Verdana" charset="0"/>
                <a:ea typeface="Verdana" charset="0"/>
                <a:cs typeface="Verdana" charset="0"/>
              </a:rPr>
              <a:t>Given a set of data, select an appropriate method to represent the data, depending on whether it is numerical or categorical data and on whether it is univariate or bivariate.</a:t>
            </a:r>
          </a:p>
          <a:p>
            <a:pPr marL="95250" indent="0">
              <a:buNone/>
            </a:pPr>
            <a:r>
              <a:rPr lang="en-US" sz="2200" dirty="0">
                <a:latin typeface="Verdana" charset="0"/>
                <a:ea typeface="Verdana" charset="0"/>
                <a:cs typeface="Verdana" charset="0"/>
              </a:rPr>
              <a:t>MA.912.DP.1.2 </a:t>
            </a:r>
          </a:p>
          <a:p>
            <a:pPr marL="465138" indent="0">
              <a:buNone/>
            </a:pPr>
            <a:r>
              <a:rPr lang="en-US" sz="2200" dirty="0">
                <a:latin typeface="Verdana" charset="0"/>
                <a:ea typeface="Verdana" charset="0"/>
                <a:cs typeface="Verdana" charset="0"/>
              </a:rPr>
              <a:t>Interpret data distributions represented in various ways. State whether the data is numerical or categorical, whether it is univariate or bivariate, and interpret the different components and quantities in the display.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47850" y="1596390"/>
            <a:ext cx="91886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2217DB94-8CD9-E344-BEB6-DB518B29A816}"/>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10240333-9F9E-AD9D-9D15-F528BC786CEE}"/>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8512" y="1600200"/>
            <a:ext cx="918176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5138" indent="-449263">
              <a:buFont typeface="Wingdings" charset="2"/>
              <a:buChar char="q"/>
            </a:pPr>
            <a:r>
              <a:rPr lang="en-US" sz="3200" dirty="0">
                <a:latin typeface="Verdana" charset="0"/>
                <a:ea typeface="Verdana" charset="0"/>
                <a:cs typeface="Verdana" charset="0"/>
              </a:rPr>
              <a:t>I can correctly match a segmented bar graph and data in a two-way table.</a:t>
            </a:r>
          </a:p>
          <a:p>
            <a:pPr marL="465138" indent="-465138">
              <a:buFont typeface="Wingdings" charset="2"/>
              <a:buChar char="q"/>
            </a:pPr>
            <a:endParaRPr lang="en-US" sz="3200" dirty="0">
              <a:latin typeface="Verdana" charset="0"/>
              <a:ea typeface="Verdana" charset="0"/>
              <a:cs typeface="Verdana" charset="0"/>
            </a:endParaRPr>
          </a:p>
          <a:p>
            <a:pPr marL="465138" indent="-465138">
              <a:buFont typeface="Wingdings" charset="2"/>
              <a:buChar char="q"/>
            </a:pPr>
            <a:r>
              <a:rPr lang="en-US" sz="3200" dirty="0">
                <a:latin typeface="Verdana" charset="0"/>
                <a:ea typeface="Verdana" charset="0"/>
                <a:cs typeface="Verdana" charset="0"/>
              </a:rPr>
              <a:t>I can interpret a graphical display for bivariate categorical data.  </a:t>
            </a:r>
          </a:p>
        </p:txBody>
      </p:sp>
      <p:sp>
        <p:nvSpPr>
          <p:cNvPr id="8" name="Google Shape;278;g104476d1465_1_17">
            <a:extLst>
              <a:ext uri="{FF2B5EF4-FFF2-40B4-BE49-F238E27FC236}">
                <a16:creationId xmlns:a16="http://schemas.microsoft.com/office/drawing/2014/main" id="{A7D39B40-FA5F-1945-A581-51EB744FE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3FDED978-E6AA-7E19-D58C-FF3DDCDDD29D}"/>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914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20694"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2949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7F955979-966A-F20B-2CD2-3D198B79E0FD}"/>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213DEC9B-E729-8DB2-8077-9B0263B9994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96290" y="60325"/>
            <a:ext cx="101024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14.3.1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93248" y="349525"/>
            <a:ext cx="747300" cy="747300"/>
          </a:xfrm>
          <a:prstGeom prst="rect">
            <a:avLst/>
          </a:prstGeom>
          <a:noFill/>
          <a:ln>
            <a:noFill/>
          </a:ln>
          <a:effectLst>
            <a:outerShdw blurRad="50800" dist="38100" dir="2700000" algn="tl" rotWithShape="0">
              <a:prstClr val="black">
                <a:alpha val="40000"/>
              </a:prstClr>
            </a:outerShdw>
          </a:effectLst>
        </p:spPr>
      </p:pic>
      <p:graphicFrame>
        <p:nvGraphicFramePr>
          <p:cNvPr id="10" name="Chart 9">
            <a:extLst>
              <a:ext uri="{FF2B5EF4-FFF2-40B4-BE49-F238E27FC236}">
                <a16:creationId xmlns:a16="http://schemas.microsoft.com/office/drawing/2014/main" id="{282DD738-925C-A046-B861-3E31ABC45B5A}"/>
              </a:ext>
            </a:extLst>
          </p:cNvPr>
          <p:cNvGraphicFramePr/>
          <p:nvPr>
            <p:extLst>
              <p:ext uri="{D42A27DB-BD31-4B8C-83A1-F6EECF244321}">
                <p14:modId xmlns:p14="http://schemas.microsoft.com/office/powerpoint/2010/main" val="4229297396"/>
              </p:ext>
            </p:extLst>
          </p:nvPr>
        </p:nvGraphicFramePr>
        <p:xfrm>
          <a:off x="1052945" y="1800459"/>
          <a:ext cx="7955568" cy="3985706"/>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E1D7562E-134F-D14B-AF1A-DF40E11EF758}"/>
              </a:ext>
            </a:extLst>
          </p:cNvPr>
          <p:cNvSpPr txBox="1"/>
          <p:nvPr/>
        </p:nvSpPr>
        <p:spPr>
          <a:xfrm>
            <a:off x="855022" y="1394253"/>
            <a:ext cx="10284033" cy="5016758"/>
          </a:xfrm>
          <a:prstGeom prst="rect">
            <a:avLst/>
          </a:prstGeom>
          <a:noFill/>
        </p:spPr>
        <p:txBody>
          <a:bodyPr wrap="square" rtlCol="0">
            <a:spAutoFit/>
          </a:bodyPr>
          <a:lstStyle/>
          <a:p>
            <a:r>
              <a:rPr lang="en-US" sz="2000" dirty="0">
                <a:latin typeface="Verdana" charset="0"/>
                <a:ea typeface="Verdana" charset="0"/>
                <a:cs typeface="Verdana" charset="0"/>
              </a:rPr>
              <a:t>A segmented bar graph is shown.</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1000" dirty="0">
              <a:latin typeface="Verdana" charset="0"/>
              <a:ea typeface="Verdana" charset="0"/>
              <a:cs typeface="Verdana" charset="0"/>
            </a:endParaRPr>
          </a:p>
          <a:p>
            <a:endParaRPr lang="en-US" sz="1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What do you notice about the display?</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What do you wonder?</a:t>
            </a:r>
          </a:p>
        </p:txBody>
      </p:sp>
      <p:sp>
        <p:nvSpPr>
          <p:cNvPr id="9" name="Google Shape;278;g104476d1465_1_17">
            <a:extLst>
              <a:ext uri="{FF2B5EF4-FFF2-40B4-BE49-F238E27FC236}">
                <a16:creationId xmlns:a16="http://schemas.microsoft.com/office/drawing/2014/main" id="{2C7BF6D9-BF7E-4C45-A3A0-4D9A19E544B3}"/>
              </a:ext>
            </a:extLst>
          </p:cNvPr>
          <p:cNvSpPr/>
          <p:nvPr/>
        </p:nvSpPr>
        <p:spPr>
          <a:xfrm>
            <a:off x="0" y="-11872"/>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AF803474-0272-7C90-783B-B5922DBFFF08}"/>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71ED9FE1-C708-6199-25FC-7C1221746201}"/>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320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106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53559D07-C951-032A-F828-58EFE9CB0483}"/>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AE887F75-A04F-38FC-4144-AB16897F9FE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1055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84415" y="68550"/>
            <a:ext cx="969026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14.3.2 Exploration: Segmented Bar Graphs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7914" y="234463"/>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922084" y="1394250"/>
            <a:ext cx="10252596" cy="830997"/>
          </a:xfrm>
          <a:prstGeom prst="rect">
            <a:avLst/>
          </a:prstGeom>
          <a:noFill/>
        </p:spPr>
        <p:txBody>
          <a:bodyPr wrap="square" rtlCol="0">
            <a:spAutoFit/>
          </a:bodyPr>
          <a:lstStyle/>
          <a:p>
            <a:r>
              <a:rPr lang="en-US" sz="2400" dirty="0">
                <a:latin typeface="Verdana" charset="0"/>
                <a:ea typeface="Verdana" charset="0"/>
                <a:cs typeface="Verdana" charset="0"/>
              </a:rPr>
              <a:t>Bivariate categorical data can be displayed in a two-way frequency table as shown: </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272442128"/>
                  </p:ext>
                </p:extLst>
              </p:nvPr>
            </p:nvGraphicFramePr>
            <p:xfrm>
              <a:off x="869972" y="2928164"/>
              <a:ext cx="7886699" cy="3601074"/>
            </p:xfrm>
            <a:graphic>
              <a:graphicData uri="http://schemas.openxmlformats.org/drawingml/2006/table">
                <a:tbl>
                  <a:tblPr firstRow="1" firstCol="1" bandRow="1"/>
                  <a:tblGrid>
                    <a:gridCol w="1170005">
                      <a:extLst>
                        <a:ext uri="{9D8B030D-6E8A-4147-A177-3AD203B41FA5}">
                          <a16:colId xmlns:a16="http://schemas.microsoft.com/office/drawing/2014/main" val="20000"/>
                        </a:ext>
                      </a:extLst>
                    </a:gridCol>
                    <a:gridCol w="1208016">
                      <a:extLst>
                        <a:ext uri="{9D8B030D-6E8A-4147-A177-3AD203B41FA5}">
                          <a16:colId xmlns:a16="http://schemas.microsoft.com/office/drawing/2014/main" val="20001"/>
                        </a:ext>
                      </a:extLst>
                    </a:gridCol>
                    <a:gridCol w="1580827">
                      <a:extLst>
                        <a:ext uri="{9D8B030D-6E8A-4147-A177-3AD203B41FA5}">
                          <a16:colId xmlns:a16="http://schemas.microsoft.com/office/drawing/2014/main" val="20002"/>
                        </a:ext>
                      </a:extLst>
                    </a:gridCol>
                    <a:gridCol w="1611824">
                      <a:extLst>
                        <a:ext uri="{9D8B030D-6E8A-4147-A177-3AD203B41FA5}">
                          <a16:colId xmlns:a16="http://schemas.microsoft.com/office/drawing/2014/main" val="20003"/>
                        </a:ext>
                      </a:extLst>
                    </a:gridCol>
                    <a:gridCol w="1379349">
                      <a:extLst>
                        <a:ext uri="{9D8B030D-6E8A-4147-A177-3AD203B41FA5}">
                          <a16:colId xmlns:a16="http://schemas.microsoft.com/office/drawing/2014/main" val="20004"/>
                        </a:ext>
                      </a:extLst>
                    </a:gridCol>
                    <a:gridCol w="936678">
                      <a:extLst>
                        <a:ext uri="{9D8B030D-6E8A-4147-A177-3AD203B41FA5}">
                          <a16:colId xmlns:a16="http://schemas.microsoft.com/office/drawing/2014/main" val="20005"/>
                        </a:ext>
                      </a:extLst>
                    </a:gridCol>
                  </a:tblGrid>
                  <a:tr h="257470">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340" marR="58340"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340" marR="58340"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dirty="0">
                              <a:effectLst/>
                              <a:latin typeface="Verdana" charset="0"/>
                              <a:ea typeface="Verdana" charset="0"/>
                              <a:cs typeface="Verdana" charset="0"/>
                            </a:rPr>
                            <a:t>Effect on People Your Age</a:t>
                          </a:r>
                          <a:endParaRPr lang="en-US" sz="2000" dirty="0">
                            <a:effectLst/>
                            <a:latin typeface="Verdana" charset="0"/>
                            <a:ea typeface="Verdana" charset="0"/>
                            <a:cs typeface="Verdana" charset="0"/>
                          </a:endParaRPr>
                        </a:p>
                      </a:txBody>
                      <a:tcPr marL="58340" marR="5834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76104">
                    <a:tc vMerge="1">
                      <a:txBody>
                        <a:bodyPr/>
                        <a:lstStyle/>
                        <a:p>
                          <a:endParaRPr lang="en-US"/>
                        </a:p>
                      </a:txBody>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Mostly Negative</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Total</a:t>
                          </a:r>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51494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22</m:t>
                                </m:r>
                              </m:oMath>
                            </m:oMathPara>
                          </a14:m>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21</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20</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63</m:t>
                                </m:r>
                              </m:oMath>
                            </m:oMathPara>
                          </a14:m>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9137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87</m:t>
                                </m:r>
                              </m:oMath>
                            </m:oMathPara>
                          </a14:m>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77</m:t>
                                </m:r>
                              </m:oMath>
                            </m:oMathPara>
                          </a14:m>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105</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269</m:t>
                                </m:r>
                              </m:oMath>
                            </m:oMathPara>
                          </a14:m>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9137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110</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113</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186</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409</m:t>
                                </m:r>
                              </m:oMath>
                            </m:oMathPara>
                          </a14:m>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9137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219</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211</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311</m:t>
                                </m:r>
                              </m:oMath>
                            </m:oMathPara>
                          </a14:m>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741</m:t>
                                </m:r>
                              </m:oMath>
                            </m:oMathPara>
                          </a14:m>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272442128"/>
                  </p:ext>
                </p:extLst>
              </p:nvPr>
            </p:nvGraphicFramePr>
            <p:xfrm>
              <a:off x="869972" y="2928164"/>
              <a:ext cx="7886699" cy="3601074"/>
            </p:xfrm>
            <a:graphic>
              <a:graphicData uri="http://schemas.openxmlformats.org/drawingml/2006/table">
                <a:tbl>
                  <a:tblPr firstRow="1" firstCol="1" bandRow="1"/>
                  <a:tblGrid>
                    <a:gridCol w="1170005">
                      <a:extLst>
                        <a:ext uri="{9D8B030D-6E8A-4147-A177-3AD203B41FA5}">
                          <a16:colId xmlns:a16="http://schemas.microsoft.com/office/drawing/2014/main" val="20000"/>
                        </a:ext>
                      </a:extLst>
                    </a:gridCol>
                    <a:gridCol w="1208016">
                      <a:extLst>
                        <a:ext uri="{9D8B030D-6E8A-4147-A177-3AD203B41FA5}">
                          <a16:colId xmlns:a16="http://schemas.microsoft.com/office/drawing/2014/main" val="20001"/>
                        </a:ext>
                      </a:extLst>
                    </a:gridCol>
                    <a:gridCol w="1580827">
                      <a:extLst>
                        <a:ext uri="{9D8B030D-6E8A-4147-A177-3AD203B41FA5}">
                          <a16:colId xmlns:a16="http://schemas.microsoft.com/office/drawing/2014/main" val="20002"/>
                        </a:ext>
                      </a:extLst>
                    </a:gridCol>
                    <a:gridCol w="1611824">
                      <a:extLst>
                        <a:ext uri="{9D8B030D-6E8A-4147-A177-3AD203B41FA5}">
                          <a16:colId xmlns:a16="http://schemas.microsoft.com/office/drawing/2014/main" val="20003"/>
                        </a:ext>
                      </a:extLst>
                    </a:gridCol>
                    <a:gridCol w="1379349">
                      <a:extLst>
                        <a:ext uri="{9D8B030D-6E8A-4147-A177-3AD203B41FA5}">
                          <a16:colId xmlns:a16="http://schemas.microsoft.com/office/drawing/2014/main" val="20004"/>
                        </a:ext>
                      </a:extLst>
                    </a:gridCol>
                    <a:gridCol w="936678">
                      <a:extLst>
                        <a:ext uri="{9D8B030D-6E8A-4147-A177-3AD203B41FA5}">
                          <a16:colId xmlns:a16="http://schemas.microsoft.com/office/drawing/2014/main" val="20005"/>
                        </a:ext>
                      </a:extLst>
                    </a:gridCol>
                  </a:tblGrid>
                  <a:tr h="304800">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340" marR="58340"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340" marR="58340"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dirty="0">
                              <a:effectLst/>
                              <a:latin typeface="Verdana" charset="0"/>
                              <a:ea typeface="Verdana" charset="0"/>
                              <a:cs typeface="Verdana" charset="0"/>
                            </a:rPr>
                            <a:t>Effect on People Your Age</a:t>
                          </a:r>
                          <a:endParaRPr lang="en-US" sz="2000" dirty="0">
                            <a:effectLst/>
                            <a:latin typeface="Verdana" charset="0"/>
                            <a:ea typeface="Verdana" charset="0"/>
                            <a:cs typeface="Verdana" charset="0"/>
                          </a:endParaRPr>
                        </a:p>
                      </a:txBody>
                      <a:tcPr marL="58340" marR="5834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76104">
                    <a:tc vMerge="1">
                      <a:txBody>
                        <a:bodyPr/>
                        <a:lstStyle/>
                        <a:p>
                          <a:endParaRPr lang="en-US"/>
                        </a:p>
                      </a:txBody>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Mostly Negative</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Total</a:t>
                          </a:r>
                          <a:endParaRPr lang="en-US" sz="2000" dirty="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60960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0000" t="-207000" r="-248846" b="-30000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5283" t="-207000" r="-144151" b="-30000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4867" t="-207000" r="-69027" b="-30000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40909" t="-207000" r="-1299" b="-300000"/>
                          </a:stretch>
                        </a:blipFill>
                      </a:tcPr>
                    </a:tc>
                    <a:extLst>
                      <a:ext uri="{0D108BD9-81ED-4DB2-BD59-A6C34878D82A}">
                        <a16:rowId xmlns:a16="http://schemas.microsoft.com/office/drawing/2014/main" val="10002"/>
                      </a:ext>
                    </a:extLst>
                  </a:tr>
                  <a:tr h="60960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0000" t="-303960" r="-248846" b="-19703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5283" t="-303960" r="-144151" b="-19703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4867" t="-303960" r="-69027" b="-19703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40909" t="-303960" r="-1299" b="-197030"/>
                          </a:stretch>
                        </a:blipFill>
                      </a:tcPr>
                    </a:tc>
                    <a:extLst>
                      <a:ext uri="{0D108BD9-81ED-4DB2-BD59-A6C34878D82A}">
                        <a16:rowId xmlns:a16="http://schemas.microsoft.com/office/drawing/2014/main" val="10003"/>
                      </a:ext>
                    </a:extLst>
                  </a:tr>
                  <a:tr h="60960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0000" t="-408000" r="-248846" b="-9900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5283" t="-408000" r="-144151" b="-9900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4867" t="-408000" r="-69027" b="-99000"/>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40909" t="-408000" r="-1299" b="-99000"/>
                          </a:stretch>
                        </a:blipFill>
                      </a:tcPr>
                    </a:tc>
                    <a:extLst>
                      <a:ext uri="{0D108BD9-81ED-4DB2-BD59-A6C34878D82A}">
                        <a16:rowId xmlns:a16="http://schemas.microsoft.com/office/drawing/2014/main" val="10004"/>
                      </a:ext>
                    </a:extLst>
                  </a:tr>
                  <a:tr h="59137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0000" t="-523711" r="-248846" b="-2062"/>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5283" t="-523711" r="-144151" b="-2062"/>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04867" t="-523711" r="-69027" b="-2062"/>
                          </a:stretch>
                        </a:blipFill>
                      </a:tcPr>
                    </a:tc>
                    <a:tc>
                      <a:txBody>
                        <a:bodyPr/>
                        <a:lstStyle/>
                        <a:p>
                          <a:endParaRPr lang="en-US"/>
                        </a:p>
                      </a:txBody>
                      <a:tcPr marL="58340" marR="5834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40909" t="-523711" r="-1299" b="-2062"/>
                          </a:stretch>
                        </a:blipFill>
                      </a:tcPr>
                    </a:tc>
                    <a:extLst>
                      <a:ext uri="{0D108BD9-81ED-4DB2-BD59-A6C34878D82A}">
                        <a16:rowId xmlns:a16="http://schemas.microsoft.com/office/drawing/2014/main" val="10005"/>
                      </a:ext>
                    </a:extLst>
                  </a:tr>
                </a:tbl>
              </a:graphicData>
            </a:graphic>
          </p:graphicFrame>
        </mc:Fallback>
      </mc:AlternateContent>
      <p:sp>
        <p:nvSpPr>
          <p:cNvPr id="11" name="TextBox 10">
            <a:extLst>
              <a:ext uri="{FF2B5EF4-FFF2-40B4-BE49-F238E27FC236}">
                <a16:creationId xmlns:a16="http://schemas.microsoft.com/office/drawing/2014/main" id="{C6A5B1A4-09D3-6A4D-A0C4-C1C82647C0D1}"/>
              </a:ext>
            </a:extLst>
          </p:cNvPr>
          <p:cNvSpPr txBox="1"/>
          <p:nvPr/>
        </p:nvSpPr>
        <p:spPr>
          <a:xfrm>
            <a:off x="2640730" y="2376650"/>
            <a:ext cx="4637314" cy="400110"/>
          </a:xfrm>
          <a:prstGeom prst="rect">
            <a:avLst/>
          </a:prstGeom>
          <a:noFill/>
        </p:spPr>
        <p:txBody>
          <a:bodyPr wrap="square">
            <a:spAutoFit/>
          </a:bodyPr>
          <a:lstStyle/>
          <a:p>
            <a:pPr algn="ctr"/>
            <a:r>
              <a:rPr lang="en-US" sz="2000" b="1" dirty="0">
                <a:latin typeface="Verdana" charset="0"/>
                <a:ea typeface="Verdana" charset="0"/>
                <a:cs typeface="Verdana" charset="0"/>
              </a:rPr>
              <a:t>Teen Social Media Survey</a:t>
            </a:r>
            <a:endParaRPr lang="en-US" sz="2000" dirty="0">
              <a:latin typeface="Verdana" charset="0"/>
              <a:ea typeface="Verdana" charset="0"/>
              <a:cs typeface="Verdana" charset="0"/>
            </a:endParaRPr>
          </a:p>
        </p:txBody>
      </p:sp>
      <p:sp>
        <p:nvSpPr>
          <p:cNvPr id="12" name="Google Shape;282;g104476d1465_1_17">
            <a:extLst>
              <a:ext uri="{FF2B5EF4-FFF2-40B4-BE49-F238E27FC236}">
                <a16:creationId xmlns:a16="http://schemas.microsoft.com/office/drawing/2014/main" id="{ACE8DAB4-180B-EE94-A362-F0A008B3AF4D}"/>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BA739C55-8FFD-5702-BC4E-CB3354AF283E}"/>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78;g104476d1465_1_17">
            <a:extLst>
              <a:ext uri="{FF2B5EF4-FFF2-40B4-BE49-F238E27FC236}">
                <a16:creationId xmlns:a16="http://schemas.microsoft.com/office/drawing/2014/main" id="{DFCA3B17-DD4A-E026-0ED7-9621FF10E7EF}"/>
              </a:ext>
            </a:extLst>
          </p:cNvPr>
          <p:cNvSpPr/>
          <p:nvPr/>
        </p:nvSpPr>
        <p:spPr>
          <a:xfrm>
            <a:off x="-3452"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41536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66899" y="520393"/>
            <a:ext cx="10295906" cy="461665"/>
          </a:xfrm>
          <a:prstGeom prst="rect">
            <a:avLst/>
          </a:prstGeom>
          <a:noFill/>
        </p:spPr>
        <p:txBody>
          <a:bodyPr wrap="square" rtlCol="0">
            <a:spAutoFit/>
          </a:bodyPr>
          <a:lstStyle/>
          <a:p>
            <a:r>
              <a:rPr lang="en-US" sz="2400" dirty="0">
                <a:latin typeface="Verdana" charset="0"/>
                <a:ea typeface="Verdana" charset="0"/>
                <a:cs typeface="Verdana" charset="0"/>
              </a:rPr>
              <a:t>It can also be displayed in a </a:t>
            </a:r>
            <a:r>
              <a:rPr lang="en-US" sz="2400" b="1" i="1" dirty="0">
                <a:latin typeface="Verdana" charset="0"/>
                <a:ea typeface="Verdana" charset="0"/>
                <a:cs typeface="Verdana" charset="0"/>
              </a:rPr>
              <a:t>segmented bar graph</a:t>
            </a:r>
            <a:r>
              <a:rPr lang="en-US" sz="2400" dirty="0">
                <a:latin typeface="Verdana" charset="0"/>
                <a:ea typeface="Verdana" charset="0"/>
                <a:cs typeface="Verdana" charset="0"/>
              </a:rPr>
              <a:t>.</a:t>
            </a: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3452"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Chart 6">
            <a:extLst>
              <a:ext uri="{FF2B5EF4-FFF2-40B4-BE49-F238E27FC236}">
                <a16:creationId xmlns:a16="http://schemas.microsoft.com/office/drawing/2014/main" id="{C01FD1FE-FA97-9544-9F5A-18C0C4AB6D22}"/>
              </a:ext>
            </a:extLst>
          </p:cNvPr>
          <p:cNvGraphicFramePr/>
          <p:nvPr>
            <p:extLst>
              <p:ext uri="{D42A27DB-BD31-4B8C-83A1-F6EECF244321}">
                <p14:modId xmlns:p14="http://schemas.microsoft.com/office/powerpoint/2010/main" val="2891578935"/>
              </p:ext>
            </p:extLst>
          </p:nvPr>
        </p:nvGraphicFramePr>
        <p:xfrm>
          <a:off x="1724197" y="1422386"/>
          <a:ext cx="689229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8" name="Google Shape;282;g104476d1465_1_17">
            <a:extLst>
              <a:ext uri="{FF2B5EF4-FFF2-40B4-BE49-F238E27FC236}">
                <a16:creationId xmlns:a16="http://schemas.microsoft.com/office/drawing/2014/main" id="{54159A4D-4A95-8C16-A17A-4DF6108B600E}"/>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FE47A938-ED70-87CB-D89C-F96FF6A4F170}"/>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61167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80195" y="520393"/>
            <a:ext cx="10258860" cy="830997"/>
          </a:xfrm>
          <a:prstGeom prst="rect">
            <a:avLst/>
          </a:prstGeom>
          <a:noFill/>
        </p:spPr>
        <p:txBody>
          <a:bodyPr wrap="square" rtlCol="0">
            <a:spAutoFit/>
          </a:bodyPr>
          <a:lstStyle/>
          <a:p>
            <a:r>
              <a:rPr lang="en-US" sz="2400" dirty="0">
                <a:latin typeface="Verdana" charset="0"/>
                <a:ea typeface="Verdana" charset="0"/>
                <a:cs typeface="Verdana" charset="0"/>
              </a:rPr>
              <a:t>Three two-way frequency tables and four segmented bar graphs are shown.</a:t>
            </a: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12ADE248-04B5-2A4F-92D0-F72B7A7A8808}"/>
                  </a:ext>
                </a:extLst>
              </p:cNvPr>
              <p:cNvGraphicFramePr>
                <a:graphicFrameLocks noGrp="1"/>
              </p:cNvGraphicFramePr>
              <p:nvPr>
                <p:extLst>
                  <p:ext uri="{D42A27DB-BD31-4B8C-83A1-F6EECF244321}">
                    <p14:modId xmlns:p14="http://schemas.microsoft.com/office/powerpoint/2010/main" val="2121993139"/>
                  </p:ext>
                </p:extLst>
              </p:nvPr>
            </p:nvGraphicFramePr>
            <p:xfrm>
              <a:off x="1208708" y="2772693"/>
              <a:ext cx="6949855" cy="1828800"/>
            </p:xfrm>
            <a:graphic>
              <a:graphicData uri="http://schemas.openxmlformats.org/drawingml/2006/table">
                <a:tbl>
                  <a:tblPr firstRow="1" firstCol="1" bandRow="1">
                    <a:tableStyleId>{5C22544A-7EE6-4342-B048-85BDC9FD1C3A}</a:tableStyleId>
                  </a:tblPr>
                  <a:tblGrid>
                    <a:gridCol w="1545746">
                      <a:extLst>
                        <a:ext uri="{9D8B030D-6E8A-4147-A177-3AD203B41FA5}">
                          <a16:colId xmlns:a16="http://schemas.microsoft.com/office/drawing/2014/main" val="493506880"/>
                        </a:ext>
                      </a:extLst>
                    </a:gridCol>
                    <a:gridCol w="1761826">
                      <a:extLst>
                        <a:ext uri="{9D8B030D-6E8A-4147-A177-3AD203B41FA5}">
                          <a16:colId xmlns:a16="http://schemas.microsoft.com/office/drawing/2014/main" val="478575279"/>
                        </a:ext>
                      </a:extLst>
                    </a:gridCol>
                    <a:gridCol w="1249166">
                      <a:extLst>
                        <a:ext uri="{9D8B030D-6E8A-4147-A177-3AD203B41FA5}">
                          <a16:colId xmlns:a16="http://schemas.microsoft.com/office/drawing/2014/main" val="846892108"/>
                        </a:ext>
                      </a:extLst>
                    </a:gridCol>
                    <a:gridCol w="1412991">
                      <a:extLst>
                        <a:ext uri="{9D8B030D-6E8A-4147-A177-3AD203B41FA5}">
                          <a16:colId xmlns:a16="http://schemas.microsoft.com/office/drawing/2014/main" val="3118819530"/>
                        </a:ext>
                      </a:extLst>
                    </a:gridCol>
                    <a:gridCol w="980126">
                      <a:extLst>
                        <a:ext uri="{9D8B030D-6E8A-4147-A177-3AD203B41FA5}">
                          <a16:colId xmlns:a16="http://schemas.microsoft.com/office/drawing/2014/main" val="1194957975"/>
                        </a:ext>
                      </a:extLst>
                    </a:gridCol>
                  </a:tblGrid>
                  <a:tr h="702945">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Less Than </a:t>
                          </a:r>
                          <a14:m>
                            <m:oMath xmlns:m="http://schemas.openxmlformats.org/officeDocument/2006/math">
                              <m:r>
                                <a:rPr lang="en-US" sz="2000">
                                  <a:solidFill>
                                    <a:schemeClr val="tx1"/>
                                  </a:solidFill>
                                  <a:effectLst/>
                                  <a:latin typeface="Cambria Math" panose="02040503050406030204" pitchFamily="18" charset="0"/>
                                </a:rPr>
                                <m:t>𝟏𝟖</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Years Old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14:m>
                            <m:oMath xmlns:m="http://schemas.openxmlformats.org/officeDocument/2006/math">
                              <m:r>
                                <a:rPr lang="en-US" sz="2000" smtClean="0">
                                  <a:solidFill>
                                    <a:schemeClr val="tx1"/>
                                  </a:solidFill>
                                  <a:effectLst/>
                                  <a:latin typeface="Cambria Math" panose="02040503050406030204" pitchFamily="18" charset="0"/>
                                </a:rPr>
                                <m:t>𝟏𝟖</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𝟑𝟎</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Years Old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Over </a:t>
                          </a:r>
                          <a14:m>
                            <m:oMath xmlns:m="http://schemas.openxmlformats.org/officeDocument/2006/math">
                              <m:r>
                                <a:rPr lang="en-US" sz="2000">
                                  <a:solidFill>
                                    <a:schemeClr val="tx1"/>
                                  </a:solidFill>
                                  <a:effectLst/>
                                  <a:latin typeface="Cambria Math" panose="02040503050406030204" pitchFamily="18" charset="0"/>
                                </a:rPr>
                                <m:t>𝟑𝟎</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Years Old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Total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88257069"/>
                      </a:ext>
                    </a:extLst>
                  </a:tr>
                  <a:tr h="264160">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Snapchat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147</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72</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90</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309</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3724523"/>
                      </a:ext>
                    </a:extLst>
                  </a:tr>
                  <a:tr h="264160">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Facebook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23</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56</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112</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191</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6113156"/>
                      </a:ext>
                    </a:extLst>
                  </a:tr>
                  <a:tr h="258445">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Total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170</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128</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202</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500</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316654"/>
                      </a:ext>
                    </a:extLst>
                  </a:tr>
                </a:tbl>
              </a:graphicData>
            </a:graphic>
          </p:graphicFrame>
        </mc:Choice>
        <mc:Fallback>
          <p:graphicFrame>
            <p:nvGraphicFramePr>
              <p:cNvPr id="7" name="Table 6">
                <a:extLst>
                  <a:ext uri="{FF2B5EF4-FFF2-40B4-BE49-F238E27FC236}">
                    <a16:creationId xmlns:a16="http://schemas.microsoft.com/office/drawing/2014/main" id="{12ADE248-04B5-2A4F-92D0-F72B7A7A8808}"/>
                  </a:ext>
                </a:extLst>
              </p:cNvPr>
              <p:cNvGraphicFramePr>
                <a:graphicFrameLocks noGrp="1"/>
              </p:cNvGraphicFramePr>
              <p:nvPr>
                <p:extLst>
                  <p:ext uri="{D42A27DB-BD31-4B8C-83A1-F6EECF244321}">
                    <p14:modId xmlns:p14="http://schemas.microsoft.com/office/powerpoint/2010/main" val="2121993139"/>
                  </p:ext>
                </p:extLst>
              </p:nvPr>
            </p:nvGraphicFramePr>
            <p:xfrm>
              <a:off x="1208708" y="2772693"/>
              <a:ext cx="6949855" cy="1828800"/>
            </p:xfrm>
            <a:graphic>
              <a:graphicData uri="http://schemas.openxmlformats.org/drawingml/2006/table">
                <a:tbl>
                  <a:tblPr firstRow="1" firstCol="1" bandRow="1">
                    <a:tableStyleId>{5C22544A-7EE6-4342-B048-85BDC9FD1C3A}</a:tableStyleId>
                  </a:tblPr>
                  <a:tblGrid>
                    <a:gridCol w="1545746">
                      <a:extLst>
                        <a:ext uri="{9D8B030D-6E8A-4147-A177-3AD203B41FA5}">
                          <a16:colId xmlns:a16="http://schemas.microsoft.com/office/drawing/2014/main" val="493506880"/>
                        </a:ext>
                      </a:extLst>
                    </a:gridCol>
                    <a:gridCol w="1761826">
                      <a:extLst>
                        <a:ext uri="{9D8B030D-6E8A-4147-A177-3AD203B41FA5}">
                          <a16:colId xmlns:a16="http://schemas.microsoft.com/office/drawing/2014/main" val="478575279"/>
                        </a:ext>
                      </a:extLst>
                    </a:gridCol>
                    <a:gridCol w="1249166">
                      <a:extLst>
                        <a:ext uri="{9D8B030D-6E8A-4147-A177-3AD203B41FA5}">
                          <a16:colId xmlns:a16="http://schemas.microsoft.com/office/drawing/2014/main" val="846892108"/>
                        </a:ext>
                      </a:extLst>
                    </a:gridCol>
                    <a:gridCol w="1412991">
                      <a:extLst>
                        <a:ext uri="{9D8B030D-6E8A-4147-A177-3AD203B41FA5}">
                          <a16:colId xmlns:a16="http://schemas.microsoft.com/office/drawing/2014/main" val="3118819530"/>
                        </a:ext>
                      </a:extLst>
                    </a:gridCol>
                    <a:gridCol w="980126">
                      <a:extLst>
                        <a:ext uri="{9D8B030D-6E8A-4147-A177-3AD203B41FA5}">
                          <a16:colId xmlns:a16="http://schemas.microsoft.com/office/drawing/2014/main" val="1194957975"/>
                        </a:ext>
                      </a:extLst>
                    </a:gridCol>
                  </a:tblGrid>
                  <a:tr h="914400">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8235" t="-7947" r="-207612" b="-11589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5366" t="-7947" r="-192683" b="-11589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2845" t="-7947" r="-70259" b="-115894"/>
                          </a:stretch>
                        </a:blip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Total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88257069"/>
                      </a:ext>
                    </a:extLst>
                  </a:tr>
                  <a:tr h="304800">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Snapchat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147</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72</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90</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309</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3724523"/>
                      </a:ext>
                    </a:extLst>
                  </a:tr>
                  <a:tr h="304800">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Facebook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23</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56</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112</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191</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6113156"/>
                      </a:ext>
                    </a:extLst>
                  </a:tr>
                  <a:tr h="304800">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Total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170</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128</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a:effectLst/>
                              <a:latin typeface="Cambria Math" panose="02040503050406030204" pitchFamily="18" charset="0"/>
                              <a:ea typeface="Cambria Math" panose="02040503050406030204" pitchFamily="18" charset="0"/>
                            </a:rPr>
                            <a:t>202</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r>
                            <a:rPr lang="en-US" sz="2000" dirty="0">
                              <a:effectLst/>
                              <a:latin typeface="Cambria Math" panose="02040503050406030204" pitchFamily="18" charset="0"/>
                              <a:ea typeface="Cambria Math" panose="02040503050406030204" pitchFamily="18" charset="0"/>
                            </a:rPr>
                            <a:t>500</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316654"/>
                      </a:ext>
                    </a:extLst>
                  </a:tr>
                </a:tbl>
              </a:graphicData>
            </a:graphic>
          </p:graphicFrame>
        </mc:Fallback>
      </mc:AlternateContent>
      <p:sp>
        <p:nvSpPr>
          <p:cNvPr id="8" name="TextBox 7">
            <a:extLst>
              <a:ext uri="{FF2B5EF4-FFF2-40B4-BE49-F238E27FC236}">
                <a16:creationId xmlns:a16="http://schemas.microsoft.com/office/drawing/2014/main" id="{9E234818-E476-9941-ADF4-7024CE970A9D}"/>
              </a:ext>
            </a:extLst>
          </p:cNvPr>
          <p:cNvSpPr txBox="1"/>
          <p:nvPr/>
        </p:nvSpPr>
        <p:spPr>
          <a:xfrm>
            <a:off x="1208707" y="2372583"/>
            <a:ext cx="6949856" cy="400110"/>
          </a:xfrm>
          <a:prstGeom prst="rect">
            <a:avLst/>
          </a:prstGeom>
          <a:noFill/>
        </p:spPr>
        <p:txBody>
          <a:bodyPr wrap="square">
            <a:spAutoFit/>
          </a:bodyPr>
          <a:lstStyle/>
          <a:p>
            <a:pPr marR="34290" algn="ctr"/>
            <a:r>
              <a:rPr lang="en-US" sz="2000" b="1" dirty="0">
                <a:latin typeface="Verdana" panose="020B0604030504040204" pitchFamily="34" charset="0"/>
                <a:ea typeface="Verdana" panose="020B0604030504040204" pitchFamily="34" charset="0"/>
                <a:cs typeface="Verdana" panose="020B0604030504040204" pitchFamily="34" charset="0"/>
              </a:rPr>
              <a:t>Peoples’ Social Media Preference by Age Group</a:t>
            </a:r>
            <a:endParaRPr lang="en-US" dirty="0">
              <a:latin typeface="Cambria" panose="02040503050406030204" pitchFamily="18" charset="0"/>
              <a:ea typeface="Yu Mincho" panose="02020400000000000000" pitchFamily="18" charset="-128"/>
              <a:cs typeface="Cambria" panose="02040503050406030204" pitchFamily="18" charset="0"/>
            </a:endParaRPr>
          </a:p>
        </p:txBody>
      </p:sp>
      <p:sp>
        <p:nvSpPr>
          <p:cNvPr id="10" name="TextBox 9">
            <a:extLst>
              <a:ext uri="{FF2B5EF4-FFF2-40B4-BE49-F238E27FC236}">
                <a16:creationId xmlns:a16="http://schemas.microsoft.com/office/drawing/2014/main" id="{1D4629CA-B59F-0247-B469-07A39749D42D}"/>
              </a:ext>
            </a:extLst>
          </p:cNvPr>
          <p:cNvSpPr txBox="1"/>
          <p:nvPr/>
        </p:nvSpPr>
        <p:spPr>
          <a:xfrm>
            <a:off x="828696" y="1950522"/>
            <a:ext cx="6097978" cy="400110"/>
          </a:xfrm>
          <a:prstGeom prst="rect">
            <a:avLst/>
          </a:prstGeom>
          <a:noFill/>
        </p:spPr>
        <p:txBody>
          <a:bodyPr wrap="square">
            <a:spAutoFit/>
          </a:bodyPr>
          <a:lstStyle/>
          <a:p>
            <a:r>
              <a:rPr lang="en-US" sz="2000" b="1" dirty="0">
                <a:latin typeface="Verdana" panose="020B0604030504040204" pitchFamily="34" charset="0"/>
                <a:ea typeface="Yu Mincho" panose="02020400000000000000" pitchFamily="18" charset="-128"/>
                <a:cs typeface="Cambria" panose="02040503050406030204" pitchFamily="18" charset="0"/>
              </a:rPr>
              <a:t>Table 1</a:t>
            </a:r>
            <a:endParaRPr lang="en-US" dirty="0">
              <a:latin typeface="Cambria" panose="02040503050406030204" pitchFamily="18" charset="0"/>
              <a:ea typeface="Yu Mincho" panose="02020400000000000000" pitchFamily="18" charset="-128"/>
              <a:cs typeface="Cambria" panose="02040503050406030204" pitchFamily="18" charset="0"/>
            </a:endParaRPr>
          </a:p>
        </p:txBody>
      </p:sp>
      <p:sp>
        <p:nvSpPr>
          <p:cNvPr id="11" name="Rectangle 10">
            <a:extLst>
              <a:ext uri="{FF2B5EF4-FFF2-40B4-BE49-F238E27FC236}">
                <a16:creationId xmlns:a16="http://schemas.microsoft.com/office/drawing/2014/main" id="{570B5177-E604-E542-B308-2933E116F5EF}"/>
              </a:ext>
            </a:extLst>
          </p:cNvPr>
          <p:cNvSpPr/>
          <p:nvPr/>
        </p:nvSpPr>
        <p:spPr>
          <a:xfrm>
            <a:off x="880196" y="1946347"/>
            <a:ext cx="7497209" cy="29569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Google Shape;282;g104476d1465_1_17">
            <a:extLst>
              <a:ext uri="{FF2B5EF4-FFF2-40B4-BE49-F238E27FC236}">
                <a16:creationId xmlns:a16="http://schemas.microsoft.com/office/drawing/2014/main" id="{5D516CC7-08A1-2471-036D-D0606D049ABB}"/>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endParaRPr i="1" dirty="0">
              <a:latin typeface="Calibri"/>
              <a:ea typeface="Calibri"/>
              <a:cs typeface="Calibri"/>
              <a:sym typeface="Calibri"/>
            </a:endParaRPr>
          </a:p>
        </p:txBody>
      </p:sp>
      <p:pic>
        <p:nvPicPr>
          <p:cNvPr id="15" name="Google Shape;283;g104476d1465_1_17">
            <a:extLst>
              <a:ext uri="{FF2B5EF4-FFF2-40B4-BE49-F238E27FC236}">
                <a16:creationId xmlns:a16="http://schemas.microsoft.com/office/drawing/2014/main" id="{062B3539-C8FF-3877-A6E5-3F472B2457C0}"/>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08900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Table 6">
            <a:extLst>
              <a:ext uri="{FF2B5EF4-FFF2-40B4-BE49-F238E27FC236}">
                <a16:creationId xmlns:a16="http://schemas.microsoft.com/office/drawing/2014/main" id="{5B801CAA-FB1F-F54E-B3D1-8CD6F0FA2227}"/>
              </a:ext>
            </a:extLst>
          </p:cNvPr>
          <p:cNvGraphicFramePr>
            <a:graphicFrameLocks noGrp="1"/>
          </p:cNvGraphicFramePr>
          <p:nvPr>
            <p:extLst>
              <p:ext uri="{D42A27DB-BD31-4B8C-83A1-F6EECF244321}">
                <p14:modId xmlns:p14="http://schemas.microsoft.com/office/powerpoint/2010/main" val="4056589889"/>
              </p:ext>
            </p:extLst>
          </p:nvPr>
        </p:nvGraphicFramePr>
        <p:xfrm>
          <a:off x="1601065" y="800007"/>
          <a:ext cx="6409940" cy="2743200"/>
        </p:xfrm>
        <a:graphic>
          <a:graphicData uri="http://schemas.openxmlformats.org/drawingml/2006/table">
            <a:tbl>
              <a:tblPr firstRow="1" firstCol="1" lastRow="1" lastCol="1">
                <a:tableStyleId>{2D5ABB26-0587-4C30-8999-92F81FD0307C}</a:tableStyleId>
              </a:tblPr>
              <a:tblGrid>
                <a:gridCol w="1193531">
                  <a:extLst>
                    <a:ext uri="{9D8B030D-6E8A-4147-A177-3AD203B41FA5}">
                      <a16:colId xmlns:a16="http://schemas.microsoft.com/office/drawing/2014/main" val="268676047"/>
                    </a:ext>
                  </a:extLst>
                </a:gridCol>
                <a:gridCol w="2092204">
                  <a:extLst>
                    <a:ext uri="{9D8B030D-6E8A-4147-A177-3AD203B41FA5}">
                      <a16:colId xmlns:a16="http://schemas.microsoft.com/office/drawing/2014/main" val="4292912055"/>
                    </a:ext>
                  </a:extLst>
                </a:gridCol>
                <a:gridCol w="1961442">
                  <a:extLst>
                    <a:ext uri="{9D8B030D-6E8A-4147-A177-3AD203B41FA5}">
                      <a16:colId xmlns:a16="http://schemas.microsoft.com/office/drawing/2014/main" val="587385069"/>
                    </a:ext>
                  </a:extLst>
                </a:gridCol>
                <a:gridCol w="1162763">
                  <a:extLst>
                    <a:ext uri="{9D8B030D-6E8A-4147-A177-3AD203B41FA5}">
                      <a16:colId xmlns:a16="http://schemas.microsoft.com/office/drawing/2014/main" val="860275264"/>
                    </a:ext>
                  </a:extLst>
                </a:gridCol>
              </a:tblGrid>
              <a:tr h="26162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 </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University of Miami, Florida</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Jacksonville University, Florida</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Total</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83503729"/>
                  </a:ext>
                </a:extLst>
              </a:tr>
              <a:tr h="26162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Spike Kills</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a:effectLst/>
                        </a:rPr>
                        <a:t>18</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22</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40</a:t>
                      </a:r>
                      <a:endParaRPr lang="en-US" sz="12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52877"/>
                  </a:ext>
                </a:extLst>
              </a:tr>
              <a:tr h="26162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Service Aces</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a:effectLst/>
                        </a:rPr>
                        <a:t>39</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48</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87</a:t>
                      </a:r>
                      <a:endParaRPr lang="en-US" sz="12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8815429"/>
                  </a:ext>
                </a:extLst>
              </a:tr>
              <a:tr h="26162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Other</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a:effectLst/>
                        </a:rPr>
                        <a:t>20</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24</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44</a:t>
                      </a:r>
                      <a:endParaRPr lang="en-US" sz="12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7753425"/>
                  </a:ext>
                </a:extLst>
              </a:tr>
              <a:tr h="13462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Total</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a:effectLst/>
                        </a:rPr>
                        <a:t>77</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94</a:t>
                      </a:r>
                      <a:endParaRPr lang="en-US" sz="12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171</a:t>
                      </a:r>
                      <a:endParaRPr lang="en-US" sz="12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7728967"/>
                  </a:ext>
                </a:extLst>
              </a:tr>
            </a:tbl>
          </a:graphicData>
        </a:graphic>
      </p:graphicFrame>
      <p:sp>
        <p:nvSpPr>
          <p:cNvPr id="8" name="TextBox 7">
            <a:extLst>
              <a:ext uri="{FF2B5EF4-FFF2-40B4-BE49-F238E27FC236}">
                <a16:creationId xmlns:a16="http://schemas.microsoft.com/office/drawing/2014/main" id="{B1C87622-F892-1F49-88F5-CC20DD55F1CE}"/>
              </a:ext>
            </a:extLst>
          </p:cNvPr>
          <p:cNvSpPr txBox="1"/>
          <p:nvPr/>
        </p:nvSpPr>
        <p:spPr>
          <a:xfrm>
            <a:off x="1755537" y="430675"/>
            <a:ext cx="6100996" cy="400110"/>
          </a:xfrm>
          <a:prstGeom prst="rect">
            <a:avLst/>
          </a:prstGeom>
          <a:noFill/>
        </p:spPr>
        <p:txBody>
          <a:bodyPr wrap="square">
            <a:spAutoFit/>
          </a:bodyPr>
          <a:lstStyle/>
          <a:p>
            <a:pPr marR="34290" algn="ctr"/>
            <a:r>
              <a:rPr lang="en-US" sz="2000" b="1" dirty="0">
                <a:latin typeface="Verdana" panose="020B0604030504040204" pitchFamily="34" charset="0"/>
                <a:ea typeface="Yu Mincho" panose="02020400000000000000" pitchFamily="18" charset="-128"/>
                <a:cs typeface="Cambria" panose="02040503050406030204" pitchFamily="18" charset="0"/>
              </a:rPr>
              <a:t>Points Scored During a Volleyball Match</a:t>
            </a:r>
            <a:endParaRPr lang="en-US" dirty="0">
              <a:latin typeface="Cambria" panose="02040503050406030204" pitchFamily="18" charset="0"/>
              <a:ea typeface="Yu Mincho" panose="02020400000000000000" pitchFamily="18" charset="-128"/>
              <a:cs typeface="Cambria" panose="02040503050406030204" pitchFamily="18" charset="0"/>
            </a:endParaRPr>
          </a:p>
        </p:txBody>
      </p:sp>
      <p:sp>
        <p:nvSpPr>
          <p:cNvPr id="9" name="Rectangle 8">
            <a:extLst>
              <a:ext uri="{FF2B5EF4-FFF2-40B4-BE49-F238E27FC236}">
                <a16:creationId xmlns:a16="http://schemas.microsoft.com/office/drawing/2014/main" id="{E58B4B86-9086-AD49-AA3C-94B7B81ECED7}"/>
              </a:ext>
            </a:extLst>
          </p:cNvPr>
          <p:cNvSpPr/>
          <p:nvPr/>
        </p:nvSpPr>
        <p:spPr>
          <a:xfrm>
            <a:off x="986468" y="145475"/>
            <a:ext cx="7495082" cy="36140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4F38ABF-637F-7E43-B38E-7FFCEBC6CD86}"/>
              </a:ext>
            </a:extLst>
          </p:cNvPr>
          <p:cNvSpPr txBox="1"/>
          <p:nvPr/>
        </p:nvSpPr>
        <p:spPr>
          <a:xfrm>
            <a:off x="992269" y="145475"/>
            <a:ext cx="6100996" cy="400110"/>
          </a:xfrm>
          <a:prstGeom prst="rect">
            <a:avLst/>
          </a:prstGeom>
          <a:noFill/>
        </p:spPr>
        <p:txBody>
          <a:bodyPr wrap="square">
            <a:spAutoFit/>
          </a:bodyPr>
          <a:lstStyle/>
          <a:p>
            <a:pPr marR="34290"/>
            <a:r>
              <a:rPr lang="en-US" sz="2000" b="1" dirty="0">
                <a:latin typeface="Verdana" panose="020B0604030504040204" pitchFamily="34" charset="0"/>
                <a:ea typeface="Yu Mincho" panose="02020400000000000000" pitchFamily="18" charset="-128"/>
                <a:cs typeface="Cambria" panose="02040503050406030204" pitchFamily="18" charset="0"/>
              </a:rPr>
              <a:t>Table 2</a:t>
            </a:r>
            <a:endParaRPr lang="en-US" dirty="0">
              <a:latin typeface="Cambria" panose="02040503050406030204" pitchFamily="18" charset="0"/>
              <a:ea typeface="Yu Mincho" panose="02020400000000000000" pitchFamily="18" charset="-128"/>
              <a:cs typeface="Cambria" panose="02040503050406030204" pitchFamily="18" charset="0"/>
            </a:endParaRPr>
          </a:p>
        </p:txBody>
      </p:sp>
      <p:sp>
        <p:nvSpPr>
          <p:cNvPr id="11" name="Rectangle 10">
            <a:extLst>
              <a:ext uri="{FF2B5EF4-FFF2-40B4-BE49-F238E27FC236}">
                <a16:creationId xmlns:a16="http://schemas.microsoft.com/office/drawing/2014/main" id="{FB26701A-3B3D-6E4D-B7A1-AA81342C28A3}"/>
              </a:ext>
            </a:extLst>
          </p:cNvPr>
          <p:cNvSpPr/>
          <p:nvPr/>
        </p:nvSpPr>
        <p:spPr>
          <a:xfrm>
            <a:off x="985406" y="3759519"/>
            <a:ext cx="7495081" cy="2732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E0D63539-0572-6A43-9D90-7DAA046B1339}"/>
              </a:ext>
            </a:extLst>
          </p:cNvPr>
          <p:cNvGraphicFramePr>
            <a:graphicFrameLocks noGrp="1"/>
          </p:cNvGraphicFramePr>
          <p:nvPr>
            <p:extLst>
              <p:ext uri="{D42A27DB-BD31-4B8C-83A1-F6EECF244321}">
                <p14:modId xmlns:p14="http://schemas.microsoft.com/office/powerpoint/2010/main" val="1543510908"/>
              </p:ext>
            </p:extLst>
          </p:nvPr>
        </p:nvGraphicFramePr>
        <p:xfrm>
          <a:off x="1885233" y="4447078"/>
          <a:ext cx="6045200" cy="1828800"/>
        </p:xfrm>
        <a:graphic>
          <a:graphicData uri="http://schemas.openxmlformats.org/drawingml/2006/table">
            <a:tbl>
              <a:tblPr firstRow="1" firstCol="1" lastRow="1" lastCol="1">
                <a:tableStyleId>{5940675A-B579-460E-94D1-54222C63F5DA}</a:tableStyleId>
              </a:tblPr>
              <a:tblGrid>
                <a:gridCol w="1465356">
                  <a:extLst>
                    <a:ext uri="{9D8B030D-6E8A-4147-A177-3AD203B41FA5}">
                      <a16:colId xmlns:a16="http://schemas.microsoft.com/office/drawing/2014/main" val="3692949235"/>
                    </a:ext>
                  </a:extLst>
                </a:gridCol>
                <a:gridCol w="1680566">
                  <a:extLst>
                    <a:ext uri="{9D8B030D-6E8A-4147-A177-3AD203B41FA5}">
                      <a16:colId xmlns:a16="http://schemas.microsoft.com/office/drawing/2014/main" val="2214463811"/>
                    </a:ext>
                  </a:extLst>
                </a:gridCol>
                <a:gridCol w="1655176">
                  <a:extLst>
                    <a:ext uri="{9D8B030D-6E8A-4147-A177-3AD203B41FA5}">
                      <a16:colId xmlns:a16="http://schemas.microsoft.com/office/drawing/2014/main" val="3958606525"/>
                    </a:ext>
                  </a:extLst>
                </a:gridCol>
                <a:gridCol w="1244102">
                  <a:extLst>
                    <a:ext uri="{9D8B030D-6E8A-4147-A177-3AD203B41FA5}">
                      <a16:colId xmlns:a16="http://schemas.microsoft.com/office/drawing/2014/main" val="1118543009"/>
                    </a:ext>
                  </a:extLst>
                </a:gridCol>
              </a:tblGrid>
              <a:tr h="46101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Meditated</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Did Not Meditate</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Total</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935953880"/>
                  </a:ext>
                </a:extLst>
              </a:tr>
              <a:tr h="27686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Calm</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a:effectLst/>
                        </a:rPr>
                        <a:t>52</a:t>
                      </a:r>
                      <a:endParaRPr lang="en-US" sz="14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a:effectLst/>
                        </a:rPr>
                        <a:t>6</a:t>
                      </a:r>
                      <a:endParaRPr lang="en-US" sz="14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dirty="0">
                          <a:effectLst/>
                        </a:rPr>
                        <a:t>58</a:t>
                      </a:r>
                      <a:endParaRPr lang="en-US" sz="14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extLst>
                  <a:ext uri="{0D108BD9-81ED-4DB2-BD59-A6C34878D82A}">
                    <a16:rowId xmlns:a16="http://schemas.microsoft.com/office/drawing/2014/main" val="3485274787"/>
                  </a:ext>
                </a:extLst>
              </a:tr>
              <a:tr h="238125">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Excited</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a:effectLst/>
                        </a:rPr>
                        <a:t>11</a:t>
                      </a:r>
                      <a:endParaRPr lang="en-US" sz="14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a:effectLst/>
                        </a:rPr>
                        <a:t>24</a:t>
                      </a:r>
                      <a:endParaRPr lang="en-US" sz="14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dirty="0">
                          <a:effectLst/>
                        </a:rPr>
                        <a:t>35</a:t>
                      </a:r>
                      <a:endParaRPr lang="en-US" sz="14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extLst>
                  <a:ext uri="{0D108BD9-81ED-4DB2-BD59-A6C34878D82A}">
                    <a16:rowId xmlns:a16="http://schemas.microsoft.com/office/drawing/2014/main" val="3591019986"/>
                  </a:ext>
                </a:extLst>
              </a:tr>
              <a:tr h="25273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Agitated</a:t>
                      </a:r>
                      <a:endParaRPr lang="en-US" sz="1400" b="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a:effectLst/>
                        </a:rPr>
                        <a:t>9</a:t>
                      </a:r>
                      <a:endParaRPr lang="en-US" sz="14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a:effectLst/>
                        </a:rPr>
                        <a:t>15</a:t>
                      </a:r>
                      <a:endParaRPr lang="en-US" sz="14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dirty="0">
                          <a:effectLst/>
                        </a:rPr>
                        <a:t>24</a:t>
                      </a:r>
                      <a:endParaRPr lang="en-US" sz="14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extLst>
                  <a:ext uri="{0D108BD9-81ED-4DB2-BD59-A6C34878D82A}">
                    <a16:rowId xmlns:a16="http://schemas.microsoft.com/office/drawing/2014/main" val="1759844663"/>
                  </a:ext>
                </a:extLst>
              </a:tr>
              <a:tr h="23812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Total</a:t>
                      </a:r>
                      <a:endParaRPr lang="en-US"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dirty="0">
                          <a:effectLst/>
                        </a:rPr>
                        <a:t>72</a:t>
                      </a:r>
                      <a:endParaRPr lang="en-US" sz="14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a:effectLst/>
                        </a:rPr>
                        <a:t>45</a:t>
                      </a:r>
                      <a:endParaRPr lang="en-US" sz="140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tc>
                  <a:txBody>
                    <a:bodyPr/>
                    <a:lstStyle/>
                    <a:p>
                      <a:pPr marL="0" marR="0" algn="ctr">
                        <a:spcBef>
                          <a:spcPts val="0"/>
                        </a:spcBef>
                        <a:spcAft>
                          <a:spcPts val="0"/>
                        </a:spcAft>
                      </a:pPr>
                      <a:r>
                        <a:rPr lang="en-US" sz="2000" dirty="0">
                          <a:effectLst/>
                        </a:rPr>
                        <a:t>117</a:t>
                      </a:r>
                      <a:endParaRPr lang="en-US" sz="1400" dirty="0">
                        <a:effectLst/>
                        <a:latin typeface="Cambria" panose="02040503050406030204" pitchFamily="18" charset="0"/>
                        <a:ea typeface="Yu Mincho" panose="02020400000000000000" pitchFamily="18" charset="-128"/>
                        <a:cs typeface="Cambria" panose="02040503050406030204" pitchFamily="18" charset="0"/>
                      </a:endParaRPr>
                    </a:p>
                  </a:txBody>
                  <a:tcPr marL="68580" marR="68580" marT="0" marB="0" anchor="ctr"/>
                </a:tc>
                <a:extLst>
                  <a:ext uri="{0D108BD9-81ED-4DB2-BD59-A6C34878D82A}">
                    <a16:rowId xmlns:a16="http://schemas.microsoft.com/office/drawing/2014/main" val="904324927"/>
                  </a:ext>
                </a:extLst>
              </a:tr>
            </a:tbl>
          </a:graphicData>
        </a:graphic>
      </p:graphicFrame>
      <p:sp>
        <p:nvSpPr>
          <p:cNvPr id="14" name="TextBox 13">
            <a:extLst>
              <a:ext uri="{FF2B5EF4-FFF2-40B4-BE49-F238E27FC236}">
                <a16:creationId xmlns:a16="http://schemas.microsoft.com/office/drawing/2014/main" id="{6D17E77F-4858-7644-A583-3CEC74D4249A}"/>
              </a:ext>
            </a:extLst>
          </p:cNvPr>
          <p:cNvSpPr txBox="1"/>
          <p:nvPr/>
        </p:nvSpPr>
        <p:spPr>
          <a:xfrm>
            <a:off x="1335182" y="4033886"/>
            <a:ext cx="7145305" cy="400110"/>
          </a:xfrm>
          <a:prstGeom prst="rect">
            <a:avLst/>
          </a:prstGeom>
          <a:noFill/>
        </p:spPr>
        <p:txBody>
          <a:bodyPr wrap="square">
            <a:spAutoFit/>
          </a:bodyPr>
          <a:lstStyle/>
          <a:p>
            <a:pPr marR="34290" algn="ctr"/>
            <a:r>
              <a:rPr lang="en-US" sz="2000" b="1" dirty="0">
                <a:latin typeface="Verdana" panose="020B0604030504040204" pitchFamily="34" charset="0"/>
                <a:ea typeface="Yu Mincho" panose="02020400000000000000" pitchFamily="18" charset="-128"/>
                <a:cs typeface="Cambria" panose="02040503050406030204" pitchFamily="18" charset="0"/>
              </a:rPr>
              <a:t>Emotional States Related to Meditation Practice</a:t>
            </a:r>
            <a:endParaRPr lang="en-US" dirty="0">
              <a:latin typeface="Cambria" panose="02040503050406030204" pitchFamily="18" charset="0"/>
              <a:ea typeface="Yu Mincho" panose="02020400000000000000" pitchFamily="18" charset="-128"/>
              <a:cs typeface="Cambria" panose="02040503050406030204" pitchFamily="18" charset="0"/>
            </a:endParaRPr>
          </a:p>
        </p:txBody>
      </p:sp>
      <p:sp>
        <p:nvSpPr>
          <p:cNvPr id="15" name="TextBox 14">
            <a:extLst>
              <a:ext uri="{FF2B5EF4-FFF2-40B4-BE49-F238E27FC236}">
                <a16:creationId xmlns:a16="http://schemas.microsoft.com/office/drawing/2014/main" id="{E89FD16A-BFD3-8D4B-A408-9CC704606D7C}"/>
              </a:ext>
            </a:extLst>
          </p:cNvPr>
          <p:cNvSpPr txBox="1"/>
          <p:nvPr/>
        </p:nvSpPr>
        <p:spPr>
          <a:xfrm>
            <a:off x="984341" y="3728741"/>
            <a:ext cx="6100996" cy="400110"/>
          </a:xfrm>
          <a:prstGeom prst="rect">
            <a:avLst/>
          </a:prstGeom>
          <a:noFill/>
        </p:spPr>
        <p:txBody>
          <a:bodyPr wrap="square">
            <a:spAutoFit/>
          </a:bodyPr>
          <a:lstStyle/>
          <a:p>
            <a:pPr marR="34290"/>
            <a:r>
              <a:rPr lang="en-US" sz="2000" b="1" dirty="0">
                <a:latin typeface="Verdana" panose="020B0604030504040204" pitchFamily="34" charset="0"/>
                <a:ea typeface="Yu Mincho" panose="02020400000000000000" pitchFamily="18" charset="-128"/>
                <a:cs typeface="Cambria" panose="02040503050406030204" pitchFamily="18" charset="0"/>
              </a:rPr>
              <a:t>Table 3</a:t>
            </a:r>
            <a:endParaRPr lang="en-US" dirty="0">
              <a:latin typeface="Cambria" panose="02040503050406030204" pitchFamily="18" charset="0"/>
              <a:ea typeface="Yu Mincho" panose="02020400000000000000" pitchFamily="18" charset="-128"/>
              <a:cs typeface="Cambria" panose="02040503050406030204" pitchFamily="18" charset="0"/>
            </a:endParaRPr>
          </a:p>
        </p:txBody>
      </p:sp>
      <p:sp>
        <p:nvSpPr>
          <p:cNvPr id="16" name="Google Shape;282;g104476d1465_1_17">
            <a:extLst>
              <a:ext uri="{FF2B5EF4-FFF2-40B4-BE49-F238E27FC236}">
                <a16:creationId xmlns:a16="http://schemas.microsoft.com/office/drawing/2014/main" id="{393DA503-BA38-EE96-2AA1-E6A8C1F832D6}"/>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endParaRPr i="1" dirty="0">
              <a:latin typeface="Calibri"/>
              <a:ea typeface="Calibri"/>
              <a:cs typeface="Calibri"/>
              <a:sym typeface="Calibri"/>
            </a:endParaRPr>
          </a:p>
        </p:txBody>
      </p:sp>
      <p:pic>
        <p:nvPicPr>
          <p:cNvPr id="17" name="Google Shape;283;g104476d1465_1_17">
            <a:extLst>
              <a:ext uri="{FF2B5EF4-FFF2-40B4-BE49-F238E27FC236}">
                <a16:creationId xmlns:a16="http://schemas.microsoft.com/office/drawing/2014/main" id="{7A0D7344-8C21-1D4C-F59C-262A7F2EBD58}"/>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01851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Chart 6">
            <a:extLst>
              <a:ext uri="{FF2B5EF4-FFF2-40B4-BE49-F238E27FC236}">
                <a16:creationId xmlns:a16="http://schemas.microsoft.com/office/drawing/2014/main" id="{9A51FD55-DBBF-0642-8933-5A234BA54A66}"/>
              </a:ext>
            </a:extLst>
          </p:cNvPr>
          <p:cNvGraphicFramePr/>
          <p:nvPr>
            <p:extLst>
              <p:ext uri="{D42A27DB-BD31-4B8C-83A1-F6EECF244321}">
                <p14:modId xmlns:p14="http://schemas.microsoft.com/office/powerpoint/2010/main" val="721344918"/>
              </p:ext>
            </p:extLst>
          </p:nvPr>
        </p:nvGraphicFramePr>
        <p:xfrm>
          <a:off x="1341688" y="795708"/>
          <a:ext cx="3343275" cy="21240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30">
            <a:extLst>
              <a:ext uri="{FF2B5EF4-FFF2-40B4-BE49-F238E27FC236}">
                <a16:creationId xmlns:a16="http://schemas.microsoft.com/office/drawing/2014/main" id="{708CFA0B-5748-FC4D-86D8-AE77AB24066C}"/>
              </a:ext>
            </a:extLst>
          </p:cNvPr>
          <p:cNvGraphicFramePr>
            <a:graphicFrameLocks noGrp="1"/>
          </p:cNvGraphicFramePr>
          <p:nvPr>
            <p:extLst>
              <p:ext uri="{D42A27DB-BD31-4B8C-83A1-F6EECF244321}">
                <p14:modId xmlns:p14="http://schemas.microsoft.com/office/powerpoint/2010/main" val="3873718793"/>
              </p:ext>
            </p:extLst>
          </p:nvPr>
        </p:nvGraphicFramePr>
        <p:xfrm>
          <a:off x="805880" y="322573"/>
          <a:ext cx="7779896" cy="5194420"/>
        </p:xfrm>
        <a:graphic>
          <a:graphicData uri="http://schemas.openxmlformats.org/drawingml/2006/table">
            <a:tbl>
              <a:tblPr firstRow="1" bandRow="1">
                <a:tableStyleId>{5C22544A-7EE6-4342-B048-85BDC9FD1C3A}</a:tableStyleId>
              </a:tblPr>
              <a:tblGrid>
                <a:gridCol w="3889948">
                  <a:extLst>
                    <a:ext uri="{9D8B030D-6E8A-4147-A177-3AD203B41FA5}">
                      <a16:colId xmlns:a16="http://schemas.microsoft.com/office/drawing/2014/main" val="4278373259"/>
                    </a:ext>
                  </a:extLst>
                </a:gridCol>
                <a:gridCol w="3889948">
                  <a:extLst>
                    <a:ext uri="{9D8B030D-6E8A-4147-A177-3AD203B41FA5}">
                      <a16:colId xmlns:a16="http://schemas.microsoft.com/office/drawing/2014/main" val="3460774764"/>
                    </a:ext>
                  </a:extLst>
                </a:gridCol>
              </a:tblGrid>
              <a:tr h="25972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Graph A</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Graph B</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0972236"/>
                  </a:ext>
                </a:extLst>
              </a:tr>
              <a:tr h="259721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Graph C</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Graph D</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8156472"/>
                  </a:ext>
                </a:extLst>
              </a:tr>
            </a:tbl>
          </a:graphicData>
        </a:graphic>
      </p:graphicFrame>
      <p:graphicFrame>
        <p:nvGraphicFramePr>
          <p:cNvPr id="9" name="Chart 8">
            <a:extLst>
              <a:ext uri="{FF2B5EF4-FFF2-40B4-BE49-F238E27FC236}">
                <a16:creationId xmlns:a16="http://schemas.microsoft.com/office/drawing/2014/main" id="{F1AB09BC-B065-D44E-BA9A-A44A3F518622}"/>
              </a:ext>
            </a:extLst>
          </p:cNvPr>
          <p:cNvGraphicFramePr/>
          <p:nvPr>
            <p:extLst>
              <p:ext uri="{D42A27DB-BD31-4B8C-83A1-F6EECF244321}">
                <p14:modId xmlns:p14="http://schemas.microsoft.com/office/powerpoint/2010/main" val="2578975822"/>
              </p:ext>
            </p:extLst>
          </p:nvPr>
        </p:nvGraphicFramePr>
        <p:xfrm>
          <a:off x="5313617" y="871908"/>
          <a:ext cx="2971800" cy="20478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150F954A-E409-494E-9986-B386CEF443CA}"/>
              </a:ext>
            </a:extLst>
          </p:cNvPr>
          <p:cNvGraphicFramePr/>
          <p:nvPr>
            <p:extLst>
              <p:ext uri="{D42A27DB-BD31-4B8C-83A1-F6EECF244321}">
                <p14:modId xmlns:p14="http://schemas.microsoft.com/office/powerpoint/2010/main" val="429871240"/>
              </p:ext>
            </p:extLst>
          </p:nvPr>
        </p:nvGraphicFramePr>
        <p:xfrm>
          <a:off x="1341687" y="3392917"/>
          <a:ext cx="3238500" cy="20097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5A04845E-0442-6F42-86C7-C58B16B21502}"/>
              </a:ext>
            </a:extLst>
          </p:cNvPr>
          <p:cNvGraphicFramePr/>
          <p:nvPr>
            <p:extLst>
              <p:ext uri="{D42A27DB-BD31-4B8C-83A1-F6EECF244321}">
                <p14:modId xmlns:p14="http://schemas.microsoft.com/office/powerpoint/2010/main" val="1385157589"/>
              </p:ext>
            </p:extLst>
          </p:nvPr>
        </p:nvGraphicFramePr>
        <p:xfrm>
          <a:off x="5222191" y="3431016"/>
          <a:ext cx="2924175" cy="1933575"/>
        </p:xfrm>
        <a:graphic>
          <a:graphicData uri="http://schemas.openxmlformats.org/drawingml/2006/chart">
            <c:chart xmlns:c="http://schemas.openxmlformats.org/drawingml/2006/chart" xmlns:r="http://schemas.openxmlformats.org/officeDocument/2006/relationships" r:id="rId6"/>
          </a:graphicData>
        </a:graphic>
      </p:graphicFrame>
      <p:sp>
        <p:nvSpPr>
          <p:cNvPr id="13" name="Google Shape;282;g104476d1465_1_17">
            <a:extLst>
              <a:ext uri="{FF2B5EF4-FFF2-40B4-BE49-F238E27FC236}">
                <a16:creationId xmlns:a16="http://schemas.microsoft.com/office/drawing/2014/main" id="{681DE378-602D-BAC0-71B0-332F27184801}"/>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318</a:t>
            </a:r>
            <a:endParaRPr i="1" dirty="0">
              <a:latin typeface="Calibri"/>
              <a:ea typeface="Calibri"/>
              <a:cs typeface="Calibri"/>
              <a:sym typeface="Calibri"/>
            </a:endParaRPr>
          </a:p>
        </p:txBody>
      </p:sp>
      <p:pic>
        <p:nvPicPr>
          <p:cNvPr id="14" name="Google Shape;283;g104476d1465_1_17">
            <a:extLst>
              <a:ext uri="{FF2B5EF4-FFF2-40B4-BE49-F238E27FC236}">
                <a16:creationId xmlns:a16="http://schemas.microsoft.com/office/drawing/2014/main" id="{9FA29F1E-3D9C-551A-B948-7BE9EE2AE54C}"/>
              </a:ext>
            </a:extLst>
          </p:cNvPr>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9371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4"/>
            <a:ext cx="10319658" cy="830997"/>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Work with your partner to match each two-way frequency table to the segmented bar graph that displays the same data.</a:t>
            </a: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196503756"/>
                  </p:ext>
                </p:extLst>
              </p:nvPr>
            </p:nvGraphicFramePr>
            <p:xfrm>
              <a:off x="3085073" y="1628600"/>
              <a:ext cx="4826953" cy="4572000"/>
            </p:xfrm>
            <a:graphic>
              <a:graphicData uri="http://schemas.openxmlformats.org/drawingml/2006/table">
                <a:tbl>
                  <a:tblPr firstRow="1" firstCol="1" bandRow="1"/>
                  <a:tblGrid>
                    <a:gridCol w="2385161">
                      <a:extLst>
                        <a:ext uri="{9D8B030D-6E8A-4147-A177-3AD203B41FA5}">
                          <a16:colId xmlns:a16="http://schemas.microsoft.com/office/drawing/2014/main" val="20000"/>
                        </a:ext>
                      </a:extLst>
                    </a:gridCol>
                    <a:gridCol w="2441792">
                      <a:extLst>
                        <a:ext uri="{9D8B030D-6E8A-4147-A177-3AD203B41FA5}">
                          <a16:colId xmlns:a16="http://schemas.microsoft.com/office/drawing/2014/main" val="20001"/>
                        </a:ext>
                      </a:extLst>
                    </a:gridCol>
                  </a:tblGrid>
                  <a:tr h="851341">
                    <a:tc>
                      <a:txBody>
                        <a:bodyPr/>
                        <a:lstStyle/>
                        <a:p>
                          <a:pPr marL="0" marR="0" algn="ctr">
                            <a:spcBef>
                              <a:spcPts val="0"/>
                            </a:spcBef>
                            <a:spcAft>
                              <a:spcPts val="0"/>
                            </a:spcAft>
                          </a:pPr>
                          <a:r>
                            <a:rPr lang="en-US" sz="2000" b="1">
                              <a:effectLst/>
                              <a:latin typeface="Verdana" charset="0"/>
                              <a:ea typeface="Verdana" charset="0"/>
                              <a:cs typeface="Verdana" charset="0"/>
                            </a:rPr>
                            <a:t>Two-Way Frequency Table</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Segmented Bar Graph</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3512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1</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A</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B</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C</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3512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A</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B</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C</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3512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3</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A</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B</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196503756"/>
                  </p:ext>
                </p:extLst>
              </p:nvPr>
            </p:nvGraphicFramePr>
            <p:xfrm>
              <a:off x="3085073" y="1628600"/>
              <a:ext cx="4826953" cy="4572000"/>
            </p:xfrm>
            <a:graphic>
              <a:graphicData uri="http://schemas.openxmlformats.org/drawingml/2006/table">
                <a:tbl>
                  <a:tblPr firstRow="1" firstCol="1" bandRow="1"/>
                  <a:tblGrid>
                    <a:gridCol w="2385161">
                      <a:extLst>
                        <a:ext uri="{9D8B030D-6E8A-4147-A177-3AD203B41FA5}">
                          <a16:colId xmlns:a16="http://schemas.microsoft.com/office/drawing/2014/main" val="20000"/>
                        </a:ext>
                      </a:extLst>
                    </a:gridCol>
                    <a:gridCol w="2441792">
                      <a:extLst>
                        <a:ext uri="{9D8B030D-6E8A-4147-A177-3AD203B41FA5}">
                          <a16:colId xmlns:a16="http://schemas.microsoft.com/office/drawing/2014/main" val="20001"/>
                        </a:ext>
                      </a:extLst>
                    </a:gridCol>
                  </a:tblGrid>
                  <a:tr h="914400">
                    <a:tc>
                      <a:txBody>
                        <a:bodyPr/>
                        <a:lstStyle/>
                        <a:p>
                          <a:pPr marL="0" marR="0" algn="ctr">
                            <a:spcBef>
                              <a:spcPts val="0"/>
                            </a:spcBef>
                            <a:spcAft>
                              <a:spcPts val="0"/>
                            </a:spcAft>
                          </a:pPr>
                          <a:r>
                            <a:rPr lang="en-US" sz="2000" b="1">
                              <a:effectLst/>
                              <a:latin typeface="Verdana" charset="0"/>
                              <a:ea typeface="Verdana" charset="0"/>
                              <a:cs typeface="Verdana" charset="0"/>
                            </a:rPr>
                            <a:t>Two-Way Frequency Table</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Segmented Bar Graph</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219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56" t="-81500" r="-103069" b="-214500"/>
                          </a:stretch>
                        </a:blipFill>
                      </a:tcPr>
                    </a:tc>
                    <a:tc>
                      <a:txBody>
                        <a:bodyPr/>
                        <a:lstStyle/>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A</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B</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C</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19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56" t="-180597" r="-103069" b="-113433"/>
                          </a:stretch>
                        </a:blipFill>
                      </a:tcPr>
                    </a:tc>
                    <a:tc>
                      <a:txBody>
                        <a:bodyPr/>
                        <a:lstStyle/>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A</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B</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C</a:t>
                          </a:r>
                        </a:p>
                        <a:p>
                          <a:pPr marL="342900" marR="0" lvl="0" indent="-342900">
                            <a:spcBef>
                              <a:spcPts val="0"/>
                            </a:spcBef>
                            <a:spcAft>
                              <a:spcPts val="0"/>
                            </a:spcAft>
                            <a:buFont typeface="Courier New" charset="0"/>
                            <a:buChar char="o"/>
                          </a:pPr>
                          <a:r>
                            <a:rPr lang="en-US" sz="2000">
                              <a:effectLst/>
                              <a:latin typeface="Verdana" charset="0"/>
                              <a:ea typeface="Verdana" charset="0"/>
                              <a:cs typeface="Verdana"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19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56" t="-282000" r="-103069" b="-14000"/>
                          </a:stretch>
                        </a:blipFill>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A</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B</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7" name="Google Shape;282;g104476d1465_1_17">
            <a:extLst>
              <a:ext uri="{FF2B5EF4-FFF2-40B4-BE49-F238E27FC236}">
                <a16:creationId xmlns:a16="http://schemas.microsoft.com/office/drawing/2014/main" id="{7C3AD1B8-CE57-21AE-9736-D29BB8086F00}"/>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318</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2EC5D1CD-F368-9B73-F5C5-FF4DBCEDBBE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522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307783" cy="4154984"/>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Work with your partner to label the bars and their sections in the segmented bar graphs so that the categories represented by each bar are indicated.</a:t>
            </a: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r>
              <a:rPr lang="en-US" sz="2400" dirty="0">
                <a:latin typeface="Verdana" charset="0"/>
                <a:ea typeface="Verdana" charset="0"/>
                <a:cs typeface="Verdana" charset="0"/>
              </a:rPr>
              <a:t>Discuss with your partner how joint frequencies are displayed in a segmented bar graph. Summarize your discussion.</a:t>
            </a: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B3C5AC93-4A86-7020-D8DC-9E93C1C9DE53}"/>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318</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045B97D8-295F-D0AC-148D-4AE6A86203DD}"/>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43532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9"/>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00370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190399"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7323657E-601E-0AE1-90CD-46F53DFB9518}"/>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75D65120-C2FB-CEF5-9C8C-8FCA006E296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43528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2539" y="-12827"/>
            <a:ext cx="1033153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14.3.3 Bring It Together: Representing Bivariate Categorical Data with Segmented Bar Graphs</a:t>
            </a:r>
          </a:p>
        </p:txBody>
      </p:sp>
      <p:sp>
        <p:nvSpPr>
          <p:cNvPr id="8" name="TextBox 7">
            <a:extLst>
              <a:ext uri="{FF2B5EF4-FFF2-40B4-BE49-F238E27FC236}">
                <a16:creationId xmlns:a16="http://schemas.microsoft.com/office/drawing/2014/main" id="{669E00F9-F39F-5043-888E-B0A2D8C9AE0F}"/>
              </a:ext>
            </a:extLst>
          </p:cNvPr>
          <p:cNvSpPr txBox="1"/>
          <p:nvPr/>
        </p:nvSpPr>
        <p:spPr>
          <a:xfrm>
            <a:off x="855022" y="1386025"/>
            <a:ext cx="10331533" cy="3803285"/>
          </a:xfrm>
          <a:prstGeom prst="rect">
            <a:avLst/>
          </a:prstGeom>
          <a:noFill/>
        </p:spPr>
        <p:txBody>
          <a:bodyPr wrap="square" rtlCol="0">
            <a:spAutoFit/>
          </a:bodyPr>
          <a:lstStyle/>
          <a:p>
            <a:r>
              <a:rPr lang="en-US" sz="2400" dirty="0">
                <a:latin typeface="Verdana" charset="0"/>
                <a:ea typeface="Verdana" charset="0"/>
                <a:cs typeface="Verdana" charset="0"/>
              </a:rPr>
              <a:t>Another way to represent the bivariate categorical data in a two-way frequency table is with a segmented bar graph. </a:t>
            </a:r>
          </a:p>
          <a:p>
            <a:r>
              <a:rPr lang="en-US" sz="2400" dirty="0">
                <a:latin typeface="Verdana" charset="0"/>
                <a:ea typeface="Verdana" charset="0"/>
                <a:cs typeface="Verdana" charset="0"/>
              </a:rPr>
              <a:t> </a:t>
            </a:r>
          </a:p>
          <a:p>
            <a:pPr marL="457200" lvl="1" indent="-457200">
              <a:lnSpc>
                <a:spcPct val="250000"/>
              </a:lnSpc>
              <a:buFont typeface="+mj-lt"/>
              <a:buAutoNum type="arabicPeriod"/>
            </a:pPr>
            <a:r>
              <a:rPr lang="en-US" sz="2400" dirty="0">
                <a:latin typeface="Verdana" charset="0"/>
                <a:ea typeface="Verdana" charset="0"/>
                <a:cs typeface="Verdana" charset="0"/>
              </a:rPr>
              <a:t>In a two-way frequency table, marginal frequencies are found in the                   of the table. These numbers express the                  		of each category. </a:t>
            </a:r>
          </a:p>
        </p:txBody>
      </p:sp>
      <p:sp>
        <p:nvSpPr>
          <p:cNvPr id="10" name="Google Shape;278;g104476d1465_1_17">
            <a:extLst>
              <a:ext uri="{FF2B5EF4-FFF2-40B4-BE49-F238E27FC236}">
                <a16:creationId xmlns:a16="http://schemas.microsoft.com/office/drawing/2014/main" id="{184E346C-1485-3C45-9A4A-2D894EB8F58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2" descr="Icon&#10;&#10;Description automatically generated">
            <a:extLst>
              <a:ext uri="{FF2B5EF4-FFF2-40B4-BE49-F238E27FC236}">
                <a16:creationId xmlns:a16="http://schemas.microsoft.com/office/drawing/2014/main" id="{F61936AD-FCB7-9440-995C-794C60982B7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3248" y="22473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376775" y="3424825"/>
            <a:ext cx="1892300" cy="1041400"/>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301988" y="4450497"/>
            <a:ext cx="1473200" cy="1016000"/>
          </a:xfrm>
          <a:prstGeom prst="rect">
            <a:avLst/>
          </a:prstGeom>
        </p:spPr>
      </p:pic>
      <p:sp>
        <p:nvSpPr>
          <p:cNvPr id="13" name="Google Shape;282;g104476d1465_1_17">
            <a:extLst>
              <a:ext uri="{FF2B5EF4-FFF2-40B4-BE49-F238E27FC236}">
                <a16:creationId xmlns:a16="http://schemas.microsoft.com/office/drawing/2014/main" id="{695A984E-C5DA-DFF7-F259-2B24971FE132}"/>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endParaRPr i="1" dirty="0">
              <a:latin typeface="Calibri"/>
              <a:ea typeface="Calibri"/>
              <a:cs typeface="Calibri"/>
              <a:sym typeface="Calibri"/>
            </a:endParaRPr>
          </a:p>
        </p:txBody>
      </p:sp>
      <p:pic>
        <p:nvPicPr>
          <p:cNvPr id="14" name="Google Shape;283;g104476d1465_1_17">
            <a:extLst>
              <a:ext uri="{FF2B5EF4-FFF2-40B4-BE49-F238E27FC236}">
                <a16:creationId xmlns:a16="http://schemas.microsoft.com/office/drawing/2014/main" id="{46C44E16-BE2A-D49C-9625-8BCC7B277F34}"/>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41699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66899" y="520393"/>
            <a:ext cx="10272156" cy="3046988"/>
          </a:xfrm>
          <a:prstGeom prst="rect">
            <a:avLst/>
          </a:prstGeom>
          <a:noFill/>
        </p:spPr>
        <p:txBody>
          <a:bodyPr wrap="square" rtlCol="0">
            <a:spAutoFit/>
          </a:bodyPr>
          <a:lstStyle/>
          <a:p>
            <a:pPr marL="457200" lvl="1" indent="-457200">
              <a:buFont typeface="+mj-lt"/>
              <a:buAutoNum type="arabicPeriod" startAt="2"/>
            </a:pPr>
            <a:r>
              <a:rPr lang="en-US" sz="2400" dirty="0">
                <a:latin typeface="Verdana" charset="0"/>
                <a:ea typeface="Verdana" charset="0"/>
                <a:cs typeface="Verdana" charset="0"/>
              </a:rPr>
              <a:t>Carolyn concluded that marginal frequencies are represented by the height of each bar on a segmented bar graph. </a:t>
            </a:r>
          </a:p>
          <a:p>
            <a:r>
              <a:rPr lang="en-US" sz="2400" dirty="0">
                <a:latin typeface="Verdana" charset="0"/>
                <a:ea typeface="Verdana" charset="0"/>
                <a:cs typeface="Verdana" charset="0"/>
              </a:rPr>
              <a:t> </a:t>
            </a:r>
          </a:p>
          <a:p>
            <a:pPr marL="458788"/>
            <a:r>
              <a:rPr lang="en-US" sz="2400" dirty="0">
                <a:latin typeface="Verdana" charset="0"/>
                <a:ea typeface="Verdana" charset="0"/>
                <a:cs typeface="Verdana" charset="0"/>
              </a:rPr>
              <a:t>Bailey argued that the marginal frequencies are represented by the sum of the segment heights with the same color for each color.  </a:t>
            </a:r>
          </a:p>
          <a:p>
            <a:pPr marL="458788"/>
            <a:r>
              <a:rPr lang="en-US" sz="2400" dirty="0">
                <a:latin typeface="Verdana" charset="0"/>
                <a:ea typeface="Verdana" charset="0"/>
                <a:cs typeface="Verdana" charset="0"/>
              </a:rPr>
              <a:t> </a:t>
            </a:r>
          </a:p>
          <a:p>
            <a:pPr marL="458788"/>
            <a:r>
              <a:rPr lang="en-US" sz="2400" dirty="0">
                <a:latin typeface="Verdana" charset="0"/>
                <a:ea typeface="Verdana" charset="0"/>
                <a:cs typeface="Verdana" charset="0"/>
              </a:rPr>
              <a:t>Which student do you agree with? Explain your reasoning.</a:t>
            </a:r>
          </a:p>
        </p:txBody>
      </p:sp>
      <p:sp>
        <p:nvSpPr>
          <p:cNvPr id="6" name="Google Shape;278;g104476d1465_1_17">
            <a:extLst>
              <a:ext uri="{FF2B5EF4-FFF2-40B4-BE49-F238E27FC236}">
                <a16:creationId xmlns:a16="http://schemas.microsoft.com/office/drawing/2014/main" id="{F8FE04BB-F3FA-5B4A-8F1B-F17A449A27C9}"/>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4A1EA4BC-7EDB-0705-9802-FE29C12C5DD0}"/>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C2ECB152-C6CC-DDC7-748F-708F38753AEF}"/>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89040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55022" y="520394"/>
            <a:ext cx="10295907" cy="2787623"/>
          </a:xfrm>
          <a:prstGeom prst="rect">
            <a:avLst/>
          </a:prstGeom>
          <a:noFill/>
        </p:spPr>
        <p:txBody>
          <a:bodyPr wrap="square" rtlCol="0">
            <a:spAutoFit/>
          </a:bodyPr>
          <a:lstStyle/>
          <a:p>
            <a:pPr marL="457200" lvl="1" indent="-457200">
              <a:lnSpc>
                <a:spcPct val="150000"/>
              </a:lnSpc>
              <a:buFont typeface="+mj-lt"/>
              <a:buAutoNum type="arabicPeriod" startAt="3"/>
            </a:pPr>
            <a:r>
              <a:rPr lang="en-US" sz="2400" dirty="0">
                <a:latin typeface="Verdana" charset="0"/>
                <a:ea typeface="Verdana" charset="0"/>
                <a:cs typeface="Verdana" charset="0"/>
              </a:rPr>
              <a:t>In a two-way frequency table, joint frequencies are found </a:t>
            </a:r>
          </a:p>
          <a:p>
            <a:pPr marL="457200" lvl="1" indent="-457200">
              <a:lnSpc>
                <a:spcPct val="150000"/>
              </a:lnSpc>
              <a:buFont typeface="+mj-lt"/>
              <a:buAutoNum type="arabicPeriod" startAt="3"/>
            </a:pPr>
            <a:endParaRPr lang="en-US" sz="2400" dirty="0">
              <a:latin typeface="Verdana" charset="0"/>
              <a:ea typeface="Verdana" charset="0"/>
              <a:cs typeface="Verdana" charset="0"/>
            </a:endParaRPr>
          </a:p>
          <a:p>
            <a:pPr marL="458788" lvl="1">
              <a:lnSpc>
                <a:spcPct val="150000"/>
              </a:lnSpc>
            </a:pPr>
            <a:r>
              <a:rPr lang="en-US" sz="2400" dirty="0">
                <a:latin typeface="Verdana" charset="0"/>
                <a:ea typeface="Verdana" charset="0"/>
                <a:cs typeface="Verdana" charset="0"/>
              </a:rPr>
              <a:t>in the                   of the table. Joint frequencies are </a:t>
            </a:r>
          </a:p>
          <a:p>
            <a:pPr marL="458788" lvl="1">
              <a:lnSpc>
                <a:spcPct val="150000"/>
              </a:lnSpc>
            </a:pPr>
            <a:endParaRPr lang="en-US" sz="2400" dirty="0">
              <a:latin typeface="Verdana" charset="0"/>
              <a:ea typeface="Verdana" charset="0"/>
              <a:cs typeface="Verdana" charset="0"/>
            </a:endParaRPr>
          </a:p>
          <a:p>
            <a:pPr marL="458788" lvl="1">
              <a:lnSpc>
                <a:spcPct val="150000"/>
              </a:lnSpc>
            </a:pPr>
            <a:r>
              <a:rPr lang="en-US" sz="2400" dirty="0">
                <a:latin typeface="Verdana" charset="0"/>
                <a:ea typeface="Verdana" charset="0"/>
                <a:cs typeface="Verdana" charset="0"/>
              </a:rPr>
              <a:t>represented by the </a:t>
            </a:r>
            <a:endParaRPr lang="en-US" sz="16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F8FE04BB-F3FA-5B4A-8F1B-F17A449A27C9}"/>
              </a:ext>
            </a:extLst>
          </p:cNvPr>
          <p:cNvSpPr/>
          <p:nvPr/>
        </p:nvSpPr>
        <p:spPr>
          <a:xfrm>
            <a:off x="0"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360761" y="1503050"/>
            <a:ext cx="1917700" cy="99060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485612" y="2576221"/>
            <a:ext cx="7016089" cy="973763"/>
          </a:xfrm>
          <a:prstGeom prst="rect">
            <a:avLst/>
          </a:prstGeom>
        </p:spPr>
      </p:pic>
      <p:sp>
        <p:nvSpPr>
          <p:cNvPr id="8" name="Google Shape;282;g104476d1465_1_17">
            <a:extLst>
              <a:ext uri="{FF2B5EF4-FFF2-40B4-BE49-F238E27FC236}">
                <a16:creationId xmlns:a16="http://schemas.microsoft.com/office/drawing/2014/main" id="{BD28234F-A571-7628-0916-F8AA391B59F1}"/>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D5E95B75-31C3-9E75-FBA6-B055D74B0EE8}"/>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1378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319658" cy="461665"/>
          </a:xfrm>
          <a:prstGeom prst="rect">
            <a:avLst/>
          </a:prstGeom>
          <a:noFill/>
        </p:spPr>
        <p:txBody>
          <a:bodyPr wrap="square" rtlCol="0">
            <a:spAutoFit/>
          </a:bodyPr>
          <a:lstStyle/>
          <a:p>
            <a:pPr marL="457200" lvl="1" indent="-457200">
              <a:buFont typeface="+mj-lt"/>
              <a:buAutoNum type="arabicPeriod" startAt="4"/>
            </a:pPr>
            <a:r>
              <a:rPr lang="en-US" sz="2400" dirty="0">
                <a:latin typeface="Verdana" charset="0"/>
                <a:ea typeface="Verdana" charset="0"/>
                <a:cs typeface="Verdana" charset="0"/>
              </a:rPr>
              <a:t>Consider the data in the table and segmented bar graph.</a:t>
            </a:r>
            <a:endParaRPr lang="en-US" sz="16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F8FE04BB-F3FA-5B4A-8F1B-F17A449A27C9}"/>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p:cNvSpPr/>
          <p:nvPr/>
        </p:nvSpPr>
        <p:spPr>
          <a:xfrm>
            <a:off x="2935967" y="1368531"/>
            <a:ext cx="5602637" cy="707886"/>
          </a:xfrm>
          <a:prstGeom prst="rect">
            <a:avLst/>
          </a:prstGeom>
        </p:spPr>
        <p:txBody>
          <a:bodyPr wrap="square">
            <a:spAutoFit/>
          </a:bodyPr>
          <a:lstStyle/>
          <a:p>
            <a:pPr marR="34290" algn="ctr"/>
            <a:r>
              <a:rPr lang="en-US" sz="2000" b="1" dirty="0">
                <a:latin typeface="Verdana" charset="0"/>
                <a:ea typeface="Yu Mincho" charset="-128"/>
                <a:cs typeface="Cambria" charset="0"/>
              </a:rPr>
              <a:t>People’s Emotional States Related to </a:t>
            </a:r>
            <a:br>
              <a:rPr lang="en-US" sz="2000" b="1" dirty="0">
                <a:latin typeface="Verdana" charset="0"/>
                <a:ea typeface="Yu Mincho" charset="-128"/>
                <a:cs typeface="Cambria" charset="0"/>
              </a:rPr>
            </a:br>
            <a:r>
              <a:rPr lang="en-US" sz="2000" b="1" dirty="0">
                <a:latin typeface="Verdana" charset="0"/>
                <a:ea typeface="Yu Mincho" charset="-128"/>
                <a:cs typeface="Cambria" charset="0"/>
              </a:rPr>
              <a:t>Meditation Practice</a:t>
            </a:r>
            <a:endParaRPr lang="en-US" dirty="0">
              <a:latin typeface="Cambria" charset="0"/>
              <a:ea typeface="Yu Mincho" charset="-128"/>
              <a:cs typeface="Cambria" charset="0"/>
            </a:endParaRPr>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1874550491"/>
                  </p:ext>
                </p:extLst>
              </p:nvPr>
            </p:nvGraphicFramePr>
            <p:xfrm>
              <a:off x="2103778" y="2259983"/>
              <a:ext cx="7267013" cy="2329684"/>
            </p:xfrm>
            <a:graphic>
              <a:graphicData uri="http://schemas.openxmlformats.org/drawingml/2006/table">
                <a:tbl>
                  <a:tblPr firstRow="1" firstCol="1" lastRow="1" lastCol="1"/>
                  <a:tblGrid>
                    <a:gridCol w="1828380">
                      <a:extLst>
                        <a:ext uri="{9D8B030D-6E8A-4147-A177-3AD203B41FA5}">
                          <a16:colId xmlns:a16="http://schemas.microsoft.com/office/drawing/2014/main" val="20000"/>
                        </a:ext>
                      </a:extLst>
                    </a:gridCol>
                    <a:gridCol w="1864716">
                      <a:extLst>
                        <a:ext uri="{9D8B030D-6E8A-4147-A177-3AD203B41FA5}">
                          <a16:colId xmlns:a16="http://schemas.microsoft.com/office/drawing/2014/main" val="20001"/>
                        </a:ext>
                      </a:extLst>
                    </a:gridCol>
                    <a:gridCol w="2478052">
                      <a:extLst>
                        <a:ext uri="{9D8B030D-6E8A-4147-A177-3AD203B41FA5}">
                          <a16:colId xmlns:a16="http://schemas.microsoft.com/office/drawing/2014/main" val="20002"/>
                        </a:ext>
                      </a:extLst>
                    </a:gridCol>
                    <a:gridCol w="1095865">
                      <a:extLst>
                        <a:ext uri="{9D8B030D-6E8A-4147-A177-3AD203B41FA5}">
                          <a16:colId xmlns:a16="http://schemas.microsoft.com/office/drawing/2014/main" val="20003"/>
                        </a:ext>
                      </a:extLst>
                    </a:gridCol>
                  </a:tblGrid>
                  <a:tr h="700551">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Meditated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Do not Meditate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43710">
                    <a:tc>
                      <a:txBody>
                        <a:bodyPr/>
                        <a:lstStyle/>
                        <a:p>
                          <a:pPr marL="0" marR="0" algn="ctr">
                            <a:spcBef>
                              <a:spcPts val="0"/>
                            </a:spcBef>
                            <a:spcAft>
                              <a:spcPts val="0"/>
                            </a:spcAft>
                          </a:pPr>
                          <a:r>
                            <a:rPr lang="en-US" sz="2000" b="1">
                              <a:effectLst/>
                              <a:latin typeface="Verdana" charset="0"/>
                              <a:ea typeface="Verdana" charset="0"/>
                              <a:cs typeface="Verdana" charset="0"/>
                            </a:rPr>
                            <a:t>Calm</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52</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6</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58</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5141">
                    <a:tc>
                      <a:txBody>
                        <a:bodyPr/>
                        <a:lstStyle/>
                        <a:p>
                          <a:pPr marL="0" marR="0" algn="ctr">
                            <a:spcBef>
                              <a:spcPts val="0"/>
                            </a:spcBef>
                            <a:spcAft>
                              <a:spcPts val="0"/>
                            </a:spcAft>
                          </a:pPr>
                          <a:r>
                            <a:rPr lang="en-US" sz="2000" b="1">
                              <a:effectLst/>
                              <a:latin typeface="Verdana" charset="0"/>
                              <a:ea typeface="Verdana" charset="0"/>
                              <a:cs typeface="Verdana" charset="0"/>
                            </a:rPr>
                            <a:t>Excited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11</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24</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35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5141">
                    <a:tc>
                      <a:txBody>
                        <a:bodyPr/>
                        <a:lstStyle/>
                        <a:p>
                          <a:pPr marL="0" marR="0" algn="ctr">
                            <a:spcBef>
                              <a:spcPts val="0"/>
                            </a:spcBef>
                            <a:spcAft>
                              <a:spcPts val="0"/>
                            </a:spcAft>
                          </a:pPr>
                          <a:r>
                            <a:rPr lang="en-US" sz="2000" b="1">
                              <a:effectLst/>
                              <a:latin typeface="Verdana" charset="0"/>
                              <a:ea typeface="Verdana" charset="0"/>
                              <a:cs typeface="Verdana" charset="0"/>
                            </a:rPr>
                            <a:t>Agitated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9</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24</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5141">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72</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45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117</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1874550491"/>
                  </p:ext>
                </p:extLst>
              </p:nvPr>
            </p:nvGraphicFramePr>
            <p:xfrm>
              <a:off x="2103778" y="2259983"/>
              <a:ext cx="7267013" cy="2329684"/>
            </p:xfrm>
            <a:graphic>
              <a:graphicData uri="http://schemas.openxmlformats.org/drawingml/2006/table">
                <a:tbl>
                  <a:tblPr firstRow="1" firstCol="1" lastRow="1" lastCol="1"/>
                  <a:tblGrid>
                    <a:gridCol w="1828380">
                      <a:extLst>
                        <a:ext uri="{9D8B030D-6E8A-4147-A177-3AD203B41FA5}">
                          <a16:colId xmlns:a16="http://schemas.microsoft.com/office/drawing/2014/main" val="20000"/>
                        </a:ext>
                      </a:extLst>
                    </a:gridCol>
                    <a:gridCol w="1864716">
                      <a:extLst>
                        <a:ext uri="{9D8B030D-6E8A-4147-A177-3AD203B41FA5}">
                          <a16:colId xmlns:a16="http://schemas.microsoft.com/office/drawing/2014/main" val="20001"/>
                        </a:ext>
                      </a:extLst>
                    </a:gridCol>
                    <a:gridCol w="2478052">
                      <a:extLst>
                        <a:ext uri="{9D8B030D-6E8A-4147-A177-3AD203B41FA5}">
                          <a16:colId xmlns:a16="http://schemas.microsoft.com/office/drawing/2014/main" val="20002"/>
                        </a:ext>
                      </a:extLst>
                    </a:gridCol>
                    <a:gridCol w="1095865">
                      <a:extLst>
                        <a:ext uri="{9D8B030D-6E8A-4147-A177-3AD203B41FA5}">
                          <a16:colId xmlns:a16="http://schemas.microsoft.com/office/drawing/2014/main" val="20003"/>
                        </a:ext>
                      </a:extLst>
                    </a:gridCol>
                  </a:tblGrid>
                  <a:tr h="700551">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Meditated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Do not Meditate</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43710">
                    <a:tc>
                      <a:txBody>
                        <a:bodyPr/>
                        <a:lstStyle/>
                        <a:p>
                          <a:pPr marL="0" marR="0" algn="ctr">
                            <a:spcBef>
                              <a:spcPts val="0"/>
                            </a:spcBef>
                            <a:spcAft>
                              <a:spcPts val="0"/>
                            </a:spcAft>
                          </a:pPr>
                          <a:r>
                            <a:rPr lang="en-US" sz="2000" b="1">
                              <a:effectLst/>
                              <a:latin typeface="Verdana" charset="0"/>
                              <a:ea typeface="Verdana" charset="0"/>
                              <a:cs typeface="Verdana" charset="0"/>
                            </a:rPr>
                            <a:t>Calm</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8366" t="-158904" r="-192484" b="-29178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49140" t="-158904" r="-44717" b="-29178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63333" t="-158904" r="-1111" b="-291781"/>
                          </a:stretch>
                        </a:blipFill>
                      </a:tcPr>
                    </a:tc>
                    <a:extLst>
                      <a:ext uri="{0D108BD9-81ED-4DB2-BD59-A6C34878D82A}">
                        <a16:rowId xmlns:a16="http://schemas.microsoft.com/office/drawing/2014/main" val="10001"/>
                      </a:ext>
                    </a:extLst>
                  </a:tr>
                  <a:tr h="395141">
                    <a:tc>
                      <a:txBody>
                        <a:bodyPr/>
                        <a:lstStyle/>
                        <a:p>
                          <a:pPr marL="0" marR="0" algn="ctr">
                            <a:spcBef>
                              <a:spcPts val="0"/>
                            </a:spcBef>
                            <a:spcAft>
                              <a:spcPts val="0"/>
                            </a:spcAft>
                          </a:pPr>
                          <a:r>
                            <a:rPr lang="en-US" sz="2000" b="1">
                              <a:effectLst/>
                              <a:latin typeface="Verdana" charset="0"/>
                              <a:ea typeface="Verdana" charset="0"/>
                              <a:cs typeface="Verdana" charset="0"/>
                            </a:rPr>
                            <a:t>Excited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8366" t="-290769" r="-192484" b="-22769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49140" t="-290769" r="-44717" b="-22769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63333" t="-290769" r="-1111" b="-227692"/>
                          </a:stretch>
                        </a:blipFill>
                      </a:tcPr>
                    </a:tc>
                    <a:extLst>
                      <a:ext uri="{0D108BD9-81ED-4DB2-BD59-A6C34878D82A}">
                        <a16:rowId xmlns:a16="http://schemas.microsoft.com/office/drawing/2014/main" val="10002"/>
                      </a:ext>
                    </a:extLst>
                  </a:tr>
                  <a:tr h="395141">
                    <a:tc>
                      <a:txBody>
                        <a:bodyPr/>
                        <a:lstStyle/>
                        <a:p>
                          <a:pPr marL="0" marR="0" algn="ctr">
                            <a:spcBef>
                              <a:spcPts val="0"/>
                            </a:spcBef>
                            <a:spcAft>
                              <a:spcPts val="0"/>
                            </a:spcAft>
                          </a:pPr>
                          <a:r>
                            <a:rPr lang="en-US" sz="2000" b="1">
                              <a:effectLst/>
                              <a:latin typeface="Verdana" charset="0"/>
                              <a:ea typeface="Verdana" charset="0"/>
                              <a:cs typeface="Verdana" charset="0"/>
                            </a:rPr>
                            <a:t>Agitated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8366" t="-390769" r="-192484" b="-12769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49140" t="-390769" r="-44717" b="-12769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63333" t="-390769" r="-1111" b="-127692"/>
                          </a:stretch>
                        </a:blipFill>
                      </a:tcPr>
                    </a:tc>
                    <a:extLst>
                      <a:ext uri="{0D108BD9-81ED-4DB2-BD59-A6C34878D82A}">
                        <a16:rowId xmlns:a16="http://schemas.microsoft.com/office/drawing/2014/main" val="10003"/>
                      </a:ext>
                    </a:extLst>
                  </a:tr>
                  <a:tr h="395141">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8366" t="-490769" r="-192484" b="-2769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49140" t="-490769" r="-44717" b="-2769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63333" t="-490769" r="-1111" b="-27692"/>
                          </a:stretch>
                        </a:blipFill>
                      </a:tcPr>
                    </a:tc>
                    <a:extLst>
                      <a:ext uri="{0D108BD9-81ED-4DB2-BD59-A6C34878D82A}">
                        <a16:rowId xmlns:a16="http://schemas.microsoft.com/office/drawing/2014/main" val="10004"/>
                      </a:ext>
                    </a:extLst>
                  </a:tr>
                </a:tbl>
              </a:graphicData>
            </a:graphic>
          </p:graphicFrame>
        </mc:Fallback>
      </mc:AlternateContent>
      <p:sp>
        <p:nvSpPr>
          <p:cNvPr id="8" name="Google Shape;282;g104476d1465_1_17">
            <a:extLst>
              <a:ext uri="{FF2B5EF4-FFF2-40B4-BE49-F238E27FC236}">
                <a16:creationId xmlns:a16="http://schemas.microsoft.com/office/drawing/2014/main" id="{F7B526D6-CD3D-19AE-9793-AA991B032D0C}"/>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5C2E4092-81A7-6B61-73E5-61CCE1CA5919}"/>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26003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8" y="4704935"/>
            <a:ext cx="10295907" cy="1785104"/>
          </a:xfrm>
          <a:prstGeom prst="rect">
            <a:avLst/>
          </a:prstGeom>
          <a:noFill/>
        </p:spPr>
        <p:txBody>
          <a:bodyPr wrap="square" rtlCol="0">
            <a:spAutoFit/>
          </a:bodyPr>
          <a:lstStyle/>
          <a:p>
            <a:pPr marL="914400" lvl="2" indent="-465138">
              <a:buFont typeface="+mj-lt"/>
              <a:buAutoNum type="alphaLcPeriod"/>
            </a:pPr>
            <a:r>
              <a:rPr lang="en-US" sz="2200" dirty="0">
                <a:latin typeface="Verdana" charset="0"/>
                <a:ea typeface="Verdana" charset="0"/>
                <a:cs typeface="Verdana" charset="0"/>
              </a:rPr>
              <a:t>Circle the marginal frequencies in the table. </a:t>
            </a:r>
          </a:p>
          <a:p>
            <a:pPr marL="914400" lvl="2" indent="-465138">
              <a:buFont typeface="+mj-lt"/>
              <a:buAutoNum type="alphaLcPeriod"/>
            </a:pPr>
            <a:endParaRPr lang="en-US" sz="2200" dirty="0">
              <a:latin typeface="Verdana" charset="0"/>
              <a:ea typeface="Verdana" charset="0"/>
              <a:cs typeface="Verdana" charset="0"/>
            </a:endParaRPr>
          </a:p>
          <a:p>
            <a:pPr marL="914400" lvl="2" indent="-465138">
              <a:buFont typeface="+mj-lt"/>
              <a:buAutoNum type="alphaLcPeriod"/>
            </a:pPr>
            <a:r>
              <a:rPr lang="en-US" sz="2200" dirty="0">
                <a:latin typeface="Verdana" charset="0"/>
                <a:ea typeface="Verdana" charset="0"/>
                <a:cs typeface="Verdana" charset="0"/>
              </a:rPr>
              <a:t>Label each marginal frequency in the dotted boxes. </a:t>
            </a:r>
          </a:p>
          <a:p>
            <a:pPr marL="914400" lvl="2" indent="-465138">
              <a:buFont typeface="+mj-lt"/>
              <a:buAutoNum type="alphaLcPeriod"/>
            </a:pPr>
            <a:endParaRPr lang="en-US" sz="2200" dirty="0">
              <a:latin typeface="Verdana" charset="0"/>
              <a:ea typeface="Verdana" charset="0"/>
              <a:cs typeface="Verdana" charset="0"/>
            </a:endParaRPr>
          </a:p>
          <a:p>
            <a:pPr marL="914400" lvl="2" indent="-465138">
              <a:buFont typeface="+mj-lt"/>
              <a:buAutoNum type="alphaLcPeriod"/>
            </a:pPr>
            <a:r>
              <a:rPr lang="en-US" sz="2200" dirty="0">
                <a:latin typeface="Verdana" charset="0"/>
                <a:ea typeface="Verdana" charset="0"/>
                <a:cs typeface="Verdana" charset="0"/>
              </a:rPr>
              <a:t>Label the value for each joint frequency. </a:t>
            </a:r>
          </a:p>
        </p:txBody>
      </p:sp>
      <p:sp>
        <p:nvSpPr>
          <p:cNvPr id="6" name="Google Shape;278;g104476d1465_1_17">
            <a:extLst>
              <a:ext uri="{FF2B5EF4-FFF2-40B4-BE49-F238E27FC236}">
                <a16:creationId xmlns:a16="http://schemas.microsoft.com/office/drawing/2014/main" id="{F8FE04BB-F3FA-5B4A-8F1B-F17A449A27C9}"/>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Chart 6">
            <a:extLst>
              <a:ext uri="{FF2B5EF4-FFF2-40B4-BE49-F238E27FC236}">
                <a16:creationId xmlns:a16="http://schemas.microsoft.com/office/drawing/2014/main" id="{785BD500-B4B8-B648-8C54-7C88358E7F17}"/>
              </a:ext>
            </a:extLst>
          </p:cNvPr>
          <p:cNvGraphicFramePr/>
          <p:nvPr>
            <p:extLst>
              <p:ext uri="{D42A27DB-BD31-4B8C-83A1-F6EECF244321}">
                <p14:modId xmlns:p14="http://schemas.microsoft.com/office/powerpoint/2010/main" val="2087414323"/>
              </p:ext>
            </p:extLst>
          </p:nvPr>
        </p:nvGraphicFramePr>
        <p:xfrm>
          <a:off x="2141816" y="426995"/>
          <a:ext cx="4345305" cy="2734945"/>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F2E65E5B-6A71-FF42-B11F-BF15AE075D1D}"/>
              </a:ext>
            </a:extLst>
          </p:cNvPr>
          <p:cNvSpPr/>
          <p:nvPr/>
        </p:nvSpPr>
        <p:spPr>
          <a:xfrm>
            <a:off x="5799310" y="883554"/>
            <a:ext cx="228600" cy="228600"/>
          </a:xfrm>
          <a:prstGeom prst="rect">
            <a:avLst/>
          </a:prstGeom>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F0C3A7F0-4F35-FB48-A5B9-85CD1E3FFDB5}"/>
              </a:ext>
            </a:extLst>
          </p:cNvPr>
          <p:cNvSpPr/>
          <p:nvPr/>
        </p:nvSpPr>
        <p:spPr>
          <a:xfrm>
            <a:off x="5799310" y="1904704"/>
            <a:ext cx="228600" cy="228600"/>
          </a:xfrm>
          <a:prstGeom prst="rect">
            <a:avLst/>
          </a:prstGeom>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ounded Rectangle 9">
            <a:extLst>
              <a:ext uri="{FF2B5EF4-FFF2-40B4-BE49-F238E27FC236}">
                <a16:creationId xmlns:a16="http://schemas.microsoft.com/office/drawing/2014/main" id="{7B0C54CB-2E7A-4747-AAC6-E36D7E2E0500}"/>
              </a:ext>
            </a:extLst>
          </p:cNvPr>
          <p:cNvSpPr/>
          <p:nvPr/>
        </p:nvSpPr>
        <p:spPr>
          <a:xfrm>
            <a:off x="6071725" y="769254"/>
            <a:ext cx="2400300" cy="800100"/>
          </a:xfrm>
          <a:prstGeom prst="roundRect">
            <a:avLst/>
          </a:prstGeom>
          <a:noFill/>
          <a:ln w="28575" cmpd="sng">
            <a:prstDash val="dash"/>
          </a:ln>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ounded Rectangle 10">
            <a:extLst>
              <a:ext uri="{FF2B5EF4-FFF2-40B4-BE49-F238E27FC236}">
                <a16:creationId xmlns:a16="http://schemas.microsoft.com/office/drawing/2014/main" id="{495D8829-4F31-F343-B6DA-5105808F7B2A}"/>
              </a:ext>
            </a:extLst>
          </p:cNvPr>
          <p:cNvSpPr/>
          <p:nvPr/>
        </p:nvSpPr>
        <p:spPr>
          <a:xfrm>
            <a:off x="6081250" y="1790404"/>
            <a:ext cx="2400300" cy="800100"/>
          </a:xfrm>
          <a:prstGeom prst="roundRect">
            <a:avLst/>
          </a:prstGeom>
          <a:noFill/>
          <a:ln w="28575" cmpd="sng">
            <a:solidFill>
              <a:srgbClr val="4472C4"/>
            </a:solidFill>
            <a:prstDash val="dash"/>
          </a:ln>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ounded Rectangle 12">
            <a:extLst>
              <a:ext uri="{FF2B5EF4-FFF2-40B4-BE49-F238E27FC236}">
                <a16:creationId xmlns:a16="http://schemas.microsoft.com/office/drawing/2014/main" id="{55F2BB35-1CCF-F143-9EF2-4303437A9B62}"/>
              </a:ext>
            </a:extLst>
          </p:cNvPr>
          <p:cNvSpPr/>
          <p:nvPr/>
        </p:nvSpPr>
        <p:spPr>
          <a:xfrm rot="18333569">
            <a:off x="1792372" y="3526316"/>
            <a:ext cx="1597660" cy="514985"/>
          </a:xfrm>
          <a:prstGeom prst="roundRect">
            <a:avLst/>
          </a:prstGeom>
          <a:noFill/>
          <a:ln w="28575" cmpd="sng">
            <a:solidFill>
              <a:schemeClr val="tx1"/>
            </a:solidFill>
            <a:prstDash val="dash"/>
          </a:ln>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ounded Rectangle 14">
            <a:extLst>
              <a:ext uri="{FF2B5EF4-FFF2-40B4-BE49-F238E27FC236}">
                <a16:creationId xmlns:a16="http://schemas.microsoft.com/office/drawing/2014/main" id="{9E525A9D-DA68-0245-BB7A-FEB1A6A52321}"/>
              </a:ext>
            </a:extLst>
          </p:cNvPr>
          <p:cNvSpPr/>
          <p:nvPr/>
        </p:nvSpPr>
        <p:spPr>
          <a:xfrm rot="18333569">
            <a:off x="2841605" y="3526317"/>
            <a:ext cx="1597660" cy="514985"/>
          </a:xfrm>
          <a:prstGeom prst="roundRect">
            <a:avLst/>
          </a:prstGeom>
          <a:noFill/>
          <a:ln w="28575" cmpd="sng">
            <a:solidFill>
              <a:schemeClr val="tx1"/>
            </a:solidFill>
            <a:prstDash val="dash"/>
          </a:ln>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ounded Rectangle 15">
            <a:extLst>
              <a:ext uri="{FF2B5EF4-FFF2-40B4-BE49-F238E27FC236}">
                <a16:creationId xmlns:a16="http://schemas.microsoft.com/office/drawing/2014/main" id="{CB88F306-9348-B24C-BB10-A838573EFD8C}"/>
              </a:ext>
            </a:extLst>
          </p:cNvPr>
          <p:cNvSpPr/>
          <p:nvPr/>
        </p:nvSpPr>
        <p:spPr>
          <a:xfrm rot="18333569">
            <a:off x="3757275" y="3526316"/>
            <a:ext cx="1597660" cy="514985"/>
          </a:xfrm>
          <a:prstGeom prst="roundRect">
            <a:avLst/>
          </a:prstGeom>
          <a:noFill/>
          <a:ln w="28575" cmpd="sng">
            <a:solidFill>
              <a:schemeClr val="tx1"/>
            </a:solidFill>
            <a:prstDash val="dash"/>
          </a:ln>
        </p:spPr>
        <p:style>
          <a:lnRef idx="1">
            <a:schemeClr val="accent2"/>
          </a:lnRef>
          <a:fillRef idx="3">
            <a:schemeClr val="accent2"/>
          </a:fillRef>
          <a:effectRef idx="2">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Google Shape;282;g104476d1465_1_17">
            <a:extLst>
              <a:ext uri="{FF2B5EF4-FFF2-40B4-BE49-F238E27FC236}">
                <a16:creationId xmlns:a16="http://schemas.microsoft.com/office/drawing/2014/main" id="{B4055C59-D792-64FB-FD9D-E42D8F4226A4}"/>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endParaRPr i="1" dirty="0">
              <a:latin typeface="Calibri"/>
              <a:ea typeface="Calibri"/>
              <a:cs typeface="Calibri"/>
              <a:sym typeface="Calibri"/>
            </a:endParaRPr>
          </a:p>
        </p:txBody>
      </p:sp>
      <p:pic>
        <p:nvPicPr>
          <p:cNvPr id="18" name="Google Shape;283;g104476d1465_1_17">
            <a:extLst>
              <a:ext uri="{FF2B5EF4-FFF2-40B4-BE49-F238E27FC236}">
                <a16:creationId xmlns:a16="http://schemas.microsoft.com/office/drawing/2014/main" id="{FB5D728E-C903-E382-0A5E-D4FB5AD4F24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11973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601429"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98315"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5ECF3E26-702E-0716-8EED-73ED3727F409}"/>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DF94316D-B589-0BC3-9814-0CA8E5224D2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957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96291" y="60325"/>
            <a:ext cx="102602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14.3.4 Try It: Interpreting Segmented Bar Graphs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49435" y="23251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866898" y="1386026"/>
            <a:ext cx="10260279" cy="1569660"/>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Long-haul truckers were recently surveyed at a rest area in Tallahassee, Florida. The truckers were asked about what and how they primarily listen to audio in their trucks while on the road. </a:t>
            </a:r>
          </a:p>
        </p:txBody>
      </p:sp>
      <p:sp>
        <p:nvSpPr>
          <p:cNvPr id="11" name="Google Shape;278;g104476d1465_1_17">
            <a:extLst>
              <a:ext uri="{FF2B5EF4-FFF2-40B4-BE49-F238E27FC236}">
                <a16:creationId xmlns:a16="http://schemas.microsoft.com/office/drawing/2014/main" id="{244F00A5-2AA6-AE4D-816C-EE9779D15DDB}"/>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12" name="Chart 11">
            <a:extLst>
              <a:ext uri="{FF2B5EF4-FFF2-40B4-BE49-F238E27FC236}">
                <a16:creationId xmlns:a16="http://schemas.microsoft.com/office/drawing/2014/main" id="{3D92D23D-FA0D-844B-9087-B49001D8A1F5}"/>
              </a:ext>
            </a:extLst>
          </p:cNvPr>
          <p:cNvGraphicFramePr/>
          <p:nvPr>
            <p:extLst>
              <p:ext uri="{D42A27DB-BD31-4B8C-83A1-F6EECF244321}">
                <p14:modId xmlns:p14="http://schemas.microsoft.com/office/powerpoint/2010/main" val="496068122"/>
              </p:ext>
            </p:extLst>
          </p:nvPr>
        </p:nvGraphicFramePr>
        <p:xfrm>
          <a:off x="2328878" y="2832575"/>
          <a:ext cx="6155871" cy="3748211"/>
        </p:xfrm>
        <a:graphic>
          <a:graphicData uri="http://schemas.openxmlformats.org/drawingml/2006/chart">
            <c:chart xmlns:c="http://schemas.openxmlformats.org/drawingml/2006/chart" xmlns:r="http://schemas.openxmlformats.org/officeDocument/2006/relationships" r:id="rId4"/>
          </a:graphicData>
        </a:graphic>
      </p:graphicFrame>
      <p:sp>
        <p:nvSpPr>
          <p:cNvPr id="13" name="Google Shape;282;g104476d1465_1_17">
            <a:extLst>
              <a:ext uri="{FF2B5EF4-FFF2-40B4-BE49-F238E27FC236}">
                <a16:creationId xmlns:a16="http://schemas.microsoft.com/office/drawing/2014/main" id="{5E09E5CE-8E1A-E2A6-6DBD-A4ACBB8EC7F0}"/>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14" name="Google Shape;283;g104476d1465_1_17">
            <a:extLst>
              <a:ext uri="{FF2B5EF4-FFF2-40B4-BE49-F238E27FC236}">
                <a16:creationId xmlns:a16="http://schemas.microsoft.com/office/drawing/2014/main" id="{0EEB028D-3EFE-70CA-D3FA-54187989D4DF}"/>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25645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55023" y="520394"/>
            <a:ext cx="10307782" cy="1200329"/>
          </a:xfrm>
          <a:prstGeom prst="rect">
            <a:avLst/>
          </a:prstGeom>
          <a:noFill/>
        </p:spPr>
        <p:txBody>
          <a:bodyPr wrap="square" rtlCol="0">
            <a:spAutoFit/>
          </a:bodyPr>
          <a:lstStyle/>
          <a:p>
            <a:pPr marL="465138"/>
            <a:r>
              <a:rPr lang="en-US" sz="2400" dirty="0">
                <a:latin typeface="Verdana" charset="0"/>
                <a:ea typeface="Verdana" charset="0"/>
                <a:cs typeface="Verdana" charset="0"/>
              </a:rPr>
              <a:t>Determine whether each of the following statements is true or false. If the statement is false, correct the statement to make it true.</a:t>
            </a:r>
          </a:p>
        </p:txBody>
      </p:sp>
      <p:sp>
        <p:nvSpPr>
          <p:cNvPr id="6" name="Google Shape;278;g104476d1465_1_17">
            <a:extLst>
              <a:ext uri="{FF2B5EF4-FFF2-40B4-BE49-F238E27FC236}">
                <a16:creationId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002810389"/>
                  </p:ext>
                </p:extLst>
              </p:nvPr>
            </p:nvGraphicFramePr>
            <p:xfrm>
              <a:off x="2148192" y="1930711"/>
              <a:ext cx="6869430" cy="4219575"/>
            </p:xfrm>
            <a:graphic>
              <a:graphicData uri="http://schemas.openxmlformats.org/drawingml/2006/table">
                <a:tbl>
                  <a:tblPr firstRow="1" firstCol="1" bandRow="1"/>
                  <a:tblGrid>
                    <a:gridCol w="544068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tblGrid>
                  <a:tr h="843915">
                    <a:tc>
                      <a:txBody>
                        <a:bodyPr/>
                        <a:lstStyle/>
                        <a:p>
                          <a:pPr marL="0" marR="3429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14</m:t>
                              </m:r>
                            </m:oMath>
                          </a14:m>
                          <a:r>
                            <a:rPr lang="en-US" sz="2000" dirty="0">
                              <a:effectLst/>
                              <a:latin typeface="Verdana" charset="0"/>
                              <a:ea typeface="Verdana" charset="0"/>
                              <a:cs typeface="Verdana" charset="0"/>
                            </a:rPr>
                            <a:t> of those surveyed prefer loud volume.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3915">
                    <a:tc>
                      <a:txBody>
                        <a:bodyPr/>
                        <a:lstStyle/>
                        <a:p>
                          <a:pPr marL="0" marR="3429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140</m:t>
                              </m:r>
                            </m:oMath>
                          </a14:m>
                          <a:r>
                            <a:rPr lang="en-US" sz="2000" dirty="0">
                              <a:effectLst/>
                              <a:latin typeface="Verdana" charset="0"/>
                              <a:ea typeface="Verdana" charset="0"/>
                              <a:cs typeface="Verdana" charset="0"/>
                            </a:rPr>
                            <a:t> of those surveyed prefer soft volume.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43915">
                    <a:tc>
                      <a:txBody>
                        <a:bodyPr/>
                        <a:lstStyle/>
                        <a:p>
                          <a:pPr marL="0" marR="3429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63</m:t>
                              </m:r>
                            </m:oMath>
                          </a14:m>
                          <a:r>
                            <a:rPr lang="en-US" sz="2000" dirty="0">
                              <a:effectLst/>
                              <a:latin typeface="Verdana" charset="0"/>
                              <a:ea typeface="Verdana" charset="0"/>
                              <a:cs typeface="Verdana" charset="0"/>
                            </a:rPr>
                            <a:t> of those surveyed prefer music at a soft volume.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43915">
                    <a:tc>
                      <a:txBody>
                        <a:bodyPr/>
                        <a:lstStyle/>
                        <a:p>
                          <a:pPr marL="0" marR="34290">
                            <a:spcBef>
                              <a:spcPts val="0"/>
                            </a:spcBef>
                            <a:spcAft>
                              <a:spcPts val="0"/>
                            </a:spcAft>
                          </a:pPr>
                          <a:r>
                            <a:rPr lang="en-US" sz="2000">
                              <a:effectLst/>
                              <a:latin typeface="Verdana" charset="0"/>
                              <a:ea typeface="Verdana" charset="0"/>
                              <a:cs typeface="Verdana" charset="0"/>
                            </a:rPr>
                            <a:t>More people prefer music than talk radio.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43915">
                    <a:tc>
                      <a:txBody>
                        <a:bodyPr/>
                        <a:lstStyle/>
                        <a:p>
                          <a:pPr marL="0" marR="34290">
                            <a:spcBef>
                              <a:spcPts val="0"/>
                            </a:spcBef>
                            <a:spcAft>
                              <a:spcPts val="0"/>
                            </a:spcAft>
                          </a:pPr>
                          <a:r>
                            <a:rPr lang="en-US" sz="2000">
                              <a:effectLst/>
                              <a:latin typeface="Verdana" charset="0"/>
                              <a:ea typeface="Verdana" charset="0"/>
                              <a:cs typeface="Verdana" charset="0"/>
                            </a:rPr>
                            <a:t>More people prefer talk radio to be at a loud volume than at a soft volume.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002810389"/>
                  </p:ext>
                </p:extLst>
              </p:nvPr>
            </p:nvGraphicFramePr>
            <p:xfrm>
              <a:off x="2148192" y="1930711"/>
              <a:ext cx="6869430" cy="4219575"/>
            </p:xfrm>
            <a:graphic>
              <a:graphicData uri="http://schemas.openxmlformats.org/drawingml/2006/table">
                <a:tbl>
                  <a:tblPr firstRow="1" firstCol="1" bandRow="1"/>
                  <a:tblGrid>
                    <a:gridCol w="544068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tblGrid>
                  <a:tr h="84391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2" t="-8633" r="-26540" b="-405036"/>
                          </a:stretch>
                        </a:blipFill>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4391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2" t="-109420" r="-26540" b="-307971"/>
                          </a:stretch>
                        </a:blipFill>
                      </a:tcPr>
                    </a:tc>
                    <a:tc>
                      <a:txBody>
                        <a:bodyPr/>
                        <a:lstStyle/>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43915">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2" t="-207914" r="-26540" b="-205755"/>
                          </a:stretch>
                        </a:blipFill>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43915">
                    <a:tc>
                      <a:txBody>
                        <a:bodyPr/>
                        <a:lstStyle/>
                        <a:p>
                          <a:pPr marL="0" marR="34290">
                            <a:spcBef>
                              <a:spcPts val="0"/>
                            </a:spcBef>
                            <a:spcAft>
                              <a:spcPts val="0"/>
                            </a:spcAft>
                          </a:pPr>
                          <a:r>
                            <a:rPr lang="en-US" sz="2000">
                              <a:effectLst/>
                              <a:latin typeface="Verdana" charset="0"/>
                              <a:ea typeface="Verdana" charset="0"/>
                              <a:cs typeface="Verdana" charset="0"/>
                            </a:rPr>
                            <a:t>More people prefer music than talk radio.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43915">
                    <a:tc>
                      <a:txBody>
                        <a:bodyPr/>
                        <a:lstStyle/>
                        <a:p>
                          <a:pPr marL="0" marR="34290">
                            <a:spcBef>
                              <a:spcPts val="0"/>
                            </a:spcBef>
                            <a:spcAft>
                              <a:spcPts val="0"/>
                            </a:spcAft>
                          </a:pPr>
                          <a:r>
                            <a:rPr lang="en-US" sz="2000">
                              <a:effectLst/>
                              <a:latin typeface="Verdana" charset="0"/>
                              <a:ea typeface="Verdana" charset="0"/>
                              <a:cs typeface="Verdana" charset="0"/>
                            </a:rPr>
                            <a:t>More people prefer talk radio to be at a loud volume than at a soft volume.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7" name="Google Shape;282;g104476d1465_1_17">
            <a:extLst>
              <a:ext uri="{FF2B5EF4-FFF2-40B4-BE49-F238E27FC236}">
                <a16:creationId xmlns:a16="http://schemas.microsoft.com/office/drawing/2014/main" id="{2D343529-F57F-D01E-DB32-FC85021FB524}"/>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B6C76184-9872-ACBD-23DB-76840FC13FF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67583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26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2905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4E37D1C-F8B7-D122-BC2F-671E427DAF9C}"/>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08450" y="129862"/>
            <a:ext cx="10004550" cy="8771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14.3.5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69231" y="129863"/>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843147" y="1125778"/>
            <a:ext cx="10295907" cy="1569660"/>
          </a:xfrm>
          <a:prstGeom prst="rect">
            <a:avLst/>
          </a:prstGeom>
          <a:noFill/>
        </p:spPr>
        <p:txBody>
          <a:bodyPr wrap="square" rtlCol="0">
            <a:spAutoFit/>
          </a:bodyPr>
          <a:lstStyle/>
          <a:p>
            <a:r>
              <a:rPr lang="en-US" sz="2400" dirty="0">
                <a:latin typeface="Verdana" charset="0"/>
                <a:ea typeface="Verdana" charset="0"/>
                <a:cs typeface="Verdana" charset="0"/>
              </a:rPr>
              <a:t>Macy, Elroy, Bruno, and Karla each kept track of the books they read for a year. Their data is represented in the segmented bar graph shown. Use the segmented bar graph to answer the questions. </a:t>
            </a:r>
          </a:p>
        </p:txBody>
      </p:sp>
      <p:sp>
        <p:nvSpPr>
          <p:cNvPr id="8" name="Google Shape;278;g104476d1465_1_17">
            <a:extLst>
              <a:ext uri="{FF2B5EF4-FFF2-40B4-BE49-F238E27FC236}">
                <a16:creationId xmlns:a16="http://schemas.microsoft.com/office/drawing/2014/main" id="{535320C0-DAB2-7C41-B3D0-5B31075C43F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10" name="Chart 9">
            <a:extLst>
              <a:ext uri="{FF2B5EF4-FFF2-40B4-BE49-F238E27FC236}">
                <a16:creationId xmlns:a16="http://schemas.microsoft.com/office/drawing/2014/main" id="{97A9B9A2-0468-5144-8340-5B1ADEEE4767}"/>
              </a:ext>
            </a:extLst>
          </p:cNvPr>
          <p:cNvGraphicFramePr/>
          <p:nvPr>
            <p:extLst>
              <p:ext uri="{D42A27DB-BD31-4B8C-83A1-F6EECF244321}">
                <p14:modId xmlns:p14="http://schemas.microsoft.com/office/powerpoint/2010/main" val="4183909656"/>
              </p:ext>
            </p:extLst>
          </p:nvPr>
        </p:nvGraphicFramePr>
        <p:xfrm>
          <a:off x="2758780" y="2479387"/>
          <a:ext cx="6674440" cy="4178388"/>
        </p:xfrm>
        <a:graphic>
          <a:graphicData uri="http://schemas.openxmlformats.org/drawingml/2006/chart">
            <c:chart xmlns:c="http://schemas.openxmlformats.org/drawingml/2006/chart" xmlns:r="http://schemas.openxmlformats.org/officeDocument/2006/relationships" r:id="rId4"/>
          </a:graphicData>
        </a:graphic>
      </p:graphicFrame>
      <p:sp>
        <p:nvSpPr>
          <p:cNvPr id="11" name="Google Shape;282;g104476d1465_1_17">
            <a:extLst>
              <a:ext uri="{FF2B5EF4-FFF2-40B4-BE49-F238E27FC236}">
                <a16:creationId xmlns:a16="http://schemas.microsoft.com/office/drawing/2014/main" id="{C785511D-1091-46A5-1850-5D55E6121CB7}"/>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056C8E1E-3CBB-7ABF-4947-F0B5E2A62FED}"/>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66899" y="520394"/>
                <a:ext cx="10272156" cy="3785652"/>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What does the value </a:t>
                </a:r>
                <a14:m>
                  <m:oMath xmlns:m="http://schemas.openxmlformats.org/officeDocument/2006/math">
                    <m:r>
                      <a:rPr lang="en-US" sz="2400" i="1">
                        <a:latin typeface="Cambria Math" panose="02040503050406030204" pitchFamily="18" charset="0"/>
                        <a:ea typeface="Verdana" charset="0"/>
                        <a:cs typeface="Verdana" charset="0"/>
                      </a:rPr>
                      <m:t>7</m:t>
                    </m:r>
                  </m:oMath>
                </a14:m>
                <a:r>
                  <a:rPr lang="en-US" sz="2400" dirty="0">
                    <a:latin typeface="Verdana" charset="0"/>
                    <a:ea typeface="Verdana" charset="0"/>
                    <a:cs typeface="Verdana" charset="0"/>
                  </a:rPr>
                  <a:t> mean in this context? </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How many fiction books were read? </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66899" y="520394"/>
                <a:ext cx="10272156" cy="3785652"/>
              </a:xfrm>
              <a:prstGeom prst="rect">
                <a:avLst/>
              </a:prstGeom>
              <a:blipFill>
                <a:blip r:embed="rId3"/>
                <a:stretch>
                  <a:fillRect l="-890" t="-1449" b="-273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B4CE872-CBCF-7A4A-8FD6-F7BE492A466A}"/>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EB2412B1-C40F-EA7E-92AB-26A9C2F8E474}"/>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63C5100A-C275-5C8B-2138-FE8FE3D4C73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1454</TotalTime>
  <Words>1166</Words>
  <Application>Microsoft Office PowerPoint</Application>
  <PresentationFormat>Widescreen</PresentationFormat>
  <Paragraphs>299</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Arial Black</vt:lpstr>
      <vt:lpstr>Calibri</vt:lpstr>
      <vt:lpstr>Cambria</vt:lpstr>
      <vt:lpstr>Cambria Math</vt:lpstr>
      <vt:lpstr>Century Gothic</vt:lpstr>
      <vt:lpstr>Courier New</vt:lpstr>
      <vt:lpstr>Verdana</vt:lpstr>
      <vt:lpstr>Wingdings</vt:lpstr>
      <vt:lpstr>1_Office Theme</vt:lpstr>
      <vt:lpstr>Algebra 1  Unit 14, Lesson 3  Two-Way Tables and Segmented Bar Graphs  Volume 2, pg. 316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26</cp:revision>
  <dcterms:created xsi:type="dcterms:W3CDTF">2015-03-17T18:51:18Z</dcterms:created>
  <dcterms:modified xsi:type="dcterms:W3CDTF">2022-06-30T20:05:42Z</dcterms:modified>
</cp:coreProperties>
</file>