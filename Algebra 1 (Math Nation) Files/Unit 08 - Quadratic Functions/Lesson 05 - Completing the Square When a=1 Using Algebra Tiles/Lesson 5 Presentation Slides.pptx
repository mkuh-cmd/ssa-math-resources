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362" r:id="rId2"/>
    <p:sldId id="363" r:id="rId3"/>
    <p:sldId id="364" r:id="rId4"/>
    <p:sldId id="365" r:id="rId5"/>
    <p:sldId id="261" r:id="rId6"/>
    <p:sldId id="287" r:id="rId7"/>
    <p:sldId id="288" r:id="rId8"/>
    <p:sldId id="311" r:id="rId9"/>
    <p:sldId id="312" r:id="rId10"/>
    <p:sldId id="353" r:id="rId11"/>
    <p:sldId id="366" r:id="rId12"/>
    <p:sldId id="367" r:id="rId13"/>
    <p:sldId id="368" r:id="rId14"/>
    <p:sldId id="369" r:id="rId15"/>
    <p:sldId id="370" r:id="rId16"/>
    <p:sldId id="371" r:id="rId17"/>
    <p:sldId id="373" r:id="rId18"/>
    <p:sldId id="374" r:id="rId19"/>
    <p:sldId id="314" r:id="rId20"/>
    <p:sldId id="315" r:id="rId21"/>
    <p:sldId id="372" r:id="rId22"/>
    <p:sldId id="352" r:id="rId23"/>
    <p:sldId id="306" r:id="rId24"/>
    <p:sldId id="307" r:id="rId25"/>
    <p:sldId id="361"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01" autoAdjust="0"/>
    <p:restoredTop sz="94622"/>
  </p:normalViewPr>
  <p:slideViewPr>
    <p:cSldViewPr snapToGrid="0">
      <p:cViewPr varScale="1">
        <p:scale>
          <a:sx n="92" d="100"/>
          <a:sy n="92" d="100"/>
        </p:scale>
        <p:origin x="184" y="5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61765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2715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736652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632976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917346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847354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81907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4944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081943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602714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89816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05615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732897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36664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58756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732966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7.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21.png"/><Relationship Id="rId5"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6.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34.png"/><Relationship Id="rId5"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36.png"/><Relationship Id="rId5" Type="http://schemas.openxmlformats.org/officeDocument/2006/relationships/image" Target="../media/image37.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38.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39.png"/><Relationship Id="rId5" Type="http://schemas.openxmlformats.org/officeDocument/2006/relationships/image" Target="../media/image40.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1.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2.png"/><Relationship Id="rId5" Type="http://schemas.openxmlformats.org/officeDocument/2006/relationships/image" Target="../media/image43.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47.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8.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8.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49.png"/><Relationship Id="rId5" Type="http://schemas.openxmlformats.org/officeDocument/2006/relationships/image" Target="../media/image50.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Unit 8,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Completing the Square when </a:t>
                </a:r>
                <a14:m>
                  <m:oMath xmlns:m="http://schemas.openxmlformats.org/officeDocument/2006/math">
                    <m:r>
                      <a:rPr lang="en-US" sz="3800" b="1" i="1">
                        <a:solidFill>
                          <a:srgbClr val="417DBF"/>
                        </a:solidFill>
                        <a:latin typeface="Cambria Math" panose="02040503050406030204" pitchFamily="18" charset="0"/>
                        <a:ea typeface="Verdana"/>
                        <a:cs typeface="Verdana"/>
                        <a:sym typeface="Verdana"/>
                      </a:rPr>
                      <m:t>𝒂</m:t>
                    </m:r>
                    <m:r>
                      <a:rPr lang="en-US" sz="3800" b="1" i="1">
                        <a:solidFill>
                          <a:srgbClr val="417DBF"/>
                        </a:solidFill>
                        <a:latin typeface="Cambria Math" panose="02040503050406030204" pitchFamily="18" charset="0"/>
                        <a:ea typeface="Verdana"/>
                        <a:cs typeface="Verdana"/>
                        <a:sym typeface="Verdana"/>
                      </a:rPr>
                      <m:t>=</m:t>
                    </m:r>
                    <m:r>
                      <a:rPr lang="en-US" sz="3800" b="1" i="1">
                        <a:solidFill>
                          <a:srgbClr val="417DBF"/>
                        </a:solidFill>
                        <a:latin typeface="Cambria Math" panose="02040503050406030204" pitchFamily="18" charset="0"/>
                        <a:ea typeface="Verdana"/>
                        <a:cs typeface="Verdana"/>
                        <a:sym typeface="Verdana"/>
                      </a:rPr>
                      <m:t>𝟏</m:t>
                    </m:r>
                  </m:oMath>
                </a14:m>
                <a:r>
                  <a:rPr lang="en-US" sz="3800" b="1" dirty="0">
                    <a:solidFill>
                      <a:srgbClr val="417DBF"/>
                    </a:solidFill>
                    <a:latin typeface="Verdana"/>
                    <a:ea typeface="Verdana"/>
                    <a:cs typeface="Verdana"/>
                    <a:sym typeface="Verdana"/>
                  </a:rPr>
                  <a:t> Using Algebra Tiles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a:t>
                </a:r>
                <a:br>
                  <a:rPr lang="en-US" sz="2800" b="1" dirty="0">
                    <a:solidFill>
                      <a:srgbClr val="417DBF"/>
                    </a:solidFill>
                    <a:latin typeface="Verdana"/>
                    <a:ea typeface="Verdana"/>
                    <a:cs typeface="Verdana"/>
                    <a:sym typeface="Verdana"/>
                  </a:rPr>
                </a:br>
                <a:r>
                  <a:rPr lang="en-US" sz="3400" b="1" dirty="0">
                    <a:solidFill>
                      <a:srgbClr val="417DBF"/>
                    </a:solidFill>
                    <a:latin typeface="Verdana"/>
                    <a:ea typeface="Verdana"/>
                    <a:cs typeface="Verdana"/>
                    <a:sym typeface="Verdana"/>
                  </a:rPr>
                  <a:t/>
                </a:r>
                <a:br>
                  <a:rPr lang="en-US" sz="3400" b="1" dirty="0">
                    <a:solidFill>
                      <a:srgbClr val="417DBF"/>
                    </a:solidFill>
                    <a:latin typeface="Verdana"/>
                    <a:ea typeface="Verdana"/>
                    <a:cs typeface="Verdana"/>
                    <a:sym typeface="Verdana"/>
                  </a:rPr>
                </a:br>
                <a:endParaRPr sz="3100" dirty="0">
                  <a:solidFill>
                    <a:srgbClr val="417DBF"/>
                  </a:solidFill>
                </a:endParaRPr>
              </a:p>
            </p:txBody>
          </p:sp>
        </mc:Choice>
        <mc:Fallback xmlns="">
          <p:sp>
            <p:nvSpPr>
              <p:cNvPr id="261" name="Google Shape;261;g104476d1465_0_0"/>
              <p:cNvSpPr txBox="1">
                <a:spLocks noGrp="1" noRot="1" noChangeAspect="1" noMove="1" noResize="1" noEditPoints="1" noAdjustHandles="1" noChangeArrowheads="1" noChangeShapeType="1" noTextEdit="1"/>
              </p:cNvSpPr>
              <p:nvPr>
                <p:ph type="ctrTitle" idx="4294967295"/>
              </p:nvPr>
            </p:nvSpPr>
            <p:spPr>
              <a:xfrm>
                <a:off x="5590352" y="2054277"/>
                <a:ext cx="5077649" cy="3194455"/>
              </a:xfrm>
              <a:prstGeom prst="rect">
                <a:avLst/>
              </a:prstGeom>
              <a:blipFill rotWithShape="1">
                <a:blip r:embed="rId3"/>
                <a:stretch>
                  <a:fillRect t="-58015" b="-29580"/>
                </a:stretch>
              </a:blipFill>
            </p:spPr>
            <p:txBody>
              <a:bodyPr/>
              <a:lstStyle/>
              <a:p>
                <a:r>
                  <a:rPr lang="en-PH">
                    <a:noFill/>
                  </a:rPr>
                  <a:t> </a:t>
                </a:r>
              </a:p>
            </p:txBody>
          </p:sp>
        </mc:Fallback>
      </mc:AlternateContent>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66865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49536" y="5270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6784" y="288482"/>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32661" y="1467487"/>
            <a:ext cx="10800000" cy="42062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MA.912.AR.3.6</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an expression or equation representing a quadratic function, determine the vertex and zeros and interpret them in terms of a real-world context</a:t>
            </a:r>
            <a:r>
              <a:rPr lang="en-US" sz="3200" dirty="0" smtClean="0">
                <a:latin typeface="Verdana" panose="020B0604030504040204" pitchFamily="34" charset="0"/>
                <a:ea typeface="Verdana" panose="020B0604030504040204" pitchFamily="34" charset="0"/>
                <a:cs typeface="Verdana" panose="020B0604030504040204" pitchFamily="34" charset="0"/>
              </a:rPr>
              <a:t>.</a:t>
            </a:r>
          </a:p>
          <a:p>
            <a:pPr indent="0">
              <a:buNone/>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MA.912.AR.1.2</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Rearrange equations or formulas to isolate a quantity of interest.</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extLst>
      <p:ext uri="{BB962C8B-B14F-4D97-AF65-F5344CB8AC3E}">
        <p14:creationId xmlns:p14="http://schemas.microsoft.com/office/powerpoint/2010/main" val="508744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55108" y="-718"/>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532661" y="1463224"/>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436784" y="288482"/>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8116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47316" y="-71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436784" y="28848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2661" y="1467035"/>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30238">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use algebra tiles to complete the square for a quadratic expression where </a:t>
                </a:r>
                <a14:m>
                  <m:oMath xmlns:m="http://schemas.openxmlformats.org/officeDocument/2006/math">
                    <m:r>
                      <a:rPr lang="en-US" sz="3500" i="1">
                        <a:latin typeface="Cambria Math" panose="02040503050406030204" pitchFamily="18" charset="0"/>
                        <a:ea typeface="Cambria Math" panose="02040503050406030204" pitchFamily="18" charset="0"/>
                      </a:rPr>
                      <m:t>𝑎</m:t>
                    </m:r>
                    <m:r>
                      <a:rPr lang="en-US" sz="3500" i="1">
                        <a:latin typeface="Cambria Math" panose="02040503050406030204" pitchFamily="18" charset="0"/>
                        <a:ea typeface="Cambria Math" panose="02040503050406030204" pitchFamily="18" charset="0"/>
                      </a:rPr>
                      <m:t>=1</m:t>
                    </m:r>
                  </m:oMath>
                </a14:m>
                <a:r>
                  <a:rPr lang="en-US" sz="35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Google Shape;302;g103996e1364_0_16">
                <a:extLst>
                  <a:ext uri="{FF2B5EF4-FFF2-40B4-BE49-F238E27FC236}">
                    <a16:creationId xmlns:a16="http://schemas.microsoft.com/office/drawing/2014/main" xmlns:a14="http://schemas.microsoft.com/office/drawing/2010/main" xmlns="" id="{9B7C98EC-F13C-9146-B728-D7044DB4247D}"/>
                  </a:ext>
                </a:extLst>
              </p:cNvPr>
              <p:cNvSpPr txBox="1">
                <a:spLocks noRot="1" noChangeAspect="1" noMove="1" noResize="1" noEditPoints="1" noAdjustHandles="1" noChangeArrowheads="1" noChangeShapeType="1" noTextEdit="1"/>
              </p:cNvSpPr>
              <p:nvPr/>
            </p:nvSpPr>
            <p:spPr>
              <a:xfrm>
                <a:off x="532661" y="1467035"/>
                <a:ext cx="10515600" cy="4205700"/>
              </a:xfrm>
              <a:prstGeom prst="rect">
                <a:avLst/>
              </a:prstGeom>
              <a:blipFill rotWithShape="1">
                <a:blip r:embed="rId5"/>
                <a:stretch>
                  <a:fillRect l="-1449" t="-2319"/>
                </a:stretch>
              </a:blipFill>
              <a:ln>
                <a:noFill/>
              </a:ln>
            </p:spPr>
            <p:txBody>
              <a:bodyPr/>
              <a:lstStyle/>
              <a:p>
                <a:r>
                  <a:rPr lang="en-PH">
                    <a:noFill/>
                  </a:rPr>
                  <a:t> </a:t>
                </a:r>
              </a:p>
            </p:txBody>
          </p:sp>
        </mc:Fallback>
      </mc:AlternateContent>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70999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2889" y="-718"/>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8.5.1 Warm-Up: Notice and Wonder</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436784" y="28848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E1D7562E-134F-D14B-AF1A-DF40E11EF758}"/>
                  </a:ext>
                </a:extLst>
              </p:cNvPr>
              <p:cNvSpPr txBox="1"/>
              <p:nvPr/>
            </p:nvSpPr>
            <p:spPr>
              <a:xfrm>
                <a:off x="532660" y="1474802"/>
                <a:ext cx="5329238" cy="317009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table of values gives some of the heights and lengths of different rectangles. The height begins at </a:t>
                </a:r>
                <a14:m>
                  <m:oMath xmlns:m="http://schemas.openxmlformats.org/officeDocument/2006/math">
                    <m:r>
                      <a:rPr lang="en-US" sz="2000" i="1">
                        <a:latin typeface="Cambria Math" panose="02040503050406030204" pitchFamily="18" charset="0"/>
                      </a:rPr>
                      <m:t>80</m:t>
                    </m:r>
                  </m:oMath>
                </a14:m>
                <a:r>
                  <a:rPr lang="en-US" sz="2000" dirty="0">
                    <a:latin typeface="Verdana" panose="020B0604030504040204" pitchFamily="34" charset="0"/>
                    <a:ea typeface="Verdana" panose="020B0604030504040204" pitchFamily="34" charset="0"/>
                    <a:cs typeface="Verdana" panose="020B0604030504040204" pitchFamily="34" charset="0"/>
                  </a:rPr>
                  <a:t> and the length begins at </a:t>
                </a:r>
                <a14:m>
                  <m:oMath xmlns:m="http://schemas.openxmlformats.org/officeDocument/2006/math">
                    <m:r>
                      <a:rPr lang="en-US" sz="2000" i="1">
                        <a:latin typeface="Cambria Math" panose="02040503050406030204" pitchFamily="18" charset="0"/>
                      </a:rPr>
                      <m:t>40</m:t>
                    </m:r>
                  </m:oMath>
                </a14:m>
                <a:r>
                  <a:rPr lang="en-US" sz="2000" dirty="0">
                    <a:latin typeface="Verdana" panose="020B0604030504040204" pitchFamily="34" charset="0"/>
                    <a:ea typeface="Verdana" panose="020B0604030504040204" pitchFamily="34" charset="0"/>
                    <a:cs typeface="Verdana" panose="020B0604030504040204" pitchFamily="34" charset="0"/>
                  </a:rPr>
                  <a:t>. The “…” means the pattern continues. Use the pattern for height and the pattern for length to fill in the missing heights and lengths. Then, use the height and length to determine the area.</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2660" y="1474802"/>
                <a:ext cx="5329238" cy="3170099"/>
              </a:xfrm>
              <a:prstGeom prst="rect">
                <a:avLst/>
              </a:prstGeom>
              <a:blipFill rotWithShape="1">
                <a:blip r:embed="rId5"/>
                <a:stretch>
                  <a:fillRect l="-1143" t="-1154" r="-2400" b="-2500"/>
                </a:stretch>
              </a:blipFill>
            </p:spPr>
            <p:txBody>
              <a:bodyPr/>
              <a:lstStyle/>
              <a:p>
                <a:r>
                  <a:rPr lang="en-PH">
                    <a:noFill/>
                  </a:rPr>
                  <a:t> </a:t>
                </a:r>
              </a:p>
            </p:txBody>
          </p:sp>
        </mc:Fallback>
      </mc:AlternateContent>
      <p:pic>
        <p:nvPicPr>
          <p:cNvPr id="3" name="Picture 2"/>
          <p:cNvPicPr>
            <a:picLocks noChangeAspect="1"/>
          </p:cNvPicPr>
          <p:nvPr/>
        </p:nvPicPr>
        <p:blipFill>
          <a:blip r:embed="rId6"/>
          <a:stretch>
            <a:fillRect/>
          </a:stretch>
        </p:blipFill>
        <p:spPr>
          <a:xfrm>
            <a:off x="6118358" y="1474802"/>
            <a:ext cx="4732656" cy="4881609"/>
          </a:xfrm>
          <a:prstGeom prst="rect">
            <a:avLst/>
          </a:prstGeom>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32663" y="378352"/>
            <a:ext cx="10515600"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patterns of each variable?</a:t>
            </a:r>
          </a:p>
        </p:txBody>
      </p:sp>
      <p:graphicFrame>
        <p:nvGraphicFramePr>
          <p:cNvPr id="2" name="Table 1"/>
          <p:cNvGraphicFramePr>
            <a:graphicFrameLocks noGrp="1"/>
          </p:cNvGraphicFramePr>
          <p:nvPr>
            <p:extLst>
              <p:ext uri="{D42A27DB-BD31-4B8C-83A1-F6EECF244321}">
                <p14:modId xmlns:p14="http://schemas.microsoft.com/office/powerpoint/2010/main" val="2043457553"/>
              </p:ext>
            </p:extLst>
          </p:nvPr>
        </p:nvGraphicFramePr>
        <p:xfrm>
          <a:off x="1164782" y="1021920"/>
          <a:ext cx="7920000" cy="2777065"/>
        </p:xfrm>
        <a:graphic>
          <a:graphicData uri="http://schemas.openxmlformats.org/drawingml/2006/table">
            <a:tbl>
              <a:tblPr firstRow="1" firstCol="1" bandRow="1">
                <a:tableStyleId>{5940675A-B579-460E-94D1-54222C63F5DA}</a:tableStyleId>
              </a:tblPr>
              <a:tblGrid>
                <a:gridCol w="1800000">
                  <a:extLst>
                    <a:ext uri="{9D8B030D-6E8A-4147-A177-3AD203B41FA5}">
                      <a16:colId xmlns="" xmlns:a16="http://schemas.microsoft.com/office/drawing/2014/main" val="20000"/>
                    </a:ext>
                  </a:extLst>
                </a:gridCol>
                <a:gridCol w="6120000">
                  <a:extLst>
                    <a:ext uri="{9D8B030D-6E8A-4147-A177-3AD203B41FA5}">
                      <a16:colId xmlns="" xmlns:a16="http://schemas.microsoft.com/office/drawing/2014/main" val="20001"/>
                    </a:ext>
                  </a:extLst>
                </a:gridCol>
              </a:tblGrid>
              <a:tr h="93470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endParaRPr lang="en-US" sz="1200" dirty="0">
                        <a:effectLst/>
                        <a:latin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92117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endParaRPr lang="en-US" sz="1200" dirty="0">
                        <a:effectLst/>
                        <a:latin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92117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endParaRPr lang="en-US" sz="1200" dirty="0">
                        <a:effectLst/>
                        <a:latin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47364" y="-319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8.5.2 Exploration: Completing the </a:t>
            </a:r>
            <a:r>
              <a:rPr lang="en-US" sz="3600" b="1" dirty="0" smtClean="0">
                <a:solidFill>
                  <a:srgbClr val="33BEA6"/>
                </a:solidFill>
                <a:latin typeface="Verdana"/>
                <a:ea typeface="Verdana"/>
                <a:cs typeface="Verdana"/>
                <a:sym typeface="Verdana"/>
              </a:rPr>
              <a:t/>
            </a:r>
            <a:br>
              <a:rPr lang="en-US" sz="3600" b="1" dirty="0" smtClean="0">
                <a:solidFill>
                  <a:srgbClr val="33BEA6"/>
                </a:solidFill>
                <a:latin typeface="Verdana"/>
                <a:ea typeface="Verdana"/>
                <a:cs typeface="Verdana"/>
                <a:sym typeface="Verdana"/>
              </a:rPr>
            </a:br>
            <a:r>
              <a:rPr lang="en-US" sz="3600" b="1" dirty="0" smtClean="0">
                <a:solidFill>
                  <a:srgbClr val="33BEA6"/>
                </a:solidFill>
                <a:latin typeface="Verdana"/>
                <a:ea typeface="Verdana"/>
                <a:cs typeface="Verdana"/>
                <a:sym typeface="Verdana"/>
              </a:rPr>
              <a:t>Square </a:t>
            </a:r>
            <a:r>
              <a:rPr lang="en-US" sz="3600" b="1" dirty="0">
                <a:solidFill>
                  <a:srgbClr val="33BEA6"/>
                </a:solidFill>
                <a:latin typeface="Verdana"/>
                <a:ea typeface="Verdana"/>
                <a:cs typeface="Verdana"/>
                <a:sym typeface="Verdana"/>
              </a:rPr>
              <a:t>Using Algebra Tiles</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1830" y="28352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152D1D4D-DCB8-A246-B186-D40316579D77}"/>
                  </a:ext>
                </a:extLst>
              </p:cNvPr>
              <p:cNvSpPr txBox="1"/>
              <p:nvPr/>
            </p:nvSpPr>
            <p:spPr>
              <a:xfrm>
                <a:off x="532661" y="1467225"/>
                <a:ext cx="10515600"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algebra tiles shown represent the expression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+11.</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532661" y="1467225"/>
                <a:ext cx="10515600" cy="461665"/>
              </a:xfrm>
              <a:prstGeom prst="rect">
                <a:avLst/>
              </a:prstGeom>
              <a:blipFill rotWithShape="1">
                <a:blip r:embed="rId5"/>
                <a:stretch>
                  <a:fillRect l="-870" t="-12000" b="-29333"/>
                </a:stretch>
              </a:blipFill>
            </p:spPr>
            <p:txBody>
              <a:bodyPr/>
              <a:lstStyle/>
              <a:p>
                <a:r>
                  <a:rPr lang="en-PH">
                    <a:noFill/>
                  </a:rPr>
                  <a:t> </a:t>
                </a:r>
              </a:p>
            </p:txBody>
          </p:sp>
        </mc:Fallback>
      </mc:AlternateContent>
      <p:pic>
        <p:nvPicPr>
          <p:cNvPr id="2" name="Picture 1"/>
          <p:cNvPicPr>
            <a:picLocks noChangeAspect="1"/>
          </p:cNvPicPr>
          <p:nvPr/>
        </p:nvPicPr>
        <p:blipFill>
          <a:blip r:embed="rId6"/>
          <a:stretch>
            <a:fillRect/>
          </a:stretch>
        </p:blipFill>
        <p:spPr>
          <a:xfrm>
            <a:off x="1689282" y="2199910"/>
            <a:ext cx="8202358" cy="1537942"/>
          </a:xfrm>
          <a:prstGeom prst="rect">
            <a:avLst/>
          </a:prstGeom>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78351"/>
                <a:ext cx="10515600"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algebra tiles are arranged onto a product mat to create a square. There are two single unit tiles left over. The factors </a:t>
                </a:r>
                <a14:m>
                  <m:oMath xmlns:m="http://schemas.openxmlformats.org/officeDocument/2006/math">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−3</m:t>
                        </m:r>
                      </m:e>
                    </m:d>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−3</m:t>
                        </m:r>
                      </m:e>
                    </m:d>
                  </m:oMath>
                </a14:m>
                <a:r>
                  <a:rPr lang="en-US" sz="2400" dirty="0">
                    <a:latin typeface="Verdana" panose="020B0604030504040204" pitchFamily="34" charset="0"/>
                    <a:ea typeface="Verdana" panose="020B0604030504040204" pitchFamily="34" charset="0"/>
                    <a:cs typeface="Verdana" panose="020B0604030504040204" pitchFamily="34" charset="0"/>
                  </a:rPr>
                  <a:t> are located above the top bar and on the left bar.</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78351"/>
                <a:ext cx="10515600" cy="1200329"/>
              </a:xfrm>
              <a:prstGeom prst="rect">
                <a:avLst/>
              </a:prstGeom>
              <a:blipFill rotWithShape="1">
                <a:blip r:embed="rId4"/>
                <a:stretch>
                  <a:fillRect l="-870" t="-4061" b="-10152"/>
                </a:stretch>
              </a:blipFill>
            </p:spPr>
            <p:txBody>
              <a:bodyPr/>
              <a:lstStyle/>
              <a:p>
                <a:r>
                  <a:rPr lang="en-PH">
                    <a:noFill/>
                  </a:rPr>
                  <a:t> </a:t>
                </a:r>
              </a:p>
            </p:txBody>
          </p:sp>
        </mc:Fallback>
      </mc:AlternateContent>
      <p:pic>
        <p:nvPicPr>
          <p:cNvPr id="6" name="Picture 5" descr="Graphical user interface, application&#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3253001" y="1684026"/>
            <a:ext cx="5074920" cy="4000500"/>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40731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32661" y="3202217"/>
            <a:ext cx="10515600"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algebra tiles on the product mat to complete the chart.</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020827108"/>
                  </p:ext>
                </p:extLst>
              </p:nvPr>
            </p:nvGraphicFramePr>
            <p:xfrm>
              <a:off x="1128780" y="3857689"/>
              <a:ext cx="9000000" cy="2160000"/>
            </p:xfrm>
            <a:graphic>
              <a:graphicData uri="http://schemas.openxmlformats.org/drawingml/2006/table">
                <a:tbl>
                  <a:tblPr firstRow="1" firstCol="1" bandRow="1">
                    <a:tableStyleId>{5940675A-B579-460E-94D1-54222C63F5DA}</a:tableStyleId>
                  </a:tblPr>
                  <a:tblGrid>
                    <a:gridCol w="1800000">
                      <a:extLst>
                        <a:ext uri="{9D8B030D-6E8A-4147-A177-3AD203B41FA5}">
                          <a16:colId xmlns="" xmlns:a16="http://schemas.microsoft.com/office/drawing/2014/main" val="20000"/>
                        </a:ext>
                      </a:extLst>
                    </a:gridCol>
                    <a:gridCol w="1800000">
                      <a:extLst>
                        <a:ext uri="{9D8B030D-6E8A-4147-A177-3AD203B41FA5}">
                          <a16:colId xmlns="" xmlns:a16="http://schemas.microsoft.com/office/drawing/2014/main" val="20001"/>
                        </a:ext>
                      </a:extLst>
                    </a:gridCol>
                    <a:gridCol w="1800000">
                      <a:extLst>
                        <a:ext uri="{9D8B030D-6E8A-4147-A177-3AD203B41FA5}">
                          <a16:colId xmlns="" xmlns:a16="http://schemas.microsoft.com/office/drawing/2014/main" val="20002"/>
                        </a:ext>
                      </a:extLst>
                    </a:gridCol>
                    <a:gridCol w="1800000">
                      <a:extLst>
                        <a:ext uri="{9D8B030D-6E8A-4147-A177-3AD203B41FA5}">
                          <a16:colId xmlns="" xmlns:a16="http://schemas.microsoft.com/office/drawing/2014/main" val="20003"/>
                        </a:ext>
                      </a:extLst>
                    </a:gridCol>
                    <a:gridCol w="1800000">
                      <a:extLst>
                        <a:ext uri="{9D8B030D-6E8A-4147-A177-3AD203B41FA5}">
                          <a16:colId xmlns="" xmlns:a16="http://schemas.microsoft.com/office/drawing/2014/main" val="20004"/>
                        </a:ext>
                      </a:extLst>
                    </a:gridCol>
                  </a:tblGrid>
                  <a:tr h="108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14:m>
                            <m:oMath xmlns:m="http://schemas.openxmlformats.org/officeDocument/2006/math">
                              <m:sSup>
                                <m:sSupPr>
                                  <m:ctrlPr>
                                    <a:rPr lang="en-US" sz="2000" b="1" i="1">
                                      <a:effectLst/>
                                      <a:latin typeface="Cambria Math" charset="0"/>
                                      <a:ea typeface="Cambria Math" panose="02040503050406030204" pitchFamily="18" charset="0"/>
                                    </a:rPr>
                                  </m:ctrlPr>
                                </m:sSupPr>
                                <m:e>
                                  <m:r>
                                    <a:rPr lang="en-US" sz="2000" b="1" i="1">
                                      <a:effectLst/>
                                      <a:latin typeface="Cambria Math" panose="02040503050406030204" pitchFamily="18" charset="0"/>
                                      <a:ea typeface="Cambria Math" panose="02040503050406030204" pitchFamily="18" charset="0"/>
                                    </a:rPr>
                                    <m:t>𝒙</m:t>
                                  </m:r>
                                </m:e>
                                <m:sup>
                                  <m:r>
                                    <a:rPr lang="en-US" sz="2000" b="1" i="1">
                                      <a:effectLst/>
                                      <a:latin typeface="Cambria Math" panose="02040503050406030204" pitchFamily="18" charset="0"/>
                                      <a:ea typeface="Cambria Math" panose="02040503050406030204" pitchFamily="18" charset="0"/>
                                    </a:rPr>
                                    <m:t>𝟐</m:t>
                                  </m:r>
                                </m:sup>
                              </m:sSup>
                            </m:oMath>
                          </a14:m>
                          <a:r>
                            <a:rPr lang="en-US" sz="2000" b="1" dirty="0">
                              <a:effectLst/>
                              <a:latin typeface="Verdana" panose="020B0604030504040204" pitchFamily="34" charset="0"/>
                              <a:ea typeface="Verdana" panose="020B0604030504040204" pitchFamily="34" charset="0"/>
                              <a:cs typeface="Verdana" panose="020B0604030504040204" pitchFamily="34" charset="0"/>
                            </a:rPr>
                            <a:t> Tiles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14:m>
                            <m:oMath xmlns:m="http://schemas.openxmlformats.org/officeDocument/2006/math">
                              <m:r>
                                <a:rPr lang="en-US" sz="2000" b="1" i="1">
                                  <a:effectLst/>
                                  <a:latin typeface="Cambria Math" panose="02040503050406030204" pitchFamily="18" charset="0"/>
                                  <a:ea typeface="Cambria Math" panose="02040503050406030204" pitchFamily="18" charset="0"/>
                                </a:rPr>
                                <m:t>𝒙</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Tiles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of the Square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the Square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Unit Tiles Left Over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1080000">
                    <a:tc>
                      <a:txBody>
                        <a:bodyPr/>
                        <a:lstStyle/>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020827108"/>
                  </p:ext>
                </p:extLst>
              </p:nvPr>
            </p:nvGraphicFramePr>
            <p:xfrm>
              <a:off x="1128780" y="3857689"/>
              <a:ext cx="9000000" cy="2160000"/>
            </p:xfrm>
            <a:graphic>
              <a:graphicData uri="http://schemas.openxmlformats.org/drawingml/2006/table">
                <a:tbl>
                  <a:tblPr firstRow="1" firstCol="1" bandRow="1">
                    <a:tableStyleId>{5940675A-B579-460E-94D1-54222C63F5DA}</a:tableStyleId>
                  </a:tblPr>
                  <a:tblGrid>
                    <a:gridCol w="180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1800000">
                      <a:extLst>
                        <a:ext uri="{9D8B030D-6E8A-4147-A177-3AD203B41FA5}">
                          <a16:colId xmlns:a16="http://schemas.microsoft.com/office/drawing/2014/main" xmlns:a14="http://schemas.microsoft.com/office/drawing/2010/main" xmlns="" val="20002"/>
                        </a:ext>
                      </a:extLst>
                    </a:gridCol>
                    <a:gridCol w="1800000">
                      <a:extLst>
                        <a:ext uri="{9D8B030D-6E8A-4147-A177-3AD203B41FA5}">
                          <a16:colId xmlns:a16="http://schemas.microsoft.com/office/drawing/2014/main" xmlns:a14="http://schemas.microsoft.com/office/drawing/2010/main" xmlns="" val="20003"/>
                        </a:ext>
                      </a:extLst>
                    </a:gridCol>
                    <a:gridCol w="1800000">
                      <a:extLst>
                        <a:ext uri="{9D8B030D-6E8A-4147-A177-3AD203B41FA5}">
                          <a16:colId xmlns:a16="http://schemas.microsoft.com/office/drawing/2014/main" xmlns:a14="http://schemas.microsoft.com/office/drawing/2010/main" xmlns="" val="20004"/>
                        </a:ext>
                      </a:extLst>
                    </a:gridCol>
                  </a:tblGrid>
                  <a:tr h="108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65" r="-400678" b="-10056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9662" t="-565" r="-299324" b="-100565"/>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of the Square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the Square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Unit Tiles Left Over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080000">
                    <a:tc>
                      <a:txBody>
                        <a:bodyPr/>
                        <a:lstStyle/>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bl>
              </a:graphicData>
            </a:graphic>
          </p:graphicFrame>
        </mc:Fallback>
      </mc:AlternateContent>
      <p:pic>
        <p:nvPicPr>
          <p:cNvPr id="19" name="Picture 18" descr="Graphical user interface, application&#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4347207" y="260028"/>
            <a:ext cx="3828572" cy="2877946"/>
          </a:xfrm>
          <a:prstGeom prst="rect">
            <a:avLst/>
          </a:prstGeom>
        </p:spPr>
      </p:pic>
      <p:sp>
        <p:nvSpPr>
          <p:cNvPr id="2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1521769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78352"/>
                <a:ext cx="10515600" cy="2677656"/>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508000"/>
                <a:r>
                  <a:rPr lang="en-US" sz="2400" dirty="0">
                    <a:latin typeface="Verdana" panose="020B0604030504040204" pitchFamily="34" charset="0"/>
                    <a:ea typeface="Verdana" panose="020B0604030504040204" pitchFamily="34" charset="0"/>
                    <a:cs typeface="Verdana" panose="020B0604030504040204" pitchFamily="34" charset="0"/>
                  </a:rPr>
                  <a:t>The algebra tiles show an arrangement where part of the trinomial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+11</m:t>
                    </m:r>
                  </m:oMath>
                </a14:m>
                <a:r>
                  <a:rPr lang="en-US" sz="2400" dirty="0">
                    <a:latin typeface="Verdana" panose="020B0604030504040204" pitchFamily="34" charset="0"/>
                    <a:ea typeface="Verdana" panose="020B0604030504040204" pitchFamily="34" charset="0"/>
                    <a:cs typeface="Verdana" panose="020B0604030504040204" pitchFamily="34" charset="0"/>
                  </a:rPr>
                  <a:t> is made into a perfect square. The product mat shows that the area of the square is __________ with ____ tiles left over.  Therefore,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+11</m:t>
                    </m:r>
                  </m:oMath>
                </a14:m>
                <a:r>
                  <a:rPr lang="en-US" sz="24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(____________)</m:t>
                        </m:r>
                      </m:e>
                      <m:sup>
                        <m:r>
                          <a:rPr lang="en-US" sz="2400" i="1">
                            <a:latin typeface="Cambria Math" panose="02040503050406030204" pitchFamily="18" charset="0"/>
                            <a:ea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 _____.</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78352"/>
                <a:ext cx="10515600" cy="2677656"/>
              </a:xfrm>
              <a:prstGeom prst="rect">
                <a:avLst/>
              </a:prstGeom>
              <a:blipFill rotWithShape="1">
                <a:blip r:embed="rId4"/>
                <a:stretch>
                  <a:fillRect l="-870" t="-1822" b="-4100"/>
                </a:stretch>
              </a:blipFill>
            </p:spPr>
            <p:txBody>
              <a:bodyPr/>
              <a:lstStyle/>
              <a:p>
                <a:r>
                  <a:rPr lang="en-PH">
                    <a:noFill/>
                  </a:rPr>
                  <a:t> </a:t>
                </a:r>
              </a:p>
            </p:txBody>
          </p:sp>
        </mc:Fallback>
      </mc:AlternateContent>
      <p:grpSp>
        <p:nvGrpSpPr>
          <p:cNvPr id="6" name="Group 5"/>
          <p:cNvGrpSpPr/>
          <p:nvPr/>
        </p:nvGrpSpPr>
        <p:grpSpPr>
          <a:xfrm>
            <a:off x="2696510" y="3623687"/>
            <a:ext cx="6629400" cy="1504950"/>
            <a:chOff x="2031300" y="3275734"/>
            <a:chExt cx="6629400" cy="1505414"/>
          </a:xfrm>
        </p:grpSpPr>
        <p:grpSp>
          <p:nvGrpSpPr>
            <p:cNvPr id="7" name="Group 6"/>
            <p:cNvGrpSpPr/>
            <p:nvPr/>
          </p:nvGrpSpPr>
          <p:grpSpPr>
            <a:xfrm>
              <a:off x="2031300" y="3275734"/>
              <a:ext cx="6629400" cy="1505414"/>
              <a:chOff x="2031300" y="3275734"/>
              <a:chExt cx="6629400" cy="1505414"/>
            </a:xfrm>
          </p:grpSpPr>
          <p:sp>
            <p:nvSpPr>
              <p:cNvPr id="8" name="Rectangle 7"/>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p:cNvGrpSpPr/>
              <p:nvPr/>
            </p:nvGrpSpPr>
            <p:grpSpPr>
              <a:xfrm>
                <a:off x="2031300" y="3275734"/>
                <a:ext cx="6629400" cy="1505414"/>
                <a:chOff x="0" y="-1"/>
                <a:chExt cx="6629400" cy="1505414"/>
              </a:xfrm>
            </p:grpSpPr>
            <p:sp>
              <p:nvSpPr>
                <p:cNvPr id="10" name="Rectangle 9"/>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p:cNvGrpSpPr/>
                <p:nvPr/>
              </p:nvGrpSpPr>
              <p:grpSpPr>
                <a:xfrm>
                  <a:off x="0" y="-1"/>
                  <a:ext cx="6629400" cy="1505414"/>
                  <a:chOff x="0" y="-1"/>
                  <a:chExt cx="6629400" cy="1505414"/>
                </a:xfrm>
              </p:grpSpPr>
              <p:sp>
                <p:nvSpPr>
                  <p:cNvPr id="15" name="Rectangle 14"/>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6" name="Rectangle 15"/>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7" name="Rounded Rectangle 16"/>
                  <p:cNvSpPr/>
                  <p:nvPr/>
                </p:nvSpPr>
                <p:spPr>
                  <a:xfrm>
                    <a:off x="0" y="-1"/>
                    <a:ext cx="6629400" cy="150541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r>
                      <a:rPr lang="en-US" sz="2000" dirty="0">
                        <a:solidFill>
                          <a:srgbClr val="00619E"/>
                        </a:solidFill>
                        <a:latin typeface="Verdana" panose="020B0604030504040204" pitchFamily="34" charset="0"/>
                        <a:ea typeface="Times New Roman" panose="02020603050405020304" pitchFamily="18" charset="0"/>
                        <a:cs typeface="Arial" panose="020B0604020202020204" pitchFamily="34" charset="0"/>
                      </a:rPr>
                      <a:t>This process is known as </a:t>
                    </a:r>
                    <a:r>
                      <a:rPr lang="en-US" sz="2000" b="1" dirty="0">
                        <a:solidFill>
                          <a:srgbClr val="00619E"/>
                        </a:solidFill>
                        <a:latin typeface="Verdana" panose="020B0604030504040204" pitchFamily="34" charset="0"/>
                        <a:ea typeface="Times New Roman" panose="02020603050405020304" pitchFamily="18" charset="0"/>
                        <a:cs typeface="Arial" panose="020B0604020202020204" pitchFamily="34" charset="0"/>
                      </a:rPr>
                      <a:t>completing the square</a:t>
                    </a:r>
                    <a:r>
                      <a:rPr lang="en-US" sz="2000" dirty="0">
                        <a:solidFill>
                          <a:srgbClr val="00619E"/>
                        </a:solidFill>
                        <a:latin typeface="Verdana" panose="020B0604030504040204" pitchFamily="34" charset="0"/>
                        <a:ea typeface="Times New Roman" panose="02020603050405020304" pitchFamily="18" charset="0"/>
                        <a:cs typeface="Arial" panose="020B0604020202020204" pitchFamily="34" charset="0"/>
                      </a:rPr>
                      <a:t>. It is used to rewrite a quadratic expression, equation, or function from standard form to vertex form.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13" name="Shape 19"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1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2639906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28857" y="385093"/>
                <a:ext cx="10515600" cy="3046988"/>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The algebra tiles shown represent the expression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−12</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−9.</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algebra tiles are arranged onto a product mat. Work with your partner to determine how many positive 1-unit tiles should be added to complete the square.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28857" y="385093"/>
                <a:ext cx="10515600" cy="3046988"/>
              </a:xfrm>
              <a:prstGeom prst="rect">
                <a:avLst/>
              </a:prstGeom>
              <a:blipFill rotWithShape="1">
                <a:blip r:embed="rId4"/>
                <a:stretch>
                  <a:fillRect l="-928" t="-1800" b="-3600"/>
                </a:stretch>
              </a:blipFill>
            </p:spPr>
            <p:txBody>
              <a:bodyPr/>
              <a:lstStyle/>
              <a:p>
                <a:r>
                  <a:rPr lang="en-PH">
                    <a:noFill/>
                  </a:rPr>
                  <a:t> </a:t>
                </a:r>
              </a:p>
            </p:txBody>
          </p:sp>
        </mc:Fallback>
      </mc:AlternateContent>
      <p:pic>
        <p:nvPicPr>
          <p:cNvPr id="6" name="Picture 5" descr="Table&#10;&#10;Description automatically generated"/>
          <p:cNvPicPr/>
          <p:nvPr/>
        </p:nvPicPr>
        <p:blipFill>
          <a:blip r:embed="rId5">
            <a:extLst>
              <a:ext uri="{28A0092B-C50C-407E-A947-70E740481C1C}">
                <a14:useLocalDpi xmlns:a14="http://schemas.microsoft.com/office/drawing/2010/main"/>
              </a:ext>
            </a:extLst>
          </a:blip>
          <a:stretch>
            <a:fillRect/>
          </a:stretch>
        </p:blipFill>
        <p:spPr>
          <a:xfrm>
            <a:off x="2776094" y="796425"/>
            <a:ext cx="6021123" cy="1380871"/>
          </a:xfrm>
          <a:prstGeom prst="rect">
            <a:avLst/>
          </a:prstGeom>
        </p:spPr>
      </p:pic>
      <p:pic>
        <p:nvPicPr>
          <p:cNvPr id="7" name="Picture 6"/>
          <p:cNvPicPr/>
          <p:nvPr/>
        </p:nvPicPr>
        <p:blipFill>
          <a:blip r:embed="rId6">
            <a:extLst>
              <a:ext uri="{28A0092B-C50C-407E-A947-70E740481C1C}">
                <a14:useLocalDpi xmlns:a14="http://schemas.microsoft.com/office/drawing/2010/main"/>
              </a:ext>
            </a:extLst>
          </a:blip>
          <a:stretch>
            <a:fillRect/>
          </a:stretch>
        </p:blipFill>
        <p:spPr>
          <a:xfrm>
            <a:off x="3397448" y="3496388"/>
            <a:ext cx="4778418" cy="3032850"/>
          </a:xfrm>
          <a:prstGeom prst="rect">
            <a:avLst/>
          </a:prstGeom>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2059676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78349"/>
                <a:ext cx="10800000"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Since there are only </a:t>
                </a:r>
                <a14:m>
                  <m:oMath xmlns:m="http://schemas.openxmlformats.org/officeDocument/2006/math">
                    <m:r>
                      <a:rPr lang="en-US" sz="2400" i="1">
                        <a:latin typeface="Cambria Math" panose="02040503050406030204" pitchFamily="18" charset="0"/>
                        <a:ea typeface="Cambria Math" panose="02040503050406030204" pitchFamily="18" charset="0"/>
                      </a:rPr>
                      <m:t>9 </m:t>
                    </m:r>
                  </m:oMath>
                </a14:m>
                <a:r>
                  <a:rPr lang="en-US" sz="2400" dirty="0">
                    <a:latin typeface="Verdana" panose="020B0604030504040204" pitchFamily="34" charset="0"/>
                    <a:ea typeface="Verdana" panose="020B0604030504040204" pitchFamily="34" charset="0"/>
                    <a:cs typeface="Verdana" panose="020B0604030504040204" pitchFamily="34" charset="0"/>
                  </a:rPr>
                  <a:t>negative unit tiles, there are no positive unit tiles to place on the product mat. To add the unit squares needed, they will need to be “borrowed” from somewhere.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To complete the perfect square trinomial there needs to be ____ positive unit tiles added.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Adding only the positive unit tiles will completely change the original expression, so instead, for every positive unit tile added, add a negative unit tile. For each pair of positive and negative unit tiles added, the value actually being added to the expression is 0.</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78349"/>
                <a:ext cx="10800000" cy="4154984"/>
              </a:xfrm>
              <a:prstGeom prst="rect">
                <a:avLst/>
              </a:prstGeom>
              <a:blipFill rotWithShape="1">
                <a:blip r:embed="rId4"/>
                <a:stretch>
                  <a:fillRect l="-847" t="-1320" r="-1524" b="-2346"/>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139403087"/>
                  </p:ext>
                </p:extLst>
              </p:nvPr>
            </p:nvGraphicFramePr>
            <p:xfrm>
              <a:off x="2808923" y="4821403"/>
              <a:ext cx="5799005" cy="1440000"/>
            </p:xfrm>
            <a:graphic>
              <a:graphicData uri="http://schemas.openxmlformats.org/drawingml/2006/table">
                <a:tbl>
                  <a:tblPr firstRow="1" firstCol="1" bandRow="1">
                    <a:tableStyleId>{5940675A-B579-460E-94D1-54222C63F5DA}</a:tableStyleId>
                  </a:tblPr>
                  <a:tblGrid>
                    <a:gridCol w="3600000">
                      <a:extLst>
                        <a:ext uri="{9D8B030D-6E8A-4147-A177-3AD203B41FA5}">
                          <a16:colId xmlns="" xmlns:a16="http://schemas.microsoft.com/office/drawing/2014/main" val="20000"/>
                        </a:ext>
                      </a:extLst>
                    </a:gridCol>
                    <a:gridCol w="2199005">
                      <a:extLst>
                        <a:ext uri="{9D8B030D-6E8A-4147-A177-3AD203B41FA5}">
                          <a16:colId xmlns="" xmlns:a16="http://schemas.microsoft.com/office/drawing/2014/main" val="20001"/>
                        </a:ext>
                      </a:extLst>
                    </a:gridCol>
                  </a:tblGrid>
                  <a:tr h="1440000">
                    <a:tc>
                      <a:txBody>
                        <a:bodyPr/>
                        <a:lstStyle/>
                        <a:p>
                          <a:pPr marL="177800" marR="0" indent="0" algn="l">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 positive unit tile and a negative unit tile whose sum is </a:t>
                          </a:r>
                          <a14:m>
                            <m:oMath xmlns:m="http://schemas.openxmlformats.org/officeDocument/2006/math">
                              <m:r>
                                <a:rPr lang="en-US" sz="2000">
                                  <a:effectLst/>
                                  <a:latin typeface="Cambria Math" panose="02040503050406030204" pitchFamily="18" charset="0"/>
                                  <a:ea typeface="Cambria Math" panose="02040503050406030204" pitchFamily="18" charset="0"/>
                                </a:rPr>
                                <m:t>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139403087"/>
                  </p:ext>
                </p:extLst>
              </p:nvPr>
            </p:nvGraphicFramePr>
            <p:xfrm>
              <a:off x="2808923" y="4821403"/>
              <a:ext cx="5799005" cy="1440000"/>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a14="http://schemas.microsoft.com/office/drawing/2010/main" xmlns="" val="20000"/>
                        </a:ext>
                      </a:extLst>
                    </a:gridCol>
                    <a:gridCol w="2199005">
                      <a:extLst>
                        <a:ext uri="{9D8B030D-6E8A-4147-A177-3AD203B41FA5}">
                          <a16:colId xmlns:a16="http://schemas.microsoft.com/office/drawing/2014/main" xmlns:a14="http://schemas.microsoft.com/office/drawing/2010/main" xmlns="" val="20001"/>
                        </a:ext>
                      </a:extLst>
                    </a:gridCol>
                  </a:tblGrid>
                  <a:tr h="14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t="-424" r="-61356" b="-42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bl>
              </a:graphicData>
            </a:graphic>
          </p:graphicFrame>
        </mc:Fallback>
      </mc:AlternateContent>
      <p:pic>
        <p:nvPicPr>
          <p:cNvPr id="10" name="Picture 9" descr="Icon&#10;&#10;Description automatically generated"/>
          <p:cNvPicPr/>
          <p:nvPr/>
        </p:nvPicPr>
        <p:blipFill>
          <a:blip r:embed="rId6" cstate="screen">
            <a:extLst>
              <a:ext uri="{28A0092B-C50C-407E-A947-70E740481C1C}">
                <a14:useLocalDpi xmlns:a14="http://schemas.microsoft.com/office/drawing/2010/main"/>
              </a:ext>
            </a:extLst>
          </a:blip>
          <a:stretch>
            <a:fillRect/>
          </a:stretch>
        </p:blipFill>
        <p:spPr>
          <a:xfrm>
            <a:off x="7066840" y="5336663"/>
            <a:ext cx="419100" cy="419100"/>
          </a:xfrm>
          <a:prstGeom prst="rect">
            <a:avLst/>
          </a:prstGeom>
        </p:spPr>
      </p:pic>
      <p:pic>
        <p:nvPicPr>
          <p:cNvPr id="11" name="Picture 10" descr="Icon&#10;&#10;Description automatically generated"/>
          <p:cNvPicPr/>
          <p:nvPr/>
        </p:nvPicPr>
        <p:blipFill>
          <a:blip r:embed="rId7" cstate="screen">
            <a:extLst>
              <a:ext uri="{28A0092B-C50C-407E-A947-70E740481C1C}">
                <a14:useLocalDpi xmlns:a14="http://schemas.microsoft.com/office/drawing/2010/main"/>
              </a:ext>
            </a:extLst>
          </a:blip>
          <a:stretch>
            <a:fillRect/>
          </a:stretch>
        </p:blipFill>
        <p:spPr>
          <a:xfrm>
            <a:off x="7485940" y="5336663"/>
            <a:ext cx="419100" cy="419100"/>
          </a:xfrm>
          <a:prstGeom prst="rect">
            <a:avLst/>
          </a:prstGeom>
        </p:spPr>
      </p:pic>
      <p:sp>
        <p:nvSpPr>
          <p:cNvPr id="13"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4266010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59" y="378049"/>
                <a:ext cx="10800000" cy="5674759"/>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product mat by drawing the positive unit tiles needed. Then, below the original nine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unit tiles, draw the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smtClean="0">
                    <a:latin typeface="Verdana" panose="020B0604030504040204" pitchFamily="34" charset="0"/>
                    <a:ea typeface="Verdana" panose="020B0604030504040204" pitchFamily="34" charset="0"/>
                    <a:cs typeface="Verdana" panose="020B0604030504040204" pitchFamily="34" charset="0"/>
                  </a:rPr>
                  <a:t>unit </a:t>
                </a:r>
                <a:r>
                  <a:rPr lang="en-US" sz="2000" dirty="0">
                    <a:latin typeface="Verdana" panose="020B0604030504040204" pitchFamily="34" charset="0"/>
                    <a:ea typeface="Verdana" panose="020B0604030504040204" pitchFamily="34" charset="0"/>
                    <a:cs typeface="Verdana" panose="020B0604030504040204" pitchFamily="34" charset="0"/>
                  </a:rPr>
                  <a:t>tiles that must be added so that the sum being added is </a:t>
                </a:r>
                <a14:m>
                  <m:oMath xmlns:m="http://schemas.openxmlformats.org/officeDocument/2006/math">
                    <m:r>
                      <a:rPr lang="en-US" sz="2000" i="1">
                        <a:latin typeface="Cambria Math" panose="02040503050406030204" pitchFamily="18" charset="0"/>
                        <a:ea typeface="Cambria Math" panose="02040503050406030204" pitchFamily="18"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Use the algebra tiles on the completed product mat to complete the chart.</a:t>
                </a: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On the product mat, draw the length of each side of the square to show each factor.</a:t>
                </a: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The product mat shows that the area of the square is ______ with ____ tiles left over. Therefore, </a:t>
                </a:r>
                <a14:m>
                  <m:oMath xmlns:m="http://schemas.openxmlformats.org/officeDocument/2006/math">
                    <m:sSup>
                      <m:sSupPr>
                        <m:ctrlPr>
                          <a:rPr lang="en-US" sz="2000" i="1">
                            <a:latin typeface="Cambria Math"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𝑥</m:t>
                        </m:r>
                      </m:e>
                      <m:sup>
                        <m:r>
                          <a:rPr lang="en-US" sz="2000" i="1">
                            <a:latin typeface="Cambria Math" panose="02040503050406030204" pitchFamily="18" charset="0"/>
                            <a:ea typeface="Verdana" panose="020B0604030504040204" pitchFamily="34" charset="0"/>
                            <a:cs typeface="Verdana" panose="020B0604030504040204" pitchFamily="34" charset="0"/>
                          </a:rPr>
                          <m:t>2</m:t>
                        </m:r>
                      </m:sup>
                    </m:sSup>
                    <m:r>
                      <a:rPr lang="en-US" sz="2000" i="1">
                        <a:latin typeface="Cambria Math" panose="02040503050406030204" pitchFamily="18" charset="0"/>
                        <a:ea typeface="Verdana" panose="020B0604030504040204" pitchFamily="34" charset="0"/>
                        <a:cs typeface="Verdana" panose="020B0604030504040204" pitchFamily="34" charset="0"/>
                      </a:rPr>
                      <m:t>−12</m:t>
                    </m:r>
                    <m:r>
                      <a:rPr lang="en-US" sz="2000" i="1">
                        <a:latin typeface="Cambria Math" panose="02040503050406030204" pitchFamily="18" charset="0"/>
                        <a:ea typeface="Verdana" panose="020B0604030504040204" pitchFamily="34" charset="0"/>
                        <a:cs typeface="Verdana" panose="020B0604030504040204" pitchFamily="34" charset="0"/>
                      </a:rPr>
                      <m:t>𝑥</m:t>
                    </m:r>
                    <m:r>
                      <a:rPr lang="en-US" sz="2000" i="1">
                        <a:latin typeface="Cambria Math" panose="02040503050406030204" pitchFamily="18" charset="0"/>
                        <a:ea typeface="Verdana" panose="020B0604030504040204" pitchFamily="34" charset="0"/>
                        <a:cs typeface="Verdana" panose="020B0604030504040204" pitchFamily="34"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sSup>
                      <m:sSupPr>
                        <m:ctrlPr>
                          <a:rPr lang="en-US" sz="2000" i="1">
                            <a:latin typeface="Cambria Math" charset="0"/>
                            <a:ea typeface="Verdana" panose="020B0604030504040204" pitchFamily="34" charset="0"/>
                            <a:cs typeface="Verdana" panose="020B0604030504040204" pitchFamily="34" charset="0"/>
                          </a:rPr>
                        </m:ctrlPr>
                      </m:sSupPr>
                      <m:e>
                        <m:r>
                          <m:rPr>
                            <m:nor/>
                          </m:rPr>
                          <a:rPr lang="en-US" sz="2000" dirty="0">
                            <a:latin typeface="Verdana" panose="020B0604030504040204" pitchFamily="34" charset="0"/>
                            <a:ea typeface="Verdana" panose="020B0604030504040204" pitchFamily="34" charset="0"/>
                            <a:cs typeface="Verdana" panose="020B0604030504040204" pitchFamily="34" charset="0"/>
                          </a:rPr>
                          <m:t>(_________)</m:t>
                        </m:r>
                      </m:e>
                      <m:sup>
                        <m:r>
                          <a:rPr lang="en-US" sz="2000" i="1">
                            <a:latin typeface="Cambria Math" panose="02040503050406030204" pitchFamily="18" charset="0"/>
                            <a:ea typeface="Verdana" panose="020B0604030504040204" pitchFamily="34" charset="0"/>
                            <a:cs typeface="Verdana" panose="020B0604030504040204" pitchFamily="34" charset="0"/>
                          </a:rPr>
                          <m:t>2</m:t>
                        </m:r>
                      </m:sup>
                    </m:sSup>
                    <m:r>
                      <a:rPr lang="en-US" sz="2000" i="1">
                        <a:latin typeface="Cambria Math" panose="02040503050406030204" pitchFamily="18" charset="0"/>
                        <a:ea typeface="Verdana" panose="020B0604030504040204" pitchFamily="34" charset="0"/>
                        <a:cs typeface="Verdana" panose="020B0604030504040204" pitchFamily="34" charset="0"/>
                      </a:rPr>
                      <m:t>+_________</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59" y="378049"/>
                <a:ext cx="10800000" cy="5674759"/>
              </a:xfrm>
              <a:prstGeom prst="rect">
                <a:avLst/>
              </a:prstGeom>
              <a:blipFill rotWithShape="1">
                <a:blip r:embed="rId4"/>
                <a:stretch>
                  <a:fillRect t="-644" b="-967"/>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863813278"/>
                  </p:ext>
                </p:extLst>
              </p:nvPr>
            </p:nvGraphicFramePr>
            <p:xfrm>
              <a:off x="1623062" y="2150841"/>
              <a:ext cx="9000000" cy="1628640"/>
            </p:xfrm>
            <a:graphic>
              <a:graphicData uri="http://schemas.openxmlformats.org/drawingml/2006/table">
                <a:tbl>
                  <a:tblPr firstRow="1" firstCol="1" bandRow="1">
                    <a:tableStyleId>{5940675A-B579-460E-94D1-54222C63F5DA}</a:tableStyleId>
                  </a:tblPr>
                  <a:tblGrid>
                    <a:gridCol w="1800000">
                      <a:extLst>
                        <a:ext uri="{9D8B030D-6E8A-4147-A177-3AD203B41FA5}">
                          <a16:colId xmlns="" xmlns:a16="http://schemas.microsoft.com/office/drawing/2014/main" val="20000"/>
                        </a:ext>
                      </a:extLst>
                    </a:gridCol>
                    <a:gridCol w="1800000">
                      <a:extLst>
                        <a:ext uri="{9D8B030D-6E8A-4147-A177-3AD203B41FA5}">
                          <a16:colId xmlns="" xmlns:a16="http://schemas.microsoft.com/office/drawing/2014/main" val="20001"/>
                        </a:ext>
                      </a:extLst>
                    </a:gridCol>
                    <a:gridCol w="1800000">
                      <a:extLst>
                        <a:ext uri="{9D8B030D-6E8A-4147-A177-3AD203B41FA5}">
                          <a16:colId xmlns="" xmlns:a16="http://schemas.microsoft.com/office/drawing/2014/main" val="20002"/>
                        </a:ext>
                      </a:extLst>
                    </a:gridCol>
                    <a:gridCol w="1800000">
                      <a:extLst>
                        <a:ext uri="{9D8B030D-6E8A-4147-A177-3AD203B41FA5}">
                          <a16:colId xmlns="" xmlns:a16="http://schemas.microsoft.com/office/drawing/2014/main" val="20003"/>
                        </a:ext>
                      </a:extLst>
                    </a:gridCol>
                    <a:gridCol w="1800000">
                      <a:extLst>
                        <a:ext uri="{9D8B030D-6E8A-4147-A177-3AD203B41FA5}">
                          <a16:colId xmlns="" xmlns:a16="http://schemas.microsoft.com/office/drawing/2014/main" val="20004"/>
                        </a:ext>
                      </a:extLst>
                    </a:gridCol>
                  </a:tblGrid>
                  <a:tr h="108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14:m>
                            <m:oMath xmlns:m="http://schemas.openxmlformats.org/officeDocument/2006/math">
                              <m:sSup>
                                <m:sSupPr>
                                  <m:ctrlPr>
                                    <a:rPr lang="en-US" sz="2000" b="1" i="1">
                                      <a:effectLst/>
                                      <a:latin typeface="Cambria Math" charset="0"/>
                                      <a:ea typeface="Cambria Math" panose="02040503050406030204" pitchFamily="18" charset="0"/>
                                    </a:rPr>
                                  </m:ctrlPr>
                                </m:sSupPr>
                                <m:e>
                                  <m:r>
                                    <a:rPr lang="en-US" sz="2000" b="1" i="1">
                                      <a:effectLst/>
                                      <a:latin typeface="Cambria Math" panose="02040503050406030204" pitchFamily="18" charset="0"/>
                                      <a:ea typeface="Cambria Math" panose="02040503050406030204" pitchFamily="18" charset="0"/>
                                    </a:rPr>
                                    <m:t>𝒙</m:t>
                                  </m:r>
                                </m:e>
                                <m:sup>
                                  <m:r>
                                    <a:rPr lang="en-US" sz="2000" b="1" i="1">
                                      <a:effectLst/>
                                      <a:latin typeface="Cambria Math" panose="02040503050406030204" pitchFamily="18" charset="0"/>
                                      <a:ea typeface="Cambria Math" panose="02040503050406030204" pitchFamily="18" charset="0"/>
                                    </a:rPr>
                                    <m:t>𝟐</m:t>
                                  </m:r>
                                </m:sup>
                              </m:sSup>
                            </m:oMath>
                          </a14:m>
                          <a:r>
                            <a:rPr lang="en-US" sz="2000" b="1" dirty="0">
                              <a:effectLst/>
                              <a:latin typeface="Verdana" panose="020B0604030504040204" pitchFamily="34" charset="0"/>
                              <a:ea typeface="Verdana" panose="020B0604030504040204" pitchFamily="34" charset="0"/>
                              <a:cs typeface="Verdana" panose="020B0604030504040204" pitchFamily="34" charset="0"/>
                            </a:rPr>
                            <a:t> Tiles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14:m>
                            <m:oMath xmlns:m="http://schemas.openxmlformats.org/officeDocument/2006/math">
                              <m:r>
                                <a:rPr lang="en-US" sz="2000" b="1" i="1">
                                  <a:effectLst/>
                                  <a:latin typeface="Cambria Math" panose="02040503050406030204" pitchFamily="18" charset="0"/>
                                  <a:ea typeface="Cambria Math" panose="02040503050406030204" pitchFamily="18" charset="0"/>
                                </a:rPr>
                                <m:t>𝒙</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Tiles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of the Square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the Square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Unit Tiles Left Over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00025">
                    <a:tc>
                      <a:txBody>
                        <a:bodyPr/>
                        <a:lstStyle/>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863813278"/>
                  </p:ext>
                </p:extLst>
              </p:nvPr>
            </p:nvGraphicFramePr>
            <p:xfrm>
              <a:off x="1623062" y="2150841"/>
              <a:ext cx="9000000" cy="1628640"/>
            </p:xfrm>
            <a:graphic>
              <a:graphicData uri="http://schemas.openxmlformats.org/drawingml/2006/table">
                <a:tbl>
                  <a:tblPr firstRow="1" firstCol="1" bandRow="1">
                    <a:tableStyleId>{5940675A-B579-460E-94D1-54222C63F5DA}</a:tableStyleId>
                  </a:tblPr>
                  <a:tblGrid>
                    <a:gridCol w="180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1800000">
                      <a:extLst>
                        <a:ext uri="{9D8B030D-6E8A-4147-A177-3AD203B41FA5}">
                          <a16:colId xmlns:a16="http://schemas.microsoft.com/office/drawing/2014/main" xmlns:a14="http://schemas.microsoft.com/office/drawing/2010/main" xmlns="" val="20002"/>
                        </a:ext>
                      </a:extLst>
                    </a:gridCol>
                    <a:gridCol w="1800000">
                      <a:extLst>
                        <a:ext uri="{9D8B030D-6E8A-4147-A177-3AD203B41FA5}">
                          <a16:colId xmlns:a16="http://schemas.microsoft.com/office/drawing/2014/main" xmlns:a14="http://schemas.microsoft.com/office/drawing/2010/main" xmlns="" val="20003"/>
                        </a:ext>
                      </a:extLst>
                    </a:gridCol>
                    <a:gridCol w="1800000">
                      <a:extLst>
                        <a:ext uri="{9D8B030D-6E8A-4147-A177-3AD203B41FA5}">
                          <a16:colId xmlns:a16="http://schemas.microsoft.com/office/drawing/2014/main" xmlns:a14="http://schemas.microsoft.com/office/drawing/2010/main" xmlns="" val="20004"/>
                        </a:ext>
                      </a:extLst>
                    </a:gridCol>
                  </a:tblGrid>
                  <a:tr h="108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565" r="-400678" b="-5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9662" t="-565" r="-299324" b="-50847"/>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of the Square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the Square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Unit Tiles Left Over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548640">
                    <a:tc>
                      <a:txBody>
                        <a:bodyPr/>
                        <a:lstStyle/>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2401525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80284"/>
                <a:ext cx="10800000" cy="5632311"/>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The algebra tiles on the product mat represent the expression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+5.</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positive unit tiles are needed to complete the square?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80284"/>
                <a:ext cx="10800000" cy="5632311"/>
              </a:xfrm>
              <a:prstGeom prst="rect">
                <a:avLst/>
              </a:prstGeom>
              <a:blipFill rotWithShape="1">
                <a:blip r:embed="rId4"/>
                <a:stretch>
                  <a:fillRect l="-847" t="-866" b="-1515"/>
                </a:stretch>
              </a:blipFill>
            </p:spPr>
            <p:txBody>
              <a:bodyPr/>
              <a:lstStyle/>
              <a:p>
                <a:r>
                  <a:rPr lang="en-PH">
                    <a:noFill/>
                  </a:rPr>
                  <a:t> </a:t>
                </a:r>
              </a:p>
            </p:txBody>
          </p:sp>
        </mc:Fallback>
      </mc:AlternateContent>
      <p:pic>
        <p:nvPicPr>
          <p:cNvPr id="6" name="Picture 5" descr="Graphical user interface, application&#10;&#10;Description automatically generated"/>
          <p:cNvPicPr/>
          <p:nvPr/>
        </p:nvPicPr>
        <p:blipFill>
          <a:blip r:embed="rId5">
            <a:extLst>
              <a:ext uri="{28A0092B-C50C-407E-A947-70E740481C1C}">
                <a14:useLocalDpi xmlns:a14="http://schemas.microsoft.com/office/drawing/2010/main"/>
              </a:ext>
            </a:extLst>
          </a:blip>
          <a:stretch>
            <a:fillRect/>
          </a:stretch>
        </p:blipFill>
        <p:spPr>
          <a:xfrm>
            <a:off x="4026693" y="1236569"/>
            <a:ext cx="3527531" cy="3316033"/>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4266343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78350"/>
                <a:ext cx="10800000" cy="4893647"/>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Add the positive unit tiles to complete the square and the same number of negative unit tiles to the side of the product mat. Show the addition of these tiles by drawing them.</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On the product mat draw the length of each side of the square to show each factor. </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(____________)</m:t>
                        </m:r>
                      </m:e>
                      <m:sup>
                        <m:r>
                          <a:rPr lang="en-US" sz="2400" i="1">
                            <a:latin typeface="Cambria Math" panose="02040503050406030204" pitchFamily="18" charset="0"/>
                            <a:ea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+_____.</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78350"/>
                <a:ext cx="10800000" cy="4893647"/>
              </a:xfrm>
              <a:prstGeom prst="rect">
                <a:avLst/>
              </a:prstGeom>
              <a:blipFill rotWithShape="1">
                <a:blip r:embed="rId4"/>
                <a:stretch>
                  <a:fillRect t="-996" r="-1467"/>
                </a:stretch>
              </a:blipFill>
            </p:spPr>
            <p:txBody>
              <a:bodyPr/>
              <a:lstStyle/>
              <a:p>
                <a:r>
                  <a:rPr lang="en-PH">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991907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41537" y="385829"/>
                <a:ext cx="10515600" cy="5940088"/>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The algebra tiles on the product mat represent the expression </a:t>
                </a:r>
                <a14:m>
                  <m:oMath xmlns:m="http://schemas.openxmlformats.org/officeDocument/2006/math">
                    <m:sSup>
                      <m:sSupPr>
                        <m:ctrlPr>
                          <a:rPr lang="en-US" sz="2000" i="1">
                            <a:latin typeface="Cambria Math"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+16</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+55.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smtClean="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On the product mat, complete the square and draw the length of each square to show each factor.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sSup>
                      <m:sSupPr>
                        <m:ctrlPr>
                          <a:rPr lang="en-US" sz="2000" i="1">
                            <a:latin typeface="Cambria Math"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+16</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+55</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sSup>
                      <m:sSupPr>
                        <m:ctrlPr>
                          <a:rPr lang="en-US" sz="2000" i="1">
                            <a:latin typeface="Cambria Math"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(____________)</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 _____.</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41537" y="385829"/>
                <a:ext cx="10515600" cy="5940088"/>
              </a:xfrm>
              <a:prstGeom prst="rect">
                <a:avLst/>
              </a:prstGeom>
              <a:blipFill rotWithShape="1">
                <a:blip r:embed="rId4"/>
                <a:stretch>
                  <a:fillRect l="-638" t="-615" b="-821"/>
                </a:stretch>
              </a:blipFill>
            </p:spPr>
            <p:txBody>
              <a:bodyPr/>
              <a:lstStyle/>
              <a:p>
                <a:r>
                  <a:rPr lang="en-PH">
                    <a:noFill/>
                  </a:rPr>
                  <a:t> </a:t>
                </a:r>
              </a:p>
            </p:txBody>
          </p:sp>
        </mc:Fallback>
      </mc:AlternateContent>
      <p:pic>
        <p:nvPicPr>
          <p:cNvPr id="6" name="Picture 5" descr="A picture containing text, electronics&#10;&#10;Description automatically generated"/>
          <p:cNvPicPr/>
          <p:nvPr/>
        </p:nvPicPr>
        <p:blipFill>
          <a:blip r:embed="rId5">
            <a:extLst>
              <a:ext uri="{28A0092B-C50C-407E-A947-70E740481C1C}">
                <a14:useLocalDpi xmlns:a14="http://schemas.microsoft.com/office/drawing/2010/main"/>
              </a:ext>
            </a:extLst>
          </a:blip>
          <a:stretch>
            <a:fillRect/>
          </a:stretch>
        </p:blipFill>
        <p:spPr>
          <a:xfrm>
            <a:off x="3491324" y="925508"/>
            <a:ext cx="4616026" cy="3942566"/>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2948131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2519" y="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8.5.3 Collaboration: Conjectures </a:t>
            </a:r>
            <a:r>
              <a:rPr lang="en-US" sz="3600" b="1" dirty="0" smtClean="0">
                <a:solidFill>
                  <a:srgbClr val="33BEA6"/>
                </a:solidFill>
                <a:latin typeface="Verdana"/>
                <a:ea typeface="Verdana"/>
                <a:cs typeface="Verdana"/>
                <a:sym typeface="Verdana"/>
              </a:rPr>
              <a:t>About </a:t>
            </a:r>
            <a:r>
              <a:rPr lang="en-US" sz="3600" b="1" dirty="0">
                <a:solidFill>
                  <a:srgbClr val="33BEA6"/>
                </a:solidFill>
                <a:latin typeface="Verdana"/>
                <a:ea typeface="Verdana"/>
                <a:cs typeface="Verdana"/>
                <a:sym typeface="Verdana"/>
              </a:rPr>
              <a:t>Completing the Square</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6784" y="28848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E44DF7DE-9172-3E4E-B74A-7A51585FB6EA}"/>
                  </a:ext>
                </a:extLst>
              </p:cNvPr>
              <p:cNvSpPr txBox="1"/>
              <p:nvPr/>
            </p:nvSpPr>
            <p:spPr>
              <a:xfrm>
                <a:off x="532659" y="1462689"/>
                <a:ext cx="10515600"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answer the questions.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number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’s along the top of each model and the number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’s along the left side of each model?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is the relationship between the coefficient of the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-term of the quadratic in standard form and the number of unit tiles along the left side of the model?</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659" y="1462689"/>
                <a:ext cx="10515600" cy="4154984"/>
              </a:xfrm>
              <a:prstGeom prst="rect">
                <a:avLst/>
              </a:prstGeom>
              <a:blipFill rotWithShape="1">
                <a:blip r:embed="rId5"/>
                <a:stretch>
                  <a:fillRect l="-870" t="-1173" b="-2346"/>
                </a:stretch>
              </a:blipFill>
            </p:spPr>
            <p:txBody>
              <a:bodyPr/>
              <a:lstStyle/>
              <a:p>
                <a:r>
                  <a:rPr lang="en-PH">
                    <a:noFill/>
                  </a:rPr>
                  <a:t> </a:t>
                </a:r>
              </a:p>
            </p:txBody>
          </p:sp>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79888"/>
                <a:ext cx="10800000" cy="5632311"/>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table shows the four quadratic expressions from the Exploration.</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smtClean="0">
                    <a:latin typeface="Verdana" panose="020B0604030504040204" pitchFamily="34" charset="0"/>
                    <a:ea typeface="Verdana" panose="020B0604030504040204" pitchFamily="34" charset="0"/>
                    <a:cs typeface="Verdana" panose="020B0604030504040204" pitchFamily="34" charset="0"/>
                  </a:rPr>
                  <a:t>Make </a:t>
                </a:r>
                <a:r>
                  <a:rPr lang="en-US" sz="2000" dirty="0">
                    <a:latin typeface="Verdana" panose="020B0604030504040204" pitchFamily="34" charset="0"/>
                    <a:ea typeface="Verdana" panose="020B0604030504040204" pitchFamily="34" charset="0"/>
                    <a:cs typeface="Verdana" panose="020B0604030504040204" pitchFamily="34" charset="0"/>
                  </a:rPr>
                  <a:t>a conjecture about how </a:t>
                </a:r>
                <a14:m>
                  <m:oMath xmlns:m="http://schemas.openxmlformats.org/officeDocument/2006/math">
                    <m:r>
                      <a:rPr lang="en-US" sz="2000" i="1">
                        <a:latin typeface="Cambria Math" panose="02040503050406030204" pitchFamily="18" charset="0"/>
                        <a:ea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 the coefficient of the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-term, of the quadratic expression in standard form,</a:t>
                </a:r>
                <a14:m>
                  <m:oMath xmlns:m="http://schemas.openxmlformats.org/officeDocument/2006/math">
                    <m:r>
                      <a:rPr lang="en-US" sz="2000" i="1">
                        <a:latin typeface="Cambria Math" panose="02040503050406030204" pitchFamily="18" charset="0"/>
                        <a:ea typeface="Cambria Math" panose="02040503050406030204" pitchFamily="18" charset="0"/>
                      </a:rPr>
                      <m:t> </m:t>
                    </m:r>
                    <m:sSup>
                      <m:sSupPr>
                        <m:ctrlPr>
                          <a:rPr lang="en-US" sz="2000" i="1">
                            <a:latin typeface="Cambria Math"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𝑏𝑥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𝑐</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related to the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ea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-value of the equivalent quadratic expression in vertex form, </a:t>
                </a:r>
                <a14:m>
                  <m:oMath xmlns:m="http://schemas.openxmlformats.org/officeDocument/2006/math">
                    <m:sSup>
                      <m:sSupPr>
                        <m:ctrlPr>
                          <a:rPr lang="en-US" sz="2000" i="1">
                            <a:latin typeface="Cambria Math" charset="0"/>
                            <a:ea typeface="Cambria Math" panose="02040503050406030204" pitchFamily="18" charset="0"/>
                          </a:rPr>
                        </m:ctrlPr>
                      </m:sSupPr>
                      <m:e>
                        <m:d>
                          <m:dPr>
                            <m:ctrlPr>
                              <a:rPr lang="en-US" sz="2000" i="1">
                                <a:latin typeface="Cambria Math"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h</m:t>
                            </m:r>
                          </m:e>
                        </m:d>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Make a conjecture on how to determine the </a:t>
                </a:r>
                <a14:m>
                  <m:oMath xmlns:m="http://schemas.openxmlformats.org/officeDocument/2006/math">
                    <m:r>
                      <a:rPr lang="en-US" sz="2000" i="1">
                        <a:latin typeface="Cambria Math" panose="02040503050406030204" pitchFamily="18" charset="0"/>
                        <a:ea typeface="Cambria Math" panose="02040503050406030204" pitchFamily="18" charset="0"/>
                      </a:rPr>
                      <m:t>𝑘</m:t>
                    </m:r>
                  </m:oMath>
                </a14:m>
                <a:r>
                  <a:rPr lang="en-US" sz="2000" dirty="0">
                    <a:latin typeface="Verdana" panose="020B0604030504040204" pitchFamily="34" charset="0"/>
                    <a:ea typeface="Verdana" panose="020B0604030504040204" pitchFamily="34" charset="0"/>
                    <a:cs typeface="Verdana" panose="020B0604030504040204" pitchFamily="34" charset="0"/>
                  </a:rPr>
                  <a:t>-value in vertex form of a quadratic expression from standard form.</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79888"/>
                <a:ext cx="10800000" cy="5632311"/>
              </a:xfrm>
              <a:prstGeom prst="rect">
                <a:avLst/>
              </a:prstGeom>
              <a:blipFill rotWithShape="1">
                <a:blip r:embed="rId4"/>
                <a:stretch>
                  <a:fillRect l="-564" t="-649" b="-974"/>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78520130"/>
                  </p:ext>
                </p:extLst>
              </p:nvPr>
            </p:nvGraphicFramePr>
            <p:xfrm>
              <a:off x="1122091" y="918632"/>
              <a:ext cx="10440000" cy="2160000"/>
            </p:xfrm>
            <a:graphic>
              <a:graphicData uri="http://schemas.openxmlformats.org/drawingml/2006/table">
                <a:tbl>
                  <a:tblPr firstRow="1" firstCol="1" bandRow="1">
                    <a:tableStyleId>{5940675A-B579-460E-94D1-54222C63F5DA}</a:tableStyleId>
                  </a:tblPr>
                  <a:tblGrid>
                    <a:gridCol w="1800000">
                      <a:extLst>
                        <a:ext uri="{9D8B030D-6E8A-4147-A177-3AD203B41FA5}">
                          <a16:colId xmlns="" xmlns:a16="http://schemas.microsoft.com/office/drawing/2014/main" val="20000"/>
                        </a:ext>
                      </a:extLst>
                    </a:gridCol>
                    <a:gridCol w="216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gridCol w="2160000">
                      <a:extLst>
                        <a:ext uri="{9D8B030D-6E8A-4147-A177-3AD203B41FA5}">
                          <a16:colId xmlns="" xmlns:a16="http://schemas.microsoft.com/office/drawing/2014/main" val="20003"/>
                        </a:ext>
                      </a:extLst>
                    </a:gridCol>
                    <a:gridCol w="2160000">
                      <a:extLst>
                        <a:ext uri="{9D8B030D-6E8A-4147-A177-3AD203B41FA5}">
                          <a16:colId xmlns="" xmlns:a16="http://schemas.microsoft.com/office/drawing/2014/main" val="20004"/>
                        </a:ext>
                      </a:extLst>
                    </a:gridCol>
                  </a:tblGrid>
                  <a:tr h="72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A</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B</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C</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Standard Form</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−6</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+11</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−12</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−9</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+8</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+16</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+55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Vertex Form</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−3</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−6</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−45</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+4</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+8</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−9</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78520130"/>
                  </p:ext>
                </p:extLst>
              </p:nvPr>
            </p:nvGraphicFramePr>
            <p:xfrm>
              <a:off x="1122091" y="918632"/>
              <a:ext cx="10440000" cy="2160000"/>
            </p:xfrm>
            <a:graphic>
              <a:graphicData uri="http://schemas.openxmlformats.org/drawingml/2006/table">
                <a:tbl>
                  <a:tblPr firstRow="1" firstCol="1" bandRow="1">
                    <a:tableStyleId>{5940675A-B579-460E-94D1-54222C63F5DA}</a:tableStyleId>
                  </a:tblPr>
                  <a:tblGrid>
                    <a:gridCol w="1800000">
                      <a:extLst>
                        <a:ext uri="{9D8B030D-6E8A-4147-A177-3AD203B41FA5}">
                          <a16:colId xmlns:a16="http://schemas.microsoft.com/office/drawing/2014/main" xmlns:a14="http://schemas.microsoft.com/office/drawing/2010/main" xmlns="" val="20000"/>
                        </a:ext>
                      </a:extLst>
                    </a:gridCol>
                    <a:gridCol w="2160000">
                      <a:extLst>
                        <a:ext uri="{9D8B030D-6E8A-4147-A177-3AD203B41FA5}">
                          <a16:colId xmlns:a16="http://schemas.microsoft.com/office/drawing/2014/main" xmlns:a14="http://schemas.microsoft.com/office/drawing/2010/main" xmlns="" val="20001"/>
                        </a:ext>
                      </a:extLst>
                    </a:gridCol>
                    <a:gridCol w="2160000">
                      <a:extLst>
                        <a:ext uri="{9D8B030D-6E8A-4147-A177-3AD203B41FA5}">
                          <a16:colId xmlns:a16="http://schemas.microsoft.com/office/drawing/2014/main" xmlns:a14="http://schemas.microsoft.com/office/drawing/2010/main" xmlns="" val="20002"/>
                        </a:ext>
                      </a:extLst>
                    </a:gridCol>
                    <a:gridCol w="2160000">
                      <a:extLst>
                        <a:ext uri="{9D8B030D-6E8A-4147-A177-3AD203B41FA5}">
                          <a16:colId xmlns:a16="http://schemas.microsoft.com/office/drawing/2014/main" xmlns:a14="http://schemas.microsoft.com/office/drawing/2010/main" xmlns="" val="20003"/>
                        </a:ext>
                      </a:extLst>
                    </a:gridCol>
                    <a:gridCol w="2160000">
                      <a:extLst>
                        <a:ext uri="{9D8B030D-6E8A-4147-A177-3AD203B41FA5}">
                          <a16:colId xmlns:a16="http://schemas.microsoft.com/office/drawing/2014/main" xmlns:a14="http://schemas.microsoft.com/office/drawing/2010/main" xmlns="" val="20004"/>
                        </a:ext>
                      </a:extLst>
                    </a:gridCol>
                  </a:tblGrid>
                  <a:tr h="72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A</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B</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C</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Quadratic Expression 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Standard Form</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83099" t="-103390" r="-299437" b="-11355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3616" t="-103390" r="-200282" b="-11355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82817" t="-103390" r="-99718" b="-11355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83898" t="-103390" b="-113559"/>
                          </a:stretch>
                        </a:blipFill>
                      </a:tcPr>
                    </a:tc>
                    <a:extLst>
                      <a:ext uri="{0D108BD9-81ED-4DB2-BD59-A6C34878D82A}">
                        <a16:rowId xmlns:a16="http://schemas.microsoft.com/office/drawing/2014/main" xmlns:a14="http://schemas.microsoft.com/office/drawing/2010/main" xmlns="" val="10001"/>
                      </a:ext>
                    </a:extLst>
                  </a:tr>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Vertex Form</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83099" t="-203390" r="-299437" b="-1355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3616" t="-203390" r="-200282" b="-1355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82817" t="-203390" r="-99718" b="-1355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83898" t="-203390" b="-13559"/>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1195238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78351"/>
                <a:ext cx="10800000" cy="5940088"/>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Use your conjectures to determine both the </a:t>
                </a:r>
                <a14:m>
                  <m:oMath xmlns:m="http://schemas.openxmlformats.org/officeDocument/2006/math">
                    <m:r>
                      <a:rPr lang="en-US" sz="2000" i="1">
                        <a:latin typeface="Cambria Math" panose="02040503050406030204" pitchFamily="18" charset="0"/>
                        <a:ea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-value and </a:t>
                </a:r>
                <a14:m>
                  <m:oMath xmlns:m="http://schemas.openxmlformats.org/officeDocument/2006/math">
                    <m:r>
                      <a:rPr lang="en-US" sz="2000" i="1">
                        <a:latin typeface="Cambria Math" panose="02040503050406030204" pitchFamily="18" charset="0"/>
                        <a:ea typeface="Cambria Math" panose="02040503050406030204" pitchFamily="18" charset="0"/>
                      </a:rPr>
                      <m:t>𝑘</m:t>
                    </m:r>
                  </m:oMath>
                </a14:m>
                <a:r>
                  <a:rPr lang="en-US" sz="2000" dirty="0">
                    <a:latin typeface="Verdana" panose="020B0604030504040204" pitchFamily="34" charset="0"/>
                    <a:ea typeface="Verdana" panose="020B0604030504040204" pitchFamily="34" charset="0"/>
                    <a:cs typeface="Verdana" panose="020B0604030504040204" pitchFamily="34" charset="0"/>
                  </a:rPr>
                  <a:t>-value of the quadratic in vertex form </a:t>
                </a:r>
                <a14:m>
                  <m:oMath xmlns:m="http://schemas.openxmlformats.org/officeDocument/2006/math">
                    <m:sSup>
                      <m:sSupPr>
                        <m:ctrlPr>
                          <a:rPr lang="en-US" sz="2000" i="1">
                            <a:latin typeface="Cambria Math" charset="0"/>
                            <a:ea typeface="Cambria Math" panose="02040503050406030204" pitchFamily="18" charset="0"/>
                          </a:rPr>
                        </m:ctrlPr>
                      </m:sSupPr>
                      <m:e>
                        <m:d>
                          <m:dPr>
                            <m:ctrlPr>
                              <a:rPr lang="en-US" sz="2000" i="1">
                                <a:latin typeface="Cambria Math"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h</m:t>
                            </m:r>
                          </m:e>
                        </m:d>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Review your conjectures about completing the square with a different partner. Work through any differences and revise the conjectures and answers as necessary. </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Verify any revisions with your original partner.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78351"/>
                <a:ext cx="10800000" cy="5940088"/>
              </a:xfrm>
              <a:prstGeom prst="rect">
                <a:avLst/>
              </a:prstGeom>
              <a:blipFill rotWithShape="1">
                <a:blip r:embed="rId4"/>
                <a:stretch>
                  <a:fillRect l="-564" t="-616" r="-226" b="-924"/>
                </a:stretch>
              </a:blipFill>
            </p:spPr>
            <p:txBody>
              <a:bodyPr/>
              <a:lstStyle/>
              <a:p>
                <a:r>
                  <a:rPr lang="en-PH">
                    <a:noFill/>
                  </a:rPr>
                  <a:t> </a:t>
                </a:r>
              </a:p>
            </p:txBody>
          </p:sp>
        </mc:Fallback>
      </mc:AlternateContent>
      <p:pic>
        <p:nvPicPr>
          <p:cNvPr id="3" name="Picture 2"/>
          <p:cNvPicPr>
            <a:picLocks noChangeAspect="1"/>
          </p:cNvPicPr>
          <p:nvPr/>
        </p:nvPicPr>
        <p:blipFill>
          <a:blip r:embed="rId5"/>
          <a:stretch>
            <a:fillRect/>
          </a:stretch>
        </p:blipFill>
        <p:spPr>
          <a:xfrm>
            <a:off x="1116470" y="1189488"/>
            <a:ext cx="8675591" cy="2965261"/>
          </a:xfrm>
          <a:prstGeom prst="rect">
            <a:avLst/>
          </a:prstGeom>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spTree>
    <p:extLst>
      <p:ext uri="{BB962C8B-B14F-4D97-AF65-F5344CB8AC3E}">
        <p14:creationId xmlns:p14="http://schemas.microsoft.com/office/powerpoint/2010/main" val="3755819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91739" y="2779101"/>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48870" y="179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8.5.4 Wrap-Up: Cool Down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439292" y="29099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534464" y="1460414"/>
            <a:ext cx="8327136" cy="430887"/>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a:t>
            </a:r>
          </a:p>
        </p:txBody>
      </p:sp>
      <p:graphicFrame>
        <p:nvGraphicFramePr>
          <p:cNvPr id="2" name="Table 1"/>
          <p:cNvGraphicFramePr>
            <a:graphicFrameLocks noGrp="1"/>
          </p:cNvGraphicFramePr>
          <p:nvPr>
            <p:extLst>
              <p:ext uri="{D42A27DB-BD31-4B8C-83A1-F6EECF244321}">
                <p14:modId xmlns:p14="http://schemas.microsoft.com/office/powerpoint/2010/main" val="3327929753"/>
              </p:ext>
            </p:extLst>
          </p:nvPr>
        </p:nvGraphicFramePr>
        <p:xfrm>
          <a:off x="1115120" y="2023780"/>
          <a:ext cx="10800000" cy="3000240"/>
        </p:xfrm>
        <a:graphic>
          <a:graphicData uri="http://schemas.openxmlformats.org/drawingml/2006/table">
            <a:tbl>
              <a:tblPr firstRow="1" firstCol="1" bandRow="1">
                <a:tableStyleId>{5940675A-B579-460E-94D1-54222C63F5DA}</a:tableStyleId>
              </a:tblPr>
              <a:tblGrid>
                <a:gridCol w="36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gridCol w="3600000">
                  <a:extLst>
                    <a:ext uri="{9D8B030D-6E8A-4147-A177-3AD203B41FA5}">
                      <a16:colId xmlns="" xmlns:a16="http://schemas.microsoft.com/office/drawing/2014/main" val="20002"/>
                    </a:ext>
                  </a:extLst>
                </a:gridCol>
              </a:tblGrid>
              <a:tr h="108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terms used in the Exploration that I knew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were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wondered during the Exploration was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learned during the Exploration was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0">
                <a:tc>
                  <a:txBody>
                    <a:bodyPr/>
                    <a:lstStyle/>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latin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78347"/>
                <a:ext cx="10800000" cy="1446550"/>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Patty remembered that a perfect square trinomial, such as </a:t>
                </a:r>
                <a14:m>
                  <m:oMath xmlns:m="http://schemas.openxmlformats.org/officeDocument/2006/math">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𝑥</m:t>
                        </m:r>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+8</m:t>
                    </m:r>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+16</m:t>
                    </m:r>
                  </m:oMath>
                </a14:m>
                <a:r>
                  <a:rPr lang="en-US" sz="2200" dirty="0">
                    <a:latin typeface="Verdana" panose="020B0604030504040204" pitchFamily="34" charset="0"/>
                    <a:ea typeface="Verdana" panose="020B0604030504040204" pitchFamily="34" charset="0"/>
                    <a:cs typeface="Verdana" panose="020B0604030504040204" pitchFamily="34" charset="0"/>
                  </a:rPr>
                  <a:t>, factors to a binomial squared, </a:t>
                </a:r>
                <a14:m>
                  <m:oMath xmlns:m="http://schemas.openxmlformats.org/officeDocument/2006/math">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+4)</m:t>
                        </m:r>
                      </m:e>
                      <m:sup>
                        <m:r>
                          <a:rPr lang="en-US" sz="2200" i="1">
                            <a:latin typeface="Cambria Math" panose="02040503050406030204" pitchFamily="18" charset="0"/>
                            <a:ea typeface="Cambria Math" panose="02040503050406030204" pitchFamily="18" charset="0"/>
                          </a:rPr>
                          <m:t>2</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 Explain to Patty why the trinomial on the product mat such as the one shown is a perfect </a:t>
                </a:r>
                <a:r>
                  <a:rPr lang="en-US" sz="2200" dirty="0" smtClean="0">
                    <a:latin typeface="Verdana" panose="020B0604030504040204" pitchFamily="34" charset="0"/>
                    <a:ea typeface="Verdana" panose="020B0604030504040204" pitchFamily="34" charset="0"/>
                    <a:cs typeface="Verdana" panose="020B0604030504040204" pitchFamily="34" charset="0"/>
                  </a:rPr>
                  <a:t/>
                </a:r>
                <a:br>
                  <a:rPr lang="en-US" sz="2200" dirty="0" smtClean="0">
                    <a:latin typeface="Verdana" panose="020B0604030504040204" pitchFamily="34" charset="0"/>
                    <a:ea typeface="Verdana" panose="020B0604030504040204" pitchFamily="34" charset="0"/>
                    <a:cs typeface="Verdana" panose="020B0604030504040204" pitchFamily="34" charset="0"/>
                  </a:rPr>
                </a:br>
                <a:r>
                  <a:rPr lang="en-US" sz="2200" dirty="0" smtClean="0">
                    <a:latin typeface="Verdana" panose="020B0604030504040204" pitchFamily="34" charset="0"/>
                    <a:ea typeface="Verdana" panose="020B0604030504040204" pitchFamily="34" charset="0"/>
                    <a:cs typeface="Verdana" panose="020B0604030504040204" pitchFamily="34" charset="0"/>
                  </a:rPr>
                  <a:t>square </a:t>
                </a:r>
                <a:r>
                  <a:rPr lang="en-US" sz="2200" dirty="0">
                    <a:latin typeface="Verdana" panose="020B0604030504040204" pitchFamily="34" charset="0"/>
                    <a:ea typeface="Verdana" panose="020B0604030504040204" pitchFamily="34" charset="0"/>
                    <a:cs typeface="Verdana" panose="020B0604030504040204" pitchFamily="34" charset="0"/>
                  </a:rPr>
                  <a:t>trinomial.</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78347"/>
                <a:ext cx="10800000" cy="1446550"/>
              </a:xfrm>
              <a:prstGeom prst="rect">
                <a:avLst/>
              </a:prstGeom>
              <a:blipFill rotWithShape="1">
                <a:blip r:embed="rId4"/>
                <a:stretch>
                  <a:fillRect l="-734" t="-3376" r="-677" b="-8017"/>
                </a:stretch>
              </a:blipFill>
            </p:spPr>
            <p:txBody>
              <a:bodyPr/>
              <a:lstStyle/>
              <a:p>
                <a:r>
                  <a:rPr lang="en-PH">
                    <a:noFill/>
                  </a:rPr>
                  <a:t> </a:t>
                </a:r>
              </a:p>
            </p:txBody>
          </p:sp>
        </mc:Fallback>
      </mc:AlternateContent>
      <p:pic>
        <p:nvPicPr>
          <p:cNvPr id="6" name="Picture 5" descr="A picture containing chart&#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4133110" y="1981935"/>
            <a:ext cx="3314700" cy="3241675"/>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spTree>
    <p:extLst>
      <p:ext uri="{BB962C8B-B14F-4D97-AF65-F5344CB8AC3E}">
        <p14:creationId xmlns:p14="http://schemas.microsoft.com/office/powerpoint/2010/main" val="289570238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1382</TotalTime>
  <Words>1212</Words>
  <Application>Microsoft Macintosh PowerPoint</Application>
  <PresentationFormat>Widescreen</PresentationFormat>
  <Paragraphs>249</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Verdana</vt:lpstr>
      <vt:lpstr>Cambria</vt:lpstr>
      <vt:lpstr>Wingdings</vt:lpstr>
      <vt:lpstr>Arial</vt:lpstr>
      <vt:lpstr>Calibri</vt:lpstr>
      <vt:lpstr>Arial Black</vt:lpstr>
      <vt:lpstr>Century Gothic</vt:lpstr>
      <vt:lpstr>Cambria Math</vt:lpstr>
      <vt:lpstr>Times New Roman</vt:lpstr>
      <vt:lpstr>1_Office Theme</vt:lpstr>
      <vt:lpstr>Algebra 1  Unit 8, Lesson 5  Completing the Square when a=1 Using Algebra Tiles  Volume 2, pg. 32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34</cp:revision>
  <dcterms:created xsi:type="dcterms:W3CDTF">2015-03-17T18:51:18Z</dcterms:created>
  <dcterms:modified xsi:type="dcterms:W3CDTF">2022-08-01T21:41:53Z</dcterms:modified>
</cp:coreProperties>
</file>