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56" r:id="rId11"/>
    <p:sldId id="362" r:id="rId12"/>
    <p:sldId id="363" r:id="rId13"/>
    <p:sldId id="314" r:id="rId14"/>
    <p:sldId id="315" r:id="rId15"/>
    <p:sldId id="364" r:id="rId16"/>
    <p:sldId id="365" r:id="rId17"/>
    <p:sldId id="366" r:id="rId18"/>
    <p:sldId id="367" r:id="rId19"/>
    <p:sldId id="368" r:id="rId20"/>
    <p:sldId id="369" r:id="rId21"/>
    <p:sldId id="375" r:id="rId22"/>
    <p:sldId id="370" r:id="rId23"/>
    <p:sldId id="371" r:id="rId24"/>
    <p:sldId id="372" r:id="rId25"/>
    <p:sldId id="373" r:id="rId26"/>
    <p:sldId id="323" r:id="rId27"/>
    <p:sldId id="324" r:id="rId28"/>
    <p:sldId id="357" r:id="rId29"/>
    <p:sldId id="374" r:id="rId30"/>
    <p:sldId id="306" r:id="rId31"/>
    <p:sldId id="307" r:id="rId32"/>
    <p:sldId id="361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79B0DD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2591" autoAdjust="0"/>
    <p:restoredTop sz="94719"/>
  </p:normalViewPr>
  <p:slideViewPr>
    <p:cSldViewPr snapToGrid="0">
      <p:cViewPr varScale="1">
        <p:scale>
          <a:sx n="114" d="100"/>
          <a:sy n="114" d="100"/>
        </p:scale>
        <p:origin x="106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4526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040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511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9341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0165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710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256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955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1219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0424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6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32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857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7895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9433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2427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96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0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Identifying Key Features of Quadratic Functions</a:t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MA.912.AR.3.7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table, equation, or written description of a quadratic function, graph that function, and determine and interpret its key features.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6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key features of a quadratic given a graph, a table, or an equation.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Food Styling and Photography">
            <a:extLst>
              <a:ext uri="{FF2B5EF4-FFF2-40B4-BE49-F238E27FC236}">
                <a16:creationId xmlns:a16="http://schemas.microsoft.com/office/drawing/2014/main" id="{010A43AD-8356-7143-A501-CF0D59322C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09" t="13822" r="2990" b="9489"/>
          <a:stretch/>
        </p:blipFill>
        <p:spPr bwMode="auto">
          <a:xfrm>
            <a:off x="1477501" y="2913875"/>
            <a:ext cx="5144203" cy="31549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326087"/>
            <a:ext cx="11430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Kim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Kissling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changed careers from working a corporate job to working as a food stylist after learning about the job during a career day at cooking school. As a food stylist, Kim takes photographs for cookbooks, magazines, advertising campaigns, product packaging, and television advertisements. </a:t>
            </a:r>
          </a:p>
        </p:txBody>
      </p:sp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8.1.1 Warm-Up: Food Stylist</a:t>
            </a:r>
          </a:p>
        </p:txBody>
      </p:sp>
      <p:pic>
        <p:nvPicPr>
          <p:cNvPr id="16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005" y="3030828"/>
            <a:ext cx="29083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think would be interesting about working as a food stylist?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Kim said two important skills for her job are being super organized and not wasting time. How can you use these skills as a student? 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9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7466"/>
            <a:ext cx="1095738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8.1.2 Guided Instruction: </a:t>
            </a:r>
            <a:b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Key Features of Quadratics</a:t>
            </a:r>
          </a:p>
        </p:txBody>
      </p:sp>
      <p:pic>
        <p:nvPicPr>
          <p:cNvPr id="30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5130" y="1386025"/>
            <a:ext cx="10985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8" indent="-79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quadratic equation is called a parabola. 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B33C142-A251-B444-B9C1-8760E4E5487E}"/>
              </a:ext>
            </a:extLst>
          </p:cNvPr>
          <p:cNvSpPr/>
          <p:nvPr/>
        </p:nvSpPr>
        <p:spPr>
          <a:xfrm>
            <a:off x="2780307" y="2443678"/>
            <a:ext cx="6629400" cy="930347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vertex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a parabola is the point where the             parabola changes direction.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780307" y="3721124"/>
            <a:ext cx="6629400" cy="1455600"/>
            <a:chOff x="2780307" y="3660164"/>
            <a:chExt cx="6629400" cy="1455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ounded Rectangle 32">
                  <a:extLst>
                    <a:ext uri="{FF2B5EF4-FFF2-40B4-BE49-F238E27FC236}">
                      <a16:creationId xmlns:a16="http://schemas.microsoft.com/office/drawing/2014/main" id="{8A0DDF0E-236B-A648-9DE2-42DEE04229B0}"/>
                    </a:ext>
                  </a:extLst>
                </p:cNvPr>
                <p:cNvSpPr/>
                <p:nvPr/>
              </p:nvSpPr>
              <p:spPr>
                <a:xfrm>
                  <a:off x="2780307" y="3660164"/>
                  <a:ext cx="6629400" cy="14556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685800"/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intercept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the value of a variable when all other variables in the equation equal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0</m:t>
                      </m:r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On a graph, the intercept is the value where a function crosses an axis.</a:t>
                  </a:r>
                  <a:r>
                    <a:rPr lang="en-US" sz="2000" dirty="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 </a:t>
                  </a:r>
                </a:p>
              </p:txBody>
            </p:sp>
          </mc:Choice>
          <mc:Fallback xmlns="">
            <p:sp>
              <p:nvSpPr>
                <p:cNvPr id="33" name="Rounded Rectangle 32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8A0DDF0E-236B-A648-9DE2-42DEE04229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307" y="3660164"/>
                  <a:ext cx="6629400" cy="1455600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Shape 9" descr="Icon&#10;&#10;Description automatically generated">
              <a:extLst>
                <a:ext uri="{FF2B5EF4-FFF2-40B4-BE49-F238E27FC236}">
                  <a16:creationId xmlns:a16="http://schemas.microsoft.com/office/drawing/2014/main" id="{09A1B46E-34CB-0447-B31D-CFA0E960AA39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61841" y="3839324"/>
              <a:ext cx="53975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image10.png">
            <a:extLst>
              <a:ext uri="{FF2B5EF4-FFF2-40B4-BE49-F238E27FC236}">
                <a16:creationId xmlns:a16="http://schemas.microsoft.com/office/drawing/2014/main" id="{6A075604-4756-9647-B70D-99E6B527AA6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480712" y="520394"/>
            <a:ext cx="5050400" cy="5085589"/>
          </a:xfrm>
          <a:prstGeom prst="rect">
            <a:avLst/>
          </a:prstGeom>
          <a:ln/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55091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describe the red and purple parabolas.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Note any similarities or differences. </a:t>
            </a:r>
          </a:p>
        </p:txBody>
      </p:sp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graph circle where the red parabola has negative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square on the graph where the red parabola has  positive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key feature can be helpful in determining where a quadratic function has positive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and negative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the purple parabola only has positive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4401205"/>
              </a:xfrm>
              <a:prstGeom prst="rect">
                <a:avLst/>
              </a:prstGeom>
              <a:blipFill rotWithShape="1">
                <a:blip r:embed="rId4"/>
                <a:stretch>
                  <a:fillRect l="-610" t="-831" r="-55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110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09900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Every parabola has a line of symmetry. Draw the line of symmetry for the red and purple parabolas.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two lines of symmetry?</a:t>
            </a:r>
            <a:endParaRPr lang="en-US" sz="20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2780307" y="410666"/>
            <a:ext cx="6629400" cy="1455600"/>
            <a:chOff x="2780307" y="3660164"/>
            <a:chExt cx="6629400" cy="145560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A0DDF0E-236B-A648-9DE2-42DEE04229B0}"/>
                </a:ext>
              </a:extLst>
            </p:cNvPr>
            <p:cNvSpPr/>
            <p:nvPr/>
          </p:nvSpPr>
          <p:spPr>
            <a:xfrm>
              <a:off x="2780307" y="3660164"/>
              <a:ext cx="6629400" cy="1455600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685800"/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line of symmetry</a:t>
              </a: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line that divides </a:t>
              </a:r>
              <a:b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</a:br>
              <a:r>
                <a:rPr lang="en-US" sz="20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figure into two congruent parts, so that the reflection of either part across the line maps precisely onto the other.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22" name="Shape 9" descr="Icon&#10;&#10;Description automatically generated">
              <a:extLst>
                <a:ext uri="{FF2B5EF4-FFF2-40B4-BE49-F238E27FC236}">
                  <a16:creationId xmlns:a16="http://schemas.microsoft.com/office/drawing/2014/main" id="{09A1B46E-34CB-0447-B31D-CFA0E960AA39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61841" y="3839324"/>
              <a:ext cx="53975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84517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131033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of the key features studied with lines is whether the function is increasing or decreasing. Unless a line has a slope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an undefined slope, the line is always increasing or decreasing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increases (from left to right). </a:t>
                </a: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use the red and purple parabolas to make a conjecture about where parabolas are increasing and decreasing.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1310338" cy="2246769"/>
              </a:xfrm>
              <a:prstGeom prst="rect">
                <a:avLst/>
              </a:prstGeom>
              <a:blipFill rotWithShape="1">
                <a:blip r:embed="rId4"/>
                <a:stretch>
                  <a:fillRect l="-593" t="-1355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01364"/>
            <a:ext cx="9510717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8.1.3 Collaboration: Key Features of Quadratics Using Equations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9F13E217-F801-7A46-81A1-FB436C6BA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510306"/>
              </p:ext>
            </p:extLst>
          </p:nvPr>
        </p:nvGraphicFramePr>
        <p:xfrm>
          <a:off x="4236370" y="341463"/>
          <a:ext cx="7193279" cy="15544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7193279">
                  <a:extLst>
                    <a:ext uri="{9D8B030D-6E8A-4147-A177-3AD203B41FA5}">
                      <a16:colId xmlns:a16="http://schemas.microsoft.com/office/drawing/2014/main" val="320767719"/>
                    </a:ext>
                  </a:extLst>
                </a:gridCol>
              </a:tblGrid>
              <a:tr h="1554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588101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0AECBD6E-774D-1343-9D36-002CC02CF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468394"/>
              </p:ext>
            </p:extLst>
          </p:nvPr>
        </p:nvGraphicFramePr>
        <p:xfrm>
          <a:off x="4236370" y="1890477"/>
          <a:ext cx="7193280" cy="44348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137013989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3038064745"/>
                    </a:ext>
                  </a:extLst>
                </a:gridCol>
              </a:tblGrid>
              <a:tr h="4434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113426"/>
                  </a:ext>
                </a:extLst>
              </a:tr>
            </a:tbl>
          </a:graphicData>
        </a:graphic>
      </p:graphicFrame>
      <p:pic>
        <p:nvPicPr>
          <p:cNvPr id="10" name="image14.png">
            <a:extLst>
              <a:ext uri="{FF2B5EF4-FFF2-40B4-BE49-F238E27FC236}">
                <a16:creationId xmlns:a16="http://schemas.microsoft.com/office/drawing/2014/main" id="{EBFC19CA-4F70-0E49-BC67-25D6DDA3C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2237" y="2320066"/>
            <a:ext cx="3308513" cy="356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4153600-74A3-884C-ABA8-CA6C3906F53A}"/>
                  </a:ext>
                </a:extLst>
              </p:cNvPr>
              <p:cNvSpPr/>
              <p:nvPr/>
            </p:nvSpPr>
            <p:spPr>
              <a:xfrm>
                <a:off x="5547008" y="317807"/>
                <a:ext cx="4572000" cy="160332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7964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F79646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>
                          <a:solidFill>
                            <a:srgbClr val="F79646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800" dirty="0">
                  <a:solidFill>
                    <a:srgbClr val="F79646"/>
                  </a:solidFill>
                  <a:latin typeface="Cambria Math" panose="02040503050406030204" pitchFamily="18" charset="0"/>
                </a:endParaRPr>
              </a:p>
              <a:p>
                <a:pPr marL="914400" indent="-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>
                          <a:solidFill>
                            <a:srgbClr val="F79646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153600-74A3-884C-ABA8-CA6C3906F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008" y="317807"/>
                <a:ext cx="4572000" cy="1603324"/>
              </a:xfrm>
              <a:prstGeom prst="rect">
                <a:avLst/>
              </a:prstGeom>
              <a:blipFill rotWithShape="1">
                <a:blip r:embed="rId5"/>
                <a:stretch>
                  <a:fillRect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7835E6E-FD2B-4A40-8094-65F31C133C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440155"/>
                  </p:ext>
                </p:extLst>
              </p:nvPr>
            </p:nvGraphicFramePr>
            <p:xfrm>
              <a:off x="8275636" y="2002457"/>
              <a:ext cx="2873333" cy="416052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291821">
                      <a:extLst>
                        <a:ext uri="{9D8B030D-6E8A-4147-A177-3AD203B41FA5}">
                          <a16:colId xmlns:a16="http://schemas.microsoft.com/office/drawing/2014/main" val="33689804"/>
                        </a:ext>
                      </a:extLst>
                    </a:gridCol>
                    <a:gridCol w="1581512">
                      <a:extLst>
                        <a:ext uri="{9D8B030D-6E8A-4147-A177-3AD203B41FA5}">
                          <a16:colId xmlns:a16="http://schemas.microsoft.com/office/drawing/2014/main" val="331258494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Name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Key Feature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47556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50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rgbClr val="FF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(−4,0)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FF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61001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50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rgbClr val="FF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(2,0)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FF000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4225992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500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rgbClr val="00B05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(0,8)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00B050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928321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rgbClr val="F79646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(−1,9)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F79646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227167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axis of symmetry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rgbClr val="F79646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500" smtClean="0">
                                    <a:solidFill>
                                      <a:srgbClr val="F79646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F79646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86847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5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&lt;−1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F79646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4344795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decreasing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5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&gt;−1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rgbClr val="F79646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05012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F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a:rPr lang="en-US" sz="150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5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500">
                                    <a:effectLst/>
                                    <a:latin typeface="Cambria Math" panose="02040503050406030204" pitchFamily="18" charset="0"/>
                                  </a:rPr>
                                  <m:t>&lt;2</m:t>
                                </m:r>
                              </m:oMath>
                            </m:oMathPara>
                          </a14:m>
                          <a:endParaRPr lang="en-US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642768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 dirty="0">
                              <a:solidFill>
                                <a:srgbClr val="FF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</a:rPr>
                                <m:t>&lt;−4</m:t>
                              </m:r>
                            </m:oMath>
                          </a14:m>
                          <a:r>
                            <a:rPr lang="en-US" sz="15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500">
                                  <a:effectLst/>
                                  <a:latin typeface="Cambria Math" panose="02040503050406030204" pitchFamily="18" charset="0"/>
                                </a:rPr>
                                <m:t>&gt;2</m:t>
                              </m:r>
                            </m:oMath>
                          </a14:m>
                          <a:endParaRPr lang="en-US" sz="15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70775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7835E6E-FD2B-4A40-8094-65F31C133C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440155"/>
                  </p:ext>
                </p:extLst>
              </p:nvPr>
            </p:nvGraphicFramePr>
            <p:xfrm>
              <a:off x="8275636" y="2002457"/>
              <a:ext cx="2873333" cy="416052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291821">
                      <a:extLst>
                        <a:ext uri="{9D8B030D-6E8A-4147-A177-3AD203B41FA5}">
                          <a16:colId xmlns:a16="http://schemas.microsoft.com/office/drawing/2014/main" val="33689804"/>
                        </a:ext>
                      </a:extLst>
                    </a:gridCol>
                    <a:gridCol w="1581512">
                      <a:extLst>
                        <a:ext uri="{9D8B030D-6E8A-4147-A177-3AD203B41FA5}">
                          <a16:colId xmlns:a16="http://schemas.microsoft.com/office/drawing/2014/main" val="331258494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Name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Key Feature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147556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43" t="-104478" r="-124528" b="-8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104478" r="-1538" b="-823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61001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43" t="-201471" r="-124528" b="-7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201471" r="-1538" b="-7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225992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43" t="-305970" r="-124528" b="-622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305970" r="-1538" b="-6223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28321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400000" r="-1538" b="-513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27167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axis of symmetry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453333" r="-1538" b="-36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86847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619403" r="-1538" b="-308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44795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79646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decreasing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708824" r="-1538" b="-2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5012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>
                              <a:solidFill>
                                <a:srgbClr val="FF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820896" r="-1538" b="-1074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642768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500" dirty="0">
                              <a:solidFill>
                                <a:srgbClr val="FF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</a:t>
                          </a:r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982" marR="6698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2308" t="-907353" r="-1538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70775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6" y="286513"/>
                <a:ext cx="352660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shows five forms of the same quadratic equation,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graph of the quadratic, and a list of key features. The key features are color coded in each of the representations.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286513"/>
                <a:ext cx="3526609" cy="2862322"/>
              </a:xfrm>
              <a:prstGeom prst="rect">
                <a:avLst/>
              </a:prstGeom>
              <a:blipFill rotWithShape="1">
                <a:blip r:embed="rId7"/>
                <a:stretch>
                  <a:fillRect l="-1903" t="-1064" r="-2941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99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11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7964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F7964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7964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F7964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very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similar.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can the vertex be determined when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given?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1116075"/>
              </a:xfrm>
              <a:prstGeom prst="rect">
                <a:avLst/>
              </a:prstGeom>
              <a:blipFill rotWithShape="1">
                <a:blip r:embed="rId4"/>
                <a:stretch>
                  <a:fillRect l="-610" b="-9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223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28A0C81-064E-7B45-BBCA-F7F07B70E8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908417"/>
                  </p:ext>
                </p:extLst>
              </p:nvPr>
            </p:nvGraphicFramePr>
            <p:xfrm>
              <a:off x="1132237" y="1642823"/>
              <a:ext cx="7528121" cy="3200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734741">
                      <a:extLst>
                        <a:ext uri="{9D8B030D-6E8A-4147-A177-3AD203B41FA5}">
                          <a16:colId xmlns:a16="http://schemas.microsoft.com/office/drawing/2014/main" val="4130249659"/>
                        </a:ext>
                      </a:extLst>
                    </a:gridCol>
                    <a:gridCol w="3793380">
                      <a:extLst>
                        <a:ext uri="{9D8B030D-6E8A-4147-A177-3AD203B41FA5}">
                          <a16:colId xmlns:a16="http://schemas.microsoft.com/office/drawing/2014/main" val="19952392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PH" sz="2000" b="1" i="1" smtClean="0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7769164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57115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28A0C81-064E-7B45-BBCA-F7F07B70E8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908417"/>
                  </p:ext>
                </p:extLst>
              </p:nvPr>
            </p:nvGraphicFramePr>
            <p:xfrm>
              <a:off x="1132237" y="1642823"/>
              <a:ext cx="7528121" cy="3200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73474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30249659"/>
                        </a:ext>
                      </a:extLst>
                    </a:gridCol>
                    <a:gridCol w="37933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9523926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63" r="-101468" b="-6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98714" b="-6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47769164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657115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 represent the same quadratic. Rewrite both so that they are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  <a:r>
                  <a:rPr lang="en-US" sz="2000" dirty="0"/>
                  <a:t> 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610" t="-3593" r="-721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180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can both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-intercepts be determined if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given?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61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293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258BACA-D351-1F4E-BA28-C3B01F9499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7128548"/>
                  </p:ext>
                </p:extLst>
              </p:nvPr>
            </p:nvGraphicFramePr>
            <p:xfrm>
              <a:off x="1089206" y="1784385"/>
              <a:ext cx="7702293" cy="3200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507314">
                      <a:extLst>
                        <a:ext uri="{9D8B030D-6E8A-4147-A177-3AD203B41FA5}">
                          <a16:colId xmlns:a16="http://schemas.microsoft.com/office/drawing/2014/main" val="106615680"/>
                        </a:ext>
                      </a:extLst>
                    </a:gridCol>
                    <a:gridCol w="2477989">
                      <a:extLst>
                        <a:ext uri="{9D8B030D-6E8A-4147-A177-3AD203B41FA5}">
                          <a16:colId xmlns:a16="http://schemas.microsoft.com/office/drawing/2014/main" val="225787441"/>
                        </a:ext>
                      </a:extLst>
                    </a:gridCol>
                    <a:gridCol w="2716990">
                      <a:extLst>
                        <a:ext uri="{9D8B030D-6E8A-4147-A177-3AD203B41FA5}">
                          <a16:colId xmlns:a16="http://schemas.microsoft.com/office/drawing/2014/main" val="131904046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sz="2000" b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000" b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b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526939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56327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258BACA-D351-1F4E-BA28-C3B01F9499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7128548"/>
                  </p:ext>
                </p:extLst>
              </p:nvPr>
            </p:nvGraphicFramePr>
            <p:xfrm>
              <a:off x="1089206" y="1784385"/>
              <a:ext cx="7702293" cy="3200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50731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6615680"/>
                        </a:ext>
                      </a:extLst>
                    </a:gridCol>
                    <a:gridCol w="247798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5787441"/>
                        </a:ext>
                      </a:extLst>
                    </a:gridCol>
                    <a:gridCol w="27169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1904046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43" t="-1333" r="-207543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1478" t="-1333" r="-110099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3408" t="-1333" r="-22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04526939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056327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used to determine the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how each of the three forms can be used to find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by substituting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61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027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table of values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shown. 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all the key features that can be found using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 of values.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458788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-intercepts</a:t>
                </a:r>
              </a:p>
              <a:p>
                <a:pPr marL="914400" indent="458788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</a:t>
                </a:r>
              </a:p>
              <a:p>
                <a:pPr marL="914400" indent="458788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vertex</a:t>
                </a:r>
              </a:p>
              <a:p>
                <a:pPr marL="914400" indent="458788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axis of symmetry</a:t>
                </a:r>
              </a:p>
              <a:p>
                <a:pPr marL="914400" indent="458788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increasing/decreasing</a:t>
                </a:r>
              </a:p>
              <a:p>
                <a:pPr marL="914400" indent="458788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positive/negative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610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5F79A62-1E2C-B942-AC07-951F67CA55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498216"/>
                  </p:ext>
                </p:extLst>
              </p:nvPr>
            </p:nvGraphicFramePr>
            <p:xfrm>
              <a:off x="8380232" y="1077865"/>
              <a:ext cx="205740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028700">
                      <a:extLst>
                        <a:ext uri="{9D8B030D-6E8A-4147-A177-3AD203B41FA5}">
                          <a16:colId xmlns:a16="http://schemas.microsoft.com/office/drawing/2014/main" val="3472993495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18464068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3536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8345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18380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713080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31988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61502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7114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8135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5F79A62-1E2C-B942-AC07-951F67CA55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498216"/>
                  </p:ext>
                </p:extLst>
              </p:nvPr>
            </p:nvGraphicFramePr>
            <p:xfrm>
              <a:off x="8380232" y="1077865"/>
              <a:ext cx="205740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028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72993495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464068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1333" r="-100000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1333" r="-595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93536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101333" r="-10000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101333" r="-595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58345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201333" r="-1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201333" r="-595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818380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301333" r="-1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301333" r="-595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713080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401333" r="-1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401333" r="-59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31988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501333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501333" r="-59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061502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601333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601333" r="-59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97114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2" t="-701333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1190" t="-701333" r="-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28135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8900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0990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key features that were not found, but that could be found if the table of values included more values.</a:t>
            </a:r>
          </a:p>
        </p:txBody>
      </p:sp>
    </p:spTree>
    <p:extLst>
      <p:ext uri="{BB962C8B-B14F-4D97-AF65-F5344CB8AC3E}">
        <p14:creationId xmlns:p14="http://schemas.microsoft.com/office/powerpoint/2010/main" val="3248433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7.png" descr="Chart, line chart&#10;&#10;Description automatically generated">
            <a:extLst>
              <a:ext uri="{FF2B5EF4-FFF2-40B4-BE49-F238E27FC236}">
                <a16:creationId xmlns:a16="http://schemas.microsoft.com/office/drawing/2014/main" id="{CBCBE58E-BE60-AB41-9750-24AF72A73D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296" y="410666"/>
            <a:ext cx="4200816" cy="4128651"/>
          </a:xfrm>
          <a:prstGeom prst="rect">
            <a:avLst/>
          </a:prstGeom>
          <a:ln/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6388555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graph of the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shown. Check all the key features that can be found using the graph.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-intercepts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vertex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axis of symmetry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increasing/decreasing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positive/negative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6388555" cy="3170099"/>
              </a:xfrm>
              <a:prstGeom prst="rect">
                <a:avLst/>
              </a:prstGeom>
              <a:blipFill rotWithShape="1">
                <a:blip r:embed="rId5"/>
                <a:stretch>
                  <a:fillRect l="-1050" t="-1154" r="-1527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515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360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table of values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shown.</a:t>
                </a: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all the key features that can be found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table of values.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-intercepts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vertex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axis of symmetry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increasing/decreasing</a:t>
                </a:r>
              </a:p>
              <a:p>
                <a:pPr marL="914400" indent="-457200">
                  <a:buFont typeface="Wingdings" pitchFamily="2" charset="2"/>
                  <a:buChar char="q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positive/negative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3607270"/>
              </a:xfrm>
              <a:prstGeom prst="rect">
                <a:avLst/>
              </a:prstGeom>
              <a:blipFill rotWithShape="1">
                <a:blip r:embed="rId4"/>
                <a:stretch>
                  <a:fillRect l="-610" b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5F79A62-1E2C-B942-AC07-951F67CA55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65552"/>
                  </p:ext>
                </p:extLst>
              </p:nvPr>
            </p:nvGraphicFramePr>
            <p:xfrm>
              <a:off x="7140712" y="1209945"/>
              <a:ext cx="205740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028700">
                      <a:extLst>
                        <a:ext uri="{9D8B030D-6E8A-4147-A177-3AD203B41FA5}">
                          <a16:colId xmlns:a16="http://schemas.microsoft.com/office/drawing/2014/main" val="3472993495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val="18464068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3536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PH" sz="2000" b="0" i="0" smtClean="0">
                                  <a:effectLst/>
                                  <a:latin typeface="Cambria Math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" panose="02040503050406030204" pitchFamily="18" charset="0"/>
                            </a:rPr>
                            <a:t>.4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8345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  <a:cs typeface="Cambria" panose="02040503050406030204" pitchFamily="18" charset="0"/>
                                  </a:rPr>
                                  <m:t>5.4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18380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  <a:cs typeface="Cambria" panose="02040503050406030204" pitchFamily="18" charset="0"/>
                                  </a:rPr>
                                  <m:t>4.6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713080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  <a:cs typeface="Cambria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31988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  <a:cs typeface="Cambria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61502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2.6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7114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PH" sz="2000" b="0" i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6.6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8135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5F79A62-1E2C-B942-AC07-951F67CA55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65552"/>
                  </p:ext>
                </p:extLst>
              </p:nvPr>
            </p:nvGraphicFramePr>
            <p:xfrm>
              <a:off x="7140712" y="1209945"/>
              <a:ext cx="205740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028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72993495"/>
                        </a:ext>
                      </a:extLst>
                    </a:gridCol>
                    <a:gridCol w="1028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4640684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100000" b="-7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b="-7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935366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100000" b="-6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00000" b="-6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5834503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00000" r="-100000" b="-5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200000" b="-5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818380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00000" r="-100000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300000" b="-4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713080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00000" r="-100000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400000" b="-3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319887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500000" r="-100000" b="-2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500000" b="-2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061502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600000" r="-100000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600000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971141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700000" r="-100000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700000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28135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8321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image6.png">
            <a:extLst>
              <a:ext uri="{FF2B5EF4-FFF2-40B4-BE49-F238E27FC236}">
                <a16:creationId xmlns:a16="http://schemas.microsoft.com/office/drawing/2014/main" id="{E09CDBF1-4A0A-6042-A04C-DEBFD24BD887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07603" y="410666"/>
            <a:ext cx="4723509" cy="4288255"/>
          </a:xfrm>
          <a:prstGeom prst="rect">
            <a:avLst/>
          </a:prstGeom>
          <a:ln/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5992315" cy="2068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9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 on the coordinate grid.</a:t>
                </a:r>
              </a:p>
              <a:p>
                <a:pPr marL="457200" indent="-457200">
                  <a:buFont typeface="+mj-lt"/>
                  <a:buAutoNum type="arabicPeriod" startAt="9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Which, if any, of the ordered pairs of the marked key features can be determined from the graph?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5992315" cy="2068387"/>
              </a:xfrm>
              <a:prstGeom prst="rect">
                <a:avLst/>
              </a:prstGeom>
              <a:blipFill rotWithShape="1">
                <a:blip r:embed="rId5"/>
                <a:stretch>
                  <a:fillRect l="-1119" r="-102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471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9ABAD6-F09D-864E-AA07-75ED6C41C8B9}"/>
              </a:ext>
            </a:extLst>
          </p:cNvPr>
          <p:cNvGrpSpPr/>
          <p:nvPr/>
        </p:nvGrpSpPr>
        <p:grpSpPr>
          <a:xfrm>
            <a:off x="2721138" y="5090673"/>
            <a:ext cx="6629400" cy="925076"/>
            <a:chOff x="2031300" y="3317315"/>
            <a:chExt cx="6629400" cy="92507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46A6B2-50EE-BB4F-9663-5D54764A68C5}"/>
                </a:ext>
              </a:extLst>
            </p:cNvPr>
            <p:cNvGrpSpPr/>
            <p:nvPr/>
          </p:nvGrpSpPr>
          <p:grpSpPr>
            <a:xfrm>
              <a:off x="2031300" y="3317315"/>
              <a:ext cx="6629400" cy="925076"/>
              <a:chOff x="2031300" y="3317315"/>
              <a:chExt cx="6629400" cy="92507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F8D64D-4EA2-9C4E-ADC2-4B81459B7883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F0BE7AF-821D-804F-936D-1428BBFE9F27}"/>
                  </a:ext>
                </a:extLst>
              </p:cNvPr>
              <p:cNvGrpSpPr/>
              <p:nvPr/>
            </p:nvGrpSpPr>
            <p:grpSpPr>
              <a:xfrm>
                <a:off x="2031300" y="3317315"/>
                <a:ext cx="6629400" cy="925076"/>
                <a:chOff x="0" y="-56285"/>
                <a:chExt cx="6629400" cy="92507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40DE447-EC00-4E45-8AD6-6D4B881E5FA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Rounded Rectangle 14">
                      <a:extLst>
                        <a:ext uri="{FF2B5EF4-FFF2-40B4-BE49-F238E27FC236}">
                          <a16:creationId xmlns:a16="http://schemas.microsoft.com/office/drawing/2014/main" id="{A4FC658F-2541-FF4F-8F3D-C9FC491C41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56285"/>
                      <a:ext cx="6629400" cy="925076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69215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 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quadratic function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a polynomial function with degree of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Rounded Rectangle 14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A4FC658F-2541-FF4F-8F3D-C9FC491C419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56285"/>
                      <a:ext cx="6629400" cy="925076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3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6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9ED4D9DE-7AD7-6D4C-822C-7EEB059AF0C3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48705" y="92367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1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0990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Determining all of the key features of a quadratic may require using a graph, different forms of an equation, and a table of values.</a:t>
            </a:r>
          </a:p>
        </p:txBody>
      </p:sp>
    </p:spTree>
    <p:extLst>
      <p:ext uri="{BB962C8B-B14F-4D97-AF65-F5344CB8AC3E}">
        <p14:creationId xmlns:p14="http://schemas.microsoft.com/office/powerpoint/2010/main" val="2843735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0774"/>
            <a:ext cx="10477934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8.1.4 Guided Practice: Key Features of Quadratics Using Equations</a:t>
            </a: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609600" y="1386025"/>
            <a:ext cx="10920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different equations for a quadratic function are given.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equations to determine the key features. If an equation cannot be used to determine a key feature write “no equation.”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8FCAE396-AF82-0443-9592-7FAED9A94E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757041"/>
                  </p:ext>
                </p:extLst>
              </p:nvPr>
            </p:nvGraphicFramePr>
            <p:xfrm>
              <a:off x="1213407" y="3000184"/>
              <a:ext cx="822960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47043707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187692492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5986148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05132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+6)(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63877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CAE396-AF82-0443-9592-7FAED9A94E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757041"/>
                  </p:ext>
                </p:extLst>
              </p:nvPr>
            </p:nvGraphicFramePr>
            <p:xfrm>
              <a:off x="1213407" y="3000184"/>
              <a:ext cx="822960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7043707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87692492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986148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205132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0000" r="-20022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100000" r="-10022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000" t="-100000" r="-222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638773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EE3289-7FA9-5E45-A3C1-E84C79104C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6516047"/>
                  </p:ext>
                </p:extLst>
              </p:nvPr>
            </p:nvGraphicFramePr>
            <p:xfrm>
              <a:off x="2680256" y="409846"/>
              <a:ext cx="6514014" cy="601421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71338">
                      <a:extLst>
                        <a:ext uri="{9D8B030D-6E8A-4147-A177-3AD203B41FA5}">
                          <a16:colId xmlns:a16="http://schemas.microsoft.com/office/drawing/2014/main" val="1570066846"/>
                        </a:ext>
                      </a:extLst>
                    </a:gridCol>
                    <a:gridCol w="2171338">
                      <a:extLst>
                        <a:ext uri="{9D8B030D-6E8A-4147-A177-3AD203B41FA5}">
                          <a16:colId xmlns:a16="http://schemas.microsoft.com/office/drawing/2014/main" val="4200722099"/>
                        </a:ext>
                      </a:extLst>
                    </a:gridCol>
                    <a:gridCol w="2171338">
                      <a:extLst>
                        <a:ext uri="{9D8B030D-6E8A-4147-A177-3AD203B41FA5}">
                          <a16:colId xmlns:a16="http://schemas.microsoft.com/office/drawing/2014/main" val="25571539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Name</a:t>
                          </a:r>
                          <a:endParaRPr lang="en-US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 Used</a:t>
                          </a:r>
                          <a:endParaRPr lang="en-US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Key Feature</a:t>
                          </a:r>
                          <a:endParaRPr lang="en-US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33721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-intercepts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bPr>
                                      <m:e/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  <m:t>,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bPr>
                                      <m:e/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  <m:t>,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012673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bPr>
                                      <m:e/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  <m:t>,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834199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</m:ctrlPr>
                                      </m:sSubPr>
                                      <m:e/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Verdana" panose="020B0604030504040204" pitchFamily="34" charset="0"/>
                                          </a:rPr>
                                          <m:t>,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6782445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axis of symmetry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Verdana" panose="020B0604030504040204" pitchFamily="34" charset="0"/>
                                  </a:rPr>
                                  <m:t>=______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83649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increasing/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decreasing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:_______________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Decreasing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:_______________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49720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positive/negative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Verdana" panose="020B0604030504040204" pitchFamily="34" charset="0"/>
                                      </a:rPr>
                                      <m:t>:_______________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Negative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erdana" panose="020B0604030504040204" pitchFamily="34" charset="0"/>
                                    </a:rPr>
                                    <m:t>𝑥</m:t>
                                  </m:r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erdana" panose="020B0604030504040204" pitchFamily="34" charset="0"/>
                                    </a:rPr>
                                    <m:t>:_______________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3656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9EE3289-7FA9-5E45-A3C1-E84C79104C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6516047"/>
                  </p:ext>
                </p:extLst>
              </p:nvPr>
            </p:nvGraphicFramePr>
            <p:xfrm>
              <a:off x="2680256" y="409846"/>
              <a:ext cx="6514014" cy="6014212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1713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70066846"/>
                        </a:ext>
                      </a:extLst>
                    </a:gridCol>
                    <a:gridCol w="21713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00722099"/>
                        </a:ext>
                      </a:extLst>
                    </a:gridCol>
                    <a:gridCol w="217133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571539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Name</a:t>
                          </a:r>
                          <a:endParaRPr lang="en-US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 Used</a:t>
                          </a:r>
                          <a:endParaRPr lang="en-US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Key Feature</a:t>
                          </a:r>
                          <a:endParaRPr lang="en-US" sz="18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33337214"/>
                      </a:ext>
                    </a:extLst>
                  </a:tr>
                  <a:tr h="8021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81" t="-56818" r="-200281" b="-59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281" t="-56818" r="-281" b="-59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2012673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81" t="-230000" r="-200281" b="-7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281" t="-230000" r="-281" b="-7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88341992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281" t="-330000" r="-281" b="-6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6782445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axis of symmetry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281" t="-430000" r="-281" b="-5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5836497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increasing/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decreasing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281" t="-187059" r="-281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62497203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positive/negative</a:t>
                          </a: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0281" t="-287059" r="-2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436566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042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image3.png">
            <a:extLst>
              <a:ext uri="{FF2B5EF4-FFF2-40B4-BE49-F238E27FC236}">
                <a16:creationId xmlns:a16="http://schemas.microsoft.com/office/drawing/2014/main" id="{55F57653-57D3-6F4B-9A00-43DC41F4844D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63082" y="1428245"/>
            <a:ext cx="3944983" cy="3784881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7267ED1-03C9-164A-A0DF-3752D5BEB0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7652652"/>
                  </p:ext>
                </p:extLst>
              </p:nvPr>
            </p:nvGraphicFramePr>
            <p:xfrm>
              <a:off x="2638640" y="5632814"/>
              <a:ext cx="6851015" cy="65087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72795">
                      <a:extLst>
                        <a:ext uri="{9D8B030D-6E8A-4147-A177-3AD203B41FA5}">
                          <a16:colId xmlns:a16="http://schemas.microsoft.com/office/drawing/2014/main" val="3918170495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val="4235255032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val="2688038481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val="679202064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val="3865501275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val="2646476656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val="743410599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val="2940475687"/>
                        </a:ext>
                      </a:extLst>
                    </a:gridCol>
                  </a:tblGrid>
                  <a:tr h="2740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2544052"/>
                      </a:ext>
                    </a:extLst>
                  </a:tr>
                  <a:tr h="3460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−30</m:t>
                                </m:r>
                              </m:oMath>
                            </m:oMathPara>
                          </a14:m>
                          <a:endParaRPr lang="en-US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−32</m:t>
                                </m:r>
                              </m:oMath>
                            </m:oMathPara>
                          </a14:m>
                          <a:endParaRPr lang="en-US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−30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−14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94923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7267ED1-03C9-164A-A0DF-3752D5BEB0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7652652"/>
                  </p:ext>
                </p:extLst>
              </p:nvPr>
            </p:nvGraphicFramePr>
            <p:xfrm>
              <a:off x="2638640" y="5632814"/>
              <a:ext cx="6851015" cy="65087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7279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18170495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35255032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8038481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79202064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65501275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46476656"/>
                        </a:ext>
                      </a:extLst>
                    </a:gridCol>
                    <a:gridCol w="8680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43410599"/>
                        </a:ext>
                      </a:extLst>
                    </a:gridCol>
                    <a:gridCol w="8686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4047568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87" r="-785039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0141" r="-602113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811" r="-497902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90845" r="-401408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88112" r="-298601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91549" r="-200704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1549" r="-100704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6713" b="-1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42544052"/>
                      </a:ext>
                    </a:extLst>
                  </a:tr>
                  <a:tr h="346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787" t="-87719" r="-785039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0141" t="-87719" r="-602113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8811" t="-87719" r="-497902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90845" t="-87719" r="-401408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88112" t="-87719" r="-298601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91549" t="-87719" r="-200704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91549" t="-87719" r="-100704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86713" t="-87719" b="-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994923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key features on the graph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if possible, circle the key feature in the table of values.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707886"/>
              </a:xfrm>
              <a:prstGeom prst="rect">
                <a:avLst/>
              </a:prstGeom>
              <a:blipFill rotWithShape="1">
                <a:blip r:embed="rId6"/>
                <a:stretch>
                  <a:fillRect l="-610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721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image8.png">
            <a:extLst>
              <a:ext uri="{FF2B5EF4-FFF2-40B4-BE49-F238E27FC236}">
                <a16:creationId xmlns:a16="http://schemas.microsoft.com/office/drawing/2014/main" id="{85E575D9-948C-0D46-99FE-29C82D9F406A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92065" y="1386025"/>
            <a:ext cx="4311650" cy="4516755"/>
          </a:xfrm>
          <a:prstGeom prst="rect">
            <a:avLst/>
          </a:prstGeom>
          <a:ln/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02527" y="1386025"/>
            <a:ext cx="60792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quadratic equation is shown. Label the four colored points on the parabola with the ordered pair.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words, ordered pairs, or symbols to describe the location of each key feature on the given parabola.</a:t>
            </a:r>
          </a:p>
        </p:txBody>
      </p:sp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8.1.5 Wrap-Up: Cool Down</a:t>
            </a: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2CFFE40-D53F-1141-97AE-5EDD00F42A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312899"/>
                  </p:ext>
                </p:extLst>
              </p:nvPr>
            </p:nvGraphicFramePr>
            <p:xfrm>
              <a:off x="2466549" y="410666"/>
              <a:ext cx="6912583" cy="4800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316314">
                      <a:extLst>
                        <a:ext uri="{9D8B030D-6E8A-4147-A177-3AD203B41FA5}">
                          <a16:colId xmlns:a16="http://schemas.microsoft.com/office/drawing/2014/main" val="92526499"/>
                        </a:ext>
                      </a:extLst>
                    </a:gridCol>
                    <a:gridCol w="3596269">
                      <a:extLst>
                        <a:ext uri="{9D8B030D-6E8A-4147-A177-3AD203B41FA5}">
                          <a16:colId xmlns:a16="http://schemas.microsoft.com/office/drawing/2014/main" val="210776951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Key Feature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Location of Key Feature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1756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-intercepts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444149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187994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3973283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axis of symmetry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0187942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increasing/decreasing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6679465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positive/negative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45531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2CFFE40-D53F-1141-97AE-5EDD00F42A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312899"/>
                  </p:ext>
                </p:extLst>
              </p:nvPr>
            </p:nvGraphicFramePr>
            <p:xfrm>
              <a:off x="2466549" y="410666"/>
              <a:ext cx="6912583" cy="4800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31631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2526499"/>
                        </a:ext>
                      </a:extLst>
                    </a:gridCol>
                    <a:gridCol w="359626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107769513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Key Feature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Location of Key Feature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41756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4" t="-100893" r="-108456" b="-502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5444149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4" t="-199115" r="-108456" b="-398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71879945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3973283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axis of symmetry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201879424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increasing/decreasing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866794659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positive/negative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5288" marR="65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445531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57023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1715</Words>
  <Application>Microsoft Office PowerPoint</Application>
  <PresentationFormat>Widescreen</PresentationFormat>
  <Paragraphs>304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PowerPoint Presentation</vt:lpstr>
      <vt:lpstr>Benchmark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29</cp:revision>
  <dcterms:created xsi:type="dcterms:W3CDTF">2015-03-17T18:51:18Z</dcterms:created>
  <dcterms:modified xsi:type="dcterms:W3CDTF">2023-02-13T20:03:19Z</dcterms:modified>
</cp:coreProperties>
</file>