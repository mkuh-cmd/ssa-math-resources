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8"/>
  </p:notesMasterIdLst>
  <p:sldIdLst>
    <p:sldId id="256" r:id="rId2"/>
    <p:sldId id="257" r:id="rId3"/>
    <p:sldId id="285" r:id="rId4"/>
    <p:sldId id="286" r:id="rId5"/>
    <p:sldId id="261" r:id="rId6"/>
    <p:sldId id="287" r:id="rId7"/>
    <p:sldId id="288" r:id="rId8"/>
    <p:sldId id="362" r:id="rId9"/>
    <p:sldId id="289" r:id="rId10"/>
    <p:sldId id="290" r:id="rId11"/>
    <p:sldId id="356" r:id="rId12"/>
    <p:sldId id="363" r:id="rId13"/>
    <p:sldId id="364" r:id="rId14"/>
    <p:sldId id="365" r:id="rId15"/>
    <p:sldId id="366" r:id="rId16"/>
    <p:sldId id="367" r:id="rId17"/>
    <p:sldId id="368" r:id="rId18"/>
    <p:sldId id="369" r:id="rId19"/>
    <p:sldId id="370" r:id="rId20"/>
    <p:sldId id="371" r:id="rId21"/>
    <p:sldId id="372" r:id="rId22"/>
    <p:sldId id="373" r:id="rId23"/>
    <p:sldId id="323" r:id="rId24"/>
    <p:sldId id="324" r:id="rId25"/>
    <p:sldId id="357" r:id="rId26"/>
    <p:sldId id="374" r:id="rId27"/>
    <p:sldId id="352" r:id="rId28"/>
    <p:sldId id="375" r:id="rId29"/>
    <p:sldId id="302" r:id="rId30"/>
    <p:sldId id="303" r:id="rId31"/>
    <p:sldId id="360" r:id="rId32"/>
    <p:sldId id="377" r:id="rId33"/>
    <p:sldId id="361" r:id="rId34"/>
    <p:sldId id="306" r:id="rId35"/>
    <p:sldId id="307" r:id="rId36"/>
    <p:sldId id="376"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09"/>
    <p:restoredTop sz="94622"/>
  </p:normalViewPr>
  <p:slideViewPr>
    <p:cSldViewPr snapToGrid="0">
      <p:cViewPr varScale="1">
        <p:scale>
          <a:sx n="96" d="100"/>
          <a:sy n="96" d="100"/>
        </p:scale>
        <p:origin x="176" y="4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72" Type="http://customschemas.google.com/relationships/presentationmetadata" Target="metadata"/><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455489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933499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782407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001960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15281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55672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0357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95091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02171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978035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99201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901222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72128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916943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827160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1327483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979314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9006613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732966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extLst>
      <p:ext uri="{BB962C8B-B14F-4D97-AF65-F5344CB8AC3E}">
        <p14:creationId xmlns:p14="http://schemas.microsoft.com/office/powerpoint/2010/main" val="1047159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9.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10.png"/><Relationship Id="rId5"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10.png"/><Relationship Id="rId5" Type="http://schemas.openxmlformats.org/officeDocument/2006/relationships/image" Target="../media/image51.png"/><Relationship Id="rId6" Type="http://schemas.openxmlformats.org/officeDocument/2006/relationships/image" Target="../media/image52.png"/><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4" Type="http://schemas.openxmlformats.org/officeDocument/2006/relationships/image" Target="../media/image10.png"/><Relationship Id="rId5" Type="http://schemas.openxmlformats.org/officeDocument/2006/relationships/image" Target="../media/image54.png"/><Relationship Id="rId6" Type="http://schemas.openxmlformats.org/officeDocument/2006/relationships/image" Target="../media/image55.png"/><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8,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Graphing Quadratic Equations </a:t>
            </a:r>
            <a:r>
              <a:rPr lang="en-US" sz="3800" b="1" dirty="0" smtClean="0">
                <a:solidFill>
                  <a:srgbClr val="417DBF"/>
                </a:solidFill>
                <a:latin typeface="Verdana"/>
                <a:ea typeface="Verdana"/>
                <a:cs typeface="Verdana"/>
                <a:sym typeface="Verdana"/>
              </a:rPr>
              <a:t>From </a:t>
            </a:r>
            <a:r>
              <a:rPr lang="en-US" sz="3800" b="1" dirty="0">
                <a:solidFill>
                  <a:srgbClr val="417DBF"/>
                </a:solidFill>
                <a:latin typeface="Verdana"/>
                <a:ea typeface="Verdana"/>
                <a:cs typeface="Verdana"/>
                <a:sym typeface="Verdana"/>
              </a:rPr>
              <a:t>Key Features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49536" y="4774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6518" y="28352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32660" y="1467488"/>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MA.912.AR.3.6</a:t>
            </a:r>
          </a:p>
          <a:p>
            <a:pPr indent="0">
              <a:buNone/>
            </a:pPr>
            <a:r>
              <a:rPr lang="en-US" sz="3200" dirty="0">
                <a:solidFill>
                  <a:schemeClr val="tx1"/>
                </a:solidFill>
                <a:latin typeface="Verdana"/>
                <a:ea typeface="Verdana"/>
                <a:cs typeface="Verdana"/>
                <a:sym typeface="Verdana"/>
              </a:rPr>
              <a:t>Given </a:t>
            </a:r>
            <a:r>
              <a:rPr lang="en-US" sz="3200" dirty="0">
                <a:latin typeface="Verdana" panose="020B0604030504040204" pitchFamily="34" charset="0"/>
                <a:ea typeface="Verdana" panose="020B0604030504040204" pitchFamily="34" charset="0"/>
                <a:cs typeface="Verdana" panose="020B0604030504040204" pitchFamily="34" charset="0"/>
              </a:rPr>
              <a:t>an expression or equation representing a quadratic function, determine the vertex and zeros and interpret them in terms of a real-world context.</a:t>
            </a:r>
          </a:p>
          <a:p>
            <a:pPr indent="0">
              <a:buNone/>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3200" dirty="0">
                <a:solidFill>
                  <a:schemeClr val="tx1"/>
                </a:solidFill>
                <a:latin typeface="Verdana"/>
                <a:ea typeface="Verdana"/>
                <a:cs typeface="Verdana"/>
                <a:sym typeface="Verdana"/>
              </a:rPr>
              <a:t>MA.912.AR.3.7</a:t>
            </a:r>
          </a:p>
          <a:p>
            <a:pPr indent="0">
              <a:buNone/>
            </a:pPr>
            <a:r>
              <a:rPr lang="en-US" sz="3200" dirty="0">
                <a:latin typeface="Verdana" panose="020B0604030504040204" pitchFamily="34" charset="0"/>
                <a:ea typeface="Times New Roman" panose="02020603050405020304" pitchFamily="18" charset="0"/>
                <a:cs typeface="Times New Roman" panose="02020603050405020304" pitchFamily="18" charset="0"/>
              </a:rPr>
              <a:t>Given a table, equation, or written description of a quadratic function, graph that function and determine and interpret its key features.</a:t>
            </a:r>
            <a:r>
              <a:rPr lang="en-US" sz="3200" dirty="0"/>
              <a:t> </a:t>
            </a:r>
            <a:endParaRPr lang="en-US" sz="32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52622" y="-568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532662" y="1463224"/>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436518" y="283520"/>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49536" y="-568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436518" y="28352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2661" y="146703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determine key features of a quadratic function given equations in different forms</a:t>
            </a:r>
            <a:r>
              <a:rPr lang="en-US" sz="3500" dirty="0" smtClean="0">
                <a:solidFill>
                  <a:schemeClr val="tx1"/>
                </a:solidFill>
                <a:latin typeface="Verdana"/>
                <a:ea typeface="Verdana"/>
                <a:cs typeface="Verdana"/>
                <a:sym typeface="Verdana"/>
              </a:rPr>
              <a:t>.</a:t>
            </a:r>
          </a:p>
          <a:p>
            <a:pPr marL="630238" indent="-623888">
              <a:buClr>
                <a:srgbClr val="434343"/>
              </a:buClr>
              <a:buSzPts val="3500"/>
              <a:buFont typeface="Wingdings" pitchFamily="2" charset="2"/>
              <a:buChar char="q"/>
            </a:pPr>
            <a:endParaRPr lang="en-US" sz="3500" dirty="0">
              <a:solidFill>
                <a:schemeClr val="tx1"/>
              </a:solidFill>
              <a:latin typeface="Verdana"/>
              <a:ea typeface="Verdana"/>
              <a:cs typeface="Verdana"/>
              <a:sym typeface="Verdana"/>
            </a:endParaRPr>
          </a:p>
          <a:p>
            <a:pPr marL="630238" indent="-623888">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graph a quadratic function using key features determined from equations and tables of values.</a:t>
            </a:r>
          </a:p>
        </p:txBody>
      </p:sp>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4842" y="-5680"/>
            <a:ext cx="104407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500" b="1" dirty="0">
                <a:solidFill>
                  <a:srgbClr val="3F2A67"/>
                </a:solidFill>
                <a:latin typeface="Verdana"/>
                <a:ea typeface="Verdana"/>
                <a:cs typeface="Verdana"/>
                <a:sym typeface="Verdana"/>
              </a:rPr>
              <a:t>8.4.1 Warm-Up: How’s the Weather?</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436518" y="28352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E1D7562E-134F-D14B-AF1A-DF40E11EF758}"/>
                  </a:ext>
                </a:extLst>
              </p:cNvPr>
              <p:cNvSpPr txBox="1"/>
              <p:nvPr/>
            </p:nvSpPr>
            <p:spPr>
              <a:xfrm>
                <a:off x="532661" y="1465927"/>
                <a:ext cx="10515600"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graph shows solar radiation,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𝑆</m:t>
                    </m:r>
                  </m:oMath>
                </a14:m>
                <a:r>
                  <a:rPr lang="en-US" sz="2400" dirty="0">
                    <a:latin typeface="Verdana" panose="020B0604030504040204" pitchFamily="34" charset="0"/>
                    <a:ea typeface="Verdana" panose="020B0604030504040204" pitchFamily="34" charset="0"/>
                    <a:cs typeface="Verdana" panose="020B0604030504040204" pitchFamily="34" charset="0"/>
                  </a:rPr>
                  <a:t>, in watts per square meter, as a function of time,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𝑡</m:t>
                    </m:r>
                  </m:oMath>
                </a14:m>
                <a:r>
                  <a:rPr lang="en-US" sz="2400" dirty="0">
                    <a:latin typeface="Verdana" panose="020B0604030504040204" pitchFamily="34" charset="0"/>
                    <a:ea typeface="Verdana" panose="020B0604030504040204" pitchFamily="34" charset="0"/>
                    <a:cs typeface="Verdana" panose="020B0604030504040204" pitchFamily="34" charset="0"/>
                  </a:rPr>
                  <a:t>, in hours since midnight. Think about this quantity as the maximum amount of power that a solar panel can absorb, which is determined by how intense the sunshine is at any given time.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Which description corresponds to the graph of the weather during the day?</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2661" y="1465927"/>
                <a:ext cx="10515600" cy="3046988"/>
              </a:xfrm>
              <a:prstGeom prst="rect">
                <a:avLst/>
              </a:prstGeom>
              <a:blipFill rotWithShape="1">
                <a:blip r:embed="rId4"/>
                <a:stretch>
                  <a:fillRect l="-870" t="-1800" r="-1449" b="-3600"/>
                </a:stretch>
              </a:blipFill>
            </p:spPr>
            <p:txBody>
              <a:bodyPr/>
              <a:lstStyle/>
              <a:p>
                <a:r>
                  <a:rPr lang="en-PH">
                    <a:noFill/>
                  </a:rPr>
                  <a:t> </a:t>
                </a:r>
              </a:p>
            </p:txBody>
          </p:sp>
        </mc:Fallback>
      </mc:AlternateContent>
      <p:sp>
        <p:nvSpPr>
          <p:cNvPr id="9"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 xmlns:a16="http://schemas.microsoft.com/office/drawing/2014/main" id="{84C0F641-506B-7340-82A8-E53A0FEC0812}"/>
              </a:ext>
            </a:extLst>
          </p:cNvPr>
          <p:cNvPicPr>
            <a:picLocks noChangeAspect="1"/>
          </p:cNvPicPr>
          <p:nvPr/>
        </p:nvPicPr>
        <p:blipFill>
          <a:blip r:embed="rId3"/>
          <a:stretch>
            <a:fillRect/>
          </a:stretch>
        </p:blipFill>
        <p:spPr>
          <a:xfrm>
            <a:off x="2638448" y="4627222"/>
            <a:ext cx="6267450" cy="2066065"/>
          </a:xfrm>
          <a:prstGeom prst="rect">
            <a:avLst/>
          </a:prstGeom>
        </p:spPr>
      </p:pic>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pic>
        <p:nvPicPr>
          <p:cNvPr id="1026" name="Picture 2" descr="A graph showing solar radiation (watts per square meter) and hours since midnight."/>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831553" y="331832"/>
            <a:ext cx="5881241" cy="4074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2660" y="378351"/>
            <a:ext cx="10515600" cy="1200329"/>
          </a:xfrm>
          <a:prstGeom prst="rect">
            <a:avLst/>
          </a:prstGeom>
          <a:noFill/>
        </p:spPr>
        <p:txBody>
          <a:bodyPr wrap="square" rtlCol="0">
            <a:spAutoFit/>
          </a:bodyPr>
          <a:lstStyle/>
          <a:p>
            <a:pPr marL="514350" indent="-51435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with your partner and discuss how you determined the description that matched the graph.</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80718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54842" y="-568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8.4.2 Guided Instruction: Graphing Quadratic Equations </a:t>
            </a:r>
            <a:r>
              <a:rPr lang="en-US" sz="2800" b="1" dirty="0" smtClean="0">
                <a:solidFill>
                  <a:srgbClr val="54B5D1"/>
                </a:solidFill>
                <a:latin typeface="Verdana"/>
                <a:ea typeface="Verdana"/>
                <a:cs typeface="Verdana"/>
                <a:sym typeface="Verdana"/>
              </a:rPr>
              <a:t>From </a:t>
            </a:r>
            <a:r>
              <a:rPr lang="en-US" sz="2800" b="1" dirty="0">
                <a:solidFill>
                  <a:srgbClr val="54B5D1"/>
                </a:solidFill>
                <a:latin typeface="Verdana"/>
                <a:ea typeface="Verdana"/>
                <a:cs typeface="Verdana"/>
                <a:sym typeface="Verdana"/>
              </a:rPr>
              <a:t>Key Features and a Table of Values</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436518" y="28352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532660" y="1464741"/>
                <a:ext cx="10515600" cy="3046988"/>
              </a:xfrm>
              <a:prstGeom prst="rect">
                <a:avLst/>
              </a:prstGeom>
              <a:noFill/>
            </p:spPr>
            <p:txBody>
              <a:bodyPr wrap="square" rtlCol="0">
                <a:spAutoFit/>
              </a:bodyPr>
              <a:lstStyle/>
              <a:p>
                <a:r>
                  <a:rPr lang="en-US" sz="2400" dirty="0">
                    <a:latin typeface="Verdana" panose="020B0604030504040204" pitchFamily="34" charset="0"/>
                    <a:ea typeface="Times New Roman" panose="02020603050405020304" pitchFamily="18" charset="0"/>
                    <a:cs typeface="Arial" panose="020B0604020202020204" pitchFamily="34" charset="0"/>
                  </a:rPr>
                  <a:t>The three forms of quadratics – vertex form, factored form, and standard form – each highlight key features of a quadratic relationship that can assist in graphing.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Arial" panose="020B0604020202020204" pitchFamily="34"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Arial" panose="020B0604020202020204" pitchFamily="34" charset="0"/>
                  </a:rPr>
                  <a:t>Consider the quadratic equation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=2</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−6</m:t>
                    </m:r>
                  </m:oMath>
                </a14:m>
                <a:r>
                  <a:rPr lang="en-US" sz="2400" dirty="0">
                    <a:latin typeface="Verdana" panose="020B0604030504040204" pitchFamily="34" charset="0"/>
                    <a:ea typeface="Times New Roman" panose="02020603050405020304" pitchFamily="18" charset="0"/>
                    <a:cs typeface="Arial" panose="020B0604020202020204" pitchFamily="34"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2400" dirty="0">
                    <a:latin typeface="Verdana" panose="020B0604030504040204" pitchFamily="34" charset="0"/>
                    <a:ea typeface="Times New Roman" panose="02020603050405020304" pitchFamily="18" charset="0"/>
                    <a:cs typeface="Arial" panose="020B0604020202020204" pitchFamily="34"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896938" indent="-444500">
                  <a:buFont typeface="+mj-lt"/>
                  <a:buAutoNum type="alphaLcPeriod"/>
                </a:pPr>
                <a:r>
                  <a:rPr lang="en-US" sz="2400" dirty="0" smtClean="0">
                    <a:latin typeface="Verdana" panose="020B0604030504040204" pitchFamily="34" charset="0"/>
                    <a:ea typeface="Times New Roman" panose="02020603050405020304" pitchFamily="18" charset="0"/>
                    <a:cs typeface="Arial" panose="020B0604020202020204" pitchFamily="34" charset="0"/>
                  </a:rPr>
                  <a:t>Write </a:t>
                </a:r>
                <a:r>
                  <a:rPr lang="en-US" sz="2400" dirty="0">
                    <a:latin typeface="Verdana" panose="020B0604030504040204" pitchFamily="34" charset="0"/>
                    <a:ea typeface="Times New Roman" panose="02020603050405020304" pitchFamily="18" charset="0"/>
                    <a:cs typeface="Arial" panose="020B0604020202020204" pitchFamily="34" charset="0"/>
                  </a:rPr>
                  <a:t>the key features that can be determined from the equation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=2</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−6</m:t>
                    </m:r>
                  </m:oMath>
                </a14:m>
                <a:r>
                  <a:rPr lang="en-US" sz="2400" dirty="0">
                    <a:latin typeface="Verdana" panose="020B0604030504040204" pitchFamily="34" charset="0"/>
                    <a:ea typeface="Times New Roman" panose="02020603050405020304" pitchFamily="18" charset="0"/>
                    <a:cs typeface="Arial" panose="020B0604020202020204" pitchFamily="34" charset="0"/>
                  </a:rPr>
                  <a:t> in the table.</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2660" y="1464741"/>
                <a:ext cx="10515600" cy="3046988"/>
              </a:xfrm>
              <a:prstGeom prst="rect">
                <a:avLst/>
              </a:prstGeom>
              <a:blipFill rotWithShape="1">
                <a:blip r:embed="rId4"/>
                <a:stretch>
                  <a:fillRect l="-870" t="-1600" b="-3400"/>
                </a:stretch>
              </a:blipFill>
            </p:spPr>
            <p:txBody>
              <a:bodyPr/>
              <a:lstStyle/>
              <a:p>
                <a:r>
                  <a:rPr lang="en-PH">
                    <a:noFill/>
                  </a:rPr>
                  <a:t> </a:t>
                </a:r>
              </a:p>
            </p:txBody>
          </p:sp>
        </mc:Fallback>
      </mc:AlternateContent>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25</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795F6B4B-3C1C-FA4A-9D4C-6722F610B7D1}"/>
              </a:ext>
            </a:extLst>
          </p:cNvPr>
          <p:cNvPicPr>
            <a:picLocks noChangeAspect="1"/>
          </p:cNvPicPr>
          <p:nvPr/>
        </p:nvPicPr>
        <p:blipFill>
          <a:blip r:embed="rId3"/>
          <a:stretch>
            <a:fillRect/>
          </a:stretch>
        </p:blipFill>
        <p:spPr>
          <a:xfrm>
            <a:off x="3026229" y="546914"/>
            <a:ext cx="6139543" cy="5755822"/>
          </a:xfrm>
          <a:prstGeom prst="rect">
            <a:avLst/>
          </a:prstGeom>
        </p:spPr>
      </p:pic>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40120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78349"/>
                <a:ext cx="10515600" cy="3539430"/>
              </a:xfrm>
              <a:prstGeom prst="rect">
                <a:avLst/>
              </a:prstGeom>
              <a:noFill/>
            </p:spPr>
            <p:txBody>
              <a:bodyPr wrap="square" rtlCol="0">
                <a:spAutoFit/>
              </a:bodyPr>
              <a:lstStyle/>
              <a:p>
                <a:pPr marL="893763" indent="-466725"/>
                <a:r>
                  <a:rPr lang="en-US" sz="2400" dirty="0">
                    <a:latin typeface="Verdana" panose="020B0604030504040204" pitchFamily="34" charset="0"/>
                    <a:ea typeface="Times New Roman" panose="02020603050405020304" pitchFamily="18" charset="0"/>
                    <a:cs typeface="Times New Roman" panose="02020603050405020304" pitchFamily="18" charset="0"/>
                  </a:rPr>
                  <a:t>b.  Rewrite </a:t>
                </a:r>
                <a:r>
                  <a:rPr lang="en-US" sz="2400" dirty="0">
                    <a:latin typeface="Verdana" panose="020B0604030504040204" pitchFamily="34" charset="0"/>
                    <a:ea typeface="Times New Roman" panose="02020603050405020304" pitchFamily="18" charset="0"/>
                    <a:cs typeface="Arial" panose="020B0604020202020204" pitchFamily="34" charset="0"/>
                  </a:rPr>
                  <a:t>the equation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=2</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−6</m:t>
                    </m:r>
                  </m:oMath>
                </a14:m>
                <a:r>
                  <a:rPr lang="en-US" sz="2400" dirty="0">
                    <a:latin typeface="Verdana" panose="020B0604030504040204" pitchFamily="34" charset="0"/>
                    <a:ea typeface="Times New Roman" panose="02020603050405020304" pitchFamily="18" charset="0"/>
                    <a:cs typeface="Arial" panose="020B0604020202020204" pitchFamily="34" charset="0"/>
                  </a:rPr>
                  <a:t> in standard form.</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dirty="0">
                    <a:latin typeface="Verdana" panose="020B0604030504040204" pitchFamily="34" charset="0"/>
                    <a:ea typeface="Times New Roman" panose="02020603050405020304" pitchFamily="18" charset="0"/>
                    <a:cs typeface="Times New Roman" panose="02020603050405020304" pitchFamily="18" charset="0"/>
                  </a:rPr>
                  <a:t>c.  Add any additional key features that can be determined from the equation in standard form to the table above</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78349"/>
                <a:ext cx="10515600" cy="3539430"/>
              </a:xfrm>
              <a:prstGeom prst="rect">
                <a:avLst/>
              </a:prstGeom>
              <a:blipFill rotWithShape="1">
                <a:blip r:embed="rId3"/>
                <a:stretch>
                  <a:fillRect t="-1549" r="-1855" b="-2754"/>
                </a:stretch>
              </a:blipFill>
            </p:spPr>
            <p:txBody>
              <a:bodyPr/>
              <a:lstStyle/>
              <a:p>
                <a:r>
                  <a:rPr lang="en-PH">
                    <a:noFill/>
                  </a:rPr>
                  <a:t> </a:t>
                </a:r>
              </a:p>
            </p:txBody>
          </p:sp>
        </mc:Fallback>
      </mc:AlternateContent>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0105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59" y="378084"/>
                <a:ext cx="10515600" cy="1697901"/>
              </a:xfrm>
              <a:prstGeom prst="rect">
                <a:avLst/>
              </a:prstGeom>
              <a:noFill/>
            </p:spPr>
            <p:txBody>
              <a:bodyPr wrap="square" rtlCol="0">
                <a:spAutoFit/>
              </a:bodyPr>
              <a:lstStyle/>
              <a:p>
                <a:pPr>
                  <a:spcAft>
                    <a:spcPts val="1000"/>
                  </a:spcAft>
                </a:pPr>
                <a:r>
                  <a:rPr lang="en-US" sz="2400" dirty="0">
                    <a:latin typeface="Verdana" panose="020B0604030504040204" pitchFamily="34" charset="0"/>
                    <a:ea typeface="Times New Roman" panose="02020603050405020304" pitchFamily="18" charset="0"/>
                    <a:cs typeface="Times New Roman" panose="02020603050405020304" pitchFamily="18" charset="0"/>
                  </a:rPr>
                  <a:t>The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-intercepts of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=2</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are plotted on the graph.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a:spcAft>
                    <a:spcPts val="1000"/>
                  </a:spcAft>
                </a:pPr>
                <a:r>
                  <a:rPr lang="en-US" sz="2400" i="1" dirty="0">
                    <a:latin typeface="Verdana" panose="020B0604030504040204" pitchFamily="34" charset="0"/>
                    <a:ea typeface="Times New Roman" panose="02020603050405020304" pitchFamily="18" charset="0"/>
                    <a:cs typeface="Times New Roman" panose="02020603050405020304" pitchFamily="18" charset="0"/>
                  </a:rPr>
                  <a:t/>
                </a:r>
                <a:br>
                  <a:rPr lang="en-US" sz="2400" i="1" dirty="0">
                    <a:latin typeface="Verdana" panose="020B0604030504040204" pitchFamily="34" charset="0"/>
                    <a:ea typeface="Times New Roman" panose="02020603050405020304" pitchFamily="18" charset="0"/>
                    <a:cs typeface="Times New Roman" panose="02020603050405020304" pitchFamily="18" charset="0"/>
                  </a:rPr>
                </a:br>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59" y="378084"/>
                <a:ext cx="10515600" cy="1697901"/>
              </a:xfrm>
              <a:prstGeom prst="rect">
                <a:avLst/>
              </a:prstGeom>
              <a:blipFill rotWithShape="1">
                <a:blip r:embed="rId3"/>
                <a:stretch>
                  <a:fillRect l="-870" t="-3226"/>
                </a:stretch>
              </a:blipFill>
            </p:spPr>
            <p:txBody>
              <a:bodyPr/>
              <a:lstStyle/>
              <a:p>
                <a:r>
                  <a:rPr lang="en-PH">
                    <a:noFill/>
                  </a:rPr>
                  <a:t> </a:t>
                </a:r>
              </a:p>
            </p:txBody>
          </p:sp>
        </mc:Fallback>
      </mc:AlternateContent>
      <p:pic>
        <p:nvPicPr>
          <p:cNvPr id="6" name="Picture 5">
            <a:extLst>
              <a:ext uri="{FF2B5EF4-FFF2-40B4-BE49-F238E27FC236}">
                <a16:creationId xmlns="" xmlns:a16="http://schemas.microsoft.com/office/drawing/2014/main" id="{109255DB-51F9-CD4A-973E-6E124ACBEB2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53710" y="1147221"/>
            <a:ext cx="4873498" cy="4873498"/>
          </a:xfrm>
          <a:prstGeom prst="rect">
            <a:avLst/>
          </a:prstGeom>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986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78351"/>
                <a:ext cx="10515600" cy="3662541"/>
              </a:xfrm>
              <a:prstGeom prst="rect">
                <a:avLst/>
              </a:prstGeom>
              <a:noFill/>
            </p:spPr>
            <p:txBody>
              <a:bodyPr wrap="square" rtlCol="0">
                <a:spAutoFit/>
              </a:bodyPr>
              <a:lstStyle/>
              <a:p>
                <a:pPr marL="893763" indent="-466725">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Plot and label the vertex and the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-intercept. Then, draw the parabola through the key features plotted.</a:t>
                </a:r>
              </a:p>
              <a:p>
                <a:pPr marL="893763" indent="-466725">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66725">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66725">
                  <a:buAutoNum type="alphaLcPeriod" startAt="4"/>
                </a:pPr>
                <a:endParaRPr lang="en-US" sz="1600" dirty="0">
                  <a:latin typeface="Verdana" panose="020B0604030504040204" pitchFamily="34" charset="0"/>
                  <a:ea typeface="Verdana" panose="020B0604030504040204" pitchFamily="34" charset="0"/>
                  <a:cs typeface="Verdana" panose="020B0604030504040204" pitchFamily="34" charset="0"/>
                </a:endParaRPr>
              </a:p>
              <a:p>
                <a:pPr marL="893763" indent="-466725"/>
                <a:endParaRPr lang="en-US" sz="2400" i="1" dirty="0">
                  <a:latin typeface="Verdana" panose="020B0604030504040204" pitchFamily="34" charset="0"/>
                  <a:ea typeface="Times New Roman" panose="02020603050405020304" pitchFamily="18" charset="0"/>
                  <a:cs typeface="Times New Roman" panose="02020603050405020304" pitchFamily="18" charset="0"/>
                </a:endParaRPr>
              </a:p>
              <a:p>
                <a:pPr marL="893763" indent="-466725"/>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893763" indent="-466725"/>
                <a:r>
                  <a:rPr lang="en-US" sz="2400" dirty="0">
                    <a:latin typeface="Verdana" panose="020B0604030504040204" pitchFamily="34" charset="0"/>
                    <a:ea typeface="Times New Roman" panose="02020603050405020304" pitchFamily="18" charset="0"/>
                    <a:cs typeface="Times New Roman" panose="02020603050405020304" pitchFamily="18" charset="0"/>
                  </a:rPr>
                  <a:t>e.  Discuss with your partner if there are additional key features that can be determined from the graph. If so, add them to the key features table.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78351"/>
                <a:ext cx="10515600" cy="3662541"/>
              </a:xfrm>
              <a:prstGeom prst="rect">
                <a:avLst/>
              </a:prstGeom>
              <a:blipFill rotWithShape="1">
                <a:blip r:embed="rId3"/>
                <a:stretch>
                  <a:fillRect t="-1498" r="-1739" b="-2662"/>
                </a:stretch>
              </a:blipFill>
            </p:spPr>
            <p:txBody>
              <a:bodyPr/>
              <a:lstStyle/>
              <a:p>
                <a:r>
                  <a:rPr lang="en-PH">
                    <a:noFill/>
                  </a:rPr>
                  <a:t> </a:t>
                </a:r>
              </a:p>
            </p:txBody>
          </p:sp>
        </mc:Fallback>
      </mc:AlternateContent>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71449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59" y="386062"/>
                <a:ext cx="10515600" cy="2677656"/>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Arial" panose="020B0604020202020204" pitchFamily="34" charset="0"/>
                  </a:rPr>
                  <a:t>Consider the equation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=−4(</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−1)(</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oMath>
                </a14:m>
                <a:r>
                  <a:rPr lang="en-US" sz="2400" dirty="0">
                    <a:latin typeface="Verdana" panose="020B0604030504040204" pitchFamily="34" charset="0"/>
                    <a:ea typeface="Times New Roman" panose="02020603050405020304" pitchFamily="18" charset="0"/>
                    <a:cs typeface="Arial" panose="020B0604020202020204" pitchFamily="34"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685800"/>
                <a:r>
                  <a:rPr lang="en-US" sz="2400" dirty="0">
                    <a:latin typeface="Verdana" panose="020B0604030504040204" pitchFamily="34" charset="0"/>
                    <a:ea typeface="Times New Roman" panose="02020603050405020304" pitchFamily="18" charset="0"/>
                    <a:cs typeface="Arial" panose="020B0604020202020204" pitchFamily="34"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900113" indent="-457200">
                  <a:buFont typeface="+mj-lt"/>
                  <a:buAutoNum type="alphaLcPeriod"/>
                </a:pPr>
                <a:r>
                  <a:rPr lang="en-US" sz="2400" dirty="0" smtClean="0">
                    <a:latin typeface="Verdana" panose="020B0604030504040204" pitchFamily="34" charset="0"/>
                    <a:ea typeface="Times New Roman" panose="02020603050405020304" pitchFamily="18" charset="0"/>
                    <a:cs typeface="Arial" panose="020B0604020202020204" pitchFamily="34" charset="0"/>
                  </a:rPr>
                  <a:t>Write </a:t>
                </a:r>
                <a:r>
                  <a:rPr lang="en-US" sz="2400" dirty="0">
                    <a:latin typeface="Verdana" panose="020B0604030504040204" pitchFamily="34" charset="0"/>
                    <a:ea typeface="Times New Roman" panose="02020603050405020304" pitchFamily="18" charset="0"/>
                    <a:cs typeface="Arial" panose="020B0604020202020204" pitchFamily="34" charset="0"/>
                  </a:rPr>
                  <a:t>the key </a:t>
                </a:r>
                <a:r>
                  <a:rPr lang="en-US" sz="2400" dirty="0" smtClean="0">
                    <a:latin typeface="Verdana" panose="020B0604030504040204" pitchFamily="34" charset="0"/>
                    <a:ea typeface="Times New Roman" panose="02020603050405020304" pitchFamily="18" charset="0"/>
                    <a:cs typeface="Arial" panose="020B0604020202020204" pitchFamily="34" charset="0"/>
                  </a:rPr>
                  <a:t>features </a:t>
                </a:r>
                <a:br>
                  <a:rPr lang="en-US" sz="2400" dirty="0" smtClean="0">
                    <a:latin typeface="Verdana" panose="020B0604030504040204" pitchFamily="34" charset="0"/>
                    <a:ea typeface="Times New Roman" panose="02020603050405020304" pitchFamily="18" charset="0"/>
                    <a:cs typeface="Arial" panose="020B0604020202020204" pitchFamily="34" charset="0"/>
                  </a:rPr>
                </a:br>
                <a:r>
                  <a:rPr lang="en-US" sz="2400" dirty="0" smtClean="0">
                    <a:latin typeface="Verdana" panose="020B0604030504040204" pitchFamily="34" charset="0"/>
                    <a:ea typeface="Times New Roman" panose="02020603050405020304" pitchFamily="18" charset="0"/>
                    <a:cs typeface="Arial" panose="020B0604020202020204" pitchFamily="34" charset="0"/>
                  </a:rPr>
                  <a:t>that </a:t>
                </a:r>
                <a:r>
                  <a:rPr lang="en-US" sz="2400" dirty="0">
                    <a:latin typeface="Verdana" panose="020B0604030504040204" pitchFamily="34" charset="0"/>
                    <a:ea typeface="Times New Roman" panose="02020603050405020304" pitchFamily="18" charset="0"/>
                    <a:cs typeface="Arial" panose="020B0604020202020204" pitchFamily="34" charset="0"/>
                  </a:rPr>
                  <a:t>can be determined </a:t>
                </a:r>
                <a:r>
                  <a:rPr lang="en-US" sz="2400" dirty="0" smtClean="0">
                    <a:latin typeface="Verdana" panose="020B0604030504040204" pitchFamily="34" charset="0"/>
                    <a:ea typeface="Times New Roman" panose="02020603050405020304" pitchFamily="18" charset="0"/>
                    <a:cs typeface="Arial" panose="020B0604020202020204" pitchFamily="34" charset="0"/>
                  </a:rPr>
                  <a:t/>
                </a:r>
                <a:br>
                  <a:rPr lang="en-US" sz="2400" dirty="0" smtClean="0">
                    <a:latin typeface="Verdana" panose="020B0604030504040204" pitchFamily="34" charset="0"/>
                    <a:ea typeface="Times New Roman" panose="02020603050405020304" pitchFamily="18" charset="0"/>
                    <a:cs typeface="Arial" panose="020B0604020202020204" pitchFamily="34" charset="0"/>
                  </a:rPr>
                </a:br>
                <a:r>
                  <a:rPr lang="en-US" sz="2400" dirty="0" smtClean="0">
                    <a:latin typeface="Verdana" panose="020B0604030504040204" pitchFamily="34" charset="0"/>
                    <a:ea typeface="Times New Roman" panose="02020603050405020304" pitchFamily="18" charset="0"/>
                    <a:cs typeface="Arial" panose="020B0604020202020204" pitchFamily="34" charset="0"/>
                  </a:rPr>
                  <a:t>from </a:t>
                </a:r>
                <a:r>
                  <a:rPr lang="en-US" sz="2400" dirty="0">
                    <a:latin typeface="Verdana" panose="020B0604030504040204" pitchFamily="34" charset="0"/>
                    <a:ea typeface="Times New Roman" panose="02020603050405020304" pitchFamily="18" charset="0"/>
                    <a:cs typeface="Arial" panose="020B0604020202020204" pitchFamily="34" charset="0"/>
                  </a:rPr>
                  <a:t>the equation </a:t>
                </a:r>
                <a:r>
                  <a:rPr lang="en-PH" sz="2400" i="1" dirty="0" smtClean="0">
                    <a:latin typeface="Cambria Math" panose="02040503050406030204" pitchFamily="18" charset="0"/>
                    <a:ea typeface="Times New Roman" panose="02020603050405020304" pitchFamily="18" charset="0"/>
                    <a:cs typeface="Arial" panose="020B0604020202020204" pitchFamily="34" charset="0"/>
                  </a:rPr>
                  <a:t/>
                </a:r>
                <a:br>
                  <a:rPr lang="en-PH" sz="2400" i="1" dirty="0" smtClean="0">
                    <a:latin typeface="Cambria Math" panose="02040503050406030204" pitchFamily="18" charset="0"/>
                    <a:ea typeface="Times New Roman" panose="02020603050405020304" pitchFamily="18" charset="0"/>
                    <a:cs typeface="Arial" panose="020B0604020202020204" pitchFamily="34" charset="0"/>
                  </a:rPr>
                </a:b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=−4(</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−1)(</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oMath>
                </a14:m>
                <a:r>
                  <a:rPr lang="en-US" sz="2400" dirty="0">
                    <a:latin typeface="Verdana" panose="020B0604030504040204" pitchFamily="34" charset="0"/>
                    <a:ea typeface="Times New Roman" panose="02020603050405020304" pitchFamily="18" charset="0"/>
                    <a:cs typeface="Arial" panose="020B0604020202020204" pitchFamily="34" charset="0"/>
                  </a:rPr>
                  <a:t> </a:t>
                </a:r>
                <a:r>
                  <a:rPr lang="en-US" sz="2400" dirty="0" smtClean="0">
                    <a:latin typeface="Verdana" panose="020B0604030504040204" pitchFamily="34" charset="0"/>
                    <a:ea typeface="Times New Roman" panose="02020603050405020304" pitchFamily="18" charset="0"/>
                    <a:cs typeface="Arial" panose="020B0604020202020204" pitchFamily="34" charset="0"/>
                  </a:rPr>
                  <a:t/>
                </a:r>
                <a:br>
                  <a:rPr lang="en-US" sz="2400" dirty="0" smtClean="0">
                    <a:latin typeface="Verdana" panose="020B0604030504040204" pitchFamily="34" charset="0"/>
                    <a:ea typeface="Times New Roman" panose="02020603050405020304" pitchFamily="18" charset="0"/>
                    <a:cs typeface="Arial" panose="020B0604020202020204" pitchFamily="34" charset="0"/>
                  </a:rPr>
                </a:br>
                <a:r>
                  <a:rPr lang="en-US" sz="2400" dirty="0" smtClean="0">
                    <a:latin typeface="Verdana" panose="020B0604030504040204" pitchFamily="34" charset="0"/>
                    <a:ea typeface="Times New Roman" panose="02020603050405020304" pitchFamily="18" charset="0"/>
                    <a:cs typeface="Arial" panose="020B0604020202020204" pitchFamily="34" charset="0"/>
                  </a:rPr>
                  <a:t>in the </a:t>
                </a:r>
                <a:r>
                  <a:rPr lang="en-US" sz="2400" dirty="0">
                    <a:latin typeface="Verdana" panose="020B0604030504040204" pitchFamily="34" charset="0"/>
                    <a:ea typeface="Times New Roman" panose="02020603050405020304" pitchFamily="18" charset="0"/>
                    <a:cs typeface="Arial" panose="020B0604020202020204" pitchFamily="34" charset="0"/>
                  </a:rPr>
                  <a:t>table</a:t>
                </a:r>
                <a:r>
                  <a:rPr lang="en-US" sz="2400" dirty="0" smtClean="0">
                    <a:latin typeface="Verdana" panose="020B0604030504040204" pitchFamily="34" charset="0"/>
                    <a:ea typeface="Times New Roman" panose="02020603050405020304" pitchFamily="18" charset="0"/>
                    <a:cs typeface="Arial" panose="020B0604020202020204" pitchFamily="34" charset="0"/>
                  </a:rPr>
                  <a:t>.</a:t>
                </a:r>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59" y="386062"/>
                <a:ext cx="10515600" cy="2677656"/>
              </a:xfrm>
              <a:prstGeom prst="rect">
                <a:avLst/>
              </a:prstGeom>
              <a:blipFill rotWithShape="1">
                <a:blip r:embed="rId3"/>
                <a:stretch>
                  <a:fillRect l="-870" t="-2045" b="-3864"/>
                </a:stretch>
              </a:blipFill>
            </p:spPr>
            <p:txBody>
              <a:bodyPr/>
              <a:lstStyle/>
              <a:p>
                <a:r>
                  <a:rPr lang="en-PH">
                    <a:noFill/>
                  </a:rPr>
                  <a:t> </a:t>
                </a:r>
              </a:p>
            </p:txBody>
          </p:sp>
        </mc:Fallback>
      </mc:AlternateContent>
      <p:pic>
        <p:nvPicPr>
          <p:cNvPr id="3" name="Picture 2" descr="Table&#10;&#10;Description automatically generated">
            <a:extLst>
              <a:ext uri="{FF2B5EF4-FFF2-40B4-BE49-F238E27FC236}">
                <a16:creationId xmlns="" xmlns:a16="http://schemas.microsoft.com/office/drawing/2014/main" id="{138DD951-BBED-1547-A4F3-086BF73F3271}"/>
              </a:ext>
            </a:extLst>
          </p:cNvPr>
          <p:cNvPicPr>
            <a:picLocks noChangeAspect="1"/>
          </p:cNvPicPr>
          <p:nvPr/>
        </p:nvPicPr>
        <p:blipFill rotWithShape="1">
          <a:blip r:embed="rId4"/>
          <a:srcRect t="1383" r="1215"/>
          <a:stretch/>
        </p:blipFill>
        <p:spPr>
          <a:xfrm>
            <a:off x="5612906" y="1053525"/>
            <a:ext cx="5793301" cy="5419952"/>
          </a:xfrm>
          <a:prstGeom prst="rect">
            <a:avLst/>
          </a:prstGeom>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26</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1152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85372"/>
                <a:ext cx="10515600" cy="461665"/>
              </a:xfrm>
              <a:prstGeom prst="rect">
                <a:avLst/>
              </a:prstGeom>
              <a:noFill/>
            </p:spPr>
            <p:txBody>
              <a:bodyPr wrap="square" rtlCol="0">
                <a:spAutoFit/>
              </a:bodyPr>
              <a:lstStyle/>
              <a:p>
                <a:pPr marL="901700" indent="-457200">
                  <a:buFont typeface="+mj-lt"/>
                  <a:buAutoNum type="alphaLcPeriod" startAt="2"/>
                </a:pPr>
                <a:r>
                  <a:rPr lang="en-US" sz="2400" dirty="0" smtClean="0">
                    <a:latin typeface="Verdana" panose="020B0604030504040204" pitchFamily="34" charset="0"/>
                    <a:ea typeface="Times New Roman" panose="02020603050405020304" pitchFamily="18" charset="0"/>
                    <a:cs typeface="Times New Roman" panose="02020603050405020304" pitchFamily="18" charset="0"/>
                  </a:rPr>
                  <a:t>Plot </a:t>
                </a:r>
                <a:r>
                  <a:rPr lang="en-US" sz="2400" dirty="0">
                    <a:latin typeface="Verdana" panose="020B0604030504040204" pitchFamily="34" charset="0"/>
                    <a:ea typeface="Times New Roman" panose="02020603050405020304" pitchFamily="18" charset="0"/>
                    <a:cs typeface="Times New Roman" panose="02020603050405020304" pitchFamily="18" charset="0"/>
                  </a:rPr>
                  <a:t>and label the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𝑥</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-intercepts of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=−4(</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−1)(</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85372"/>
                <a:ext cx="10515600" cy="461665"/>
              </a:xfrm>
              <a:prstGeom prst="rect">
                <a:avLst/>
              </a:prstGeom>
              <a:blipFill rotWithShape="1">
                <a:blip r:embed="rId3"/>
                <a:stretch>
                  <a:fillRect t="-11842" b="-27632"/>
                </a:stretch>
              </a:blipFill>
            </p:spPr>
            <p:txBody>
              <a:bodyPr/>
              <a:lstStyle/>
              <a:p>
                <a:r>
                  <a:rPr lang="en-PH">
                    <a:noFill/>
                  </a:rPr>
                  <a:t> </a:t>
                </a:r>
              </a:p>
            </p:txBody>
          </p:sp>
        </mc:Fallback>
      </mc:AlternateContent>
      <p:pic>
        <p:nvPicPr>
          <p:cNvPr id="7" name="Picture 6" descr="Chart, scatter chart&#10;&#10;Description automatically generated">
            <a:extLst>
              <a:ext uri="{FF2B5EF4-FFF2-40B4-BE49-F238E27FC236}">
                <a16:creationId xmlns="" xmlns:a16="http://schemas.microsoft.com/office/drawing/2014/main" id="{538318FC-B2A6-594B-80EA-B5747FB5219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273445" y="1125241"/>
            <a:ext cx="5034029" cy="5034029"/>
          </a:xfrm>
          <a:prstGeom prst="rect">
            <a:avLst/>
          </a:prstGeom>
        </p:spPr>
      </p:pic>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44957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82511"/>
                <a:ext cx="10800000" cy="6047809"/>
              </a:xfrm>
              <a:prstGeom prst="rect">
                <a:avLst/>
              </a:prstGeom>
              <a:noFill/>
            </p:spPr>
            <p:txBody>
              <a:bodyPr wrap="square" rtlCol="0">
                <a:spAutoFit/>
              </a:bodyPr>
              <a:lstStyle/>
              <a:p>
                <a:pPr marL="893763" indent="-466725">
                  <a:spcAft>
                    <a:spcPts val="1000"/>
                  </a:spcAf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of values using the equation.</a:t>
                </a:r>
              </a:p>
              <a:p>
                <a:pPr marL="893763" indent="-466725">
                  <a:spcAft>
                    <a:spcPts val="1000"/>
                  </a:spcAf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66725">
                  <a:spcAft>
                    <a:spcPts val="1000"/>
                  </a:spcAf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66725">
                  <a:spcAft>
                    <a:spcPts val="1000"/>
                  </a:spcAf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66725">
                  <a:spcAft>
                    <a:spcPts val="1000"/>
                  </a:spcAf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66725">
                  <a:spcAft>
                    <a:spcPts val="1000"/>
                  </a:spcAf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66725">
                  <a:spcAft>
                    <a:spcPts val="1000"/>
                  </a:spcAft>
                  <a:buFont typeface="Arial"/>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Use the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-intercepts and the ordered pairs in the table to graph the parabola.</a:t>
                </a:r>
              </a:p>
              <a:p>
                <a:pPr marL="893763" indent="-466725">
                  <a:spcAft>
                    <a:spcPts val="1000"/>
                  </a:spcAft>
                  <a:buFont typeface="Arial"/>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66725">
                  <a:spcAft>
                    <a:spcPts val="1000"/>
                  </a:spcAft>
                  <a:buFont typeface="Arial"/>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indent="-466725">
                  <a:spcAft>
                    <a:spcPts val="1000"/>
                  </a:spcAft>
                  <a:buFont typeface="Arial"/>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if there are additional key features that can be determined from the table and graph. If so, add them to the key features table.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82511"/>
                <a:ext cx="10800000" cy="6047809"/>
              </a:xfrm>
              <a:prstGeom prst="rect">
                <a:avLst/>
              </a:prstGeom>
              <a:blipFill rotWithShape="1">
                <a:blip r:embed="rId3"/>
                <a:stretch>
                  <a:fillRect t="-806" b="-1210"/>
                </a:stretch>
              </a:blipFill>
            </p:spPr>
            <p:txBody>
              <a:bodyPr/>
              <a:lstStyle/>
              <a:p>
                <a:r>
                  <a:rPr lang="en-PH">
                    <a:noFill/>
                  </a:rPr>
                  <a:t> </a:t>
                </a:r>
              </a:p>
            </p:txBody>
          </p:sp>
        </mc:Fallback>
      </mc:AlternateContent>
      <p:pic>
        <p:nvPicPr>
          <p:cNvPr id="3" name="Picture 2" descr="Table&#10;&#10;Description automatically generated">
            <a:extLst>
              <a:ext uri="{FF2B5EF4-FFF2-40B4-BE49-F238E27FC236}">
                <a16:creationId xmlns="" xmlns:a16="http://schemas.microsoft.com/office/drawing/2014/main" id="{57DC720C-9EF9-2E47-9577-B5E44C4D12B0}"/>
              </a:ext>
            </a:extLst>
          </p:cNvPr>
          <p:cNvPicPr>
            <a:picLocks noChangeAspect="1"/>
          </p:cNvPicPr>
          <p:nvPr/>
        </p:nvPicPr>
        <p:blipFill>
          <a:blip r:embed="rId4"/>
          <a:stretch>
            <a:fillRect/>
          </a:stretch>
        </p:blipFill>
        <p:spPr>
          <a:xfrm>
            <a:off x="4473461" y="990096"/>
            <a:ext cx="2633999" cy="1867989"/>
          </a:xfrm>
          <a:prstGeom prst="rect">
            <a:avLst/>
          </a:prstGeom>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1348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83620"/>
                <a:ext cx="10515600" cy="2677656"/>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Consider the equation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=5</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𝑥</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−20</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+15</m:t>
                    </m:r>
                  </m:oMath>
                </a14:m>
                <a:r>
                  <a:rPr lang="en-US" sz="2400" i="1" dirty="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685800"/>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a:p>
                <a:pPr marL="923925" indent="-457200">
                  <a:buSzPct val="100000"/>
                  <a:buFont typeface="+mj-lt"/>
                  <a:buAutoNum type="alphaLcPeriod"/>
                </a:pPr>
                <a:r>
                  <a:rPr lang="en-US" sz="2400" dirty="0">
                    <a:latin typeface="Verdana" panose="020B0604030504040204" pitchFamily="34" charset="0"/>
                    <a:ea typeface="Times New Roman" panose="02020603050405020304" pitchFamily="18" charset="0"/>
                    <a:cs typeface="Arial" panose="020B0604020202020204" pitchFamily="34" charset="0"/>
                  </a:rPr>
                  <a:t>Write the key features </a:t>
                </a:r>
                <a:r>
                  <a:rPr lang="en-US" sz="2400" dirty="0" smtClean="0">
                    <a:latin typeface="Verdana" panose="020B0604030504040204" pitchFamily="34" charset="0"/>
                    <a:ea typeface="Times New Roman" panose="02020603050405020304" pitchFamily="18" charset="0"/>
                    <a:cs typeface="Arial" panose="020B0604020202020204" pitchFamily="34" charset="0"/>
                  </a:rPr>
                  <a:t/>
                </a:r>
                <a:br>
                  <a:rPr lang="en-US" sz="2400" dirty="0" smtClean="0">
                    <a:latin typeface="Verdana" panose="020B0604030504040204" pitchFamily="34" charset="0"/>
                    <a:ea typeface="Times New Roman" panose="02020603050405020304" pitchFamily="18" charset="0"/>
                    <a:cs typeface="Arial" panose="020B0604020202020204" pitchFamily="34" charset="0"/>
                  </a:rPr>
                </a:br>
                <a:r>
                  <a:rPr lang="en-US" sz="2400" dirty="0" smtClean="0">
                    <a:latin typeface="Verdana" panose="020B0604030504040204" pitchFamily="34" charset="0"/>
                    <a:ea typeface="Times New Roman" panose="02020603050405020304" pitchFamily="18" charset="0"/>
                    <a:cs typeface="Arial" panose="020B0604020202020204" pitchFamily="34" charset="0"/>
                  </a:rPr>
                  <a:t>that </a:t>
                </a:r>
                <a:r>
                  <a:rPr lang="en-US" sz="2400" dirty="0">
                    <a:latin typeface="Verdana" panose="020B0604030504040204" pitchFamily="34" charset="0"/>
                    <a:ea typeface="Times New Roman" panose="02020603050405020304" pitchFamily="18" charset="0"/>
                    <a:cs typeface="Arial" panose="020B0604020202020204" pitchFamily="34" charset="0"/>
                  </a:rPr>
                  <a:t>can be determined </a:t>
                </a:r>
                <a:r>
                  <a:rPr lang="en-US" sz="2400" dirty="0" smtClean="0">
                    <a:latin typeface="Verdana" panose="020B0604030504040204" pitchFamily="34" charset="0"/>
                    <a:ea typeface="Times New Roman" panose="02020603050405020304" pitchFamily="18" charset="0"/>
                    <a:cs typeface="Arial" panose="020B0604020202020204" pitchFamily="34" charset="0"/>
                  </a:rPr>
                  <a:t/>
                </a:r>
                <a:br>
                  <a:rPr lang="en-US" sz="2400" dirty="0" smtClean="0">
                    <a:latin typeface="Verdana" panose="020B0604030504040204" pitchFamily="34" charset="0"/>
                    <a:ea typeface="Times New Roman" panose="02020603050405020304" pitchFamily="18" charset="0"/>
                    <a:cs typeface="Arial" panose="020B0604020202020204" pitchFamily="34" charset="0"/>
                  </a:rPr>
                </a:br>
                <a:r>
                  <a:rPr lang="en-US" sz="2400" dirty="0" smtClean="0">
                    <a:latin typeface="Verdana" panose="020B0604030504040204" pitchFamily="34" charset="0"/>
                    <a:ea typeface="Times New Roman" panose="02020603050405020304" pitchFamily="18" charset="0"/>
                    <a:cs typeface="Arial" panose="020B0604020202020204" pitchFamily="34" charset="0"/>
                  </a:rPr>
                  <a:t>from </a:t>
                </a:r>
                <a:r>
                  <a:rPr lang="en-US" sz="2400" dirty="0">
                    <a:latin typeface="Verdana" panose="020B0604030504040204" pitchFamily="34" charset="0"/>
                    <a:ea typeface="Times New Roman" panose="02020603050405020304" pitchFamily="18" charset="0"/>
                    <a:cs typeface="Arial" panose="020B0604020202020204" pitchFamily="34" charset="0"/>
                  </a:rPr>
                  <a:t>the equation </a:t>
                </a:r>
                <a:r>
                  <a:rPr lang="en-US" sz="2400" dirty="0" smtClean="0">
                    <a:latin typeface="Verdana" panose="020B0604030504040204" pitchFamily="34" charset="0"/>
                    <a:ea typeface="Times New Roman" panose="02020603050405020304" pitchFamily="18" charset="0"/>
                    <a:cs typeface="Arial" panose="020B0604020202020204" pitchFamily="34" charset="0"/>
                  </a:rPr>
                  <a:t/>
                </a:r>
                <a:br>
                  <a:rPr lang="en-US" sz="2400" dirty="0" smtClean="0">
                    <a:latin typeface="Verdana" panose="020B0604030504040204" pitchFamily="34" charset="0"/>
                    <a:ea typeface="Times New Roman" panose="02020603050405020304" pitchFamily="18" charset="0"/>
                    <a:cs typeface="Arial" panose="020B0604020202020204" pitchFamily="34" charset="0"/>
                  </a:rPr>
                </a:b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=5</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𝑥</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−20</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+15</m:t>
                    </m:r>
                  </m:oMath>
                </a14:m>
                <a:r>
                  <a:rPr lang="en-US" sz="2400" dirty="0">
                    <a:latin typeface="Verdana" panose="020B0604030504040204" pitchFamily="34" charset="0"/>
                    <a:ea typeface="Times New Roman" panose="02020603050405020304" pitchFamily="18" charset="0"/>
                    <a:cs typeface="Arial" panose="020B0604020202020204" pitchFamily="34" charset="0"/>
                  </a:rPr>
                  <a:t> </a:t>
                </a:r>
                <a:r>
                  <a:rPr lang="en-US" sz="2400" dirty="0" smtClean="0">
                    <a:latin typeface="Verdana" panose="020B0604030504040204" pitchFamily="34" charset="0"/>
                    <a:ea typeface="Times New Roman" panose="02020603050405020304" pitchFamily="18" charset="0"/>
                    <a:cs typeface="Arial" panose="020B0604020202020204" pitchFamily="34" charset="0"/>
                  </a:rPr>
                  <a:t/>
                </a:r>
                <a:br>
                  <a:rPr lang="en-US" sz="2400" dirty="0" smtClean="0">
                    <a:latin typeface="Verdana" panose="020B0604030504040204" pitchFamily="34" charset="0"/>
                    <a:ea typeface="Times New Roman" panose="02020603050405020304" pitchFamily="18" charset="0"/>
                    <a:cs typeface="Arial" panose="020B0604020202020204" pitchFamily="34" charset="0"/>
                  </a:rPr>
                </a:br>
                <a:r>
                  <a:rPr lang="en-US" sz="2400" dirty="0" smtClean="0">
                    <a:latin typeface="Verdana" panose="020B0604030504040204" pitchFamily="34" charset="0"/>
                    <a:ea typeface="Times New Roman" panose="02020603050405020304" pitchFamily="18" charset="0"/>
                    <a:cs typeface="Arial" panose="020B0604020202020204" pitchFamily="34" charset="0"/>
                  </a:rPr>
                  <a:t>in </a:t>
                </a:r>
                <a:r>
                  <a:rPr lang="en-US" sz="2400" dirty="0">
                    <a:latin typeface="Verdana" panose="020B0604030504040204" pitchFamily="34" charset="0"/>
                    <a:ea typeface="Times New Roman" panose="02020603050405020304" pitchFamily="18" charset="0"/>
                    <a:cs typeface="Arial" panose="020B0604020202020204" pitchFamily="34" charset="0"/>
                  </a:rPr>
                  <a:t>the table</a:t>
                </a:r>
                <a:r>
                  <a:rPr lang="en-US" sz="2400" dirty="0" smtClean="0">
                    <a:latin typeface="Verdana" panose="020B0604030504040204" pitchFamily="34" charset="0"/>
                    <a:ea typeface="Times New Roman" panose="02020603050405020304" pitchFamily="18" charset="0"/>
                    <a:cs typeface="Arial" panose="020B0604020202020204" pitchFamily="34"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83620"/>
                <a:ext cx="10515600" cy="2677656"/>
              </a:xfrm>
              <a:prstGeom prst="rect">
                <a:avLst/>
              </a:prstGeom>
              <a:blipFill rotWithShape="1">
                <a:blip r:embed="rId3"/>
                <a:stretch>
                  <a:fillRect l="-870" t="-2050" b="-4100"/>
                </a:stretch>
              </a:blipFill>
            </p:spPr>
            <p:txBody>
              <a:bodyPr/>
              <a:lstStyle/>
              <a:p>
                <a:r>
                  <a:rPr lang="en-PH">
                    <a:noFill/>
                  </a:rPr>
                  <a:t> </a:t>
                </a:r>
              </a:p>
            </p:txBody>
          </p:sp>
        </mc:Fallback>
      </mc:AlternateContent>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pic>
        <p:nvPicPr>
          <p:cNvPr id="9" name="Picture 8" descr="Table&#10;&#10;Description automatically generated">
            <a:extLst>
              <a:ext uri="{FF2B5EF4-FFF2-40B4-BE49-F238E27FC236}">
                <a16:creationId xmlns="" xmlns:a16="http://schemas.microsoft.com/office/drawing/2014/main" id="{138DD951-BBED-1547-A4F3-086BF73F3271}"/>
              </a:ext>
            </a:extLst>
          </p:cNvPr>
          <p:cNvPicPr>
            <a:picLocks noChangeAspect="1"/>
          </p:cNvPicPr>
          <p:nvPr/>
        </p:nvPicPr>
        <p:blipFill rotWithShape="1">
          <a:blip r:embed="rId5"/>
          <a:srcRect t="1383" r="1215"/>
          <a:stretch/>
        </p:blipFill>
        <p:spPr>
          <a:xfrm>
            <a:off x="5612906" y="1053525"/>
            <a:ext cx="5793301" cy="5419952"/>
          </a:xfrm>
          <a:prstGeom prst="rect">
            <a:avLst/>
          </a:prstGeom>
        </p:spPr>
      </p:pic>
    </p:spTree>
    <p:extLst>
      <p:ext uri="{BB962C8B-B14F-4D97-AF65-F5344CB8AC3E}">
        <p14:creationId xmlns:p14="http://schemas.microsoft.com/office/powerpoint/2010/main" val="39461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87229"/>
                <a:ext cx="10515600" cy="461665"/>
              </a:xfrm>
              <a:prstGeom prst="rect">
                <a:avLst/>
              </a:prstGeom>
              <a:noFill/>
            </p:spPr>
            <p:txBody>
              <a:bodyPr wrap="square" rtlCol="0">
                <a:spAutoFit/>
              </a:bodyPr>
              <a:lstStyle/>
              <a:p>
                <a:pPr marL="900113" indent="-457200">
                  <a:spcAft>
                    <a:spcPts val="1000"/>
                  </a:spcAft>
                  <a:buFont typeface="+mj-lt"/>
                  <a:buAutoNum type="alphaLcPeriod" startAt="2"/>
                </a:pPr>
                <a:r>
                  <a:rPr lang="en-US" sz="2400" dirty="0" smtClean="0">
                    <a:latin typeface="Verdana" panose="020B0604030504040204" pitchFamily="34" charset="0"/>
                    <a:ea typeface="Verdana" panose="020B0604030504040204" pitchFamily="34" charset="0"/>
                    <a:cs typeface="Verdana" panose="020B0604030504040204" pitchFamily="34" charset="0"/>
                  </a:rPr>
                  <a:t>Rewrite </a:t>
                </a:r>
                <a:r>
                  <a:rPr lang="en-US" sz="2400" dirty="0">
                    <a:latin typeface="Verdana" panose="020B0604030504040204" pitchFamily="34" charset="0"/>
                    <a:ea typeface="Verdana" panose="020B0604030504040204" pitchFamily="34" charset="0"/>
                    <a:cs typeface="Verdana" panose="020B0604030504040204" pitchFamily="34" charset="0"/>
                  </a:rPr>
                  <a:t>the equation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=5</m:t>
                    </m:r>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−20</m:t>
                    </m:r>
                    <m:r>
                      <a:rPr lang="en-US" sz="2400" i="1">
                        <a:latin typeface="Cambria Math" panose="02040503050406030204" pitchFamily="18" charset="0"/>
                      </a:rPr>
                      <m:t>𝑥</m:t>
                    </m:r>
                    <m:r>
                      <a:rPr lang="en-US" sz="2400" i="1">
                        <a:latin typeface="Cambria Math" panose="02040503050406030204" pitchFamily="18"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in factored form</a:t>
                </a:r>
                <a:r>
                  <a:rPr lang="en-US" sz="2400" dirty="0" smtClean="0"/>
                  <a:t>.</a:t>
                </a:r>
                <a:endParaRPr lang="en-US" sz="2400" dirty="0"/>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87229"/>
                <a:ext cx="10515600" cy="461665"/>
              </a:xfrm>
              <a:prstGeom prst="rect">
                <a:avLst/>
              </a:prstGeom>
              <a:blipFill rotWithShape="1">
                <a:blip r:embed="rId3"/>
                <a:stretch>
                  <a:fillRect t="-12000" b="-32000"/>
                </a:stretch>
              </a:blipFill>
            </p:spPr>
            <p:txBody>
              <a:bodyPr/>
              <a:lstStyle/>
              <a:p>
                <a:r>
                  <a:rPr lang="en-PH">
                    <a:noFill/>
                  </a:rPr>
                  <a:t> </a:t>
                </a:r>
              </a:p>
            </p:txBody>
          </p:sp>
        </mc:Fallback>
      </mc:AlternateContent>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27</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97638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41538" y="387228"/>
            <a:ext cx="10515600" cy="3416320"/>
          </a:xfrm>
          <a:prstGeom prst="rect">
            <a:avLst/>
          </a:prstGeom>
          <a:noFill/>
        </p:spPr>
        <p:txBody>
          <a:bodyPr wrap="square" rtlCol="0">
            <a:spAutoFit/>
          </a:bodyPr>
          <a:lstStyle/>
          <a:p>
            <a:pPr marL="896938" indent="-434975">
              <a:buSzPct val="100000"/>
              <a:buFont typeface="+mj-lt"/>
              <a:buAutoNum type="alphaLcPeriod" startAt="3"/>
            </a:pPr>
            <a:r>
              <a:rPr lang="en-US" sz="2400" dirty="0" smtClean="0">
                <a:latin typeface="Verdana" panose="020B0604030504040204" pitchFamily="34" charset="0"/>
                <a:ea typeface="Times New Roman" panose="02020603050405020304" pitchFamily="18" charset="0"/>
                <a:cs typeface="Arial" panose="020B0604020202020204" pitchFamily="34" charset="0"/>
              </a:rPr>
              <a:t>What </a:t>
            </a:r>
            <a:r>
              <a:rPr lang="en-US" sz="2400" dirty="0">
                <a:latin typeface="Verdana" panose="020B0604030504040204" pitchFamily="34" charset="0"/>
                <a:ea typeface="Times New Roman" panose="02020603050405020304" pitchFamily="18" charset="0"/>
                <a:cs typeface="Arial" panose="020B0604020202020204" pitchFamily="34" charset="0"/>
              </a:rPr>
              <a:t>additional key features are revealed from the equation in factored </a:t>
            </a:r>
            <a:r>
              <a:rPr lang="en-US" sz="2400" dirty="0" smtClean="0">
                <a:latin typeface="Verdana" panose="020B0604030504040204" pitchFamily="34" charset="0"/>
                <a:ea typeface="Times New Roman" panose="02020603050405020304" pitchFamily="18" charset="0"/>
                <a:cs typeface="Arial" panose="020B0604020202020204" pitchFamily="34" charset="0"/>
              </a:rPr>
              <a:t>form?</a:t>
            </a:r>
          </a:p>
          <a:p>
            <a:pPr marL="896938" indent="-434975">
              <a:buSzPct val="100000"/>
              <a:buFont typeface="+mj-lt"/>
              <a:buAutoNum type="alphaLcPeriod" startAt="3"/>
            </a:pPr>
            <a:endParaRPr lang="en-US" sz="2400" dirty="0">
              <a:latin typeface="Verdana" panose="020B0604030504040204" pitchFamily="34" charset="0"/>
              <a:ea typeface="Times New Roman" panose="02020603050405020304" pitchFamily="18" charset="0"/>
              <a:cs typeface="Arial" panose="020B0604020202020204" pitchFamily="34" charset="0"/>
            </a:endParaRPr>
          </a:p>
          <a:p>
            <a:pPr marL="896938" indent="-434975">
              <a:buSzPct val="100000"/>
              <a:buFont typeface="+mj-lt"/>
              <a:buAutoNum type="alphaLcPeriod" startAt="3"/>
            </a:pPr>
            <a:endParaRPr lang="en-US" sz="2400" dirty="0" smtClean="0">
              <a:latin typeface="Verdana" panose="020B0604030504040204" pitchFamily="34" charset="0"/>
              <a:ea typeface="Times New Roman" panose="02020603050405020304" pitchFamily="18" charset="0"/>
              <a:cs typeface="Arial" panose="020B0604020202020204" pitchFamily="34" charset="0"/>
            </a:endParaRPr>
          </a:p>
          <a:p>
            <a:pPr marL="896938" indent="-434975">
              <a:buSzPct val="100000"/>
              <a:buFont typeface="+mj-lt"/>
              <a:buAutoNum type="alphaLcPeriod" startAt="3"/>
            </a:pPr>
            <a:endParaRPr lang="en-US" sz="2400" dirty="0">
              <a:latin typeface="Verdana" panose="020B0604030504040204" pitchFamily="34" charset="0"/>
              <a:ea typeface="Times New Roman" panose="02020603050405020304" pitchFamily="18" charset="0"/>
              <a:cs typeface="Arial" panose="020B0604020202020204" pitchFamily="34" charset="0"/>
            </a:endParaRPr>
          </a:p>
          <a:p>
            <a:pPr marL="896938" indent="-434975">
              <a:buSzPct val="100000"/>
              <a:buFont typeface="+mj-lt"/>
              <a:buAutoNum type="alphaLcPeriod" startAt="3"/>
            </a:pPr>
            <a:endParaRPr lang="en-US" sz="2400" dirty="0" smtClean="0">
              <a:latin typeface="Verdana" panose="020B0604030504040204" pitchFamily="34" charset="0"/>
              <a:ea typeface="Times New Roman" panose="02020603050405020304" pitchFamily="18" charset="0"/>
              <a:cs typeface="Arial" panose="020B0604020202020204" pitchFamily="34" charset="0"/>
            </a:endParaRPr>
          </a:p>
          <a:p>
            <a:pPr marL="896938" indent="-434975">
              <a:buSzPct val="100000"/>
              <a:buFont typeface="+mj-lt"/>
              <a:buAutoNum type="alphaLcPeriod" startAt="3"/>
            </a:pPr>
            <a:endParaRPr lang="en-US" sz="2400" dirty="0">
              <a:latin typeface="Verdana" panose="020B0604030504040204" pitchFamily="34" charset="0"/>
              <a:ea typeface="Times New Roman" panose="02020603050405020304" pitchFamily="18" charset="0"/>
              <a:cs typeface="Arial" panose="020B0604020202020204" pitchFamily="34" charset="0"/>
            </a:endParaRPr>
          </a:p>
          <a:p>
            <a:pPr marL="896938" indent="-434975">
              <a:buSzPct val="100000"/>
              <a:buFont typeface="+mj-lt"/>
              <a:buAutoNum type="alphaLcPeriod" startAt="3"/>
            </a:pPr>
            <a:r>
              <a:rPr lang="en-US" sz="2400" dirty="0" smtClean="0">
                <a:latin typeface="Verdana" panose="020B0604030504040204" pitchFamily="34" charset="0"/>
                <a:ea typeface="Times New Roman" panose="02020603050405020304" pitchFamily="18" charset="0"/>
                <a:cs typeface="Times New Roman" panose="02020603050405020304" pitchFamily="18" charset="0"/>
              </a:rPr>
              <a:t>Add </a:t>
            </a:r>
            <a:r>
              <a:rPr lang="en-US" sz="2400" dirty="0">
                <a:latin typeface="Verdana" panose="020B0604030504040204" pitchFamily="34" charset="0"/>
                <a:ea typeface="Times New Roman" panose="02020603050405020304" pitchFamily="18" charset="0"/>
                <a:cs typeface="Times New Roman" panose="02020603050405020304" pitchFamily="18" charset="0"/>
              </a:rPr>
              <a:t>any additional key features revealed from factored form to the table</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75224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2" y="386075"/>
                <a:ext cx="7644383" cy="5632311"/>
              </a:xfrm>
              <a:prstGeom prst="rect">
                <a:avLst/>
              </a:prstGeom>
              <a:noFill/>
            </p:spPr>
            <p:txBody>
              <a:bodyPr wrap="square" rtlCol="0">
                <a:spAutoFit/>
              </a:bodyPr>
              <a:lstStyle/>
              <a:p>
                <a:pPr marL="900113" indent="-457200">
                  <a:buSzPct val="100000"/>
                  <a:buAutoNum type="alphaLcPeriod" startAt="5"/>
                  <a:tabLst>
                    <a:tab pos="0" algn="l"/>
                  </a:tabLst>
                </a:pPr>
                <a:r>
                  <a:rPr lang="en-US" sz="2400" dirty="0">
                    <a:latin typeface="Verdana" panose="020B0604030504040204" pitchFamily="34" charset="0"/>
                    <a:ea typeface="Verdana" panose="020B0604030504040204" pitchFamily="34" charset="0"/>
                    <a:cs typeface="Verdana" panose="020B0604030504040204" pitchFamily="34" charset="0"/>
                  </a:rPr>
                  <a:t>Graph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=5</m:t>
                    </m:r>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𝑥</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r>
                      <a:rPr lang="en-US" sz="2400" i="1">
                        <a:latin typeface="Cambria Math" panose="02040503050406030204" pitchFamily="18" charset="0"/>
                        <a:ea typeface="Times New Roman" panose="02020603050405020304" pitchFamily="18" charset="0"/>
                        <a:cs typeface="Arial" panose="020B0604020202020204" pitchFamily="34" charset="0"/>
                      </a:rPr>
                      <m:t>−20</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+15</m:t>
                    </m:r>
                  </m:oMath>
                </a14:m>
                <a:r>
                  <a:rPr lang="en-US" sz="2400" dirty="0" smtClean="0">
                    <a:latin typeface="Verdana" panose="020B0604030504040204" pitchFamily="34" charset="0"/>
                    <a:ea typeface="Verdana" panose="020B0604030504040204" pitchFamily="34" charset="0"/>
                    <a:cs typeface="Verdana" panose="020B0604030504040204" pitchFamily="34" charset="0"/>
                  </a:rPr>
                  <a:t>.</a:t>
                </a: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smtClean="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smtClean="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smtClean="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smtClean="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smtClean="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smtClean="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endParaRPr lang="en-US" sz="2400" dirty="0">
                  <a:latin typeface="Verdana" panose="020B0604030504040204" pitchFamily="34" charset="0"/>
                  <a:ea typeface="Verdana" panose="020B0604030504040204" pitchFamily="34" charset="0"/>
                  <a:cs typeface="Arial" panose="020B0604020202020204" pitchFamily="34" charset="0"/>
                </a:endParaRPr>
              </a:p>
              <a:p>
                <a:pPr marL="900113" indent="-457200">
                  <a:buSzPct val="100000"/>
                  <a:buAutoNum type="alphaLcPeriod" startAt="5"/>
                  <a:tabLst>
                    <a:tab pos="0" algn="l"/>
                  </a:tabLst>
                </a:pPr>
                <a:r>
                  <a:rPr lang="en-US" sz="2400" dirty="0" smtClean="0">
                    <a:latin typeface="Verdana" panose="020B0604030504040204" pitchFamily="34" charset="0"/>
                    <a:ea typeface="Times New Roman" panose="02020603050405020304" pitchFamily="18" charset="0"/>
                    <a:cs typeface="Arial" panose="020B0604020202020204" pitchFamily="34" charset="0"/>
                  </a:rPr>
                  <a:t>Label </a:t>
                </a:r>
                <a:r>
                  <a:rPr lang="en-US" sz="2400" dirty="0">
                    <a:latin typeface="Verdana" panose="020B0604030504040204" pitchFamily="34" charset="0"/>
                    <a:ea typeface="Times New Roman" panose="02020603050405020304" pitchFamily="18" charset="0"/>
                    <a:cs typeface="Arial" panose="020B0604020202020204" pitchFamily="34" charset="0"/>
                  </a:rPr>
                  <a:t>the intercepts and the vertex</a:t>
                </a:r>
                <a:r>
                  <a:rPr lang="en-US" sz="2400" dirty="0" smtClean="0">
                    <a:latin typeface="Verdana" panose="020B0604030504040204" pitchFamily="34" charset="0"/>
                    <a:ea typeface="Times New Roman" panose="02020603050405020304" pitchFamily="18" charset="0"/>
                    <a:cs typeface="Arial" panose="020B0604020202020204" pitchFamily="34" charset="0"/>
                  </a:rPr>
                  <a:t>.</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2" y="386075"/>
                <a:ext cx="7644383" cy="5632311"/>
              </a:xfrm>
              <a:prstGeom prst="rect">
                <a:avLst/>
              </a:prstGeom>
              <a:blipFill rotWithShape="1">
                <a:blip r:embed="rId3"/>
                <a:stretch>
                  <a:fillRect t="-974" b="-1407"/>
                </a:stretch>
              </a:blipFill>
            </p:spPr>
            <p:txBody>
              <a:bodyPr/>
              <a:lstStyle/>
              <a:p>
                <a:r>
                  <a:rPr lang="en-PH">
                    <a:noFill/>
                  </a:rPr>
                  <a:t> </a:t>
                </a:r>
              </a:p>
            </p:txBody>
          </p:sp>
        </mc:Fallback>
      </mc:AlternateContent>
      <p:pic>
        <p:nvPicPr>
          <p:cNvPr id="6" name="Picture 5">
            <a:extLst>
              <a:ext uri="{FF2B5EF4-FFF2-40B4-BE49-F238E27FC236}">
                <a16:creationId xmlns="" xmlns:a16="http://schemas.microsoft.com/office/drawing/2014/main" id="{AB01EA7C-67B5-8B47-9559-9B74FA0723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15761" y="874895"/>
            <a:ext cx="4583646" cy="4583646"/>
          </a:xfrm>
          <a:prstGeom prst="rect">
            <a:avLst/>
          </a:prstGeom>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5612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2661" y="378351"/>
            <a:ext cx="10515600" cy="2677656"/>
          </a:xfrm>
          <a:prstGeom prst="rect">
            <a:avLst/>
          </a:prstGeom>
          <a:noFill/>
        </p:spPr>
        <p:txBody>
          <a:bodyPr wrap="square" rtlCol="0">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Equations and tables of values are useful tools to use when graphing quadratic relationships. Equations can be rewritten in different, equivalent forms to reveal key features. Tables of values can also be used to identify key features as needed.</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To graph a quadratic relationship, which key features are helpful to have?</a:t>
            </a:r>
            <a:r>
              <a:rPr lang="en-US" sz="2400" i="1" dirty="0">
                <a:latin typeface="Verdana" panose="020B0604030504040204" pitchFamily="34" charset="0"/>
                <a:ea typeface="Times New Roman" panose="02020603050405020304" pitchFamily="18" charset="0"/>
                <a:cs typeface="Times New Roman" panose="02020603050405020304" pitchFamily="18" charset="0"/>
              </a:rPr>
              <a:t>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24358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54842" y="-693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8.4.3 Guided Practice: Graphing Quadratic </a:t>
            </a:r>
            <a:r>
              <a:rPr lang="en-US" sz="2800" b="1">
                <a:solidFill>
                  <a:srgbClr val="54B5D1"/>
                </a:solidFill>
                <a:latin typeface="Verdana"/>
                <a:ea typeface="Verdana"/>
                <a:cs typeface="Verdana"/>
                <a:sym typeface="Verdana"/>
              </a:rPr>
              <a:t>Equations </a:t>
            </a:r>
            <a:r>
              <a:rPr lang="en-US" sz="2800" b="1" smtClean="0">
                <a:solidFill>
                  <a:srgbClr val="54B5D1"/>
                </a:solidFill>
                <a:latin typeface="Verdana"/>
                <a:ea typeface="Verdana"/>
                <a:cs typeface="Verdana"/>
                <a:sym typeface="Verdana"/>
              </a:rPr>
              <a:t>From </a:t>
            </a:r>
            <a:r>
              <a:rPr lang="en-US" sz="2800" b="1" dirty="0">
                <a:solidFill>
                  <a:srgbClr val="54B5D1"/>
                </a:solidFill>
                <a:latin typeface="Verdana"/>
                <a:ea typeface="Verdana"/>
                <a:cs typeface="Verdana"/>
                <a:sym typeface="Verdana"/>
              </a:rPr>
              <a:t>Key Features and a Table of Values</a:t>
            </a:r>
          </a:p>
        </p:txBody>
      </p:sp>
      <p:pic>
        <p:nvPicPr>
          <p:cNvPr id="8" name="Picture 2" descr="Icon&#10;&#10;Description automatically generated">
            <a:extLst>
              <a:ext uri="{FF2B5EF4-FFF2-40B4-BE49-F238E27FC236}">
                <a16:creationId xmlns=""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4010" y="28101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59A63A00-6B7A-FE4C-A1EB-2EEC036F3E27}"/>
                  </a:ext>
                </a:extLst>
              </p:cNvPr>
              <p:cNvSpPr/>
              <p:nvPr/>
            </p:nvSpPr>
            <p:spPr>
              <a:xfrm>
                <a:off x="541537" y="1463393"/>
                <a:ext cx="6471821" cy="1610890"/>
              </a:xfrm>
              <a:prstGeom prst="rect">
                <a:avLst/>
              </a:prstGeom>
            </p:spPr>
            <p:txBody>
              <a:bodyPr wrap="square">
                <a:spAutoFit/>
              </a:bodyPr>
              <a:lstStyle/>
              <a:p>
                <a:pPr marL="466725" indent="-466725">
                  <a:spcAft>
                    <a:spcPts val="1000"/>
                  </a:spcAft>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equation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m:t>
                    </m:r>
                    <m:f>
                      <m:fPr>
                        <m:ctrlPr>
                          <a:rPr lang="en-US" sz="2400" i="1">
                            <a:latin typeface="Cambria Math" charset="0"/>
                            <a:ea typeface="Times New Roman" panose="02020603050405020304" pitchFamily="18" charset="0"/>
                            <a:cs typeface="Arial" panose="020B0604020202020204" pitchFamily="34" charset="0"/>
                          </a:rPr>
                        </m:ctrlPr>
                      </m:fPr>
                      <m:num>
                        <m:r>
                          <a:rPr lang="en-US" sz="2400" i="1">
                            <a:latin typeface="Cambria Math" panose="02040503050406030204" pitchFamily="18" charset="0"/>
                            <a:ea typeface="Times New Roman" panose="02020603050405020304" pitchFamily="18" charset="0"/>
                            <a:cs typeface="Arial" panose="020B0604020202020204" pitchFamily="34" charset="0"/>
                          </a:rPr>
                          <m:t>1</m:t>
                        </m:r>
                      </m:num>
                      <m:den>
                        <m:r>
                          <a:rPr lang="en-US" sz="2400" i="1">
                            <a:latin typeface="Cambria Math" panose="02040503050406030204" pitchFamily="18" charset="0"/>
                            <a:ea typeface="Times New Roman" panose="02020603050405020304" pitchFamily="18" charset="0"/>
                            <a:cs typeface="Arial" panose="020B0604020202020204" pitchFamily="34" charset="0"/>
                          </a:rPr>
                          <m:t>3</m:t>
                        </m:r>
                      </m:den>
                    </m:f>
                    <m:sSup>
                      <m:sSupPr>
                        <m:ctrlPr>
                          <a:rPr lang="en-US" sz="2400" i="1">
                            <a:latin typeface="Cambria Math" charset="0"/>
                            <a:ea typeface="Times New Roman" panose="02020603050405020304" pitchFamily="18" charset="0"/>
                            <a:cs typeface="Arial" panose="020B0604020202020204" pitchFamily="34" charset="0"/>
                          </a:rPr>
                        </m:ctrlPr>
                      </m:sSupPr>
                      <m:e>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+6)</m:t>
                        </m:r>
                      </m:e>
                      <m:sup>
                        <m:r>
                          <a:rPr lang="en-US" sz="2400" i="1">
                            <a:latin typeface="Cambria Math" panose="02040503050406030204" pitchFamily="18" charset="0"/>
                            <a:ea typeface="Times New Roman" panose="02020603050405020304" pitchFamily="18" charset="0"/>
                            <a:cs typeface="Arial" panose="020B0604020202020204" pitchFamily="34"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23925" indent="-457200">
                  <a:spcAft>
                    <a:spcPts val="1000"/>
                  </a:spcAft>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Create a table of values</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4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xmlns:a14="http://schemas.microsoft.com/office/drawing/2010/main" xmlns="" id="{59A63A00-6B7A-FE4C-A1EB-2EEC036F3E27}"/>
                  </a:ext>
                </a:extLst>
              </p:cNvPr>
              <p:cNvSpPr>
                <a:spLocks noRot="1" noChangeAspect="1" noMove="1" noResize="1" noEditPoints="1" noAdjustHandles="1" noChangeArrowheads="1" noChangeShapeType="1" noTextEdit="1"/>
              </p:cNvSpPr>
              <p:nvPr/>
            </p:nvSpPr>
            <p:spPr>
              <a:xfrm>
                <a:off x="541537" y="1463393"/>
                <a:ext cx="6471821" cy="1610890"/>
              </a:xfrm>
              <a:prstGeom prst="rect">
                <a:avLst/>
              </a:prstGeom>
              <a:blipFill rotWithShape="1">
                <a:blip r:embed="rId4"/>
                <a:stretch>
                  <a:fillRect l="-1508"/>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 xmlns:a16="http://schemas.microsoft.com/office/drawing/2014/main" id="{32A84DFF-0D39-9D43-8AE5-4D4BCDC6F75A}"/>
                  </a:ext>
                </a:extLst>
              </p:cNvPr>
              <p:cNvGraphicFramePr>
                <a:graphicFrameLocks noGrp="1"/>
              </p:cNvGraphicFramePr>
              <p:nvPr>
                <p:extLst>
                  <p:ext uri="{D42A27DB-BD31-4B8C-83A1-F6EECF244321}">
                    <p14:modId xmlns:p14="http://schemas.microsoft.com/office/powerpoint/2010/main" val="3194052475"/>
                  </p:ext>
                </p:extLst>
              </p:nvPr>
            </p:nvGraphicFramePr>
            <p:xfrm>
              <a:off x="1644892" y="2765572"/>
              <a:ext cx="2324100" cy="2592000"/>
            </p:xfrm>
            <a:graphic>
              <a:graphicData uri="http://schemas.openxmlformats.org/drawingml/2006/table">
                <a:tbl>
                  <a:tblPr firstRow="1" firstCol="1" bandRow="1">
                    <a:tableStyleId>{A91F0D33-8C57-4600-99A7-42BC86742BE1}</a:tableStyleId>
                  </a:tblPr>
                  <a:tblGrid>
                    <a:gridCol w="1162050">
                      <a:extLst>
                        <a:ext uri="{9D8B030D-6E8A-4147-A177-3AD203B41FA5}">
                          <a16:colId xmlns="" xmlns:a16="http://schemas.microsoft.com/office/drawing/2014/main" val="3256630570"/>
                        </a:ext>
                      </a:extLst>
                    </a:gridCol>
                    <a:gridCol w="1162050">
                      <a:extLst>
                        <a:ext uri="{9D8B030D-6E8A-4147-A177-3AD203B41FA5}">
                          <a16:colId xmlns="" xmlns:a16="http://schemas.microsoft.com/office/drawing/2014/main" val="1889576171"/>
                        </a:ext>
                      </a:extLst>
                    </a:gridCol>
                  </a:tblGrid>
                  <a:tr h="43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effectLst/>
                                    <a:latin typeface="Cambria Math" panose="02040503050406030204" pitchFamily="18" charset="0"/>
                                  </a:rPr>
                                  <m:t>𝒙</m:t>
                                </m:r>
                              </m:oMath>
                            </m:oMathPara>
                          </a14:m>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effectLst/>
                                    <a:latin typeface="Cambria Math" panose="02040503050406030204" pitchFamily="18" charset="0"/>
                                  </a:rPr>
                                  <m:t>𝒚</m:t>
                                </m:r>
                              </m:oMath>
                            </m:oMathPara>
                          </a14:m>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3960601012"/>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28638506"/>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82819822"/>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73970164"/>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0426879"/>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32A84DFF-0D39-9D43-8AE5-4D4BCDC6F75A}"/>
                  </a:ext>
                </a:extLst>
              </p:cNvPr>
              <p:cNvGraphicFramePr>
                <a:graphicFrameLocks noGrp="1"/>
              </p:cNvGraphicFramePr>
              <p:nvPr>
                <p:extLst>
                  <p:ext uri="{D42A27DB-BD31-4B8C-83A1-F6EECF244321}">
                    <p14:modId xmlns:p14="http://schemas.microsoft.com/office/powerpoint/2010/main" val="3194052475"/>
                  </p:ext>
                </p:extLst>
              </p:nvPr>
            </p:nvGraphicFramePr>
            <p:xfrm>
              <a:off x="1644892" y="2765572"/>
              <a:ext cx="2324100" cy="2592000"/>
            </p:xfrm>
            <a:graphic>
              <a:graphicData uri="http://schemas.openxmlformats.org/drawingml/2006/table">
                <a:tbl>
                  <a:tblPr firstRow="1" firstCol="1" bandRow="1">
                    <a:tableStyleId>{A91F0D33-8C57-4600-99A7-42BC86742BE1}</a:tableStyleId>
                  </a:tblPr>
                  <a:tblGrid>
                    <a:gridCol w="1162050">
                      <a:extLst>
                        <a:ext uri="{9D8B030D-6E8A-4147-A177-3AD203B41FA5}">
                          <a16:colId xmlns:a16="http://schemas.microsoft.com/office/drawing/2014/main" xmlns:a14="http://schemas.microsoft.com/office/drawing/2010/main" xmlns="" val="3256630570"/>
                        </a:ext>
                      </a:extLst>
                    </a:gridCol>
                    <a:gridCol w="1162050">
                      <a:extLst>
                        <a:ext uri="{9D8B030D-6E8A-4147-A177-3AD203B41FA5}">
                          <a16:colId xmlns:a16="http://schemas.microsoft.com/office/drawing/2014/main" xmlns:a14="http://schemas.microsoft.com/office/drawing/2010/main" xmlns="" val="1889576171"/>
                        </a:ext>
                      </a:extLst>
                    </a:gridCol>
                  </a:tblGrid>
                  <a:tr h="432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24" t="-1408" r="-100000" b="-49859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1053" t="-1408" r="-526" b="-498592"/>
                          </a:stretch>
                        </a:blipFill>
                      </a:tcPr>
                    </a:tc>
                    <a:extLst>
                      <a:ext uri="{0D108BD9-81ED-4DB2-BD59-A6C34878D82A}">
                        <a16:rowId xmlns:a16="http://schemas.microsoft.com/office/drawing/2014/main" xmlns:a14="http://schemas.microsoft.com/office/drawing/2010/main" xmlns="" val="3960601012"/>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28638506"/>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882819822"/>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73970164"/>
                      </a:ext>
                    </a:extLst>
                  </a:tr>
                  <a:tr h="540000">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30426879"/>
                      </a:ext>
                    </a:extLst>
                  </a:tr>
                </a:tbl>
              </a:graphicData>
            </a:graphic>
          </p:graphicFrame>
        </mc:Fallback>
      </mc:AlternateContent>
      <p:pic>
        <p:nvPicPr>
          <p:cNvPr id="6" name="Picture 5" descr="Chart, line chart, scatter chart&#10;&#10;Description automatically generated">
            <a:extLst>
              <a:ext uri="{FF2B5EF4-FFF2-40B4-BE49-F238E27FC236}">
                <a16:creationId xmlns="" xmlns:a16="http://schemas.microsoft.com/office/drawing/2014/main" id="{25887E89-3A5F-DC42-8F55-DDF5B92A70E9}"/>
              </a:ext>
            </a:extLst>
          </p:cNvPr>
          <p:cNvPicPr>
            <a:picLocks noChangeAspect="1"/>
          </p:cNvPicPr>
          <p:nvPr/>
        </p:nvPicPr>
        <p:blipFill>
          <a:blip r:embed="rId6"/>
          <a:stretch>
            <a:fillRect/>
          </a:stretch>
        </p:blipFill>
        <p:spPr>
          <a:xfrm>
            <a:off x="5584598" y="2270785"/>
            <a:ext cx="4303688" cy="4422502"/>
          </a:xfrm>
          <a:prstGeom prst="rect">
            <a:avLst/>
          </a:prstGeom>
        </p:spPr>
      </p:pic>
      <p:sp>
        <p:nvSpPr>
          <p:cNvPr id="11"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78033"/>
                <a:ext cx="10800000" cy="2616486"/>
              </a:xfrm>
              <a:prstGeom prst="rect">
                <a:avLst/>
              </a:prstGeom>
              <a:noFill/>
            </p:spPr>
            <p:txBody>
              <a:bodyPr wrap="square" rtlCol="0">
                <a:spAutoFit/>
              </a:bodyPr>
              <a:lstStyle/>
              <a:p>
                <a:pPr marL="900113" lvl="0" indent="-457200">
                  <a:buAutoNum type="alphaLcPeriod" startAt="2"/>
                </a:pPr>
                <a:r>
                  <a:rPr lang="en-US" sz="2400" dirty="0" smtClean="0">
                    <a:latin typeface="Verdana" pitchFamily="34" charset="0"/>
                    <a:ea typeface="Verdana" pitchFamily="34" charset="0"/>
                  </a:rPr>
                  <a:t>Use key features and a table of values to graph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f>
                      <m:fPr>
                        <m:ctrlPr>
                          <a:rPr lang="en-US" sz="2400" i="1">
                            <a:latin typeface="Cambria Math" charset="0"/>
                          </a:rPr>
                        </m:ctrlPr>
                      </m:fPr>
                      <m:num>
                        <m:r>
                          <a:rPr lang="en-US" sz="2400" i="1">
                            <a:latin typeface="Cambria Math" panose="02040503050406030204" pitchFamily="18" charset="0"/>
                          </a:rPr>
                          <m:t>1</m:t>
                        </m:r>
                      </m:num>
                      <m:den>
                        <m:r>
                          <a:rPr lang="en-US" sz="2400" i="1">
                            <a:latin typeface="Cambria Math" panose="02040503050406030204" pitchFamily="18" charset="0"/>
                          </a:rPr>
                          <m:t>3</m:t>
                        </m:r>
                      </m:den>
                    </m:f>
                    <m:sSup>
                      <m:sSupPr>
                        <m:ctrlPr>
                          <a:rPr lang="en-US" sz="2400" i="1">
                            <a:latin typeface="Cambria Math" charset="0"/>
                          </a:rPr>
                        </m:ctrlPr>
                      </m:sSupPr>
                      <m:e>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+6)</m:t>
                        </m:r>
                      </m:e>
                      <m:sup>
                        <m:r>
                          <a:rPr lang="en-US" sz="2400" i="1">
                            <a:latin typeface="Cambria Math" panose="02040503050406030204" pitchFamily="18" charset="0"/>
                          </a:rPr>
                          <m:t>2</m:t>
                        </m:r>
                      </m:sup>
                    </m:sSup>
                  </m:oMath>
                </a14:m>
                <a:r>
                  <a:rPr lang="en-US" sz="2400" dirty="0">
                    <a:latin typeface="Verdana" pitchFamily="34" charset="0"/>
                    <a:ea typeface="Verdana" pitchFamily="34" charset="0"/>
                  </a:rPr>
                  <a:t>.</a:t>
                </a:r>
                <a:endParaRPr lang="en-US" sz="2400" dirty="0" smtClean="0">
                  <a:latin typeface="Verdana" pitchFamily="34" charset="0"/>
                  <a:ea typeface="Verdana" pitchFamily="34" charset="0"/>
                </a:endParaRPr>
              </a:p>
              <a:p>
                <a:pPr marL="900113" lvl="0" indent="-457200">
                  <a:buAutoNum type="alphaLcPeriod" startAt="2"/>
                </a:pPr>
                <a:endParaRPr lang="en-US" sz="2400" dirty="0">
                  <a:latin typeface="Verdana" pitchFamily="34" charset="0"/>
                  <a:ea typeface="Verdana" pitchFamily="34" charset="0"/>
                </a:endParaRPr>
              </a:p>
              <a:p>
                <a:pPr marL="900113" lvl="0" indent="-457200">
                  <a:buAutoNum type="alphaLcPeriod" startAt="2"/>
                </a:pPr>
                <a:endParaRPr lang="en-US" sz="2400" dirty="0" smtClean="0">
                  <a:latin typeface="Verdana" pitchFamily="34" charset="0"/>
                  <a:ea typeface="Verdana" pitchFamily="34" charset="0"/>
                </a:endParaRPr>
              </a:p>
              <a:p>
                <a:pPr marL="900113" lvl="0" indent="-457200">
                  <a:buAutoNum type="alphaLcPeriod" startAt="2"/>
                </a:pPr>
                <a:r>
                  <a:rPr lang="en-US" sz="2400" dirty="0" smtClean="0">
                    <a:latin typeface="Verdana" pitchFamily="34" charset="0"/>
                    <a:ea typeface="Verdana" pitchFamily="34" charset="0"/>
                  </a:rPr>
                  <a:t>Work </a:t>
                </a:r>
                <a:r>
                  <a:rPr lang="en-US" sz="2400" dirty="0">
                    <a:latin typeface="Verdana" pitchFamily="34" charset="0"/>
                    <a:ea typeface="Verdana" pitchFamily="34" charset="0"/>
                  </a:rPr>
                  <a:t>with your partner to complete the statement.</a:t>
                </a:r>
              </a:p>
              <a:p>
                <a:r>
                  <a:rPr lang="en-US" sz="2400" dirty="0">
                    <a:latin typeface="Verdana" pitchFamily="34" charset="0"/>
                    <a:ea typeface="Verdana" pitchFamily="34" charset="0"/>
                  </a:rPr>
                  <a:t> </a:t>
                </a:r>
              </a:p>
              <a:p>
                <a:pPr marL="893763"/>
                <a:r>
                  <a:rPr lang="en-US" sz="2400" dirty="0">
                    <a:latin typeface="Verdana" pitchFamily="34" charset="0"/>
                    <a:ea typeface="Verdana" pitchFamily="34" charset="0"/>
                  </a:rPr>
                  <a:t>The equation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f>
                      <m:fPr>
                        <m:ctrlPr>
                          <a:rPr lang="en-US" sz="2400" i="1">
                            <a:latin typeface="Cambria Math" charset="0"/>
                          </a:rPr>
                        </m:ctrlPr>
                      </m:fPr>
                      <m:num>
                        <m:r>
                          <a:rPr lang="en-US" sz="2400" i="1">
                            <a:latin typeface="Cambria Math" panose="02040503050406030204" pitchFamily="18" charset="0"/>
                          </a:rPr>
                          <m:t>1</m:t>
                        </m:r>
                      </m:num>
                      <m:den>
                        <m:r>
                          <a:rPr lang="en-US" sz="2400" i="1">
                            <a:latin typeface="Cambria Math" panose="02040503050406030204" pitchFamily="18" charset="0"/>
                          </a:rPr>
                          <m:t>3</m:t>
                        </m:r>
                      </m:den>
                    </m:f>
                    <m:sSup>
                      <m:sSupPr>
                        <m:ctrlPr>
                          <a:rPr lang="en-US" sz="2400" i="1">
                            <a:latin typeface="Cambria Math" charset="0"/>
                          </a:rPr>
                        </m:ctrlPr>
                      </m:sSupPr>
                      <m:e>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+6)</m:t>
                        </m:r>
                      </m:e>
                      <m:sup>
                        <m:r>
                          <a:rPr lang="en-US" sz="2400" i="1">
                            <a:latin typeface="Cambria Math" panose="02040503050406030204" pitchFamily="18" charset="0"/>
                          </a:rPr>
                          <m:t>2</m:t>
                        </m:r>
                      </m:sup>
                    </m:sSup>
                  </m:oMath>
                </a14:m>
                <a:r>
                  <a:rPr lang="en-US" sz="2400" dirty="0">
                    <a:latin typeface="Verdana" pitchFamily="34" charset="0"/>
                    <a:ea typeface="Verdana" pitchFamily="34" charset="0"/>
                  </a:rPr>
                  <a:t> results in the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78033"/>
                <a:ext cx="10800000" cy="2616486"/>
              </a:xfrm>
              <a:prstGeom prst="rect">
                <a:avLst/>
              </a:prstGeom>
              <a:blipFill rotWithShape="1">
                <a:blip r:embed="rId3"/>
                <a:stretch>
                  <a:fillRect r="-339" b="-932"/>
                </a:stretch>
              </a:blipFill>
            </p:spPr>
            <p:txBody>
              <a:bodyPr/>
              <a:lstStyle/>
              <a:p>
                <a:r>
                  <a:rPr lang="en-PH">
                    <a:noFill/>
                  </a:rPr>
                  <a:t> </a:t>
                </a:r>
              </a:p>
            </p:txBody>
          </p:sp>
        </mc:Fallback>
      </mc:AlternateContent>
      <p:pic>
        <p:nvPicPr>
          <p:cNvPr id="3" name="Picture 2" descr="A picture containing shape&#10;&#10;Description automatically generated">
            <a:extLst>
              <a:ext uri="{FF2B5EF4-FFF2-40B4-BE49-F238E27FC236}">
                <a16:creationId xmlns="" xmlns:a16="http://schemas.microsoft.com/office/drawing/2014/main" id="{8392E050-E276-C248-A4C9-6761A97DE57B}"/>
              </a:ext>
            </a:extLst>
          </p:cNvPr>
          <p:cNvPicPr>
            <a:picLocks noChangeAspect="1"/>
          </p:cNvPicPr>
          <p:nvPr/>
        </p:nvPicPr>
        <p:blipFill>
          <a:blip r:embed="rId4"/>
          <a:stretch>
            <a:fillRect/>
          </a:stretch>
        </p:blipFill>
        <p:spPr>
          <a:xfrm>
            <a:off x="1425421" y="2961988"/>
            <a:ext cx="4400550" cy="942123"/>
          </a:xfrm>
          <a:prstGeom prst="rect">
            <a:avLst/>
          </a:prstGeom>
        </p:spPr>
      </p:pic>
      <p:sp>
        <p:nvSpPr>
          <p:cNvPr id="4" name="Rectangle 3">
            <a:extLst>
              <a:ext uri="{FF2B5EF4-FFF2-40B4-BE49-F238E27FC236}">
                <a16:creationId xmlns="" xmlns:a16="http://schemas.microsoft.com/office/drawing/2014/main" id="{F3A14BE0-CD29-2049-8DC5-67457E85E7E6}"/>
              </a:ext>
            </a:extLst>
          </p:cNvPr>
          <p:cNvSpPr/>
          <p:nvPr/>
        </p:nvSpPr>
        <p:spPr>
          <a:xfrm>
            <a:off x="5790459" y="3202217"/>
            <a:ext cx="6007100"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being the same because </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6" name="Picture 5" descr="A picture containing table&#10;&#10;Description automatically generated">
            <a:extLst>
              <a:ext uri="{FF2B5EF4-FFF2-40B4-BE49-F238E27FC236}">
                <a16:creationId xmlns="" xmlns:a16="http://schemas.microsoft.com/office/drawing/2014/main" id="{A1249E4E-F95E-2B4E-8FF3-37E3348007F8}"/>
              </a:ext>
            </a:extLst>
          </p:cNvPr>
          <p:cNvPicPr>
            <a:picLocks noChangeAspect="1"/>
          </p:cNvPicPr>
          <p:nvPr/>
        </p:nvPicPr>
        <p:blipFill>
          <a:blip r:embed="rId5"/>
          <a:stretch>
            <a:fillRect/>
          </a:stretch>
        </p:blipFill>
        <p:spPr>
          <a:xfrm>
            <a:off x="1354397" y="3980799"/>
            <a:ext cx="6007100" cy="1079500"/>
          </a:xfrm>
          <a:prstGeom prst="rect">
            <a:avLst/>
          </a:prstGeom>
        </p:spPr>
      </p:pic>
      <p:sp>
        <p:nvSpPr>
          <p:cNvPr id="9"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59042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1" y="382259"/>
                <a:ext cx="10515600" cy="1200329"/>
              </a:xfrm>
              <a:prstGeom prst="rect">
                <a:avLst/>
              </a:prstGeom>
              <a:noFill/>
            </p:spPr>
            <p:txBody>
              <a:bodyPr wrap="square" rtlCol="0">
                <a:spAutoFit/>
              </a:bodyPr>
              <a:lstStyle/>
              <a:p>
                <a:pPr marL="457200" lvl="0" indent="-457200">
                  <a:buFont typeface="+mj-lt"/>
                  <a:buAutoNum type="arabicPeriod" startAt="2"/>
                </a:pPr>
                <a:r>
                  <a:rPr lang="en-US" sz="2400" dirty="0" smtClean="0">
                    <a:latin typeface="Verdana" panose="020B0604030504040204" pitchFamily="34" charset="0"/>
                    <a:ea typeface="Verdana" panose="020B0604030504040204" pitchFamily="34" charset="0"/>
                    <a:cs typeface="Verdana" panose="020B0604030504040204" pitchFamily="34" charset="0"/>
                  </a:rPr>
                  <a:t>The </a:t>
                </a:r>
                <a:r>
                  <a:rPr lang="en-US" sz="2400" dirty="0">
                    <a:latin typeface="Verdana" panose="020B0604030504040204" pitchFamily="34" charset="0"/>
                    <a:ea typeface="Verdana" panose="020B0604030504040204" pitchFamily="34" charset="0"/>
                    <a:cs typeface="Verdana" panose="020B0604030504040204" pitchFamily="34" charset="0"/>
                  </a:rPr>
                  <a:t>vertex of the graph of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d>
                      <m:dPr>
                        <m:ctrlPr>
                          <a:rPr lang="en-US" sz="2400" i="1">
                            <a:latin typeface="Cambria Math" charset="0"/>
                          </a:rPr>
                        </m:ctrlPr>
                      </m:dPr>
                      <m:e>
                        <m:r>
                          <a:rPr lang="en-US" sz="2400" i="1">
                            <a:latin typeface="Cambria Math" panose="02040503050406030204" pitchFamily="18" charset="0"/>
                          </a:rPr>
                          <m:t>𝑥</m:t>
                        </m:r>
                        <m:r>
                          <a:rPr lang="en-US" sz="2400" i="1">
                            <a:latin typeface="Cambria Math" panose="02040503050406030204" pitchFamily="18" charset="0"/>
                          </a:rPr>
                          <m:t>−5</m:t>
                        </m:r>
                      </m:e>
                    </m:d>
                    <m:d>
                      <m:dPr>
                        <m:ctrlPr>
                          <a:rPr lang="en-US" sz="2400" i="1">
                            <a:latin typeface="Cambria Math" charset="0"/>
                          </a:rPr>
                        </m:ctrlPr>
                      </m:dPr>
                      <m:e>
                        <m:r>
                          <a:rPr lang="en-US" sz="2400" i="1">
                            <a:latin typeface="Cambria Math" panose="02040503050406030204" pitchFamily="18" charset="0"/>
                          </a:rPr>
                          <m:t>𝑥</m:t>
                        </m:r>
                        <m:r>
                          <a:rPr lang="en-US" sz="2400" i="1">
                            <a:latin typeface="Cambria Math" panose="02040503050406030204" pitchFamily="18" charset="0"/>
                          </a:rPr>
                          <m:t>+1</m:t>
                        </m:r>
                      </m:e>
                    </m:d>
                  </m:oMath>
                </a14:m>
                <a:r>
                  <a:rPr lang="en-US" sz="24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400" i="1">
                        <a:latin typeface="Cambria Math" panose="02040503050406030204" pitchFamily="18" charset="0"/>
                      </a:rPr>
                      <m:t>(2, 9)</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66725"/>
                <a:r>
                  <a:rPr lang="en-US" sz="2400" dirty="0">
                    <a:latin typeface="Verdana" panose="020B0604030504040204" pitchFamily="34" charset="0"/>
                    <a:ea typeface="Verdana" panose="020B0604030504040204" pitchFamily="34" charset="0"/>
                    <a:cs typeface="Verdana" panose="020B0604030504040204" pitchFamily="34" charset="0"/>
                  </a:rPr>
                  <a:t>Graph the parabola using the vertex and other key features.</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1" y="382259"/>
                <a:ext cx="10515600" cy="1200329"/>
              </a:xfrm>
              <a:prstGeom prst="rect">
                <a:avLst/>
              </a:prstGeom>
              <a:blipFill rotWithShape="1">
                <a:blip r:embed="rId3"/>
                <a:stretch>
                  <a:fillRect l="-870" t="-4569" b="-10660"/>
                </a:stretch>
              </a:blipFill>
            </p:spPr>
            <p:txBody>
              <a:bodyPr/>
              <a:lstStyle/>
              <a:p>
                <a:r>
                  <a:rPr lang="en-PH">
                    <a:noFill/>
                  </a:rPr>
                  <a:t> </a:t>
                </a:r>
              </a:p>
            </p:txBody>
          </p:sp>
        </mc:Fallback>
      </mc:AlternateContent>
      <p:pic>
        <p:nvPicPr>
          <p:cNvPr id="3" name="Picture 2" descr="Chart, table, line chart&#10;&#10;Description automatically generated">
            <a:extLst>
              <a:ext uri="{FF2B5EF4-FFF2-40B4-BE49-F238E27FC236}">
                <a16:creationId xmlns="" xmlns:a16="http://schemas.microsoft.com/office/drawing/2014/main" id="{9C32D247-9606-5547-9C88-14F0867E3AB9}"/>
              </a:ext>
            </a:extLst>
          </p:cNvPr>
          <p:cNvPicPr>
            <a:picLocks noChangeAspect="1"/>
          </p:cNvPicPr>
          <p:nvPr/>
        </p:nvPicPr>
        <p:blipFill>
          <a:blip r:embed="rId4"/>
          <a:stretch>
            <a:fillRect/>
          </a:stretch>
        </p:blipFill>
        <p:spPr>
          <a:xfrm>
            <a:off x="3970718" y="1745213"/>
            <a:ext cx="4494400" cy="4331264"/>
          </a:xfrm>
          <a:prstGeom prst="rect">
            <a:avLst/>
          </a:prstGeom>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29</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3582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0130" y="387228"/>
                <a:ext cx="10515600" cy="1217000"/>
              </a:xfrm>
              <a:prstGeom prst="rect">
                <a:avLst/>
              </a:prstGeom>
              <a:noFill/>
            </p:spPr>
            <p:txBody>
              <a:bodyPr wrap="square" rtlCol="0">
                <a:spAutoFit/>
              </a:bodyPr>
              <a:lstStyle/>
              <a:p>
                <a:pPr marL="457200" lvl="0" indent="-457200">
                  <a:buFont typeface="+mj-lt"/>
                  <a:buAutoNum type="arabicPeriod" startAt="3"/>
                </a:pPr>
                <a:r>
                  <a:rPr lang="en-US" sz="2400" dirty="0" smtClean="0">
                    <a:latin typeface="Verdana" pitchFamily="34" charset="0"/>
                    <a:ea typeface="Verdana" pitchFamily="34" charset="0"/>
                  </a:rPr>
                  <a:t>Consider </a:t>
                </a:r>
                <a:r>
                  <a:rPr lang="en-US" sz="2400" dirty="0">
                    <a:latin typeface="Verdana" pitchFamily="34" charset="0"/>
                    <a:ea typeface="Verdana" pitchFamily="34" charset="0"/>
                  </a:rPr>
                  <a:t>the quadratic function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)=3</m:t>
                    </m:r>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−12</m:t>
                    </m:r>
                  </m:oMath>
                </a14:m>
                <a:r>
                  <a:rPr lang="en-US" sz="2400" dirty="0">
                    <a:latin typeface="Verdana" pitchFamily="34" charset="0"/>
                    <a:ea typeface="Verdana" pitchFamily="34" charset="0"/>
                  </a:rPr>
                  <a:t>.</a:t>
                </a:r>
              </a:p>
              <a:p>
                <a:r>
                  <a:rPr lang="en-US" sz="2400" dirty="0">
                    <a:latin typeface="Verdana" pitchFamily="34" charset="0"/>
                    <a:ea typeface="Verdana" pitchFamily="34" charset="0"/>
                  </a:rPr>
                  <a:t> </a:t>
                </a:r>
              </a:p>
              <a:p>
                <a:pPr marL="900113" indent="-457200">
                  <a:buFont typeface="+mj-lt"/>
                  <a:buAutoNum type="alphaLcPeriod"/>
                </a:pPr>
                <a:r>
                  <a:rPr lang="en-US" sz="2400" dirty="0" smtClean="0">
                    <a:latin typeface="Verdana" pitchFamily="34" charset="0"/>
                    <a:ea typeface="Verdana" pitchFamily="34" charset="0"/>
                  </a:rPr>
                  <a:t>Plot </a:t>
                </a:r>
                <a:r>
                  <a:rPr lang="en-US" sz="2400" dirty="0">
                    <a:latin typeface="Verdana" pitchFamily="34" charset="0"/>
                    <a:ea typeface="Verdana" pitchFamily="34" charset="0"/>
                  </a:rPr>
                  <a:t>the </a:t>
                </a:r>
                <a14:m>
                  <m:oMath xmlns:m="http://schemas.openxmlformats.org/officeDocument/2006/math">
                    <m:r>
                      <a:rPr lang="en-US" sz="2400" i="1">
                        <a:latin typeface="Cambria Math" panose="02040503050406030204" pitchFamily="18" charset="0"/>
                      </a:rPr>
                      <m:t>𝑦</m:t>
                    </m:r>
                  </m:oMath>
                </a14:m>
                <a:r>
                  <a:rPr lang="en-US" sz="2400" dirty="0">
                    <a:latin typeface="Verdana" pitchFamily="34" charset="0"/>
                    <a:ea typeface="Verdana" pitchFamily="34" charset="0"/>
                  </a:rPr>
                  <a:t>-intercept of the equation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)=3</m:t>
                    </m:r>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−12</m:t>
                    </m:r>
                  </m:oMath>
                </a14:m>
                <a:r>
                  <a:rPr lang="en-US" sz="2400" dirty="0">
                    <a:latin typeface="Verdana" pitchFamily="34" charset="0"/>
                    <a:ea typeface="Verdana"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0130" y="387228"/>
                <a:ext cx="10515600" cy="1217000"/>
              </a:xfrm>
              <a:prstGeom prst="rect">
                <a:avLst/>
              </a:prstGeom>
              <a:blipFill rotWithShape="1">
                <a:blip r:embed="rId3"/>
                <a:stretch>
                  <a:fillRect l="-928" t="-4523" b="-9045"/>
                </a:stretch>
              </a:blipFill>
            </p:spPr>
            <p:txBody>
              <a:bodyPr/>
              <a:lstStyle/>
              <a:p>
                <a:r>
                  <a:rPr lang="en-PH">
                    <a:noFill/>
                  </a:rPr>
                  <a:t> </a:t>
                </a:r>
              </a:p>
            </p:txBody>
          </p:sp>
        </mc:Fallback>
      </mc:AlternateContent>
      <p:pic>
        <p:nvPicPr>
          <p:cNvPr id="3" name="Picture 2" descr="Chart, line chart&#10;&#10;Description automatically generated">
            <a:extLst>
              <a:ext uri="{FF2B5EF4-FFF2-40B4-BE49-F238E27FC236}">
                <a16:creationId xmlns="" xmlns:a16="http://schemas.microsoft.com/office/drawing/2014/main" id="{AEFD6750-92CB-C345-A982-F638A773764C}"/>
              </a:ext>
            </a:extLst>
          </p:cNvPr>
          <p:cNvPicPr>
            <a:picLocks noChangeAspect="1"/>
          </p:cNvPicPr>
          <p:nvPr/>
        </p:nvPicPr>
        <p:blipFill>
          <a:blip r:embed="rId4"/>
          <a:stretch>
            <a:fillRect/>
          </a:stretch>
        </p:blipFill>
        <p:spPr>
          <a:xfrm>
            <a:off x="3638711" y="1872027"/>
            <a:ext cx="4298438" cy="3876347"/>
          </a:xfrm>
          <a:prstGeom prst="rect">
            <a:avLst/>
          </a:prstGeom>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55819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660" y="380676"/>
                <a:ext cx="10800000" cy="3785652"/>
              </a:xfrm>
              <a:prstGeom prst="rect">
                <a:avLst/>
              </a:prstGeom>
              <a:noFill/>
            </p:spPr>
            <p:txBody>
              <a:bodyPr wrap="square" rtlCol="0">
                <a:spAutoFit/>
              </a:bodyPr>
              <a:lstStyle/>
              <a:p>
                <a:pPr marL="893763" indent="-466725">
                  <a:buFont typeface="+mj-lt"/>
                  <a:buAutoNum type="alphaLcPeriod" startAt="2"/>
                </a:pPr>
                <a:r>
                  <a:rPr lang="en-US" sz="2400" dirty="0" smtClean="0">
                    <a:latin typeface="Verdana" pitchFamily="34" charset="0"/>
                    <a:ea typeface="Verdana" pitchFamily="34" charset="0"/>
                  </a:rPr>
                  <a:t>Rewrite </a:t>
                </a:r>
                <a14:m>
                  <m:oMath xmlns:m="http://schemas.openxmlformats.org/officeDocument/2006/math">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)=3</m:t>
                    </m:r>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−12</m:t>
                    </m:r>
                  </m:oMath>
                </a14:m>
                <a:r>
                  <a:rPr lang="en-US" sz="2400" dirty="0">
                    <a:latin typeface="Verdana" pitchFamily="34" charset="0"/>
                    <a:ea typeface="Verdana" pitchFamily="34" charset="0"/>
                  </a:rPr>
                  <a:t> in factored form. Then, graph the </a:t>
                </a:r>
                <a:r>
                  <a:rPr lang="en-US" sz="2400" dirty="0" smtClean="0">
                    <a:latin typeface="Verdana" pitchFamily="34" charset="0"/>
                    <a:ea typeface="Verdana" pitchFamily="34" charset="0"/>
                  </a:rPr>
                  <a:t/>
                </a:r>
                <a:br>
                  <a:rPr lang="en-US" sz="2400" dirty="0" smtClean="0">
                    <a:latin typeface="Verdana" pitchFamily="34" charset="0"/>
                    <a:ea typeface="Verdana" pitchFamily="34" charset="0"/>
                  </a:rPr>
                </a:br>
                <a14:m>
                  <m:oMath xmlns:m="http://schemas.openxmlformats.org/officeDocument/2006/math">
                    <m:r>
                      <a:rPr lang="en-US" sz="2400" i="1">
                        <a:latin typeface="Cambria Math" panose="02040503050406030204" pitchFamily="18" charset="0"/>
                      </a:rPr>
                      <m:t>𝑥</m:t>
                    </m:r>
                  </m:oMath>
                </a14:m>
                <a:r>
                  <a:rPr lang="en-US" sz="2400" dirty="0">
                    <a:latin typeface="Verdana" pitchFamily="34" charset="0"/>
                    <a:ea typeface="Verdana" pitchFamily="34" charset="0"/>
                  </a:rPr>
                  <a:t>-intercepts</a:t>
                </a:r>
                <a:r>
                  <a:rPr lang="en-US" sz="2400" dirty="0" smtClean="0">
                    <a:latin typeface="Verdana" pitchFamily="34" charset="0"/>
                    <a:ea typeface="Verdana" pitchFamily="34" charset="0"/>
                  </a:rPr>
                  <a:t>.</a:t>
                </a:r>
              </a:p>
              <a:p>
                <a:pPr marL="893763" indent="-466725">
                  <a:buFont typeface="+mj-lt"/>
                  <a:buAutoNum type="alphaLcPeriod" startAt="2"/>
                </a:pPr>
                <a:endParaRPr lang="en-US" sz="2400" dirty="0" smtClean="0">
                  <a:latin typeface="Verdana" pitchFamily="34" charset="0"/>
                  <a:ea typeface="Verdana" pitchFamily="34" charset="0"/>
                </a:endParaRPr>
              </a:p>
              <a:p>
                <a:pPr marL="893763" indent="-466725">
                  <a:buFont typeface="+mj-lt"/>
                  <a:buAutoNum type="alphaLcPeriod" startAt="2"/>
                </a:pPr>
                <a:endParaRPr lang="en-US" sz="2400" dirty="0">
                  <a:latin typeface="Verdana" pitchFamily="34" charset="0"/>
                  <a:ea typeface="Verdana" pitchFamily="34" charset="0"/>
                </a:endParaRPr>
              </a:p>
              <a:p>
                <a:pPr marL="893763" indent="-466725">
                  <a:buFont typeface="+mj-lt"/>
                  <a:buAutoNum type="alphaLcPeriod" startAt="2"/>
                </a:pPr>
                <a:endParaRPr lang="en-US" sz="2400" dirty="0" smtClean="0">
                  <a:latin typeface="Verdana" pitchFamily="34" charset="0"/>
                  <a:ea typeface="Verdana" pitchFamily="34" charset="0"/>
                </a:endParaRPr>
              </a:p>
              <a:p>
                <a:pPr marL="893763" indent="-466725">
                  <a:buFont typeface="+mj-lt"/>
                  <a:buAutoNum type="alphaLcPeriod" startAt="2"/>
                </a:pPr>
                <a:endParaRPr lang="en-US" sz="2400" dirty="0" smtClean="0">
                  <a:latin typeface="Verdana" pitchFamily="34" charset="0"/>
                  <a:ea typeface="Verdana" pitchFamily="34" charset="0"/>
                </a:endParaRPr>
              </a:p>
              <a:p>
                <a:pPr marL="893763" indent="-466725">
                  <a:buFont typeface="+mj-lt"/>
                  <a:buAutoNum type="alphaLcPeriod" startAt="2"/>
                </a:pPr>
                <a:endParaRPr lang="en-US" sz="2400" dirty="0">
                  <a:latin typeface="Verdana" pitchFamily="34" charset="0"/>
                  <a:ea typeface="Verdana" pitchFamily="34" charset="0"/>
                </a:endParaRPr>
              </a:p>
              <a:p>
                <a:pPr marL="893763" indent="-466725">
                  <a:buFont typeface="+mj-lt"/>
                  <a:buAutoNum type="alphaLcPeriod" startAt="2"/>
                </a:pPr>
                <a:r>
                  <a:rPr lang="en-US" sz="2400" dirty="0" smtClean="0">
                    <a:latin typeface="Verdana" pitchFamily="34" charset="0"/>
                    <a:ea typeface="Verdana" pitchFamily="34" charset="0"/>
                  </a:rPr>
                  <a:t>Discuss </a:t>
                </a:r>
                <a:r>
                  <a:rPr lang="en-US" sz="2400" dirty="0">
                    <a:latin typeface="Verdana" pitchFamily="34" charset="0"/>
                    <a:ea typeface="Verdana" pitchFamily="34" charset="0"/>
                  </a:rPr>
                  <a:t>with your partner why plotting the two </a:t>
                </a:r>
                <a14:m>
                  <m:oMath xmlns:m="http://schemas.openxmlformats.org/officeDocument/2006/math">
                    <m:r>
                      <a:rPr lang="en-US" sz="2400" i="1">
                        <a:latin typeface="Cambria Math" panose="02040503050406030204" pitchFamily="18" charset="0"/>
                      </a:rPr>
                      <m:t>𝑥</m:t>
                    </m:r>
                  </m:oMath>
                </a14:m>
                <a:r>
                  <a:rPr lang="en-US" sz="2400" dirty="0">
                    <a:latin typeface="Verdana" pitchFamily="34" charset="0"/>
                    <a:ea typeface="Verdana" pitchFamily="34" charset="0"/>
                  </a:rPr>
                  <a:t>‑intercepts and the </a:t>
                </a:r>
                <a14:m>
                  <m:oMath xmlns:m="http://schemas.openxmlformats.org/officeDocument/2006/math">
                    <m:r>
                      <a:rPr lang="en-US" sz="2400" i="1">
                        <a:latin typeface="Cambria Math" panose="02040503050406030204" pitchFamily="18" charset="0"/>
                      </a:rPr>
                      <m:t>𝑦</m:t>
                    </m:r>
                  </m:oMath>
                </a14:m>
                <a:r>
                  <a:rPr lang="en-US" sz="2400" dirty="0">
                    <a:latin typeface="Verdana" pitchFamily="34" charset="0"/>
                    <a:ea typeface="Verdana" pitchFamily="34" charset="0"/>
                  </a:rPr>
                  <a:t>-intercept is enough information to plot a parabola that shows all of the key features for</a:t>
                </a: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)=3</m:t>
                    </m:r>
                    <m:sSup>
                      <m:sSupPr>
                        <m:ctrlPr>
                          <a:rPr lang="en-US" sz="2400" i="1">
                            <a:latin typeface="Cambria Math"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−12</m:t>
                    </m:r>
                  </m:oMath>
                </a14:m>
                <a:r>
                  <a:rPr lang="en-US" sz="2400" dirty="0">
                    <a:latin typeface="Verdana" pitchFamily="34" charset="0"/>
                    <a:ea typeface="Verdana" pitchFamily="34" charset="0"/>
                  </a:rPr>
                  <a:t>.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660" y="380676"/>
                <a:ext cx="10800000" cy="3785652"/>
              </a:xfrm>
              <a:prstGeom prst="rect">
                <a:avLst/>
              </a:prstGeom>
              <a:blipFill rotWithShape="1">
                <a:blip r:embed="rId3"/>
                <a:stretch>
                  <a:fillRect t="-1449" b="-2576"/>
                </a:stretch>
              </a:blipFill>
            </p:spPr>
            <p:txBody>
              <a:bodyPr/>
              <a:lstStyle/>
              <a:p>
                <a:r>
                  <a:rPr lang="en-PH">
                    <a:noFill/>
                  </a:rPr>
                  <a:t> </a:t>
                </a:r>
              </a:p>
            </p:txBody>
          </p:sp>
        </mc:Fallback>
      </mc:AlternateContent>
      <p:sp>
        <p:nvSpPr>
          <p:cNvPr id="6"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55663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3">
            <a:alphaModFix/>
          </a:blip>
          <a:srcRect/>
          <a:stretch/>
        </p:blipFill>
        <p:spPr>
          <a:xfrm>
            <a:off x="3054096"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249051" y="283277"/>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8.4.4 Your Turn!</a:t>
            </a:r>
          </a:p>
        </p:txBody>
      </p:sp>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3">
            <a:alphaModFix/>
          </a:blip>
          <a:srcRect/>
          <a:stretch/>
        </p:blipFill>
        <p:spPr>
          <a:xfrm>
            <a:off x="436518" y="28352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759C3E41-93EC-B84D-963F-86A3B15AC1C6}"/>
              </a:ext>
            </a:extLst>
          </p:cNvPr>
          <p:cNvSpPr txBox="1"/>
          <p:nvPr/>
        </p:nvSpPr>
        <p:spPr>
          <a:xfrm>
            <a:off x="532661" y="1466621"/>
            <a:ext cx="10515600"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Determine the key features revealed for each quadratic equation, then complete the table of values.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Use the key features and the table of values to graph each quadratic equation.</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1">
            <a:extLst>
              <a:ext uri="{FF2B5EF4-FFF2-40B4-BE49-F238E27FC236}">
                <a16:creationId xmlns="" xmlns:a16="http://schemas.microsoft.com/office/drawing/2014/main" id="{F85A6B1B-5F81-CF4E-9F4C-BCFAB9F89D02}"/>
              </a:ext>
            </a:extLst>
          </p:cNvPr>
          <p:cNvSpPr>
            <a:spLocks noChangeArrowheads="1"/>
          </p:cNvSpPr>
          <p:nvPr/>
        </p:nvSpPr>
        <p:spPr bwMode="auto">
          <a:xfrm>
            <a:off x="2252437" y="196792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AE88A221-BE85-AD49-A771-BD9210F3D432}"/>
                  </a:ext>
                </a:extLst>
              </p:cNvPr>
              <p:cNvSpPr txBox="1"/>
              <p:nvPr/>
            </p:nvSpPr>
            <p:spPr>
              <a:xfrm>
                <a:off x="536328" y="382706"/>
                <a:ext cx="3253135" cy="1200329"/>
              </a:xfrm>
              <a:prstGeom prst="rect">
                <a:avLst/>
              </a:prstGeom>
              <a:noFill/>
            </p:spPr>
            <p:txBody>
              <a:bodyPr wrap="none" rtlCol="0">
                <a:spAutoFit/>
              </a:bodyPr>
              <a:lstStyle/>
              <a:p>
                <a:pPr marL="355600" indent="-355600">
                  <a:buFont typeface="+mj-lt"/>
                  <a:buAutoNum type="arabicPeriod"/>
                </a:pPr>
                <a:r>
                  <a:rPr lang="en-US" sz="2400" dirty="0" smtClean="0">
                    <a:latin typeface="Verdana" pitchFamily="34" charset="0"/>
                    <a:ea typeface="Verdana" pitchFamily="34" charset="0"/>
                  </a:rPr>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sSup>
                      <m:sSupPr>
                        <m:ctrlPr>
                          <a:rPr lang="en-US" sz="2400" i="1">
                            <a:latin typeface="Cambria Math" charset="0"/>
                          </a:rPr>
                        </m:ctrlPr>
                      </m:sSupPr>
                      <m:e>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−2)</m:t>
                        </m:r>
                      </m:e>
                      <m:sup>
                        <m:r>
                          <a:rPr lang="en-US" sz="2400" i="1">
                            <a:latin typeface="Cambria Math" panose="02040503050406030204" pitchFamily="18" charset="0"/>
                          </a:rPr>
                          <m:t>2</m:t>
                        </m:r>
                      </m:sup>
                    </m:sSup>
                    <m:r>
                      <a:rPr lang="en-US" sz="2400" i="1">
                        <a:latin typeface="Cambria Math" panose="02040503050406030204" pitchFamily="18" charset="0"/>
                      </a:rPr>
                      <m:t>−1</m:t>
                    </m:r>
                  </m:oMath>
                </a14:m>
                <a:endParaRPr lang="en-US" sz="2400" dirty="0">
                  <a:latin typeface="Verdana" pitchFamily="34" charset="0"/>
                  <a:ea typeface="Verdana" pitchFamily="34" charset="0"/>
                </a:endParaRPr>
              </a:p>
              <a:p>
                <a:endParaRPr lang="en-US" sz="2400" dirty="0">
                  <a:latin typeface="Verdana" pitchFamily="34" charset="0"/>
                  <a:ea typeface="Verdana" pitchFamily="34" charset="0"/>
                </a:endParaRPr>
              </a:p>
              <a:p>
                <a:pPr marL="896938"/>
                <a:r>
                  <a:rPr lang="en-US" sz="2400" dirty="0" smtClean="0">
                    <a:latin typeface="Verdana" pitchFamily="34" charset="0"/>
                    <a:ea typeface="Verdana" pitchFamily="34" charset="0"/>
                  </a:rPr>
                  <a:t>Key </a:t>
                </a:r>
                <a:r>
                  <a:rPr lang="en-US" sz="2400" dirty="0">
                    <a:latin typeface="Verdana" pitchFamily="34" charset="0"/>
                    <a:ea typeface="Verdana" pitchFamily="34" charset="0"/>
                  </a:rPr>
                  <a:t>Features:</a:t>
                </a:r>
              </a:p>
            </p:txBody>
          </p:sp>
        </mc:Choice>
        <mc:Fallback xmlns="">
          <p:sp>
            <p:nvSpPr>
              <p:cNvPr id="9" name="TextBox 8">
                <a:extLst>
                  <a:ext uri="{FF2B5EF4-FFF2-40B4-BE49-F238E27FC236}">
                    <a16:creationId xmlns:a16="http://schemas.microsoft.com/office/drawing/2014/main" xmlns:a14="http://schemas.microsoft.com/office/drawing/2010/main" xmlns="" id="{AE88A221-BE85-AD49-A771-BD9210F3D432}"/>
                  </a:ext>
                </a:extLst>
              </p:cNvPr>
              <p:cNvSpPr txBox="1">
                <a:spLocks noRot="1" noChangeAspect="1" noMove="1" noResize="1" noEditPoints="1" noAdjustHandles="1" noChangeArrowheads="1" noChangeShapeType="1" noTextEdit="1"/>
              </p:cNvSpPr>
              <p:nvPr/>
            </p:nvSpPr>
            <p:spPr>
              <a:xfrm>
                <a:off x="536328" y="382706"/>
                <a:ext cx="3253135" cy="1200329"/>
              </a:xfrm>
              <a:prstGeom prst="rect">
                <a:avLst/>
              </a:prstGeom>
              <a:blipFill rotWithShape="1">
                <a:blip r:embed="rId3"/>
                <a:stretch>
                  <a:fillRect l="-2996" t="-4569" r="-2060" b="-10660"/>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 xmlns:a16="http://schemas.microsoft.com/office/drawing/2014/main" id="{240736E8-9820-B749-AF05-CC73F84AC904}"/>
                  </a:ext>
                </a:extLst>
              </p:cNvPr>
              <p:cNvGraphicFramePr>
                <a:graphicFrameLocks noGrp="1"/>
              </p:cNvGraphicFramePr>
              <p:nvPr>
                <p:extLst>
                  <p:ext uri="{D42A27DB-BD31-4B8C-83A1-F6EECF244321}">
                    <p14:modId xmlns:p14="http://schemas.microsoft.com/office/powerpoint/2010/main" val="3905640182"/>
                  </p:ext>
                </p:extLst>
              </p:nvPr>
            </p:nvGraphicFramePr>
            <p:xfrm>
              <a:off x="1496149" y="1676456"/>
              <a:ext cx="2259330" cy="3276000"/>
            </p:xfrm>
            <a:graphic>
              <a:graphicData uri="http://schemas.openxmlformats.org/drawingml/2006/table">
                <a:tbl>
                  <a:tblPr firstRow="1" firstCol="1" bandRow="1">
                    <a:tableStyleId>{A91F0D33-8C57-4600-99A7-42BC86742BE1}</a:tableStyleId>
                  </a:tblPr>
                  <a:tblGrid>
                    <a:gridCol w="1129665">
                      <a:extLst>
                        <a:ext uri="{9D8B030D-6E8A-4147-A177-3AD203B41FA5}">
                          <a16:colId xmlns="" xmlns:a16="http://schemas.microsoft.com/office/drawing/2014/main" val="3633885614"/>
                        </a:ext>
                      </a:extLst>
                    </a:gridCol>
                    <a:gridCol w="1129665">
                      <a:extLst>
                        <a:ext uri="{9D8B030D-6E8A-4147-A177-3AD203B41FA5}">
                          <a16:colId xmlns="" xmlns:a16="http://schemas.microsoft.com/office/drawing/2014/main" val="3878092755"/>
                        </a:ext>
                      </a:extLst>
                    </a:gridCol>
                  </a:tblGrid>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𝒙</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𝒚</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4183353742"/>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20669583"/>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83399641"/>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78137945"/>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59162060"/>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051297951"/>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73143451"/>
                      </a:ext>
                    </a:extLst>
                  </a:tr>
                </a:tbl>
              </a:graphicData>
            </a:graphic>
          </p:graphicFrame>
        </mc:Choice>
        <mc:Fallback xmlns="">
          <p:graphicFrame>
            <p:nvGraphicFramePr>
              <p:cNvPr id="10" name="Table 9">
                <a:extLst>
                  <a:ext uri="{FF2B5EF4-FFF2-40B4-BE49-F238E27FC236}">
                    <a16:creationId xmlns:a16="http://schemas.microsoft.com/office/drawing/2014/main" xmlns:a14="http://schemas.microsoft.com/office/drawing/2010/main" xmlns="" id="{240736E8-9820-B749-AF05-CC73F84AC904}"/>
                  </a:ext>
                </a:extLst>
              </p:cNvPr>
              <p:cNvGraphicFramePr>
                <a:graphicFrameLocks noGrp="1"/>
              </p:cNvGraphicFramePr>
              <p:nvPr>
                <p:extLst>
                  <p:ext uri="{D42A27DB-BD31-4B8C-83A1-F6EECF244321}">
                    <p14:modId xmlns:p14="http://schemas.microsoft.com/office/powerpoint/2010/main" val="3905640182"/>
                  </p:ext>
                </p:extLst>
              </p:nvPr>
            </p:nvGraphicFramePr>
            <p:xfrm>
              <a:off x="1496149" y="1676456"/>
              <a:ext cx="2259330" cy="3276000"/>
            </p:xfrm>
            <a:graphic>
              <a:graphicData uri="http://schemas.openxmlformats.org/drawingml/2006/table">
                <a:tbl>
                  <a:tblPr firstRow="1" firstCol="1" bandRow="1">
                    <a:tableStyleId>{A91F0D33-8C57-4600-99A7-42BC86742BE1}</a:tableStyleId>
                  </a:tblPr>
                  <a:tblGrid>
                    <a:gridCol w="1129665">
                      <a:extLst>
                        <a:ext uri="{9D8B030D-6E8A-4147-A177-3AD203B41FA5}">
                          <a16:colId xmlns:a16="http://schemas.microsoft.com/office/drawing/2014/main" xmlns:a14="http://schemas.microsoft.com/office/drawing/2010/main" xmlns="" val="3633885614"/>
                        </a:ext>
                      </a:extLst>
                    </a:gridCol>
                    <a:gridCol w="1129665">
                      <a:extLst>
                        <a:ext uri="{9D8B030D-6E8A-4147-A177-3AD203B41FA5}">
                          <a16:colId xmlns:a16="http://schemas.microsoft.com/office/drawing/2014/main" xmlns:a14="http://schemas.microsoft.com/office/drawing/2010/main" xmlns="" val="3878092755"/>
                        </a:ext>
                      </a:extLst>
                    </a:gridCol>
                  </a:tblGrid>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r="-100000" b="-598701"/>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541" r="-541" b="-598701"/>
                          </a:stretch>
                        </a:blipFill>
                      </a:tcPr>
                    </a:tc>
                    <a:extLst>
                      <a:ext uri="{0D108BD9-81ED-4DB2-BD59-A6C34878D82A}">
                        <a16:rowId xmlns:a16="http://schemas.microsoft.com/office/drawing/2014/main" xmlns:a14="http://schemas.microsoft.com/office/drawing/2010/main" xmlns="" val="4183353742"/>
                      </a:ext>
                    </a:extLst>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1316" r="-100000" b="-506579"/>
                          </a:stretch>
                        </a:blipFill>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20669583"/>
                      </a:ext>
                    </a:extLst>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98701" r="-100000" b="-400000"/>
                          </a:stretch>
                        </a:blipFill>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683399641"/>
                      </a:ext>
                    </a:extLst>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98701" r="-100000" b="-300000"/>
                          </a:stretch>
                        </a:blipFill>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78137945"/>
                      </a:ext>
                    </a:extLst>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98701" r="-100000" b="-200000"/>
                          </a:stretch>
                        </a:blipFill>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59162060"/>
                      </a:ext>
                    </a:extLst>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05263" r="-100000" b="-102632"/>
                          </a:stretch>
                        </a:blipFill>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51297951"/>
                      </a:ext>
                    </a:extLst>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97403" r="-100000" b="-1299"/>
                          </a:stretch>
                        </a:blip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073143451"/>
                      </a:ext>
                    </a:extLst>
                  </a:tr>
                </a:tbl>
              </a:graphicData>
            </a:graphic>
          </p:graphicFrame>
        </mc:Fallback>
      </mc:AlternateContent>
      <p:pic>
        <p:nvPicPr>
          <p:cNvPr id="11" name="Picture 10" descr="Chart, table, line chart&#10;&#10;Description automatically generated">
            <a:extLst>
              <a:ext uri="{FF2B5EF4-FFF2-40B4-BE49-F238E27FC236}">
                <a16:creationId xmlns="" xmlns:a16="http://schemas.microsoft.com/office/drawing/2014/main" id="{75B88752-C52A-F545-9C35-7F347DE3269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72972" y="1583034"/>
            <a:ext cx="4666845" cy="4666845"/>
          </a:xfrm>
          <a:prstGeom prst="rect">
            <a:avLst/>
          </a:prstGeom>
        </p:spPr>
      </p:pic>
      <p:sp>
        <p:nvSpPr>
          <p:cNvPr id="13"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58435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4372" y="385488"/>
                <a:ext cx="8327136" cy="1200329"/>
              </a:xfrm>
              <a:prstGeom prst="rect">
                <a:avLst/>
              </a:prstGeom>
              <a:noFill/>
            </p:spPr>
            <p:txBody>
              <a:bodyPr wrap="square" rtlCol="0">
                <a:spAutoFit/>
              </a:bodyPr>
              <a:lstStyle/>
              <a:p>
                <a:pPr marL="355600" indent="-355600">
                  <a:buFont typeface="+mj-lt"/>
                  <a:buAutoNum type="arabicPeriod" startAt="2"/>
                </a:pPr>
                <a:r>
                  <a:rPr lang="en-US" sz="2400" dirty="0" smtClean="0">
                    <a:latin typeface="Verdana" pitchFamily="34" charset="0"/>
                    <a:ea typeface="Verdana" pitchFamily="34" charset="0"/>
                  </a:rPr>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+1)(</m:t>
                    </m:r>
                    <m:r>
                      <a:rPr lang="en-US" sz="2400" i="1">
                        <a:latin typeface="Cambria Math" panose="02040503050406030204" pitchFamily="18" charset="0"/>
                      </a:rPr>
                      <m:t>𝑥</m:t>
                    </m:r>
                    <m:r>
                      <a:rPr lang="en-US" sz="2400" i="1">
                        <a:latin typeface="Cambria Math" panose="02040503050406030204" pitchFamily="18" charset="0"/>
                      </a:rPr>
                      <m:t>−3)</m:t>
                    </m:r>
                  </m:oMath>
                </a14:m>
                <a:endParaRPr lang="en-US" sz="2400" dirty="0">
                  <a:latin typeface="Verdana" pitchFamily="34" charset="0"/>
                  <a:ea typeface="Verdana"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893763"/>
                <a:r>
                  <a:rPr lang="en-US" sz="2400" dirty="0">
                    <a:latin typeface="Verdana" panose="020B0604030504040204" pitchFamily="34" charset="0"/>
                    <a:ea typeface="Verdana" panose="020B0604030504040204" pitchFamily="34" charset="0"/>
                    <a:cs typeface="Verdana" panose="020B0604030504040204" pitchFamily="34" charset="0"/>
                  </a:rPr>
                  <a:t>Key Features:</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4372" y="385488"/>
                <a:ext cx="8327136" cy="1200329"/>
              </a:xfrm>
              <a:prstGeom prst="rect">
                <a:avLst/>
              </a:prstGeom>
              <a:blipFill rotWithShape="1">
                <a:blip r:embed="rId3"/>
                <a:stretch>
                  <a:fillRect l="-1171" t="-4569" b="-10660"/>
                </a:stretch>
              </a:blipFill>
            </p:spPr>
            <p:txBody>
              <a:bodyPr/>
              <a:lstStyle/>
              <a:p>
                <a:r>
                  <a:rPr lang="en-PH">
                    <a:noFill/>
                  </a:rPr>
                  <a:t> </a:t>
                </a:r>
              </a:p>
            </p:txBody>
          </p:sp>
        </mc:Fallback>
      </mc:AlternateContent>
      <p:sp>
        <p:nvSpPr>
          <p:cNvPr id="3" name="Rectangle 1">
            <a:extLst>
              <a:ext uri="{FF2B5EF4-FFF2-40B4-BE49-F238E27FC236}">
                <a16:creationId xmlns="" xmlns:a16="http://schemas.microsoft.com/office/drawing/2014/main" id="{F85A6B1B-5F81-CF4E-9F4C-BCFAB9F89D02}"/>
              </a:ext>
            </a:extLst>
          </p:cNvPr>
          <p:cNvSpPr>
            <a:spLocks noChangeArrowheads="1"/>
          </p:cNvSpPr>
          <p:nvPr/>
        </p:nvSpPr>
        <p:spPr bwMode="auto">
          <a:xfrm>
            <a:off x="2252437" y="196792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11" name="Table 10">
                <a:extLst>
                  <a:ext uri="{FF2B5EF4-FFF2-40B4-BE49-F238E27FC236}">
                    <a16:creationId xmlns="" xmlns:a16="http://schemas.microsoft.com/office/drawing/2014/main" id="{240736E8-9820-B749-AF05-CC73F84AC904}"/>
                  </a:ext>
                </a:extLst>
              </p:cNvPr>
              <p:cNvGraphicFramePr>
                <a:graphicFrameLocks noGrp="1"/>
              </p:cNvGraphicFramePr>
              <p:nvPr>
                <p:extLst>
                  <p:ext uri="{D42A27DB-BD31-4B8C-83A1-F6EECF244321}">
                    <p14:modId xmlns:p14="http://schemas.microsoft.com/office/powerpoint/2010/main" val="76463562"/>
                  </p:ext>
                </p:extLst>
              </p:nvPr>
            </p:nvGraphicFramePr>
            <p:xfrm>
              <a:off x="1496149" y="1676456"/>
              <a:ext cx="2259330" cy="2808000"/>
            </p:xfrm>
            <a:graphic>
              <a:graphicData uri="http://schemas.openxmlformats.org/drawingml/2006/table">
                <a:tbl>
                  <a:tblPr firstRow="1" firstCol="1" bandRow="1">
                    <a:tableStyleId>{A91F0D33-8C57-4600-99A7-42BC86742BE1}</a:tableStyleId>
                  </a:tblPr>
                  <a:tblGrid>
                    <a:gridCol w="1129665">
                      <a:extLst>
                        <a:ext uri="{9D8B030D-6E8A-4147-A177-3AD203B41FA5}">
                          <a16:colId xmlns="" xmlns:a16="http://schemas.microsoft.com/office/drawing/2014/main" val="3633885614"/>
                        </a:ext>
                      </a:extLst>
                    </a:gridCol>
                    <a:gridCol w="1129665">
                      <a:extLst>
                        <a:ext uri="{9D8B030D-6E8A-4147-A177-3AD203B41FA5}">
                          <a16:colId xmlns="" xmlns:a16="http://schemas.microsoft.com/office/drawing/2014/main" val="3878092755"/>
                        </a:ext>
                      </a:extLst>
                    </a:gridCol>
                  </a:tblGrid>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𝒙</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𝒚</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4183353742"/>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20669583"/>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83399641"/>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78137945"/>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59162060"/>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051297951"/>
                      </a:ext>
                    </a:extLst>
                  </a:tr>
                </a:tbl>
              </a:graphicData>
            </a:graphic>
          </p:graphicFrame>
        </mc:Choice>
        <mc:Fallback xmlns="">
          <p:graphicFrame>
            <p:nvGraphicFramePr>
              <p:cNvPr id="11" name="Table 10">
                <a:extLst>
                  <a:ext uri="{FF2B5EF4-FFF2-40B4-BE49-F238E27FC236}">
                    <a16:creationId xmlns:a16="http://schemas.microsoft.com/office/drawing/2014/main" xmlns:a14="http://schemas.microsoft.com/office/drawing/2010/main" xmlns="" id="{240736E8-9820-B749-AF05-CC73F84AC904}"/>
                  </a:ext>
                </a:extLst>
              </p:cNvPr>
              <p:cNvGraphicFramePr>
                <a:graphicFrameLocks noGrp="1"/>
              </p:cNvGraphicFramePr>
              <p:nvPr>
                <p:extLst>
                  <p:ext uri="{D42A27DB-BD31-4B8C-83A1-F6EECF244321}">
                    <p14:modId xmlns:p14="http://schemas.microsoft.com/office/powerpoint/2010/main" val="76463562"/>
                  </p:ext>
                </p:extLst>
              </p:nvPr>
            </p:nvGraphicFramePr>
            <p:xfrm>
              <a:off x="1496149" y="1676456"/>
              <a:ext cx="2259330" cy="2808000"/>
            </p:xfrm>
            <a:graphic>
              <a:graphicData uri="http://schemas.openxmlformats.org/drawingml/2006/table">
                <a:tbl>
                  <a:tblPr firstRow="1" firstCol="1" bandRow="1">
                    <a:tableStyleId>{A91F0D33-8C57-4600-99A7-42BC86742BE1}</a:tableStyleId>
                  </a:tblPr>
                  <a:tblGrid>
                    <a:gridCol w="1129665">
                      <a:extLst>
                        <a:ext uri="{9D8B030D-6E8A-4147-A177-3AD203B41FA5}">
                          <a16:colId xmlns:a16="http://schemas.microsoft.com/office/drawing/2014/main" xmlns:a14="http://schemas.microsoft.com/office/drawing/2010/main" xmlns="" val="3633885614"/>
                        </a:ext>
                      </a:extLst>
                    </a:gridCol>
                    <a:gridCol w="1129665">
                      <a:extLst>
                        <a:ext uri="{9D8B030D-6E8A-4147-A177-3AD203B41FA5}">
                          <a16:colId xmlns:a16="http://schemas.microsoft.com/office/drawing/2014/main" xmlns:a14="http://schemas.microsoft.com/office/drawing/2010/main" xmlns="" val="3878092755"/>
                        </a:ext>
                      </a:extLst>
                    </a:gridCol>
                  </a:tblGrid>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r="-100000" b="-498701"/>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541" r="-541" b="-498701"/>
                          </a:stretch>
                        </a:blipFill>
                      </a:tcPr>
                    </a:tc>
                    <a:extLst>
                      <a:ext uri="{0D108BD9-81ED-4DB2-BD59-A6C34878D82A}">
                        <a16:rowId xmlns:a16="http://schemas.microsoft.com/office/drawing/2014/main" xmlns:a14="http://schemas.microsoft.com/office/drawing/2010/main" xmlns="" val="4183353742"/>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20669583"/>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683399641"/>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78137945"/>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59162060"/>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51297951"/>
                      </a:ext>
                    </a:extLst>
                  </a:tr>
                </a:tbl>
              </a:graphicData>
            </a:graphic>
          </p:graphicFrame>
        </mc:Fallback>
      </mc:AlternateContent>
      <p:pic>
        <p:nvPicPr>
          <p:cNvPr id="13" name="Picture 12">
            <a:extLst>
              <a:ext uri="{FF2B5EF4-FFF2-40B4-BE49-F238E27FC236}">
                <a16:creationId xmlns="" xmlns:a16="http://schemas.microsoft.com/office/drawing/2014/main" id="{AF55CC24-0ABE-2C43-B63F-7916A4D799D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72971" y="1583034"/>
            <a:ext cx="4666845" cy="4666845"/>
          </a:xfrm>
          <a:prstGeom prst="rect">
            <a:avLst/>
          </a:prstGeom>
        </p:spPr>
      </p:pic>
    </p:spTree>
    <p:extLst>
      <p:ext uri="{BB962C8B-B14F-4D97-AF65-F5344CB8AC3E}">
        <p14:creationId xmlns:p14="http://schemas.microsoft.com/office/powerpoint/2010/main" val="1089735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4372" y="378349"/>
                <a:ext cx="8327136" cy="1208664"/>
              </a:xfrm>
              <a:prstGeom prst="rect">
                <a:avLst/>
              </a:prstGeom>
              <a:noFill/>
            </p:spPr>
            <p:txBody>
              <a:bodyPr wrap="square" rtlCol="0">
                <a:spAutoFit/>
              </a:bodyPr>
              <a:lstStyle/>
              <a:p>
                <a:pPr marL="355600" indent="-355600">
                  <a:buFont typeface="+mj-lt"/>
                  <a:buAutoNum type="arabicPeriod" startAt="3"/>
                </a:pPr>
                <a:r>
                  <a:rPr lang="en-US" sz="2400" dirty="0" smtClean="0">
                    <a:latin typeface="Verdana" pitchFamily="34" charset="0"/>
                    <a:ea typeface="Verdana" pitchFamily="34" charset="0"/>
                  </a:rPr>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sSup>
                      <m:sSupPr>
                        <m:ctrlPr>
                          <a:rPr lang="en-US" sz="2400" i="1">
                            <a:latin typeface="Cambria Math" charset="0"/>
                          </a:rPr>
                        </m:ctrlPr>
                      </m:sSupPr>
                      <m:e>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+5)</m:t>
                        </m:r>
                      </m:e>
                      <m:sup>
                        <m:r>
                          <a:rPr lang="en-US" sz="2400" i="1">
                            <a:latin typeface="Cambria Math" panose="02040503050406030204" pitchFamily="18" charset="0"/>
                          </a:rPr>
                          <m:t>2</m:t>
                        </m:r>
                      </m:sup>
                    </m:sSup>
                  </m:oMath>
                </a14:m>
                <a:endParaRPr lang="en-US" sz="2400" dirty="0">
                  <a:latin typeface="Verdana" pitchFamily="34" charset="0"/>
                  <a:ea typeface="Verdana"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896938"/>
                <a:r>
                  <a:rPr lang="en-US" sz="2400" dirty="0">
                    <a:latin typeface="Verdana" panose="020B0604030504040204" pitchFamily="34" charset="0"/>
                    <a:ea typeface="Verdana" panose="020B0604030504040204" pitchFamily="34" charset="0"/>
                    <a:cs typeface="Verdana" panose="020B0604030504040204" pitchFamily="34" charset="0"/>
                  </a:rPr>
                  <a:t>Key Features:</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4372" y="378349"/>
                <a:ext cx="8327136" cy="1208664"/>
              </a:xfrm>
              <a:prstGeom prst="rect">
                <a:avLst/>
              </a:prstGeom>
              <a:blipFill rotWithShape="1">
                <a:blip r:embed="rId3"/>
                <a:stretch>
                  <a:fillRect l="-1171" t="-4545" b="-10101"/>
                </a:stretch>
              </a:blipFill>
            </p:spPr>
            <p:txBody>
              <a:bodyPr/>
              <a:lstStyle/>
              <a:p>
                <a:r>
                  <a:rPr lang="en-PH">
                    <a:noFill/>
                  </a:rPr>
                  <a:t> </a:t>
                </a:r>
              </a:p>
            </p:txBody>
          </p:sp>
        </mc:Fallback>
      </mc:AlternateContent>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10" name="Table 9">
                <a:extLst>
                  <a:ext uri="{FF2B5EF4-FFF2-40B4-BE49-F238E27FC236}">
                    <a16:creationId xmlns="" xmlns:a16="http://schemas.microsoft.com/office/drawing/2014/main" id="{240736E8-9820-B749-AF05-CC73F84AC904}"/>
                  </a:ext>
                </a:extLst>
              </p:cNvPr>
              <p:cNvGraphicFramePr>
                <a:graphicFrameLocks noGrp="1"/>
              </p:cNvGraphicFramePr>
              <p:nvPr>
                <p:extLst>
                  <p:ext uri="{D42A27DB-BD31-4B8C-83A1-F6EECF244321}">
                    <p14:modId xmlns:p14="http://schemas.microsoft.com/office/powerpoint/2010/main" val="2458358101"/>
                  </p:ext>
                </p:extLst>
              </p:nvPr>
            </p:nvGraphicFramePr>
            <p:xfrm>
              <a:off x="1496149" y="1676456"/>
              <a:ext cx="2259330" cy="2340000"/>
            </p:xfrm>
            <a:graphic>
              <a:graphicData uri="http://schemas.openxmlformats.org/drawingml/2006/table">
                <a:tbl>
                  <a:tblPr firstRow="1" firstCol="1" bandRow="1">
                    <a:tableStyleId>{A91F0D33-8C57-4600-99A7-42BC86742BE1}</a:tableStyleId>
                  </a:tblPr>
                  <a:tblGrid>
                    <a:gridCol w="1129665">
                      <a:extLst>
                        <a:ext uri="{9D8B030D-6E8A-4147-A177-3AD203B41FA5}">
                          <a16:colId xmlns="" xmlns:a16="http://schemas.microsoft.com/office/drawing/2014/main" val="3633885614"/>
                        </a:ext>
                      </a:extLst>
                    </a:gridCol>
                    <a:gridCol w="1129665">
                      <a:extLst>
                        <a:ext uri="{9D8B030D-6E8A-4147-A177-3AD203B41FA5}">
                          <a16:colId xmlns="" xmlns:a16="http://schemas.microsoft.com/office/drawing/2014/main" val="3878092755"/>
                        </a:ext>
                      </a:extLst>
                    </a:gridCol>
                  </a:tblGrid>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𝒙</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𝒚</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4183353742"/>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20669583"/>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83399641"/>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78137945"/>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59162060"/>
                      </a:ext>
                    </a:extLst>
                  </a:tr>
                </a:tbl>
              </a:graphicData>
            </a:graphic>
          </p:graphicFrame>
        </mc:Choice>
        <mc:Fallback xmlns="">
          <p:graphicFrame>
            <p:nvGraphicFramePr>
              <p:cNvPr id="10" name="Table 9">
                <a:extLst>
                  <a:ext uri="{FF2B5EF4-FFF2-40B4-BE49-F238E27FC236}">
                    <a16:creationId xmlns:a16="http://schemas.microsoft.com/office/drawing/2014/main" xmlns:a14="http://schemas.microsoft.com/office/drawing/2010/main" xmlns="" id="{240736E8-9820-B749-AF05-CC73F84AC904}"/>
                  </a:ext>
                </a:extLst>
              </p:cNvPr>
              <p:cNvGraphicFramePr>
                <a:graphicFrameLocks noGrp="1"/>
              </p:cNvGraphicFramePr>
              <p:nvPr>
                <p:extLst>
                  <p:ext uri="{D42A27DB-BD31-4B8C-83A1-F6EECF244321}">
                    <p14:modId xmlns:p14="http://schemas.microsoft.com/office/powerpoint/2010/main" val="2458358101"/>
                  </p:ext>
                </p:extLst>
              </p:nvPr>
            </p:nvGraphicFramePr>
            <p:xfrm>
              <a:off x="1496149" y="1676456"/>
              <a:ext cx="2259330" cy="2340000"/>
            </p:xfrm>
            <a:graphic>
              <a:graphicData uri="http://schemas.openxmlformats.org/drawingml/2006/table">
                <a:tbl>
                  <a:tblPr firstRow="1" firstCol="1" bandRow="1">
                    <a:tableStyleId>{A91F0D33-8C57-4600-99A7-42BC86742BE1}</a:tableStyleId>
                  </a:tblPr>
                  <a:tblGrid>
                    <a:gridCol w="1129665">
                      <a:extLst>
                        <a:ext uri="{9D8B030D-6E8A-4147-A177-3AD203B41FA5}">
                          <a16:colId xmlns:a16="http://schemas.microsoft.com/office/drawing/2014/main" xmlns:a14="http://schemas.microsoft.com/office/drawing/2010/main" xmlns="" val="3633885614"/>
                        </a:ext>
                      </a:extLst>
                    </a:gridCol>
                    <a:gridCol w="1129665">
                      <a:extLst>
                        <a:ext uri="{9D8B030D-6E8A-4147-A177-3AD203B41FA5}">
                          <a16:colId xmlns:a16="http://schemas.microsoft.com/office/drawing/2014/main" xmlns:a14="http://schemas.microsoft.com/office/drawing/2010/main" xmlns="" val="3878092755"/>
                        </a:ext>
                      </a:extLst>
                    </a:gridCol>
                  </a:tblGrid>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r="-100000" b="-398701"/>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541" r="-541" b="-398701"/>
                          </a:stretch>
                        </a:blipFill>
                      </a:tcPr>
                    </a:tc>
                    <a:extLst>
                      <a:ext uri="{0D108BD9-81ED-4DB2-BD59-A6C34878D82A}">
                        <a16:rowId xmlns:a16="http://schemas.microsoft.com/office/drawing/2014/main" xmlns:a14="http://schemas.microsoft.com/office/drawing/2010/main" xmlns="" val="4183353742"/>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20669583"/>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683399641"/>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78137945"/>
                      </a:ext>
                    </a:extLst>
                  </a:tr>
                  <a:tr h="468000">
                    <a:tc>
                      <a:txBody>
                        <a:bodyPr/>
                        <a:lstStyle/>
                        <a:p>
                          <a:pPr marL="0" marR="0" algn="ctr">
                            <a:spcBef>
                              <a:spcPts val="0"/>
                            </a:spcBef>
                            <a:spcAft>
                              <a:spcPts val="0"/>
                            </a:spcAft>
                          </a:pP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59162060"/>
                      </a:ext>
                    </a:extLst>
                  </a:tr>
                </a:tbl>
              </a:graphicData>
            </a:graphic>
          </p:graphicFrame>
        </mc:Fallback>
      </mc:AlternateContent>
      <p:pic>
        <p:nvPicPr>
          <p:cNvPr id="11" name="Picture 10">
            <a:extLst>
              <a:ext uri="{FF2B5EF4-FFF2-40B4-BE49-F238E27FC236}">
                <a16:creationId xmlns="" xmlns:a16="http://schemas.microsoft.com/office/drawing/2014/main" id="{241C3F78-BE19-C44C-A2E7-2C8555D73FF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72971" y="1585817"/>
            <a:ext cx="4664062" cy="4664062"/>
          </a:xfrm>
          <a:prstGeom prst="rect">
            <a:avLst/>
          </a:prstGeom>
        </p:spPr>
      </p:pic>
    </p:spTree>
    <p:extLst>
      <p:ext uri="{BB962C8B-B14F-4D97-AF65-F5344CB8AC3E}">
        <p14:creationId xmlns:p14="http://schemas.microsoft.com/office/powerpoint/2010/main" val="2895702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38439" y="-568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8.4.5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436518" y="28352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532659" y="1464556"/>
            <a:ext cx="10515600" cy="830997"/>
          </a:xfrm>
          <a:prstGeom prst="rect">
            <a:avLst/>
          </a:prstGeom>
          <a:noFill/>
        </p:spPr>
        <p:txBody>
          <a:bodyPr wrap="square" rtlCol="0">
            <a:spAutoFit/>
          </a:bodyPr>
          <a:lstStyle/>
          <a:p>
            <a:pPr marL="444500" indent="-444500">
              <a:buFont typeface="+mj-lt"/>
              <a:buAutoNum type="arabicPeriod"/>
            </a:pPr>
            <a:r>
              <a:rPr lang="en-US" sz="2400" dirty="0" smtClean="0">
                <a:latin typeface="Verdana" panose="020B0604030504040204" pitchFamily="34" charset="0"/>
                <a:ea typeface="Verdana" panose="020B0604030504040204" pitchFamily="34" charset="0"/>
                <a:cs typeface="Verdana" panose="020B0604030504040204" pitchFamily="34" charset="0"/>
              </a:rPr>
              <a:t>What </a:t>
            </a:r>
            <a:r>
              <a:rPr lang="en-US" sz="2400" dirty="0">
                <a:latin typeface="Verdana" panose="020B0604030504040204" pitchFamily="34" charset="0"/>
                <a:ea typeface="Verdana" panose="020B0604030504040204" pitchFamily="34" charset="0"/>
                <a:cs typeface="Verdana" panose="020B0604030504040204" pitchFamily="34" charset="0"/>
              </a:rPr>
              <a:t>is something that is now “squared away” in your mind about graphing quadratics and key features?</a:t>
            </a:r>
          </a:p>
        </p:txBody>
      </p:sp>
      <p:pic>
        <p:nvPicPr>
          <p:cNvPr id="3" name="Picture 2" descr="Shape, square&#10;&#10;Description automatically generated">
            <a:extLst>
              <a:ext uri="{FF2B5EF4-FFF2-40B4-BE49-F238E27FC236}">
                <a16:creationId xmlns="" xmlns:a16="http://schemas.microsoft.com/office/drawing/2014/main" id="{51259A22-1A5F-2844-A2AE-087ED492034C}"/>
              </a:ext>
            </a:extLst>
          </p:cNvPr>
          <p:cNvPicPr>
            <a:picLocks noChangeAspect="1"/>
          </p:cNvPicPr>
          <p:nvPr/>
        </p:nvPicPr>
        <p:blipFill>
          <a:blip r:embed="rId4"/>
          <a:stretch>
            <a:fillRect/>
          </a:stretch>
        </p:blipFill>
        <p:spPr>
          <a:xfrm>
            <a:off x="4251139" y="2438875"/>
            <a:ext cx="1993900" cy="1803400"/>
          </a:xfrm>
          <a:prstGeom prst="rect">
            <a:avLst/>
          </a:prstGeom>
        </p:spPr>
      </p:pic>
      <p:sp>
        <p:nvSpPr>
          <p:cNvPr id="10"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532660" y="381642"/>
            <a:ext cx="10515600" cy="1200329"/>
          </a:xfrm>
          <a:prstGeom prst="rect">
            <a:avLst/>
          </a:prstGeom>
          <a:noFill/>
        </p:spPr>
        <p:txBody>
          <a:bodyPr wrap="square" rtlCol="0">
            <a:spAutoFit/>
          </a:bodyPr>
          <a:lstStyle/>
          <a:p>
            <a:pPr marL="541338" indent="-541338">
              <a:buFont typeface="+mj-lt"/>
              <a:buAutoNum type="arabicPeriod" startAt="2"/>
            </a:pPr>
            <a:r>
              <a:rPr lang="en-US" sz="2400" dirty="0" smtClean="0">
                <a:latin typeface="Verdana" panose="020B0604030504040204" pitchFamily="34" charset="0"/>
                <a:ea typeface="Verdana" panose="020B0604030504040204" pitchFamily="34" charset="0"/>
                <a:cs typeface="Verdana" panose="020B0604030504040204" pitchFamily="34" charset="0"/>
              </a:rPr>
              <a:t>What </a:t>
            </a:r>
            <a:r>
              <a:rPr lang="en-US" sz="2400" dirty="0">
                <a:latin typeface="Verdana" panose="020B0604030504040204" pitchFamily="34" charset="0"/>
                <a:ea typeface="Verdana" panose="020B0604030504040204" pitchFamily="34" charset="0"/>
                <a:cs typeface="Verdana" panose="020B0604030504040204" pitchFamily="34" charset="0"/>
              </a:rPr>
              <a:t>are three “points” that are important about graphing quadratics and key features?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Shape, polygon&#10;&#10;Description automatically generated">
            <a:extLst>
              <a:ext uri="{FF2B5EF4-FFF2-40B4-BE49-F238E27FC236}">
                <a16:creationId xmlns="" xmlns:a16="http://schemas.microsoft.com/office/drawing/2014/main" id="{88A7DF52-456B-7B4C-9BBE-11A9073013E8}"/>
              </a:ext>
            </a:extLst>
          </p:cNvPr>
          <p:cNvPicPr>
            <a:picLocks noChangeAspect="1"/>
          </p:cNvPicPr>
          <p:nvPr/>
        </p:nvPicPr>
        <p:blipFill>
          <a:blip r:embed="rId3"/>
          <a:stretch>
            <a:fillRect/>
          </a:stretch>
        </p:blipFill>
        <p:spPr>
          <a:xfrm>
            <a:off x="4162166" y="1349958"/>
            <a:ext cx="2730500" cy="1905000"/>
          </a:xfrm>
          <a:prstGeom prst="rect">
            <a:avLst/>
          </a:prstGeom>
        </p:spPr>
      </p:pic>
      <p:sp>
        <p:nvSpPr>
          <p:cNvPr id="4" name="Rectangle 3">
            <a:extLst>
              <a:ext uri="{FF2B5EF4-FFF2-40B4-BE49-F238E27FC236}">
                <a16:creationId xmlns="" xmlns:a16="http://schemas.microsoft.com/office/drawing/2014/main" id="{12FA09C2-F6CB-CD4E-ADB3-4BF2F1C65C04}"/>
              </a:ext>
            </a:extLst>
          </p:cNvPr>
          <p:cNvSpPr/>
          <p:nvPr/>
        </p:nvSpPr>
        <p:spPr>
          <a:xfrm>
            <a:off x="532660" y="3509579"/>
            <a:ext cx="10515600" cy="1200329"/>
          </a:xfrm>
          <a:prstGeom prst="rect">
            <a:avLst/>
          </a:prstGeom>
        </p:spPr>
        <p:txBody>
          <a:bodyPr wrap="square">
            <a:spAutoFit/>
          </a:bodyPr>
          <a:lstStyle/>
          <a:p>
            <a:pPr marL="541338" indent="-541338">
              <a:buFont typeface="+mj-lt"/>
              <a:buAutoNum type="arabicPeriod" startAt="3"/>
            </a:pPr>
            <a:r>
              <a:rPr lang="en-US" sz="2400" dirty="0" smtClean="0">
                <a:latin typeface="Verdana" panose="020B0604030504040204" pitchFamily="34" charset="0"/>
                <a:ea typeface="Verdana" panose="020B0604030504040204" pitchFamily="34" charset="0"/>
                <a:cs typeface="Verdana" panose="020B0604030504040204" pitchFamily="34" charset="0"/>
              </a:rPr>
              <a:t>What </a:t>
            </a:r>
            <a:r>
              <a:rPr lang="en-US" sz="2400" dirty="0">
                <a:latin typeface="Verdana" panose="020B0604030504040204" pitchFamily="34" charset="0"/>
                <a:ea typeface="Verdana" panose="020B0604030504040204" pitchFamily="34" charset="0"/>
                <a:cs typeface="Verdana" panose="020B0604030504040204" pitchFamily="34" charset="0"/>
              </a:rPr>
              <a:t>is something that is still “circling” your brain about graphing quadratics and key features?</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pic>
        <p:nvPicPr>
          <p:cNvPr id="6" name="Picture 5" descr="A picture containing lamp&#10;&#10;Description automatically generated">
            <a:extLst>
              <a:ext uri="{FF2B5EF4-FFF2-40B4-BE49-F238E27FC236}">
                <a16:creationId xmlns="" xmlns:a16="http://schemas.microsoft.com/office/drawing/2014/main" id="{0EC6415F-0712-8246-8D71-383E00635268}"/>
              </a:ext>
            </a:extLst>
          </p:cNvPr>
          <p:cNvPicPr>
            <a:picLocks noChangeAspect="1"/>
          </p:cNvPicPr>
          <p:nvPr/>
        </p:nvPicPr>
        <p:blipFill>
          <a:blip r:embed="rId4"/>
          <a:stretch>
            <a:fillRect/>
          </a:stretch>
        </p:blipFill>
        <p:spPr>
          <a:xfrm>
            <a:off x="4263766" y="4594498"/>
            <a:ext cx="2527300" cy="1778000"/>
          </a:xfrm>
          <a:prstGeom prst="rect">
            <a:avLst/>
          </a:prstGeom>
        </p:spPr>
      </p:pic>
      <p:sp>
        <p:nvSpPr>
          <p:cNvPr id="9" name="Google Shape;282;g104476d1465_1_17"/>
          <p:cNvSpPr txBox="1"/>
          <p:nvPr/>
        </p:nvSpPr>
        <p:spPr>
          <a:xfrm>
            <a:off x="8905898" y="649318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927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668549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1571</TotalTime>
  <Words>1027</Words>
  <Application>Microsoft Macintosh PowerPoint</Application>
  <PresentationFormat>Widescreen</PresentationFormat>
  <Paragraphs>247</Paragraphs>
  <Slides>36</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Verdana</vt:lpstr>
      <vt:lpstr>Cambria</vt:lpstr>
      <vt:lpstr>Wingdings</vt:lpstr>
      <vt:lpstr>Arial</vt:lpstr>
      <vt:lpstr>Calibri</vt:lpstr>
      <vt:lpstr>Arial Black</vt:lpstr>
      <vt:lpstr>Century Gothic</vt:lpstr>
      <vt:lpstr>Times New Roman</vt:lpstr>
      <vt:lpstr>Cambria Math</vt:lpstr>
      <vt:lpstr>1_Office Theme</vt:lpstr>
      <vt:lpstr>Algebra 1  Unit 8, Lesson 4  Graphing Quadratic Equations From Key Features  Volume 2, pg. 24  </vt:lpstr>
      <vt:lpstr>Benchmarks</vt:lpstr>
      <vt:lpstr>PowerPoint Presentation</vt:lpstr>
      <vt:lpstr>PowerPoint Presentation</vt:lpstr>
      <vt:lpstr>Warm-Up</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29</cp:revision>
  <dcterms:created xsi:type="dcterms:W3CDTF">2015-03-17T18:51:18Z</dcterms:created>
  <dcterms:modified xsi:type="dcterms:W3CDTF">2022-08-01T21:28:14Z</dcterms:modified>
</cp:coreProperties>
</file>