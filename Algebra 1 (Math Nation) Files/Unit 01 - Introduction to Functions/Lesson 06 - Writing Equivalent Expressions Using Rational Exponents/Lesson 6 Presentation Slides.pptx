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61" r:id="rId9"/>
    <p:sldId id="362" r:id="rId10"/>
    <p:sldId id="363" r:id="rId11"/>
    <p:sldId id="314" r:id="rId12"/>
    <p:sldId id="315" r:id="rId13"/>
    <p:sldId id="316" r:id="rId14"/>
    <p:sldId id="365" r:id="rId15"/>
    <p:sldId id="366" r:id="rId16"/>
    <p:sldId id="367" r:id="rId17"/>
    <p:sldId id="368" r:id="rId18"/>
    <p:sldId id="369" r:id="rId19"/>
    <p:sldId id="370" r:id="rId20"/>
    <p:sldId id="354" r:id="rId21"/>
    <p:sldId id="355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69" autoAdjust="0"/>
    <p:restoredTop sz="94591" autoAdjust="0"/>
  </p:normalViewPr>
  <p:slideViewPr>
    <p:cSldViewPr snapToGrid="0">
      <p:cViewPr varScale="1">
        <p:scale>
          <a:sx n="111" d="100"/>
          <a:sy n="111" d="100"/>
        </p:scale>
        <p:origin x="20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75580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9064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819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855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030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475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193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0743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104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104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Equivalent Expressions Using Rational Exponents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054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36341" y="1462225"/>
            <a:ext cx="9946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MA.912.NSO.1.1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the Laws of Exponents to include rational exponents. Apply the Laws of Exponents to evaluate numerical expressions and generate equivalent numerical expressions involving rational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500" y="3396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637178" y="129667"/>
            <a:ext cx="91683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58644" y="1455367"/>
            <a:ext cx="9801922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864C5CD-BEDE-D821-39BD-F6BEBC607A86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0D021C7-146E-92BB-2779-3438B36E9546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796804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47493" y="1608365"/>
            <a:ext cx="917891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the Laws of Exponents to rational exponents. 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convert between expressions involving rational exponents and expressions involving radicals.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391A711-0F3F-C4A1-6D76-1B52976725BC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2AE3B17E-CDA3-DD77-20C9-FCB472446CF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0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56471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EE5F5E2-3990-6F9A-917B-B32FC03AFC2B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8F9C816-43EC-543F-C97F-AEA3E2F2654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05414" y="0"/>
            <a:ext cx="91886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1.6.1 Warm-Up: Identifying Equivalent Expressions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33" y="2359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36340" y="1517156"/>
            <a:ext cx="9935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lists of numbers are shown.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62A5ECC-2D7E-6644-9284-F9182626C1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269462"/>
                  </p:ext>
                </p:extLst>
              </p:nvPr>
            </p:nvGraphicFramePr>
            <p:xfrm>
              <a:off x="1768766" y="2170277"/>
              <a:ext cx="7200000" cy="41630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87405434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10224163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12501390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A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B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C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356735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8∙8∙8</m:t>
                                </m:r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604856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4∙16∙2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6∙4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2213143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2∙16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512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806764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128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9416349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4+4+4+4+4+4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44402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62A5ECC-2D7E-6644-9284-F9182626C1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269462"/>
                  </p:ext>
                </p:extLst>
              </p:nvPr>
            </p:nvGraphicFramePr>
            <p:xfrm>
              <a:off x="1768766" y="2170277"/>
              <a:ext cx="7200000" cy="41630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87405434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102241634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12501390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A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B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List C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356735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74510" r="-150661" b="-4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3333" t="-74510" r="-100000" b="-4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706" t="-74510" r="-588" b="-4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04856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53448" r="-150661" b="-3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3333" t="-153448" r="-100000" b="-3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706" t="-153448" r="-588" b="-318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213143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98649" r="-150661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3333" t="-198649" r="-100000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706" t="-198649" r="-58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806764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381034" r="-150661" b="-9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3333" t="-381034" r="-100000" b="-9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706" t="-381034" r="-588" b="-9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9416349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547059" r="-150661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3333" t="-547059" r="-10000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706" t="-547059" r="-588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44402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7E289B7A-8E5F-676C-4D37-893CDDD82CCC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0BDAA6E5-CA35-AF10-D269-462C17C6D365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207F-84DC-864B-BAFF-14AFC3BADFCD}"/>
              </a:ext>
            </a:extLst>
          </p:cNvPr>
          <p:cNvSpPr txBox="1"/>
          <p:nvPr/>
        </p:nvSpPr>
        <p:spPr>
          <a:xfrm>
            <a:off x="858644" y="467383"/>
            <a:ext cx="981307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an expression from List A and match it with an equivalent expression from List B and List C.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to your partner how you know the expressions you matched are equivalent.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Listen to your partner explain the match they found. If you disagree, discuss your thinking and work to reach an agreement.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6845E46-675E-1975-DDC2-B683D4BCFC45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36139B3-BB23-173C-640C-E66FE0253E1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81139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EB3AE54-B0EA-6344-8025-AF5E2828F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2989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E4D2527-D598-840B-3C5A-A26BC07CF16F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D108CC4-B0FF-C393-3D59-2820C3BC227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54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581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3798" y="0"/>
            <a:ext cx="93963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1.6.2 Guided Practice: Writing Equivalent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2" y="1355123"/>
                <a:ext cx="9835375" cy="44210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power of a power law of exponents to write an equivalent exponential expression for the following two expressions.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Expression 1: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s-E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________·________</m:t>
                            </m:r>
                          </m:e>
                        </m:d>
                      </m:sup>
                    </m:sSup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 _________</m:t>
                    </m:r>
                  </m:oMath>
                </a14:m>
                <a:endParaRPr lang="en-US" altLang="en-US" sz="22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2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Expression 2: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den>
                        </m:f>
                      </m:sup>
                    </m:sSup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________·________</m:t>
                            </m:r>
                          </m:e>
                        </m:d>
                      </m:sup>
                    </m:sSup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 _________</m:t>
                    </m:r>
                  </m:oMath>
                </a14:m>
                <a:endParaRPr lang="en-US" altLang="en-US" sz="22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2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why the expressions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alt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s-E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s-ES" alt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equivalent.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2" y="1355123"/>
                <a:ext cx="9835375" cy="4421018"/>
              </a:xfrm>
              <a:prstGeom prst="rect">
                <a:avLst/>
              </a:prstGeom>
              <a:blipFill>
                <a:blip r:embed="rId3"/>
                <a:stretch>
                  <a:fillRect l="-806" t="-964" b="-12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71162AB1-D87B-FD4B-B2C6-873E0C13F1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497" y="289199"/>
            <a:ext cx="747301" cy="74730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91D7DB9-D4FB-00C9-EC18-C1CA1F1E6B99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E1D8E2B-B01A-7661-378B-91379FDE5C9C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118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902D8-C9A3-2542-A825-9FA82F3D3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377893"/>
            <a:ext cx="98242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students evaluated an expression using two different methods.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F4F1B1C-A2F3-794F-80EC-82022AE5B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4527872"/>
                  </p:ext>
                </p:extLst>
              </p:nvPr>
            </p:nvGraphicFramePr>
            <p:xfrm>
              <a:off x="2596710" y="1301683"/>
              <a:ext cx="5760000" cy="417767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31357582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21698088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Jerry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Antonio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09697"/>
                      </a:ext>
                    </a:extLst>
                  </a:tr>
                  <a:tr h="302323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81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81</m:t>
                                        </m:r>
                                      </m:e>
                                    </m:rad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(9)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729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81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∙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∙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9∙9∙9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729</m:t>
                                </m:r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9469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F4F1B1C-A2F3-794F-80EC-82022AE5B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4527872"/>
                  </p:ext>
                </p:extLst>
              </p:nvPr>
            </p:nvGraphicFramePr>
            <p:xfrm>
              <a:off x="2596710" y="1301683"/>
              <a:ext cx="5760000" cy="417767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531357582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21698088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Jerry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Antonio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09697"/>
                      </a:ext>
                    </a:extLst>
                  </a:tr>
                  <a:tr h="37096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9" t="-12969" r="-100000" b="-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881" t="-12969" r="-441" b="-3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94694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42852DD-1F2B-BE4B-AB6E-9280B60D2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5645846"/>
            <a:ext cx="98242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561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the difference between the two methods.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426C0C9-630B-9852-2813-3959CF132176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B7C19BA-416E-C891-92F1-1267CDF2F83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026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44765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.png" descr="Icon&#10;&#10;Description automatically generated">
            <a:extLst>
              <a:ext uri="{FF2B5EF4-FFF2-40B4-BE49-F238E27FC236}">
                <a16:creationId xmlns:a16="http://schemas.microsoft.com/office/drawing/2014/main" id="{A0D4FD05-C466-604F-BB62-4DFC5CFE6AB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11910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2598D073-871D-E1F6-B138-6E15281BFEF0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CC89D15-6555-F6D3-66B0-097CFC1A0A6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5695" y="66882"/>
            <a:ext cx="105553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1.6.3 Exploration: Matching Expressions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58643" y="1497972"/>
            <a:ext cx="9902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calculator to help you match each expression in the first table with an equivalent expression in the second table. Record your answers in the table below.</a:t>
            </a:r>
          </a:p>
        </p:txBody>
      </p:sp>
      <p:pic>
        <p:nvPicPr>
          <p:cNvPr id="9" name="image1.png" descr="Icon&#10;&#10;Description automatically generated">
            <a:extLst>
              <a:ext uri="{FF2B5EF4-FFF2-40B4-BE49-F238E27FC236}">
                <a16:creationId xmlns:a16="http://schemas.microsoft.com/office/drawing/2014/main" id="{341DD21C-F0AD-5243-BFA5-2AAF1F59C74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429" y="271576"/>
            <a:ext cx="752095" cy="752095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B77254-5497-DC4E-85FF-DFDA6EB254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873585"/>
                  </p:ext>
                </p:extLst>
              </p:nvPr>
            </p:nvGraphicFramePr>
            <p:xfrm>
              <a:off x="2874718" y="2630455"/>
              <a:ext cx="2520000" cy="400431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40141394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490545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9087340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 </m:t>
                                        </m: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004548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2989701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2048709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32966246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80031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B77254-5497-DC4E-85FF-DFDA6EB254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873585"/>
                  </p:ext>
                </p:extLst>
              </p:nvPr>
            </p:nvGraphicFramePr>
            <p:xfrm>
              <a:off x="2874718" y="2630455"/>
              <a:ext cx="2520000" cy="400431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4014139433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490545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131868" r="-966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9087340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234444" r="-966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6004548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330769" r="-966" b="-3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2989701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435556" r="-966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2048709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529670" r="-966" b="-1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966246"/>
                      </a:ext>
                    </a:extLst>
                  </a:tr>
                  <a:tr h="550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" t="-636667" r="-96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80031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9317279-B8FF-2A4C-934D-9986419F5C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068641"/>
                  </p:ext>
                </p:extLst>
              </p:nvPr>
            </p:nvGraphicFramePr>
            <p:xfrm>
              <a:off x="6375522" y="2619025"/>
              <a:ext cx="2520000" cy="40157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627907579"/>
                        </a:ext>
                      </a:extLst>
                    </a:gridCol>
                  </a:tblGrid>
                  <a:tr h="35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833898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10637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64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60792247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g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64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5161633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095711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64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4461169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64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9366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9317279-B8FF-2A4C-934D-9986419F5C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068641"/>
                  </p:ext>
                </p:extLst>
              </p:nvPr>
            </p:nvGraphicFramePr>
            <p:xfrm>
              <a:off x="6375522" y="2619025"/>
              <a:ext cx="2520000" cy="40157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627907579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833898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131868" r="-723" b="-5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10637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231868" r="-723" b="-4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792247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331868" r="-723" b="-3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161633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436667" r="-723" b="-2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0957111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530769" r="-723" b="-1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461169"/>
                      </a:ext>
                    </a:extLst>
                  </a:tr>
                  <a:tr h="552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1" t="-630769" r="-723" b="-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93669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4573053-1781-1C47-A6E8-A97F78EAFB03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E3D8A66-70F2-8746-B862-45B9A64CD9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153379"/>
                  </p:ext>
                </p:extLst>
              </p:nvPr>
            </p:nvGraphicFramePr>
            <p:xfrm>
              <a:off x="2624016" y="508303"/>
              <a:ext cx="7200000" cy="244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91014924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45770438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632559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337409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7668600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410913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 </m:t>
                                        </m: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7290033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(64)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2739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E3D8A66-70F2-8746-B862-45B9A64CD9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153379"/>
                  </p:ext>
                </p:extLst>
              </p:nvPr>
            </p:nvGraphicFramePr>
            <p:xfrm>
              <a:off x="2624016" y="508303"/>
              <a:ext cx="7200000" cy="244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91014924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45770438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632559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5337409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Rational Exponent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Radical Expression</a:t>
                          </a:r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7668600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135556" r="-30140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04" t="-135556" r="-10140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410913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230435" r="-301408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04" t="-230435" r="-101408" b="-1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7290033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337778" r="-301408" b="-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04" t="-337778" r="-101408" b="-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27395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498D0-18FF-EA45-80A5-FBB7B80B234D}"/>
                  </a:ext>
                </a:extLst>
              </p:cNvPr>
              <p:cNvSpPr txBox="1"/>
              <p:nvPr/>
            </p:nvSpPr>
            <p:spPr>
              <a:xfrm>
                <a:off x="858644" y="3236352"/>
                <a:ext cx="9857678" cy="2478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relationship between the rational exponent and the radical expression.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 statement.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U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E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s-E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den>
                          </m:f>
                        </m:sup>
                      </m:sSup>
                      <m:r>
                        <a:rPr lang="es-E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ctrlP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</m:t>
                                  </m:r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______</m:t>
                                  </m:r>
                                </m:deg>
                                <m:e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______</m:t>
                          </m:r>
                        </m:sup>
                      </m:sSup>
                      <m:r>
                        <a:rPr lang="es-ES" alt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______</m:t>
                          </m:r>
                        </m:deg>
                        <m:e>
                          <m:d>
                            <m:dPr>
                              <m:ctrlP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s-E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_______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498D0-18FF-EA45-80A5-FBB7B80B2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3236352"/>
                <a:ext cx="9857678" cy="2478564"/>
              </a:xfrm>
              <a:prstGeom prst="rect">
                <a:avLst/>
              </a:prstGeom>
              <a:blipFill>
                <a:blip r:embed="rId5"/>
                <a:stretch>
                  <a:fillRect l="-680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B0972C8-A0EB-9BA4-A479-CC79A6D1707D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2FF7DFD-A698-47C9-62B5-5BB96B6E146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97091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51555AC7-F08C-3A41-8AE5-C505B63C9D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74217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17A4DFB-48BD-356C-2613-6A735190FC4E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E04AA72-9C10-E110-323D-8855E7547A7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392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172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6727" y="60324"/>
            <a:ext cx="926650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1.4.6 Activity: Card Sort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66919" y="1312547"/>
            <a:ext cx="10016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sort the cards into sets of equivalent expressions. </a:t>
            </a:r>
          </a:p>
        </p:txBody>
      </p:sp>
      <p:pic>
        <p:nvPicPr>
          <p:cNvPr id="11" name="image12.png" descr="Icon&#10;&#10;Description automatically generated">
            <a:extLst>
              <a:ext uri="{FF2B5EF4-FFF2-40B4-BE49-F238E27FC236}">
                <a16:creationId xmlns:a16="http://schemas.microsoft.com/office/drawing/2014/main" id="{F65C75A6-6EF1-1D47-9FA4-4B40F0766CA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919" y="348270"/>
            <a:ext cx="749809" cy="749809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EE19C55-9C09-294E-B32E-85D9E5B975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147421"/>
                  </p:ext>
                </p:extLst>
              </p:nvPr>
            </p:nvGraphicFramePr>
            <p:xfrm>
              <a:off x="2282463" y="2375298"/>
              <a:ext cx="7200000" cy="403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77378083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30889646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94193972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63844803"/>
                        </a:ext>
                      </a:extLst>
                    </a:gridCol>
                  </a:tblGrid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18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553089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21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ad>
                                          <m:ra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g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e>
                                        </m:rad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18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632049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18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5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ad>
                                          <m:ra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deg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e>
                                        </m:rad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8557068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ad>
                                      <m:ra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g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18</m:t>
                                        </m:r>
                                      </m:e>
                                    </m:rad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18</m:t>
                                        </m:r>
                                      </m:e>
                                    </m:rad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18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8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9765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EE19C55-9C09-294E-B32E-85D9E5B975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147421"/>
                  </p:ext>
                </p:extLst>
              </p:nvPr>
            </p:nvGraphicFramePr>
            <p:xfrm>
              <a:off x="2282463" y="2375298"/>
              <a:ext cx="7200000" cy="4032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77378083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30889646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94193972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63844803"/>
                        </a:ext>
                      </a:extLst>
                    </a:gridCol>
                  </a:tblGrid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1250" r="-30140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04" t="-1250" r="-20140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04" t="-1250" r="-10140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04" t="-1250" r="-140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53089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102532" r="-301408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04" t="-102532" r="-201408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04" t="-102532" r="-101408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04" t="-102532" r="-1408" b="-2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632049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200000" r="-301408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04" t="-200000" r="-201408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04" t="-200000" r="-101408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04" t="-200000" r="-1408" b="-10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5570688"/>
                      </a:ext>
                    </a:extLst>
                  </a:tr>
                  <a:tr h="10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303797" r="-3014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04" t="-303797" r="-2014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704" t="-303797" r="-1014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04" t="-303797" r="-1408" b="-2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765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074E7AE-940B-DD92-65B0-6803F8CD0C8E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0879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B3C6A-9247-014F-BDDC-C30F930C2C98}"/>
              </a:ext>
            </a:extLst>
          </p:cNvPr>
          <p:cNvSpPr txBox="1"/>
          <p:nvPr/>
        </p:nvSpPr>
        <p:spPr>
          <a:xfrm>
            <a:off x="847493" y="610451"/>
            <a:ext cx="981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 your matches below.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248ABE-4CDD-8842-BCEA-78FE9ACA2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40267"/>
              </p:ext>
            </p:extLst>
          </p:nvPr>
        </p:nvGraphicFramePr>
        <p:xfrm>
          <a:off x="1002030" y="1277702"/>
          <a:ext cx="6480000" cy="4788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480000">
                  <a:extLst>
                    <a:ext uri="{9D8B030D-6E8A-4147-A177-3AD203B41FA5}">
                      <a16:colId xmlns:a16="http://schemas.microsoft.com/office/drawing/2014/main" val="367061351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Equivalent Expression</a:t>
                      </a:r>
                      <a:endParaRPr lang="x-none" sz="18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14559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8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22554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8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03366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8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6617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8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881187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3CE66ED-C3D2-ED93-80CC-1F54E2191A4C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C1A4E1DA-EE6D-9089-A9F9-1B56CB284F9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506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93963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C074B5DB-637F-9D41-B79F-8CF9DD1E719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11266" y="2846297"/>
            <a:ext cx="1165395" cy="116539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5A1DFDF-0836-B959-C981-27D67F50FCD6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54F3897-4D7C-C49B-B322-54C81AAC788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759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3607" y="68469"/>
            <a:ext cx="105639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1.6.5 Try It: Writing Equivalent Expressions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58644" y="1499249"/>
            <a:ext cx="9868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pic>
        <p:nvPicPr>
          <p:cNvPr id="9" name="image8.png">
            <a:extLst>
              <a:ext uri="{FF2B5EF4-FFF2-40B4-BE49-F238E27FC236}">
                <a16:creationId xmlns:a16="http://schemas.microsoft.com/office/drawing/2014/main" id="{BF5A0C97-F131-A64A-AC3C-B4EBD96DD6F2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3798" y="348270"/>
            <a:ext cx="749810" cy="74981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329F3F-AFF1-8D40-B36C-AC850DBDE0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941064"/>
                  </p:ext>
                </p:extLst>
              </p:nvPr>
            </p:nvGraphicFramePr>
            <p:xfrm>
              <a:off x="2299647" y="2085000"/>
              <a:ext cx="7200000" cy="424858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32715729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749879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7696466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03206729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262385677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𝒄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deg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deg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918347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e>
                                    </m:d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100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box>
                                              <m:box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x-none" sz="2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2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2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box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399635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g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60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001601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g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9860579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27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99557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329F3F-AFF1-8D40-B36C-AC850DBDE0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941064"/>
                  </p:ext>
                </p:extLst>
              </p:nvPr>
            </p:nvGraphicFramePr>
            <p:xfrm>
              <a:off x="2299647" y="2085000"/>
              <a:ext cx="7200000" cy="424858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32715729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749879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7696466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03206729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262385677"/>
                        </a:ext>
                      </a:extLst>
                    </a:gridCol>
                  </a:tblGrid>
                  <a:tr h="6485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7" t="-1961" r="-399123" b="-560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770" t="-1961" r="-302655" b="-560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961" r="-200000" b="-560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655" t="-1961" r="-101770" b="-560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9123" t="-1961" r="-877" b="-560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918347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7" t="-73239" r="-399123" b="-3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770" t="-73239" r="-302655" b="-3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399635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655" t="-173239" r="-101770" b="-2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001601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9123" t="-273239" r="-877" b="-1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9860579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73239" r="-200000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99557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610B4F8-660E-C665-9101-16728097AACD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B726ADFE-2A49-BAFC-32E7-D4463A5D9779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90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5DC83A-C764-6547-891D-01E499F5A8B3}"/>
                  </a:ext>
                </a:extLst>
              </p:cNvPr>
              <p:cNvSpPr txBox="1"/>
              <p:nvPr/>
            </p:nvSpPr>
            <p:spPr>
              <a:xfrm>
                <a:off x="825190" y="415339"/>
                <a:ext cx="9924586" cy="969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the equivalent expressions in the table, write three equivalent expressions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sz="24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17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5DC83A-C764-6547-891D-01E499F5A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90" y="415339"/>
                <a:ext cx="9924586" cy="969048"/>
              </a:xfrm>
              <a:prstGeom prst="rect">
                <a:avLst/>
              </a:prstGeom>
              <a:blipFill>
                <a:blip r:embed="rId3"/>
                <a:stretch>
                  <a:fillRect l="-921" t="-5031" b="-10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2E36A386-6621-45E8-A27E-4E6BA009D01F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6DEC5044-28A1-BFCB-8F84-293091BC398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964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7437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2357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E8C0DC1-8621-D86A-40EB-47A91CB85879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09C91C6-0F6A-12C8-7903-200ED5C3ACC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22754" y="-122555"/>
            <a:ext cx="862599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1.6.6 Your Turn!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41" y="1197645"/>
                <a:ext cx="9835376" cy="987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each expression using a rational exponent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integers.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341" y="1197645"/>
                <a:ext cx="9835376" cy="987322"/>
              </a:xfrm>
              <a:prstGeom prst="rect">
                <a:avLst/>
              </a:prstGeom>
              <a:blipFill>
                <a:blip r:embed="rId3"/>
                <a:stretch>
                  <a:fillRect l="-929" t="-4321" b="-129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53" y="166644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8488C4C-AD38-7E4F-9073-8661AD1BF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7796110"/>
                  </p:ext>
                </p:extLst>
              </p:nvPr>
            </p:nvGraphicFramePr>
            <p:xfrm>
              <a:off x="2728254" y="2627901"/>
              <a:ext cx="6051550" cy="293716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16607">
                      <a:extLst>
                        <a:ext uri="{9D8B030D-6E8A-4147-A177-3AD203B41FA5}">
                          <a16:colId xmlns:a16="http://schemas.microsoft.com/office/drawing/2014/main" val="1069510666"/>
                        </a:ext>
                      </a:extLst>
                    </a:gridCol>
                    <a:gridCol w="2234943">
                      <a:extLst>
                        <a:ext uri="{9D8B030D-6E8A-4147-A177-3AD203B41FA5}">
                          <a16:colId xmlns:a16="http://schemas.microsoft.com/office/drawing/2014/main" val="3521234173"/>
                        </a:ext>
                      </a:extLst>
                    </a:gridCol>
                  </a:tblGrid>
                  <a:tr h="1324033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g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72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72372977"/>
                      </a:ext>
                    </a:extLst>
                  </a:tr>
                  <a:tr h="1245966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ad>
                                              <m:radPr>
                                                <m:ctrlPr>
                                                  <a:rPr lang="x-none" sz="24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radPr>
                                              <m:deg>
                                                <m:r>
                                                  <a:rPr lang="en-US" sz="24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deg>
                                              <m:e>
                                                <m:r>
                                                  <a:rPr lang="en-US" sz="24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20</m:t>
                                                </m:r>
                                              </m:e>
                                            </m:ra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>
                                        <a:effectLst/>
                                        <a:latin typeface="Verdana" panose="020B0604030504040204" pitchFamily="34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2400">
                                            <a:effectLst/>
                                            <a:latin typeface="Verdana" panose="020B0604030504040204" pitchFamily="34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x-none" sz="2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772665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8488C4C-AD38-7E4F-9073-8661AD1BF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7796110"/>
                  </p:ext>
                </p:extLst>
              </p:nvPr>
            </p:nvGraphicFramePr>
            <p:xfrm>
              <a:off x="2728254" y="2627901"/>
              <a:ext cx="6051550" cy="293716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16607">
                      <a:extLst>
                        <a:ext uri="{9D8B030D-6E8A-4147-A177-3AD203B41FA5}">
                          <a16:colId xmlns:a16="http://schemas.microsoft.com/office/drawing/2014/main" val="1069510666"/>
                        </a:ext>
                      </a:extLst>
                    </a:gridCol>
                    <a:gridCol w="2234943">
                      <a:extLst>
                        <a:ext uri="{9D8B030D-6E8A-4147-A177-3AD203B41FA5}">
                          <a16:colId xmlns:a16="http://schemas.microsoft.com/office/drawing/2014/main" val="3521234173"/>
                        </a:ext>
                      </a:extLst>
                    </a:gridCol>
                  </a:tblGrid>
                  <a:tr h="1691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58533" b="-73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70845" b="-73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72977"/>
                      </a:ext>
                    </a:extLst>
                  </a:tr>
                  <a:tr h="12459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36275" r="-585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70845" t="-1362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726654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3BFDB891-1F4B-DD14-FC12-33030EC84D95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6182817-E06F-AE37-CF81-BC8805EA196B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29854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9394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26BB59D1-066B-824F-2F89-C30BE0C2604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C19F2D5-47CB-1B15-15A0-81F33BFD1218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10363" y="83130"/>
            <a:ext cx="9216749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063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847493" y="1120221"/>
                <a:ext cx="9101257" cy="596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the expressions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e>
                              <m:sup>
                                <m:r>
                                  <a:rPr lang="es-ES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120221"/>
                <a:ext cx="9101257" cy="596830"/>
              </a:xfrm>
              <a:prstGeom prst="rect">
                <a:avLst/>
              </a:prstGeom>
              <a:blipFill>
                <a:blip r:embed="rId4"/>
                <a:stretch>
                  <a:fillRect l="-1005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9EF167-BD78-9A46-9BFC-511949156F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419028"/>
                  </p:ext>
                </p:extLst>
              </p:nvPr>
            </p:nvGraphicFramePr>
            <p:xfrm>
              <a:off x="1410363" y="2394174"/>
              <a:ext cx="8100000" cy="76095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4022136864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784790792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844699202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021007813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295613382"/>
                        </a:ext>
                      </a:extLst>
                    </a:gridCol>
                  </a:tblGrid>
                  <a:tr h="76095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e>
                                    </m:d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25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e>
                                    </m:d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x-none" sz="2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e>
                                      <m:sup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89407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9EF167-BD78-9A46-9BFC-511949156F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419028"/>
                  </p:ext>
                </p:extLst>
              </p:nvPr>
            </p:nvGraphicFramePr>
            <p:xfrm>
              <a:off x="1410363" y="2394174"/>
              <a:ext cx="8100000" cy="76095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4022136864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784790792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844699202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021007813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295613382"/>
                        </a:ext>
                      </a:extLst>
                    </a:gridCol>
                  </a:tblGrid>
                  <a:tr h="760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94077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C456401-734F-AC93-EA8D-B25D5EA3644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04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CEE7475-264E-0BFD-0E4F-B5384A16E48C}"/>
              </a:ext>
            </a:extLst>
          </p:cNvPr>
          <p:cNvSpPr txBox="1"/>
          <p:nvPr/>
        </p:nvSpPr>
        <p:spPr>
          <a:xfrm>
            <a:off x="891304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3830</TotalTime>
  <Words>829</Words>
  <Application>Microsoft Office PowerPoint</Application>
  <PresentationFormat>Widescreen</PresentationFormat>
  <Paragraphs>235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Black</vt:lpstr>
      <vt:lpstr>Calibri</vt:lpstr>
      <vt:lpstr>Arial</vt:lpstr>
      <vt:lpstr>Cambria Math</vt:lpstr>
      <vt:lpstr>Century Gothic</vt:lpstr>
      <vt:lpstr>Wingdings</vt:lpstr>
      <vt:lpstr>Verdana</vt:lpstr>
      <vt:lpstr>1_Office Theme</vt:lpstr>
      <vt:lpstr>Algebra 1  Unit 1, Lesson 6  Writing Equivalent Expressions Using Rational Exponents  Volume 1, pg. 32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Practice</vt:lpstr>
      <vt:lpstr>PowerPoint Presentation</vt:lpstr>
      <vt:lpstr>PowerPoint Presentation</vt:lpstr>
      <vt:lpstr>Exploration</vt:lpstr>
      <vt:lpstr>PowerPoint Presentation</vt:lpstr>
      <vt:lpstr>PowerPoint Presentation</vt:lpstr>
      <vt:lpstr>Activity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31</cp:revision>
  <dcterms:created xsi:type="dcterms:W3CDTF">2015-03-17T18:51:18Z</dcterms:created>
  <dcterms:modified xsi:type="dcterms:W3CDTF">2023-02-13T20:51:41Z</dcterms:modified>
</cp:coreProperties>
</file>