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345" r:id="rId4"/>
    <p:sldId id="286" r:id="rId5"/>
    <p:sldId id="261" r:id="rId6"/>
    <p:sldId id="287" r:id="rId7"/>
    <p:sldId id="314" r:id="rId8"/>
    <p:sldId id="315" r:id="rId9"/>
    <p:sldId id="316" r:id="rId10"/>
    <p:sldId id="361" r:id="rId11"/>
    <p:sldId id="362" r:id="rId12"/>
    <p:sldId id="363" r:id="rId13"/>
    <p:sldId id="346" r:id="rId14"/>
    <p:sldId id="347" r:id="rId15"/>
    <p:sldId id="348" r:id="rId16"/>
    <p:sldId id="349" r:id="rId17"/>
    <p:sldId id="350" r:id="rId18"/>
    <p:sldId id="372" r:id="rId19"/>
    <p:sldId id="373" r:id="rId20"/>
    <p:sldId id="374" r:id="rId21"/>
    <p:sldId id="367" r:id="rId22"/>
    <p:sldId id="368" r:id="rId23"/>
    <p:sldId id="369" r:id="rId24"/>
    <p:sldId id="370" r:id="rId25"/>
    <p:sldId id="354" r:id="rId26"/>
    <p:sldId id="355" r:id="rId27"/>
    <p:sldId id="356" r:id="rId28"/>
    <p:sldId id="375" r:id="rId29"/>
    <p:sldId id="306" r:id="rId30"/>
    <p:sldId id="307" r:id="rId31"/>
  </p:sldIdLst>
  <p:sldSz cx="12192000" cy="6858000"/>
  <p:notesSz cx="6858000" cy="9144000"/>
  <p:embeddedFontLst>
    <p:embeddedFont>
      <p:font typeface="Arial Black" panose="020B0604020202020204" pitchFamily="34" charset="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763"/>
    <a:srgbClr val="E24E5F"/>
    <a:srgbClr val="1765AD"/>
    <a:srgbClr val="1664AC"/>
    <a:srgbClr val="BFBFBF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69" autoAdjust="0"/>
    <p:restoredTop sz="94591" autoAdjust="0"/>
  </p:normalViewPr>
  <p:slideViewPr>
    <p:cSldViewPr snapToGrid="0">
      <p:cViewPr varScale="1">
        <p:scale>
          <a:sx n="119" d="100"/>
          <a:sy n="119" d="100"/>
        </p:scale>
        <p:origin x="27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190816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138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51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6502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2276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03581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9645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953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3465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3440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8230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30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9496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0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10.png"/><Relationship Id="rId5" Type="http://schemas.openxmlformats.org/officeDocument/2006/relationships/image" Target="../media/image310.png"/><Relationship Id="rId10" Type="http://schemas.openxmlformats.org/officeDocument/2006/relationships/image" Target="../media/image36.png"/><Relationship Id="rId4" Type="http://schemas.openxmlformats.org/officeDocument/2006/relationships/image" Target="../media/image300.pn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108658" y="2136918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Functions in Function Notation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354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93541" y="136525"/>
            <a:ext cx="765965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00" y="28249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36341" y="1463043"/>
            <a:ext cx="883655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MA.912.F.1.2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function represented in function notation, evaluate the function for an input in its domain. For a real-world context, interpret the output.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266" y="2837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06588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858644" y="1455367"/>
            <a:ext cx="9712712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913040" y="63291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71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77726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858644" y="1616528"/>
            <a:ext cx="87486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evaluate a function for a specific input value of the domain.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EA20E79-DFE8-FB06-A607-92C566758BBF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58F6FF47-4F4B-431E-4521-DE96CFCE64C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350" y="290895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27922" y="2839623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575DBD3-3249-7FE0-1560-176BB6B406D4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221EC84B-56F3-4A88-BFD1-5ABE83FD14F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84745" y="196334"/>
            <a:ext cx="968769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1.2.1 Warm-Up: Food and Research Career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24" y="2359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47493" y="1397890"/>
            <a:ext cx="97796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Richard works in Research and Development for Kellogg’s. One of the projects he is most proud of involves developing a line of organics products and no added sugar products. Richard also points out that working with a team provides an exciting variety of experiences that is crucial and rewarding to the work of the company.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could mathematics help in the food science industry?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is it important to have teamwork skills when working for a company? 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74BA862B-F1B7-A876-78CA-2D3200B48DAF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CE8EFFEF-9CEB-F332-E27D-2DB1BD41CE0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43729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6.png">
            <a:extLst>
              <a:ext uri="{FF2B5EF4-FFF2-40B4-BE49-F238E27FC236}">
                <a16:creationId xmlns:a16="http://schemas.microsoft.com/office/drawing/2014/main" id="{0BF1589F-B0D8-DC4B-B907-B56241BEE79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94757" y="2852922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938FECC-A869-F1E8-0442-DA823BFF4275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FD3AFBA2-1115-9BAC-2DA3-2591C79CED7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7E3A20AF-6B13-B04D-8D63-141689B8F7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8389" y="4147201"/>
            <a:ext cx="7062693" cy="2447777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9880" y="7641"/>
            <a:ext cx="92123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1.2.2 Collaboration: Functions</a:t>
            </a:r>
          </a:p>
        </p:txBody>
      </p:sp>
      <p:pic>
        <p:nvPicPr>
          <p:cNvPr id="9" name="image16.png">
            <a:extLst>
              <a:ext uri="{FF2B5EF4-FFF2-40B4-BE49-F238E27FC236}">
                <a16:creationId xmlns:a16="http://schemas.microsoft.com/office/drawing/2014/main" id="{6C8BC308-12C2-8C43-AF99-3B79F455A948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1635" y="295586"/>
            <a:ext cx="749810" cy="749810"/>
          </a:xfrm>
          <a:prstGeom prst="rect">
            <a:avLst/>
          </a:prstGeom>
          <a:ln/>
        </p:spPr>
      </p:pic>
      <p:grpSp>
        <p:nvGrpSpPr>
          <p:cNvPr id="3" name="Group 2"/>
          <p:cNvGrpSpPr/>
          <p:nvPr/>
        </p:nvGrpSpPr>
        <p:grpSpPr>
          <a:xfrm>
            <a:off x="1549736" y="1161533"/>
            <a:ext cx="6691630" cy="742706"/>
            <a:chOff x="1230947" y="2197056"/>
            <a:chExt cx="6691630" cy="742706"/>
          </a:xfrm>
        </p:grpSpPr>
        <p:sp>
          <p:nvSpPr>
            <p:cNvPr id="13" name="Rectangle: Rounded Corners 51">
              <a:extLst>
                <a:ext uri="{FF2B5EF4-FFF2-40B4-BE49-F238E27FC236}">
                  <a16:creationId xmlns:a16="http://schemas.microsoft.com/office/drawing/2014/main" id="{746432A4-D2B6-BE4E-868B-2EB39A1353AF}"/>
                </a:ext>
              </a:extLst>
            </p:cNvPr>
            <p:cNvSpPr/>
            <p:nvPr/>
          </p:nvSpPr>
          <p:spPr>
            <a:xfrm>
              <a:off x="1230947" y="2197056"/>
              <a:ext cx="6691630" cy="742706"/>
            </a:xfrm>
            <a:prstGeom prst="roundRect">
              <a:avLst/>
            </a:prstGeom>
            <a:solidFill>
              <a:srgbClr val="E3EFD5"/>
            </a:solidFill>
            <a:ln w="12700" cap="flat" cmpd="sng" algn="ctr">
              <a:solidFill>
                <a:srgbClr val="E3EFD5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180000" rIns="91440" bIns="18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635000"/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</a:rPr>
                <a:t>A </a:t>
              </a:r>
              <a:r>
                <a:rPr lang="en-US" sz="2000" b="1" i="1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</a:rPr>
                <a:t>relation</a:t>
              </a:r>
              <a:r>
                <a:rPr lang="en-US" sz="2000" b="1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</a:rPr>
                <a:t>is a set of input-output pairs. </a:t>
              </a:r>
              <a:endParaRPr lang="x-none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4" name="Shape 7" descr="Icon&#10;&#10;Description automatically generated">
              <a:extLst>
                <a:ext uri="{FF2B5EF4-FFF2-40B4-BE49-F238E27FC236}">
                  <a16:creationId xmlns:a16="http://schemas.microsoft.com/office/drawing/2014/main" id="{F2597B85-79A5-124F-9074-3573CD63F5AF}"/>
                </a:ext>
              </a:extLst>
            </p:cNvPr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10452" y="2298534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" name="Group 1"/>
          <p:cNvGrpSpPr/>
          <p:nvPr/>
        </p:nvGrpSpPr>
        <p:grpSpPr>
          <a:xfrm>
            <a:off x="1549736" y="2118417"/>
            <a:ext cx="7200000" cy="1123712"/>
            <a:chOff x="1221422" y="3572248"/>
            <a:chExt cx="7200000" cy="1123712"/>
          </a:xfrm>
        </p:grpSpPr>
        <p:sp>
          <p:nvSpPr>
            <p:cNvPr id="12" name="Rectangle: Rounded Corners 51">
              <a:extLst>
                <a:ext uri="{FF2B5EF4-FFF2-40B4-BE49-F238E27FC236}">
                  <a16:creationId xmlns:a16="http://schemas.microsoft.com/office/drawing/2014/main" id="{DB381176-6594-634C-8FE9-CA9AFC475782}"/>
                </a:ext>
              </a:extLst>
            </p:cNvPr>
            <p:cNvSpPr/>
            <p:nvPr/>
          </p:nvSpPr>
          <p:spPr>
            <a:xfrm>
              <a:off x="1221422" y="3572248"/>
              <a:ext cx="7200000" cy="1123712"/>
            </a:xfrm>
            <a:prstGeom prst="roundRect">
              <a:avLst/>
            </a:prstGeom>
            <a:solidFill>
              <a:srgbClr val="E3EFD5"/>
            </a:solidFill>
            <a:ln>
              <a:solidFill>
                <a:srgbClr val="E3EFD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635000"/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</a:rPr>
                <a:t>A </a:t>
              </a:r>
              <a:r>
                <a:rPr lang="en-US" sz="2000" b="1" i="1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</a:rPr>
                <a:t>function</a:t>
              </a:r>
              <a:r>
                <a:rPr lang="en-US" sz="2000" b="1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</a:rPr>
                <a:t>is a mathematical relation for which each element in the domain corresponds to exactly one element in the range.</a:t>
              </a:r>
              <a:endParaRPr lang="x-none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6" name="Shape 7" descr="Icon&#10;&#10;Description automatically generated">
              <a:extLst>
                <a:ext uri="{FF2B5EF4-FFF2-40B4-BE49-F238E27FC236}">
                  <a16:creationId xmlns:a16="http://schemas.microsoft.com/office/drawing/2014/main" id="{733E5EC5-BB32-F44E-A3B9-242B16BD0652}"/>
                </a:ext>
              </a:extLst>
            </p:cNvPr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04060" y="3864229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957775" y="3566511"/>
            <a:ext cx="9846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different relations are shown, with each represented in a different way. </a:t>
            </a:r>
          </a:p>
        </p:txBody>
      </p:sp>
      <p:sp>
        <p:nvSpPr>
          <p:cNvPr id="19" name="Google Shape;282;g104476d1465_1_17">
            <a:extLst>
              <a:ext uri="{FF2B5EF4-FFF2-40B4-BE49-F238E27FC236}">
                <a16:creationId xmlns:a16="http://schemas.microsoft.com/office/drawing/2014/main" id="{DF58BBA1-C059-CCAE-7467-8E25C7DF041E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>
            <a:extLst>
              <a:ext uri="{FF2B5EF4-FFF2-40B4-BE49-F238E27FC236}">
                <a16:creationId xmlns:a16="http://schemas.microsoft.com/office/drawing/2014/main" id="{07F1891F-C759-7E0D-333A-54F8C07D5F75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E3B51-D932-6048-ACFB-DF13F0F63B01}"/>
              </a:ext>
            </a:extLst>
          </p:cNvPr>
          <p:cNvSpPr txBox="1"/>
          <p:nvPr/>
        </p:nvSpPr>
        <p:spPr>
          <a:xfrm>
            <a:off x="847492" y="413695"/>
            <a:ext cx="9813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write an explanation identifying which of the relations above are functions. 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D1F286D-ABB5-697D-0B7B-5F80173773FE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F0A2CD19-5716-AC21-E570-A2C20F31987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46008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.png" descr="Icon&#10;&#10;Description automatically generated">
            <a:extLst>
              <a:ext uri="{FF2B5EF4-FFF2-40B4-BE49-F238E27FC236}">
                <a16:creationId xmlns:a16="http://schemas.microsoft.com/office/drawing/2014/main" id="{0D5E4970-0D8B-D84D-89E8-C728649EB09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415651" y="2852922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BF6227-A553-015C-C15D-F272CCE5AF47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CC59760E-52C2-CA8F-F828-FE4BD3C8277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2974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2163" y="101147"/>
            <a:ext cx="1019970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1.2.3 Exploration: Graphs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041409" y="1397947"/>
                <a:ext cx="9679258" cy="3002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equations and graphs of four linear functions are shown.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= 4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+ 5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= −2</m:t>
                      </m:r>
                      <m:r>
                        <a:rPr lang="en-US" sz="2400" i="1" dirty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400" i="1" dirty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+1</m:t>
                      </m:r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=  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s-E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en-US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−2.5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=−1.7</m:t>
                      </m:r>
                      <m:r>
                        <a:rPr lang="en-US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9" y="1397947"/>
                <a:ext cx="9679258" cy="3002169"/>
              </a:xfrm>
              <a:prstGeom prst="rect">
                <a:avLst/>
              </a:prstGeom>
              <a:blipFill>
                <a:blip r:embed="rId3"/>
                <a:stretch>
                  <a:fillRect l="-1008" t="-1623" r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.png" descr="Icon&#10;&#10;Description automatically generated">
            <a:extLst>
              <a:ext uri="{FF2B5EF4-FFF2-40B4-BE49-F238E27FC236}">
                <a16:creationId xmlns:a16="http://schemas.microsoft.com/office/drawing/2014/main" id="{EF432DFD-39B2-8042-A505-A65942473FBC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2014" y="257925"/>
            <a:ext cx="749810" cy="749810"/>
          </a:xfrm>
          <a:prstGeom prst="rect">
            <a:avLst/>
          </a:prstGeom>
          <a:ln/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F3CE9D93-396F-824F-AB4D-B775899B48C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306" y="1964820"/>
            <a:ext cx="4074385" cy="4074385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A856B0BB-FCB9-BC18-B989-B86239E226D7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4E715152-D7CF-A607-6E4B-318E24402DBD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3492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EE39D-1144-8C40-8509-8E6E44CD5CB5}"/>
              </a:ext>
            </a:extLst>
          </p:cNvPr>
          <p:cNvSpPr txBox="1"/>
          <p:nvPr/>
        </p:nvSpPr>
        <p:spPr>
          <a:xfrm>
            <a:off x="825190" y="568289"/>
            <a:ext cx="98576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equations of the lines that decrease from left to right.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equations of the lines that increase from left to right.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the equations of the lines that increase from left to right have in common?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are the equations of the lines that decrease from left to right different from the equations of the lines that increase from left to right?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5CAC324-BBD9-2EC7-8085-F8C80CC51014}"/>
              </a:ext>
            </a:extLst>
          </p:cNvPr>
          <p:cNvSpPr txBox="1"/>
          <p:nvPr/>
        </p:nvSpPr>
        <p:spPr>
          <a:xfrm>
            <a:off x="8913040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27A68D7-91CA-6D36-2597-B7A8AA0EFED6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5458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34508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76742" y="276614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BD30A6C-EA4C-0931-8C1F-333D1F295104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A8EB7404-5185-BA91-D157-E2FD301929F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9B9CA999-A3B9-7C42-AB9E-97643F32446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3430" y="3803852"/>
            <a:ext cx="5029853" cy="208624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27356" y="0"/>
            <a:ext cx="994688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1.2.4 Guided Instruction: Evaluating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340" y="1333240"/>
                <a:ext cx="10114193" cy="47089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ts val="120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Each of the functions in the Exploration starts with “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.” If asked to use the function 𝑦 from the list of functions to find a specific value, it would not be clear which of the four functions to use.  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120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Since mathematicians often work with multiple functions at a time, </a:t>
                </a:r>
                <a:r>
                  <a:rPr lang="en-US" altLang="en-US" sz="2000" b="1" i="1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function notation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used to name specific functions.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notation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defines a function named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𝑓. This indicates “𝑓 is a function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of 𝑥.” The letter 𝑥 represents the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input value, or independent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variable. The letter 𝑦, or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represents the output value, or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dependent variable. The notation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𝑓(𝑥) is read, “𝑓 of 𝑥.”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340" y="1333240"/>
                <a:ext cx="10114193" cy="4708981"/>
              </a:xfrm>
              <a:prstGeom prst="rect">
                <a:avLst/>
              </a:prstGeom>
              <a:blipFill>
                <a:blip r:embed="rId4"/>
                <a:stretch>
                  <a:fillRect l="-603" t="-777" r="-663" b="-14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id="{77E23D0C-703F-9A43-BC01-6CC2541A0FC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9612" y="148788"/>
            <a:ext cx="747431" cy="747431"/>
          </a:xfrm>
          <a:prstGeom prst="rect">
            <a:avLst/>
          </a:prstGeom>
          <a:ln/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B72C464-1B93-B26A-CBB2-E6F7E1F85CA4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F84ED503-AEB6-98D3-09E9-7445CFAFA257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750" y="493189"/>
            <a:ext cx="100042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function can be named using any letter. For example, the previous functions can be renamed as shown: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EF594F8-B8D7-524E-A2CC-64FD814CB2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4773282"/>
                  </p:ext>
                </p:extLst>
              </p:nvPr>
            </p:nvGraphicFramePr>
            <p:xfrm>
              <a:off x="2184048" y="1697380"/>
              <a:ext cx="6480000" cy="147199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1910646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1135487267"/>
                        </a:ext>
                      </a:extLst>
                    </a:gridCol>
                  </a:tblGrid>
                  <a:tr h="784860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sz="24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4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/>
                                  </a:rPr>
                                  <m:t>) = 4</m:t>
                                </m:r>
                                <m:r>
                                  <a:rPr lang="en-US" sz="24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/>
                                  </a:rPr>
                                  <m:t> + 5</m:t>
                                </m:r>
                              </m:oMath>
                            </m:oMathPara>
                          </a14:m>
                          <a:endParaRPr lang="x-none" sz="2400" dirty="0">
                            <a:solidFill>
                              <a:srgbClr val="FF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𝑔</m:t>
                                </m:r>
                                <m:r>
                                  <a:rPr lang="en-US" sz="24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4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) = −2</m:t>
                                </m:r>
                                <m:r>
                                  <a:rPr lang="en-US" sz="24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x-none" sz="2400" dirty="0">
                            <a:solidFill>
                              <a:schemeClr val="accent5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56111999"/>
                      </a:ext>
                    </a:extLst>
                  </a:tr>
                  <a:tr h="605155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sz="2400" smtClean="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400" smtClean="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smtClean="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/>
                                  </a:rPr>
                                  <m:t>) = </m:t>
                                </m:r>
                                <m:f>
                                  <m:fPr>
                                    <m:ctrlPr>
                                      <a:rPr lang="x-none" sz="2400" i="1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40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/>
                                  </a:rPr>
                                  <m:t>−2.5</m:t>
                                </m:r>
                              </m:oMath>
                            </m:oMathPara>
                          </a14:m>
                          <a:endParaRPr lang="x-none" sz="2400" dirty="0">
                            <a:solidFill>
                              <a:srgbClr val="00B05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𝑐</m:t>
                                </m:r>
                                <m:r>
                                  <a:rPr lang="en-US" sz="24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4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) =−1.7</m:t>
                                </m:r>
                                <m:r>
                                  <a:rPr lang="en-US" sz="24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x-none" sz="2400" dirty="0">
                            <a:solidFill>
                              <a:srgbClr val="7030A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277094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EF594F8-B8D7-524E-A2CC-64FD814CB2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4773282"/>
                  </p:ext>
                </p:extLst>
              </p:nvPr>
            </p:nvGraphicFramePr>
            <p:xfrm>
              <a:off x="2184048" y="1697380"/>
              <a:ext cx="6480000" cy="147199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1910646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1135487267"/>
                        </a:ext>
                      </a:extLst>
                    </a:gridCol>
                  </a:tblGrid>
                  <a:tr h="7848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100000" b="-87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b="-87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6111999"/>
                      </a:ext>
                    </a:extLst>
                  </a:tr>
                  <a:tr h="6871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1415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141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77094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2C3F281-4146-134E-BB27-2EA00BEC6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750" y="3879347"/>
            <a:ext cx="100042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Now, if asked to use the function </a:t>
            </a:r>
            <a:r>
              <a:rPr lang="en-US" altLang="en-US" sz="2400" dirty="0" err="1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ℎ</a:t>
            </a: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find a specified value of 𝑥, it would be clear which function to use.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CADED27E-6223-841C-C4F5-734C42B19FB7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F6EB6811-E42F-814A-26C5-698C2F7DE5E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4" y="476555"/>
                <a:ext cx="1027027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Functions are evaluated in the same way equations are evaluated when given a value for a variable.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  = −7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𝑤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− 10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476555"/>
                <a:ext cx="10270273" cy="1938992"/>
              </a:xfrm>
              <a:prstGeom prst="rect">
                <a:avLst/>
              </a:prstGeom>
              <a:blipFill>
                <a:blip r:embed="rId4"/>
                <a:stretch>
                  <a:fillRect l="-653" t="-1572" r="-119" b="-5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E032D0B-F89B-F947-8693-791E493F74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8735417"/>
                  </p:ext>
                </p:extLst>
              </p:nvPr>
            </p:nvGraphicFramePr>
            <p:xfrm>
              <a:off x="2408120" y="2688493"/>
              <a:ext cx="432000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320000">
                      <a:extLst>
                        <a:ext uri="{9D8B030D-6E8A-4147-A177-3AD203B41FA5}">
                          <a16:colId xmlns:a16="http://schemas.microsoft.com/office/drawing/2014/main" val="917340839"/>
                        </a:ext>
                      </a:extLst>
                    </a:gridCol>
                  </a:tblGrid>
                  <a:tr h="461010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 −7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−10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96115874"/>
                      </a:ext>
                    </a:extLst>
                  </a:tr>
                  <a:tr h="461010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 −7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10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−10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82779791"/>
                      </a:ext>
                    </a:extLst>
                  </a:tr>
                  <a:tr h="454025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 ____________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79869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E032D0B-F89B-F947-8693-791E493F74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8735417"/>
                  </p:ext>
                </p:extLst>
              </p:nvPr>
            </p:nvGraphicFramePr>
            <p:xfrm>
              <a:off x="2408120" y="2688493"/>
              <a:ext cx="432000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320000">
                      <a:extLst>
                        <a:ext uri="{9D8B030D-6E8A-4147-A177-3AD203B41FA5}">
                          <a16:colId xmlns:a16="http://schemas.microsoft.com/office/drawing/2014/main" val="917340839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b="-20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6115874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99010" b="-99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2779791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0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9869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5C4BB8-1BEC-D945-8F32-D78AD2432705}"/>
                  </a:ext>
                </a:extLst>
              </p:cNvPr>
              <p:cNvSpPr txBox="1"/>
              <p:nvPr/>
            </p:nvSpPr>
            <p:spPr>
              <a:xfrm>
                <a:off x="858644" y="4790239"/>
                <a:ext cx="102702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the input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output of the function is ____.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function notation, this is written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(10)=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5C4BB8-1BEC-D945-8F32-D78AD2432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4790239"/>
                <a:ext cx="10270273" cy="1015663"/>
              </a:xfrm>
              <a:prstGeom prst="rect">
                <a:avLst/>
              </a:prstGeom>
              <a:blipFill>
                <a:blip r:embed="rId6"/>
                <a:stretch>
                  <a:fillRect l="-653" t="-3614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85182646-972B-6463-E6F2-1961CBC2D470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</a:p>
        </p:txBody>
      </p:sp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836341" y="515687"/>
                <a:ext cx="98353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400" i="1" dirty="0">
                  <a:latin typeface="Cambria Math" panose="02040503050406030204" pitchFamily="18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endParaRPr lang="en-US" sz="2400" i="1" dirty="0">
                  <a:latin typeface="Cambria Math" panose="02040503050406030204" pitchFamily="18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(−3)=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" y="515687"/>
                <a:ext cx="9835376" cy="1569660"/>
              </a:xfrm>
              <a:prstGeom prst="rect">
                <a:avLst/>
              </a:prstGeom>
              <a:blipFill>
                <a:blip r:embed="rId3"/>
                <a:stretch>
                  <a:fillRect l="-929" t="-3502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34771C5-9543-CB38-536D-2EC3FFB1A194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A29F2F3B-7798-6450-8EDA-B456E636723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796417" y="503821"/>
                <a:ext cx="1003141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This same function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represented in other ways.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Shown here are a table of values, a graph, and a mapping diagram. The function can be evaluated from each of these representations.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17" y="503821"/>
                <a:ext cx="10031417" cy="1938992"/>
              </a:xfrm>
              <a:prstGeom prst="rect">
                <a:avLst/>
              </a:prstGeom>
              <a:blipFill>
                <a:blip r:embed="rId3"/>
                <a:stretch>
                  <a:fillRect l="-973" t="-2830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BF3AF36-2301-EE48-B571-63DFEBA797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5940131"/>
                  </p:ext>
                </p:extLst>
              </p:nvPr>
            </p:nvGraphicFramePr>
            <p:xfrm>
              <a:off x="1202616" y="3032600"/>
              <a:ext cx="8614065" cy="316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536320218"/>
                        </a:ext>
                      </a:extLst>
                    </a:gridCol>
                    <a:gridCol w="5734065">
                      <a:extLst>
                        <a:ext uri="{9D8B030D-6E8A-4147-A177-3AD203B41FA5}">
                          <a16:colId xmlns:a16="http://schemas.microsoft.com/office/drawing/2014/main" val="284800475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of Values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457200" marR="0" lvl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3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(−10)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16256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16256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67246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(−10) = _______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16256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 lvl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4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)=−45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what is the value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8000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32507030"/>
                      </a:ext>
                    </a:extLst>
                  </a:tr>
                  <a:tr h="27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27263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BF3AF36-2301-EE48-B571-63DFEBA797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5940131"/>
                  </p:ext>
                </p:extLst>
              </p:nvPr>
            </p:nvGraphicFramePr>
            <p:xfrm>
              <a:off x="1202616" y="3032600"/>
              <a:ext cx="8614065" cy="316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536320218"/>
                        </a:ext>
                      </a:extLst>
                    </a:gridCol>
                    <a:gridCol w="5734065">
                      <a:extLst>
                        <a:ext uri="{9D8B030D-6E8A-4147-A177-3AD203B41FA5}">
                          <a16:colId xmlns:a16="http://schemas.microsoft.com/office/drawing/2014/main" val="284800475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of Values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000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478" t="-3071" b="-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507030"/>
                      </a:ext>
                    </a:extLst>
                  </a:tr>
                  <a:tr h="27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27263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1A37826-F30C-5641-A4E5-C2581D6B44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0367565"/>
                  </p:ext>
                </p:extLst>
              </p:nvPr>
            </p:nvGraphicFramePr>
            <p:xfrm>
              <a:off x="1608975" y="3672802"/>
              <a:ext cx="2160000" cy="23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84023040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354625941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𝒘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𝒇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𝒘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778002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−1422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7745767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−597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93352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5149265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−45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076238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1A37826-F30C-5641-A4E5-C2581D6B44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0367565"/>
                  </p:ext>
                </p:extLst>
              </p:nvPr>
            </p:nvGraphicFramePr>
            <p:xfrm>
              <a:off x="1608975" y="3672802"/>
              <a:ext cx="2160000" cy="23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84023040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354625941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63" t="-2703" r="-101163" b="-4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353" t="-2703" r="-2353" b="-4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778002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63" t="-102703" r="-101163" b="-3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353" t="-102703" r="-2353" b="-3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745767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63" t="-202703" r="-101163" b="-2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353" t="-202703" r="-2353" b="-2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93352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63" t="-302703" r="-101163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353" t="-302703" r="-2353" b="-1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5149265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63" t="-402703" r="-101163" b="-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353" t="-402703" r="-2353" b="-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7623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E763457-EDB0-928A-160B-99FB9B1CBBAA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16E280F-A46C-DC66-561C-7D00CDD084D1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2436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D592C12-E47E-7740-9FBA-05F89111E0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0599659"/>
                  </p:ext>
                </p:extLst>
              </p:nvPr>
            </p:nvGraphicFramePr>
            <p:xfrm>
              <a:off x="1102327" y="504337"/>
              <a:ext cx="8316538" cy="442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960000">
                      <a:extLst>
                        <a:ext uri="{9D8B030D-6E8A-4147-A177-3AD203B41FA5}">
                          <a16:colId xmlns:a16="http://schemas.microsoft.com/office/drawing/2014/main" val="4053596691"/>
                        </a:ext>
                      </a:extLst>
                    </a:gridCol>
                    <a:gridCol w="4356538">
                      <a:extLst>
                        <a:ext uri="{9D8B030D-6E8A-4147-A177-3AD203B41FA5}">
                          <a16:colId xmlns:a16="http://schemas.microsoft.com/office/drawing/2014/main" val="359765426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>
                                  <a:effectLst/>
                                  <a:latin typeface="Cambria Math"/>
                                </a:rPr>
                                <m:t>𝒇</m:t>
                              </m:r>
                              <m:r>
                                <a:rPr lang="en-US" sz="2400" b="1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 b="1" i="1">
                                  <a:effectLst/>
                                  <a:latin typeface="Cambria Math"/>
                                </a:rPr>
                                <m:t>𝒘</m:t>
                              </m:r>
                              <m:r>
                                <a:rPr lang="en-US" sz="2400" b="1">
                                  <a:effectLst/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x-none" sz="2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Find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each value from the graph.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16256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5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(−1.5) = _______</m:t>
                              </m:r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61404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61404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61404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61404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b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6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(0) = _______</m:t>
                              </m:r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8000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3019378"/>
                      </a:ext>
                    </a:extLst>
                  </a:tr>
                  <a:tr h="39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1358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D592C12-E47E-7740-9FBA-05F89111E0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0599659"/>
                  </p:ext>
                </p:extLst>
              </p:nvPr>
            </p:nvGraphicFramePr>
            <p:xfrm>
              <a:off x="1102327" y="504337"/>
              <a:ext cx="8316538" cy="442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960000">
                      <a:extLst>
                        <a:ext uri="{9D8B030D-6E8A-4147-A177-3AD203B41FA5}">
                          <a16:colId xmlns:a16="http://schemas.microsoft.com/office/drawing/2014/main" val="4053596691"/>
                        </a:ext>
                      </a:extLst>
                    </a:gridCol>
                    <a:gridCol w="4356538">
                      <a:extLst>
                        <a:ext uri="{9D8B030D-6E8A-4147-A177-3AD203B41FA5}">
                          <a16:colId xmlns:a16="http://schemas.microsoft.com/office/drawing/2014/main" val="359765426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1" t="-18919" r="-110577" b="-85135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000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0988" t="-2000" r="-291" b="-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019378"/>
                      </a:ext>
                    </a:extLst>
                  </a:tr>
                  <a:tr h="39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13580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Group 1"/>
          <p:cNvGrpSpPr/>
          <p:nvPr/>
        </p:nvGrpSpPr>
        <p:grpSpPr>
          <a:xfrm>
            <a:off x="1240141" y="1156907"/>
            <a:ext cx="3681739" cy="3602503"/>
            <a:chOff x="940784" y="965505"/>
            <a:chExt cx="3681739" cy="36025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DA31D-BFA9-624E-B0EB-9BEFF1657A53}"/>
                </a:ext>
              </a:extLst>
            </p:cNvPr>
            <p:cNvGrpSpPr/>
            <p:nvPr/>
          </p:nvGrpSpPr>
          <p:grpSpPr>
            <a:xfrm>
              <a:off x="940784" y="965505"/>
              <a:ext cx="3681739" cy="3602503"/>
              <a:chOff x="0" y="0"/>
              <a:chExt cx="3363633" cy="329120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 Box 36">
                    <a:extLst>
                      <a:ext uri="{FF2B5EF4-FFF2-40B4-BE49-F238E27FC236}">
                        <a16:creationId xmlns:a16="http://schemas.microsoft.com/office/drawing/2014/main" id="{4558B169-21E2-D140-92DB-1C5E60639889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1475715"/>
                    <a:ext cx="1376045" cy="41592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(−1.5, 2.25)</m:t>
                          </m:r>
                        </m:oMath>
                      </m:oMathPara>
                    </a14:m>
                    <a:endParaRPr lang="x-none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Text Box 36">
                    <a:extLst>
                      <a:ext uri="{FF2B5EF4-FFF2-40B4-BE49-F238E27FC236}">
                        <a16:creationId xmlns:a16="http://schemas.microsoft.com/office/drawing/2014/main" id="{4558B169-21E2-D140-92DB-1C5E606398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1475715"/>
                    <a:ext cx="1376045" cy="4159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80" r="-7843" b="-6250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3" name="Picture 12" descr="Chart, line chart&#10;&#10;Description automatically generated">
                <a:extLst>
                  <a:ext uri="{FF2B5EF4-FFF2-40B4-BE49-F238E27FC236}">
                    <a16:creationId xmlns:a16="http://schemas.microsoft.com/office/drawing/2014/main" id="{BD0438B6-AFEC-8743-804F-A0B14E6F36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2428" y="0"/>
                <a:ext cx="3291205" cy="329120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 Box 39">
                    <a:extLst>
                      <a:ext uri="{FF2B5EF4-FFF2-40B4-BE49-F238E27FC236}">
                        <a16:creationId xmlns:a16="http://schemas.microsoft.com/office/drawing/2014/main" id="{C8EFCAEE-B5C2-A145-A6B0-BF6C8A5463A0}"/>
                      </a:ext>
                    </a:extLst>
                  </p:cNvPr>
                  <p:cNvSpPr txBox="1"/>
                  <p:nvPr/>
                </p:nvSpPr>
                <p:spPr>
                  <a:xfrm>
                    <a:off x="341985" y="271604"/>
                    <a:ext cx="1376045" cy="41592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(−1, 6)</m:t>
                          </m:r>
                        </m:oMath>
                      </m:oMathPara>
                    </a14:m>
                    <a:endParaRPr lang="x-none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 Box 39">
                    <a:extLst>
                      <a:ext uri="{FF2B5EF4-FFF2-40B4-BE49-F238E27FC236}">
                        <a16:creationId xmlns:a16="http://schemas.microsoft.com/office/drawing/2014/main" xmlns:a14="http://schemas.microsoft.com/office/drawing/2010/main" xmlns="" id="{C8EFCAEE-B5C2-A145-A6B0-BF6C8A5463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985" y="271604"/>
                    <a:ext cx="1376045" cy="415925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b="-1333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 Box 40">
                    <a:extLst>
                      <a:ext uri="{FF2B5EF4-FFF2-40B4-BE49-F238E27FC236}">
                        <a16:creationId xmlns:a16="http://schemas.microsoft.com/office/drawing/2014/main" id="{CA82D0A2-6E06-0042-8529-80A1149CC9D1}"/>
                      </a:ext>
                    </a:extLst>
                  </p:cNvPr>
                  <p:cNvSpPr txBox="1"/>
                  <p:nvPr/>
                </p:nvSpPr>
                <p:spPr>
                  <a:xfrm>
                    <a:off x="1832368" y="262551"/>
                    <a:ext cx="1376045" cy="41592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(−0.5, 6.25)</m:t>
                          </m:r>
                        </m:oMath>
                      </m:oMathPara>
                    </a14:m>
                    <a:endParaRPr lang="x-none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Text Box 40">
                    <a:extLst>
                      <a:ext uri="{FF2B5EF4-FFF2-40B4-BE49-F238E27FC236}">
                        <a16:creationId xmlns:a16="http://schemas.microsoft.com/office/drawing/2014/main" xmlns:a14="http://schemas.microsoft.com/office/drawing/2010/main" xmlns="" id="{CA82D0A2-6E06-0042-8529-80A1149CC9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2368" y="262551"/>
                    <a:ext cx="1376045" cy="415925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1619" r="-1215" b="-2703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 Box 41">
                    <a:extLst>
                      <a:ext uri="{FF2B5EF4-FFF2-40B4-BE49-F238E27FC236}">
                        <a16:creationId xmlns:a16="http://schemas.microsoft.com/office/drawing/2014/main" id="{A98EC83F-878A-514F-ACC6-162F7A3B8D08}"/>
                      </a:ext>
                    </a:extLst>
                  </p:cNvPr>
                  <p:cNvSpPr txBox="1"/>
                  <p:nvPr/>
                </p:nvSpPr>
                <p:spPr>
                  <a:xfrm>
                    <a:off x="1564238" y="1212536"/>
                    <a:ext cx="1376045" cy="41592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(0, 3)</m:t>
                          </m:r>
                        </m:oMath>
                      </m:oMathPara>
                    </a14:m>
                    <a:endParaRPr lang="x-none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Text Box 41">
                    <a:extLst>
                      <a:ext uri="{FF2B5EF4-FFF2-40B4-BE49-F238E27FC236}">
                        <a16:creationId xmlns:a16="http://schemas.microsoft.com/office/drawing/2014/main" id="{A98EC83F-878A-514F-ACC6-162F7A3B8D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4238" y="1212536"/>
                    <a:ext cx="1376045" cy="41592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9375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3">
                  <a:extLst>
                    <a:ext uri="{FF2B5EF4-FFF2-40B4-BE49-F238E27FC236}">
                      <a16:creationId xmlns:a16="http://schemas.microsoft.com/office/drawing/2014/main" id="{ED56391F-7DFB-4341-9965-DCBBCFC96C8B}"/>
                    </a:ext>
                  </a:extLst>
                </p:cNvPr>
                <p:cNvSpPr txBox="1"/>
                <p:nvPr/>
              </p:nvSpPr>
              <p:spPr>
                <a:xfrm>
                  <a:off x="1024207" y="2465930"/>
                  <a:ext cx="1376363" cy="4159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(−1.5, 2.25)</m:t>
                        </m:r>
                      </m:oMath>
                    </m:oMathPara>
                  </a14:m>
                  <a:endParaRPr lang="x-none" sz="12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 Box 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ED56391F-7DFB-4341-9965-DCBBCFC96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207" y="2465930"/>
                  <a:ext cx="1376363" cy="41592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770" r="-10619" b="-11765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57ABDF2D-8A49-EF54-2D8F-CB14EF304699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</a:p>
        </p:txBody>
      </p:sp>
      <p:pic>
        <p:nvPicPr>
          <p:cNvPr id="18" name="Google Shape;283;g104476d1465_1_17">
            <a:extLst>
              <a:ext uri="{FF2B5EF4-FFF2-40B4-BE49-F238E27FC236}">
                <a16:creationId xmlns:a16="http://schemas.microsoft.com/office/drawing/2014/main" id="{95169A65-F897-55B6-A50C-A33A015BD835}"/>
              </a:ext>
            </a:extLst>
          </p:cNvPr>
          <p:cNvPicPr preferRelativeResize="0"/>
          <p:nvPr/>
        </p:nvPicPr>
        <p:blipFill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5878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3AE0F1C-6D38-DC46-A018-0FBF72EE85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319641"/>
                  </p:ext>
                </p:extLst>
              </p:nvPr>
            </p:nvGraphicFramePr>
            <p:xfrm>
              <a:off x="964747" y="431329"/>
              <a:ext cx="9684668" cy="327215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27176">
                      <a:extLst>
                        <a:ext uri="{9D8B030D-6E8A-4147-A177-3AD203B41FA5}">
                          <a16:colId xmlns:a16="http://schemas.microsoft.com/office/drawing/2014/main" val="1365093489"/>
                        </a:ext>
                      </a:extLst>
                    </a:gridCol>
                    <a:gridCol w="6257492">
                      <a:extLst>
                        <a:ext uri="{9D8B030D-6E8A-4147-A177-3AD203B41FA5}">
                          <a16:colId xmlns:a16="http://schemas.microsoft.com/office/drawing/2014/main" val="1381426716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Mapping Diagram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𝒇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𝒘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Find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each value from the mapping diagram.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16256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7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(3) = _______</m:t>
                              </m:r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 lvl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8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</a:rPr>
                                <m:t>)=6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8000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3618952"/>
                      </a:ext>
                    </a:extLst>
                  </a:tr>
                  <a:tr h="25711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15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3AE0F1C-6D38-DC46-A018-0FBF72EE85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319641"/>
                  </p:ext>
                </p:extLst>
              </p:nvPr>
            </p:nvGraphicFramePr>
            <p:xfrm>
              <a:off x="964747" y="431329"/>
              <a:ext cx="9684668" cy="327215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27176">
                      <a:extLst>
                        <a:ext uri="{9D8B030D-6E8A-4147-A177-3AD203B41FA5}">
                          <a16:colId xmlns:a16="http://schemas.microsoft.com/office/drawing/2014/main" val="1365093489"/>
                        </a:ext>
                      </a:extLst>
                    </a:gridCol>
                    <a:gridCol w="6257492">
                      <a:extLst>
                        <a:ext uri="{9D8B030D-6E8A-4147-A177-3AD203B41FA5}">
                          <a16:colId xmlns:a16="http://schemas.microsoft.com/office/drawing/2014/main" val="1381426716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6" t="-13913" r="-182740" b="-3704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000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4917" t="-2974" b="-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3618952"/>
                      </a:ext>
                    </a:extLst>
                  </a:tr>
                  <a:tr h="25711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6" t="-30969" r="-182740" b="-70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1537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9EE455E-F2E5-E540-B349-C2E493CCC3F9}"/>
              </a:ext>
            </a:extLst>
          </p:cNvPr>
          <p:cNvGrpSpPr/>
          <p:nvPr/>
        </p:nvGrpSpPr>
        <p:grpSpPr>
          <a:xfrm>
            <a:off x="1287495" y="1572195"/>
            <a:ext cx="2163444" cy="2057400"/>
            <a:chOff x="-117701" y="0"/>
            <a:chExt cx="2165041" cy="2059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FA8E6EA-498C-124E-9661-B5F59C171E29}"/>
                    </a:ext>
                  </a:extLst>
                </p:cNvPr>
                <p:cNvSpPr/>
                <p:nvPr/>
              </p:nvSpPr>
              <p:spPr>
                <a:xfrm>
                  <a:off x="-117701" y="0"/>
                  <a:ext cx="951677" cy="20561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−10</m:t>
                        </m:r>
                      </m:oMath>
                    </m:oMathPara>
                  </a14:m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algn="ctr"/>
                  <a:r>
                    <a:rPr lang="en-US" sz="1800" dirty="0">
                      <a:solidFill>
                        <a:srgbClr val="000000"/>
                      </a:solidFill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oMath>
                    </m:oMathPara>
                  </a14:m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algn="ctr"/>
                  <a:r>
                    <a:rPr lang="en-US" sz="1800" dirty="0">
                      <a:solidFill>
                        <a:srgbClr val="000000"/>
                      </a:solidFill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oMath>
                    </m:oMathPara>
                  </a14:m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FA8E6EA-498C-124E-9661-B5F59C171E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7701" y="0"/>
                  <a:ext cx="951677" cy="20561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83A2585-5C2E-0E4B-958F-0AFCC910BD35}"/>
                    </a:ext>
                  </a:extLst>
                </p:cNvPr>
                <p:cNvSpPr/>
                <p:nvPr/>
              </p:nvSpPr>
              <p:spPr>
                <a:xfrm>
                  <a:off x="1095469" y="0"/>
                  <a:ext cx="951871" cy="205917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6</m:t>
                        </m:r>
                      </m:oMath>
                    </m:oMathPara>
                  </a14:m>
                  <a:endParaRPr lang="x-none" sz="12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algn="ctr"/>
                  <a:r>
                    <a:rPr lang="en-US" sz="1800" dirty="0">
                      <a:solidFill>
                        <a:srgbClr val="000000"/>
                      </a:solidFill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−90</m:t>
                        </m:r>
                      </m:oMath>
                    </m:oMathPara>
                  </a14:m>
                  <a:endParaRPr lang="x-none" sz="12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algn="ctr"/>
                  <a:r>
                    <a:rPr lang="en-US" sz="1800" dirty="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Times New Roman" panose="02020603050405020304" pitchFamily="18" charset="0"/>
                    </a:rPr>
                    <a:t> </a:t>
                  </a:r>
                  <a:endParaRPr lang="x-none" sz="12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−597</m:t>
                        </m:r>
                      </m:oMath>
                    </m:oMathPara>
                  </a14:m>
                  <a:endParaRPr lang="x-none" sz="12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83A2585-5C2E-0E4B-958F-0AFCC910BD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469" y="0"/>
                  <a:ext cx="951871" cy="20591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2433AE8-DCD4-9249-9ACA-7FAF704D1E5A}"/>
                </a:ext>
              </a:extLst>
            </p:cNvPr>
            <p:cNvCxnSpPr/>
            <p:nvPr/>
          </p:nvCxnSpPr>
          <p:spPr>
            <a:xfrm flipV="1">
              <a:off x="606582" y="570861"/>
              <a:ext cx="779701" cy="4530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6F1BA50-5EBB-8644-B60C-3EB17CCB49A3}"/>
                </a:ext>
              </a:extLst>
            </p:cNvPr>
            <p:cNvCxnSpPr/>
            <p:nvPr/>
          </p:nvCxnSpPr>
          <p:spPr>
            <a:xfrm>
              <a:off x="606582" y="570861"/>
              <a:ext cx="713105" cy="9333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287D3A3-5CA5-804E-8CEE-EF72D2C1D593}"/>
                </a:ext>
              </a:extLst>
            </p:cNvPr>
            <p:cNvCxnSpPr/>
            <p:nvPr/>
          </p:nvCxnSpPr>
          <p:spPr>
            <a:xfrm flipV="1">
              <a:off x="525101" y="1023926"/>
              <a:ext cx="794586" cy="561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BAA210DF-F205-C9A2-D944-AD678C7FD142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7C92208D-942B-CFE1-0F0D-7905BD0E8E14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0571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90717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8.png">
            <a:extLst>
              <a:ext uri="{FF2B5EF4-FFF2-40B4-BE49-F238E27FC236}">
                <a16:creationId xmlns:a16="http://schemas.microsoft.com/office/drawing/2014/main" id="{6CB588A7-22C0-2B46-AB1F-74DFA1BFA82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72523" y="2846297"/>
            <a:ext cx="1165395" cy="116539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8A6B60DD-E180-8E48-A431-3D57C78309A3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CF2BEDA2-F92B-3F41-1D3E-7B1E5F1DC19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063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1599" y="87771"/>
            <a:ext cx="907709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1.2.5 Try It: Function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36341" y="1406356"/>
                <a:ext cx="9467386" cy="4383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the function 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)=−6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–5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find each value.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(−4)=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what value of 𝑦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 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" y="1406356"/>
                <a:ext cx="9467386" cy="4383444"/>
              </a:xfrm>
              <a:prstGeom prst="rect">
                <a:avLst/>
              </a:prstGeom>
              <a:blipFill>
                <a:blip r:embed="rId3"/>
                <a:stretch>
                  <a:fillRect l="-966" t="-1252" b="-1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8.png">
            <a:extLst>
              <a:ext uri="{FF2B5EF4-FFF2-40B4-BE49-F238E27FC236}">
                <a16:creationId xmlns:a16="http://schemas.microsoft.com/office/drawing/2014/main" id="{B24E4DC0-703E-5744-805D-24A6236D270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248" y="346454"/>
            <a:ext cx="753442" cy="753442"/>
          </a:xfrm>
          <a:prstGeom prst="rect">
            <a:avLst/>
          </a:prstGeom>
          <a:ln/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C239D5D9-06DC-3B11-E6F1-1578C2B5978B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14E2AF62-A871-C7D3-1EE6-177018772ACE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1772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B68F54-89D8-6B45-A64B-43875C74C170}"/>
                  </a:ext>
                </a:extLst>
              </p:cNvPr>
              <p:cNvSpPr txBox="1"/>
              <p:nvPr/>
            </p:nvSpPr>
            <p:spPr>
              <a:xfrm>
                <a:off x="869795" y="553663"/>
                <a:ext cx="8431861" cy="346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)=2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𝑘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find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 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2.5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find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(3.2)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B68F54-89D8-6B45-A64B-43875C74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95" y="553663"/>
                <a:ext cx="8431861" cy="3468257"/>
              </a:xfrm>
              <a:prstGeom prst="rect">
                <a:avLst/>
              </a:prstGeom>
              <a:blipFill>
                <a:blip r:embed="rId3"/>
                <a:stretch>
                  <a:fillRect l="-1157" t="-1582" b="-2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77233C1-18B8-4923-797C-80136048ED58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18833062-DC91-DAED-2BBC-C9DFA76E5BB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4103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B11177-34F1-DC49-B8B5-A75703EDDCDC}"/>
                  </a:ext>
                </a:extLst>
              </p:cNvPr>
              <p:cNvSpPr txBox="1"/>
              <p:nvPr/>
            </p:nvSpPr>
            <p:spPr>
              <a:xfrm>
                <a:off x="847493" y="326487"/>
                <a:ext cx="84541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graph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below to find each value.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B11177-34F1-DC49-B8B5-A75703EDD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326487"/>
                <a:ext cx="8454163" cy="461665"/>
              </a:xfrm>
              <a:prstGeom prst="rect">
                <a:avLst/>
              </a:prstGeom>
              <a:blipFill>
                <a:blip r:embed="rId3"/>
                <a:stretch>
                  <a:fillRect l="-1081" t="-12000" r="-2307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BEAA997F-D7A6-0548-8BD8-EDF6C92F5BE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4080" y="1016591"/>
            <a:ext cx="4137576" cy="4137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DC9857-CB93-0F4D-B4AC-B83894A236EE}"/>
                  </a:ext>
                </a:extLst>
              </p:cNvPr>
              <p:cNvSpPr txBox="1"/>
              <p:nvPr/>
            </p:nvSpPr>
            <p:spPr>
              <a:xfrm>
                <a:off x="847493" y="1317094"/>
                <a:ext cx="845416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(1) = 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(−2) = 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what value of 𝑥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DC9857-CB93-0F4D-B4AC-B83894A23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1317094"/>
                <a:ext cx="8454163" cy="4524315"/>
              </a:xfrm>
              <a:prstGeom prst="rect">
                <a:avLst/>
              </a:prstGeom>
              <a:blipFill>
                <a:blip r:embed="rId5"/>
                <a:stretch>
                  <a:fillRect t="-1213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9291BAC-5239-3B42-35CC-DE96B3C320F3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55F78FD-2E00-493E-ADBB-97D97C08DFDD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5907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7375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758FF271-6581-5740-BCCD-706D33EA7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9720" y="284992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9804F0DD-799A-CE04-6589-C9F34B90C84C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64651FF0-FBB0-6D00-9EB5-A93015AE428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71524" y="-56920"/>
            <a:ext cx="85772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1.2.6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3" y="1268780"/>
                <a:ext cx="10236819" cy="39360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each value given the function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= </m:t>
                    </m:r>
                    <m:f>
                      <m:f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num>
                      <m:den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+ 6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(−9)=</m:t>
                    </m:r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4291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input for which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)=13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3" y="1268780"/>
                <a:ext cx="10236819" cy="3936014"/>
              </a:xfrm>
              <a:prstGeom prst="rect">
                <a:avLst/>
              </a:prstGeom>
              <a:blipFill>
                <a:blip r:embed="rId3"/>
                <a:stretch>
                  <a:fillRect l="-8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2B53F9A7-2434-5D4E-B654-257F5CF1B6B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23" y="166644"/>
            <a:ext cx="747301" cy="747301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05744A-76D5-7524-7EBA-574C4E54A06C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7DCB23C3-EDDF-52A4-E763-D95DAF9E5E29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494700F-AFB5-BC43-A7A6-9ADD69CD7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622" y="392231"/>
                <a:ext cx="8044128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each value using the graph of the function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494700F-AFB5-BC43-A7A6-9ADD69CD78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622" y="392231"/>
                <a:ext cx="8044128" cy="830997"/>
              </a:xfrm>
              <a:prstGeom prst="rect">
                <a:avLst/>
              </a:prstGeom>
              <a:blipFill>
                <a:blip r:embed="rId4"/>
                <a:stretch>
                  <a:fillRect l="-1262" t="-4478" r="-946" b="-149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861C30-DFCB-8345-A465-43BCC13E138C}"/>
                  </a:ext>
                </a:extLst>
              </p:cNvPr>
              <p:cNvSpPr txBox="1"/>
              <p:nvPr/>
            </p:nvSpPr>
            <p:spPr>
              <a:xfrm>
                <a:off x="5493886" y="1386591"/>
                <a:ext cx="4642573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x-none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−3.5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x-none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x-none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861C30-DFCB-8345-A465-43BCC13E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886" y="1386591"/>
                <a:ext cx="4642573" cy="3416320"/>
              </a:xfrm>
              <a:prstGeom prst="rect">
                <a:avLst/>
              </a:prstGeom>
              <a:blipFill>
                <a:blip r:embed="rId5"/>
                <a:stretch>
                  <a:fillRect t="-1604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0C97CCA9-3AF0-0A44-8977-F75C9369F35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400" y="1510396"/>
            <a:ext cx="3502286" cy="3502286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533282A-7FAC-D2C1-C560-2134CC36EFF0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99315E83-FC08-0301-0CE5-EC240EC7E089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91940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494700F-AFB5-BC43-A7A6-9ADD69CD7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4" y="427694"/>
                <a:ext cx="7784256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3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table of values representing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find each value.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494700F-AFB5-BC43-A7A6-9ADD69CD78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4" y="427694"/>
                <a:ext cx="7784256" cy="830997"/>
              </a:xfrm>
              <a:prstGeom prst="rect">
                <a:avLst/>
              </a:prstGeom>
              <a:blipFill>
                <a:blip r:embed="rId3"/>
                <a:stretch>
                  <a:fillRect l="-1175" t="-5882" b="-169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861C30-DFCB-8345-A465-43BCC13E138C}"/>
                  </a:ext>
                </a:extLst>
              </p:cNvPr>
              <p:cNvSpPr txBox="1"/>
              <p:nvPr/>
            </p:nvSpPr>
            <p:spPr>
              <a:xfrm>
                <a:off x="847493" y="1480698"/>
                <a:ext cx="9857677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x-none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s-E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x-none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s-E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 function? Explain why or why not.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861C30-DFCB-8345-A465-43BCC13E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1480698"/>
                <a:ext cx="9857677" cy="3416320"/>
              </a:xfrm>
              <a:prstGeom prst="rect">
                <a:avLst/>
              </a:prstGeom>
              <a:blipFill>
                <a:blip r:embed="rId4"/>
                <a:stretch>
                  <a:fillRect t="-1481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937A029-C6AF-7C49-BE16-E843D9C56D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4214661"/>
                  </p:ext>
                </p:extLst>
              </p:nvPr>
            </p:nvGraphicFramePr>
            <p:xfrm>
              <a:off x="6614167" y="1258691"/>
              <a:ext cx="2160000" cy="280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502901057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3096922428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𝑫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83265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8828579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68609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467776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890383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77016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937A029-C6AF-7C49-BE16-E843D9C56D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4214661"/>
                  </p:ext>
                </p:extLst>
              </p:nvPr>
            </p:nvGraphicFramePr>
            <p:xfrm>
              <a:off x="6614167" y="1258691"/>
              <a:ext cx="2160000" cy="280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502901057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3096922428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2597" r="-101124" b="-5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95" t="-2597" r="-1695" b="-5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83265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102597" r="-101124" b="-4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95" t="-102597" r="-1695" b="-4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8828579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202597" r="-101124" b="-3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95" t="-202597" r="-1695" b="-3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8609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302597" r="-101124" b="-2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95" t="-302597" r="-1695" b="-2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7776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402597" r="-101124" b="-1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95" t="-402597" r="-1695" b="-1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90383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502597" r="-101124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95" t="-502597" r="-1695" b="-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77016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F1CD8F0-E6D6-FA07-7A59-147B8C8B9A05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F8B32637-4B75-CC91-F490-F4D85ABAEDD8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2552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53821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8361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D6250E8-538B-B955-D514-7B9A33C52E16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BD8A54F1-E67B-444D-AC22-453A23A4CCB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05053" y="-83457"/>
            <a:ext cx="102472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1.2.7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44" y="166709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847494" y="1164175"/>
                <a:ext cx="5771698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the function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find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graph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4" y="1164175"/>
                <a:ext cx="5771698" cy="3046988"/>
              </a:xfrm>
              <a:prstGeom prst="rect">
                <a:avLst/>
              </a:prstGeom>
              <a:blipFill>
                <a:blip r:embed="rId4"/>
                <a:stretch>
                  <a:fillRect l="-1584" t="-1800" r="-1267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842AD675-758B-2E42-87B1-8608605EED5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9191" y="1196065"/>
            <a:ext cx="4571370" cy="4571370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F1CDF6E-8B29-09E1-7359-BD27BF9055DC}"/>
              </a:ext>
            </a:extLst>
          </p:cNvPr>
          <p:cNvSpPr txBox="1"/>
          <p:nvPr/>
        </p:nvSpPr>
        <p:spPr>
          <a:xfrm>
            <a:off x="8913040" y="6329262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DF8168AE-C412-EB25-92B6-C2EEC8B3900F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3181</TotalTime>
  <Words>1497</Words>
  <Application>Microsoft Macintosh PowerPoint</Application>
  <PresentationFormat>Widescreen</PresentationFormat>
  <Paragraphs>282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Calibri</vt:lpstr>
      <vt:lpstr>Arial Black</vt:lpstr>
      <vt:lpstr>Cambria Math</vt:lpstr>
      <vt:lpstr>Arial</vt:lpstr>
      <vt:lpstr>Wingdings</vt:lpstr>
      <vt:lpstr>Verdana</vt:lpstr>
      <vt:lpstr>Century Gothic</vt:lpstr>
      <vt:lpstr>Times New Roman</vt:lpstr>
      <vt:lpstr>1_Office Theme</vt:lpstr>
      <vt:lpstr>Algebra 1  Unit 1, Lesson 2  Evaluating Functions in Function Notation  Volume 1, pg. 10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Mary Ellen Freeman</cp:lastModifiedBy>
  <cp:revision>33</cp:revision>
  <dcterms:created xsi:type="dcterms:W3CDTF">2015-03-17T18:51:18Z</dcterms:created>
  <dcterms:modified xsi:type="dcterms:W3CDTF">2022-08-15T14:47:52Z</dcterms:modified>
</cp:coreProperties>
</file>