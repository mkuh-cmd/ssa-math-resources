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345" r:id="rId4"/>
    <p:sldId id="286" r:id="rId5"/>
    <p:sldId id="261" r:id="rId6"/>
    <p:sldId id="287" r:id="rId7"/>
    <p:sldId id="288" r:id="rId8"/>
    <p:sldId id="314" r:id="rId9"/>
    <p:sldId id="315" r:id="rId10"/>
    <p:sldId id="316" r:id="rId11"/>
    <p:sldId id="361" r:id="rId12"/>
    <p:sldId id="362" r:id="rId13"/>
    <p:sldId id="363" r:id="rId14"/>
    <p:sldId id="364" r:id="rId15"/>
    <p:sldId id="365" r:id="rId16"/>
    <p:sldId id="366" r:id="rId17"/>
    <p:sldId id="367" r:id="rId18"/>
    <p:sldId id="368" r:id="rId19"/>
    <p:sldId id="369" r:id="rId20"/>
    <p:sldId id="370" r:id="rId21"/>
    <p:sldId id="371" r:id="rId22"/>
    <p:sldId id="372" r:id="rId23"/>
    <p:sldId id="373" r:id="rId24"/>
    <p:sldId id="374" r:id="rId25"/>
    <p:sldId id="375" r:id="rId26"/>
    <p:sldId id="346" r:id="rId27"/>
    <p:sldId id="347" r:id="rId28"/>
    <p:sldId id="348" r:id="rId29"/>
    <p:sldId id="349" r:id="rId30"/>
    <p:sldId id="376" r:id="rId31"/>
    <p:sldId id="354" r:id="rId32"/>
    <p:sldId id="355" r:id="rId33"/>
    <p:sldId id="356" r:id="rId34"/>
    <p:sldId id="306" r:id="rId35"/>
    <p:sldId id="307" r:id="rId36"/>
    <p:sldId id="360" r:id="rId37"/>
  </p:sldIdLst>
  <p:sldSz cx="12192000" cy="6858000"/>
  <p:notesSz cx="6858000" cy="9144000"/>
  <p:embeddedFontLst>
    <p:embeddedFont>
      <p:font typeface="Arial Black" panose="020B0A04020102020204" pitchFamily="34" charset="0"/>
      <p:bold r:id="rId39"/>
    </p:embeddedFont>
    <p:embeddedFont>
      <p:font typeface="Calibri" panose="020F0502020204030204" pitchFamily="34" charset="0"/>
      <p:regular r:id="rId40"/>
      <p:bold r:id="rId41"/>
      <p:italic r:id="rId42"/>
      <p:boldItalic r:id="rId43"/>
    </p:embeddedFont>
    <p:embeddedFont>
      <p:font typeface="Cambria Math" panose="02040503050406030204" pitchFamily="18" charset="0"/>
      <p:regular r:id="rId44"/>
    </p:embeddedFont>
    <p:embeddedFont>
      <p:font typeface="Century Gothic" panose="020B0502020202020204" pitchFamily="34" charset="0"/>
      <p:regular r:id="rId45"/>
      <p:bold r:id="rId46"/>
      <p:italic r:id="rId47"/>
      <p:boldItalic r:id="rId48"/>
    </p:embeddedFont>
    <p:embeddedFont>
      <p:font typeface="Verdana" panose="020B0604030504040204" pitchFamily="34" charset="0"/>
      <p:regular r:id="rId49"/>
      <p:bold r:id="rId50"/>
      <p:italic r:id="rId51"/>
      <p:boldItalic r:id="rId5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4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6763"/>
    <a:srgbClr val="E24E5F"/>
    <a:srgbClr val="1765AD"/>
    <a:srgbClr val="1664AC"/>
    <a:srgbClr val="BFBFBF"/>
    <a:srgbClr val="C9DF6F"/>
    <a:srgbClr val="417DBF"/>
    <a:srgbClr val="3F2A67"/>
    <a:srgbClr val="26B7D4"/>
    <a:srgbClr val="54B5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20"/>
    <p:restoredTop sz="94659"/>
  </p:normalViewPr>
  <p:slideViewPr>
    <p:cSldViewPr snapToGrid="0">
      <p:cViewPr varScale="1">
        <p:scale>
          <a:sx n="81" d="100"/>
          <a:sy n="81" d="100"/>
        </p:scale>
        <p:origin x="774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4.fntdata"/><Relationship Id="rId47" Type="http://schemas.openxmlformats.org/officeDocument/2006/relationships/font" Target="fonts/font9.fntdata"/><Relationship Id="rId50" Type="http://schemas.openxmlformats.org/officeDocument/2006/relationships/font" Target="fonts/font12.fntdata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46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3.fntdata"/><Relationship Id="rId54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2.fntdata"/><Relationship Id="rId45" Type="http://schemas.openxmlformats.org/officeDocument/2006/relationships/font" Target="fonts/font7.fntdata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1.fntdata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6.fntdata"/><Relationship Id="rId52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5.fntdata"/><Relationship Id="rId48" Type="http://schemas.openxmlformats.org/officeDocument/2006/relationships/font" Target="fonts/font10.fntdata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font" Target="fonts/font13.fntdata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7615386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Video Link: https://</a:t>
            </a:r>
            <a:r>
              <a:rPr lang="en-US" dirty="0" err="1"/>
              <a:t>algebranation.wistia.com</a:t>
            </a:r>
            <a:r>
              <a:rPr lang="en-US" dirty="0"/>
              <a:t>/medias/fi4fidi5y8</a:t>
            </a: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34147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34147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34147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34147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34147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34147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34147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34147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34147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34147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341473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341473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341473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341473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341473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341473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38804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724327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9851234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3013641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3013641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190763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5634030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9403054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112540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9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0.png"/><Relationship Id="rId5" Type="http://schemas.openxmlformats.org/officeDocument/2006/relationships/image" Target="../media/image390.png"/></Relationships>
</file>

<file path=ppt/slides/_rels/slide28.xml.rels><?xml version="1.0" encoding="UTF-8" standalone="yes"?>
<Relationships xmlns="http://schemas.openxmlformats.org/package/2006/relationships"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4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5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59071" y="2340939"/>
            <a:ext cx="5077650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Algebra 1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1, Lesson 1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Classifying Parent Functions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4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3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2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lang="en-US" sz="28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-8100"/>
            <a:ext cx="4094106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4530" y="1522577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1749" y="-8225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22301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801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7371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3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778951" y="1462225"/>
            <a:ext cx="10104576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MA.912.F.1.1</a:t>
            </a:r>
          </a:p>
          <a:p>
            <a:pPr marL="552450" lvl="1"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Given an equation or graph that defines a function, classify the function type. Given an input-output table, determine a function type that could represent it.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78;g104476d1465_1_17">
            <a:extLst>
              <a:ext uri="{FF2B5EF4-FFF2-40B4-BE49-F238E27FC236}">
                <a16:creationId xmlns:a16="http://schemas.microsoft.com/office/drawing/2014/main" id="{78632872-3F42-3447-924A-20A16C6976F7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Google Shape;281;g104476d1465_1_17">
            <a:extLst>
              <a:ext uri="{FF2B5EF4-FFF2-40B4-BE49-F238E27FC236}">
                <a16:creationId xmlns:a16="http://schemas.microsoft.com/office/drawing/2014/main" id="{D915A027-4791-D04E-90A8-9E6239ED88EB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34250" y="23440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Google Shape;295;g103996e1364_0_10">
            <a:extLst>
              <a:ext uri="{FF2B5EF4-FFF2-40B4-BE49-F238E27FC236}">
                <a16:creationId xmlns:a16="http://schemas.microsoft.com/office/drawing/2014/main" id="{73A67FE7-C13F-C24F-85E9-A4B96A1F42A8}"/>
              </a:ext>
            </a:extLst>
          </p:cNvPr>
          <p:cNvSpPr txBox="1">
            <a:spLocks/>
          </p:cNvSpPr>
          <p:nvPr/>
        </p:nvSpPr>
        <p:spPr>
          <a:xfrm>
            <a:off x="1258900" y="-8225"/>
            <a:ext cx="9777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7" name="Google Shape;296;g103996e1364_0_10">
            <a:extLst>
              <a:ext uri="{FF2B5EF4-FFF2-40B4-BE49-F238E27FC236}">
                <a16:creationId xmlns:a16="http://schemas.microsoft.com/office/drawing/2014/main" id="{5BB4D65A-27E8-4F4F-9348-5380FE318E8D}"/>
              </a:ext>
            </a:extLst>
          </p:cNvPr>
          <p:cNvSpPr txBox="1">
            <a:spLocks/>
          </p:cNvSpPr>
          <p:nvPr/>
        </p:nvSpPr>
        <p:spPr>
          <a:xfrm>
            <a:off x="807900" y="1418433"/>
            <a:ext cx="10228400" cy="4745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>
              <a:buSzPts val="523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 Demonstrate understanding by representing problems in multiple ways.</a:t>
            </a:r>
          </a:p>
          <a:p>
            <a:pPr>
              <a:buSzPts val="523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D846D1BA-56E0-F8F0-EA3B-36679545E85A}"/>
              </a:ext>
            </a:extLst>
          </p:cNvPr>
          <p:cNvSpPr txBox="1"/>
          <p:nvPr/>
        </p:nvSpPr>
        <p:spPr>
          <a:xfrm>
            <a:off x="87371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>
            <a:extLst>
              <a:ext uri="{FF2B5EF4-FFF2-40B4-BE49-F238E27FC236}">
                <a16:creationId xmlns:a16="http://schemas.microsoft.com/office/drawing/2014/main" id="{545CDE3A-DE00-ED1F-4DFB-0E3B2F9B2D70}"/>
              </a:ext>
            </a:extLst>
          </p:cNvPr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3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42996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11875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272475" y="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313" y="2892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863962" y="1460500"/>
            <a:ext cx="10286637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63550" indent="-463550">
              <a:buFont typeface="Wingdings" pitchFamily="2" charset="2"/>
              <a:buChar char="q"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classify families of functions from a graph or equation. </a:t>
            </a: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5049F61E-A934-0A71-198C-CC1A04F5E92C}"/>
              </a:ext>
            </a:extLst>
          </p:cNvPr>
          <p:cNvSpPr txBox="1"/>
          <p:nvPr/>
        </p:nvSpPr>
        <p:spPr>
          <a:xfrm>
            <a:off x="87371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>
            <a:extLst>
              <a:ext uri="{FF2B5EF4-FFF2-40B4-BE49-F238E27FC236}">
                <a16:creationId xmlns:a16="http://schemas.microsoft.com/office/drawing/2014/main" id="{3E30EECD-E9D4-F8CC-8F1E-9037F8510BE0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3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5"/>
            <a:ext cx="2731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72338" y="2879330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481138" y="2766150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8B2BAE06-8CB1-E1BB-6C49-CB8AA2C1A05A}"/>
              </a:ext>
            </a:extLst>
          </p:cNvPr>
          <p:cNvSpPr txBox="1"/>
          <p:nvPr/>
        </p:nvSpPr>
        <p:spPr>
          <a:xfrm>
            <a:off x="87371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id="{F37DF087-5015-013C-0673-1AAF328AC8AD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3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11690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49" y="0"/>
            <a:ext cx="9462949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1.1.1 Warm-Up: Would You Rather?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5350" y="19402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549148" y="1325700"/>
            <a:ext cx="1048715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chart by moving around the room and asking nine different people “Would you rather ...?” Introduce yourself to each person. Ask each person a different question from your chart. Record their name and their answer. </a:t>
            </a:r>
          </a:p>
          <a:p>
            <a:pPr algn="ctr"/>
            <a:endParaRPr lang="en-US" sz="24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F32FA606-312E-FE45-9E7F-5EB4EB5783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1963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0" name="Rectangle 15">
            <a:extLst>
              <a:ext uri="{FF2B5EF4-FFF2-40B4-BE49-F238E27FC236}">
                <a16:creationId xmlns:a16="http://schemas.microsoft.com/office/drawing/2014/main" id="{3F80061E-0FC7-534E-8F32-815F86902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4557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1" name="Rectangle 16">
            <a:extLst>
              <a:ext uri="{FF2B5EF4-FFF2-40B4-BE49-F238E27FC236}">
                <a16:creationId xmlns:a16="http://schemas.microsoft.com/office/drawing/2014/main" id="{F0663C2D-D71E-9747-B131-91E050FC8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38085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Rectangle 18">
            <a:extLst>
              <a:ext uri="{FF2B5EF4-FFF2-40B4-BE49-F238E27FC236}">
                <a16:creationId xmlns:a16="http://schemas.microsoft.com/office/drawing/2014/main" id="{1EDB4A78-8756-D641-B2CF-25FE103BD0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38085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360DDF7-EFAB-CE4B-A796-880623B4A8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8766946"/>
              </p:ext>
            </p:extLst>
          </p:nvPr>
        </p:nvGraphicFramePr>
        <p:xfrm>
          <a:off x="2502408" y="3264692"/>
          <a:ext cx="7187184" cy="3089910"/>
        </p:xfrm>
        <a:graphic>
          <a:graphicData uri="http://schemas.openxmlformats.org/drawingml/2006/table">
            <a:tbl>
              <a:tblPr bandRow="1">
                <a:tableStyleId>{A91F0D33-8C57-4600-99A7-42BC86742BE1}</a:tableStyleId>
              </a:tblPr>
              <a:tblGrid>
                <a:gridCol w="2395728">
                  <a:extLst>
                    <a:ext uri="{9D8B030D-6E8A-4147-A177-3AD203B41FA5}">
                      <a16:colId xmlns:a16="http://schemas.microsoft.com/office/drawing/2014/main" val="1627526099"/>
                    </a:ext>
                  </a:extLst>
                </a:gridCol>
                <a:gridCol w="2395728">
                  <a:extLst>
                    <a:ext uri="{9D8B030D-6E8A-4147-A177-3AD203B41FA5}">
                      <a16:colId xmlns:a16="http://schemas.microsoft.com/office/drawing/2014/main" val="436316760"/>
                    </a:ext>
                  </a:extLst>
                </a:gridCol>
                <a:gridCol w="2395728">
                  <a:extLst>
                    <a:ext uri="{9D8B030D-6E8A-4147-A177-3AD203B41FA5}">
                      <a16:colId xmlns:a16="http://schemas.microsoft.com/office/drawing/2014/main" val="1269741277"/>
                    </a:ext>
                  </a:extLst>
                </a:gridCol>
              </a:tblGrid>
              <a:tr h="457200"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 b="1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Would you rather ...</a:t>
                      </a:r>
                      <a:endParaRPr lang="x-none" sz="2400" b="1" i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x-none" sz="2000" i="1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x-none" sz="2000" i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271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fly a kite or swing on a swing?</a:t>
                      </a:r>
                      <a:endParaRPr lang="x-none" sz="24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2400" i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be a famous inventor or a famous writer?</a:t>
                      </a:r>
                      <a:endParaRPr lang="x-none" sz="24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2400" i="1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go skiing or go to a water park?</a:t>
                      </a:r>
                      <a:endParaRPr lang="x-none" sz="24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2400" i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1760403"/>
                  </a:ext>
                </a:extLst>
              </a:tr>
            </a:tbl>
          </a:graphicData>
        </a:graphic>
      </p:graphicFrame>
      <p:sp>
        <p:nvSpPr>
          <p:cNvPr id="14" name="Google Shape;282;g104476d1465_1_17">
            <a:extLst>
              <a:ext uri="{FF2B5EF4-FFF2-40B4-BE49-F238E27FC236}">
                <a16:creationId xmlns:a16="http://schemas.microsoft.com/office/drawing/2014/main" id="{3A647C81-6CF3-E702-689B-FAC3325A18DF}"/>
              </a:ext>
            </a:extLst>
          </p:cNvPr>
          <p:cNvSpPr txBox="1"/>
          <p:nvPr/>
        </p:nvSpPr>
        <p:spPr>
          <a:xfrm>
            <a:off x="87371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" name="Google Shape;283;g104476d1465_1_17">
            <a:extLst>
              <a:ext uri="{FF2B5EF4-FFF2-40B4-BE49-F238E27FC236}">
                <a16:creationId xmlns:a16="http://schemas.microsoft.com/office/drawing/2014/main" id="{3B615D76-7077-07B8-8311-10073C02C3E0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3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11875"/>
            <a:ext cx="2299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360DDF7-EFAB-CE4B-A796-880623B4A8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7861"/>
              </p:ext>
            </p:extLst>
          </p:nvPr>
        </p:nvGraphicFramePr>
        <p:xfrm>
          <a:off x="2623184" y="458537"/>
          <a:ext cx="7197090" cy="5977636"/>
        </p:xfrm>
        <a:graphic>
          <a:graphicData uri="http://schemas.openxmlformats.org/drawingml/2006/table">
            <a:tbl>
              <a:tblPr bandRow="1">
                <a:tableStyleId>{A91F0D33-8C57-4600-99A7-42BC86742BE1}</a:tableStyleId>
              </a:tblPr>
              <a:tblGrid>
                <a:gridCol w="2399030">
                  <a:extLst>
                    <a:ext uri="{9D8B030D-6E8A-4147-A177-3AD203B41FA5}">
                      <a16:colId xmlns:a16="http://schemas.microsoft.com/office/drawing/2014/main" val="1627526099"/>
                    </a:ext>
                  </a:extLst>
                </a:gridCol>
                <a:gridCol w="2399030">
                  <a:extLst>
                    <a:ext uri="{9D8B030D-6E8A-4147-A177-3AD203B41FA5}">
                      <a16:colId xmlns:a16="http://schemas.microsoft.com/office/drawing/2014/main" val="436316760"/>
                    </a:ext>
                  </a:extLst>
                </a:gridCol>
                <a:gridCol w="2399030">
                  <a:extLst>
                    <a:ext uri="{9D8B030D-6E8A-4147-A177-3AD203B41FA5}">
                      <a16:colId xmlns:a16="http://schemas.microsoft.com/office/drawing/2014/main" val="1269741277"/>
                    </a:ext>
                  </a:extLst>
                </a:gridCol>
              </a:tblGrid>
              <a:tr h="457200"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 b="1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Would you rather ...</a:t>
                      </a:r>
                      <a:endParaRPr lang="x-none" sz="2400" b="1" i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x-none" sz="2000" i="1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x-none" sz="2000" i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271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  <a:sym typeface="Arial"/>
                        </a:rPr>
                        <a:t>be able to create a new holiday or create a new sport?</a:t>
                      </a:r>
                      <a:endParaRPr kumimoji="0" lang="x-none" sz="2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  <a:sym typeface="Arial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start a colony on another planet or be the leader of a small country on Earth? </a:t>
                      </a:r>
                      <a:endParaRPr lang="x-none" sz="2400" i="1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own an old pirate ship with crew or a private jet with a pilot? </a:t>
                      </a:r>
                      <a:endParaRPr lang="x-none" sz="2400" i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1760403"/>
                  </a:ext>
                </a:extLst>
              </a:tr>
              <a:tr h="263271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see a firework display or a circus performance?</a:t>
                      </a:r>
                      <a:endParaRPr lang="x-none" sz="20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be able to talk to land animals or talk to sea animals?</a:t>
                      </a:r>
                      <a:endParaRPr lang="x-none" sz="2000" i="1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time-travel to the past or the future?</a:t>
                      </a:r>
                      <a:endParaRPr lang="x-none" sz="2000" i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9144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D5587343-C37F-89B8-04C9-7EB128EA3A2A}"/>
              </a:ext>
            </a:extLst>
          </p:cNvPr>
          <p:cNvSpPr txBox="1"/>
          <p:nvPr/>
        </p:nvSpPr>
        <p:spPr>
          <a:xfrm>
            <a:off x="87371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id="{67EE62BD-D1CE-1984-AC22-CC6DF9ECF9F5}"/>
              </a:ext>
            </a:extLst>
          </p:cNvPr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3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9201"/>
            <a:ext cx="2731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3622155" y="2766150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Activity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" name="image12.png" descr="Icon&#10;&#10;Description automatically generated">
            <a:extLst>
              <a:ext uri="{FF2B5EF4-FFF2-40B4-BE49-F238E27FC236}">
                <a16:creationId xmlns:a16="http://schemas.microsoft.com/office/drawing/2014/main" id="{51555AC7-F08C-3A41-8AE5-C505B63C9DA6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3085031" y="2866184"/>
            <a:ext cx="1152145" cy="1152145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A358867B-A426-684D-DD07-20055A429AD7}"/>
              </a:ext>
            </a:extLst>
          </p:cNvPr>
          <p:cNvSpPr txBox="1"/>
          <p:nvPr/>
        </p:nvSpPr>
        <p:spPr>
          <a:xfrm>
            <a:off x="87371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>
            <a:extLst>
              <a:ext uri="{FF2B5EF4-FFF2-40B4-BE49-F238E27FC236}">
                <a16:creationId xmlns:a16="http://schemas.microsoft.com/office/drawing/2014/main" id="{D569AABE-588E-4388-C165-0C4C698B08AF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3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60325"/>
            <a:ext cx="100090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1.1.2 Activity: Parent Functions Gallery Walk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4DF7DE-9172-3E4E-B74A-7A51585FB6EA}"/>
              </a:ext>
            </a:extLst>
          </p:cNvPr>
          <p:cNvSpPr txBox="1"/>
          <p:nvPr/>
        </p:nvSpPr>
        <p:spPr>
          <a:xfrm>
            <a:off x="898732" y="1646261"/>
            <a:ext cx="1075096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study of functions is an area of focus in algebra. Functions are classified into families. The </a:t>
            </a:r>
            <a:r>
              <a:rPr lang="en-US" sz="2400" b="1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parent function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is the simplest function of each family that preserves the characteristics of the family.</a:t>
            </a:r>
          </a:p>
          <a:p>
            <a:pPr lvl="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lvl="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Here are eight parent functions that will be introduced in Algebra 1. After you examine each parent function, answer the questions that follow. </a:t>
            </a:r>
          </a:p>
        </p:txBody>
      </p:sp>
      <p:pic>
        <p:nvPicPr>
          <p:cNvPr id="11" name="image12.png" descr="Icon&#10;&#10;Description automatically generated">
            <a:extLst>
              <a:ext uri="{FF2B5EF4-FFF2-40B4-BE49-F238E27FC236}">
                <a16:creationId xmlns:a16="http://schemas.microsoft.com/office/drawing/2014/main" id="{F65C75A6-6EF1-1D47-9FA4-4B40F0766CA6}"/>
              </a:ext>
            </a:extLst>
          </p:cNvPr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02843" y="320561"/>
            <a:ext cx="749809" cy="749809"/>
          </a:xfrm>
          <a:prstGeom prst="rect">
            <a:avLst/>
          </a:prstGeom>
          <a:ln/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A423B3CC-5314-CAA1-AE73-46025234ACB4}"/>
              </a:ext>
            </a:extLst>
          </p:cNvPr>
          <p:cNvSpPr txBox="1"/>
          <p:nvPr/>
        </p:nvSpPr>
        <p:spPr>
          <a:xfrm>
            <a:off x="87371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>
            <a:extLst>
              <a:ext uri="{FF2B5EF4-FFF2-40B4-BE49-F238E27FC236}">
                <a16:creationId xmlns:a16="http://schemas.microsoft.com/office/drawing/2014/main" id="{B26D3C2D-D785-C928-FC5D-884FDE1D86A5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3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2725" y="-11875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78609850"/>
                  </p:ext>
                </p:extLst>
              </p:nvPr>
            </p:nvGraphicFramePr>
            <p:xfrm>
              <a:off x="2362200" y="458537"/>
              <a:ext cx="7863840" cy="475488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18288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2024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1148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Linear Function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Parent </a:t>
                          </a:r>
                          <a:b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</a:br>
                          <a: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Function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Table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Graph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576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𝑦</m:t>
                                </m:r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=</m:t>
                                </m:r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78609850"/>
                  </p:ext>
                </p:extLst>
              </p:nvPr>
            </p:nvGraphicFramePr>
            <p:xfrm>
              <a:off x="2362200" y="458537"/>
              <a:ext cx="7863840" cy="475488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18288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2024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1148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96240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Linear Function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Parent </a:t>
                          </a:r>
                          <a:b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</a:br>
                          <a: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Function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Table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Graph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57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94" t="-31250" r="-331250" b="-3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4592907"/>
                  </p:ext>
                </p:extLst>
              </p:nvPr>
            </p:nvGraphicFramePr>
            <p:xfrm>
              <a:off x="4524375" y="1796050"/>
              <a:ext cx="1371600" cy="320040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6858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1" i="1" smtClean="0">
                                    <a:latin typeface="Cambria Math"/>
                                    <a:ea typeface="Verdana" pitchFamily="34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1" i="1" smtClean="0">
                                    <a:latin typeface="Cambria Math"/>
                                    <a:ea typeface="Verdana" pitchFamily="34" charset="0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4592907"/>
                  </p:ext>
                </p:extLst>
              </p:nvPr>
            </p:nvGraphicFramePr>
            <p:xfrm>
              <a:off x="4524375" y="1796050"/>
              <a:ext cx="1371600" cy="320040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6858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18" t="-2778" r="-100000" b="-60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3704" t="-2778" r="-1852" b="-6055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18" t="-102778" r="-100000" b="-50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3704" t="-102778" r="-1852" b="-5055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18" t="-202778" r="-100000" b="-40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3704" t="-202778" r="-1852" b="-4055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18" t="-294595" r="-100000" b="-2945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3704" t="-294595" r="-1852" b="-2945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18" t="-405556" r="-100000" b="-202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3704" t="-405556" r="-1852" b="-202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18" t="-505556" r="-100000" b="-102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3704" t="-505556" r="-1852" b="-102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18" t="-605556" r="-100000" b="-2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3704" t="-605556" r="-1852" b="-2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9" name="Picture 8" descr="Chart, line chart&#10;&#10;Description automatically generated"/>
          <p:cNvPicPr/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9900" y="1758314"/>
            <a:ext cx="3213735" cy="3213735"/>
          </a:xfrm>
          <a:prstGeom prst="rect">
            <a:avLst/>
          </a:prstGeom>
        </p:spPr>
      </p:pic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2754209F-190F-BCCF-B57E-73803BD7AAF8}"/>
              </a:ext>
            </a:extLst>
          </p:cNvPr>
          <p:cNvSpPr txBox="1"/>
          <p:nvPr/>
        </p:nvSpPr>
        <p:spPr>
          <a:xfrm>
            <a:off x="87371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>
            <a:extLst>
              <a:ext uri="{FF2B5EF4-FFF2-40B4-BE49-F238E27FC236}">
                <a16:creationId xmlns:a16="http://schemas.microsoft.com/office/drawing/2014/main" id="{9628C192-7DA6-BF27-F46B-41FA13F69DB9}"/>
              </a:ext>
            </a:extLst>
          </p:cNvPr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3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518468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0844830"/>
              </p:ext>
            </p:extLst>
          </p:nvPr>
        </p:nvGraphicFramePr>
        <p:xfrm>
          <a:off x="1971304" y="1093537"/>
          <a:ext cx="8343636" cy="3657600"/>
        </p:xfrm>
        <a:graphic>
          <a:graphicData uri="http://schemas.openxmlformats.org/drawingml/2006/table">
            <a:tbl>
              <a:tblPr firstRow="1" bandRow="1">
                <a:tableStyleId>{A91F0D33-8C57-4600-99A7-42BC86742BE1}</a:tableStyleId>
              </a:tblPr>
              <a:tblGrid>
                <a:gridCol w="33963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472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28800">
                <a:tc>
                  <a:txBody>
                    <a:bodyPr/>
                    <a:lstStyle/>
                    <a:p>
                      <a:pPr algn="l"/>
                      <a:r>
                        <a:rPr lang="en-US" sz="2400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What do you notice about the </a:t>
                      </a:r>
                      <a:r>
                        <a:rPr lang="en-US" sz="2400" b="1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graph</a:t>
                      </a:r>
                      <a:r>
                        <a:rPr lang="en-US" sz="2400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?</a:t>
                      </a:r>
                      <a:endParaRPr lang="en-US" sz="24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algn="l"/>
                      <a:r>
                        <a:rPr lang="en-US" sz="2400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What do you notice about the </a:t>
                      </a:r>
                      <a:r>
                        <a:rPr lang="en-US" sz="2400" b="1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equation</a:t>
                      </a:r>
                      <a:r>
                        <a:rPr lang="en-US" sz="2400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?</a:t>
                      </a:r>
                      <a:endParaRPr lang="en-US" sz="24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Google Shape;282;g104476d1465_1_17">
            <a:extLst>
              <a:ext uri="{FF2B5EF4-FFF2-40B4-BE49-F238E27FC236}">
                <a16:creationId xmlns:a16="http://schemas.microsoft.com/office/drawing/2014/main" id="{BD546FF3-E397-A266-5678-A04D7881FF4D}"/>
              </a:ext>
            </a:extLst>
          </p:cNvPr>
          <p:cNvSpPr txBox="1"/>
          <p:nvPr/>
        </p:nvSpPr>
        <p:spPr>
          <a:xfrm>
            <a:off x="87371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>
            <a:extLst>
              <a:ext uri="{FF2B5EF4-FFF2-40B4-BE49-F238E27FC236}">
                <a16:creationId xmlns:a16="http://schemas.microsoft.com/office/drawing/2014/main" id="{1B08CCD8-CCF3-B524-0DD0-88403AEBA75C}"/>
              </a:ext>
            </a:extLst>
          </p:cNvPr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3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781809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11875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20315558"/>
                  </p:ext>
                </p:extLst>
              </p:nvPr>
            </p:nvGraphicFramePr>
            <p:xfrm>
              <a:off x="2362200" y="458537"/>
              <a:ext cx="7863840" cy="475488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18288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2024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1148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Quadratic Function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Parent </a:t>
                          </a:r>
                          <a:b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</a:br>
                          <a: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Function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Table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Graph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576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𝑦</m:t>
                                </m:r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PH" sz="2000" b="0" i="1" smtClean="0">
                                        <a:latin typeface="Cambria Math" panose="02040503050406030204" pitchFamily="18" charset="0"/>
                                        <a:ea typeface="Verdana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PH" sz="2000" b="0" i="1" smtClean="0">
                                        <a:latin typeface="Cambria Math"/>
                                        <a:ea typeface="Verdana" pitchFamily="34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PH" sz="2000" b="0" i="1" smtClean="0">
                                        <a:latin typeface="Cambria Math"/>
                                        <a:ea typeface="Verdana" pitchFamily="34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20315558"/>
                  </p:ext>
                </p:extLst>
              </p:nvPr>
            </p:nvGraphicFramePr>
            <p:xfrm>
              <a:off x="2362200" y="458537"/>
              <a:ext cx="7863840" cy="475488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18288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2024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1148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96240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Quadratic Function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Parent </a:t>
                          </a:r>
                          <a:b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</a:br>
                          <a: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Function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Table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Graph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57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94" t="-31250" r="-331250" b="-3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9364849"/>
                  </p:ext>
                </p:extLst>
              </p:nvPr>
            </p:nvGraphicFramePr>
            <p:xfrm>
              <a:off x="4524375" y="1796050"/>
              <a:ext cx="1371600" cy="320040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6858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1" i="1" smtClean="0">
                                    <a:latin typeface="Cambria Math"/>
                                    <a:ea typeface="Verdana" pitchFamily="34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1" i="1" smtClean="0">
                                    <a:latin typeface="Cambria Math"/>
                                    <a:ea typeface="Verdana" pitchFamily="34" charset="0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9364849"/>
                  </p:ext>
                </p:extLst>
              </p:nvPr>
            </p:nvGraphicFramePr>
            <p:xfrm>
              <a:off x="4524375" y="1796050"/>
              <a:ext cx="1371600" cy="320040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6858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18" t="-2778" r="-100000" b="-60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3704" t="-2778" r="-1852" b="-6055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18" t="-102778" r="-100000" b="-50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3704" t="-102778" r="-1852" b="-5055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18" t="-202778" r="-100000" b="-40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3704" t="-202778" r="-1852" b="-4055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18" t="-294595" r="-100000" b="-2945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3704" t="-294595" r="-1852" b="-2945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18" t="-405556" r="-100000" b="-202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3704" t="-405556" r="-1852" b="-202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18" t="-505556" r="-100000" b="-102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3704" t="-505556" r="-1852" b="-102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18" t="-605556" r="-100000" b="-2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3704" t="-605556" r="-1852" b="-2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1" name="Picture 10" descr="Chart, line chart&#10;&#10;Description automatically generated"/>
          <p:cNvPicPr/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43225" y="1720213"/>
            <a:ext cx="3338851" cy="3338851"/>
          </a:xfrm>
          <a:prstGeom prst="rect">
            <a:avLst/>
          </a:prstGeom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E3AC071F-1652-62C4-87E5-790162FAA541}"/>
              </a:ext>
            </a:extLst>
          </p:cNvPr>
          <p:cNvSpPr txBox="1"/>
          <p:nvPr/>
        </p:nvSpPr>
        <p:spPr>
          <a:xfrm>
            <a:off x="87371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>
            <a:extLst>
              <a:ext uri="{FF2B5EF4-FFF2-40B4-BE49-F238E27FC236}">
                <a16:creationId xmlns:a16="http://schemas.microsoft.com/office/drawing/2014/main" id="{3A3174BE-B2D8-3079-C457-4AF7121FD213}"/>
              </a:ext>
            </a:extLst>
          </p:cNvPr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3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619294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E0814DF0-CB0F-CE4A-A504-DEE56AFFF9B6}"/>
              </a:ext>
            </a:extLst>
          </p:cNvPr>
          <p:cNvSpPr txBox="1"/>
          <p:nvPr/>
        </p:nvSpPr>
        <p:spPr>
          <a:xfrm>
            <a:off x="873715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8533847"/>
              </p:ext>
            </p:extLst>
          </p:nvPr>
        </p:nvGraphicFramePr>
        <p:xfrm>
          <a:off x="1888177" y="890337"/>
          <a:ext cx="8446724" cy="3657600"/>
        </p:xfrm>
        <a:graphic>
          <a:graphicData uri="http://schemas.openxmlformats.org/drawingml/2006/table">
            <a:tbl>
              <a:tblPr firstRow="1" bandRow="1">
                <a:tableStyleId>{A91F0D33-8C57-4600-99A7-42BC86742BE1}</a:tableStyleId>
              </a:tblPr>
              <a:tblGrid>
                <a:gridCol w="33844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622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28800">
                <a:tc>
                  <a:txBody>
                    <a:bodyPr/>
                    <a:lstStyle/>
                    <a:p>
                      <a:pPr algn="l"/>
                      <a:r>
                        <a:rPr lang="en-US" sz="2400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What do you notice about the </a:t>
                      </a:r>
                      <a:r>
                        <a:rPr lang="en-US" sz="2400" b="1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graph</a:t>
                      </a:r>
                      <a:r>
                        <a:rPr lang="en-US" sz="2400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?</a:t>
                      </a:r>
                      <a:endParaRPr lang="en-US" sz="24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algn="l"/>
                      <a:r>
                        <a:rPr lang="en-US" sz="2400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What do you notice about the </a:t>
                      </a:r>
                      <a:r>
                        <a:rPr lang="en-US" sz="2400" b="1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equation</a:t>
                      </a:r>
                      <a:r>
                        <a:rPr lang="en-US" sz="2400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?</a:t>
                      </a:r>
                      <a:endParaRPr lang="en-US" sz="24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6" name="Google Shape;283;g104476d1465_1_17">
            <a:extLst>
              <a:ext uri="{FF2B5EF4-FFF2-40B4-BE49-F238E27FC236}">
                <a16:creationId xmlns:a16="http://schemas.microsoft.com/office/drawing/2014/main" id="{8681107C-1601-A32E-2024-4DCA40101AC8}"/>
              </a:ext>
            </a:extLst>
          </p:cNvPr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3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930801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11875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279610"/>
                  </p:ext>
                </p:extLst>
              </p:nvPr>
            </p:nvGraphicFramePr>
            <p:xfrm>
              <a:off x="2328974" y="471237"/>
              <a:ext cx="7863840" cy="475488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18288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2024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1148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Cubic Function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Parent </a:t>
                          </a:r>
                          <a:b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</a:br>
                          <a: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Function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Table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Graph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576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𝑦</m:t>
                                </m:r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PH" sz="2000" b="0" i="1" smtClean="0">
                                        <a:latin typeface="Cambria Math" panose="02040503050406030204" pitchFamily="18" charset="0"/>
                                        <a:ea typeface="Verdana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PH" sz="2000" b="0" i="1" smtClean="0">
                                        <a:latin typeface="Cambria Math"/>
                                        <a:ea typeface="Verdana" pitchFamily="34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PH" sz="2000" b="0" i="1" smtClean="0">
                                        <a:latin typeface="Cambria Math"/>
                                        <a:ea typeface="Verdana" pitchFamily="34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279610"/>
                  </p:ext>
                </p:extLst>
              </p:nvPr>
            </p:nvGraphicFramePr>
            <p:xfrm>
              <a:off x="2328974" y="471237"/>
              <a:ext cx="7863840" cy="475488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18288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2024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1148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96240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Cubic Function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Parent </a:t>
                          </a:r>
                          <a:b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</a:br>
                          <a: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Function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Table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Graph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57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94" t="-31250" r="-331944" b="-3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58777910"/>
                  </p:ext>
                </p:extLst>
              </p:nvPr>
            </p:nvGraphicFramePr>
            <p:xfrm>
              <a:off x="4524375" y="1796050"/>
              <a:ext cx="1371600" cy="320040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6858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PH" sz="2000" b="1" i="1" smtClean="0">
                                    <a:latin typeface="Cambria Math"/>
                                    <a:ea typeface="Verdana" pitchFamily="34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1" i="1" smtClean="0">
                                    <a:latin typeface="Cambria Math"/>
                                    <a:ea typeface="Verdana" pitchFamily="34" charset="0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−8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27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58777910"/>
                  </p:ext>
                </p:extLst>
              </p:nvPr>
            </p:nvGraphicFramePr>
            <p:xfrm>
              <a:off x="4524375" y="1796050"/>
              <a:ext cx="1371600" cy="320040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6858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18" t="-2778" r="-100000" b="-60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3704" t="-2778" r="-1852" b="-6055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18" t="-102778" r="-100000" b="-50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3704" t="-102778" r="-1852" b="-5055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18" t="-202778" r="-100000" b="-40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3704" t="-202778" r="-1852" b="-4055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18" t="-294595" r="-100000" b="-2945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3704" t="-294595" r="-1852" b="-2945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18" t="-405556" r="-100000" b="-202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3704" t="-405556" r="-1852" b="-202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18" t="-505556" r="-100000" b="-102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3704" t="-505556" r="-1852" b="-102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18" t="-605556" r="-100000" b="-2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3704" t="-605556" r="-1852" b="-2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0" name="Picture 9" descr="Chart&#10;&#10;Description automatically generated"/>
          <p:cNvPicPr/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24175" y="1720213"/>
            <a:ext cx="3338851" cy="3338851"/>
          </a:xfrm>
          <a:prstGeom prst="rect">
            <a:avLst/>
          </a:prstGeom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55EA0204-8486-0BCA-9C0B-24B3627E2CF1}"/>
              </a:ext>
            </a:extLst>
          </p:cNvPr>
          <p:cNvSpPr txBox="1"/>
          <p:nvPr/>
        </p:nvSpPr>
        <p:spPr>
          <a:xfrm>
            <a:off x="87371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>
            <a:extLst>
              <a:ext uri="{FF2B5EF4-FFF2-40B4-BE49-F238E27FC236}">
                <a16:creationId xmlns:a16="http://schemas.microsoft.com/office/drawing/2014/main" id="{427E47F7-20D8-9C76-B52E-E0D63C9A2978}"/>
              </a:ext>
            </a:extLst>
          </p:cNvPr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3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069000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0050201"/>
              </p:ext>
            </p:extLst>
          </p:nvPr>
        </p:nvGraphicFramePr>
        <p:xfrm>
          <a:off x="1805049" y="1030037"/>
          <a:ext cx="8529852" cy="3657600"/>
        </p:xfrm>
        <a:graphic>
          <a:graphicData uri="http://schemas.openxmlformats.org/drawingml/2006/table">
            <a:tbl>
              <a:tblPr firstRow="1" bandRow="1">
                <a:tableStyleId>{A91F0D33-8C57-4600-99A7-42BC86742BE1}</a:tableStyleId>
              </a:tblPr>
              <a:tblGrid>
                <a:gridCol w="32894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403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28800">
                <a:tc>
                  <a:txBody>
                    <a:bodyPr/>
                    <a:lstStyle/>
                    <a:p>
                      <a:pPr algn="l"/>
                      <a:r>
                        <a:rPr lang="en-US" sz="2400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What do you notice about the </a:t>
                      </a:r>
                      <a:r>
                        <a:rPr lang="en-US" sz="2400" b="1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graph</a:t>
                      </a:r>
                      <a:r>
                        <a:rPr lang="en-US" sz="2400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?</a:t>
                      </a:r>
                      <a:endParaRPr lang="en-US" sz="24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algn="l"/>
                      <a:r>
                        <a:rPr lang="en-US" sz="2400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What do you notice about the </a:t>
                      </a:r>
                      <a:r>
                        <a:rPr lang="en-US" sz="2400" b="1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equation</a:t>
                      </a:r>
                      <a:r>
                        <a:rPr lang="en-US" sz="2400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?</a:t>
                      </a:r>
                      <a:endParaRPr lang="en-US" sz="24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AA138980-4936-D21A-F1F5-084F7BB166AE}"/>
              </a:ext>
            </a:extLst>
          </p:cNvPr>
          <p:cNvSpPr txBox="1"/>
          <p:nvPr/>
        </p:nvSpPr>
        <p:spPr>
          <a:xfrm>
            <a:off x="87371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>
            <a:extLst>
              <a:ext uri="{FF2B5EF4-FFF2-40B4-BE49-F238E27FC236}">
                <a16:creationId xmlns:a16="http://schemas.microsoft.com/office/drawing/2014/main" id="{43CBE9C7-FC81-6FD3-96F5-67ED9B149529}"/>
              </a:ext>
            </a:extLst>
          </p:cNvPr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3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260037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17015" y="-8225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17699307"/>
                  </p:ext>
                </p:extLst>
              </p:nvPr>
            </p:nvGraphicFramePr>
            <p:xfrm>
              <a:off x="2362200" y="458537"/>
              <a:ext cx="7863840" cy="502920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18288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2024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1148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Square Root Function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Parent </a:t>
                          </a:r>
                          <a:b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</a:br>
                          <a: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Function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Table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Graph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93192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𝑦</m:t>
                                </m:r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=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PH" sz="2000" b="0" i="1" smtClean="0">
                                        <a:latin typeface="Cambria Math" panose="02040503050406030204" pitchFamily="18" charset="0"/>
                                        <a:ea typeface="Verdana" pitchFamily="34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PH" sz="2000" b="0" i="1" smtClean="0">
                                        <a:latin typeface="Cambria Math"/>
                                        <a:ea typeface="Verdana" pitchFamily="34" charset="0"/>
                                      </a:rPr>
                                      <m:t>𝑥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17699307"/>
                  </p:ext>
                </p:extLst>
              </p:nvPr>
            </p:nvGraphicFramePr>
            <p:xfrm>
              <a:off x="2362200" y="458537"/>
              <a:ext cx="7863840" cy="502920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18288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2024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1148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96240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Square Root Function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Parent </a:t>
                          </a:r>
                          <a:b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</a:br>
                          <a: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Function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Table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Graph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9319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94" t="-29032" r="-331250" b="-3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2489002"/>
                  </p:ext>
                </p:extLst>
              </p:nvPr>
            </p:nvGraphicFramePr>
            <p:xfrm>
              <a:off x="4524375" y="1796050"/>
              <a:ext cx="1371600" cy="344424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6858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PH" sz="2000" b="1" i="1" smtClean="0">
                                    <a:latin typeface="Cambria Math"/>
                                    <a:ea typeface="Verdana" pitchFamily="34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1" i="1" smtClean="0">
                                    <a:latin typeface="Cambria Math"/>
                                    <a:ea typeface="Verdana" pitchFamily="34" charset="0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dirty="0">
                              <a:latin typeface="Verdana" pitchFamily="34" charset="0"/>
                              <a:ea typeface="Verdana" pitchFamily="34" charset="0"/>
                            </a:rPr>
                            <a:t>not</a:t>
                          </a:r>
                          <a:r>
                            <a:rPr lang="en-PH" sz="2000" baseline="0" dirty="0">
                              <a:latin typeface="Verdana" pitchFamily="34" charset="0"/>
                              <a:ea typeface="Verdana" pitchFamily="34" charset="0"/>
                            </a:rPr>
                            <a:t> real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1.414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18288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2489002"/>
                  </p:ext>
                </p:extLst>
              </p:nvPr>
            </p:nvGraphicFramePr>
            <p:xfrm>
              <a:off x="4524375" y="1796050"/>
              <a:ext cx="1371600" cy="344424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6858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18" t="-2778" r="-100000" b="-65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3704" t="-2778" r="-1852" b="-658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18" t="-67273" r="-100000" b="-3309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dirty="0">
                              <a:latin typeface="Verdana" pitchFamily="34" charset="0"/>
                              <a:ea typeface="Verdana" pitchFamily="34" charset="0"/>
                            </a:rPr>
                            <a:t>not</a:t>
                          </a:r>
                          <a:r>
                            <a:rPr lang="en-PH" sz="2000" baseline="0" dirty="0">
                              <a:latin typeface="Verdana" pitchFamily="34" charset="0"/>
                              <a:ea typeface="Verdana" pitchFamily="34" charset="0"/>
                            </a:rPr>
                            <a:t> real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18" t="-248649" r="-100000" b="-3918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3704" t="-248649" r="-1852" b="-3918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18" t="-358333" r="-100000" b="-302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3704" t="-358333" r="-1852" b="-302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18" t="-458333" r="-100000" b="-202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8288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3704" t="-458333" r="-1852" b="-202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18" t="-558333" r="-100000" b="-102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3704" t="-558333" r="-1852" b="-102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18" t="-658333" r="-100000" b="-2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3704" t="-658333" r="-1852" b="-2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1" name="Picture 10" descr="Chart, line chart&#10;&#10;Description automatically generated"/>
          <p:cNvPicPr/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05125" y="1831972"/>
            <a:ext cx="3338851" cy="3338851"/>
          </a:xfrm>
          <a:prstGeom prst="rect">
            <a:avLst/>
          </a:prstGeom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D2B3D283-4D02-1409-A05F-5DEE47E05F72}"/>
              </a:ext>
            </a:extLst>
          </p:cNvPr>
          <p:cNvSpPr txBox="1"/>
          <p:nvPr/>
        </p:nvSpPr>
        <p:spPr>
          <a:xfrm>
            <a:off x="87371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>
            <a:extLst>
              <a:ext uri="{FF2B5EF4-FFF2-40B4-BE49-F238E27FC236}">
                <a16:creationId xmlns:a16="http://schemas.microsoft.com/office/drawing/2014/main" id="{958AF343-0080-B95E-9F5B-B63198A2643B}"/>
              </a:ext>
            </a:extLst>
          </p:cNvPr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3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171560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11875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3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94537"/>
              </p:ext>
            </p:extLst>
          </p:nvPr>
        </p:nvGraphicFramePr>
        <p:xfrm>
          <a:off x="1971304" y="458537"/>
          <a:ext cx="8254736" cy="3657600"/>
        </p:xfrm>
        <a:graphic>
          <a:graphicData uri="http://schemas.openxmlformats.org/drawingml/2006/table">
            <a:tbl>
              <a:tblPr firstRow="1" bandRow="1">
                <a:tableStyleId>{A91F0D33-8C57-4600-99A7-42BC86742BE1}</a:tableStyleId>
              </a:tblPr>
              <a:tblGrid>
                <a:gridCol w="3218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365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28800">
                <a:tc>
                  <a:txBody>
                    <a:bodyPr/>
                    <a:lstStyle/>
                    <a:p>
                      <a:pPr algn="l"/>
                      <a:r>
                        <a:rPr lang="en-US" sz="2400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What do you notice about the </a:t>
                      </a:r>
                      <a:r>
                        <a:rPr lang="en-US" sz="2400" b="1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graph</a:t>
                      </a:r>
                      <a:r>
                        <a:rPr lang="en-US" sz="2400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?</a:t>
                      </a:r>
                      <a:endParaRPr lang="en-US" sz="24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algn="l"/>
                      <a:r>
                        <a:rPr lang="en-US" sz="2400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What do you notice about the </a:t>
                      </a:r>
                      <a:r>
                        <a:rPr lang="en-US" sz="2400" b="1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equation</a:t>
                      </a:r>
                      <a:r>
                        <a:rPr lang="en-US" sz="2400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?</a:t>
                      </a:r>
                      <a:endParaRPr lang="en-US" sz="24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Google Shape;282;g104476d1465_1_17">
            <a:extLst>
              <a:ext uri="{FF2B5EF4-FFF2-40B4-BE49-F238E27FC236}">
                <a16:creationId xmlns:a16="http://schemas.microsoft.com/office/drawing/2014/main" id="{E0814DF0-CB0F-CE4A-A504-DEE56AFFF9B6}"/>
              </a:ext>
            </a:extLst>
          </p:cNvPr>
          <p:cNvSpPr txBox="1"/>
          <p:nvPr/>
        </p:nvSpPr>
        <p:spPr>
          <a:xfrm>
            <a:off x="87371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038507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1486" y="-11875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60044523"/>
                  </p:ext>
                </p:extLst>
              </p:nvPr>
            </p:nvGraphicFramePr>
            <p:xfrm>
              <a:off x="2362200" y="458537"/>
              <a:ext cx="7863840" cy="475488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18288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2024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1148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Cube Root Function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Parent </a:t>
                          </a:r>
                          <a:b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</a:br>
                          <a: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Function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Table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Graph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576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𝑦</m:t>
                                </m:r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=</m:t>
                                </m:r>
                                <m:rad>
                                  <m:radPr>
                                    <m:ctrlPr>
                                      <a:rPr lang="en-PH" sz="2000" b="0" i="1" smtClean="0">
                                        <a:latin typeface="Cambria Math" panose="02040503050406030204" pitchFamily="18" charset="0"/>
                                        <a:ea typeface="Verdana" pitchFamily="34" charset="0"/>
                                      </a:rPr>
                                    </m:ctrlPr>
                                  </m:radPr>
                                  <m:deg>
                                    <m:r>
                                      <a:rPr lang="en-PH" sz="2000" b="0" i="1" smtClean="0">
                                        <a:latin typeface="Cambria Math"/>
                                        <a:ea typeface="Verdana" pitchFamily="34" charset="0"/>
                                      </a:rPr>
                                      <m:t>3</m:t>
                                    </m:r>
                                  </m:deg>
                                  <m:e>
                                    <m:r>
                                      <a:rPr lang="en-PH" sz="2000" b="0" i="1" smtClean="0">
                                        <a:latin typeface="Cambria Math"/>
                                        <a:ea typeface="Verdana" pitchFamily="34" charset="0"/>
                                      </a:rPr>
                                      <m:t>𝑥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60044523"/>
                  </p:ext>
                </p:extLst>
              </p:nvPr>
            </p:nvGraphicFramePr>
            <p:xfrm>
              <a:off x="2362200" y="458537"/>
              <a:ext cx="7863840" cy="475488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18288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2024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1148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96240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Cube Root Function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Parent </a:t>
                          </a:r>
                          <a:b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</a:br>
                          <a: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Function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Table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Graph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57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94" t="-31250" r="-331250" b="-3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51603548"/>
                  </p:ext>
                </p:extLst>
              </p:nvPr>
            </p:nvGraphicFramePr>
            <p:xfrm>
              <a:off x="4524375" y="1796050"/>
              <a:ext cx="1371600" cy="320040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6858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PH" sz="2000" b="1" i="1" smtClean="0">
                                    <a:latin typeface="Cambria Math"/>
                                    <a:ea typeface="Verdana" pitchFamily="34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1" i="1" smtClean="0">
                                    <a:latin typeface="Cambria Math"/>
                                    <a:ea typeface="Verdana" pitchFamily="34" charset="0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−8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1.259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18288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51603548"/>
                  </p:ext>
                </p:extLst>
              </p:nvPr>
            </p:nvGraphicFramePr>
            <p:xfrm>
              <a:off x="4524375" y="1796050"/>
              <a:ext cx="1371600" cy="320040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6858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18" t="-2778" r="-100000" b="-60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3704" t="-2778" r="-1852" b="-6055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18" t="-102778" r="-100000" b="-50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3704" t="-102778" r="-1852" b="-5055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18" t="-202778" r="-100000" b="-40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3704" t="-202778" r="-1852" b="-4055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18" t="-294595" r="-100000" b="-2945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3704" t="-294595" r="-1852" b="-2945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18" t="-405556" r="-100000" b="-202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3704" t="-405556" r="-1852" b="-202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18" t="-505556" r="-100000" b="-102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8288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3704" t="-505556" r="-1852" b="-102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18" t="-605556" r="-100000" b="-2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3704" t="-605556" r="-1852" b="-2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1" name="Picture 10" descr="Chart&#10;&#10;Description automatically generated"/>
          <p:cNvPicPr/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24173" y="1720212"/>
            <a:ext cx="3338852" cy="3338852"/>
          </a:xfrm>
          <a:prstGeom prst="rect">
            <a:avLst/>
          </a:prstGeom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9AD80756-18EA-1E68-5B7C-DE3EE52A7DDE}"/>
              </a:ext>
            </a:extLst>
          </p:cNvPr>
          <p:cNvSpPr txBox="1"/>
          <p:nvPr/>
        </p:nvSpPr>
        <p:spPr>
          <a:xfrm>
            <a:off x="87371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>
            <a:extLst>
              <a:ext uri="{FF2B5EF4-FFF2-40B4-BE49-F238E27FC236}">
                <a16:creationId xmlns:a16="http://schemas.microsoft.com/office/drawing/2014/main" id="{735E75C9-92DA-DE85-0CF4-3CA0C11BF664}"/>
              </a:ext>
            </a:extLst>
          </p:cNvPr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3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999288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5050" y="-8225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5028790"/>
              </p:ext>
            </p:extLst>
          </p:nvPr>
        </p:nvGraphicFramePr>
        <p:xfrm>
          <a:off x="1888177" y="458537"/>
          <a:ext cx="8337863" cy="3657600"/>
        </p:xfrm>
        <a:graphic>
          <a:graphicData uri="http://schemas.openxmlformats.org/drawingml/2006/table">
            <a:tbl>
              <a:tblPr firstRow="1" bandRow="1">
                <a:tableStyleId>{A91F0D33-8C57-4600-99A7-42BC86742BE1}</a:tableStyleId>
              </a:tblPr>
              <a:tblGrid>
                <a:gridCol w="32775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602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28800">
                <a:tc>
                  <a:txBody>
                    <a:bodyPr/>
                    <a:lstStyle/>
                    <a:p>
                      <a:pPr algn="l"/>
                      <a:r>
                        <a:rPr lang="en-US" sz="2400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What do you notice about the </a:t>
                      </a:r>
                      <a:r>
                        <a:rPr lang="en-US" sz="2400" b="1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graph</a:t>
                      </a:r>
                      <a:r>
                        <a:rPr lang="en-US" sz="2400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?</a:t>
                      </a:r>
                      <a:endParaRPr lang="en-US" sz="24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algn="l"/>
                      <a:r>
                        <a:rPr lang="en-US" sz="2400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What do you notice about the </a:t>
                      </a:r>
                      <a:r>
                        <a:rPr lang="en-US" sz="2400" b="1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equation</a:t>
                      </a:r>
                      <a:r>
                        <a:rPr lang="en-US" sz="2400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?</a:t>
                      </a:r>
                      <a:endParaRPr lang="en-US" sz="24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10B6D248-C109-A0AB-A325-EF0A8B86BAF0}"/>
              </a:ext>
            </a:extLst>
          </p:cNvPr>
          <p:cNvSpPr txBox="1"/>
          <p:nvPr/>
        </p:nvSpPr>
        <p:spPr>
          <a:xfrm>
            <a:off x="87371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>
            <a:extLst>
              <a:ext uri="{FF2B5EF4-FFF2-40B4-BE49-F238E27FC236}">
                <a16:creationId xmlns:a16="http://schemas.microsoft.com/office/drawing/2014/main" id="{C8D8D5F8-74A6-6B8F-2283-F272C1D5F7DC}"/>
              </a:ext>
            </a:extLst>
          </p:cNvPr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3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706676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13050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50589667"/>
                  </p:ext>
                </p:extLst>
              </p:nvPr>
            </p:nvGraphicFramePr>
            <p:xfrm>
              <a:off x="2362200" y="458537"/>
              <a:ext cx="7863840" cy="475488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18288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2024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1148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Absolute Value Function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Parent </a:t>
                          </a:r>
                          <a:b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</a:br>
                          <a: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Function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Table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Graph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576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𝑦</m:t>
                                </m:r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=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PH" sz="2000" b="0" i="1" smtClean="0">
                                        <a:latin typeface="Cambria Math" panose="02040503050406030204" pitchFamily="18" charset="0"/>
                                        <a:ea typeface="Verdana" pitchFamily="3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PH" sz="2000" b="0" i="1" smtClean="0">
                                        <a:latin typeface="Cambria Math"/>
                                        <a:ea typeface="Verdana" pitchFamily="34" charset="0"/>
                                      </a:rPr>
                                      <m:t>𝑥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50589667"/>
                  </p:ext>
                </p:extLst>
              </p:nvPr>
            </p:nvGraphicFramePr>
            <p:xfrm>
              <a:off x="2362200" y="458537"/>
              <a:ext cx="7863840" cy="475488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18288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2024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1148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96240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Absolute Value Function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Parent </a:t>
                          </a:r>
                          <a:b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</a:br>
                          <a: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Function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Table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Graph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57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94" t="-31250" r="-331250" b="-3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40963430"/>
                  </p:ext>
                </p:extLst>
              </p:nvPr>
            </p:nvGraphicFramePr>
            <p:xfrm>
              <a:off x="4524375" y="1796050"/>
              <a:ext cx="1371600" cy="320040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6858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PH" sz="2000" b="1" i="1" smtClean="0">
                                    <a:latin typeface="Cambria Math"/>
                                    <a:ea typeface="Verdana" pitchFamily="34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1" i="1" smtClean="0">
                                    <a:latin typeface="Cambria Math"/>
                                    <a:ea typeface="Verdana" pitchFamily="34" charset="0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40963430"/>
                  </p:ext>
                </p:extLst>
              </p:nvPr>
            </p:nvGraphicFramePr>
            <p:xfrm>
              <a:off x="4524375" y="1796050"/>
              <a:ext cx="1371600" cy="320040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6858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18" t="-2778" r="-100000" b="-60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3704" t="-2778" r="-1852" b="-6055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18" t="-102778" r="-100000" b="-50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3704" t="-102778" r="-1852" b="-5055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18" t="-202778" r="-100000" b="-40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3704" t="-202778" r="-1852" b="-4055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18" t="-294595" r="-100000" b="-2945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3704" t="-294595" r="-1852" b="-2945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18" t="-405556" r="-100000" b="-202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3704" t="-405556" r="-1852" b="-202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18" t="-505556" r="-100000" b="-102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3704" t="-505556" r="-1852" b="-102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18" t="-605556" r="-100000" b="-2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3704" t="-605556" r="-1852" b="-2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9" name="Picture 8" descr="Chart, line chart&#10;&#10;Description automatically generated"/>
          <p:cNvPicPr/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25271" y="1720212"/>
            <a:ext cx="3338852" cy="3338852"/>
          </a:xfrm>
          <a:prstGeom prst="rect">
            <a:avLst/>
          </a:prstGeom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0DBBE753-37BE-B1D6-6A22-B7C04BDED554}"/>
              </a:ext>
            </a:extLst>
          </p:cNvPr>
          <p:cNvSpPr txBox="1"/>
          <p:nvPr/>
        </p:nvSpPr>
        <p:spPr>
          <a:xfrm>
            <a:off x="87371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>
            <a:extLst>
              <a:ext uri="{FF2B5EF4-FFF2-40B4-BE49-F238E27FC236}">
                <a16:creationId xmlns:a16="http://schemas.microsoft.com/office/drawing/2014/main" id="{0DB1DC5F-96B3-6395-A399-8E6E5BDFD3AC}"/>
              </a:ext>
            </a:extLst>
          </p:cNvPr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3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037333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3549797"/>
              </p:ext>
            </p:extLst>
          </p:nvPr>
        </p:nvGraphicFramePr>
        <p:xfrm>
          <a:off x="1935678" y="458537"/>
          <a:ext cx="8290362" cy="3657600"/>
        </p:xfrm>
        <a:graphic>
          <a:graphicData uri="http://schemas.openxmlformats.org/drawingml/2006/table">
            <a:tbl>
              <a:tblPr firstRow="1" bandRow="1">
                <a:tableStyleId>{A91F0D33-8C57-4600-99A7-42BC86742BE1}</a:tableStyleId>
              </a:tblPr>
              <a:tblGrid>
                <a:gridCol w="31707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19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28800">
                <a:tc>
                  <a:txBody>
                    <a:bodyPr/>
                    <a:lstStyle/>
                    <a:p>
                      <a:pPr algn="l"/>
                      <a:r>
                        <a:rPr lang="en-US" sz="2400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What do you notice about the </a:t>
                      </a:r>
                      <a:r>
                        <a:rPr lang="en-US" sz="2400" b="1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graph</a:t>
                      </a:r>
                      <a:r>
                        <a:rPr lang="en-US" sz="2400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?</a:t>
                      </a:r>
                      <a:endParaRPr lang="en-US" sz="24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algn="l"/>
                      <a:r>
                        <a:rPr lang="en-US" sz="2400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What do you notice about the </a:t>
                      </a:r>
                      <a:r>
                        <a:rPr lang="en-US" sz="2400" b="1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equation</a:t>
                      </a:r>
                      <a:r>
                        <a:rPr lang="en-US" sz="2400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?</a:t>
                      </a:r>
                      <a:endParaRPr lang="en-US" sz="24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CC761460-D13C-DD22-515D-E30EE0B29B71}"/>
              </a:ext>
            </a:extLst>
          </p:cNvPr>
          <p:cNvSpPr txBox="1"/>
          <p:nvPr/>
        </p:nvSpPr>
        <p:spPr>
          <a:xfrm>
            <a:off x="87371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>
            <a:extLst>
              <a:ext uri="{FF2B5EF4-FFF2-40B4-BE49-F238E27FC236}">
                <a16:creationId xmlns:a16="http://schemas.microsoft.com/office/drawing/2014/main" id="{F1C0BB82-42B4-29E5-4119-C239B2975DD3}"/>
              </a:ext>
            </a:extLst>
          </p:cNvPr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3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321819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3575" y="-8225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69913597"/>
                  </p:ext>
                </p:extLst>
              </p:nvPr>
            </p:nvGraphicFramePr>
            <p:xfrm>
              <a:off x="2362200" y="458537"/>
              <a:ext cx="7955280" cy="484632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192024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2024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1148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Exponential Function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Parent </a:t>
                          </a:r>
                          <a:b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</a:br>
                          <a: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Function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Table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Graph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4904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Exponential Growth</a:t>
                          </a:r>
                          <a:b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</a:br>
                          <a: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Base (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>
                                  <a:effectLst/>
                                  <a:latin typeface="Cambria Math"/>
                                  <a:ea typeface="Verdana"/>
                                  <a:cs typeface="Verdana"/>
                                </a:rPr>
                                <m:t>𝟐</m:t>
                              </m:r>
                            </m:oMath>
                          </a14:m>
                          <a: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)</a:t>
                          </a:r>
                          <a:endParaRPr lang="en-PH" sz="2000" b="0" i="1" dirty="0">
                            <a:latin typeface="Cambria Math"/>
                            <a:ea typeface="Verdana" pitchFamily="34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𝑦</m:t>
                                </m:r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PH" sz="2000" b="0" i="1" smtClean="0">
                                        <a:latin typeface="Cambria Math" panose="02040503050406030204" pitchFamily="18" charset="0"/>
                                        <a:ea typeface="Verdana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PH" sz="2000" b="0" i="1" smtClean="0">
                                        <a:latin typeface="Cambria Math"/>
                                        <a:ea typeface="Verdana" pitchFamily="34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PH" sz="2000" b="0" i="1" smtClean="0">
                                        <a:latin typeface="Cambria Math"/>
                                        <a:ea typeface="Verdana" pitchFamily="34" charset="0"/>
                                      </a:rPr>
                                      <m:t>𝑥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69913597"/>
                  </p:ext>
                </p:extLst>
              </p:nvPr>
            </p:nvGraphicFramePr>
            <p:xfrm>
              <a:off x="2362200" y="458537"/>
              <a:ext cx="7955280" cy="484632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192024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2024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1148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96240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Exponential Function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Parent </a:t>
                          </a:r>
                          <a:b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</a:br>
                          <a: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Function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Table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Graph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490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62" t="-30068" r="-315894" b="-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3401566"/>
                  </p:ext>
                </p:extLst>
              </p:nvPr>
            </p:nvGraphicFramePr>
            <p:xfrm>
              <a:off x="4562475" y="1796050"/>
              <a:ext cx="1371600" cy="3329686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6858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PH" sz="2000" b="1" i="1" smtClean="0">
                                    <a:latin typeface="Cambria Math"/>
                                    <a:ea typeface="Verdana" pitchFamily="34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1" i="1" smtClean="0">
                                    <a:latin typeface="Cambria Math"/>
                                    <a:ea typeface="Verdana" pitchFamily="34" charset="0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  <a:ea typeface="Verdana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PH" sz="2000" b="0" i="1" smtClean="0">
                                      <a:latin typeface="Cambria Math"/>
                                      <a:ea typeface="Verdana" pitchFamily="34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PH" sz="2000" b="0" i="1" smtClean="0">
                                      <a:latin typeface="Cambria Math"/>
                                      <a:ea typeface="Verdana" pitchFamily="34" charset="0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dirty="0">
                              <a:latin typeface="Verdana" pitchFamily="34" charset="0"/>
                              <a:ea typeface="Verdana" pitchFamily="34" charset="0"/>
                            </a:rPr>
                            <a:t> </a:t>
                          </a:r>
                        </a:p>
                      </a:txBody>
                      <a:tcPr marR="18288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  <a:ea typeface="Verdana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PH" sz="2000" b="0" i="1" smtClean="0">
                                      <a:latin typeface="Cambria Math"/>
                                      <a:ea typeface="Verdana" pitchFamily="34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PH" sz="2000" b="0" i="1" smtClean="0">
                                      <a:latin typeface="Cambria Math"/>
                                      <a:ea typeface="Verdana" pitchFamily="34" charset="0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dirty="0">
                              <a:latin typeface="Verdana" pitchFamily="34" charset="0"/>
                              <a:ea typeface="Verdana" pitchFamily="34" charset="0"/>
                            </a:rPr>
                            <a:t> </a:t>
                          </a:r>
                        </a:p>
                      </a:txBody>
                      <a:tcPr marR="18288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3401566"/>
                  </p:ext>
                </p:extLst>
              </p:nvPr>
            </p:nvGraphicFramePr>
            <p:xfrm>
              <a:off x="4562475" y="1796050"/>
              <a:ext cx="1371600" cy="3329686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6858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18" t="-2778" r="-100000" b="-6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3704" t="-2778" r="-1852" b="-63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2184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18" t="-90244" r="-100000" b="-4560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R="18288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3704" t="-90244" r="-1852" b="-4560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2184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18" t="-185714" r="-100000" b="-3452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R="18288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3704" t="-185714" r="-1852" b="-3452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18" t="-333333" r="-100000" b="-302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3704" t="-333333" r="-1852" b="-302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18" t="-433333" r="-100000" b="-202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3704" t="-433333" r="-1852" b="-202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18" t="-533333" r="-100000" b="-102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3704" t="-533333" r="-1852" b="-102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18" t="-633333" r="-100000" b="-2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3704" t="-633333" r="-1852" b="-2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0" name="Picture 9" descr="Chart&#10;&#10;Description automatically generated"/>
          <p:cNvPicPr/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33050" y="1758312"/>
            <a:ext cx="3338852" cy="3338852"/>
          </a:xfrm>
          <a:prstGeom prst="rect">
            <a:avLst/>
          </a:prstGeom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1F7EE563-168B-0454-5C2D-2917970DD307}"/>
              </a:ext>
            </a:extLst>
          </p:cNvPr>
          <p:cNvSpPr txBox="1"/>
          <p:nvPr/>
        </p:nvSpPr>
        <p:spPr>
          <a:xfrm>
            <a:off x="87371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>
            <a:extLst>
              <a:ext uri="{FF2B5EF4-FFF2-40B4-BE49-F238E27FC236}">
                <a16:creationId xmlns:a16="http://schemas.microsoft.com/office/drawing/2014/main" id="{6106DED6-4D5F-2418-DDA0-EB46186E4A90}"/>
              </a:ext>
            </a:extLst>
          </p:cNvPr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3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81317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14663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8726222"/>
              </p:ext>
            </p:extLst>
          </p:nvPr>
        </p:nvGraphicFramePr>
        <p:xfrm>
          <a:off x="2113808" y="1245937"/>
          <a:ext cx="8221093" cy="3657600"/>
        </p:xfrm>
        <a:graphic>
          <a:graphicData uri="http://schemas.openxmlformats.org/drawingml/2006/table">
            <a:tbl>
              <a:tblPr firstRow="1" bandRow="1">
                <a:tableStyleId>{A91F0D33-8C57-4600-99A7-42BC86742BE1}</a:tableStyleId>
              </a:tblPr>
              <a:tblGrid>
                <a:gridCol w="31707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03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28800">
                <a:tc>
                  <a:txBody>
                    <a:bodyPr/>
                    <a:lstStyle/>
                    <a:p>
                      <a:pPr algn="l"/>
                      <a:r>
                        <a:rPr lang="en-US" sz="2400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What do you notice about the </a:t>
                      </a:r>
                      <a:r>
                        <a:rPr lang="en-US" sz="2400" b="1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graph</a:t>
                      </a:r>
                      <a:r>
                        <a:rPr lang="en-US" sz="2400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?</a:t>
                      </a:r>
                      <a:endParaRPr lang="en-US" sz="24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algn="l"/>
                      <a:r>
                        <a:rPr lang="en-US" sz="2400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What do you notice about the </a:t>
                      </a:r>
                      <a:r>
                        <a:rPr lang="en-US" sz="2400" b="1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equation</a:t>
                      </a:r>
                      <a:r>
                        <a:rPr lang="en-US" sz="2400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?</a:t>
                      </a:r>
                      <a:endParaRPr lang="en-US" sz="24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918B4F56-85CF-E5D8-5EFF-87BD062693BF}"/>
              </a:ext>
            </a:extLst>
          </p:cNvPr>
          <p:cNvSpPr txBox="1"/>
          <p:nvPr/>
        </p:nvSpPr>
        <p:spPr>
          <a:xfrm>
            <a:off x="87371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>
            <a:extLst>
              <a:ext uri="{FF2B5EF4-FFF2-40B4-BE49-F238E27FC236}">
                <a16:creationId xmlns:a16="http://schemas.microsoft.com/office/drawing/2014/main" id="{C9978460-E1C1-6D13-BCDE-2BF686E15A62}"/>
              </a:ext>
            </a:extLst>
          </p:cNvPr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3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544148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4730" y="-8225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02846124"/>
                  </p:ext>
                </p:extLst>
              </p:nvPr>
            </p:nvGraphicFramePr>
            <p:xfrm>
              <a:off x="2362200" y="458537"/>
              <a:ext cx="7955280" cy="484632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192024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2024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1148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Exponential Function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Parent </a:t>
                          </a:r>
                          <a:b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</a:br>
                          <a: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Function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Table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Graph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4904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000" b="1" i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Exponential Decay</a:t>
                          </a:r>
                          <a:b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</a:br>
                          <a: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Base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2000" b="1" i="1" smtClean="0">
                                      <a:effectLst/>
                                      <a:latin typeface="Cambria Math" panose="02040503050406030204" pitchFamily="18" charset="0"/>
                                      <a:ea typeface="Verdana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000" b="1" i="1" smtClean="0">
                                          <a:effectLst/>
                                          <a:latin typeface="Cambria Math" panose="02040503050406030204" pitchFamily="18" charset="0"/>
                                          <a:ea typeface="Verdana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PH" sz="2000" b="1" i="1" smtClean="0">
                                          <a:effectLst/>
                                          <a:latin typeface="Cambria Math"/>
                                          <a:ea typeface="Verdana"/>
                                        </a:rPr>
                                        <m:t>𝟏</m:t>
                                      </m:r>
                                    </m:num>
                                    <m:den>
                                      <m:r>
                                        <a:rPr lang="en-PH" sz="2000" b="1" i="1" smtClean="0">
                                          <a:effectLst/>
                                          <a:latin typeface="Cambria Math"/>
                                          <a:ea typeface="Verdana"/>
                                        </a:rPr>
                                        <m:t>𝟐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endParaRPr lang="en-PH" sz="2000" b="0" i="1" dirty="0">
                            <a:latin typeface="Cambria Math"/>
                            <a:ea typeface="Verdana" pitchFamily="34" charset="0"/>
                          </a:endParaRP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endParaRPr lang="en-PH" sz="2000" b="0" i="1" dirty="0">
                            <a:latin typeface="Cambria Math"/>
                            <a:ea typeface="Verdana" pitchFamily="34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𝑦</m:t>
                                </m:r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PH" sz="2000" b="0" i="1" smtClean="0">
                                        <a:latin typeface="Cambria Math" panose="02040503050406030204" pitchFamily="18" charset="0"/>
                                        <a:ea typeface="Verdana" pitchFamily="34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PH" sz="2000" b="0" i="1" smtClean="0">
                                            <a:latin typeface="Cambria Math" panose="02040503050406030204" pitchFamily="18" charset="0"/>
                                            <a:ea typeface="Verdana" pitchFamily="34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PH" sz="2000" b="0" i="1" smtClean="0">
                                                <a:latin typeface="Cambria Math" panose="02040503050406030204" pitchFamily="18" charset="0"/>
                                                <a:ea typeface="Verdana" pitchFamily="34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PH" sz="2000" b="0" i="1" smtClean="0">
                                                <a:latin typeface="Cambria Math"/>
                                                <a:ea typeface="Verdana" pitchFamily="34" charset="0"/>
                                              </a:rPr>
                                              <m:t>1</m:t>
                                            </m:r>
                                          </m:num>
                                          <m:den>
                                            <m:r>
                                              <a:rPr lang="en-PH" sz="2000" b="0" i="1" smtClean="0">
                                                <a:latin typeface="Cambria Math"/>
                                                <a:ea typeface="Verdana" pitchFamily="34" charset="0"/>
                                              </a:rPr>
                                              <m:t>2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en-PH" sz="2000" b="0" i="1" smtClean="0">
                                        <a:latin typeface="Cambria Math"/>
                                        <a:ea typeface="Verdana" pitchFamily="34" charset="0"/>
                                      </a:rPr>
                                      <m:t>𝑥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02846124"/>
                  </p:ext>
                </p:extLst>
              </p:nvPr>
            </p:nvGraphicFramePr>
            <p:xfrm>
              <a:off x="2362200" y="458537"/>
              <a:ext cx="7955280" cy="484632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192024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2024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1148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96240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Exponential Function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Parent </a:t>
                          </a:r>
                          <a:b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</a:br>
                          <a: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Function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Table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Graph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490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62" t="-30068" r="-315894" b="-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4684152"/>
                  </p:ext>
                </p:extLst>
              </p:nvPr>
            </p:nvGraphicFramePr>
            <p:xfrm>
              <a:off x="4562475" y="1738901"/>
              <a:ext cx="1371600" cy="3396425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6858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PH" sz="2000" b="1" i="1" smtClean="0">
                                    <a:latin typeface="Cambria Math"/>
                                    <a:ea typeface="Verdana" pitchFamily="34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1" i="1" smtClean="0">
                                    <a:latin typeface="Cambria Math"/>
                                    <a:ea typeface="Verdana" pitchFamily="34" charset="0"/>
                                  </a:rPr>
                                  <m:t>𝒚</m:t>
                                </m:r>
                              </m:oMath>
                            </m:oMathPara>
                          </a14:m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PH" sz="2000" b="0" i="1" smtClean="0">
                                      <a:latin typeface="Cambria Math" panose="02040503050406030204" pitchFamily="18" charset="0"/>
                                      <a:ea typeface="Verdana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PH" sz="2000" b="0" i="1" smtClean="0">
                                      <a:latin typeface="Cambria Math"/>
                                      <a:ea typeface="Verdana" pitchFamily="34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PH" sz="2000" b="0" i="1" smtClean="0">
                                      <a:latin typeface="Cambria Math"/>
                                      <a:ea typeface="Verdana" pitchFamily="34" charset="0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dirty="0">
                              <a:latin typeface="Verdana" pitchFamily="34" charset="0"/>
                              <a:ea typeface="Verdana" pitchFamily="34" charset="0"/>
                            </a:rPr>
                            <a:t> </a:t>
                          </a:r>
                        </a:p>
                      </a:txBody>
                      <a:tcPr marR="18288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  <a:ea typeface="Verdana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PH" sz="2000" b="0" i="1" smtClean="0">
                                      <a:latin typeface="Cambria Math"/>
                                      <a:ea typeface="Verdana" pitchFamily="34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PH" sz="2000" b="0" i="1" smtClean="0">
                                      <a:latin typeface="Cambria Math"/>
                                      <a:ea typeface="Verdana" pitchFamily="34" charset="0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dirty="0">
                              <a:latin typeface="Verdana" pitchFamily="34" charset="0"/>
                              <a:ea typeface="Verdana" pitchFamily="34" charset="0"/>
                            </a:rPr>
                            <a:t> </a:t>
                          </a:r>
                        </a:p>
                      </a:txBody>
                      <a:tcPr marR="18288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  <a:ea typeface="Verdana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PH" sz="2000" b="0" i="1" smtClean="0">
                                      <a:latin typeface="Cambria Math"/>
                                      <a:ea typeface="Verdana" pitchFamily="34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PH" sz="2000" b="0" i="1" smtClean="0">
                                      <a:latin typeface="Cambria Math"/>
                                      <a:ea typeface="Verdana" pitchFamily="34" charset="0"/>
                                    </a:rPr>
                                    <m:t>8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dirty="0">
                              <a:latin typeface="Verdana" pitchFamily="34" charset="0"/>
                              <a:ea typeface="Verdana" pitchFamily="34" charset="0"/>
                            </a:rPr>
                            <a:t> </a:t>
                          </a:r>
                        </a:p>
                      </a:txBody>
                      <a:tcPr marR="18288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4684152"/>
                  </p:ext>
                </p:extLst>
              </p:nvPr>
            </p:nvGraphicFramePr>
            <p:xfrm>
              <a:off x="4562475" y="1738901"/>
              <a:ext cx="1371600" cy="3396425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6858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18" r="-100000" b="-65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3704" r="-1852" b="-65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18" t="-100000" r="-100000" b="-55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3704" t="-100000" r="-1852" b="-55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18" t="-194595" r="-100000" b="-4351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3704" t="-194595" r="-1852" b="-4351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18" t="-302778" r="-100000" b="-347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3704" t="-302778" r="-1852" b="-347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2184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18" t="-353659" r="-100000" b="-2048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R="18288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3704" t="-353659" r="-1852" b="-2048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2184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18" t="-442857" r="-100000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R="18288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3704" t="-442857" r="-1852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52393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18" t="-556098" r="-100000" b="-2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R="18288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3704" t="-556098" r="-1852" b="-24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9" name="Picture 8" descr="Chart, line chart&#10;&#10;Description automatically generated"/>
          <p:cNvPicPr/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9898" y="1758312"/>
            <a:ext cx="3338852" cy="3338852"/>
          </a:xfrm>
          <a:prstGeom prst="rect">
            <a:avLst/>
          </a:prstGeom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A9CAB5BF-90DD-7D61-06C0-8A94DA64E231}"/>
              </a:ext>
            </a:extLst>
          </p:cNvPr>
          <p:cNvSpPr txBox="1"/>
          <p:nvPr/>
        </p:nvSpPr>
        <p:spPr>
          <a:xfrm>
            <a:off x="87371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>
            <a:extLst>
              <a:ext uri="{FF2B5EF4-FFF2-40B4-BE49-F238E27FC236}">
                <a16:creationId xmlns:a16="http://schemas.microsoft.com/office/drawing/2014/main" id="{F0215455-29AB-1528-DD7F-4A0DEC8D3D58}"/>
              </a:ext>
            </a:extLst>
          </p:cNvPr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3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158942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3384374"/>
              </p:ext>
            </p:extLst>
          </p:nvPr>
        </p:nvGraphicFramePr>
        <p:xfrm>
          <a:off x="1828800" y="1042737"/>
          <a:ext cx="8384540" cy="3657600"/>
        </p:xfrm>
        <a:graphic>
          <a:graphicData uri="http://schemas.openxmlformats.org/drawingml/2006/table">
            <a:tbl>
              <a:tblPr firstRow="1" bandRow="1">
                <a:tableStyleId>{A91F0D33-8C57-4600-99A7-42BC86742BE1}</a:tableStyleId>
              </a:tblPr>
              <a:tblGrid>
                <a:gridCol w="33369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75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28800">
                <a:tc>
                  <a:txBody>
                    <a:bodyPr/>
                    <a:lstStyle/>
                    <a:p>
                      <a:pPr algn="l"/>
                      <a:r>
                        <a:rPr lang="en-US" sz="2400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What do you notice about the </a:t>
                      </a:r>
                      <a:r>
                        <a:rPr lang="en-US" sz="2400" b="1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graph</a:t>
                      </a:r>
                      <a:r>
                        <a:rPr lang="en-US" sz="2400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?</a:t>
                      </a:r>
                      <a:endParaRPr lang="en-US" sz="24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algn="l"/>
                      <a:r>
                        <a:rPr lang="en-US" sz="2400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What do you notice about the </a:t>
                      </a:r>
                      <a:r>
                        <a:rPr lang="en-US" sz="2400" b="1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equation</a:t>
                      </a:r>
                      <a:r>
                        <a:rPr lang="en-US" sz="2400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?</a:t>
                      </a:r>
                      <a:endParaRPr lang="en-US" sz="24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8EBC723D-D302-D865-D643-D5913CACEF7B}"/>
              </a:ext>
            </a:extLst>
          </p:cNvPr>
          <p:cNvSpPr txBox="1"/>
          <p:nvPr/>
        </p:nvSpPr>
        <p:spPr>
          <a:xfrm>
            <a:off x="87371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>
            <a:extLst>
              <a:ext uri="{FF2B5EF4-FFF2-40B4-BE49-F238E27FC236}">
                <a16:creationId xmlns:a16="http://schemas.microsoft.com/office/drawing/2014/main" id="{C1C253F9-7D76-9E88-C210-3087A3694569}"/>
              </a:ext>
            </a:extLst>
          </p:cNvPr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3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15016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093464" y="276615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" name="Picture 8" descr="Icon&#10;&#10;Description automatically generated">
            <a:extLst>
              <a:ext uri="{FF2B5EF4-FFF2-40B4-BE49-F238E27FC236}">
                <a16:creationId xmlns:a16="http://schemas.microsoft.com/office/drawing/2014/main" id="{EEB3AE54-B0EA-6344-8025-AF5E2828F52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31985" y="2822216"/>
            <a:ext cx="1158150" cy="11581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643E3A4A-F81B-E544-5BFC-58120820BD7A}"/>
              </a:ext>
            </a:extLst>
          </p:cNvPr>
          <p:cNvSpPr txBox="1"/>
          <p:nvPr/>
        </p:nvSpPr>
        <p:spPr>
          <a:xfrm>
            <a:off x="87371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>
            <a:extLst>
              <a:ext uri="{FF2B5EF4-FFF2-40B4-BE49-F238E27FC236}">
                <a16:creationId xmlns:a16="http://schemas.microsoft.com/office/drawing/2014/main" id="{49D59227-53E4-2B8B-8527-691DFE59001E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3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518889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211750" y="165477"/>
            <a:ext cx="10314426" cy="761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1.1.3 Guided Practice: Classifying Functions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208A00-51E7-C544-ABDE-AE9DC3DAAB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274" y="1156797"/>
            <a:ext cx="10573326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1200"/>
              </a:spcAft>
              <a:buClrTx/>
            </a:pPr>
            <a:r>
              <a:rPr lang="en-US" altLang="en-US" sz="20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Functions can be transformed by translations, dilations, and reflections.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this example, the quadratic parent function is translated vertically, horizontally, and reflected over the 𝑥-axis.</a:t>
            </a:r>
          </a:p>
        </p:txBody>
      </p:sp>
      <p:pic>
        <p:nvPicPr>
          <p:cNvPr id="15" name="Picture 14" descr="Icon&#10;&#10;Description automatically generated">
            <a:extLst>
              <a:ext uri="{FF2B5EF4-FFF2-40B4-BE49-F238E27FC236}">
                <a16:creationId xmlns:a16="http://schemas.microsoft.com/office/drawing/2014/main" id="{71162AB1-D87B-FD4B-B2C6-873E0C13F1C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4451" y="187912"/>
            <a:ext cx="747301" cy="74730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98005845"/>
                  </p:ext>
                </p:extLst>
              </p:nvPr>
            </p:nvGraphicFramePr>
            <p:xfrm>
              <a:off x="2184862" y="2634440"/>
              <a:ext cx="7496176" cy="356616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374808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74808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566160">
                    <a:tc>
                      <a:txBody>
                        <a:bodyPr/>
                        <a:lstStyle/>
                        <a:p>
                          <a:pPr lvl="1" algn="ctr"/>
                          <a:r>
                            <a:rPr lang="en-US" sz="2000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Quadratic Parent Function</a:t>
                          </a: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𝑦</m:t>
                                </m:r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PH" sz="2000" b="0" i="1" smtClean="0">
                                        <a:latin typeface="Cambria Math" panose="02040503050406030204" pitchFamily="18" charset="0"/>
                                        <a:ea typeface="Verdana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PH" sz="2000" b="0" i="1" smtClean="0">
                                        <a:latin typeface="Cambria Math"/>
                                        <a:ea typeface="Verdana" pitchFamily="34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PH" sz="2000" b="0" i="1" smtClean="0">
                                        <a:latin typeface="Cambria Math"/>
                                        <a:ea typeface="Verdana" pitchFamily="34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Translated Vertically</a:t>
                          </a: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effectLst/>
                                    <a:latin typeface="Cambria Math"/>
                                    <a:ea typeface="Verdana"/>
                                    <a:cs typeface="Verdana"/>
                                  </a:rPr>
                                  <m:t>𝑦</m:t>
                                </m:r>
                                <m:r>
                                  <a:rPr lang="en-PH" sz="2000" b="0" i="1" smtClean="0">
                                    <a:effectLst/>
                                    <a:latin typeface="Cambria Math"/>
                                    <a:ea typeface="Verdana"/>
                                    <a:cs typeface="Verdana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PH" sz="2000" b="0" i="1" smtClean="0">
                                        <a:effectLst/>
                                        <a:latin typeface="Cambria Math" panose="02040503050406030204" pitchFamily="18" charset="0"/>
                                        <a:ea typeface="Verdana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PH" sz="2000" b="0" i="1" smtClean="0">
                                        <a:effectLst/>
                                        <a:latin typeface="Cambria Math"/>
                                        <a:ea typeface="Verdana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PH" sz="2000" b="0" i="1" smtClean="0">
                                        <a:effectLst/>
                                        <a:latin typeface="Cambria Math"/>
                                        <a:ea typeface="Verdana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PH" sz="2000" b="0" i="1" smtClean="0">
                                    <a:effectLst/>
                                    <a:latin typeface="Cambria Math"/>
                                    <a:ea typeface="Verdana"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lang="en-US" sz="2000" i="0" dirty="0">
                            <a:effectLst/>
                            <a:latin typeface="Verdana"/>
                            <a:ea typeface="Verdana"/>
                            <a:cs typeface="Verdana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98005845"/>
                  </p:ext>
                </p:extLst>
              </p:nvPr>
            </p:nvGraphicFramePr>
            <p:xfrm>
              <a:off x="2184862" y="2634440"/>
              <a:ext cx="7496176" cy="356616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374808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74808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566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38" t="-1064" r="-100000" b="-3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678" t="-1064" r="-339" b="-3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0" name="Picture 9" descr="Chart, line chart&#10;&#10;Description automatically generated"/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37545" y="3339925"/>
            <a:ext cx="2743200" cy="2743200"/>
          </a:xfrm>
          <a:prstGeom prst="rect">
            <a:avLst/>
          </a:prstGeom>
        </p:spPr>
      </p:pic>
      <p:pic>
        <p:nvPicPr>
          <p:cNvPr id="11" name="Picture 10" descr="Chart, line chart&#10;&#10;Description automatically generated"/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76120" y="3339925"/>
            <a:ext cx="2743200" cy="2743200"/>
          </a:xfrm>
          <a:prstGeom prst="rect">
            <a:avLst/>
          </a:prstGeom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3DA492F7-AE52-EB17-668E-3F97FEC970B4}"/>
              </a:ext>
            </a:extLst>
          </p:cNvPr>
          <p:cNvSpPr txBox="1"/>
          <p:nvPr/>
        </p:nvSpPr>
        <p:spPr>
          <a:xfrm>
            <a:off x="87371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>
            <a:extLst>
              <a:ext uri="{FF2B5EF4-FFF2-40B4-BE49-F238E27FC236}">
                <a16:creationId xmlns:a16="http://schemas.microsoft.com/office/drawing/2014/main" id="{3FD25510-A4D8-836D-78C5-F460E694B2B9}"/>
              </a:ext>
            </a:extLst>
          </p:cNvPr>
          <p:cNvPicPr preferRelativeResize="0"/>
          <p:nvPr/>
        </p:nvPicPr>
        <p:blipFill>
          <a:blip r:embed="rId8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3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994051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04511447"/>
                  </p:ext>
                </p:extLst>
              </p:nvPr>
            </p:nvGraphicFramePr>
            <p:xfrm>
              <a:off x="2452574" y="1334837"/>
              <a:ext cx="7496176" cy="356616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374808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74808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566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Translated Horizontally</a:t>
                          </a: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effectLst/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𝑦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𝑥</m:t>
                                        </m:r>
                                        <m:r>
                                          <a:rPr lang="en-US" sz="2000" i="1">
                                            <a:effectLst/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−</m:t>
                                        </m:r>
                                        <m:r>
                                          <a:rPr lang="en-US" sz="2000">
                                            <a:effectLst/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5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Reflected over the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/>
                                  <a:ea typeface="Verdana"/>
                                  <a:cs typeface="Verdana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sz="2000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-axis</a:t>
                          </a: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effectLst/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𝑦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d>
                                      <m:d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i="0" dirty="0">
                            <a:effectLst/>
                            <a:latin typeface="Verdana"/>
                            <a:ea typeface="Verdana"/>
                            <a:cs typeface="Verdana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04511447"/>
                  </p:ext>
                </p:extLst>
              </p:nvPr>
            </p:nvGraphicFramePr>
            <p:xfrm>
              <a:off x="2452574" y="1334837"/>
              <a:ext cx="7496176" cy="356616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374808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74808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566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38" t="-1423" r="-100000" b="-7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678" t="-1423" r="-339" b="-71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8" name="Picture 7" descr="Chart, line chart&#10;&#10;Description automatically generated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24379" y="2052955"/>
            <a:ext cx="2743200" cy="2743200"/>
          </a:xfrm>
          <a:prstGeom prst="rect">
            <a:avLst/>
          </a:prstGeom>
        </p:spPr>
      </p:pic>
      <p:pic>
        <p:nvPicPr>
          <p:cNvPr id="9" name="Picture 8" descr="Chart, line chart&#10;&#10;Description automatically generated"/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12154" y="2052955"/>
            <a:ext cx="2743200" cy="2743200"/>
          </a:xfrm>
          <a:prstGeom prst="rect">
            <a:avLst/>
          </a:prstGeom>
        </p:spPr>
      </p:pic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9CB6D3D0-C766-0690-3AED-DA207282C67A}"/>
              </a:ext>
            </a:extLst>
          </p:cNvPr>
          <p:cNvSpPr txBox="1"/>
          <p:nvPr/>
        </p:nvSpPr>
        <p:spPr>
          <a:xfrm>
            <a:off x="87371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>
            <a:extLst>
              <a:ext uri="{FF2B5EF4-FFF2-40B4-BE49-F238E27FC236}">
                <a16:creationId xmlns:a16="http://schemas.microsoft.com/office/drawing/2014/main" id="{DC742AA0-3B13-B8E6-5EC8-BD0B46E0FE0D}"/>
              </a:ext>
            </a:extLst>
          </p:cNvPr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3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28518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11875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E5E1E0-A54D-BE42-84B5-F917038ADE99}"/>
              </a:ext>
            </a:extLst>
          </p:cNvPr>
          <p:cNvSpPr txBox="1"/>
          <p:nvPr/>
        </p:nvSpPr>
        <p:spPr>
          <a:xfrm>
            <a:off x="843148" y="441660"/>
            <a:ext cx="1038365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stayed the same in each of the equations?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stayed the same in each of the graphs?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Classify each function into its function family based on the characteristics observed for the parent functions.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48139299"/>
                  </p:ext>
                </p:extLst>
              </p:nvPr>
            </p:nvGraphicFramePr>
            <p:xfrm>
              <a:off x="2172100" y="3536148"/>
              <a:ext cx="7379776" cy="320040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368988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8988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Function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Function Family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effectLst/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𝑦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𝑥</m:t>
                                    </m:r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+9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000" b="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effectLst/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𝑦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d>
                                      <m:d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sz="2000" i="1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2000">
                                                <a:effectLst/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1</m:t>
                                            </m:r>
                                          </m:num>
                                          <m:den>
                                            <m:r>
                                              <a:rPr lang="en-US" sz="2000">
                                                <a:effectLst/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2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𝑥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b="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effectLst/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𝑦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sz="2000" b="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48139299"/>
                  </p:ext>
                </p:extLst>
              </p:nvPr>
            </p:nvGraphicFramePr>
            <p:xfrm>
              <a:off x="2172100" y="3536148"/>
              <a:ext cx="7379776" cy="320040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368988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8988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Function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Function Family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5" t="-50667" r="-100165" b="-20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5" t="-149669" r="-100165" b="-1006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5" t="-251333" r="-100165" b="-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E16111F6-F9DA-CF8D-871A-A56BAA36CC31}"/>
              </a:ext>
            </a:extLst>
          </p:cNvPr>
          <p:cNvSpPr txBox="1"/>
          <p:nvPr/>
        </p:nvSpPr>
        <p:spPr>
          <a:xfrm>
            <a:off x="87371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>
            <a:extLst>
              <a:ext uri="{FF2B5EF4-FFF2-40B4-BE49-F238E27FC236}">
                <a16:creationId xmlns:a16="http://schemas.microsoft.com/office/drawing/2014/main" id="{DE5BA09A-9E37-51B8-76AD-423B40EC70B7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3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140894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5940329"/>
              </p:ext>
            </p:extLst>
          </p:nvPr>
        </p:nvGraphicFramePr>
        <p:xfrm>
          <a:off x="2535750" y="458537"/>
          <a:ext cx="7379776" cy="5943600"/>
        </p:xfrm>
        <a:graphic>
          <a:graphicData uri="http://schemas.openxmlformats.org/drawingml/2006/table">
            <a:tbl>
              <a:tblPr firstRow="1" bandRow="1">
                <a:tableStyleId>{A91F0D33-8C57-4600-99A7-42BC86742BE1}</a:tableStyleId>
              </a:tblPr>
              <a:tblGrid>
                <a:gridCol w="3689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9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Function</a:t>
                      </a:r>
                      <a:endParaRPr lang="en-US" sz="2000" b="1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Function Family</a:t>
                      </a:r>
                      <a:endParaRPr lang="en-US" sz="2000" b="1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0">
                <a:tc>
                  <a:txBody>
                    <a:bodyPr/>
                    <a:lstStyle/>
                    <a:p>
                      <a:pPr algn="ctr"/>
                      <a:endParaRPr lang="en-US" sz="2000" b="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0">
                <a:tc>
                  <a:txBody>
                    <a:bodyPr/>
                    <a:lstStyle/>
                    <a:p>
                      <a:pPr algn="ctr"/>
                      <a:endParaRPr lang="en-US" sz="2000" b="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7" name="Picture 6" descr="Chart, line chart&#10;&#10;Description automatically generated"/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42298" y="1066071"/>
            <a:ext cx="2440305" cy="2440305"/>
          </a:xfrm>
          <a:prstGeom prst="rect">
            <a:avLst/>
          </a:prstGeom>
        </p:spPr>
      </p:pic>
      <p:pic>
        <p:nvPicPr>
          <p:cNvPr id="8" name="Picture 7" descr="Chart, line chart&#10;&#10;Description automatically generated"/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28339" y="3922855"/>
            <a:ext cx="2268220" cy="2268220"/>
          </a:xfrm>
          <a:prstGeom prst="rect">
            <a:avLst/>
          </a:prstGeom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75E97F9C-BC75-D665-C69F-F177F315C260}"/>
              </a:ext>
            </a:extLst>
          </p:cNvPr>
          <p:cNvSpPr txBox="1"/>
          <p:nvPr/>
        </p:nvSpPr>
        <p:spPr>
          <a:xfrm>
            <a:off x="87371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>
            <a:extLst>
              <a:ext uri="{FF2B5EF4-FFF2-40B4-BE49-F238E27FC236}">
                <a16:creationId xmlns:a16="http://schemas.microsoft.com/office/drawing/2014/main" id="{7CC233D8-64D1-1BA9-5AD1-9418D7B50A61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3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420082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5"/>
            <a:ext cx="2731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269100" y="276615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" name="Picture 8" descr="Icon&#10;&#10;Description automatically generated">
            <a:extLst>
              <a:ext uri="{FF2B5EF4-FFF2-40B4-BE49-F238E27FC236}">
                <a16:creationId xmlns:a16="http://schemas.microsoft.com/office/drawing/2014/main" id="{758FF271-6581-5740-BCCD-706D33EA7E3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17126" y="2849930"/>
            <a:ext cx="1158150" cy="11581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63DE6D4E-162D-79B7-77A8-BFBF5A40827D}"/>
              </a:ext>
            </a:extLst>
          </p:cNvPr>
          <p:cNvSpPr txBox="1"/>
          <p:nvPr/>
        </p:nvSpPr>
        <p:spPr>
          <a:xfrm>
            <a:off x="87371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>
            <a:extLst>
              <a:ext uri="{FF2B5EF4-FFF2-40B4-BE49-F238E27FC236}">
                <a16:creationId xmlns:a16="http://schemas.microsoft.com/office/drawing/2014/main" id="{A9FA4A40-61D3-0F71-C5AF-3C8568DDBBE4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3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363419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237150" y="227009"/>
            <a:ext cx="8306646" cy="662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44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1.1.4 Your Turn!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208A00-51E7-C544-ABDE-AE9DC3DAAB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3500" y="1268935"/>
            <a:ext cx="790677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4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Classify the function family for each equation or graph.</a:t>
            </a:r>
          </a:p>
        </p:txBody>
      </p:sp>
      <p:pic>
        <p:nvPicPr>
          <p:cNvPr id="15" name="Picture 14" descr="Icon&#10;&#10;Description automatically generated">
            <a:extLst>
              <a:ext uri="{FF2B5EF4-FFF2-40B4-BE49-F238E27FC236}">
                <a16:creationId xmlns:a16="http://schemas.microsoft.com/office/drawing/2014/main" id="{2B53F9A7-2434-5D4E-B654-257F5CF1B6B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9851" y="184785"/>
            <a:ext cx="747301" cy="74730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37530331"/>
                  </p:ext>
                </p:extLst>
              </p:nvPr>
            </p:nvGraphicFramePr>
            <p:xfrm>
              <a:off x="1498929" y="2099932"/>
              <a:ext cx="7498080" cy="438912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4572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01752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02336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r>
                            <a:rPr lang="en-PH" sz="2400" dirty="0">
                              <a:latin typeface="Verdana" pitchFamily="34" charset="0"/>
                              <a:ea typeface="Verdana" pitchFamily="34" charset="0"/>
                            </a:rPr>
                            <a:t>1.</a:t>
                          </a:r>
                          <a:endParaRPr lang="en-US" sz="24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0" marR="0" marT="0" marB="4572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PH" sz="2400" b="0" i="1" smtClean="0">
                                    <a:latin typeface="Cambria Math"/>
                                    <a:ea typeface="Verdana" pitchFamily="34" charset="0"/>
                                  </a:rPr>
                                  <m:t>𝑦</m:t>
                                </m:r>
                                <m:r>
                                  <a:rPr lang="en-PH" sz="2400" b="0" i="1" smtClean="0">
                                    <a:latin typeface="Cambria Math"/>
                                    <a:ea typeface="Verdana" pitchFamily="34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PH" sz="2400" b="0" i="1" smtClean="0">
                                        <a:latin typeface="Cambria Math" panose="02040503050406030204" pitchFamily="18" charset="0"/>
                                        <a:ea typeface="Verdana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PH" sz="2400" b="0" i="1" smtClean="0">
                                        <a:latin typeface="Cambria Math"/>
                                        <a:ea typeface="Verdana" pitchFamily="34" charset="0"/>
                                      </a:rPr>
                                      <m:t>(</m:t>
                                    </m:r>
                                    <m:r>
                                      <a:rPr lang="en-PH" sz="2400" b="0" i="1" smtClean="0">
                                        <a:latin typeface="Cambria Math"/>
                                        <a:ea typeface="Verdana" pitchFamily="34" charset="0"/>
                                      </a:rPr>
                                      <m:t>𝑥</m:t>
                                    </m:r>
                                    <m:r>
                                      <a:rPr lang="en-PH" sz="2400" b="0" i="1" smtClean="0">
                                        <a:latin typeface="Cambria Math"/>
                                        <a:ea typeface="Verdana" pitchFamily="34" charset="0"/>
                                      </a:rPr>
                                      <m:t>+2)</m:t>
                                    </m:r>
                                  </m:e>
                                  <m:sup>
                                    <m:r>
                                      <a:rPr lang="en-PH" sz="2400" b="0" i="1" smtClean="0">
                                        <a:latin typeface="Cambria Math"/>
                                        <a:ea typeface="Verdana" pitchFamily="34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4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0" marR="0" marT="0" marB="4572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PH" sz="2400" dirty="0">
                              <a:latin typeface="Verdana" pitchFamily="34" charset="0"/>
                              <a:ea typeface="Verdana" pitchFamily="34" charset="0"/>
                            </a:rPr>
                            <a:t>Function Family: __________</a:t>
                          </a:r>
                          <a:endParaRPr lang="en-US" sz="24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0" marR="0" marT="0" marB="4572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PH" sz="2400" dirty="0">
                              <a:latin typeface="Verdana" pitchFamily="34" charset="0"/>
                              <a:ea typeface="Verdana" pitchFamily="34" charset="0"/>
                            </a:rPr>
                            <a:t>2.</a:t>
                          </a:r>
                          <a:endParaRPr lang="en-US" sz="24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0" marR="0" marT="0" marB="4572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PH" sz="2400" b="0" i="1" smtClean="0">
                                    <a:latin typeface="Cambria Math"/>
                                    <a:ea typeface="Verdana" pitchFamily="34" charset="0"/>
                                  </a:rPr>
                                  <m:t>𝑦</m:t>
                                </m:r>
                                <m:r>
                                  <a:rPr lang="en-PH" sz="2400" b="0" i="1" smtClean="0">
                                    <a:latin typeface="Cambria Math"/>
                                    <a:ea typeface="Verdana" pitchFamily="34" charset="0"/>
                                  </a:rPr>
                                  <m:t>=−</m:t>
                                </m:r>
                                <m:r>
                                  <a:rPr lang="en-PH" sz="2400" b="0" i="1" smtClean="0">
                                    <a:latin typeface="Cambria Math"/>
                                    <a:ea typeface="Verdana" pitchFamily="34" charset="0"/>
                                  </a:rPr>
                                  <m:t>𝑥</m:t>
                                </m:r>
                                <m:r>
                                  <a:rPr lang="en-PH" sz="2400" b="0" i="1" smtClean="0">
                                    <a:latin typeface="Cambria Math"/>
                                    <a:ea typeface="Verdana" pitchFamily="34" charset="0"/>
                                  </a:rPr>
                                  <m:t>−23</m:t>
                                </m:r>
                              </m:oMath>
                            </m:oMathPara>
                          </a14:m>
                          <a:endParaRPr lang="en-US" sz="24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0" marR="0" marT="0" marB="4572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PH" sz="2400" dirty="0">
                              <a:latin typeface="Verdana" pitchFamily="34" charset="0"/>
                              <a:ea typeface="Verdana" pitchFamily="34" charset="0"/>
                            </a:rPr>
                            <a:t>Function Family: __________</a:t>
                          </a:r>
                          <a:endParaRPr lang="en-US" sz="24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0" marR="0" marT="0" marB="4572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PH" sz="2400" dirty="0">
                              <a:latin typeface="Verdana" pitchFamily="34" charset="0"/>
                              <a:ea typeface="Verdana" pitchFamily="34" charset="0"/>
                            </a:rPr>
                            <a:t>3.</a:t>
                          </a:r>
                          <a:endParaRPr lang="en-US" sz="24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0" marR="0" marT="0" marB="4572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PH" sz="2400" b="0" i="1" smtClean="0">
                                    <a:latin typeface="Cambria Math"/>
                                    <a:ea typeface="Verdana" pitchFamily="34" charset="0"/>
                                  </a:rPr>
                                  <m:t>𝑦</m:t>
                                </m:r>
                                <m:r>
                                  <a:rPr lang="en-PH" sz="2400" b="0" i="1" smtClean="0">
                                    <a:latin typeface="Cambria Math"/>
                                    <a:ea typeface="Verdana" pitchFamily="34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PH" sz="2400" b="0" i="1" smtClean="0">
                                        <a:latin typeface="Cambria Math" panose="02040503050406030204" pitchFamily="18" charset="0"/>
                                        <a:ea typeface="Verdana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PH" sz="2400" b="0" i="1" smtClean="0">
                                        <a:latin typeface="Cambria Math"/>
                                        <a:ea typeface="Verdana" pitchFamily="34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PH" sz="2400" b="0" i="1" smtClean="0">
                                        <a:latin typeface="Cambria Math"/>
                                        <a:ea typeface="Verdana" pitchFamily="34" charset="0"/>
                                      </a:rPr>
                                      <m:t>(</m:t>
                                    </m:r>
                                    <m:r>
                                      <a:rPr lang="en-PH" sz="2400" b="0" i="1" smtClean="0">
                                        <a:latin typeface="Cambria Math"/>
                                        <a:ea typeface="Verdana" pitchFamily="34" charset="0"/>
                                      </a:rPr>
                                      <m:t>𝑥</m:t>
                                    </m:r>
                                    <m:r>
                                      <a:rPr lang="en-PH" sz="2400" b="0" i="1" smtClean="0">
                                        <a:latin typeface="Cambria Math"/>
                                        <a:ea typeface="Verdana" pitchFamily="34" charset="0"/>
                                      </a:rPr>
                                      <m:t>−7)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4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0" marR="0" marT="0" marB="4572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PH" sz="2400" dirty="0">
                              <a:latin typeface="Verdana" pitchFamily="34" charset="0"/>
                              <a:ea typeface="Verdana" pitchFamily="34" charset="0"/>
                            </a:rPr>
                            <a:t>Function Family: __________</a:t>
                          </a:r>
                          <a:endParaRPr lang="en-US" sz="24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0" marR="0" marT="0" marB="4572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PH" sz="2400" dirty="0">
                              <a:latin typeface="Verdana" pitchFamily="34" charset="0"/>
                              <a:ea typeface="Verdana" pitchFamily="34" charset="0"/>
                            </a:rPr>
                            <a:t>4.</a:t>
                          </a:r>
                          <a:endParaRPr lang="en-US" sz="24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0" marR="0" marT="0" marB="9144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PH" sz="2400" b="0" i="1" smtClean="0">
                                    <a:latin typeface="Cambria Math"/>
                                    <a:ea typeface="Verdana" pitchFamily="34" charset="0"/>
                                  </a:rPr>
                                  <m:t>𝑦</m:t>
                                </m:r>
                                <m:r>
                                  <a:rPr lang="en-PH" sz="2400" b="0" i="1" smtClean="0">
                                    <a:latin typeface="Cambria Math"/>
                                    <a:ea typeface="Verdana" pitchFamily="34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PH" sz="2400" b="0" i="1" smtClean="0">
                                        <a:latin typeface="Cambria Math" panose="02040503050406030204" pitchFamily="18" charset="0"/>
                                        <a:ea typeface="Verdana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PH" sz="2400" b="0" i="1" smtClean="0">
                                        <a:latin typeface="Cambria Math"/>
                                        <a:ea typeface="Verdana" pitchFamily="34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PH" sz="2400" b="0" i="1" smtClean="0">
                                        <a:latin typeface="Cambria Math"/>
                                        <a:ea typeface="Verdana" pitchFamily="34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PH" sz="2400" b="0" i="1" smtClean="0">
                                    <a:latin typeface="Cambria Math"/>
                                    <a:ea typeface="Verdana" pitchFamily="34" charset="0"/>
                                  </a:rPr>
                                  <m:t>+31</m:t>
                                </m:r>
                              </m:oMath>
                            </m:oMathPara>
                          </a14:m>
                          <a:endParaRPr lang="en-US" sz="24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0" marR="0" marT="0" marB="9144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PH" sz="2400" dirty="0">
                              <a:latin typeface="Verdana" pitchFamily="34" charset="0"/>
                              <a:ea typeface="Verdana" pitchFamily="34" charset="0"/>
                            </a:rPr>
                            <a:t>Function Family: __________</a:t>
                          </a:r>
                          <a:endParaRPr lang="en-US" sz="24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0" marR="0" marT="0" marB="9144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37530331"/>
                  </p:ext>
                </p:extLst>
              </p:nvPr>
            </p:nvGraphicFramePr>
            <p:xfrm>
              <a:off x="1498929" y="2099932"/>
              <a:ext cx="7498080" cy="438912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4572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01752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02336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1188720">
                    <a:tc>
                      <a:txBody>
                        <a:bodyPr/>
                        <a:lstStyle/>
                        <a:p>
                          <a:r>
                            <a:rPr lang="en-PH" sz="2400" dirty="0">
                              <a:latin typeface="Verdana" pitchFamily="34" charset="0"/>
                              <a:ea typeface="Verdana" pitchFamily="34" charset="0"/>
                            </a:rPr>
                            <a:t>1.</a:t>
                          </a:r>
                          <a:endParaRPr lang="en-US" sz="24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0" marR="0" marT="0" marB="4572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4572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5152" t="-7692" r="-133535" b="-2774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PH" sz="2400" dirty="0">
                              <a:latin typeface="Verdana" pitchFamily="34" charset="0"/>
                              <a:ea typeface="Verdana" pitchFamily="34" charset="0"/>
                            </a:rPr>
                            <a:t>Function Family: __________</a:t>
                          </a:r>
                          <a:endParaRPr lang="en-US" sz="24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0" marR="0" marT="0" marB="4572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r>
                            <a:rPr lang="en-PH" sz="2400" dirty="0">
                              <a:latin typeface="Verdana" pitchFamily="34" charset="0"/>
                              <a:ea typeface="Verdana" pitchFamily="34" charset="0"/>
                            </a:rPr>
                            <a:t>2.</a:t>
                          </a:r>
                          <a:endParaRPr lang="en-US" sz="24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0" marR="0" marT="0" marB="4572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4572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5152" t="-107143" r="-133535" b="-1760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PH" sz="2400" dirty="0">
                              <a:latin typeface="Verdana" pitchFamily="34" charset="0"/>
                              <a:ea typeface="Verdana" pitchFamily="34" charset="0"/>
                            </a:rPr>
                            <a:t>Function Family: __________</a:t>
                          </a:r>
                          <a:endParaRPr lang="en-US" sz="24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0" marR="0" marT="0" marB="4572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r>
                            <a:rPr lang="en-PH" sz="2400" dirty="0">
                              <a:latin typeface="Verdana" pitchFamily="34" charset="0"/>
                              <a:ea typeface="Verdana" pitchFamily="34" charset="0"/>
                            </a:rPr>
                            <a:t>3.</a:t>
                          </a:r>
                          <a:endParaRPr lang="en-US" sz="24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0" marR="0" marT="0" marB="4572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4572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5152" t="-208205" r="-133535" b="-76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PH" sz="2400" dirty="0">
                              <a:latin typeface="Verdana" pitchFamily="34" charset="0"/>
                              <a:ea typeface="Verdana" pitchFamily="34" charset="0"/>
                            </a:rPr>
                            <a:t>Function Family: __________</a:t>
                          </a:r>
                          <a:endParaRPr lang="en-US" sz="24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0" marR="0" marT="0" marB="45720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r>
                            <a:rPr lang="en-PH" sz="2400" dirty="0">
                              <a:latin typeface="Verdana" pitchFamily="34" charset="0"/>
                              <a:ea typeface="Verdana" pitchFamily="34" charset="0"/>
                            </a:rPr>
                            <a:t>4.</a:t>
                          </a:r>
                          <a:endParaRPr lang="en-US" sz="24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0" marR="0" marT="0" marB="9144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9144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5152" t="-445185" r="-133535" b="-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PH" sz="2400" dirty="0">
                              <a:latin typeface="Verdana" pitchFamily="34" charset="0"/>
                              <a:ea typeface="Verdana" pitchFamily="34" charset="0"/>
                            </a:rPr>
                            <a:t>Function Family: __________</a:t>
                          </a:r>
                          <a:endParaRPr lang="en-US" sz="24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0" marR="0" marT="0" marB="9144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FCCCCC80-9441-D69D-B13D-7BCDCDF0776D}"/>
              </a:ext>
            </a:extLst>
          </p:cNvPr>
          <p:cNvSpPr txBox="1"/>
          <p:nvPr/>
        </p:nvSpPr>
        <p:spPr>
          <a:xfrm>
            <a:off x="87371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>
            <a:extLst>
              <a:ext uri="{FF2B5EF4-FFF2-40B4-BE49-F238E27FC236}">
                <a16:creationId xmlns:a16="http://schemas.microsoft.com/office/drawing/2014/main" id="{89B678EF-73C1-E22B-60AC-D7ED6FAA9D64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3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480712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547" y="-8225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9256927"/>
              </p:ext>
            </p:extLst>
          </p:nvPr>
        </p:nvGraphicFramePr>
        <p:xfrm>
          <a:off x="1916430" y="199825"/>
          <a:ext cx="8503920" cy="6278880"/>
        </p:xfrm>
        <a:graphic>
          <a:graphicData uri="http://schemas.openxmlformats.org/drawingml/2006/table">
            <a:tbl>
              <a:tblPr firstRow="1" bandRow="1">
                <a:tableStyleId>{A91F0D33-8C57-4600-99A7-42BC86742BE1}</a:tableStyleId>
              </a:tblPr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5.</a:t>
                      </a:r>
                    </a:p>
                    <a:p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pPr marL="341313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Function Family: _______</a:t>
                      </a:r>
                    </a:p>
                  </a:txBody>
                  <a:tcPr marL="0" marR="0" marT="0" marB="18288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6.</a:t>
                      </a:r>
                    </a:p>
                    <a:p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pPr marL="401638" indent="0"/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Function Family: _______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7.</a:t>
                      </a:r>
                    </a:p>
                    <a:p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pPr marL="34290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Function Family: _______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8.</a:t>
                      </a:r>
                    </a:p>
                    <a:p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endParaRPr lang="en-PH" sz="2000" dirty="0"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pPr marL="457200" indent="0"/>
                      <a:r>
                        <a:rPr lang="en-PH" sz="2000" dirty="0">
                          <a:latin typeface="Verdana" pitchFamily="34" charset="0"/>
                          <a:ea typeface="Verdana" pitchFamily="34" charset="0"/>
                        </a:rPr>
                        <a:t>Function Family: _______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7" name="Picture 6" descr="Chart, line chart&#10;&#10;Description automatically generated"/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84857" y="249936"/>
            <a:ext cx="2468880" cy="2468880"/>
          </a:xfrm>
          <a:prstGeom prst="rect">
            <a:avLst/>
          </a:prstGeom>
        </p:spPr>
      </p:pic>
      <p:pic>
        <p:nvPicPr>
          <p:cNvPr id="8" name="Picture 7" descr="A picture containing racquetball, game&#10;&#10;Description automatically generated"/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39484" y="249936"/>
            <a:ext cx="2468880" cy="2468880"/>
          </a:xfrm>
          <a:prstGeom prst="rect">
            <a:avLst/>
          </a:prstGeom>
        </p:spPr>
      </p:pic>
      <p:pic>
        <p:nvPicPr>
          <p:cNvPr id="9" name="Picture 8" descr="Chart, line chart&#10;&#10;Description automatically generated"/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84857" y="3503020"/>
            <a:ext cx="2468880" cy="2468880"/>
          </a:xfrm>
          <a:prstGeom prst="rect">
            <a:avLst/>
          </a:prstGeom>
        </p:spPr>
      </p:pic>
      <p:pic>
        <p:nvPicPr>
          <p:cNvPr id="10" name="Picture 9" descr="Chart, line chart&#10;&#10;Description automatically generated"/>
          <p:cNvPicPr/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69895" y="3503020"/>
            <a:ext cx="2468880" cy="2468880"/>
          </a:xfrm>
          <a:prstGeom prst="rect">
            <a:avLst/>
          </a:prstGeom>
        </p:spPr>
      </p:pic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77F2DAE2-875F-B0FC-6F4E-A64F66A275D9}"/>
              </a:ext>
            </a:extLst>
          </p:cNvPr>
          <p:cNvSpPr txBox="1"/>
          <p:nvPr/>
        </p:nvSpPr>
        <p:spPr>
          <a:xfrm>
            <a:off x="87371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>
            <a:extLst>
              <a:ext uri="{FF2B5EF4-FFF2-40B4-BE49-F238E27FC236}">
                <a16:creationId xmlns:a16="http://schemas.microsoft.com/office/drawing/2014/main" id="{67618AAF-BDC3-985C-B4C5-C5A066AE8B18}"/>
              </a:ext>
            </a:extLst>
          </p:cNvPr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3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4919408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-77970" y="-8225"/>
            <a:ext cx="2731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18439" y="276197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97433" y="2916570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92F0EA4C-55C3-8B44-C001-38986A72ADFF}"/>
              </a:ext>
            </a:extLst>
          </p:cNvPr>
          <p:cNvSpPr txBox="1"/>
          <p:nvPr/>
        </p:nvSpPr>
        <p:spPr>
          <a:xfrm>
            <a:off x="87371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id="{905FC90F-8A52-55B4-5658-D463E75CEBDF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3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276726" y="262819"/>
            <a:ext cx="8019300" cy="662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0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1.1.5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750" y="220594"/>
            <a:ext cx="747300" cy="7473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E281112-0763-C941-9DB7-9B28C4EA4745}"/>
              </a:ext>
            </a:extLst>
          </p:cNvPr>
          <p:cNvSpPr/>
          <p:nvPr/>
        </p:nvSpPr>
        <p:spPr>
          <a:xfrm>
            <a:off x="843148" y="1224530"/>
            <a:ext cx="1077735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 you begin your journey through Algebra 1, rate yourself on where you feel you are today on the following skills.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E9A4021-4C84-FD42-91C7-7FFCB04E36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6703160"/>
              </p:ext>
            </p:extLst>
          </p:nvPr>
        </p:nvGraphicFramePr>
        <p:xfrm>
          <a:off x="2256458" y="2302865"/>
          <a:ext cx="7223760" cy="4226372"/>
        </p:xfrm>
        <a:graphic>
          <a:graphicData uri="http://schemas.openxmlformats.org/drawingml/2006/table">
            <a:tbl>
              <a:tblPr bandRow="1">
                <a:tableStyleId>{A91F0D33-8C57-4600-99A7-42BC86742BE1}</a:tableStyleId>
              </a:tblPr>
              <a:tblGrid>
                <a:gridCol w="3840480">
                  <a:extLst>
                    <a:ext uri="{9D8B030D-6E8A-4147-A177-3AD203B41FA5}">
                      <a16:colId xmlns:a16="http://schemas.microsoft.com/office/drawing/2014/main" val="3702860766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122925614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Skill</a:t>
                      </a:r>
                      <a:endParaRPr lang="x-none" sz="2000" b="1" i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1 – I am just starting.</a:t>
                      </a:r>
                      <a:endParaRPr lang="x-none" sz="20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2 – I have some skills.</a:t>
                      </a:r>
                      <a:endParaRPr lang="x-none" sz="20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3 – I am almost there.</a:t>
                      </a:r>
                      <a:endParaRPr lang="x-none" sz="20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4 – I have it!</a:t>
                      </a:r>
                      <a:endParaRPr lang="x-none" sz="2000" b="1" i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52683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 can evaluate expressions using order of operations.</a:t>
                      </a:r>
                      <a:endParaRPr lang="x-none" sz="2000" i="1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2000" i="1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351817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 can graph points on a coordinate plane.</a:t>
                      </a:r>
                      <a:endParaRPr lang="x-none" sz="2000" i="1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2000" i="1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929886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 can apply the laws of exponents.</a:t>
                      </a:r>
                      <a:endParaRPr lang="x-none" sz="2000" i="1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2000" i="1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812544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 can determine whether a relation is a function.</a:t>
                      </a:r>
                      <a:endParaRPr lang="x-none" sz="2000" i="1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2000" i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8090211"/>
                  </a:ext>
                </a:extLst>
              </a:tr>
            </a:tbl>
          </a:graphicData>
        </a:graphic>
      </p:graphicFrame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0DC2EB43-E1E1-9C34-925A-95005FC3B3E2}"/>
              </a:ext>
            </a:extLst>
          </p:cNvPr>
          <p:cNvSpPr txBox="1"/>
          <p:nvPr/>
        </p:nvSpPr>
        <p:spPr>
          <a:xfrm>
            <a:off x="87371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>
            <a:extLst>
              <a:ext uri="{FF2B5EF4-FFF2-40B4-BE49-F238E27FC236}">
                <a16:creationId xmlns:a16="http://schemas.microsoft.com/office/drawing/2014/main" id="{1C820750-C7F0-FE77-0EC5-56DC26CF067A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3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AE5E1E0-A54D-BE42-84B5-F917038ADE99}"/>
              </a:ext>
            </a:extLst>
          </p:cNvPr>
          <p:cNvSpPr txBox="1"/>
          <p:nvPr/>
        </p:nvSpPr>
        <p:spPr>
          <a:xfrm>
            <a:off x="843148" y="570314"/>
            <a:ext cx="106757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Rate yourself based on how you feel about the following statements.</a:t>
            </a:r>
          </a:p>
        </p:txBody>
      </p:sp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26763"/>
          </a:solidFill>
          <a:ln w="9525" cap="flat" cmpd="sng">
            <a:solidFill>
              <a:srgbClr val="F2676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E9A4021-4C84-FD42-91C7-7FFCB04E36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4161187"/>
              </p:ext>
            </p:extLst>
          </p:nvPr>
        </p:nvGraphicFramePr>
        <p:xfrm>
          <a:off x="2477704" y="1674219"/>
          <a:ext cx="7406640" cy="4044824"/>
        </p:xfrm>
        <a:graphic>
          <a:graphicData uri="http://schemas.openxmlformats.org/drawingml/2006/table">
            <a:tbl>
              <a:tblPr bandRow="1">
                <a:tableStyleId>{A91F0D33-8C57-4600-99A7-42BC86742BE1}</a:tableStyleId>
              </a:tblPr>
              <a:tblGrid>
                <a:gridCol w="3840480">
                  <a:extLst>
                    <a:ext uri="{9D8B030D-6E8A-4147-A177-3AD203B41FA5}">
                      <a16:colId xmlns:a16="http://schemas.microsoft.com/office/drawing/2014/main" val="3702860766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122925614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b="1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Statement</a:t>
                      </a:r>
                      <a:endParaRPr lang="x-none" sz="2000" b="1" i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b="1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1 – I struggle with this.</a:t>
                      </a:r>
                      <a:endParaRPr lang="en-US" sz="2000" i="1" dirty="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  <a:tabLst>
                          <a:tab pos="514350" algn="l"/>
                        </a:tabLst>
                      </a:pPr>
                      <a:r>
                        <a:rPr lang="en-US" sz="2000" b="1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2 – I am ready to grow</a:t>
                      </a:r>
                      <a:br>
                        <a:rPr lang="en-US" sz="2000" b="1" i="0" dirty="0">
                          <a:effectLst/>
                          <a:latin typeface="Verdana"/>
                          <a:ea typeface="Verdana"/>
                          <a:cs typeface="Verdana"/>
                        </a:rPr>
                      </a:br>
                      <a:r>
                        <a:rPr lang="en-US" sz="2000" dirty="0"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	</a:t>
                      </a:r>
                      <a:r>
                        <a:rPr lang="en-US" sz="2000" b="1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in this area.</a:t>
                      </a:r>
                      <a:endParaRPr lang="en-US" sz="2000" i="1" dirty="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b="1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3 – I am almost there.</a:t>
                      </a:r>
                      <a:endParaRPr lang="en-US" sz="2000" i="1" dirty="0">
                        <a:effectLst/>
                        <a:latin typeface="Cambria Math"/>
                        <a:ea typeface="Cambria Math"/>
                        <a:cs typeface="Cambria Math"/>
                      </a:endParaRPr>
                    </a:p>
                    <a:p>
                      <a:r>
                        <a:rPr lang="en-US" sz="2000" b="1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4 – That’s me!</a:t>
                      </a:r>
                      <a:endParaRPr lang="x-none" sz="2000" b="1" i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52683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I am willing to try new things.</a:t>
                      </a:r>
                      <a:endParaRPr lang="x-none" sz="2000" i="1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2000" i="1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351817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I persevere when something is challenging.</a:t>
                      </a:r>
                      <a:endParaRPr lang="x-none" sz="2000" i="1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2000" i="1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929886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I am a student learner.</a:t>
                      </a:r>
                      <a:endParaRPr lang="x-none" sz="2000" i="1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2000" i="1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812544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i="0" dirty="0">
                          <a:effectLst/>
                          <a:latin typeface="Verdana"/>
                          <a:ea typeface="Verdana"/>
                          <a:cs typeface="Verdana"/>
                        </a:rPr>
                        <a:t>I am a mathematician.</a:t>
                      </a:r>
                      <a:endParaRPr lang="x-none" sz="2000" i="1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2000" i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8090211"/>
                  </a:ext>
                </a:extLst>
              </a:tr>
            </a:tbl>
          </a:graphicData>
        </a:graphic>
      </p:graphicFrame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00C749FE-3CDD-A1D4-81B5-0D6457D41DA3}"/>
              </a:ext>
            </a:extLst>
          </p:cNvPr>
          <p:cNvSpPr txBox="1"/>
          <p:nvPr/>
        </p:nvSpPr>
        <p:spPr>
          <a:xfrm>
            <a:off x="87371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>
            <a:extLst>
              <a:ext uri="{FF2B5EF4-FFF2-40B4-BE49-F238E27FC236}">
                <a16:creationId xmlns:a16="http://schemas.microsoft.com/office/drawing/2014/main" id="{395D53EC-10ED-0BFD-0D8A-603F13369574}"/>
              </a:ext>
            </a:extLst>
          </p:cNvPr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753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5932260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3186</TotalTime>
  <Words>1353</Words>
  <Application>Microsoft Office PowerPoint</Application>
  <PresentationFormat>Widescreen</PresentationFormat>
  <Paragraphs>387</Paragraphs>
  <Slides>36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4" baseType="lpstr">
      <vt:lpstr>Verdana</vt:lpstr>
      <vt:lpstr>Wingdings</vt:lpstr>
      <vt:lpstr>Century Gothic</vt:lpstr>
      <vt:lpstr>Calibri</vt:lpstr>
      <vt:lpstr>Arial Black</vt:lpstr>
      <vt:lpstr>Cambria Math</vt:lpstr>
      <vt:lpstr>Arial</vt:lpstr>
      <vt:lpstr>1_Office Theme</vt:lpstr>
      <vt:lpstr>Algebra 1  Unit 1, Lesson 1  Classifying Parent Functions  Volume 1, pg. 3  </vt:lpstr>
      <vt:lpstr>Benchmark</vt:lpstr>
      <vt:lpstr>PowerPoint Presentation</vt:lpstr>
      <vt:lpstr>PowerPoint Presentation</vt:lpstr>
      <vt:lpstr>Warm-Up</vt:lpstr>
      <vt:lpstr>PowerPoint Presentation</vt:lpstr>
      <vt:lpstr>PowerPoint Presentation</vt:lpstr>
      <vt:lpstr>Activity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PowerPoint Presentation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Natasha Dease</cp:lastModifiedBy>
  <cp:revision>44</cp:revision>
  <dcterms:created xsi:type="dcterms:W3CDTF">2015-03-17T18:51:18Z</dcterms:created>
  <dcterms:modified xsi:type="dcterms:W3CDTF">2022-06-21T14:41:04Z</dcterms:modified>
</cp:coreProperties>
</file>