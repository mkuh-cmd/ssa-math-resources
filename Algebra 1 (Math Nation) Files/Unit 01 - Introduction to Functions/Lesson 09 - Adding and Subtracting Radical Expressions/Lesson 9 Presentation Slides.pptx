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66" r:id="rId11"/>
    <p:sldId id="346" r:id="rId12"/>
    <p:sldId id="347" r:id="rId13"/>
    <p:sldId id="368" r:id="rId14"/>
    <p:sldId id="369" r:id="rId15"/>
    <p:sldId id="370" r:id="rId16"/>
    <p:sldId id="371" r:id="rId17"/>
    <p:sldId id="372" r:id="rId18"/>
    <p:sldId id="361" r:id="rId19"/>
    <p:sldId id="362" r:id="rId20"/>
    <p:sldId id="373" r:id="rId21"/>
    <p:sldId id="354" r:id="rId22"/>
    <p:sldId id="355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4" autoAdjust="0"/>
    <p:restoredTop sz="94687"/>
  </p:normalViewPr>
  <p:slideViewPr>
    <p:cSldViewPr snapToGrid="0">
      <p:cViewPr varScale="1">
        <p:scale>
          <a:sx n="81" d="100"/>
          <a:sy n="81" d="100"/>
        </p:scale>
        <p:origin x="69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036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5992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780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8440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8668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19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569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9903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6412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82019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and Subtracting Radical Expressions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7206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906" y="3200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55023" y="1462225"/>
            <a:ext cx="97971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MA.912.NSO.1.4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previous understanding of operations with rational numbers to add, subtract, multiply, and divide numerical radicals.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8D1A4C2-2C75-B481-AF55-55419B8158C8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673" y="323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449973" y="208044"/>
            <a:ext cx="97722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797673" y="1533744"/>
            <a:ext cx="10103875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20ACD04-6E6E-F9DE-7444-2AA6706EA42F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46DE5700-D248-A7B1-D561-287235E09AA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61392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43148" y="1605336"/>
            <a:ext cx="907156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add or subtract two square roots or two cube roots.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BD205DFF-A45E-889E-EC50-1613C070133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933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03825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5E6B23C-4845-9DAB-89B9-B23EC4FBC70D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5D042EB3-5496-3D40-1A24-6E1ADF39F92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4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76401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1.9.1 Warm-Up: Adding and Subtracting Algebraic Expressions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808" y="1963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59808" y="1522034"/>
            <a:ext cx="9808192" cy="403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sum or difference of each algebraic expression.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 to explain why is it possible to combine the terms in each of these expressions.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and subtracting algebraic expressions,</a:t>
            </a:r>
          </a:p>
          <a:p>
            <a:pPr marL="447675">
              <a:lnSpc>
                <a:spcPct val="20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 terms can be combined.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780986"/>
                  </p:ext>
                </p:extLst>
              </p:nvPr>
            </p:nvGraphicFramePr>
            <p:xfrm>
              <a:off x="2514599" y="2343150"/>
              <a:ext cx="6154387" cy="457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0880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7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682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4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𝑥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+23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−7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𝑡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−40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−35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𝑏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+10</m:t>
                                </m:r>
                                <m:r>
                                  <a:rPr kumimoji="0" lang="en-US" sz="24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  <a:sym typeface="Arial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780986"/>
                  </p:ext>
                </p:extLst>
              </p:nvPr>
            </p:nvGraphicFramePr>
            <p:xfrm>
              <a:off x="2514599" y="2343150"/>
              <a:ext cx="6154387" cy="457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0880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7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682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194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5014" r="-85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9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040538A3-0CF1-F91C-F124-D87F6F2371DB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2BB59921-8C28-A383-53BD-20E83AE34DE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0416BA-FF24-D444-A6F0-432FF9CDE561}"/>
                  </a:ext>
                </a:extLst>
              </p:cNvPr>
              <p:cNvSpPr txBox="1"/>
              <p:nvPr/>
            </p:nvSpPr>
            <p:spPr>
              <a:xfrm>
                <a:off x="843148" y="567756"/>
                <a:ext cx="9837551" cy="5194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Which, if any, of the radical expressions do you think can be combined?</a:t>
                </a:r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32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13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40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48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−6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48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  <a:spcAft>
                    <a:spcPts val="1200"/>
                  </a:spcAft>
                  <a:buFont typeface="Wingdings" pitchFamily="2" charset="2"/>
                  <a:buChar char="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49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  <m:rad>
                      <m:radPr>
                        <m:degHide m:val="on"/>
                        <m:ctrlPr>
                          <a:rPr lang="x-none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e>
                    </m:rad>
                  </m:oMath>
                </a14:m>
                <a:endParaRPr lang="x-none" sz="2400" dirty="0">
                  <a:latin typeface="Verdana" pitchFamily="34" charset="0"/>
                  <a:ea typeface="Verdana" pitchFamily="34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0416BA-FF24-D444-A6F0-432FF9CDE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567756"/>
                <a:ext cx="9837551" cy="5194242"/>
              </a:xfrm>
              <a:prstGeom prst="rect">
                <a:avLst/>
              </a:prstGeom>
              <a:blipFill>
                <a:blip r:embed="rId3"/>
                <a:stretch>
                  <a:fillRect l="-929" t="-1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D67BF26-EF67-3638-5793-7625479E67C8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3EEC56C-D029-D523-CEF1-3986D3EBE02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3379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.png" descr="Icon&#10;&#10;Description automatically generated">
            <a:extLst>
              <a:ext uri="{FF2B5EF4-FFF2-40B4-BE49-F238E27FC236}">
                <a16:creationId xmlns:a16="http://schemas.microsoft.com/office/drawing/2014/main" id="{6EE26CD0-686A-454D-A535-428C99EDF56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17234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E169B3-2EFC-AAC4-3B83-7CF3D774BDA3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B6331D52-F652-3D99-D8F3-2ED4F115E21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05152" y="203768"/>
            <a:ext cx="9959533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1.9.2 Exploration: Adding and Subtracting Radical Expressions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31274" y="1790170"/>
                <a:ext cx="9824026" cy="2385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small groups, determine the value of each expression.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71600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100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25+100</m:t>
                        </m:r>
                      </m:e>
                    </m:ra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 algn="ctr"/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 algn="ctr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of the expressions is equivalent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" y="1790170"/>
                <a:ext cx="9824026" cy="2385397"/>
              </a:xfrm>
              <a:prstGeom prst="rect">
                <a:avLst/>
              </a:prstGeom>
              <a:blipFill>
                <a:blip r:embed="rId3"/>
                <a:stretch>
                  <a:fillRect l="-931" t="-2046" b="-4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.png" descr="Icon&#10;&#10;Description automatically generated">
            <a:extLst>
              <a:ext uri="{FF2B5EF4-FFF2-40B4-BE49-F238E27FC236}">
                <a16:creationId xmlns:a16="http://schemas.microsoft.com/office/drawing/2014/main" id="{5A6509A3-A77A-B54C-980D-EE184687E30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3424" y="255901"/>
            <a:ext cx="749810" cy="749810"/>
          </a:xfrm>
          <a:prstGeom prst="rect">
            <a:avLst/>
          </a:prstGeom>
          <a:ln/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B73E5F3-85FB-9437-221A-0B95EFD33EA0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4D73926-C544-9281-8A83-B8F6A3D7A3B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55023" y="452469"/>
                <a:ext cx="9856520" cy="5620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Paloma says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Ty’rique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says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Who is correct? Verify by entering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into a calculator.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7675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 is correct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16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equal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_____.</a:t>
                </a: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7675">
                  <a:lnSpc>
                    <a:spcPct val="150000"/>
                  </a:lnSpc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Xavier says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3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Sam says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2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Who is correct? Verify using a calculator.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47675" indent="9525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 is correct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equal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_______.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452469"/>
                <a:ext cx="9856520" cy="5620769"/>
              </a:xfrm>
              <a:prstGeom prst="rect">
                <a:avLst/>
              </a:prstGeom>
              <a:blipFill>
                <a:blip r:embed="rId3"/>
                <a:stretch>
                  <a:fillRect l="-928" t="-325" b="-1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3CC796D6-2341-BF9A-A1F0-D2496DFE4232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5EECEE8E-8E73-1BCB-644D-EB23FE7CB78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443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7437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FF5571C4-19FE-A040-8066-1C12AD17EF5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396013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AF3D325-476D-6B5C-703C-8F29D6BB568F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B366350-CEB3-6335-A90D-EFFAAEA6DEF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74821" y="177364"/>
            <a:ext cx="9591459" cy="86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1.9.3 Guided Instruction: Adding and Subtracting Radical Expressions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7873" y="1235748"/>
                <a:ext cx="9591459" cy="5137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adding and subtracting algebraic expressions, only </a:t>
                </a:r>
                <a:r>
                  <a:rPr lang="en-US" altLang="en-US" sz="2000" b="1" i="1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like terms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combined. Adding and subtracting radical expressions is similar because only like radicals can be combined.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sum or difference of each radical expression. </a:t>
                </a:r>
              </a:p>
              <a:p>
                <a:pPr marL="914400" indent="-450850">
                  <a:spcAft>
                    <a:spcPts val="2000"/>
                  </a:spcAft>
                  <a:buFont typeface="+mj-lt"/>
                  <a:buAutoNum type="alphaLcPeriod"/>
                </a:pPr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+7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</a:t>
                </a:r>
              </a:p>
              <a:p>
                <a:pPr marL="914400" indent="-450850">
                  <a:spcAft>
                    <a:spcPts val="2000"/>
                  </a:spcAft>
                  <a:buFont typeface="+mj-lt"/>
                  <a:buAutoNum type="alphaLcPeriod"/>
                </a:pPr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30</m:t>
                    </m:r>
                    <m:rad>
                      <m:rad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−23</m:t>
                    </m:r>
                    <m:rad>
                      <m:rad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    </a:t>
                </a:r>
              </a:p>
              <a:p>
                <a:pPr marL="914400" indent="-450850">
                  <a:spcAft>
                    <a:spcPts val="2000"/>
                  </a:spcAft>
                  <a:buFont typeface="+mj-lt"/>
                  <a:buAutoNum type="alphaLcPeriod"/>
                </a:pPr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−10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−23</m:t>
                    </m:r>
                    <m:rad>
                      <m:rad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g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</a:t>
                </a:r>
              </a:p>
              <a:p>
                <a:pPr marL="914400" indent="-450850">
                  <a:spcAft>
                    <a:spcPts val="2000"/>
                  </a:spcAft>
                  <a:buFont typeface="+mj-lt"/>
                  <a:buAutoNum type="alphaLcPeriod"/>
                </a:pPr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7873" y="1235748"/>
                <a:ext cx="9591459" cy="5137112"/>
              </a:xfrm>
              <a:prstGeom prst="rect">
                <a:avLst/>
              </a:prstGeom>
              <a:blipFill>
                <a:blip r:embed="rId3"/>
                <a:stretch>
                  <a:fillRect l="-699" t="-713" r="-954" b="-11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C47D6B3D-F683-E543-99E1-03AF7F83F3F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223" y="135138"/>
            <a:ext cx="747302" cy="747302"/>
          </a:xfrm>
          <a:prstGeom prst="rect">
            <a:avLst/>
          </a:prstGeom>
          <a:ln/>
        </p:spPr>
      </p:pic>
      <p:grpSp>
        <p:nvGrpSpPr>
          <p:cNvPr id="2" name="Group 1"/>
          <p:cNvGrpSpPr/>
          <p:nvPr/>
        </p:nvGrpSpPr>
        <p:grpSpPr>
          <a:xfrm>
            <a:off x="1602668" y="2544515"/>
            <a:ext cx="7674053" cy="933021"/>
            <a:chOff x="1188921" y="3894754"/>
            <a:chExt cx="7674053" cy="933021"/>
          </a:xfrm>
        </p:grpSpPr>
        <p:sp>
          <p:nvSpPr>
            <p:cNvPr id="10" name="Rectangle: Rounded Corners 114">
              <a:extLst>
                <a:ext uri="{FF2B5EF4-FFF2-40B4-BE49-F238E27FC236}">
                  <a16:creationId xmlns:a16="http://schemas.microsoft.com/office/drawing/2014/main" id="{80B44CF8-6ED9-2840-91E8-1A386958189E}"/>
                </a:ext>
              </a:extLst>
            </p:cNvPr>
            <p:cNvSpPr/>
            <p:nvPr/>
          </p:nvSpPr>
          <p:spPr>
            <a:xfrm>
              <a:off x="1188921" y="3894754"/>
              <a:ext cx="7674053" cy="933021"/>
            </a:xfrm>
            <a:prstGeom prst="roundRect">
              <a:avLst/>
            </a:prstGeom>
            <a:solidFill>
              <a:srgbClr val="B8E6F5"/>
            </a:solidFill>
            <a:ln>
              <a:solidFill>
                <a:srgbClr val="B8E6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6858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solidFill>
                    <a:srgbClr val="1175BF"/>
                  </a:solidFill>
                  <a:latin typeface="Verdana" panose="020B0604030504040204" pitchFamily="34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Like radicals</a:t>
              </a:r>
              <a:r>
                <a:rPr lang="en-US" sz="2000" dirty="0">
                  <a:solidFill>
                    <a:srgbClr val="1175BF"/>
                  </a:solidFill>
                  <a:latin typeface="Verdana" panose="020B0604030504040204" pitchFamily="34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 are radical terms that have the same index and the same radicand.</a:t>
              </a:r>
              <a:endParaRPr lang="x-none" sz="200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pic>
          <p:nvPicPr>
            <p:cNvPr id="11" name="image3.png" descr="Icon&#10;&#10;Description automatically generated">
              <a:extLst>
                <a:ext uri="{FF2B5EF4-FFF2-40B4-BE49-F238E27FC236}">
                  <a16:creationId xmlns:a16="http://schemas.microsoft.com/office/drawing/2014/main" id="{7FA70624-C371-444F-A2DD-B9240E1738FF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34445" y="4096339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B5892B-397F-F8C0-D6B3-7CBCBE972438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99353925-8898-6C27-D81A-A90D77D265BA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37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3148" y="475955"/>
            <a:ext cx="98802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steps can be used when adding and subtracting radical expressions.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1: Find perfect squares (for square roots) or perfect cubes (for cube roots) that are factors of the radicand.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2: Rewrite the radical expressions by applying the product law of radicals and evaluating any perfect squares or cubes.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4767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3: Add or subtract like radical terms.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06462A7E-89E4-780B-1944-E8C785A6C925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11FE1356-E23F-0B98-CFB2-5C5B595ADBB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1654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3148" y="467246"/>
                <a:ext cx="10236530" cy="4980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steps to add the following radical expression.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6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+5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24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476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1: Both terms include square roots. If possible, find perfect squares that are factors of the radicands, 6 and 24.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476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2: Rewrite the radical expressions by applying the product law of radicals and evaluating any perfect squares.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6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+5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24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=______________+_______________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indent="4476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3: Add or subtract like radical terms.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467246"/>
                <a:ext cx="10236530" cy="4980722"/>
              </a:xfrm>
              <a:prstGeom prst="rect">
                <a:avLst/>
              </a:prstGeom>
              <a:blipFill>
                <a:blip r:embed="rId3"/>
                <a:stretch>
                  <a:fillRect l="-893" t="-979" b="-1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15256AA5-714B-BFE6-524B-684E3DE3281A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DFFF3305-D7A7-4921-1947-818D20C6BB9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9471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3147" y="493372"/>
                <a:ext cx="10248405" cy="4932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students added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180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differently. Their work is shown.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calculator to verify if the students’ answers are equivalent.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493372"/>
                <a:ext cx="10248405" cy="4932184"/>
              </a:xfrm>
              <a:prstGeom prst="rect">
                <a:avLst/>
              </a:prstGeom>
              <a:blipFill>
                <a:blip r:embed="rId3"/>
                <a:stretch>
                  <a:fillRect l="-892" t="-371" b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55A7BEB-3730-8547-BA30-F4CFA0A063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3170890"/>
                  </p:ext>
                </p:extLst>
              </p:nvPr>
            </p:nvGraphicFramePr>
            <p:xfrm>
              <a:off x="2578392" y="1554690"/>
              <a:ext cx="6440170" cy="24295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09183086"/>
                        </a:ext>
                      </a:extLst>
                    </a:gridCol>
                    <a:gridCol w="2051050">
                      <a:extLst>
                        <a:ext uri="{9D8B030D-6E8A-4147-A177-3AD203B41FA5}">
                          <a16:colId xmlns:a16="http://schemas.microsoft.com/office/drawing/2014/main" val="416409188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90850980"/>
                        </a:ext>
                      </a:extLst>
                    </a:gridCol>
                  </a:tblGrid>
                  <a:tr h="4806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Gerald’s Work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Kalo’s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Paola’s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093036"/>
                      </a:ext>
                    </a:extLst>
                  </a:tr>
                  <a:tr h="165417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180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180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20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180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6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9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8847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55A7BEB-3730-8547-BA30-F4CFA0A063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3170890"/>
                  </p:ext>
                </p:extLst>
              </p:nvPr>
            </p:nvGraphicFramePr>
            <p:xfrm>
              <a:off x="2578392" y="1554690"/>
              <a:ext cx="6440170" cy="24295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09183086"/>
                        </a:ext>
                      </a:extLst>
                    </a:gridCol>
                    <a:gridCol w="2051050">
                      <a:extLst>
                        <a:ext uri="{9D8B030D-6E8A-4147-A177-3AD203B41FA5}">
                          <a16:colId xmlns:a16="http://schemas.microsoft.com/office/drawing/2014/main" val="416409188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90850980"/>
                        </a:ext>
                      </a:extLst>
                    </a:gridCol>
                  </a:tblGrid>
                  <a:tr h="4806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Gerald’s Work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Kalo’s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Paola’s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093036"/>
                      </a:ext>
                    </a:extLst>
                  </a:tr>
                  <a:tr h="19488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6" t="-25313" r="-181915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202" t="-25313" r="-103571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069" t="-25313" r="-578" b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8847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7EEC18B-693D-FBB2-DCA5-BD7D685986C3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E4D906D9-A13E-B08C-3BC2-44FB059B2B1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56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3148" y="493649"/>
            <a:ext cx="98375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did the students end up with different expressions for their sum?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 how Gerald and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Kalo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could continue their work to arrive at the same expression as Paola.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ADF5EE-E4AF-1440-BB67-065FE2037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900833"/>
                  </p:ext>
                </p:extLst>
              </p:nvPr>
            </p:nvGraphicFramePr>
            <p:xfrm>
              <a:off x="2607007" y="2885222"/>
              <a:ext cx="6542618" cy="35760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71309">
                      <a:extLst>
                        <a:ext uri="{9D8B030D-6E8A-4147-A177-3AD203B41FA5}">
                          <a16:colId xmlns:a16="http://schemas.microsoft.com/office/drawing/2014/main" val="1301160999"/>
                        </a:ext>
                      </a:extLst>
                    </a:gridCol>
                    <a:gridCol w="3271309">
                      <a:extLst>
                        <a:ext uri="{9D8B030D-6E8A-4147-A177-3AD203B41FA5}">
                          <a16:colId xmlns:a16="http://schemas.microsoft.com/office/drawing/2014/main" val="3041006589"/>
                        </a:ext>
                      </a:extLst>
                    </a:gridCol>
                  </a:tblGrid>
                  <a:tr h="2752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Gerald’s Next Steps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Kalo’s Next Steps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5834951"/>
                      </a:ext>
                    </a:extLst>
                  </a:tr>
                  <a:tr h="30959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20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+3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1371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ADF5EE-E4AF-1440-BB67-065FE2037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900833"/>
                  </p:ext>
                </p:extLst>
              </p:nvPr>
            </p:nvGraphicFramePr>
            <p:xfrm>
              <a:off x="2607007" y="2885222"/>
              <a:ext cx="6542618" cy="35760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71309">
                      <a:extLst>
                        <a:ext uri="{9D8B030D-6E8A-4147-A177-3AD203B41FA5}">
                          <a16:colId xmlns:a16="http://schemas.microsoft.com/office/drawing/2014/main" val="1301160999"/>
                        </a:ext>
                      </a:extLst>
                    </a:gridCol>
                    <a:gridCol w="3271309">
                      <a:extLst>
                        <a:ext uri="{9D8B030D-6E8A-4147-A177-3AD203B41FA5}">
                          <a16:colId xmlns:a16="http://schemas.microsoft.com/office/drawing/2014/main" val="3041006589"/>
                        </a:ext>
                      </a:extLst>
                    </a:gridCol>
                  </a:tblGrid>
                  <a:tr h="4801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Gerald’s Next Steps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Kalo’s Next Steps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5834951"/>
                      </a:ext>
                    </a:extLst>
                  </a:tr>
                  <a:tr h="3095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6" t="-15748" r="-100559" b="-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86" t="-15748" r="-559" b="-5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51371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97DF942-4FDC-B4D6-7252-35C7A290A2D0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B7A4D6D0-399C-360F-5E86-2869E701916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0941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3148" y="493372"/>
                <a:ext cx="9850251" cy="2351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Megh showed her work on the problem.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32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64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8·4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+4=2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4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+4=6</m:t>
                      </m:r>
                      <m:rad>
                        <m:ra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radPr>
                        <m:deg>
                          <m:r>
                            <a:rPr lang="en-U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deg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402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explanation to Megh explaining the error in her work.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493372"/>
                <a:ext cx="9850251" cy="2351862"/>
              </a:xfrm>
              <a:prstGeom prst="rect">
                <a:avLst/>
              </a:prstGeom>
              <a:blipFill>
                <a:blip r:embed="rId3"/>
                <a:stretch>
                  <a:fillRect l="-928" t="-2073" b="-4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70031189-9C57-E9E2-C9B1-4C84242403DC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B5C72644-E0EF-BBD5-7CFA-16761B422D2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843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326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EB3AE54-B0EA-6344-8025-AF5E2828F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4498" y="284992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0E37B30-61EA-B08D-30D8-F28738550DB9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1FF12A13-A8EB-EB27-7F4D-0508F0EAB81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187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642104" y="210871"/>
            <a:ext cx="9152566" cy="79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1.9.4 Guided Practice: Adding and Subtracting Radical Expressions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5" y="1500349"/>
            <a:ext cx="10323471" cy="85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Select all of the expressions that can be combined. For the selected expressions, combine the terms. Show your work. </a:t>
            </a:r>
            <a:endParaRPr lang="x-none" sz="2000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71162AB1-D87B-FD4B-B2C6-873E0C13F1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375" y="208571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485745"/>
                  </p:ext>
                </p:extLst>
              </p:nvPr>
            </p:nvGraphicFramePr>
            <p:xfrm>
              <a:off x="2105025" y="2610397"/>
              <a:ext cx="6978016" cy="228053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89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890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6446"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17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32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8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40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9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5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13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−8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11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48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−6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48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−7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17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+3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17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49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−3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63550" indent="-463550">
                            <a:buFont typeface="Wingdings" pitchFamily="2" charset="2"/>
                            <a:buChar char="q"/>
                          </a:pPr>
                          <a14:m>
                            <m:oMath xmlns:m="http://schemas.openxmlformats.org/officeDocument/2006/math"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9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Verdana" pitchFamily="34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24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PH" sz="24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5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485745"/>
                  </p:ext>
                </p:extLst>
              </p:nvPr>
            </p:nvGraphicFramePr>
            <p:xfrm>
              <a:off x="2105025" y="2610397"/>
              <a:ext cx="6978016" cy="228053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89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890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6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99825" b="-282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r="175" b="-282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93333" r="-99825" b="-16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93333" r="175" b="-16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1509" r="-99825" b="-62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191509" r="175" b="-62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39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68182" r="-9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619200F-2B59-1C39-8274-C369B0DBE626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831061CA-242D-453E-9221-DE5908077DE0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996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55023" y="342541"/>
            <a:ext cx="9812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a partner, find the sum and difference of the following problems. If you cannot add or subtract, circle the expression.</a:t>
            </a:r>
            <a:endParaRPr lang="x-non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06CD89-63AB-EB4C-A7FA-A332FB7051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9633835"/>
                  </p:ext>
                </p:extLst>
              </p:nvPr>
            </p:nvGraphicFramePr>
            <p:xfrm>
              <a:off x="1393667" y="1859417"/>
              <a:ext cx="7132320" cy="39751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471541041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3008225251"/>
                        </a:ext>
                      </a:extLst>
                    </a:gridCol>
                  </a:tblGrid>
                  <a:tr h="1980257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x-none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e>
                              </m:ra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+3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 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x-none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</m:ra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−3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45</m:t>
                                  </m:r>
                                </m:e>
                              </m:rad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5254027"/>
                      </a:ext>
                    </a:extLst>
                  </a:tr>
                  <a:tr h="199490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x-none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x-none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x-none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</a:t>
                          </a:r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x-none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72</m:t>
                                  </m:r>
                                </m:e>
                              </m:rad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18</m:t>
                                  </m:r>
                                </m:e>
                              </m:rad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15</m:t>
                                  </m:r>
                                </m:e>
                              </m:rad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73982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06CD89-63AB-EB4C-A7FA-A332FB7051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9633835"/>
                  </p:ext>
                </p:extLst>
              </p:nvPr>
            </p:nvGraphicFramePr>
            <p:xfrm>
              <a:off x="1393667" y="1859417"/>
              <a:ext cx="7132320" cy="39751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2471541041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3008225251"/>
                        </a:ext>
                      </a:extLst>
                    </a:gridCol>
                  </a:tblGrid>
                  <a:tr h="19802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692" r="-99829" b="-100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71" t="-3692" b="-100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254027"/>
                      </a:ext>
                    </a:extLst>
                  </a:tr>
                  <a:tr h="19949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02744" r="-99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814" marR="41814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171" t="-102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3982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7F816DF-6C82-0C5B-8E30-B4C49A0484EC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8F33317-5D2C-A81E-17DD-E2BB8C6558E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282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03015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8958" y="284575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8BFABEB-1959-B364-B045-46F22C4700F1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604860D-39E3-4120-2951-C76FBB6BEBE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642104" y="242812"/>
            <a:ext cx="8306646" cy="5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1.9.5 Your Turn!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0" y="1198393"/>
            <a:ext cx="9856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sum or difference. If you cannot add or subtract, circle the expression.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049" y="121283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42F4CCF-E197-EE41-B516-72A2AD6992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271403"/>
                  </p:ext>
                </p:extLst>
              </p:nvPr>
            </p:nvGraphicFramePr>
            <p:xfrm>
              <a:off x="1321470" y="2446500"/>
              <a:ext cx="7132320" cy="33203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3819699838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982498632"/>
                        </a:ext>
                      </a:extLst>
                    </a:gridCol>
                  </a:tblGrid>
                  <a:tr h="1660176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lphaLcPeriod"/>
                          </a:pPr>
                          <a:r>
                            <a:rPr lang="x-none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27000</m:t>
                                  </m:r>
                                </m:e>
                              </m:rad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512</m:t>
                                  </m:r>
                                </m:e>
                              </m:rad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lphaLcPeriod" startAt="2"/>
                          </a:pPr>
                          <a:r>
                            <a:rPr lang="x-none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18 </m:t>
                                  </m:r>
                                </m:e>
                              </m:ra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rad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9808749"/>
                      </a:ext>
                    </a:extLst>
                  </a:tr>
                  <a:tr h="1660176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lphaLcPeriod" startAt="3"/>
                          </a:pPr>
                          <a:r>
                            <a:rPr lang="x-none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e>
                              </m:rad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48</m:t>
                                  </m:r>
                                </m:e>
                              </m:rad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lphaLcPeriod" startAt="4"/>
                          </a:pPr>
                          <a:r>
                            <a:rPr lang="x-none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32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x-none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x-none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16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x-none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</m:oMath>
                          </a14:m>
                          <a:endParaRPr lang="x-none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38316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42F4CCF-E197-EE41-B516-72A2AD6992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271403"/>
                  </p:ext>
                </p:extLst>
              </p:nvPr>
            </p:nvGraphicFramePr>
            <p:xfrm>
              <a:off x="1321470" y="2446500"/>
              <a:ext cx="7132320" cy="33203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160">
                      <a:extLst>
                        <a:ext uri="{9D8B030D-6E8A-4147-A177-3AD203B41FA5}">
                          <a16:colId xmlns:a16="http://schemas.microsoft.com/office/drawing/2014/main" val="3819699838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982498632"/>
                        </a:ext>
                      </a:extLst>
                    </a:gridCol>
                  </a:tblGrid>
                  <a:tr h="1660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4396" r="-998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171" t="-439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808749"/>
                      </a:ext>
                    </a:extLst>
                  </a:tr>
                  <a:tr h="1660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4396" r="-99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171" t="-104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38316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901F25F-9227-DBBC-A974-FAE334B690F5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B69A893-276E-F6C3-F585-8C3FB3B8A4E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53951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3310" y="291656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8A8C6BF-8B36-E950-2187-64A6EEE1161A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864F27DA-B0F6-C895-D606-4AF172BBCBB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43788" y="273615"/>
            <a:ext cx="9737769" cy="825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1.9.6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063" y="312874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855023" y="1560947"/>
                <a:ext cx="9951522" cy="12438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sum.</a:t>
                </a:r>
              </a:p>
              <a:p>
                <a:pPr/>
                <a:endParaRPr lang="en-US" sz="2400" i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17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e>
                      </m:rad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+5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1560947"/>
                <a:ext cx="9951522" cy="1243867"/>
              </a:xfrm>
              <a:prstGeom prst="rect">
                <a:avLst/>
              </a:prstGeom>
              <a:blipFill>
                <a:blip r:embed="rId4"/>
                <a:stretch>
                  <a:fillRect l="-919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A1D26A-2CC6-F41D-08F3-8C6527AD1BF1}"/>
              </a:ext>
            </a:extLst>
          </p:cNvPr>
          <p:cNvSpPr txBox="1"/>
          <p:nvPr/>
        </p:nvSpPr>
        <p:spPr>
          <a:xfrm>
            <a:off x="893972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66E3F2B-1FB3-2462-6757-4423BEEF4AA7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3304</TotalTime>
  <Words>1110</Words>
  <Application>Microsoft Office PowerPoint</Application>
  <PresentationFormat>Widescreen</PresentationFormat>
  <Paragraphs>196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Algebra 1  Unit 1, Lesson 9  Adding and Subtracting Radical Expressions  Volume 1, pg. 45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38</cp:revision>
  <dcterms:created xsi:type="dcterms:W3CDTF">2015-03-17T18:51:18Z</dcterms:created>
  <dcterms:modified xsi:type="dcterms:W3CDTF">2022-06-22T14:50:07Z</dcterms:modified>
</cp:coreProperties>
</file>