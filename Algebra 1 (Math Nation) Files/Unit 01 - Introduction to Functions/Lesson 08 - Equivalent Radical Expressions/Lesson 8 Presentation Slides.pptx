
<file path=[Content_Types].xml><?xml version="1.0" encoding="utf-8"?>
<Types xmlns="http://schemas.openxmlformats.org/package/2006/content-types">
  <Default Extension="fntdata" ContentType="application/x-fontdata"/>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5"/>
  </p:notesMasterIdLst>
  <p:sldIdLst>
    <p:sldId id="256" r:id="rId2"/>
    <p:sldId id="257" r:id="rId3"/>
    <p:sldId id="345" r:id="rId4"/>
    <p:sldId id="286" r:id="rId5"/>
    <p:sldId id="261" r:id="rId6"/>
    <p:sldId id="287" r:id="rId7"/>
    <p:sldId id="314" r:id="rId8"/>
    <p:sldId id="315" r:id="rId9"/>
    <p:sldId id="363" r:id="rId10"/>
    <p:sldId id="365" r:id="rId11"/>
    <p:sldId id="346" r:id="rId12"/>
    <p:sldId id="347" r:id="rId13"/>
    <p:sldId id="349" r:id="rId14"/>
    <p:sldId id="367" r:id="rId15"/>
    <p:sldId id="369" r:id="rId16"/>
    <p:sldId id="361" r:id="rId17"/>
    <p:sldId id="362" r:id="rId18"/>
    <p:sldId id="370" r:id="rId19"/>
    <p:sldId id="354" r:id="rId20"/>
    <p:sldId id="355" r:id="rId21"/>
    <p:sldId id="356" r:id="rId22"/>
    <p:sldId id="306" r:id="rId23"/>
    <p:sldId id="307" r:id="rId24"/>
  </p:sldIdLst>
  <p:sldSz cx="12192000" cy="6858000"/>
  <p:notesSz cx="6858000" cy="9144000"/>
  <p:embeddedFontLst>
    <p:embeddedFont>
      <p:font typeface="Arial Black" panose="020B0A04020102020204" pitchFamily="34" charset="0"/>
      <p:bold r:id="rId26"/>
    </p:embeddedFont>
    <p:embeddedFont>
      <p:font typeface="Calibri" panose="020F0502020204030204" pitchFamily="34" charset="0"/>
      <p:regular r:id="rId27"/>
      <p:bold r:id="rId28"/>
      <p:italic r:id="rId29"/>
      <p:boldItalic r:id="rId30"/>
    </p:embeddedFont>
    <p:embeddedFont>
      <p:font typeface="Cambria Math" panose="02040503050406030204" pitchFamily="18" charset="0"/>
      <p:regular r:id="rId31"/>
    </p:embeddedFont>
    <p:embeddedFont>
      <p:font typeface="Century Gothic" panose="020B0502020202020204" pitchFamily="34" charset="0"/>
      <p:regular r:id="rId32"/>
      <p:bold r:id="rId33"/>
      <p:italic r:id="rId34"/>
      <p:boldItalic r:id="rId35"/>
    </p:embeddedFont>
    <p:embeddedFont>
      <p:font typeface="Verdana" panose="020B0604030504040204" pitchFamily="34"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http://customooxmlschemas.google.com/">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53" roundtripDataSignature="AMtx7miXGu+iP6Z2M0kNO/4dLqrShsAMT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26763"/>
    <a:srgbClr val="E24E5F"/>
    <a:srgbClr val="1765AD"/>
    <a:srgbClr val="1664AC"/>
    <a:srgbClr val="BFBFBF"/>
    <a:srgbClr val="C9DF6F"/>
    <a:srgbClr val="417DBF"/>
    <a:srgbClr val="3F2A67"/>
    <a:srgbClr val="26B7D4"/>
    <a:srgbClr val="54B5D1"/>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A91F0D33-8C57-4600-99A7-42BC86742BE1}">
  <a:tblStyle styleId="{A91F0D33-8C57-4600-99A7-42BC86742BE1}"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770"/>
    <p:restoredTop sz="94704"/>
  </p:normalViewPr>
  <p:slideViewPr>
    <p:cSldViewPr snapToGrid="0">
      <p:cViewPr varScale="1">
        <p:scale>
          <a:sx n="81" d="100"/>
          <a:sy n="81" d="100"/>
        </p:scale>
        <p:origin x="720" y="84"/>
      </p:cViewPr>
      <p:guideLst>
        <p:guide orient="horz" pos="2160"/>
        <p:guide pos="3840"/>
      </p:guideLst>
    </p:cSldViewPr>
  </p:slideViewPr>
  <p:notesTextViewPr>
    <p:cViewPr>
      <p:scale>
        <a:sx n="75" d="100"/>
        <a:sy n="7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1.fntdata"/><Relationship Id="rId39" Type="http://schemas.openxmlformats.org/officeDocument/2006/relationships/font" Target="fonts/font14.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9.fntdata"/><Relationship Id="rId55"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33" Type="http://schemas.openxmlformats.org/officeDocument/2006/relationships/font" Target="fonts/font8.fntdata"/><Relationship Id="rId38" Type="http://schemas.openxmlformats.org/officeDocument/2006/relationships/font" Target="fonts/font13.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4.fntdata"/><Relationship Id="rId54"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7.fntdata"/><Relationship Id="rId37" Type="http://schemas.openxmlformats.org/officeDocument/2006/relationships/font" Target="fonts/font12.fntdata"/><Relationship Id="rId53"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3.fntdata"/><Relationship Id="rId36" Type="http://schemas.openxmlformats.org/officeDocument/2006/relationships/font" Target="fonts/font11.fntdata"/><Relationship Id="rId57"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2.fntdata"/><Relationship Id="rId30" Type="http://schemas.openxmlformats.org/officeDocument/2006/relationships/font" Target="fonts/font5.fntdata"/><Relationship Id="rId35" Type="http://schemas.openxmlformats.org/officeDocument/2006/relationships/font" Target="fonts/font10.fntdata"/><Relationship Id="rId56"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L="914400" marR="0" lvl="1"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2pPr>
            <a:lvl3pPr marL="1371600" marR="0" lvl="2"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3pPr>
            <a:lvl4pPr marL="1828800" marR="0" lvl="3"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4pPr>
            <a:lvl5pPr marL="2286000" marR="0" lvl="4"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5pPr>
            <a:lvl6pPr marL="2743200" marR="0" lvl="5"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6pPr>
            <a:lvl7pPr marL="3200400" marR="0" lvl="6"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7pPr>
            <a:lvl8pPr marL="3657600" marR="0" lvl="7"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8pPr>
            <a:lvl9pPr marL="4114800" marR="0" lvl="8" indent="-22860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spcBef>
                <a:spcPts val="0"/>
              </a:spcBef>
              <a:spcAft>
                <a:spcPts val="0"/>
              </a:spcAft>
              <a:buSzPts val="1400"/>
              <a:buNone/>
              <a:defRPr sz="1200" b="0" i="0" u="none" strike="noStrike" cap="none">
                <a:solidFill>
                  <a:schemeClr val="dk1"/>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spcBef>
                <a:spcPts val="0"/>
              </a:spcBef>
              <a:spcAft>
                <a:spcPts val="0"/>
              </a:spcAft>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extLst>
      <p:ext uri="{BB962C8B-B14F-4D97-AF65-F5344CB8AC3E}">
        <p14:creationId xmlns:p14="http://schemas.microsoft.com/office/powerpoint/2010/main" val="2733560350"/>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6"/>
        <p:cNvGrpSpPr/>
        <p:nvPr/>
      </p:nvGrpSpPr>
      <p:grpSpPr>
        <a:xfrm>
          <a:off x="0" y="0"/>
          <a:ext cx="0" cy="0"/>
          <a:chOff x="0" y="0"/>
          <a:chExt cx="0" cy="0"/>
        </a:xfrm>
      </p:grpSpPr>
      <p:sp>
        <p:nvSpPr>
          <p:cNvPr id="257" name="Google Shape;257;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58" name="Google Shape;258;g104476d1465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4</a:t>
            </a:fld>
            <a:endParaRPr/>
          </a:p>
        </p:txBody>
      </p:sp>
    </p:spTree>
    <p:extLst>
      <p:ext uri="{BB962C8B-B14F-4D97-AF65-F5344CB8AC3E}">
        <p14:creationId xmlns:p14="http://schemas.microsoft.com/office/powerpoint/2010/main" val="17468404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5</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r>
              <a:rPr lang="en-US" dirty="0"/>
              <a:t>Video Link: https://</a:t>
            </a:r>
            <a:r>
              <a:rPr lang="en-US" dirty="0" err="1"/>
              <a:t>algebranation.wistia.com</a:t>
            </a:r>
            <a:r>
              <a:rPr lang="en-US" dirty="0"/>
              <a:t>/medias/fi4fidi5y8</a:t>
            </a: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6</a:t>
            </a:fld>
            <a:endParaRPr/>
          </a:p>
        </p:txBody>
      </p:sp>
    </p:spTree>
    <p:extLst>
      <p:ext uri="{BB962C8B-B14F-4D97-AF65-F5344CB8AC3E}">
        <p14:creationId xmlns:p14="http://schemas.microsoft.com/office/powerpoint/2010/main" val="158337895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7</a:t>
            </a:fld>
            <a:endParaRPr/>
          </a:p>
        </p:txBody>
      </p:sp>
    </p:spTree>
    <p:extLst>
      <p:ext uri="{BB962C8B-B14F-4D97-AF65-F5344CB8AC3E}">
        <p14:creationId xmlns:p14="http://schemas.microsoft.com/office/powerpoint/2010/main" val="2580380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8</a:t>
            </a:fld>
            <a:endParaRPr/>
          </a:p>
        </p:txBody>
      </p:sp>
    </p:spTree>
    <p:extLst>
      <p:ext uri="{BB962C8B-B14F-4D97-AF65-F5344CB8AC3E}">
        <p14:creationId xmlns:p14="http://schemas.microsoft.com/office/powerpoint/2010/main" val="263999061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9</a:t>
            </a:fld>
            <a:endParaRPr/>
          </a:p>
        </p:txBody>
      </p:sp>
    </p:spTree>
    <p:extLst>
      <p:ext uri="{BB962C8B-B14F-4D97-AF65-F5344CB8AC3E}">
        <p14:creationId xmlns:p14="http://schemas.microsoft.com/office/powerpoint/2010/main" val="341042321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dirty="0"/>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10</a:t>
            </a:fld>
            <a:endParaRPr/>
          </a:p>
        </p:txBody>
      </p:sp>
    </p:spTree>
    <p:extLst>
      <p:ext uri="{BB962C8B-B14F-4D97-AF65-F5344CB8AC3E}">
        <p14:creationId xmlns:p14="http://schemas.microsoft.com/office/powerpoint/2010/main" val="390777516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11</a:t>
            </a:fld>
            <a:endParaRPr/>
          </a:p>
        </p:txBody>
      </p:sp>
    </p:spTree>
    <p:extLst>
      <p:ext uri="{BB962C8B-B14F-4D97-AF65-F5344CB8AC3E}">
        <p14:creationId xmlns:p14="http://schemas.microsoft.com/office/powerpoint/2010/main" val="2838804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12</a:t>
            </a:fld>
            <a:endParaRPr/>
          </a:p>
        </p:txBody>
      </p:sp>
    </p:spTree>
    <p:extLst>
      <p:ext uri="{BB962C8B-B14F-4D97-AF65-F5344CB8AC3E}">
        <p14:creationId xmlns:p14="http://schemas.microsoft.com/office/powerpoint/2010/main" val="391724327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13</a:t>
            </a:fld>
            <a:endParaRPr/>
          </a:p>
        </p:txBody>
      </p:sp>
    </p:spTree>
    <p:extLst>
      <p:ext uri="{BB962C8B-B14F-4D97-AF65-F5344CB8AC3E}">
        <p14:creationId xmlns:p14="http://schemas.microsoft.com/office/powerpoint/2010/main" val="4301364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14</a:t>
            </a:fld>
            <a:endParaRPr/>
          </a:p>
        </p:txBody>
      </p:sp>
    </p:spTree>
    <p:extLst>
      <p:ext uri="{BB962C8B-B14F-4D97-AF65-F5344CB8AC3E}">
        <p14:creationId xmlns:p14="http://schemas.microsoft.com/office/powerpoint/2010/main" val="216241598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15</a:t>
            </a:fld>
            <a:endParaRPr/>
          </a:p>
        </p:txBody>
      </p:sp>
    </p:spTree>
    <p:extLst>
      <p:ext uri="{BB962C8B-B14F-4D97-AF65-F5344CB8AC3E}">
        <p14:creationId xmlns:p14="http://schemas.microsoft.com/office/powerpoint/2010/main" val="131642224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16</a:t>
            </a:fld>
            <a:endParaRPr/>
          </a:p>
        </p:txBody>
      </p:sp>
    </p:spTree>
    <p:extLst>
      <p:ext uri="{BB962C8B-B14F-4D97-AF65-F5344CB8AC3E}">
        <p14:creationId xmlns:p14="http://schemas.microsoft.com/office/powerpoint/2010/main" val="248012747"/>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17</a:t>
            </a:fld>
            <a:endParaRPr/>
          </a:p>
        </p:txBody>
      </p:sp>
    </p:spTree>
    <p:extLst>
      <p:ext uri="{BB962C8B-B14F-4D97-AF65-F5344CB8AC3E}">
        <p14:creationId xmlns:p14="http://schemas.microsoft.com/office/powerpoint/2010/main" val="48949605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18</a:t>
            </a:fld>
            <a:endParaRPr/>
          </a:p>
        </p:txBody>
      </p:sp>
    </p:spTree>
    <p:extLst>
      <p:ext uri="{BB962C8B-B14F-4D97-AF65-F5344CB8AC3E}">
        <p14:creationId xmlns:p14="http://schemas.microsoft.com/office/powerpoint/2010/main" val="387930967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19</a:t>
            </a:fld>
            <a:endParaRPr/>
          </a:p>
        </p:txBody>
      </p:sp>
    </p:spTree>
    <p:extLst>
      <p:ext uri="{BB962C8B-B14F-4D97-AF65-F5344CB8AC3E}">
        <p14:creationId xmlns:p14="http://schemas.microsoft.com/office/powerpoint/2010/main" val="1991907636"/>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20</a:t>
            </a:fld>
            <a:endParaRPr/>
          </a:p>
        </p:txBody>
      </p:sp>
    </p:spTree>
    <p:extLst>
      <p:ext uri="{BB962C8B-B14F-4D97-AF65-F5344CB8AC3E}">
        <p14:creationId xmlns:p14="http://schemas.microsoft.com/office/powerpoint/2010/main" val="656340306"/>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21</a:t>
            </a:fld>
            <a:endParaRPr/>
          </a:p>
        </p:txBody>
      </p:sp>
    </p:spTree>
    <p:extLst>
      <p:ext uri="{BB962C8B-B14F-4D97-AF65-F5344CB8AC3E}">
        <p14:creationId xmlns:p14="http://schemas.microsoft.com/office/powerpoint/2010/main" val="149403054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4"/>
        <p:cNvGrpSpPr/>
        <p:nvPr/>
      </p:nvGrpSpPr>
      <p:grpSpPr>
        <a:xfrm>
          <a:off x="0" y="0"/>
          <a:ext cx="0" cy="0"/>
          <a:chOff x="0" y="0"/>
          <a:chExt cx="0" cy="0"/>
        </a:xfrm>
      </p:grpSpPr>
      <p:sp>
        <p:nvSpPr>
          <p:cNvPr id="305" name="Google Shape;305;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306" name="Google Shape;306;g104476d1465_1_39: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307" name="Google Shape;307;g104476d1465_1_39: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None/>
            </a:pPr>
            <a:fld id="{00000000-1234-1234-1234-123412341234}" type="slidenum">
              <a:rPr lang="en-US"/>
              <a:t>22</a:t>
            </a:fld>
            <a:endParaRPr/>
          </a:p>
        </p:txBody>
      </p:sp>
    </p:spTree>
    <p:extLst>
      <p:ext uri="{BB962C8B-B14F-4D97-AF65-F5344CB8AC3E}">
        <p14:creationId xmlns:p14="http://schemas.microsoft.com/office/powerpoint/2010/main" val="716688106"/>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3"/>
        <p:cNvGrpSpPr/>
        <p:nvPr/>
      </p:nvGrpSpPr>
      <p:grpSpPr>
        <a:xfrm>
          <a:off x="0" y="0"/>
          <a:ext cx="0" cy="0"/>
          <a:chOff x="0" y="0"/>
          <a:chExt cx="0" cy="0"/>
        </a:xfrm>
      </p:grpSpPr>
      <p:sp>
        <p:nvSpPr>
          <p:cNvPr id="274" name="Google Shape;274;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275" name="Google Shape;275;g104476d1465_1_17:notes"/>
          <p:cNvSpPr txBox="1">
            <a:spLocks noGrp="1"/>
          </p:cNvSpPr>
          <p:nvPr>
            <p:ph type="body" idx="1"/>
          </p:nvPr>
        </p:nvSpPr>
        <p:spPr>
          <a:xfrm>
            <a:off x="685800" y="4400550"/>
            <a:ext cx="5486400" cy="36006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276" name="Google Shape;276;g104476d1465_1_17:notes"/>
          <p:cNvSpPr txBox="1">
            <a:spLocks noGrp="1"/>
          </p:cNvSpPr>
          <p:nvPr>
            <p:ph type="sldNum" idx="12"/>
          </p:nvPr>
        </p:nvSpPr>
        <p:spPr>
          <a:xfrm>
            <a:off x="3884613" y="8685213"/>
            <a:ext cx="2971800" cy="4587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Font typeface="Arial"/>
              <a:buNone/>
            </a:pPr>
            <a:fld id="{00000000-1234-1234-1234-123412341234}" type="slidenum">
              <a:rPr lang="en-US"/>
              <a:t>23</a:t>
            </a:fld>
            <a:endParaRPr/>
          </a:p>
        </p:txBody>
      </p:sp>
    </p:spTree>
    <p:extLst>
      <p:ext uri="{BB962C8B-B14F-4D97-AF65-F5344CB8AC3E}">
        <p14:creationId xmlns:p14="http://schemas.microsoft.com/office/powerpoint/2010/main" val="193732810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5"/>
        <p:cNvGrpSpPr/>
        <p:nvPr/>
      </p:nvGrpSpPr>
      <p:grpSpPr>
        <a:xfrm>
          <a:off x="0" y="0"/>
          <a:ext cx="0" cy="0"/>
          <a:chOff x="0" y="0"/>
          <a:chExt cx="0" cy="0"/>
        </a:xfrm>
      </p:grpSpPr>
      <p:sp>
        <p:nvSpPr>
          <p:cNvPr id="16" name="Google Shape;16;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rtl="0">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rtl="0">
              <a:spcBef>
                <a:spcPts val="0"/>
              </a:spcBef>
              <a:spcAft>
                <a:spcPts val="0"/>
              </a:spcAft>
              <a:buSzPts val="1400"/>
              <a:buNone/>
              <a:defRPr sz="7200"/>
            </a:lvl2pPr>
            <a:lvl3pPr lvl="2" rtl="0">
              <a:spcBef>
                <a:spcPts val="0"/>
              </a:spcBef>
              <a:spcAft>
                <a:spcPts val="0"/>
              </a:spcAft>
              <a:buSzPts val="1400"/>
              <a:buNone/>
              <a:defRPr sz="7200"/>
            </a:lvl3pPr>
            <a:lvl4pPr lvl="3" rtl="0">
              <a:spcBef>
                <a:spcPts val="0"/>
              </a:spcBef>
              <a:spcAft>
                <a:spcPts val="0"/>
              </a:spcAft>
              <a:buSzPts val="1400"/>
              <a:buNone/>
              <a:defRPr sz="7200"/>
            </a:lvl4pPr>
            <a:lvl5pPr lvl="4" rtl="0">
              <a:spcBef>
                <a:spcPts val="0"/>
              </a:spcBef>
              <a:spcAft>
                <a:spcPts val="0"/>
              </a:spcAft>
              <a:buSzPts val="1400"/>
              <a:buNone/>
              <a:defRPr sz="7200"/>
            </a:lvl5pPr>
            <a:lvl6pPr lvl="5" rtl="0">
              <a:spcBef>
                <a:spcPts val="0"/>
              </a:spcBef>
              <a:spcAft>
                <a:spcPts val="0"/>
              </a:spcAft>
              <a:buSzPts val="1400"/>
              <a:buNone/>
              <a:defRPr sz="7200"/>
            </a:lvl6pPr>
            <a:lvl7pPr lvl="6" rtl="0">
              <a:spcBef>
                <a:spcPts val="0"/>
              </a:spcBef>
              <a:spcAft>
                <a:spcPts val="0"/>
              </a:spcAft>
              <a:buSzPts val="1400"/>
              <a:buNone/>
              <a:defRPr sz="7200"/>
            </a:lvl7pPr>
            <a:lvl8pPr lvl="7" rtl="0">
              <a:spcBef>
                <a:spcPts val="0"/>
              </a:spcBef>
              <a:spcAft>
                <a:spcPts val="0"/>
              </a:spcAft>
              <a:buSzPts val="1400"/>
              <a:buNone/>
              <a:defRPr sz="7200"/>
            </a:lvl8pPr>
            <a:lvl9pPr lvl="8" rtl="0">
              <a:spcBef>
                <a:spcPts val="0"/>
              </a:spcBef>
              <a:spcAft>
                <a:spcPts val="0"/>
              </a:spcAft>
              <a:buSzPts val="1400"/>
              <a:buNone/>
              <a:defRPr sz="72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
        <p:cNvGrpSpPr/>
        <p:nvPr/>
      </p:nvGrpSpPr>
      <p:grpSpPr>
        <a:xfrm>
          <a:off x="0" y="0"/>
          <a:ext cx="0" cy="0"/>
          <a:chOff x="0" y="0"/>
          <a:chExt cx="0" cy="0"/>
        </a:xfrm>
      </p:grpSpPr>
      <p:sp>
        <p:nvSpPr>
          <p:cNvPr id="18" name="Google Shape;18;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19" name="Google Shape;19;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rtl="0">
              <a:lnSpc>
                <a:spcPct val="90000"/>
              </a:lnSpc>
              <a:spcBef>
                <a:spcPts val="750"/>
              </a:spcBef>
              <a:spcAft>
                <a:spcPts val="0"/>
              </a:spcAft>
              <a:buClr>
                <a:schemeClr val="dk1"/>
              </a:buClr>
              <a:buSzPts val="1800"/>
              <a:buNone/>
              <a:defRPr sz="1800"/>
            </a:lvl1pPr>
            <a:lvl2pPr lvl="1" algn="ctr" rtl="0">
              <a:lnSpc>
                <a:spcPct val="90000"/>
              </a:lnSpc>
              <a:spcBef>
                <a:spcPts val="375"/>
              </a:spcBef>
              <a:spcAft>
                <a:spcPts val="0"/>
              </a:spcAft>
              <a:buClr>
                <a:schemeClr val="dk1"/>
              </a:buClr>
              <a:buSzPts val="1500"/>
              <a:buNone/>
              <a:defRPr sz="1500"/>
            </a:lvl2pPr>
            <a:lvl3pPr lvl="2" algn="ctr" rtl="0">
              <a:lnSpc>
                <a:spcPct val="90000"/>
              </a:lnSpc>
              <a:spcBef>
                <a:spcPts val="375"/>
              </a:spcBef>
              <a:spcAft>
                <a:spcPts val="0"/>
              </a:spcAft>
              <a:buClr>
                <a:schemeClr val="dk1"/>
              </a:buClr>
              <a:buSzPts val="1350"/>
              <a:buNone/>
              <a:defRPr sz="1350"/>
            </a:lvl3pPr>
            <a:lvl4pPr lvl="3" algn="ctr" rtl="0">
              <a:lnSpc>
                <a:spcPct val="90000"/>
              </a:lnSpc>
              <a:spcBef>
                <a:spcPts val="375"/>
              </a:spcBef>
              <a:spcAft>
                <a:spcPts val="0"/>
              </a:spcAft>
              <a:buClr>
                <a:schemeClr val="dk1"/>
              </a:buClr>
              <a:buSzPts val="1200"/>
              <a:buNone/>
              <a:defRPr sz="1200"/>
            </a:lvl4pPr>
            <a:lvl5pPr lvl="4" algn="ctr" rtl="0">
              <a:lnSpc>
                <a:spcPct val="90000"/>
              </a:lnSpc>
              <a:spcBef>
                <a:spcPts val="375"/>
              </a:spcBef>
              <a:spcAft>
                <a:spcPts val="0"/>
              </a:spcAft>
              <a:buClr>
                <a:schemeClr val="dk1"/>
              </a:buClr>
              <a:buSzPts val="1200"/>
              <a:buNone/>
              <a:defRPr sz="1200"/>
            </a:lvl5pPr>
            <a:lvl6pPr lvl="5" algn="ctr" rtl="0">
              <a:lnSpc>
                <a:spcPct val="90000"/>
              </a:lnSpc>
              <a:spcBef>
                <a:spcPts val="375"/>
              </a:spcBef>
              <a:spcAft>
                <a:spcPts val="0"/>
              </a:spcAft>
              <a:buClr>
                <a:schemeClr val="dk1"/>
              </a:buClr>
              <a:buSzPts val="1200"/>
              <a:buNone/>
              <a:defRPr sz="1200"/>
            </a:lvl6pPr>
            <a:lvl7pPr lvl="6" algn="ctr" rtl="0">
              <a:lnSpc>
                <a:spcPct val="90000"/>
              </a:lnSpc>
              <a:spcBef>
                <a:spcPts val="375"/>
              </a:spcBef>
              <a:spcAft>
                <a:spcPts val="0"/>
              </a:spcAft>
              <a:buClr>
                <a:schemeClr val="dk1"/>
              </a:buClr>
              <a:buSzPts val="1200"/>
              <a:buNone/>
              <a:defRPr sz="1200"/>
            </a:lvl7pPr>
            <a:lvl8pPr lvl="7" algn="ctr" rtl="0">
              <a:lnSpc>
                <a:spcPct val="90000"/>
              </a:lnSpc>
              <a:spcBef>
                <a:spcPts val="375"/>
              </a:spcBef>
              <a:spcAft>
                <a:spcPts val="0"/>
              </a:spcAft>
              <a:buClr>
                <a:schemeClr val="dk1"/>
              </a:buClr>
              <a:buSzPts val="1200"/>
              <a:buNone/>
              <a:defRPr sz="1200"/>
            </a:lvl8pPr>
            <a:lvl9pPr lvl="8" algn="ctr" rtl="0">
              <a:lnSpc>
                <a:spcPct val="90000"/>
              </a:lnSpc>
              <a:spcBef>
                <a:spcPts val="375"/>
              </a:spcBef>
              <a:spcAft>
                <a:spcPts val="0"/>
              </a:spcAft>
              <a:buClr>
                <a:schemeClr val="dk1"/>
              </a:buClr>
              <a:buSzPts val="1200"/>
              <a:buNone/>
              <a:defRPr sz="1200"/>
            </a:lvl9pPr>
          </a:lstStyle>
          <a:p>
            <a:endParaRPr/>
          </a:p>
        </p:txBody>
      </p:sp>
      <p:sp>
        <p:nvSpPr>
          <p:cNvPr id="20" name="Google Shape;20;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1" name="Google Shape;21;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2" name="Google Shape;22;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3"/>
        <p:cNvGrpSpPr/>
        <p:nvPr/>
      </p:nvGrpSpPr>
      <p:grpSpPr>
        <a:xfrm>
          <a:off x="0" y="0"/>
          <a:ext cx="0" cy="0"/>
          <a:chOff x="0" y="0"/>
          <a:chExt cx="0" cy="0"/>
        </a:xfrm>
      </p:grpSpPr>
      <p:sp>
        <p:nvSpPr>
          <p:cNvPr id="24" name="Google Shape;24;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25" name="Google Shape;25;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26" name="Google Shape;26;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7" name="Google Shape;27;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28" name="Google Shape;28;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9"/>
        <p:cNvGrpSpPr/>
        <p:nvPr/>
      </p:nvGrpSpPr>
      <p:grpSpPr>
        <a:xfrm>
          <a:off x="0" y="0"/>
          <a:ext cx="0" cy="0"/>
          <a:chOff x="0" y="0"/>
          <a:chExt cx="0" cy="0"/>
        </a:xfrm>
      </p:grpSpPr>
      <p:sp>
        <p:nvSpPr>
          <p:cNvPr id="30" name="Google Shape;30;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4500"/>
              <a:buFont typeface="Calibri"/>
              <a:buNone/>
              <a:defRPr sz="45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1" name="Google Shape;31;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rgbClr val="888888"/>
              </a:buClr>
              <a:buSzPts val="1800"/>
              <a:buNone/>
              <a:defRPr sz="1800">
                <a:solidFill>
                  <a:srgbClr val="888888"/>
                </a:solidFill>
              </a:defRPr>
            </a:lvl1pPr>
            <a:lvl2pPr marL="914400" lvl="1" indent="-228600" algn="l" rtl="0">
              <a:lnSpc>
                <a:spcPct val="90000"/>
              </a:lnSpc>
              <a:spcBef>
                <a:spcPts val="375"/>
              </a:spcBef>
              <a:spcAft>
                <a:spcPts val="0"/>
              </a:spcAft>
              <a:buClr>
                <a:srgbClr val="888888"/>
              </a:buClr>
              <a:buSzPts val="1500"/>
              <a:buNone/>
              <a:defRPr sz="1500">
                <a:solidFill>
                  <a:srgbClr val="888888"/>
                </a:solidFill>
              </a:defRPr>
            </a:lvl2pPr>
            <a:lvl3pPr marL="1371600" lvl="2" indent="-228600" algn="l" rtl="0">
              <a:lnSpc>
                <a:spcPct val="90000"/>
              </a:lnSpc>
              <a:spcBef>
                <a:spcPts val="375"/>
              </a:spcBef>
              <a:spcAft>
                <a:spcPts val="0"/>
              </a:spcAft>
              <a:buClr>
                <a:srgbClr val="888888"/>
              </a:buClr>
              <a:buSzPts val="1350"/>
              <a:buNone/>
              <a:defRPr sz="1350">
                <a:solidFill>
                  <a:srgbClr val="888888"/>
                </a:solidFill>
              </a:defRPr>
            </a:lvl3pPr>
            <a:lvl4pPr marL="1828800" lvl="3" indent="-228600" algn="l" rtl="0">
              <a:lnSpc>
                <a:spcPct val="90000"/>
              </a:lnSpc>
              <a:spcBef>
                <a:spcPts val="375"/>
              </a:spcBef>
              <a:spcAft>
                <a:spcPts val="0"/>
              </a:spcAft>
              <a:buClr>
                <a:srgbClr val="888888"/>
              </a:buClr>
              <a:buSzPts val="1200"/>
              <a:buNone/>
              <a:defRPr sz="1200">
                <a:solidFill>
                  <a:srgbClr val="888888"/>
                </a:solidFill>
              </a:defRPr>
            </a:lvl4pPr>
            <a:lvl5pPr marL="2286000" lvl="4" indent="-228600" algn="l" rtl="0">
              <a:lnSpc>
                <a:spcPct val="90000"/>
              </a:lnSpc>
              <a:spcBef>
                <a:spcPts val="375"/>
              </a:spcBef>
              <a:spcAft>
                <a:spcPts val="0"/>
              </a:spcAft>
              <a:buClr>
                <a:srgbClr val="888888"/>
              </a:buClr>
              <a:buSzPts val="1200"/>
              <a:buNone/>
              <a:defRPr sz="1200">
                <a:solidFill>
                  <a:srgbClr val="888888"/>
                </a:solidFill>
              </a:defRPr>
            </a:lvl5pPr>
            <a:lvl6pPr marL="2743200" lvl="5" indent="-228600" algn="l" rtl="0">
              <a:lnSpc>
                <a:spcPct val="90000"/>
              </a:lnSpc>
              <a:spcBef>
                <a:spcPts val="375"/>
              </a:spcBef>
              <a:spcAft>
                <a:spcPts val="0"/>
              </a:spcAft>
              <a:buClr>
                <a:srgbClr val="888888"/>
              </a:buClr>
              <a:buSzPts val="1200"/>
              <a:buNone/>
              <a:defRPr sz="1200">
                <a:solidFill>
                  <a:srgbClr val="888888"/>
                </a:solidFill>
              </a:defRPr>
            </a:lvl6pPr>
            <a:lvl7pPr marL="3200400" lvl="6" indent="-228600" algn="l" rtl="0">
              <a:lnSpc>
                <a:spcPct val="90000"/>
              </a:lnSpc>
              <a:spcBef>
                <a:spcPts val="375"/>
              </a:spcBef>
              <a:spcAft>
                <a:spcPts val="0"/>
              </a:spcAft>
              <a:buClr>
                <a:srgbClr val="888888"/>
              </a:buClr>
              <a:buSzPts val="1200"/>
              <a:buNone/>
              <a:defRPr sz="1200">
                <a:solidFill>
                  <a:srgbClr val="888888"/>
                </a:solidFill>
              </a:defRPr>
            </a:lvl7pPr>
            <a:lvl8pPr marL="3657600" lvl="7" indent="-228600" algn="l" rtl="0">
              <a:lnSpc>
                <a:spcPct val="90000"/>
              </a:lnSpc>
              <a:spcBef>
                <a:spcPts val="375"/>
              </a:spcBef>
              <a:spcAft>
                <a:spcPts val="0"/>
              </a:spcAft>
              <a:buClr>
                <a:srgbClr val="888888"/>
              </a:buClr>
              <a:buSzPts val="1200"/>
              <a:buNone/>
              <a:defRPr sz="1200">
                <a:solidFill>
                  <a:srgbClr val="888888"/>
                </a:solidFill>
              </a:defRPr>
            </a:lvl8pPr>
            <a:lvl9pPr marL="4114800" lvl="8" indent="-228600" algn="l" rtl="0">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2" name="Google Shape;32;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3" name="Google Shape;33;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34" name="Google Shape;34;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5"/>
        <p:cNvGrpSpPr/>
        <p:nvPr/>
      </p:nvGrpSpPr>
      <p:grpSpPr>
        <a:xfrm>
          <a:off x="0" y="0"/>
          <a:ext cx="0" cy="0"/>
          <a:chOff x="0" y="0"/>
          <a:chExt cx="0" cy="0"/>
        </a:xfrm>
      </p:grpSpPr>
      <p:sp>
        <p:nvSpPr>
          <p:cNvPr id="36" name="Google Shape;36;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37" name="Google Shape;37;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8" name="Google Shape;38;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39" name="Google Shape;39;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0" name="Google Shape;40;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1" name="Google Shape;41;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2"/>
        <p:cNvGrpSpPr/>
        <p:nvPr/>
      </p:nvGrpSpPr>
      <p:grpSpPr>
        <a:xfrm>
          <a:off x="0" y="0"/>
          <a:ext cx="0" cy="0"/>
          <a:chOff x="0" y="0"/>
          <a:chExt cx="0" cy="0"/>
        </a:xfrm>
      </p:grpSpPr>
      <p:sp>
        <p:nvSpPr>
          <p:cNvPr id="43" name="Google Shape;43;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44" name="Google Shape;44;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5" name="Google Shape;45;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6" name="Google Shape;46;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rtl="0">
              <a:lnSpc>
                <a:spcPct val="90000"/>
              </a:lnSpc>
              <a:spcBef>
                <a:spcPts val="750"/>
              </a:spcBef>
              <a:spcAft>
                <a:spcPts val="0"/>
              </a:spcAft>
              <a:buClr>
                <a:schemeClr val="dk1"/>
              </a:buClr>
              <a:buSzPts val="1800"/>
              <a:buNone/>
              <a:defRPr sz="1800" b="1"/>
            </a:lvl1pPr>
            <a:lvl2pPr marL="914400" lvl="1" indent="-228600" algn="l" rtl="0">
              <a:lnSpc>
                <a:spcPct val="90000"/>
              </a:lnSpc>
              <a:spcBef>
                <a:spcPts val="375"/>
              </a:spcBef>
              <a:spcAft>
                <a:spcPts val="0"/>
              </a:spcAft>
              <a:buClr>
                <a:schemeClr val="dk1"/>
              </a:buClr>
              <a:buSzPts val="1500"/>
              <a:buNone/>
              <a:defRPr sz="1500" b="1"/>
            </a:lvl2pPr>
            <a:lvl3pPr marL="1371600" lvl="2" indent="-228600" algn="l" rtl="0">
              <a:lnSpc>
                <a:spcPct val="90000"/>
              </a:lnSpc>
              <a:spcBef>
                <a:spcPts val="375"/>
              </a:spcBef>
              <a:spcAft>
                <a:spcPts val="0"/>
              </a:spcAft>
              <a:buClr>
                <a:schemeClr val="dk1"/>
              </a:buClr>
              <a:buSzPts val="1350"/>
              <a:buNone/>
              <a:defRPr sz="1350" b="1"/>
            </a:lvl3pPr>
            <a:lvl4pPr marL="1828800" lvl="3" indent="-228600" algn="l" rtl="0">
              <a:lnSpc>
                <a:spcPct val="90000"/>
              </a:lnSpc>
              <a:spcBef>
                <a:spcPts val="375"/>
              </a:spcBef>
              <a:spcAft>
                <a:spcPts val="0"/>
              </a:spcAft>
              <a:buClr>
                <a:schemeClr val="dk1"/>
              </a:buClr>
              <a:buSzPts val="1200"/>
              <a:buNone/>
              <a:defRPr sz="1200" b="1"/>
            </a:lvl4pPr>
            <a:lvl5pPr marL="2286000" lvl="4" indent="-228600" algn="l" rtl="0">
              <a:lnSpc>
                <a:spcPct val="90000"/>
              </a:lnSpc>
              <a:spcBef>
                <a:spcPts val="375"/>
              </a:spcBef>
              <a:spcAft>
                <a:spcPts val="0"/>
              </a:spcAft>
              <a:buClr>
                <a:schemeClr val="dk1"/>
              </a:buClr>
              <a:buSzPts val="1200"/>
              <a:buNone/>
              <a:defRPr sz="1200" b="1"/>
            </a:lvl5pPr>
            <a:lvl6pPr marL="2743200" lvl="5" indent="-228600" algn="l" rtl="0">
              <a:lnSpc>
                <a:spcPct val="90000"/>
              </a:lnSpc>
              <a:spcBef>
                <a:spcPts val="375"/>
              </a:spcBef>
              <a:spcAft>
                <a:spcPts val="0"/>
              </a:spcAft>
              <a:buClr>
                <a:schemeClr val="dk1"/>
              </a:buClr>
              <a:buSzPts val="1200"/>
              <a:buNone/>
              <a:defRPr sz="1200" b="1"/>
            </a:lvl6pPr>
            <a:lvl7pPr marL="3200400" lvl="6" indent="-228600" algn="l" rtl="0">
              <a:lnSpc>
                <a:spcPct val="90000"/>
              </a:lnSpc>
              <a:spcBef>
                <a:spcPts val="375"/>
              </a:spcBef>
              <a:spcAft>
                <a:spcPts val="0"/>
              </a:spcAft>
              <a:buClr>
                <a:schemeClr val="dk1"/>
              </a:buClr>
              <a:buSzPts val="1200"/>
              <a:buNone/>
              <a:defRPr sz="1200" b="1"/>
            </a:lvl7pPr>
            <a:lvl8pPr marL="3657600" lvl="7" indent="-228600" algn="l" rtl="0">
              <a:lnSpc>
                <a:spcPct val="90000"/>
              </a:lnSpc>
              <a:spcBef>
                <a:spcPts val="375"/>
              </a:spcBef>
              <a:spcAft>
                <a:spcPts val="0"/>
              </a:spcAft>
              <a:buClr>
                <a:schemeClr val="dk1"/>
              </a:buClr>
              <a:buSzPts val="1200"/>
              <a:buNone/>
              <a:defRPr sz="1200" b="1"/>
            </a:lvl8pPr>
            <a:lvl9pPr marL="4114800" lvl="8" indent="-228600" algn="l" rtl="0">
              <a:lnSpc>
                <a:spcPct val="90000"/>
              </a:lnSpc>
              <a:spcBef>
                <a:spcPts val="375"/>
              </a:spcBef>
              <a:spcAft>
                <a:spcPts val="0"/>
              </a:spcAft>
              <a:buClr>
                <a:schemeClr val="dk1"/>
              </a:buClr>
              <a:buSzPts val="1200"/>
              <a:buNone/>
              <a:defRPr sz="1200" b="1"/>
            </a:lvl9pPr>
          </a:lstStyle>
          <a:p>
            <a:endParaRPr/>
          </a:p>
        </p:txBody>
      </p:sp>
      <p:sp>
        <p:nvSpPr>
          <p:cNvPr id="47" name="Google Shape;47;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48" name="Google Shape;48;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49" name="Google Shape;49;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0" name="Google Shape;50;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1"/>
        <p:cNvGrpSpPr/>
        <p:nvPr/>
      </p:nvGrpSpPr>
      <p:grpSpPr>
        <a:xfrm>
          <a:off x="0" y="0"/>
          <a:ext cx="0" cy="0"/>
          <a:chOff x="0" y="0"/>
          <a:chExt cx="0" cy="0"/>
        </a:xfrm>
      </p:grpSpPr>
      <p:sp>
        <p:nvSpPr>
          <p:cNvPr id="52" name="Google Shape;52;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53" name="Google Shape;53;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4" name="Google Shape;54;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5" name="Google Shape;55;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6"/>
        <p:cNvGrpSpPr/>
        <p:nvPr/>
      </p:nvGrpSpPr>
      <p:grpSpPr>
        <a:xfrm>
          <a:off x="0" y="0"/>
          <a:ext cx="0" cy="0"/>
          <a:chOff x="0" y="0"/>
          <a:chExt cx="0" cy="0"/>
        </a:xfrm>
      </p:grpSpPr>
      <p:sp>
        <p:nvSpPr>
          <p:cNvPr id="57" name="Google Shape;57;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8" name="Google Shape;58;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59" name="Google Shape;59;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rtl="0">
              <a:lnSpc>
                <a:spcPct val="90000"/>
              </a:lnSpc>
              <a:spcBef>
                <a:spcPts val="750"/>
              </a:spcBef>
              <a:spcAft>
                <a:spcPts val="0"/>
              </a:spcAft>
              <a:buClr>
                <a:schemeClr val="dk1"/>
              </a:buClr>
              <a:buSzPts val="2400"/>
              <a:buChar char="•"/>
              <a:defRPr sz="2400"/>
            </a:lvl1pPr>
            <a:lvl2pPr marL="914400" lvl="1" indent="-361950" algn="l" rtl="0">
              <a:lnSpc>
                <a:spcPct val="90000"/>
              </a:lnSpc>
              <a:spcBef>
                <a:spcPts val="375"/>
              </a:spcBef>
              <a:spcAft>
                <a:spcPts val="0"/>
              </a:spcAft>
              <a:buClr>
                <a:schemeClr val="dk1"/>
              </a:buClr>
              <a:buSzPts val="2100"/>
              <a:buChar char="•"/>
              <a:defRPr sz="2100"/>
            </a:lvl2pPr>
            <a:lvl3pPr marL="1371600" lvl="2" indent="-342900" algn="l" rtl="0">
              <a:lnSpc>
                <a:spcPct val="90000"/>
              </a:lnSpc>
              <a:spcBef>
                <a:spcPts val="375"/>
              </a:spcBef>
              <a:spcAft>
                <a:spcPts val="0"/>
              </a:spcAft>
              <a:buClr>
                <a:schemeClr val="dk1"/>
              </a:buClr>
              <a:buSzPts val="1800"/>
              <a:buChar char="•"/>
              <a:defRPr sz="1800"/>
            </a:lvl3pPr>
            <a:lvl4pPr marL="1828800" lvl="3" indent="-323850" algn="l" rtl="0">
              <a:lnSpc>
                <a:spcPct val="90000"/>
              </a:lnSpc>
              <a:spcBef>
                <a:spcPts val="375"/>
              </a:spcBef>
              <a:spcAft>
                <a:spcPts val="0"/>
              </a:spcAft>
              <a:buClr>
                <a:schemeClr val="dk1"/>
              </a:buClr>
              <a:buSzPts val="1500"/>
              <a:buChar char="•"/>
              <a:defRPr sz="1500"/>
            </a:lvl4pPr>
            <a:lvl5pPr marL="2286000" lvl="4" indent="-323850" algn="l" rtl="0">
              <a:lnSpc>
                <a:spcPct val="90000"/>
              </a:lnSpc>
              <a:spcBef>
                <a:spcPts val="375"/>
              </a:spcBef>
              <a:spcAft>
                <a:spcPts val="0"/>
              </a:spcAft>
              <a:buClr>
                <a:schemeClr val="dk1"/>
              </a:buClr>
              <a:buSzPts val="1500"/>
              <a:buChar char="•"/>
              <a:defRPr sz="1500"/>
            </a:lvl5pPr>
            <a:lvl6pPr marL="2743200" lvl="5" indent="-323850" algn="l" rtl="0">
              <a:lnSpc>
                <a:spcPct val="90000"/>
              </a:lnSpc>
              <a:spcBef>
                <a:spcPts val="375"/>
              </a:spcBef>
              <a:spcAft>
                <a:spcPts val="0"/>
              </a:spcAft>
              <a:buClr>
                <a:schemeClr val="dk1"/>
              </a:buClr>
              <a:buSzPts val="1500"/>
              <a:buChar char="•"/>
              <a:defRPr sz="1500"/>
            </a:lvl6pPr>
            <a:lvl7pPr marL="3200400" lvl="6" indent="-323850" algn="l" rtl="0">
              <a:lnSpc>
                <a:spcPct val="90000"/>
              </a:lnSpc>
              <a:spcBef>
                <a:spcPts val="375"/>
              </a:spcBef>
              <a:spcAft>
                <a:spcPts val="0"/>
              </a:spcAft>
              <a:buClr>
                <a:schemeClr val="dk1"/>
              </a:buClr>
              <a:buSzPts val="1500"/>
              <a:buChar char="•"/>
              <a:defRPr sz="1500"/>
            </a:lvl7pPr>
            <a:lvl8pPr marL="3657600" lvl="7" indent="-323850" algn="l" rtl="0">
              <a:lnSpc>
                <a:spcPct val="90000"/>
              </a:lnSpc>
              <a:spcBef>
                <a:spcPts val="375"/>
              </a:spcBef>
              <a:spcAft>
                <a:spcPts val="0"/>
              </a:spcAft>
              <a:buClr>
                <a:schemeClr val="dk1"/>
              </a:buClr>
              <a:buSzPts val="1500"/>
              <a:buChar char="•"/>
              <a:defRPr sz="1500"/>
            </a:lvl8pPr>
            <a:lvl9pPr marL="4114800" lvl="8" indent="-323850" algn="l" rtl="0">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rtl="0">
              <a:lnSpc>
                <a:spcPct val="90000"/>
              </a:lnSpc>
              <a:spcBef>
                <a:spcPts val="0"/>
              </a:spcBef>
              <a:spcAft>
                <a:spcPts val="0"/>
              </a:spcAft>
              <a:buClr>
                <a:schemeClr val="dk1"/>
              </a:buClr>
              <a:buSzPts val="2400"/>
              <a:buFont typeface="Calibri"/>
              <a:buNone/>
              <a:defRPr sz="24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rtl="0">
              <a:lnSpc>
                <a:spcPct val="90000"/>
              </a:lnSpc>
              <a:spcBef>
                <a:spcPts val="750"/>
              </a:spcBef>
              <a:spcAft>
                <a:spcPts val="0"/>
              </a:spcAft>
              <a:buClr>
                <a:schemeClr val="dk1"/>
              </a:buClr>
              <a:buSzPts val="1200"/>
              <a:buNone/>
              <a:defRPr sz="1200"/>
            </a:lvl1pPr>
            <a:lvl2pPr marL="914400" lvl="1" indent="-228600" algn="l" rtl="0">
              <a:lnSpc>
                <a:spcPct val="90000"/>
              </a:lnSpc>
              <a:spcBef>
                <a:spcPts val="375"/>
              </a:spcBef>
              <a:spcAft>
                <a:spcPts val="0"/>
              </a:spcAft>
              <a:buClr>
                <a:schemeClr val="dk1"/>
              </a:buClr>
              <a:buSzPts val="1050"/>
              <a:buNone/>
              <a:defRPr sz="1050"/>
            </a:lvl2pPr>
            <a:lvl3pPr marL="1371600" lvl="2" indent="-228600" algn="l" rtl="0">
              <a:lnSpc>
                <a:spcPct val="90000"/>
              </a:lnSpc>
              <a:spcBef>
                <a:spcPts val="375"/>
              </a:spcBef>
              <a:spcAft>
                <a:spcPts val="0"/>
              </a:spcAft>
              <a:buClr>
                <a:schemeClr val="dk1"/>
              </a:buClr>
              <a:buSzPts val="900"/>
              <a:buNone/>
              <a:defRPr sz="900"/>
            </a:lvl3pPr>
            <a:lvl4pPr marL="1828800" lvl="3" indent="-228600" algn="l" rtl="0">
              <a:lnSpc>
                <a:spcPct val="90000"/>
              </a:lnSpc>
              <a:spcBef>
                <a:spcPts val="375"/>
              </a:spcBef>
              <a:spcAft>
                <a:spcPts val="0"/>
              </a:spcAft>
              <a:buClr>
                <a:schemeClr val="dk1"/>
              </a:buClr>
              <a:buSzPts val="750"/>
              <a:buNone/>
              <a:defRPr sz="750"/>
            </a:lvl4pPr>
            <a:lvl5pPr marL="2286000" lvl="4" indent="-228600" algn="l" rtl="0">
              <a:lnSpc>
                <a:spcPct val="90000"/>
              </a:lnSpc>
              <a:spcBef>
                <a:spcPts val="375"/>
              </a:spcBef>
              <a:spcAft>
                <a:spcPts val="0"/>
              </a:spcAft>
              <a:buClr>
                <a:schemeClr val="dk1"/>
              </a:buClr>
              <a:buSzPts val="750"/>
              <a:buNone/>
              <a:defRPr sz="750"/>
            </a:lvl5pPr>
            <a:lvl6pPr marL="2743200" lvl="5" indent="-228600" algn="l" rtl="0">
              <a:lnSpc>
                <a:spcPct val="90000"/>
              </a:lnSpc>
              <a:spcBef>
                <a:spcPts val="375"/>
              </a:spcBef>
              <a:spcAft>
                <a:spcPts val="0"/>
              </a:spcAft>
              <a:buClr>
                <a:schemeClr val="dk1"/>
              </a:buClr>
              <a:buSzPts val="750"/>
              <a:buNone/>
              <a:defRPr sz="750"/>
            </a:lvl6pPr>
            <a:lvl7pPr marL="3200400" lvl="6" indent="-228600" algn="l" rtl="0">
              <a:lnSpc>
                <a:spcPct val="90000"/>
              </a:lnSpc>
              <a:spcBef>
                <a:spcPts val="375"/>
              </a:spcBef>
              <a:spcAft>
                <a:spcPts val="0"/>
              </a:spcAft>
              <a:buClr>
                <a:schemeClr val="dk1"/>
              </a:buClr>
              <a:buSzPts val="750"/>
              <a:buNone/>
              <a:defRPr sz="750"/>
            </a:lvl7pPr>
            <a:lvl8pPr marL="3657600" lvl="7" indent="-228600" algn="l" rtl="0">
              <a:lnSpc>
                <a:spcPct val="90000"/>
              </a:lnSpc>
              <a:spcBef>
                <a:spcPts val="375"/>
              </a:spcBef>
              <a:spcAft>
                <a:spcPts val="0"/>
              </a:spcAft>
              <a:buClr>
                <a:schemeClr val="dk1"/>
              </a:buClr>
              <a:buSzPts val="750"/>
              <a:buNone/>
              <a:defRPr sz="750"/>
            </a:lvl8pPr>
            <a:lvl9pPr marL="4114800" lvl="8" indent="-228600" algn="l" rtl="0">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rtl="0">
              <a:lnSpc>
                <a:spcPct val="90000"/>
              </a:lnSpc>
              <a:spcBef>
                <a:spcPts val="0"/>
              </a:spcBef>
              <a:spcAft>
                <a:spcPts val="0"/>
              </a:spcAft>
              <a:buClr>
                <a:schemeClr val="dk1"/>
              </a:buClr>
              <a:buSzPts val="1800"/>
              <a:buNone/>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rtl="0">
              <a:lnSpc>
                <a:spcPct val="90000"/>
              </a:lnSpc>
              <a:spcBef>
                <a:spcPts val="750"/>
              </a:spcBef>
              <a:spcAft>
                <a:spcPts val="0"/>
              </a:spcAft>
              <a:buClr>
                <a:schemeClr val="dk1"/>
              </a:buClr>
              <a:buSzPts val="1800"/>
              <a:buChar char="•"/>
              <a:defRPr/>
            </a:lvl1pPr>
            <a:lvl2pPr marL="914400" lvl="1" indent="-342900" algn="l" rtl="0">
              <a:lnSpc>
                <a:spcPct val="90000"/>
              </a:lnSpc>
              <a:spcBef>
                <a:spcPts val="375"/>
              </a:spcBef>
              <a:spcAft>
                <a:spcPts val="0"/>
              </a:spcAft>
              <a:buClr>
                <a:schemeClr val="dk1"/>
              </a:buClr>
              <a:buSzPts val="1800"/>
              <a:buChar char="•"/>
              <a:defRPr/>
            </a:lvl2pPr>
            <a:lvl3pPr marL="1371600" lvl="2" indent="-342900" algn="l" rtl="0">
              <a:lnSpc>
                <a:spcPct val="90000"/>
              </a:lnSpc>
              <a:spcBef>
                <a:spcPts val="375"/>
              </a:spcBef>
              <a:spcAft>
                <a:spcPts val="0"/>
              </a:spcAft>
              <a:buClr>
                <a:schemeClr val="dk1"/>
              </a:buClr>
              <a:buSzPts val="1800"/>
              <a:buChar char="•"/>
              <a:defRPr/>
            </a:lvl3pPr>
            <a:lvl4pPr marL="1828800" lvl="3" indent="-342900" algn="l" rtl="0">
              <a:lnSpc>
                <a:spcPct val="90000"/>
              </a:lnSpc>
              <a:spcBef>
                <a:spcPts val="375"/>
              </a:spcBef>
              <a:spcAft>
                <a:spcPts val="0"/>
              </a:spcAft>
              <a:buClr>
                <a:schemeClr val="dk1"/>
              </a:buClr>
              <a:buSzPts val="1800"/>
              <a:buChar char="•"/>
              <a:defRPr/>
            </a:lvl4pPr>
            <a:lvl5pPr marL="2286000" lvl="4" indent="-342900" algn="l" rtl="0">
              <a:lnSpc>
                <a:spcPct val="90000"/>
              </a:lnSpc>
              <a:spcBef>
                <a:spcPts val="375"/>
              </a:spcBef>
              <a:spcAft>
                <a:spcPts val="0"/>
              </a:spcAft>
              <a:buClr>
                <a:schemeClr val="dk1"/>
              </a:buClr>
              <a:buSzPts val="1800"/>
              <a:buChar char="•"/>
              <a:defRPr/>
            </a:lvl5pPr>
            <a:lvl6pPr marL="2743200" lvl="5" indent="-342900" algn="l" rtl="0">
              <a:lnSpc>
                <a:spcPct val="90000"/>
              </a:lnSpc>
              <a:spcBef>
                <a:spcPts val="375"/>
              </a:spcBef>
              <a:spcAft>
                <a:spcPts val="0"/>
              </a:spcAft>
              <a:buClr>
                <a:schemeClr val="dk1"/>
              </a:buClr>
              <a:buSzPts val="1800"/>
              <a:buChar char="•"/>
              <a:defRPr/>
            </a:lvl6pPr>
            <a:lvl7pPr marL="3200400" lvl="6" indent="-342900" algn="l" rtl="0">
              <a:lnSpc>
                <a:spcPct val="90000"/>
              </a:lnSpc>
              <a:spcBef>
                <a:spcPts val="375"/>
              </a:spcBef>
              <a:spcAft>
                <a:spcPts val="0"/>
              </a:spcAft>
              <a:buClr>
                <a:schemeClr val="dk1"/>
              </a:buClr>
              <a:buSzPts val="1800"/>
              <a:buChar char="•"/>
              <a:defRPr/>
            </a:lvl7pPr>
            <a:lvl8pPr marL="3657600" lvl="7" indent="-342900" algn="l" rtl="0">
              <a:lnSpc>
                <a:spcPct val="90000"/>
              </a:lnSpc>
              <a:spcBef>
                <a:spcPts val="375"/>
              </a:spcBef>
              <a:spcAft>
                <a:spcPts val="0"/>
              </a:spcAft>
              <a:buClr>
                <a:schemeClr val="dk1"/>
              </a:buClr>
              <a:buSzPts val="1800"/>
              <a:buChar char="•"/>
              <a:defRPr/>
            </a:lvl8pPr>
            <a:lvl9pPr marL="4114800" lvl="8" indent="-342900" algn="l" rtl="0">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rtl="0">
              <a:spcBef>
                <a:spcPts val="0"/>
              </a:spcBef>
              <a:spcAft>
                <a:spcPts val="0"/>
              </a:spcAft>
              <a:buSzPts val="1400"/>
              <a:buNone/>
              <a:defRPr/>
            </a:lvl1pPr>
            <a:lvl2pPr lvl="1" algn="l" rtl="0">
              <a:spcBef>
                <a:spcPts val="0"/>
              </a:spcBef>
              <a:spcAft>
                <a:spcPts val="0"/>
              </a:spcAft>
              <a:buSzPts val="1400"/>
              <a:buNone/>
              <a:defRPr/>
            </a:lvl2pPr>
            <a:lvl3pPr lvl="2" algn="l" rtl="0">
              <a:spcBef>
                <a:spcPts val="0"/>
              </a:spcBef>
              <a:spcAft>
                <a:spcPts val="0"/>
              </a:spcAft>
              <a:buSzPts val="1400"/>
              <a:buNone/>
              <a:defRPr/>
            </a:lvl3pPr>
            <a:lvl4pPr lvl="3" algn="l" rtl="0">
              <a:spcBef>
                <a:spcPts val="0"/>
              </a:spcBef>
              <a:spcAft>
                <a:spcPts val="0"/>
              </a:spcAft>
              <a:buSzPts val="1400"/>
              <a:buNone/>
              <a:defRPr/>
            </a:lvl4pPr>
            <a:lvl5pPr lvl="4" algn="l" rtl="0">
              <a:spcBef>
                <a:spcPts val="0"/>
              </a:spcBef>
              <a:spcAft>
                <a:spcPts val="0"/>
              </a:spcAft>
              <a:buSzPts val="1400"/>
              <a:buNone/>
              <a:defRPr/>
            </a:lvl5pPr>
            <a:lvl6pPr lvl="5" algn="l" rtl="0">
              <a:spcBef>
                <a:spcPts val="0"/>
              </a:spcBef>
              <a:spcAft>
                <a:spcPts val="0"/>
              </a:spcAft>
              <a:buSzPts val="1400"/>
              <a:buNone/>
              <a:defRPr/>
            </a:lvl6pPr>
            <a:lvl7pPr lvl="6" algn="l" rtl="0">
              <a:spcBef>
                <a:spcPts val="0"/>
              </a:spcBef>
              <a:spcAft>
                <a:spcPts val="0"/>
              </a:spcAft>
              <a:buSzPts val="1400"/>
              <a:buNone/>
              <a:defRPr/>
            </a:lvl7pPr>
            <a:lvl8pPr lvl="7" algn="l" rtl="0">
              <a:spcBef>
                <a:spcPts val="0"/>
              </a:spcBef>
              <a:spcAft>
                <a:spcPts val="0"/>
              </a:spcAft>
              <a:buSzPts val="1400"/>
              <a:buNone/>
              <a:defRPr/>
            </a:lvl8pPr>
            <a:lvl9pPr lvl="8" algn="l" rtl="0">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rtl="0">
              <a:spcBef>
                <a:spcPts val="0"/>
              </a:spcBef>
              <a:buNone/>
              <a:defRPr>
                <a:solidFill>
                  <a:srgbClr val="888888"/>
                </a:solidFill>
              </a:defRPr>
            </a:lvl1pPr>
            <a:lvl2pPr marL="0" lvl="1" indent="0" algn="r" rtl="0">
              <a:spcBef>
                <a:spcPts val="0"/>
              </a:spcBef>
              <a:buNone/>
              <a:defRPr>
                <a:solidFill>
                  <a:srgbClr val="888888"/>
                </a:solidFill>
              </a:defRPr>
            </a:lvl2pPr>
            <a:lvl3pPr marL="0" lvl="2" indent="0" algn="r" rtl="0">
              <a:spcBef>
                <a:spcPts val="0"/>
              </a:spcBef>
              <a:buNone/>
              <a:defRPr>
                <a:solidFill>
                  <a:srgbClr val="888888"/>
                </a:solidFill>
              </a:defRPr>
            </a:lvl3pPr>
            <a:lvl4pPr marL="0" lvl="3" indent="0" algn="r" rtl="0">
              <a:spcBef>
                <a:spcPts val="0"/>
              </a:spcBef>
              <a:buNone/>
              <a:defRPr>
                <a:solidFill>
                  <a:srgbClr val="888888"/>
                </a:solidFill>
              </a:defRPr>
            </a:lvl4pPr>
            <a:lvl5pPr marL="0" lvl="4" indent="0" algn="r" rtl="0">
              <a:spcBef>
                <a:spcPts val="0"/>
              </a:spcBef>
              <a:buNone/>
              <a:defRPr>
                <a:solidFill>
                  <a:srgbClr val="888888"/>
                </a:solidFill>
              </a:defRPr>
            </a:lvl5pPr>
            <a:lvl6pPr marL="0" lvl="5" indent="0" algn="r" rtl="0">
              <a:spcBef>
                <a:spcPts val="0"/>
              </a:spcBef>
              <a:buNone/>
              <a:defRPr>
                <a:solidFill>
                  <a:srgbClr val="888888"/>
                </a:solidFill>
              </a:defRPr>
            </a:lvl6pPr>
            <a:lvl7pPr marL="0" lvl="6" indent="0" algn="r" rtl="0">
              <a:spcBef>
                <a:spcPts val="0"/>
              </a:spcBef>
              <a:buNone/>
              <a:defRPr>
                <a:solidFill>
                  <a:srgbClr val="888888"/>
                </a:solidFill>
              </a:defRPr>
            </a:lvl7pPr>
            <a:lvl8pPr marL="0" lvl="7" indent="0" algn="r" rtl="0">
              <a:spcBef>
                <a:spcPts val="0"/>
              </a:spcBef>
              <a:buNone/>
              <a:defRPr>
                <a:solidFill>
                  <a:srgbClr val="888888"/>
                </a:solidFill>
              </a:defRPr>
            </a:lvl8pPr>
            <a:lvl9pPr marL="0" lvl="8" indent="0" algn="r" rtl="0">
              <a:spcBef>
                <a:spcPts val="0"/>
              </a:spcBef>
              <a:buNone/>
              <a:defRPr>
                <a:solidFill>
                  <a:srgbClr val="888888"/>
                </a:solidFill>
              </a:defRPr>
            </a:lvl9pPr>
          </a:lstStyle>
          <a:p>
            <a:fld id="{00000000-1234-1234-1234-123412341234}" type="slidenum">
              <a:rPr lang="en-US" smtClean="0"/>
              <a:pPr/>
              <a:t>‹#›</a:t>
            </a:fld>
            <a:endParaRPr 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70"/>
            </a:srgbClr>
          </a:solidFill>
          <a:ln>
            <a:noFill/>
          </a:ln>
        </p:spPr>
        <p:txBody>
          <a:bodyPr spcFirstLastPara="1" wrap="square" lIns="91425" tIns="45700" rIns="91425" bIns="45700" anchor="ctr" anchorCtr="0">
            <a:noAutofit/>
          </a:bodyPr>
          <a:lstStyle/>
          <a:p>
            <a:pPr marL="0" marR="0" lvl="0" indent="0" algn="ctr" rtl="0">
              <a:spcBef>
                <a:spcPts val="0"/>
              </a:spcBef>
              <a:spcAft>
                <a:spcPts val="0"/>
              </a:spcAft>
              <a:buNone/>
            </a:pPr>
            <a:endParaRPr sz="1800">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lvl="1" rtl="0">
              <a:spcBef>
                <a:spcPts val="0"/>
              </a:spcBef>
              <a:spcAft>
                <a:spcPts val="0"/>
              </a:spcAft>
              <a:buSzPts val="1400"/>
              <a:buNone/>
              <a:defRPr sz="1800"/>
            </a:lvl2pPr>
            <a:lvl3pPr lvl="2" rtl="0">
              <a:spcBef>
                <a:spcPts val="0"/>
              </a:spcBef>
              <a:spcAft>
                <a:spcPts val="0"/>
              </a:spcAft>
              <a:buSzPts val="1400"/>
              <a:buNone/>
              <a:defRPr sz="1800"/>
            </a:lvl3pPr>
            <a:lvl4pPr lvl="3" rtl="0">
              <a:spcBef>
                <a:spcPts val="0"/>
              </a:spcBef>
              <a:spcAft>
                <a:spcPts val="0"/>
              </a:spcAft>
              <a:buSzPts val="1400"/>
              <a:buNone/>
              <a:defRPr sz="1800"/>
            </a:lvl4pPr>
            <a:lvl5pPr lvl="4" rtl="0">
              <a:spcBef>
                <a:spcPts val="0"/>
              </a:spcBef>
              <a:spcAft>
                <a:spcPts val="0"/>
              </a:spcAft>
              <a:buSzPts val="1400"/>
              <a:buNone/>
              <a:defRPr sz="1800"/>
            </a:lvl5pPr>
            <a:lvl6pPr lvl="5" rtl="0">
              <a:spcBef>
                <a:spcPts val="0"/>
              </a:spcBef>
              <a:spcAft>
                <a:spcPts val="0"/>
              </a:spcAft>
              <a:buSzPts val="1400"/>
              <a:buNone/>
              <a:defRPr sz="1800"/>
            </a:lvl6pPr>
            <a:lvl7pPr lvl="6" rtl="0">
              <a:spcBef>
                <a:spcPts val="0"/>
              </a:spcBef>
              <a:spcAft>
                <a:spcPts val="0"/>
              </a:spcAft>
              <a:buSzPts val="1400"/>
              <a:buNone/>
              <a:defRPr sz="1800"/>
            </a:lvl7pPr>
            <a:lvl8pPr lvl="7" rtl="0">
              <a:spcBef>
                <a:spcPts val="0"/>
              </a:spcBef>
              <a:spcAft>
                <a:spcPts val="0"/>
              </a:spcAft>
              <a:buSzPts val="1400"/>
              <a:buNone/>
              <a:defRPr sz="1800"/>
            </a:lvl8pPr>
            <a:lvl9pPr lvl="8" rtl="0">
              <a:spcBef>
                <a:spcPts val="0"/>
              </a:spcBef>
              <a:spcAft>
                <a:spcPts val="0"/>
              </a:spcAft>
              <a:buSzPts val="1400"/>
              <a:buNone/>
              <a:defRPr sz="1800"/>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9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900" b="0" i="0" u="none" strike="noStrike" cap="none">
                <a:solidFill>
                  <a:srgbClr val="888888"/>
                </a:solidFill>
                <a:latin typeface="Calibri"/>
                <a:ea typeface="Calibri"/>
                <a:cs typeface="Calibri"/>
                <a:sym typeface="Calibri"/>
              </a:defRPr>
            </a:lvl1pPr>
            <a:lvl2pPr marL="0" marR="0" lvl="1" indent="0" algn="r" rtl="0">
              <a:spcBef>
                <a:spcPts val="0"/>
              </a:spcBef>
              <a:buNone/>
              <a:defRPr sz="900" b="0" i="0" u="none" strike="noStrike" cap="none">
                <a:solidFill>
                  <a:srgbClr val="888888"/>
                </a:solidFill>
                <a:latin typeface="Calibri"/>
                <a:ea typeface="Calibri"/>
                <a:cs typeface="Calibri"/>
                <a:sym typeface="Calibri"/>
              </a:defRPr>
            </a:lvl2pPr>
            <a:lvl3pPr marL="0" marR="0" lvl="2" indent="0" algn="r" rtl="0">
              <a:spcBef>
                <a:spcPts val="0"/>
              </a:spcBef>
              <a:buNone/>
              <a:defRPr sz="900" b="0" i="0" u="none" strike="noStrike" cap="none">
                <a:solidFill>
                  <a:srgbClr val="888888"/>
                </a:solidFill>
                <a:latin typeface="Calibri"/>
                <a:ea typeface="Calibri"/>
                <a:cs typeface="Calibri"/>
                <a:sym typeface="Calibri"/>
              </a:defRPr>
            </a:lvl3pPr>
            <a:lvl4pPr marL="0" marR="0" lvl="3" indent="0" algn="r" rtl="0">
              <a:spcBef>
                <a:spcPts val="0"/>
              </a:spcBef>
              <a:buNone/>
              <a:defRPr sz="900" b="0" i="0" u="none" strike="noStrike" cap="none">
                <a:solidFill>
                  <a:srgbClr val="888888"/>
                </a:solidFill>
                <a:latin typeface="Calibri"/>
                <a:ea typeface="Calibri"/>
                <a:cs typeface="Calibri"/>
                <a:sym typeface="Calibri"/>
              </a:defRPr>
            </a:lvl4pPr>
            <a:lvl5pPr marL="0" marR="0" lvl="4" indent="0" algn="r" rtl="0">
              <a:spcBef>
                <a:spcPts val="0"/>
              </a:spcBef>
              <a:buNone/>
              <a:defRPr sz="900" b="0" i="0" u="none" strike="noStrike" cap="none">
                <a:solidFill>
                  <a:srgbClr val="888888"/>
                </a:solidFill>
                <a:latin typeface="Calibri"/>
                <a:ea typeface="Calibri"/>
                <a:cs typeface="Calibri"/>
                <a:sym typeface="Calibri"/>
              </a:defRPr>
            </a:lvl5pPr>
            <a:lvl6pPr marL="0" marR="0" lvl="5" indent="0" algn="r" rtl="0">
              <a:spcBef>
                <a:spcPts val="0"/>
              </a:spcBef>
              <a:buNone/>
              <a:defRPr sz="900" b="0" i="0" u="none" strike="noStrike" cap="none">
                <a:solidFill>
                  <a:srgbClr val="888888"/>
                </a:solidFill>
                <a:latin typeface="Calibri"/>
                <a:ea typeface="Calibri"/>
                <a:cs typeface="Calibri"/>
                <a:sym typeface="Calibri"/>
              </a:defRPr>
            </a:lvl6pPr>
            <a:lvl7pPr marL="0" marR="0" lvl="6" indent="0" algn="r" rtl="0">
              <a:spcBef>
                <a:spcPts val="0"/>
              </a:spcBef>
              <a:buNone/>
              <a:defRPr sz="900" b="0" i="0" u="none" strike="noStrike" cap="none">
                <a:solidFill>
                  <a:srgbClr val="888888"/>
                </a:solidFill>
                <a:latin typeface="Calibri"/>
                <a:ea typeface="Calibri"/>
                <a:cs typeface="Calibri"/>
                <a:sym typeface="Calibri"/>
              </a:defRPr>
            </a:lvl7pPr>
            <a:lvl8pPr marL="0" marR="0" lvl="7" indent="0" algn="r" rtl="0">
              <a:spcBef>
                <a:spcPts val="0"/>
              </a:spcBef>
              <a:buNone/>
              <a:defRPr sz="900" b="0" i="0" u="none" strike="noStrike" cap="none">
                <a:solidFill>
                  <a:srgbClr val="888888"/>
                </a:solidFill>
                <a:latin typeface="Calibri"/>
                <a:ea typeface="Calibri"/>
                <a:cs typeface="Calibri"/>
                <a:sym typeface="Calibri"/>
              </a:defRPr>
            </a:lvl8pPr>
            <a:lvl9pPr marL="0" marR="0" lvl="8" indent="0" algn="r" rtl="0">
              <a:spcBef>
                <a:spcPts val="0"/>
              </a:spcBef>
              <a:buNone/>
              <a:defRPr sz="900" b="0" i="0" u="none" strike="noStrike" cap="none">
                <a:solidFill>
                  <a:srgbClr val="888888"/>
                </a:solidFill>
                <a:latin typeface="Calibri"/>
                <a:ea typeface="Calibri"/>
                <a:cs typeface="Calibri"/>
                <a:sym typeface="Calibri"/>
              </a:defRPr>
            </a:lvl9pPr>
          </a:lstStyle>
          <a:p>
            <a:fld id="{00000000-1234-1234-1234-123412341234}"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3.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5.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5.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8" Type="http://schemas.openxmlformats.org/officeDocument/2006/relationships/image" Target="../media/image10.png"/><Relationship Id="rId3" Type="http://schemas.openxmlformats.org/officeDocument/2006/relationships/image" Target="../media/image16.png"/><Relationship Id="rId7" Type="http://schemas.openxmlformats.org/officeDocument/2006/relationships/image" Target="../media/image18.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70.png"/><Relationship Id="rId4" Type="http://schemas.openxmlformats.org/officeDocument/2006/relationships/image" Target="../media/image17.png"/></Relationships>
</file>

<file path=ppt/slides/_rels/slide9.xml.rels><?xml version="1.0" encoding="UTF-8" standalone="yes"?>
<Relationships xmlns="http://schemas.openxmlformats.org/package/2006/relationships"><Relationship Id="rId7"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21.png"/><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9.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2.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7.png"/><Relationship Id="rId4" Type="http://schemas.openxmlformats.org/officeDocument/2006/relationships/image" Target="../media/image26.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28.png"/><Relationship Id="rId4" Type="http://schemas.openxmlformats.org/officeDocument/2006/relationships/image" Target="../media/image270.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30.png"/><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1.png"/></Relationships>
</file>

<file path=ppt/slides/_rels/slide16.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5.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7.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6.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34.png"/><Relationship Id="rId4" Type="http://schemas.openxmlformats.org/officeDocument/2006/relationships/image" Target="../media/image33.png"/></Relationships>
</file>

<file path=ppt/slides/_rels/slide18.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7.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19.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8.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19.xml"/><Relationship Id="rId1" Type="http://schemas.openxmlformats.org/officeDocument/2006/relationships/slideLayout" Target="../slideLayouts/slideLayout8.xml"/><Relationship Id="rId5" Type="http://schemas.openxmlformats.org/officeDocument/2006/relationships/image" Target="../media/image10.png"/><Relationship Id="rId4" Type="http://schemas.openxmlformats.org/officeDocument/2006/relationships/image" Target="../media/image38.png"/></Relationships>
</file>

<file path=ppt/slides/_rels/slide21.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20.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2.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1.xml"/><Relationship Id="rId1" Type="http://schemas.openxmlformats.org/officeDocument/2006/relationships/slideLayout" Target="../slideLayouts/slideLayout8.xml"/><Relationship Id="rId4" Type="http://schemas.openxmlformats.org/officeDocument/2006/relationships/image" Target="../media/image10.png"/></Relationships>
</file>

<file path=ppt/slides/_rels/slide23.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22.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hyperlink" Target="http://www.vecteezy.com/spills-splatters/6375-splatter-pack-2" TargetMode="External"/><Relationship Id="rId4" Type="http://schemas.openxmlformats.org/officeDocument/2006/relationships/image" Target="../media/image41.jp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59"/>
        <p:cNvGrpSpPr/>
        <p:nvPr/>
      </p:nvGrpSpPr>
      <p:grpSpPr>
        <a:xfrm>
          <a:off x="0" y="0"/>
          <a:ext cx="0" cy="0"/>
          <a:chOff x="0" y="0"/>
          <a:chExt cx="0" cy="0"/>
        </a:xfrm>
      </p:grpSpPr>
      <p:sp>
        <p:nvSpPr>
          <p:cNvPr id="261" name="Google Shape;261;g104476d1465_0_0"/>
          <p:cNvSpPr txBox="1">
            <a:spLocks noGrp="1"/>
          </p:cNvSpPr>
          <p:nvPr>
            <p:ph type="ctrTitle" idx="4294967295"/>
          </p:nvPr>
        </p:nvSpPr>
        <p:spPr>
          <a:xfrm>
            <a:off x="5590351" y="2212773"/>
            <a:ext cx="5077650" cy="3194455"/>
          </a:xfrm>
          <a:prstGeom prst="rect">
            <a:avLst/>
          </a:prstGeom>
        </p:spPr>
        <p:txBody>
          <a:bodyPr spcFirstLastPara="1" wrap="square" lIns="91425" tIns="45700" rIns="91425" bIns="45700" anchor="ctr" anchorCtr="0">
            <a:noAutofit/>
          </a:bodyPr>
          <a:lstStyle/>
          <a:p>
            <a:pPr algn="ctr">
              <a:lnSpc>
                <a:spcPct val="100000"/>
              </a:lnSpc>
            </a:pPr>
            <a:r>
              <a:rPr lang="en-US" sz="3600" b="1" dirty="0">
                <a:solidFill>
                  <a:srgbClr val="417DBF"/>
                </a:solidFill>
                <a:latin typeface="Verdana"/>
                <a:ea typeface="Verdana"/>
                <a:cs typeface="Verdana"/>
                <a:sym typeface="Verdana"/>
              </a:rPr>
              <a:t>Algebra 1</a:t>
            </a:r>
            <a:br>
              <a:rPr lang="en-US" sz="3600" b="1" dirty="0">
                <a:solidFill>
                  <a:srgbClr val="417DBF"/>
                </a:solidFill>
                <a:latin typeface="Verdana"/>
                <a:ea typeface="Verdana"/>
                <a:cs typeface="Verdana"/>
                <a:sym typeface="Verdana"/>
              </a:rPr>
            </a:br>
            <a:endParaRPr lang="en-US" sz="3600" b="1" dirty="0">
              <a:solidFill>
                <a:srgbClr val="417DBF"/>
              </a:solidFill>
              <a:latin typeface="Verdana"/>
              <a:ea typeface="Verdana"/>
              <a:cs typeface="Verdana"/>
              <a:sym typeface="Verdana"/>
            </a:endParaRPr>
          </a:p>
          <a:p>
            <a:pPr algn="ctr">
              <a:lnSpc>
                <a:spcPct val="100000"/>
              </a:lnSpc>
              <a:buClr>
                <a:srgbClr val="000000"/>
              </a:buClr>
            </a:pPr>
            <a:r>
              <a:rPr lang="en-US" sz="3600" b="1" dirty="0">
                <a:solidFill>
                  <a:srgbClr val="417DBF"/>
                </a:solidFill>
                <a:latin typeface="Verdana"/>
                <a:ea typeface="Verdana"/>
                <a:cs typeface="Verdana"/>
                <a:sym typeface="Verdana"/>
              </a:rPr>
              <a:t>Unit 1, Lesson 8</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3600" b="1" dirty="0">
                <a:solidFill>
                  <a:srgbClr val="417DBF"/>
                </a:solidFill>
                <a:latin typeface="Verdana"/>
                <a:ea typeface="Verdana"/>
                <a:cs typeface="Verdana"/>
                <a:sym typeface="Verdana"/>
              </a:rPr>
              <a:t>Equivalent Radical Expressions</a:t>
            </a:r>
            <a:br>
              <a:rPr lang="en-US" sz="3600" b="1" dirty="0">
                <a:solidFill>
                  <a:srgbClr val="417DBF"/>
                </a:solidFill>
                <a:latin typeface="Verdana"/>
                <a:ea typeface="Verdana"/>
                <a:cs typeface="Verdana"/>
                <a:sym typeface="Verdana"/>
              </a:rPr>
            </a:br>
            <a:br>
              <a:rPr lang="en-US" sz="3600" b="1" dirty="0">
                <a:solidFill>
                  <a:srgbClr val="417DBF"/>
                </a:solidFill>
                <a:latin typeface="Verdana"/>
                <a:ea typeface="Verdana"/>
                <a:cs typeface="Verdana"/>
                <a:sym typeface="Verdana"/>
              </a:rPr>
            </a:br>
            <a:r>
              <a:rPr lang="en-US" sz="2400" b="1" dirty="0">
                <a:solidFill>
                  <a:srgbClr val="417DBF"/>
                </a:solidFill>
                <a:latin typeface="Verdana"/>
                <a:ea typeface="Verdana"/>
                <a:cs typeface="Verdana"/>
                <a:sym typeface="Verdana"/>
              </a:rPr>
              <a:t>Volume 1, pg. 40</a:t>
            </a:r>
          </a:p>
          <a:p>
            <a:pPr algn="ctr">
              <a:lnSpc>
                <a:spcPct val="100000"/>
              </a:lnSpc>
              <a:buClr>
                <a:srgbClr val="000000"/>
              </a:buClr>
            </a:pPr>
            <a:endParaRPr lang="en-US" sz="3200" b="1" dirty="0">
              <a:solidFill>
                <a:srgbClr val="417DBF"/>
              </a:solidFill>
              <a:latin typeface="Verdana"/>
              <a:ea typeface="Verdana"/>
              <a:cs typeface="Verdana"/>
              <a:sym typeface="Verdana"/>
            </a:endParaRPr>
          </a:p>
          <a:p>
            <a:pPr algn="ctr">
              <a:lnSpc>
                <a:spcPct val="75000"/>
              </a:lnSpc>
            </a:pPr>
            <a:endParaRPr lang="en-US" sz="2800" dirty="0">
              <a:solidFill>
                <a:srgbClr val="417DBF"/>
              </a:solidFill>
            </a:endParaRPr>
          </a:p>
        </p:txBody>
      </p:sp>
      <p:cxnSp>
        <p:nvCxnSpPr>
          <p:cNvPr id="262" name="Google Shape;262;g104476d1465_0_0"/>
          <p:cNvCxnSpPr/>
          <p:nvPr/>
        </p:nvCxnSpPr>
        <p:spPr>
          <a:xfrm>
            <a:off x="-1573225" y="3938167"/>
            <a:ext cx="1152600" cy="0"/>
          </a:xfrm>
          <a:prstGeom prst="straightConnector1">
            <a:avLst/>
          </a:prstGeom>
          <a:noFill/>
          <a:ln w="9525" cap="flat" cmpd="sng">
            <a:solidFill>
              <a:schemeClr val="lt1"/>
            </a:solidFill>
            <a:prstDash val="solid"/>
            <a:round/>
            <a:headEnd type="none" w="med" len="med"/>
            <a:tailEnd type="none" w="med" len="med"/>
          </a:ln>
        </p:spPr>
      </p:cxnSp>
      <p:sp>
        <p:nvSpPr>
          <p:cNvPr id="20" name="Google Shape;309;g104476d1465_1_39">
            <a:extLst>
              <a:ext uri="{FF2B5EF4-FFF2-40B4-BE49-F238E27FC236}">
                <a16:creationId xmlns:a16="http://schemas.microsoft.com/office/drawing/2014/main" id="{566F1422-A32C-7745-9E85-5AF7B9DBC697}"/>
              </a:ext>
            </a:extLst>
          </p:cNvPr>
          <p:cNvSpPr/>
          <p:nvPr/>
        </p:nvSpPr>
        <p:spPr>
          <a:xfrm>
            <a:off x="0" y="-8100"/>
            <a:ext cx="4094106" cy="6866100"/>
          </a:xfrm>
          <a:prstGeom prst="rect">
            <a:avLst/>
          </a:prstGeom>
          <a:solidFill>
            <a:srgbClr val="F26763"/>
          </a:solidFill>
          <a:ln w="9525" cap="flat" cmpd="sng">
            <a:solidFill>
              <a:srgbClr val="F26763"/>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 name="Picture 2" descr="A blue sign with white text&#10;&#10;Description automatically generated with medium confidence">
            <a:extLst>
              <a:ext uri="{FF2B5EF4-FFF2-40B4-BE49-F238E27FC236}">
                <a16:creationId xmlns:a16="http://schemas.microsoft.com/office/drawing/2014/main" id="{5DE477E5-56CA-9D49-B76A-D5EDA7B79A42}"/>
              </a:ext>
            </a:extLst>
          </p:cNvPr>
          <p:cNvPicPr>
            <a:picLocks noChangeAspect="1"/>
          </p:cNvPicPr>
          <p:nvPr/>
        </p:nvPicPr>
        <p:blipFill>
          <a:blip r:embed="rId3" cstate="screen">
            <a:extLst>
              <a:ext uri="{28A0092B-C50C-407E-A947-70E740481C1C}">
                <a14:useLocalDpi xmlns:a14="http://schemas.microsoft.com/office/drawing/2010/main"/>
              </a:ext>
            </a:extLst>
          </a:blip>
          <a:stretch>
            <a:fillRect/>
          </a:stretch>
        </p:blipFill>
        <p:spPr>
          <a:xfrm>
            <a:off x="411554" y="1594180"/>
            <a:ext cx="3270997" cy="3813048"/>
          </a:xfrm>
          <a:prstGeom prst="rect">
            <a:avLst/>
          </a:prstGeom>
          <a:effectLst>
            <a:outerShdw blurRad="50800" dist="38100" dir="2700000" algn="tl" rotWithShape="0">
              <a:prstClr val="black">
                <a:alpha val="40000"/>
              </a:prst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11875"/>
            <a:ext cx="223200" cy="6866100"/>
          </a:xfrm>
          <a:prstGeom prst="rect">
            <a:avLst/>
          </a:prstGeom>
          <a:solidFill>
            <a:srgbClr val="F26763"/>
          </a:solidFill>
          <a:ln w="9525" cap="flat" cmpd="sng">
            <a:solidFill>
              <a:srgbClr val="F26763"/>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279" name="Google Shape;279;g104476d1465_1_17"/>
          <p:cNvSpPr txBox="1">
            <a:spLocks noGrp="1"/>
          </p:cNvSpPr>
          <p:nvPr>
            <p:ph type="title" idx="4294967295"/>
          </p:nvPr>
        </p:nvSpPr>
        <p:spPr>
          <a:xfrm>
            <a:off x="1687736" y="136525"/>
            <a:ext cx="7803364" cy="1325700"/>
          </a:xfrm>
          <a:prstGeom prst="rect">
            <a:avLst/>
          </a:prstGeom>
          <a:noFill/>
          <a:ln>
            <a:noFill/>
          </a:ln>
        </p:spPr>
        <p:txBody>
          <a:bodyPr spcFirstLastPara="1" wrap="square" lIns="91425" tIns="45700" rIns="91425" bIns="45700" anchor="ctr" anchorCtr="0">
            <a:normAutofit/>
          </a:bodyPr>
          <a:lstStyle/>
          <a:p>
            <a:pPr>
              <a:buSzPts val="5400"/>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281" name="Google Shape;281;g104476d1465_1_17"/>
          <p:cNvPicPr preferRelativeResize="0"/>
          <p:nvPr/>
        </p:nvPicPr>
        <p:blipFill>
          <a:blip r:embed="rId3">
            <a:alphaModFix/>
          </a:blip>
          <a:stretch>
            <a:fillRect/>
          </a:stretch>
        </p:blipFill>
        <p:spPr>
          <a:xfrm>
            <a:off x="964186" y="414257"/>
            <a:ext cx="747300" cy="747300"/>
          </a:xfrm>
          <a:prstGeom prst="rect">
            <a:avLst/>
          </a:prstGeom>
          <a:noFill/>
          <a:ln>
            <a:noFill/>
          </a:ln>
          <a:effectLst>
            <a:outerShdw blurRad="57150" dist="19050" dir="5400000" algn="bl" rotWithShape="0">
              <a:srgbClr val="000000">
                <a:alpha val="50000"/>
              </a:srgbClr>
            </a:outerShdw>
          </a:effectLst>
        </p:spPr>
      </p:pic>
      <p:pic>
        <p:nvPicPr>
          <p:cNvPr id="283" name="Google Shape;283;g104476d1465_1_17"/>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3433" y="6200599"/>
            <a:ext cx="563850" cy="657276"/>
          </a:xfrm>
          <a:prstGeom prst="rect">
            <a:avLst/>
          </a:prstGeom>
          <a:noFill/>
          <a:ln>
            <a:noFill/>
          </a:ln>
          <a:effectLst>
            <a:outerShdw blurRad="57150" dist="19050" dir="5400000" algn="bl" rotWithShape="0">
              <a:srgbClr val="000000">
                <a:alpha val="50000"/>
              </a:srgbClr>
            </a:outerShdw>
          </a:effectLst>
        </p:spPr>
      </p:pic>
      <p:sp>
        <p:nvSpPr>
          <p:cNvPr id="8" name="Google Shape;280;g104476d1465_1_17">
            <a:extLst>
              <a:ext uri="{FF2B5EF4-FFF2-40B4-BE49-F238E27FC236}">
                <a16:creationId xmlns:a16="http://schemas.microsoft.com/office/drawing/2014/main" id="{527A9F9F-07B8-ED47-B967-E5507C67DBC5}"/>
              </a:ext>
            </a:extLst>
          </p:cNvPr>
          <p:cNvSpPr txBox="1">
            <a:spLocks/>
          </p:cNvSpPr>
          <p:nvPr/>
        </p:nvSpPr>
        <p:spPr>
          <a:xfrm>
            <a:off x="843148" y="1462225"/>
            <a:ext cx="10269352"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pPr marL="95250" indent="0">
              <a:buNone/>
            </a:pPr>
            <a:r>
              <a:rPr lang="en-US" sz="2800" dirty="0">
                <a:latin typeface="Verdana" panose="020B0604030504040204" pitchFamily="34" charset="0"/>
                <a:ea typeface="Verdana" panose="020B0604030504040204" pitchFamily="34" charset="0"/>
                <a:cs typeface="Verdana" panose="020B0604030504040204" pitchFamily="34" charset="0"/>
              </a:rPr>
              <a:t>MA.912.NSO.1.4</a:t>
            </a:r>
          </a:p>
          <a:p>
            <a:pPr marL="552450" lvl="1" indent="0">
              <a:buNone/>
            </a:pPr>
            <a:r>
              <a:rPr lang="en-US" sz="2800" dirty="0">
                <a:latin typeface="Verdana" panose="020B0604030504040204" pitchFamily="34" charset="0"/>
                <a:ea typeface="Verdana" panose="020B0604030504040204" pitchFamily="34" charset="0"/>
                <a:cs typeface="Verdana" panose="020B0604030504040204" pitchFamily="34" charset="0"/>
              </a:rPr>
              <a:t>Apply previous understanding of operations with rational numbers to add, subtract, multiply, and divide numerical radicals.</a:t>
            </a:r>
          </a:p>
        </p:txBody>
      </p:sp>
      <p:sp>
        <p:nvSpPr>
          <p:cNvPr id="9" name="Google Shape;282;g104476d1465_1_17">
            <a:extLst>
              <a:ext uri="{FF2B5EF4-FFF2-40B4-BE49-F238E27FC236}">
                <a16:creationId xmlns:a16="http://schemas.microsoft.com/office/drawing/2014/main" id="{9F3F36DB-4223-EE73-FF99-42E45E66F301}"/>
              </a:ext>
            </a:extLst>
          </p:cNvPr>
          <p:cNvSpPr txBox="1"/>
          <p:nvPr/>
        </p:nvSpPr>
        <p:spPr>
          <a:xfrm>
            <a:off x="8908141" y="6469331"/>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40</a:t>
            </a:r>
            <a:endParaRPr i="1" dirty="0">
              <a:latin typeface="Calibri"/>
              <a:ea typeface="Calibri"/>
              <a:cs typeface="Calibri"/>
              <a:sym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Google Shape;278;g104476d1465_1_17">
            <a:extLst>
              <a:ext uri="{FF2B5EF4-FFF2-40B4-BE49-F238E27FC236}">
                <a16:creationId xmlns:a16="http://schemas.microsoft.com/office/drawing/2014/main" id="{78632872-3F42-3447-924A-20A16C6976F7}"/>
              </a:ext>
            </a:extLst>
          </p:cNvPr>
          <p:cNvSpPr/>
          <p:nvPr/>
        </p:nvSpPr>
        <p:spPr>
          <a:xfrm>
            <a:off x="0" y="-8225"/>
            <a:ext cx="223200" cy="6866100"/>
          </a:xfrm>
          <a:prstGeom prst="rect">
            <a:avLst/>
          </a:prstGeom>
          <a:solidFill>
            <a:srgbClr val="F26763"/>
          </a:solidFill>
          <a:ln w="9525" cap="flat" cmpd="sng">
            <a:solidFill>
              <a:srgbClr val="F26763"/>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pic>
        <p:nvPicPr>
          <p:cNvPr id="3" name="Google Shape;281;g104476d1465_1_17">
            <a:extLst>
              <a:ext uri="{FF2B5EF4-FFF2-40B4-BE49-F238E27FC236}">
                <a16:creationId xmlns:a16="http://schemas.microsoft.com/office/drawing/2014/main" id="{D915A027-4791-D04E-90A8-9E6239ED88EB}"/>
              </a:ext>
            </a:extLst>
          </p:cNvPr>
          <p:cNvPicPr preferRelativeResize="0"/>
          <p:nvPr/>
        </p:nvPicPr>
        <p:blipFill>
          <a:blip r:embed="rId2">
            <a:alphaModFix/>
          </a:blip>
          <a:stretch>
            <a:fillRect/>
          </a:stretch>
        </p:blipFill>
        <p:spPr>
          <a:xfrm>
            <a:off x="958503" y="418867"/>
            <a:ext cx="747300" cy="747300"/>
          </a:xfrm>
          <a:prstGeom prst="rect">
            <a:avLst/>
          </a:prstGeom>
          <a:noFill/>
          <a:ln>
            <a:noFill/>
          </a:ln>
          <a:effectLst>
            <a:outerShdw blurRad="57150" dist="19050" dir="5400000" algn="bl" rotWithShape="0">
              <a:srgbClr val="000000">
                <a:alpha val="50000"/>
              </a:srgbClr>
            </a:outerShdw>
          </a:effectLst>
        </p:spPr>
      </p:pic>
      <p:sp>
        <p:nvSpPr>
          <p:cNvPr id="5" name="Google Shape;295;g103996e1364_0_10">
            <a:extLst>
              <a:ext uri="{FF2B5EF4-FFF2-40B4-BE49-F238E27FC236}">
                <a16:creationId xmlns:a16="http://schemas.microsoft.com/office/drawing/2014/main" id="{73A67FE7-C13F-C24F-85E9-A4B96A1F42A8}"/>
              </a:ext>
            </a:extLst>
          </p:cNvPr>
          <p:cNvSpPr txBox="1">
            <a:spLocks/>
          </p:cNvSpPr>
          <p:nvPr/>
        </p:nvSpPr>
        <p:spPr>
          <a:xfrm>
            <a:off x="1705803" y="251587"/>
            <a:ext cx="9527694"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3200" b="1" dirty="0">
                <a:solidFill>
                  <a:srgbClr val="54B5D1"/>
                </a:solidFill>
                <a:latin typeface="Verdana"/>
                <a:ea typeface="Verdana"/>
                <a:cs typeface="Verdana"/>
                <a:sym typeface="Verdana"/>
              </a:rPr>
              <a:t>Integrated Mathematical Thinking and Reasoning Standards</a:t>
            </a:r>
          </a:p>
        </p:txBody>
      </p:sp>
      <p:sp>
        <p:nvSpPr>
          <p:cNvPr id="7" name="Google Shape;296;g103996e1364_0_10">
            <a:extLst>
              <a:ext uri="{FF2B5EF4-FFF2-40B4-BE49-F238E27FC236}">
                <a16:creationId xmlns:a16="http://schemas.microsoft.com/office/drawing/2014/main" id="{5BB4D65A-27E8-4F4F-9348-5380FE318E8D}"/>
              </a:ext>
            </a:extLst>
          </p:cNvPr>
          <p:cNvSpPr txBox="1">
            <a:spLocks/>
          </p:cNvSpPr>
          <p:nvPr/>
        </p:nvSpPr>
        <p:spPr>
          <a:xfrm>
            <a:off x="843148" y="1502866"/>
            <a:ext cx="9812152" cy="45720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MA.K12.MTR.1.1 Actively participate in effortful learning both individually and collectively.</a:t>
            </a:r>
          </a:p>
          <a:p>
            <a:pPr>
              <a:buSzPts val="523"/>
            </a:pPr>
            <a:endPar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endParaRPr>
          </a:p>
          <a:p>
            <a:pPr>
              <a:buSzPts val="523"/>
            </a:pPr>
            <a:r>
              <a:rPr lang="en-US" sz="2800" dirty="0">
                <a:solidFill>
                  <a:schemeClr val="tx1"/>
                </a:solidFill>
                <a:latin typeface="Verdana" panose="020B0604030504040204" pitchFamily="34" charset="0"/>
                <a:ea typeface="Verdana" panose="020B0604030504040204" pitchFamily="34" charset="0"/>
                <a:cs typeface="Verdana" panose="020B0604030504040204" pitchFamily="34" charset="0"/>
                <a:sym typeface="Verdana"/>
              </a:rPr>
              <a:t>MA.K12.MTR.3.1 Complete tasks with mathematical fluency.</a:t>
            </a:r>
          </a:p>
        </p:txBody>
      </p:sp>
      <p:sp>
        <p:nvSpPr>
          <p:cNvPr id="10" name="Google Shape;282;g104476d1465_1_17">
            <a:extLst>
              <a:ext uri="{FF2B5EF4-FFF2-40B4-BE49-F238E27FC236}">
                <a16:creationId xmlns:a16="http://schemas.microsoft.com/office/drawing/2014/main" id="{20D9B757-410F-8FC6-A93E-102BA623ED8A}"/>
              </a:ext>
            </a:extLst>
          </p:cNvPr>
          <p:cNvSpPr txBox="1"/>
          <p:nvPr/>
        </p:nvSpPr>
        <p:spPr>
          <a:xfrm>
            <a:off x="8908141" y="6469331"/>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40</a:t>
            </a:r>
            <a:endParaRPr i="1" dirty="0">
              <a:latin typeface="Calibri"/>
              <a:ea typeface="Calibri"/>
              <a:cs typeface="Calibri"/>
              <a:sym typeface="Calibri"/>
            </a:endParaRPr>
          </a:p>
        </p:txBody>
      </p:sp>
      <p:pic>
        <p:nvPicPr>
          <p:cNvPr id="11" name="Google Shape;283;g104476d1465_1_17">
            <a:extLst>
              <a:ext uri="{FF2B5EF4-FFF2-40B4-BE49-F238E27FC236}">
                <a16:creationId xmlns:a16="http://schemas.microsoft.com/office/drawing/2014/main" id="{46429CD5-186A-8DE4-BBAC-CD2113143A5B}"/>
              </a:ext>
            </a:extLst>
          </p:cNvPr>
          <p:cNvPicPr preferRelativeResize="0"/>
          <p:nvPr/>
        </p:nvPicPr>
        <p:blipFill>
          <a:blip r:embed="rId3" cstate="screen">
            <a:alphaModFix/>
            <a:extLst>
              <a:ext uri="{28A0092B-C50C-407E-A947-70E740481C1C}">
                <a14:useLocalDpi xmlns:a14="http://schemas.microsoft.com/office/drawing/2010/main"/>
              </a:ext>
            </a:extLst>
          </a:blip>
          <a:stretch>
            <a:fillRect/>
          </a:stretch>
        </p:blipFill>
        <p:spPr>
          <a:xfrm>
            <a:off x="11533433"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34299601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F26763"/>
          </a:solidFill>
          <a:ln w="9525" cap="flat" cmpd="sng">
            <a:solidFill>
              <a:srgbClr val="F26763"/>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dirty="0">
              <a:highlight>
                <a:srgbClr val="FFFF00"/>
              </a:highlight>
            </a:endParaRPr>
          </a:p>
        </p:txBody>
      </p:sp>
      <p:sp>
        <p:nvSpPr>
          <p:cNvPr id="10" name="Google Shape;301;g103996e1364_0_16">
            <a:extLst>
              <a:ext uri="{FF2B5EF4-FFF2-40B4-BE49-F238E27FC236}">
                <a16:creationId xmlns:a16="http://schemas.microsoft.com/office/drawing/2014/main" id="{5771FBFA-7311-BB45-8AFF-04B380531EE6}"/>
              </a:ext>
            </a:extLst>
          </p:cNvPr>
          <p:cNvSpPr txBox="1">
            <a:spLocks/>
          </p:cNvSpPr>
          <p:nvPr/>
        </p:nvSpPr>
        <p:spPr>
          <a:xfrm>
            <a:off x="1834480" y="30660"/>
            <a:ext cx="8105120" cy="132570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700" b="1" dirty="0">
                <a:solidFill>
                  <a:srgbClr val="52BDA6"/>
                </a:solidFill>
                <a:latin typeface="Verdana"/>
                <a:ea typeface="Verdana"/>
                <a:cs typeface="Verdana"/>
                <a:sym typeface="Verdana"/>
              </a:rPr>
              <a:t>Learning Targets</a:t>
            </a:r>
          </a:p>
        </p:txBody>
      </p:sp>
      <p:pic>
        <p:nvPicPr>
          <p:cNvPr id="12" name="Google Shape;303;g103996e1364_0_16">
            <a:extLst>
              <a:ext uri="{FF2B5EF4-FFF2-40B4-BE49-F238E27FC236}">
                <a16:creationId xmlns:a16="http://schemas.microsoft.com/office/drawing/2014/main" id="{81DC7EB0-4FED-FC45-BAEC-D699ED5C2169}"/>
              </a:ext>
            </a:extLst>
          </p:cNvPr>
          <p:cNvPicPr preferRelativeResize="0"/>
          <p:nvPr/>
        </p:nvPicPr>
        <p:blipFill>
          <a:blip r:embed="rId3">
            <a:alphaModFix/>
          </a:blip>
          <a:stretch>
            <a:fillRect/>
          </a:stretch>
        </p:blipFill>
        <p:spPr>
          <a:xfrm>
            <a:off x="944675" y="392955"/>
            <a:ext cx="747300" cy="747300"/>
          </a:xfrm>
          <a:prstGeom prst="rect">
            <a:avLst/>
          </a:prstGeom>
          <a:noFill/>
          <a:ln>
            <a:noFill/>
          </a:ln>
          <a:effectLst>
            <a:outerShdw blurRad="50800" dist="38100" dir="2700000" algn="tl" rotWithShape="0">
              <a:prstClr val="black">
                <a:alpha val="40000"/>
              </a:prstClr>
            </a:outerShdw>
          </a:effectLst>
        </p:spPr>
      </p:pic>
      <p:sp>
        <p:nvSpPr>
          <p:cNvPr id="14" name="Google Shape;302;g103996e1364_0_16">
            <a:extLst>
              <a:ext uri="{FF2B5EF4-FFF2-40B4-BE49-F238E27FC236}">
                <a16:creationId xmlns:a16="http://schemas.microsoft.com/office/drawing/2014/main" id="{9B7C98EC-F13C-9146-B728-D7044DB4247D}"/>
              </a:ext>
            </a:extLst>
          </p:cNvPr>
          <p:cNvSpPr txBox="1">
            <a:spLocks/>
          </p:cNvSpPr>
          <p:nvPr/>
        </p:nvSpPr>
        <p:spPr>
          <a:xfrm>
            <a:off x="944675" y="1600200"/>
            <a:ext cx="10193225" cy="4205700"/>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463550" indent="-463550">
              <a:buFont typeface="Wingdings" pitchFamily="2" charset="2"/>
              <a:buChar char="q"/>
            </a:pPr>
            <a:r>
              <a:rPr lang="en-US" sz="2800" dirty="0">
                <a:latin typeface="Verdana" panose="020B0604030504040204" pitchFamily="34" charset="0"/>
                <a:ea typeface="Verdana" panose="020B0604030504040204" pitchFamily="34" charset="0"/>
                <a:cs typeface="Verdana" panose="020B0604030504040204" pitchFamily="34" charset="0"/>
              </a:rPr>
              <a:t>I can relate the power of a product law of exponents to the product law of radicals.</a:t>
            </a:r>
          </a:p>
          <a:p>
            <a:pPr marL="463550" indent="-463550">
              <a:buFont typeface="Wingdings" pitchFamily="2" charset="2"/>
              <a:buChar char="q"/>
            </a:pPr>
            <a:endParaRPr lang="en-US" sz="2800" dirty="0">
              <a:latin typeface="Verdana" panose="020B0604030504040204" pitchFamily="34" charset="0"/>
              <a:ea typeface="Verdana" panose="020B0604030504040204" pitchFamily="34" charset="0"/>
              <a:cs typeface="Verdana" panose="020B0604030504040204" pitchFamily="34" charset="0"/>
            </a:endParaRPr>
          </a:p>
          <a:p>
            <a:pPr marL="463550" indent="-463550">
              <a:buFont typeface="Wingdings" pitchFamily="2" charset="2"/>
              <a:buChar char="q"/>
            </a:pPr>
            <a:r>
              <a:rPr lang="en-US" sz="2800" dirty="0">
                <a:latin typeface="Verdana" panose="020B0604030504040204" pitchFamily="34" charset="0"/>
                <a:ea typeface="Verdana" panose="020B0604030504040204" pitchFamily="34" charset="0"/>
                <a:cs typeface="Verdana" panose="020B0604030504040204" pitchFamily="34" charset="0"/>
              </a:rPr>
              <a:t>Given a numerical radical, I can use the product law of radicals to write an equivalent numerical radical.</a:t>
            </a:r>
          </a:p>
        </p:txBody>
      </p:sp>
      <p:sp>
        <p:nvSpPr>
          <p:cNvPr id="11" name="Google Shape;282;g104476d1465_1_17">
            <a:extLst>
              <a:ext uri="{FF2B5EF4-FFF2-40B4-BE49-F238E27FC236}">
                <a16:creationId xmlns:a16="http://schemas.microsoft.com/office/drawing/2014/main" id="{5347ADF8-8473-AE61-5EDA-FA0B08E5B4A9}"/>
              </a:ext>
            </a:extLst>
          </p:cNvPr>
          <p:cNvSpPr txBox="1"/>
          <p:nvPr/>
        </p:nvSpPr>
        <p:spPr>
          <a:xfrm>
            <a:off x="8908141" y="6469331"/>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40</a:t>
            </a:r>
            <a:endParaRPr i="1" dirty="0">
              <a:latin typeface="Calibri"/>
              <a:ea typeface="Calibri"/>
              <a:cs typeface="Calibri"/>
              <a:sym typeface="Calibri"/>
            </a:endParaRPr>
          </a:p>
        </p:txBody>
      </p:sp>
      <p:pic>
        <p:nvPicPr>
          <p:cNvPr id="13" name="Google Shape;283;g104476d1465_1_17">
            <a:extLst>
              <a:ext uri="{FF2B5EF4-FFF2-40B4-BE49-F238E27FC236}">
                <a16:creationId xmlns:a16="http://schemas.microsoft.com/office/drawing/2014/main" id="{00AFD687-5810-8E1B-8C6C-95C3F1F8ED26}"/>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3433"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714203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26763"/>
          </a:solidFill>
          <a:ln w="9525" cap="flat" cmpd="sng">
            <a:solidFill>
              <a:srgbClr val="F26763"/>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pic>
        <p:nvPicPr>
          <p:cNvPr id="312" name="Google Shape;312;g104476d1465_1_39"/>
          <p:cNvPicPr preferRelativeResize="0"/>
          <p:nvPr/>
        </p:nvPicPr>
        <p:blipFill>
          <a:blip r:embed="rId3">
            <a:alphaModFix/>
          </a:blip>
          <a:stretch>
            <a:fillRect/>
          </a:stretch>
        </p:blipFill>
        <p:spPr>
          <a:xfrm>
            <a:off x="3677607" y="2913120"/>
            <a:ext cx="1031750" cy="1031750"/>
          </a:xfrm>
          <a:prstGeom prst="rect">
            <a:avLst/>
          </a:prstGeom>
          <a:noFill/>
          <a:ln>
            <a:noFill/>
          </a:ln>
          <a:effectLst>
            <a:outerShdw blurRad="50800" dist="38100" dir="2700000" algn="tl" rotWithShape="0">
              <a:prstClr val="black">
                <a:alpha val="40000"/>
              </a:prstClr>
            </a:outerShdw>
          </a:effectLst>
        </p:spPr>
      </p:pic>
      <p:sp>
        <p:nvSpPr>
          <p:cNvPr id="313" name="Google Shape;313;g104476d1465_1_39"/>
          <p:cNvSpPr txBox="1">
            <a:spLocks noGrp="1"/>
          </p:cNvSpPr>
          <p:nvPr>
            <p:ph type="title" idx="4294967295"/>
          </p:nvPr>
        </p:nvSpPr>
        <p:spPr>
          <a:xfrm>
            <a:off x="4903824" y="2766145"/>
            <a:ext cx="404820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Warm-Up</a:t>
            </a:r>
            <a:endParaRPr sz="5100" b="1" dirty="0">
              <a:solidFill>
                <a:srgbClr val="3F2A67"/>
              </a:solidFill>
              <a:latin typeface="Verdana"/>
              <a:ea typeface="Verdana"/>
              <a:cs typeface="Verdana"/>
              <a:sym typeface="Verdana"/>
            </a:endParaRPr>
          </a:p>
        </p:txBody>
      </p:sp>
      <p:sp>
        <p:nvSpPr>
          <p:cNvPr id="10" name="Google Shape;282;g104476d1465_1_17">
            <a:extLst>
              <a:ext uri="{FF2B5EF4-FFF2-40B4-BE49-F238E27FC236}">
                <a16:creationId xmlns:a16="http://schemas.microsoft.com/office/drawing/2014/main" id="{3E9FAE95-D2BA-8E34-6B07-1EF2C061578C}"/>
              </a:ext>
            </a:extLst>
          </p:cNvPr>
          <p:cNvSpPr txBox="1"/>
          <p:nvPr/>
        </p:nvSpPr>
        <p:spPr>
          <a:xfrm>
            <a:off x="8908141" y="6469331"/>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40</a:t>
            </a:r>
            <a:endParaRPr i="1" dirty="0">
              <a:latin typeface="Calibri"/>
              <a:ea typeface="Calibri"/>
              <a:cs typeface="Calibri"/>
              <a:sym typeface="Calibri"/>
            </a:endParaRPr>
          </a:p>
        </p:txBody>
      </p:sp>
      <p:pic>
        <p:nvPicPr>
          <p:cNvPr id="11" name="Google Shape;283;g104476d1465_1_17">
            <a:extLst>
              <a:ext uri="{FF2B5EF4-FFF2-40B4-BE49-F238E27FC236}">
                <a16:creationId xmlns:a16="http://schemas.microsoft.com/office/drawing/2014/main" id="{2EB92838-ED9A-F631-F5FC-F4A929427906}"/>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3433" y="6200599"/>
            <a:ext cx="563850" cy="657276"/>
          </a:xfrm>
          <a:prstGeom prst="rect">
            <a:avLst/>
          </a:prstGeom>
          <a:noFill/>
          <a:ln>
            <a:noFill/>
          </a:ln>
          <a:effectLst>
            <a:outerShdw blurRad="57150" dist="19050" dir="5400000" algn="bl" rotWithShape="0">
              <a:srgbClr val="000000">
                <a:alpha val="50000"/>
              </a:srgbClr>
            </a:outerShdw>
          </a:effectLst>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4355" y="-8225"/>
            <a:ext cx="223200" cy="6866100"/>
          </a:xfrm>
          <a:prstGeom prst="rect">
            <a:avLst/>
          </a:prstGeom>
          <a:solidFill>
            <a:srgbClr val="F26763"/>
          </a:solidFill>
          <a:ln w="9525" cap="flat" cmpd="sng">
            <a:solidFill>
              <a:srgbClr val="F26763"/>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769423" y="295095"/>
            <a:ext cx="9048998" cy="66285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000" b="1" dirty="0">
                <a:solidFill>
                  <a:srgbClr val="3F2A67"/>
                </a:solidFill>
                <a:latin typeface="Verdana"/>
                <a:ea typeface="Verdana"/>
                <a:cs typeface="Verdana"/>
                <a:sym typeface="Verdana"/>
              </a:rPr>
              <a:t>1.8.1 Warm-Up: Error Analysis</a:t>
            </a:r>
          </a:p>
        </p:txBody>
      </p:sp>
      <p:pic>
        <p:nvPicPr>
          <p:cNvPr id="13" name="Google Shape;326;g103996e1364_0_25">
            <a:extLst>
              <a:ext uri="{FF2B5EF4-FFF2-40B4-BE49-F238E27FC236}">
                <a16:creationId xmlns:a16="http://schemas.microsoft.com/office/drawing/2014/main" id="{0B25478F-1F7B-DF44-A9BD-898178E878B3}"/>
              </a:ext>
            </a:extLst>
          </p:cNvPr>
          <p:cNvPicPr preferRelativeResize="0"/>
          <p:nvPr/>
        </p:nvPicPr>
        <p:blipFill>
          <a:blip r:embed="rId3">
            <a:alphaModFix/>
          </a:blip>
          <a:stretch>
            <a:fillRect/>
          </a:stretch>
        </p:blipFill>
        <p:spPr>
          <a:xfrm>
            <a:off x="770351" y="235951"/>
            <a:ext cx="747300" cy="747300"/>
          </a:xfrm>
          <a:prstGeom prst="rect">
            <a:avLst/>
          </a:prstGeom>
          <a:noFill/>
          <a:ln>
            <a:noFill/>
          </a:ln>
          <a:effectLst>
            <a:outerShdw blurRad="50800" dist="38100" dir="2700000" algn="tl" rotWithShape="0">
              <a:prstClr val="black">
                <a:alpha val="40000"/>
              </a:prstClr>
            </a:outerShdw>
          </a:effectLst>
        </p:spPr>
      </p:pic>
      <mc:AlternateContent xmlns:mc="http://schemas.openxmlformats.org/markup-compatibility/2006">
        <mc:Choice xmlns:a14="http://schemas.microsoft.com/office/drawing/2010/main" Requires="a14">
          <p:sp>
            <p:nvSpPr>
              <p:cNvPr id="2" name="TextBox 1">
                <a:extLst>
                  <a:ext uri="{FF2B5EF4-FFF2-40B4-BE49-F238E27FC236}">
                    <a16:creationId xmlns:a16="http://schemas.microsoft.com/office/drawing/2014/main" id="{E1D7562E-134F-D14B-AF1A-DF40E11EF758}"/>
                  </a:ext>
                </a:extLst>
              </p:cNvPr>
              <p:cNvSpPr txBox="1"/>
              <p:nvPr/>
            </p:nvSpPr>
            <p:spPr>
              <a:xfrm>
                <a:off x="855023" y="1224222"/>
                <a:ext cx="9812977" cy="4893647"/>
              </a:xfrm>
              <a:prstGeom prst="rect">
                <a:avLst/>
              </a:prstGeom>
              <a:noFill/>
            </p:spPr>
            <p:txBody>
              <a:bodyPr wrap="square" rtlCol="0">
                <a:spAutoFit/>
              </a:bodyPr>
              <a:lstStyle/>
              <a:p>
                <a:r>
                  <a:rPr lang="en-US" sz="2400" dirty="0" err="1">
                    <a:latin typeface="Verdana" panose="020B0604030504040204" pitchFamily="34" charset="0"/>
                    <a:ea typeface="Verdana" panose="020B0604030504040204" pitchFamily="34" charset="0"/>
                    <a:cs typeface="Verdana" panose="020B0604030504040204" pitchFamily="34" charset="0"/>
                  </a:rPr>
                  <a:t>Leilana</a:t>
                </a:r>
                <a:r>
                  <a:rPr lang="en-US" sz="2400" dirty="0">
                    <a:latin typeface="Verdana" panose="020B0604030504040204" pitchFamily="34" charset="0"/>
                    <a:ea typeface="Verdana" panose="020B0604030504040204" pitchFamily="34" charset="0"/>
                    <a:cs typeface="Verdana" panose="020B0604030504040204" pitchFamily="34" charset="0"/>
                  </a:rPr>
                  <a:t> and </a:t>
                </a:r>
                <a:r>
                  <a:rPr lang="en-US" sz="2400" dirty="0" err="1">
                    <a:latin typeface="Verdana" panose="020B0604030504040204" pitchFamily="34" charset="0"/>
                    <a:ea typeface="Verdana" panose="020B0604030504040204" pitchFamily="34" charset="0"/>
                    <a:cs typeface="Verdana" panose="020B0604030504040204" pitchFamily="34" charset="0"/>
                  </a:rPr>
                  <a:t>Khamari</a:t>
                </a:r>
                <a:r>
                  <a:rPr lang="en-US" sz="2400" dirty="0">
                    <a:latin typeface="Verdana" panose="020B0604030504040204" pitchFamily="34" charset="0"/>
                    <a:ea typeface="Verdana" panose="020B0604030504040204" pitchFamily="34" charset="0"/>
                    <a:cs typeface="Verdana" panose="020B0604030504040204" pitchFamily="34" charset="0"/>
                  </a:rPr>
                  <a:t> wrote different numerical expressions and expanded them to show each has a value of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16</m:t>
                    </m:r>
                  </m:oMath>
                </a14:m>
                <a:r>
                  <a:rPr lang="en-US" sz="2400" dirty="0">
                    <a:latin typeface="Verdana" panose="020B0604030504040204" pitchFamily="34" charset="0"/>
                    <a:ea typeface="Verdana" panose="020B0604030504040204" pitchFamily="34" charset="0"/>
                    <a:cs typeface="Verdana" panose="020B0604030504040204" pitchFamily="34" charset="0"/>
                  </a:rPr>
                  <a:t>.</a:t>
                </a:r>
              </a:p>
              <a:p>
                <a:endParaRPr lang="en-US" sz="2400" dirty="0">
                  <a:latin typeface="Verdana" panose="020B0604030504040204" pitchFamily="34" charset="0"/>
                  <a:ea typeface="Verdana" panose="020B0604030504040204" pitchFamily="34" charset="0"/>
                  <a:cs typeface="Verdana" panose="020B0604030504040204" pitchFamily="34" charset="0"/>
                </a:endParaRPr>
              </a:p>
              <a:p>
                <a:endParaRPr lang="en-PH" sz="2400" dirty="0">
                  <a:latin typeface="Verdana" panose="020B0604030504040204" pitchFamily="34" charset="0"/>
                  <a:ea typeface="Verdana" panose="020B0604030504040204" pitchFamily="34" charset="0"/>
                  <a:cs typeface="Verdana" panose="020B0604030504040204" pitchFamily="34" charset="0"/>
                </a:endParaRPr>
              </a:p>
              <a:p>
                <a:endParaRPr lang="en-PH" sz="2400" dirty="0">
                  <a:latin typeface="Verdana" panose="020B0604030504040204" pitchFamily="34" charset="0"/>
                  <a:ea typeface="Verdana" panose="020B0604030504040204" pitchFamily="34" charset="0"/>
                  <a:cs typeface="Verdana" panose="020B0604030504040204" pitchFamily="34" charset="0"/>
                </a:endParaRPr>
              </a:p>
              <a:p>
                <a:endParaRPr lang="en-PH"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Explain whether you agree with </a:t>
                </a:r>
                <a:r>
                  <a:rPr lang="en-US" sz="2400" dirty="0" err="1">
                    <a:latin typeface="Verdana" panose="020B0604030504040204" pitchFamily="34" charset="0"/>
                    <a:ea typeface="Verdana" panose="020B0604030504040204" pitchFamily="34" charset="0"/>
                    <a:cs typeface="Verdana" panose="020B0604030504040204" pitchFamily="34" charset="0"/>
                  </a:rPr>
                  <a:t>Leilana’s</a:t>
                </a:r>
                <a:r>
                  <a:rPr lang="en-US" sz="2400" dirty="0">
                    <a:latin typeface="Verdana" panose="020B0604030504040204" pitchFamily="34" charset="0"/>
                    <a:ea typeface="Verdana" panose="020B0604030504040204" pitchFamily="34" charset="0"/>
                    <a:cs typeface="Verdana" panose="020B0604030504040204" pitchFamily="34" charset="0"/>
                  </a:rPr>
                  <a:t> work or </a:t>
                </a:r>
                <a:r>
                  <a:rPr lang="en-US" sz="2400" dirty="0" err="1">
                    <a:latin typeface="Verdana" panose="020B0604030504040204" pitchFamily="34" charset="0"/>
                    <a:ea typeface="Verdana" panose="020B0604030504040204" pitchFamily="34" charset="0"/>
                    <a:cs typeface="Verdana" panose="020B0604030504040204" pitchFamily="34" charset="0"/>
                  </a:rPr>
                  <a:t>Khamari’s</a:t>
                </a:r>
                <a:r>
                  <a:rPr lang="en-US" sz="2400" dirty="0">
                    <a:latin typeface="Verdana" panose="020B0604030504040204" pitchFamily="34" charset="0"/>
                    <a:ea typeface="Verdana" panose="020B0604030504040204" pitchFamily="34" charset="0"/>
                    <a:cs typeface="Verdana" panose="020B0604030504040204" pitchFamily="34" charset="0"/>
                  </a:rPr>
                  <a:t> work.</a:t>
                </a:r>
              </a:p>
              <a:p>
                <a:pPr marL="457200" indent="-457200">
                  <a:buFont typeface="+mj-lt"/>
                  <a:buAutoNum type="arabicPeriod"/>
                </a:pPr>
                <a:endParaRPr lang="en-PH"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Write another numerical expression involving exponents with a value of </a:t>
                </a:r>
                <a14:m>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16</m:t>
                    </m:r>
                  </m:oMath>
                </a14:m>
                <a:r>
                  <a:rPr lang="en-US" sz="2400" dirty="0">
                    <a:latin typeface="Verdana" panose="020B0604030504040204" pitchFamily="34" charset="0"/>
                    <a:ea typeface="Verdana" panose="020B0604030504040204" pitchFamily="34" charset="0"/>
                    <a:cs typeface="Verdana" panose="020B0604030504040204" pitchFamily="34" charset="0"/>
                  </a:rPr>
                  <a:t>.</a:t>
                </a:r>
              </a:p>
            </p:txBody>
          </p:sp>
        </mc:Choice>
        <mc:Fallback>
          <p:sp>
            <p:nvSpPr>
              <p:cNvPr id="2" name="TextBox 1">
                <a:extLst>
                  <a:ext uri="{FF2B5EF4-FFF2-40B4-BE49-F238E27FC236}">
                    <a16:creationId xmlns:a16="http://schemas.microsoft.com/office/drawing/2014/main" id="{E1D7562E-134F-D14B-AF1A-DF40E11EF758}"/>
                  </a:ext>
                </a:extLst>
              </p:cNvPr>
              <p:cNvSpPr txBox="1">
                <a:spLocks noRot="1" noChangeAspect="1" noMove="1" noResize="1" noEditPoints="1" noAdjustHandles="1" noChangeArrowheads="1" noChangeShapeType="1" noTextEdit="1"/>
              </p:cNvSpPr>
              <p:nvPr/>
            </p:nvSpPr>
            <p:spPr>
              <a:xfrm>
                <a:off x="855023" y="1224222"/>
                <a:ext cx="9812977" cy="4893647"/>
              </a:xfrm>
              <a:prstGeom prst="rect">
                <a:avLst/>
              </a:prstGeom>
              <a:blipFill>
                <a:blip r:embed="rId4"/>
                <a:stretch>
                  <a:fillRect l="-932" t="-996" b="-1743"/>
                </a:stretch>
              </a:blipFill>
            </p:spPr>
            <p:txBody>
              <a:bodyPr/>
              <a:lstStyle/>
              <a:p>
                <a:r>
                  <a:rPr lang="en-US">
                    <a:noFill/>
                  </a:rPr>
                  <a:t> </a:t>
                </a:r>
              </a:p>
            </p:txBody>
          </p:sp>
        </mc:Fallback>
      </mc:AlternateContent>
      <p:sp>
        <p:nvSpPr>
          <p:cNvPr id="19" name="Rectangle 13">
            <a:extLst>
              <a:ext uri="{FF2B5EF4-FFF2-40B4-BE49-F238E27FC236}">
                <a16:creationId xmlns:a16="http://schemas.microsoft.com/office/drawing/2014/main" id="{F32FA606-312E-FE45-9E7F-5EB4EB578347}"/>
              </a:ext>
            </a:extLst>
          </p:cNvPr>
          <p:cNvSpPr>
            <a:spLocks noChangeArrowheads="1"/>
          </p:cNvSpPr>
          <p:nvPr/>
        </p:nvSpPr>
        <p:spPr bwMode="auto">
          <a:xfrm>
            <a:off x="1676401" y="1963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eaLnBrk="0" fontAlgn="base" hangingPunct="0">
              <a:spcBef>
                <a:spcPct val="0"/>
              </a:spcBef>
              <a:spcAft>
                <a:spcPct val="0"/>
              </a:spcAft>
              <a:buClrTx/>
            </a:pPr>
            <a:endParaRPr lang="en-US" altLang="en-US" sz="1800">
              <a:solidFill>
                <a:schemeClr val="tx1"/>
              </a:solidFill>
              <a:latin typeface="Arial" panose="020B0604020202020204" pitchFamily="34" charset="0"/>
            </a:endParaRPr>
          </a:p>
        </p:txBody>
      </p:sp>
      <p:sp>
        <p:nvSpPr>
          <p:cNvPr id="20" name="Rectangle 15">
            <a:extLst>
              <a:ext uri="{FF2B5EF4-FFF2-40B4-BE49-F238E27FC236}">
                <a16:creationId xmlns:a16="http://schemas.microsoft.com/office/drawing/2014/main" id="{3F80061E-0FC7-534E-8F32-815F86902C26}"/>
              </a:ext>
            </a:extLst>
          </p:cNvPr>
          <p:cNvSpPr>
            <a:spLocks noChangeArrowheads="1"/>
          </p:cNvSpPr>
          <p:nvPr/>
        </p:nvSpPr>
        <p:spPr bwMode="auto">
          <a:xfrm>
            <a:off x="1676401" y="4557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1" name="Rectangle 16">
            <a:extLst>
              <a:ext uri="{FF2B5EF4-FFF2-40B4-BE49-F238E27FC236}">
                <a16:creationId xmlns:a16="http://schemas.microsoft.com/office/drawing/2014/main" id="{F0663C2D-D71E-9747-B131-91E050FC8DF5}"/>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p:sp>
        <p:nvSpPr>
          <p:cNvPr id="22" name="Rectangle 18">
            <a:extLst>
              <a:ext uri="{FF2B5EF4-FFF2-40B4-BE49-F238E27FC236}">
                <a16:creationId xmlns:a16="http://schemas.microsoft.com/office/drawing/2014/main" id="{1EDB4A78-8756-D641-B2CF-25FE103BD06D}"/>
              </a:ext>
            </a:extLst>
          </p:cNvPr>
          <p:cNvSpPr>
            <a:spLocks noChangeArrowheads="1"/>
          </p:cNvSpPr>
          <p:nvPr/>
        </p:nvSpPr>
        <p:spPr bwMode="auto">
          <a:xfrm>
            <a:off x="1676401" y="3808513"/>
            <a:ext cx="184731" cy="30777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a:p>
        </p:txBody>
      </p:sp>
      <mc:AlternateContent xmlns:mc="http://schemas.openxmlformats.org/markup-compatibility/2006">
        <mc:Choice xmlns:a14="http://schemas.microsoft.com/office/drawing/2010/main" Requires="a14">
          <p:graphicFrame>
            <p:nvGraphicFramePr>
              <p:cNvPr id="5" name="Table 4">
                <a:extLst>
                  <a:ext uri="{FF2B5EF4-FFF2-40B4-BE49-F238E27FC236}">
                    <a16:creationId xmlns:a16="http://schemas.microsoft.com/office/drawing/2014/main" id="{998CB577-B6BB-5D4C-9393-C8543830F42D}"/>
                  </a:ext>
                </a:extLst>
              </p:cNvPr>
              <p:cNvGraphicFramePr>
                <a:graphicFrameLocks noGrp="1"/>
              </p:cNvGraphicFramePr>
              <p:nvPr>
                <p:extLst>
                  <p:ext uri="{D42A27DB-BD31-4B8C-83A1-F6EECF244321}">
                    <p14:modId xmlns:p14="http://schemas.microsoft.com/office/powerpoint/2010/main" val="2931913123"/>
                  </p:ext>
                </p:extLst>
              </p:nvPr>
            </p:nvGraphicFramePr>
            <p:xfrm>
              <a:off x="2103911" y="2246692"/>
              <a:ext cx="7315200" cy="977964"/>
            </p:xfrm>
            <a:graphic>
              <a:graphicData uri="http://schemas.openxmlformats.org/drawingml/2006/table">
                <a:tbl>
                  <a:tblPr bandRow="1"/>
                  <a:tblGrid>
                    <a:gridCol w="3657600">
                      <a:extLst>
                        <a:ext uri="{9D8B030D-6E8A-4147-A177-3AD203B41FA5}">
                          <a16:colId xmlns:a16="http://schemas.microsoft.com/office/drawing/2014/main" val="3901821549"/>
                        </a:ext>
                      </a:extLst>
                    </a:gridCol>
                    <a:gridCol w="3657600">
                      <a:extLst>
                        <a:ext uri="{9D8B030D-6E8A-4147-A177-3AD203B41FA5}">
                          <a16:colId xmlns:a16="http://schemas.microsoft.com/office/drawing/2014/main" val="3717563885"/>
                        </a:ext>
                      </a:extLst>
                    </a:gridCol>
                  </a:tblGrid>
                  <a:tr h="457200">
                    <a:tc>
                      <a:txBody>
                        <a:bodyPr/>
                        <a:lstStyle/>
                        <a:p>
                          <a:pPr marL="0" marR="0" algn="ctr">
                            <a:lnSpc>
                              <a:spcPct val="107000"/>
                            </a:lnSpc>
                            <a:spcBef>
                              <a:spcPts val="0"/>
                            </a:spcBef>
                            <a:spcAft>
                              <a:spcPts val="800"/>
                            </a:spcAft>
                          </a:pPr>
                          <a:r>
                            <a:rPr lang="en-US" sz="2000" b="1" dirty="0" err="1">
                              <a:effectLst/>
                              <a:latin typeface="Verdana" panose="020B0604030504040204" pitchFamily="34" charset="0"/>
                              <a:ea typeface="Verdana" panose="020B0604030504040204" pitchFamily="34" charset="0"/>
                              <a:cs typeface="Verdana" panose="020B0604030504040204" pitchFamily="34" charset="0"/>
                            </a:rPr>
                            <a:t>Leilana’s</a:t>
                          </a:r>
                          <a:r>
                            <a:rPr lang="en-US" sz="2000" b="1" dirty="0">
                              <a:effectLst/>
                              <a:latin typeface="Verdana" panose="020B0604030504040204" pitchFamily="34" charset="0"/>
                              <a:ea typeface="Verdana" panose="020B0604030504040204" pitchFamily="34" charset="0"/>
                              <a:cs typeface="Verdana" panose="020B0604030504040204" pitchFamily="34" charset="0"/>
                            </a:rPr>
                            <a:t> Work</a:t>
                          </a:r>
                          <a:endParaRPr lang="x-none" sz="2000">
                            <a:effectLst/>
                            <a:latin typeface="Verdana" pitchFamily="34" charset="0"/>
                            <a:ea typeface="Verdana" pitchFamily="34" charset="0"/>
                            <a:cs typeface="Cambria Math" panose="02040503050406030204" pitchFamily="18" charset="0"/>
                          </a:endParaRPr>
                        </a:p>
                      </a:txBody>
                      <a:tcPr marL="86632" marR="86632"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800"/>
                            </a:spcAft>
                          </a:pPr>
                          <a:r>
                            <a:rPr lang="en-US" sz="2000" b="1">
                              <a:solidFill>
                                <a:srgbClr val="000000"/>
                              </a:solidFill>
                              <a:effectLst/>
                              <a:latin typeface="Verdana" panose="020B0604030504040204" pitchFamily="34" charset="0"/>
                              <a:ea typeface="Verdana" panose="020B0604030504040204" pitchFamily="34" charset="0"/>
                              <a:cs typeface="Verdana" panose="020B0604030504040204" pitchFamily="34" charset="0"/>
                            </a:rPr>
                            <a:t>Khamari’s Work</a:t>
                          </a:r>
                          <a:endParaRPr lang="x-none" sz="2000">
                            <a:effectLst/>
                            <a:latin typeface="Verdana" pitchFamily="34" charset="0"/>
                            <a:ea typeface="Verdana" pitchFamily="34" charset="0"/>
                            <a:cs typeface="Cambria Math" panose="02040503050406030204" pitchFamily="18" charset="0"/>
                          </a:endParaRPr>
                        </a:p>
                      </a:txBody>
                      <a:tcPr marL="86632" marR="86632"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888608312"/>
                      </a:ext>
                    </a:extLst>
                  </a:tr>
                  <a:tr h="457200">
                    <a:tc>
                      <a:txBody>
                        <a:bodyPr/>
                        <a:lstStyle/>
                        <a:p>
                          <a:pPr marL="0" marR="0" algn="ctr">
                            <a:lnSpc>
                              <a:spcPct val="100000"/>
                            </a:lnSpc>
                            <a:spcBef>
                              <a:spcPts val="0"/>
                            </a:spcBef>
                            <a:spcAft>
                              <a:spcPts val="80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Cambria Math" panose="02040503050406030204" pitchFamily="18" charset="0"/>
                                        <a:cs typeface="Cambria Math" panose="02040503050406030204" pitchFamily="18" charset="0"/>
                                      </a:rPr>
                                    </m:ctrlPr>
                                  </m:sSupPr>
                                  <m:e>
                                    <m:r>
                                      <a:rPr lang="en-US" sz="2000" i="1">
                                        <a:effectLst/>
                                        <a:latin typeface="Cambria Math" panose="02040503050406030204" pitchFamily="18" charset="0"/>
                                        <a:ea typeface="Cambria Math" panose="02040503050406030204" pitchFamily="18" charset="0"/>
                                        <a:cs typeface="Cambria Math" panose="02040503050406030204" pitchFamily="18" charset="0"/>
                                      </a:rPr>
                                      <m:t>2</m:t>
                                    </m:r>
                                  </m:e>
                                  <m:sup>
                                    <m:r>
                                      <a:rPr lang="en-US" sz="2000" i="1">
                                        <a:effectLst/>
                                        <a:latin typeface="Cambria Math" panose="02040503050406030204" pitchFamily="18" charset="0"/>
                                        <a:ea typeface="Cambria Math" panose="02040503050406030204" pitchFamily="18" charset="0"/>
                                        <a:cs typeface="Cambria Math" panose="02040503050406030204" pitchFamily="18" charset="0"/>
                                      </a:rPr>
                                      <m:t>4</m:t>
                                    </m:r>
                                  </m:sup>
                                </m:sSup>
                                <m:r>
                                  <a:rPr lang="en-US" sz="2000" i="1">
                                    <a:effectLst/>
                                    <a:latin typeface="Cambria Math" panose="02040503050406030204" pitchFamily="18" charset="0"/>
                                    <a:ea typeface="Cambria Math" panose="02040503050406030204" pitchFamily="18" charset="0"/>
                                    <a:cs typeface="Cambria Math" panose="02040503050406030204" pitchFamily="18" charset="0"/>
                                  </a:rPr>
                                  <m:t>=2∙2∙2∙2=16</m:t>
                                </m:r>
                              </m:oMath>
                            </m:oMathPara>
                          </a14:m>
                          <a:endParaRPr lang="x-none" sz="2000">
                            <a:effectLst/>
                            <a:latin typeface="Verdana" pitchFamily="34" charset="0"/>
                            <a:ea typeface="Verdana" pitchFamily="34" charset="0"/>
                            <a:cs typeface="Cambria Math" panose="02040503050406030204" pitchFamily="18" charset="0"/>
                          </a:endParaRPr>
                        </a:p>
                      </a:txBody>
                      <a:tcPr marL="86632" marR="86632" marT="9144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0000"/>
                            </a:lnSpc>
                            <a:spcBef>
                              <a:spcPts val="0"/>
                            </a:spcBef>
                            <a:spcAft>
                              <a:spcPts val="80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Cambria Math" panose="02040503050406030204" pitchFamily="18" charset="0"/>
                                        <a:cs typeface="Cambria Math" panose="02040503050406030204" pitchFamily="18" charset="0"/>
                                      </a:rPr>
                                    </m:ctrlPr>
                                  </m:sSupPr>
                                  <m:e>
                                    <m:r>
                                      <a:rPr lang="en-US" sz="2000" i="1">
                                        <a:effectLst/>
                                        <a:latin typeface="Cambria Math" panose="02040503050406030204" pitchFamily="18" charset="0"/>
                                        <a:ea typeface="Cambria Math" panose="02040503050406030204" pitchFamily="18" charset="0"/>
                                        <a:cs typeface="Cambria Math" panose="02040503050406030204" pitchFamily="18" charset="0"/>
                                      </a:rPr>
                                      <m:t>2</m:t>
                                    </m:r>
                                  </m:e>
                                  <m:sup>
                                    <m:r>
                                      <a:rPr lang="en-US" sz="2000" i="1">
                                        <a:effectLst/>
                                        <a:latin typeface="Cambria Math" panose="02040503050406030204" pitchFamily="18" charset="0"/>
                                        <a:ea typeface="Cambria Math" panose="02040503050406030204" pitchFamily="18" charset="0"/>
                                        <a:cs typeface="Cambria Math" panose="02040503050406030204" pitchFamily="18" charset="0"/>
                                      </a:rPr>
                                      <m:t>8</m:t>
                                    </m:r>
                                  </m:sup>
                                </m:sSup>
                                <m:r>
                                  <a:rPr lang="en-US" sz="2000" i="1">
                                    <a:effectLst/>
                                    <a:latin typeface="Cambria Math" panose="02040503050406030204" pitchFamily="18" charset="0"/>
                                    <a:ea typeface="Cambria Math" panose="02040503050406030204" pitchFamily="18" charset="0"/>
                                    <a:cs typeface="Cambria Math" panose="02040503050406030204" pitchFamily="18" charset="0"/>
                                  </a:rPr>
                                  <m:t>=2∙8=16</m:t>
                                </m:r>
                              </m:oMath>
                            </m:oMathPara>
                          </a14:m>
                          <a:endParaRPr lang="x-none" sz="2000" dirty="0">
                            <a:effectLst/>
                            <a:latin typeface="Verdana" pitchFamily="34" charset="0"/>
                            <a:ea typeface="Verdana" pitchFamily="34" charset="0"/>
                            <a:cs typeface="Cambria Math" panose="02040503050406030204" pitchFamily="18" charset="0"/>
                          </a:endParaRPr>
                        </a:p>
                      </a:txBody>
                      <a:tcPr marL="86632" marR="86632" marT="9144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85592549"/>
                      </a:ext>
                    </a:extLst>
                  </a:tr>
                </a:tbl>
              </a:graphicData>
            </a:graphic>
          </p:graphicFrame>
        </mc:Choice>
        <mc:Fallback>
          <p:graphicFrame>
            <p:nvGraphicFramePr>
              <p:cNvPr id="5" name="Table 4">
                <a:extLst>
                  <a:ext uri="{FF2B5EF4-FFF2-40B4-BE49-F238E27FC236}">
                    <a16:creationId xmlns:a16="http://schemas.microsoft.com/office/drawing/2014/main" id="{998CB577-B6BB-5D4C-9393-C8543830F42D}"/>
                  </a:ext>
                </a:extLst>
              </p:cNvPr>
              <p:cNvGraphicFramePr>
                <a:graphicFrameLocks noGrp="1"/>
              </p:cNvGraphicFramePr>
              <p:nvPr>
                <p:extLst>
                  <p:ext uri="{D42A27DB-BD31-4B8C-83A1-F6EECF244321}">
                    <p14:modId xmlns:p14="http://schemas.microsoft.com/office/powerpoint/2010/main" val="2931913123"/>
                  </p:ext>
                </p:extLst>
              </p:nvPr>
            </p:nvGraphicFramePr>
            <p:xfrm>
              <a:off x="2103911" y="2246692"/>
              <a:ext cx="7315200" cy="977964"/>
            </p:xfrm>
            <a:graphic>
              <a:graphicData uri="http://schemas.openxmlformats.org/drawingml/2006/table">
                <a:tbl>
                  <a:tblPr bandRow="1"/>
                  <a:tblGrid>
                    <a:gridCol w="3657600">
                      <a:extLst>
                        <a:ext uri="{9D8B030D-6E8A-4147-A177-3AD203B41FA5}">
                          <a16:colId xmlns:a16="http://schemas.microsoft.com/office/drawing/2014/main" val="3901821549"/>
                        </a:ext>
                      </a:extLst>
                    </a:gridCol>
                    <a:gridCol w="3657600">
                      <a:extLst>
                        <a:ext uri="{9D8B030D-6E8A-4147-A177-3AD203B41FA5}">
                          <a16:colId xmlns:a16="http://schemas.microsoft.com/office/drawing/2014/main" val="3717563885"/>
                        </a:ext>
                      </a:extLst>
                    </a:gridCol>
                  </a:tblGrid>
                  <a:tr h="480124">
                    <a:tc>
                      <a:txBody>
                        <a:bodyPr/>
                        <a:lstStyle/>
                        <a:p>
                          <a:pPr marL="0" marR="0" algn="ctr">
                            <a:lnSpc>
                              <a:spcPct val="107000"/>
                            </a:lnSpc>
                            <a:spcBef>
                              <a:spcPts val="0"/>
                            </a:spcBef>
                            <a:spcAft>
                              <a:spcPts val="800"/>
                            </a:spcAft>
                          </a:pPr>
                          <a:r>
                            <a:rPr lang="en-US" sz="2000" b="1" dirty="0" err="1">
                              <a:effectLst/>
                              <a:latin typeface="Verdana" panose="020B0604030504040204" pitchFamily="34" charset="0"/>
                              <a:ea typeface="Verdana" panose="020B0604030504040204" pitchFamily="34" charset="0"/>
                              <a:cs typeface="Verdana" panose="020B0604030504040204" pitchFamily="34" charset="0"/>
                            </a:rPr>
                            <a:t>Leilana’s</a:t>
                          </a:r>
                          <a:r>
                            <a:rPr lang="en-US" sz="2000" b="1" dirty="0">
                              <a:effectLst/>
                              <a:latin typeface="Verdana" panose="020B0604030504040204" pitchFamily="34" charset="0"/>
                              <a:ea typeface="Verdana" panose="020B0604030504040204" pitchFamily="34" charset="0"/>
                              <a:cs typeface="Verdana" panose="020B0604030504040204" pitchFamily="34" charset="0"/>
                            </a:rPr>
                            <a:t> Work</a:t>
                          </a:r>
                          <a:endParaRPr lang="x-none" sz="2000">
                            <a:effectLst/>
                            <a:latin typeface="Verdana" pitchFamily="34" charset="0"/>
                            <a:ea typeface="Verdana" pitchFamily="34" charset="0"/>
                            <a:cs typeface="Cambria Math" panose="02040503050406030204" pitchFamily="18" charset="0"/>
                          </a:endParaRPr>
                        </a:p>
                      </a:txBody>
                      <a:tcPr marL="86632" marR="86632"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800"/>
                            </a:spcAft>
                          </a:pPr>
                          <a:r>
                            <a:rPr lang="en-US" sz="2000" b="1">
                              <a:solidFill>
                                <a:srgbClr val="000000"/>
                              </a:solidFill>
                              <a:effectLst/>
                              <a:latin typeface="Verdana" panose="020B0604030504040204" pitchFamily="34" charset="0"/>
                              <a:ea typeface="Verdana" panose="020B0604030504040204" pitchFamily="34" charset="0"/>
                              <a:cs typeface="Verdana" panose="020B0604030504040204" pitchFamily="34" charset="0"/>
                            </a:rPr>
                            <a:t>Khamari’s Work</a:t>
                          </a:r>
                          <a:endParaRPr lang="x-none" sz="2000">
                            <a:effectLst/>
                            <a:latin typeface="Verdana" pitchFamily="34" charset="0"/>
                            <a:ea typeface="Verdana" pitchFamily="34" charset="0"/>
                            <a:cs typeface="Cambria Math" panose="02040503050406030204" pitchFamily="18" charset="0"/>
                          </a:endParaRPr>
                        </a:p>
                      </a:txBody>
                      <a:tcPr marL="86632" marR="86632"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888608312"/>
                      </a:ext>
                    </a:extLst>
                  </a:tr>
                  <a:tr h="497840">
                    <a:tc>
                      <a:txBody>
                        <a:bodyPr/>
                        <a:lstStyle/>
                        <a:p>
                          <a:endParaRPr lang="en-US"/>
                        </a:p>
                      </a:txBody>
                      <a:tcPr marL="86632" marR="86632" marT="9144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66" t="-97561" r="-100166" b="-3659"/>
                          </a:stretch>
                        </a:blipFill>
                      </a:tcPr>
                    </a:tc>
                    <a:tc>
                      <a:txBody>
                        <a:bodyPr/>
                        <a:lstStyle/>
                        <a:p>
                          <a:endParaRPr lang="en-US"/>
                        </a:p>
                      </a:txBody>
                      <a:tcPr marL="86632" marR="86632" marT="9144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100333" t="-97561" r="-333" b="-3659"/>
                          </a:stretch>
                        </a:blipFill>
                      </a:tcPr>
                    </a:tc>
                    <a:extLst>
                      <a:ext uri="{0D108BD9-81ED-4DB2-BD59-A6C34878D82A}">
                        <a16:rowId xmlns:a16="http://schemas.microsoft.com/office/drawing/2014/main" val="485592549"/>
                      </a:ext>
                    </a:extLst>
                  </a:tr>
                </a:tbl>
              </a:graphicData>
            </a:graphic>
          </p:graphicFrame>
        </mc:Fallback>
      </mc:AlternateContent>
      <p:sp>
        <p:nvSpPr>
          <p:cNvPr id="14" name="Google Shape;282;g104476d1465_1_17">
            <a:extLst>
              <a:ext uri="{FF2B5EF4-FFF2-40B4-BE49-F238E27FC236}">
                <a16:creationId xmlns:a16="http://schemas.microsoft.com/office/drawing/2014/main" id="{70209218-9713-6349-1FC4-9F51C3A3A680}"/>
              </a:ext>
            </a:extLst>
          </p:cNvPr>
          <p:cNvSpPr txBox="1"/>
          <p:nvPr/>
        </p:nvSpPr>
        <p:spPr>
          <a:xfrm>
            <a:off x="8908141" y="6469331"/>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40</a:t>
            </a:r>
            <a:endParaRPr i="1" dirty="0">
              <a:latin typeface="Calibri"/>
              <a:ea typeface="Calibri"/>
              <a:cs typeface="Calibri"/>
              <a:sym typeface="Calibri"/>
            </a:endParaRPr>
          </a:p>
        </p:txBody>
      </p:sp>
      <p:pic>
        <p:nvPicPr>
          <p:cNvPr id="16" name="Google Shape;283;g104476d1465_1_17">
            <a:extLst>
              <a:ext uri="{FF2B5EF4-FFF2-40B4-BE49-F238E27FC236}">
                <a16:creationId xmlns:a16="http://schemas.microsoft.com/office/drawing/2014/main" id="{F04DF098-7393-4231-E455-26CEEB68D611}"/>
              </a:ext>
            </a:extLst>
          </p:cNvPr>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533433"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4902991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F26763"/>
          </a:solidFill>
          <a:ln w="9525" cap="flat" cmpd="sng">
            <a:solidFill>
              <a:srgbClr val="F26763"/>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4813379" y="2761974"/>
            <a:ext cx="5002742"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Exploration</a:t>
            </a:r>
            <a:endParaRPr sz="5100" b="1" dirty="0">
              <a:solidFill>
                <a:srgbClr val="33BEA6"/>
              </a:solidFill>
              <a:latin typeface="Verdana"/>
              <a:ea typeface="Verdana"/>
              <a:cs typeface="Verdana"/>
              <a:sym typeface="Verdana"/>
            </a:endParaRPr>
          </a:p>
        </p:txBody>
      </p:sp>
      <p:pic>
        <p:nvPicPr>
          <p:cNvPr id="8" name="image1.png" descr="Icon&#10;&#10;Description automatically generated">
            <a:extLst>
              <a:ext uri="{FF2B5EF4-FFF2-40B4-BE49-F238E27FC236}">
                <a16:creationId xmlns:a16="http://schemas.microsoft.com/office/drawing/2014/main" id="{9E35E1AD-A16B-B44C-85F1-4BB2041AD7FF}"/>
              </a:ext>
            </a:extLst>
          </p:cNvPr>
          <p:cNvPicPr/>
          <p:nvPr/>
        </p:nvPicPr>
        <p:blipFill>
          <a:blip r:embed="rId3"/>
          <a:srcRect/>
          <a:stretch>
            <a:fillRect/>
          </a:stretch>
        </p:blipFill>
        <p:spPr>
          <a:xfrm>
            <a:off x="3543360" y="2848752"/>
            <a:ext cx="1152145" cy="1152145"/>
          </a:xfrm>
          <a:prstGeom prst="rect">
            <a:avLst/>
          </a:prstGeom>
          <a:ln/>
          <a:effectLst>
            <a:outerShdw blurRad="50800" dist="38100" dir="2700000" algn="tl" rotWithShape="0">
              <a:prstClr val="black">
                <a:alpha val="40000"/>
              </a:prstClr>
            </a:outerShdw>
          </a:effectLst>
        </p:spPr>
      </p:pic>
      <p:sp>
        <p:nvSpPr>
          <p:cNvPr id="9" name="Google Shape;282;g104476d1465_1_17">
            <a:extLst>
              <a:ext uri="{FF2B5EF4-FFF2-40B4-BE49-F238E27FC236}">
                <a16:creationId xmlns:a16="http://schemas.microsoft.com/office/drawing/2014/main" id="{24EA815C-BB44-7326-821F-6067F2393068}"/>
              </a:ext>
            </a:extLst>
          </p:cNvPr>
          <p:cNvSpPr txBox="1"/>
          <p:nvPr/>
        </p:nvSpPr>
        <p:spPr>
          <a:xfrm>
            <a:off x="8908141" y="6469331"/>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41</a:t>
            </a:r>
            <a:endParaRPr i="1" dirty="0">
              <a:latin typeface="Calibri"/>
              <a:ea typeface="Calibri"/>
              <a:cs typeface="Calibri"/>
              <a:sym typeface="Calibri"/>
            </a:endParaRPr>
          </a:p>
        </p:txBody>
      </p:sp>
      <p:pic>
        <p:nvPicPr>
          <p:cNvPr id="10" name="Google Shape;283;g104476d1465_1_17">
            <a:extLst>
              <a:ext uri="{FF2B5EF4-FFF2-40B4-BE49-F238E27FC236}">
                <a16:creationId xmlns:a16="http://schemas.microsoft.com/office/drawing/2014/main" id="{0DC4A939-F030-FE2E-34CE-563972A233A6}"/>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3433"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5607887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F26763"/>
          </a:solidFill>
          <a:ln w="9525" cap="flat" cmpd="sng">
            <a:solidFill>
              <a:srgbClr val="F26763"/>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371523" y="133094"/>
            <a:ext cx="9791281" cy="107759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200" b="1" dirty="0">
                <a:solidFill>
                  <a:srgbClr val="33BEA6"/>
                </a:solidFill>
                <a:latin typeface="Verdana"/>
                <a:ea typeface="Verdana"/>
                <a:cs typeface="Verdana"/>
                <a:sym typeface="Verdana"/>
              </a:rPr>
              <a:t>1.8.2 Exploration: Equivalent Radical Expressions</a:t>
            </a:r>
          </a:p>
        </p:txBody>
      </p:sp>
      <mc:AlternateContent xmlns:mc="http://schemas.openxmlformats.org/markup-compatibility/2006">
        <mc:Choice xmlns:a14="http://schemas.microsoft.com/office/drawing/2010/main" Requires="a14">
          <p:sp>
            <p:nvSpPr>
              <p:cNvPr id="10" name="TextBox 9">
                <a:extLst>
                  <a:ext uri="{FF2B5EF4-FFF2-40B4-BE49-F238E27FC236}">
                    <a16:creationId xmlns:a16="http://schemas.microsoft.com/office/drawing/2014/main" id="{E44DF7DE-9172-3E4E-B74A-7A51585FB6EA}"/>
                  </a:ext>
                </a:extLst>
              </p:cNvPr>
              <p:cNvSpPr txBox="1"/>
              <p:nvPr/>
            </p:nvSpPr>
            <p:spPr>
              <a:xfrm>
                <a:off x="950026" y="1387873"/>
                <a:ext cx="9705274" cy="3381951"/>
              </a:xfrm>
              <a:prstGeom prst="rect">
                <a:avLst/>
              </a:prstGeom>
              <a:noFill/>
            </p:spPr>
            <p:txBody>
              <a:bodyPr wrap="square" rtlCol="0">
                <a:spAutoFit/>
              </a:bodyPr>
              <a:lstStyle/>
              <a:p>
                <a:pPr lvl="0"/>
                <a:r>
                  <a:rPr lang="en-US" sz="2000" dirty="0">
                    <a:latin typeface="Verdana" panose="020B0604030504040204" pitchFamily="34" charset="0"/>
                    <a:ea typeface="Verdana" panose="020B0604030504040204" pitchFamily="34" charset="0"/>
                    <a:cs typeface="Verdana" panose="020B0604030504040204" pitchFamily="34" charset="0"/>
                  </a:rPr>
                  <a:t>Ameer was asked to write an equivalent expression for </a:t>
                </a:r>
                <a14:m>
                  <m:oMath xmlns:m="http://schemas.openxmlformats.org/officeDocument/2006/math">
                    <m:rad>
                      <m:radPr>
                        <m:degHide m:val="on"/>
                        <m:ctrlPr>
                          <a:rPr lang="en-US" sz="2000" i="1" dirty="0">
                            <a:latin typeface="Cambria Math" panose="02040503050406030204" pitchFamily="18" charset="0"/>
                            <a:ea typeface="Verdana" panose="020B0604030504040204" pitchFamily="34" charset="0"/>
                            <a:cs typeface="Verdana" panose="020B0604030504040204" pitchFamily="34" charset="0"/>
                          </a:rPr>
                        </m:ctrlPr>
                      </m:radPr>
                      <m:deg/>
                      <m:e>
                        <m:r>
                          <a:rPr lang="es-ES" sz="2000" i="1" dirty="0">
                            <a:latin typeface="Cambria Math" panose="02040503050406030204" pitchFamily="18" charset="0"/>
                            <a:ea typeface="Verdana" panose="020B0604030504040204" pitchFamily="34" charset="0"/>
                            <a:cs typeface="Verdana" panose="020B0604030504040204" pitchFamily="34" charset="0"/>
                          </a:rPr>
                          <m:t>18</m:t>
                        </m:r>
                      </m:e>
                    </m:rad>
                  </m:oMath>
                </a14:m>
                <a:r>
                  <a:rPr lang="en-US" sz="2000" dirty="0">
                    <a:latin typeface="Verdana" panose="020B0604030504040204" pitchFamily="34" charset="0"/>
                    <a:ea typeface="Verdana" panose="020B0604030504040204" pitchFamily="34" charset="0"/>
                    <a:cs typeface="Verdana" panose="020B0604030504040204" pitchFamily="34" charset="0"/>
                  </a:rPr>
                  <a:t>.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His work and resulting expression are shown.</a:t>
                </a:r>
              </a:p>
              <a:p>
                <a:pPr lvl="0"/>
                <a:endParaRPr lang="en-PH" sz="2000" dirty="0">
                  <a:latin typeface="Verdana" panose="020B0604030504040204" pitchFamily="34" charset="0"/>
                  <a:ea typeface="Verdana" panose="020B0604030504040204" pitchFamily="34" charset="0"/>
                  <a:cs typeface="Verdana" panose="020B0604030504040204" pitchFamily="34" charset="0"/>
                </a:endParaRPr>
              </a:p>
              <a:p>
                <a:pPr lvl="0"/>
                <a:endParaRPr lang="en-PH" sz="2000" dirty="0">
                  <a:latin typeface="Verdana" panose="020B0604030504040204" pitchFamily="34" charset="0"/>
                  <a:ea typeface="Verdana" panose="020B0604030504040204" pitchFamily="34" charset="0"/>
                  <a:cs typeface="Verdana" panose="020B0604030504040204" pitchFamily="34" charset="0"/>
                </a:endParaRPr>
              </a:p>
              <a:p>
                <a:pPr lvl="0"/>
                <a:endParaRPr lang="en-PH" sz="2000" dirty="0">
                  <a:latin typeface="Verdana" panose="020B0604030504040204" pitchFamily="34" charset="0"/>
                  <a:ea typeface="Verdana" panose="020B0604030504040204" pitchFamily="34" charset="0"/>
                  <a:cs typeface="Verdana" panose="020B0604030504040204" pitchFamily="34" charset="0"/>
                </a:endParaRPr>
              </a:p>
              <a:p>
                <a:pPr lvl="0"/>
                <a:endParaRPr lang="en-PH" sz="2000" dirty="0">
                  <a:latin typeface="Verdana" panose="020B0604030504040204" pitchFamily="34" charset="0"/>
                  <a:ea typeface="Verdana" panose="020B0604030504040204" pitchFamily="34" charset="0"/>
                  <a:cs typeface="Verdana" panose="020B0604030504040204" pitchFamily="34" charset="0"/>
                </a:endParaRPr>
              </a:p>
              <a:p>
                <a:pPr lvl="0"/>
                <a:endParaRPr lang="en-PH" sz="2000" dirty="0">
                  <a:latin typeface="Verdana" panose="020B0604030504040204" pitchFamily="34" charset="0"/>
                  <a:ea typeface="Verdana" panose="020B0604030504040204" pitchFamily="34" charset="0"/>
                  <a:cs typeface="Verdana" panose="020B0604030504040204" pitchFamily="34" charset="0"/>
                </a:endParaRPr>
              </a:p>
              <a:p>
                <a:pPr lvl="0">
                  <a:lnSpc>
                    <a:spcPct val="150000"/>
                  </a:lnSpc>
                </a:pPr>
                <a:endParaRPr lang="en-PH"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Sophia wrote a different equivalent expression for </a:t>
                </a:r>
                <a14:m>
                  <m:oMath xmlns:m="http://schemas.openxmlformats.org/officeDocument/2006/math">
                    <m:rad>
                      <m:radPr>
                        <m:degHide m:val="on"/>
                        <m:ctrlPr>
                          <a:rPr lang="en-US" sz="2000" i="1" dirty="0">
                            <a:latin typeface="Cambria Math" panose="02040503050406030204" pitchFamily="18" charset="0"/>
                            <a:ea typeface="Verdana" panose="020B0604030504040204" pitchFamily="34" charset="0"/>
                            <a:cs typeface="Verdana" panose="020B0604030504040204" pitchFamily="34" charset="0"/>
                          </a:rPr>
                        </m:ctrlPr>
                      </m:radPr>
                      <m:deg/>
                      <m:e>
                        <m:r>
                          <a:rPr lang="es-ES" sz="2000" i="1" dirty="0">
                            <a:latin typeface="Cambria Math" panose="02040503050406030204" pitchFamily="18" charset="0"/>
                            <a:ea typeface="Verdana" panose="020B0604030504040204" pitchFamily="34" charset="0"/>
                            <a:cs typeface="Verdana" panose="020B0604030504040204" pitchFamily="34" charset="0"/>
                          </a:rPr>
                          <m:t>18</m:t>
                        </m:r>
                      </m:e>
                    </m:rad>
                  </m:oMath>
                </a14:m>
                <a:r>
                  <a:rPr lang="en-US" sz="2000" dirty="0">
                    <a:latin typeface="Verdana" panose="020B0604030504040204" pitchFamily="34" charset="0"/>
                    <a:ea typeface="Verdana" panose="020B0604030504040204" pitchFamily="34" charset="0"/>
                    <a:cs typeface="Verdana" panose="020B0604030504040204" pitchFamily="34" charset="0"/>
                  </a:rPr>
                  <a:t>. </a:t>
                </a:r>
                <a:br>
                  <a:rPr lang="en-US" sz="2000" dirty="0">
                    <a:latin typeface="Verdana" panose="020B0604030504040204" pitchFamily="34" charset="0"/>
                    <a:ea typeface="Verdana" panose="020B0604030504040204" pitchFamily="34" charset="0"/>
                    <a:cs typeface="Verdana" panose="020B0604030504040204" pitchFamily="34" charset="0"/>
                  </a:rPr>
                </a:br>
                <a:r>
                  <a:rPr lang="en-US" sz="2000" dirty="0">
                    <a:latin typeface="Verdana" panose="020B0604030504040204" pitchFamily="34" charset="0"/>
                    <a:ea typeface="Verdana" panose="020B0604030504040204" pitchFamily="34" charset="0"/>
                    <a:cs typeface="Verdana" panose="020B0604030504040204" pitchFamily="34" charset="0"/>
                  </a:rPr>
                  <a:t>Her work and resulting expression are shown.</a:t>
                </a:r>
              </a:p>
            </p:txBody>
          </p:sp>
        </mc:Choice>
        <mc:Fallback>
          <p:sp>
            <p:nvSpPr>
              <p:cNvPr id="10" name="TextBox 9">
                <a:extLst>
                  <a:ext uri="{FF2B5EF4-FFF2-40B4-BE49-F238E27FC236}">
                    <a16:creationId xmlns:a16="http://schemas.microsoft.com/office/drawing/2014/main" id="{E44DF7DE-9172-3E4E-B74A-7A51585FB6EA}"/>
                  </a:ext>
                </a:extLst>
              </p:cNvPr>
              <p:cNvSpPr txBox="1">
                <a:spLocks noRot="1" noChangeAspect="1" noMove="1" noResize="1" noEditPoints="1" noAdjustHandles="1" noChangeArrowheads="1" noChangeShapeType="1" noTextEdit="1"/>
              </p:cNvSpPr>
              <p:nvPr/>
            </p:nvSpPr>
            <p:spPr>
              <a:xfrm>
                <a:off x="950026" y="1387873"/>
                <a:ext cx="9705274" cy="3381951"/>
              </a:xfrm>
              <a:prstGeom prst="rect">
                <a:avLst/>
              </a:prstGeom>
              <a:blipFill>
                <a:blip r:embed="rId3"/>
                <a:stretch>
                  <a:fillRect l="-691" t="-361" b="-2527"/>
                </a:stretch>
              </a:blipFill>
            </p:spPr>
            <p:txBody>
              <a:bodyPr/>
              <a:lstStyle/>
              <a:p>
                <a:r>
                  <a:rPr lang="en-US">
                    <a:noFill/>
                  </a:rPr>
                  <a:t> </a:t>
                </a:r>
              </a:p>
            </p:txBody>
          </p:sp>
        </mc:Fallback>
      </mc:AlternateContent>
      <p:pic>
        <p:nvPicPr>
          <p:cNvPr id="9" name="image1.png" descr="Icon&#10;&#10;Description automatically generated">
            <a:extLst>
              <a:ext uri="{FF2B5EF4-FFF2-40B4-BE49-F238E27FC236}">
                <a16:creationId xmlns:a16="http://schemas.microsoft.com/office/drawing/2014/main" id="{74E417E9-75FC-6D42-A77B-46FE1465CF9D}"/>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619429" y="295845"/>
            <a:ext cx="752095" cy="752095"/>
          </a:xfrm>
          <a:prstGeom prst="rect">
            <a:avLst/>
          </a:prstGeom>
          <a:ln/>
        </p:spPr>
      </p:pic>
      <mc:AlternateContent xmlns:mc="http://schemas.openxmlformats.org/markup-compatibility/2006" xmlns:a14="http://schemas.microsoft.com/office/drawing/2010/main">
        <mc:Choice Requires="a14">
          <p:graphicFrame>
            <p:nvGraphicFramePr>
              <p:cNvPr id="3" name="Table 2">
                <a:extLst>
                  <a:ext uri="{FF2B5EF4-FFF2-40B4-BE49-F238E27FC236}">
                    <a16:creationId xmlns:a16="http://schemas.microsoft.com/office/drawing/2014/main" id="{E0ADF209-4AC1-3F46-AC34-733CF12C220B}"/>
                  </a:ext>
                </a:extLst>
              </p:cNvPr>
              <p:cNvGraphicFramePr>
                <a:graphicFrameLocks noGrp="1"/>
              </p:cNvGraphicFramePr>
              <p:nvPr>
                <p:extLst>
                  <p:ext uri="{D42A27DB-BD31-4B8C-83A1-F6EECF244321}">
                    <p14:modId xmlns:p14="http://schemas.microsoft.com/office/powerpoint/2010/main" val="2767601420"/>
                  </p:ext>
                </p:extLst>
              </p:nvPr>
            </p:nvGraphicFramePr>
            <p:xfrm>
              <a:off x="1892744" y="2342819"/>
              <a:ext cx="7498080" cy="1472058"/>
            </p:xfrm>
            <a:graphic>
              <a:graphicData uri="http://schemas.openxmlformats.org/drawingml/2006/table">
                <a:tbl>
                  <a:tblPr bandRow="1"/>
                  <a:tblGrid>
                    <a:gridCol w="1828800">
                      <a:extLst>
                        <a:ext uri="{9D8B030D-6E8A-4147-A177-3AD203B41FA5}">
                          <a16:colId xmlns:a16="http://schemas.microsoft.com/office/drawing/2014/main" val="2087996158"/>
                        </a:ext>
                      </a:extLst>
                    </a:gridCol>
                    <a:gridCol w="3840480">
                      <a:extLst>
                        <a:ext uri="{9D8B030D-6E8A-4147-A177-3AD203B41FA5}">
                          <a16:colId xmlns:a16="http://schemas.microsoft.com/office/drawing/2014/main" val="1824617784"/>
                        </a:ext>
                      </a:extLst>
                    </a:gridCol>
                    <a:gridCol w="1828800">
                      <a:extLst>
                        <a:ext uri="{9D8B030D-6E8A-4147-A177-3AD203B41FA5}">
                          <a16:colId xmlns:a16="http://schemas.microsoft.com/office/drawing/2014/main" val="795572746"/>
                        </a:ext>
                      </a:extLst>
                    </a:gridCol>
                  </a:tblGrid>
                  <a:tr h="457200">
                    <a:tc>
                      <a:txBody>
                        <a:bodyPr/>
                        <a:lstStyle/>
                        <a:p>
                          <a:pPr marL="0" marR="0" algn="ctr">
                            <a:lnSpc>
                              <a:spcPct val="107000"/>
                            </a:lnSpc>
                            <a:spcBef>
                              <a:spcPts val="0"/>
                            </a:spcBef>
                            <a:spcAft>
                              <a:spcPts val="80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Given Expression</a:t>
                          </a:r>
                          <a:endParaRPr lang="x-none" sz="2000">
                            <a:effectLst/>
                            <a:latin typeface="Verdana" pitchFamily="34" charset="0"/>
                            <a:ea typeface="Verdana" pitchFamily="34" charset="0"/>
                            <a:cs typeface="Cambria Math" panose="020405030504060302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800"/>
                            </a:spcAft>
                          </a:pPr>
                          <a:r>
                            <a:rPr lang="en-US" sz="2000" b="1" dirty="0" err="1">
                              <a:solidFill>
                                <a:srgbClr val="000000"/>
                              </a:solidFill>
                              <a:effectLst/>
                              <a:latin typeface="Verdana" panose="020B0604030504040204" pitchFamily="34" charset="0"/>
                              <a:ea typeface="Verdana" panose="020B0604030504040204" pitchFamily="34" charset="0"/>
                              <a:cs typeface="Verdana" panose="020B0604030504040204" pitchFamily="34" charset="0"/>
                            </a:rPr>
                            <a:t>Ameer’s</a:t>
                          </a: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Work</a:t>
                          </a:r>
                          <a:endParaRPr lang="x-none" sz="2000">
                            <a:effectLst/>
                            <a:latin typeface="Verdana" pitchFamily="34" charset="0"/>
                            <a:ea typeface="Verdana" pitchFamily="34" charset="0"/>
                            <a:cs typeface="Cambria Math" panose="020405030504060302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80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Equivalent Expression</a:t>
                          </a:r>
                          <a:endParaRPr lang="x-none" sz="2000">
                            <a:effectLst/>
                            <a:latin typeface="Verdana" pitchFamily="34" charset="0"/>
                            <a:ea typeface="Verdana" pitchFamily="34" charset="0"/>
                            <a:cs typeface="Cambria Math" panose="020405030504060302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840899214"/>
                      </a:ext>
                    </a:extLst>
                  </a:tr>
                  <a:tr h="457200">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ad>
                                  <m:radPr>
                                    <m:degHide m:val="on"/>
                                    <m:ctrlPr>
                                      <a:rPr lang="x-none" sz="2000" i="1">
                                        <a:effectLst/>
                                        <a:latin typeface="Cambria Math" panose="02040503050406030204" pitchFamily="18" charset="0"/>
                                        <a:ea typeface="Cambria Math" panose="02040503050406030204" pitchFamily="18" charset="0"/>
                                        <a:cs typeface="Cambria Math" panose="02040503050406030204" pitchFamily="18" charset="0"/>
                                      </a:rPr>
                                    </m:ctrlPr>
                                  </m:radPr>
                                  <m:deg/>
                                  <m:e>
                                    <m:r>
                                      <a:rPr lang="en-US" sz="2000" i="1">
                                        <a:effectLst/>
                                        <a:latin typeface="Cambria Math" panose="02040503050406030204" pitchFamily="18" charset="0"/>
                                        <a:ea typeface="Cambria Math" panose="02040503050406030204" pitchFamily="18" charset="0"/>
                                        <a:cs typeface="Cambria Math" panose="02040503050406030204" pitchFamily="18" charset="0"/>
                                      </a:rPr>
                                      <m:t>18</m:t>
                                    </m:r>
                                  </m:e>
                                </m:rad>
                              </m:oMath>
                            </m:oMathPara>
                          </a14:m>
                          <a:endParaRPr lang="x-none" sz="2000">
                            <a:effectLst/>
                            <a:latin typeface="Verdana" pitchFamily="34" charset="0"/>
                            <a:ea typeface="Verdana" pitchFamily="34" charset="0"/>
                            <a:cs typeface="Cambria Math" panose="02040503050406030204" pitchFamily="18" charset="0"/>
                          </a:endParaRPr>
                        </a:p>
                      </a:txBody>
                      <a:tcPr marL="68580" marR="68580" marT="9144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Cambria Math" panose="02040503050406030204" pitchFamily="18" charset="0"/>
                                        <a:cs typeface="Cambria Math" panose="02040503050406030204" pitchFamily="18" charset="0"/>
                                      </a:rPr>
                                    </m:ctrlPr>
                                  </m:sSupPr>
                                  <m:e>
                                    <m:r>
                                      <a:rPr lang="en-US" sz="2000" i="1">
                                        <a:effectLst/>
                                        <a:latin typeface="Cambria Math" panose="02040503050406030204" pitchFamily="18" charset="0"/>
                                        <a:ea typeface="Cambria Math" panose="02040503050406030204" pitchFamily="18" charset="0"/>
                                        <a:cs typeface="Cambria Math" panose="02040503050406030204" pitchFamily="18" charset="0"/>
                                      </a:rPr>
                                      <m:t>18</m:t>
                                    </m:r>
                                  </m:e>
                                  <m:sup>
                                    <m:f>
                                      <m:fPr>
                                        <m:ctrlPr>
                                          <a:rPr lang="x-none" sz="2000" i="1">
                                            <a:effectLst/>
                                            <a:latin typeface="Cambria Math" panose="02040503050406030204" pitchFamily="18" charset="0"/>
                                            <a:ea typeface="Cambria Math" panose="02040503050406030204" pitchFamily="18" charset="0"/>
                                            <a:cs typeface="Cambria Math" panose="02040503050406030204" pitchFamily="18" charset="0"/>
                                          </a:rPr>
                                        </m:ctrlPr>
                                      </m:fPr>
                                      <m:num>
                                        <m:r>
                                          <a:rPr lang="en-US" sz="2000" i="1">
                                            <a:effectLst/>
                                            <a:latin typeface="Cambria Math" panose="02040503050406030204" pitchFamily="18" charset="0"/>
                                            <a:ea typeface="Cambria Math" panose="02040503050406030204" pitchFamily="18" charset="0"/>
                                            <a:cs typeface="Cambria Math" panose="02040503050406030204" pitchFamily="18" charset="0"/>
                                          </a:rPr>
                                          <m:t>1</m:t>
                                        </m:r>
                                      </m:num>
                                      <m:den>
                                        <m:r>
                                          <a:rPr lang="en-US" sz="2000" i="1">
                                            <a:effectLst/>
                                            <a:latin typeface="Cambria Math" panose="02040503050406030204" pitchFamily="18" charset="0"/>
                                            <a:ea typeface="Cambria Math" panose="02040503050406030204" pitchFamily="18" charset="0"/>
                                            <a:cs typeface="Cambria Math" panose="02040503050406030204" pitchFamily="18" charset="0"/>
                                          </a:rPr>
                                          <m:t>2</m:t>
                                        </m:r>
                                      </m:den>
                                    </m:f>
                                  </m:sup>
                                </m:sSup>
                                <m:r>
                                  <a:rPr lang="en-US" sz="2000" i="1">
                                    <a:effectLst/>
                                    <a:latin typeface="Cambria Math" panose="02040503050406030204" pitchFamily="18" charset="0"/>
                                    <a:ea typeface="Cambria Math" panose="02040503050406030204" pitchFamily="18" charset="0"/>
                                    <a:cs typeface="Cambria Math" panose="02040503050406030204" pitchFamily="18" charset="0"/>
                                  </a:rPr>
                                  <m:t>=</m:t>
                                </m:r>
                                <m:sSup>
                                  <m:sSupPr>
                                    <m:ctrlPr>
                                      <a:rPr lang="x-none" sz="2000" i="1">
                                        <a:effectLst/>
                                        <a:latin typeface="Cambria Math" panose="02040503050406030204" pitchFamily="18" charset="0"/>
                                        <a:ea typeface="Cambria Math" panose="02040503050406030204" pitchFamily="18" charset="0"/>
                                        <a:cs typeface="Cambria Math" panose="02040503050406030204" pitchFamily="18" charset="0"/>
                                      </a:rPr>
                                    </m:ctrlPr>
                                  </m:sSupPr>
                                  <m:e>
                                    <m:r>
                                      <a:rPr lang="en-US" sz="2000" i="1">
                                        <a:effectLst/>
                                        <a:latin typeface="Cambria Math" panose="02040503050406030204" pitchFamily="18" charset="0"/>
                                        <a:ea typeface="Cambria Math" panose="02040503050406030204" pitchFamily="18" charset="0"/>
                                        <a:cs typeface="Cambria Math" panose="02040503050406030204" pitchFamily="18" charset="0"/>
                                      </a:rPr>
                                      <m:t>(6∙3)</m:t>
                                    </m:r>
                                  </m:e>
                                  <m:sup>
                                    <m:f>
                                      <m:fPr>
                                        <m:ctrlPr>
                                          <a:rPr lang="x-none" sz="2000" i="1">
                                            <a:effectLst/>
                                            <a:latin typeface="Cambria Math" panose="02040503050406030204" pitchFamily="18" charset="0"/>
                                            <a:ea typeface="Cambria Math" panose="02040503050406030204" pitchFamily="18" charset="0"/>
                                            <a:cs typeface="Cambria Math" panose="02040503050406030204" pitchFamily="18" charset="0"/>
                                          </a:rPr>
                                        </m:ctrlPr>
                                      </m:fPr>
                                      <m:num>
                                        <m:r>
                                          <a:rPr lang="en-US" sz="2000" i="1">
                                            <a:effectLst/>
                                            <a:latin typeface="Cambria Math" panose="02040503050406030204" pitchFamily="18" charset="0"/>
                                            <a:ea typeface="Cambria Math" panose="02040503050406030204" pitchFamily="18" charset="0"/>
                                            <a:cs typeface="Cambria Math" panose="02040503050406030204" pitchFamily="18" charset="0"/>
                                          </a:rPr>
                                          <m:t>1</m:t>
                                        </m:r>
                                      </m:num>
                                      <m:den>
                                        <m:r>
                                          <a:rPr lang="en-US" sz="2000" i="1">
                                            <a:effectLst/>
                                            <a:latin typeface="Cambria Math" panose="02040503050406030204" pitchFamily="18" charset="0"/>
                                            <a:ea typeface="Cambria Math" panose="02040503050406030204" pitchFamily="18" charset="0"/>
                                            <a:cs typeface="Cambria Math" panose="02040503050406030204" pitchFamily="18" charset="0"/>
                                          </a:rPr>
                                          <m:t>2</m:t>
                                        </m:r>
                                      </m:den>
                                    </m:f>
                                  </m:sup>
                                </m:sSup>
                                <m:r>
                                  <a:rPr lang="en-US" sz="2000" i="1">
                                    <a:effectLst/>
                                    <a:latin typeface="Cambria Math" panose="02040503050406030204" pitchFamily="18" charset="0"/>
                                    <a:ea typeface="Cambria Math" panose="02040503050406030204" pitchFamily="18" charset="0"/>
                                    <a:cs typeface="Cambria Math" panose="02040503050406030204" pitchFamily="18" charset="0"/>
                                  </a:rPr>
                                  <m:t>=</m:t>
                                </m:r>
                                <m:sSup>
                                  <m:sSupPr>
                                    <m:ctrlPr>
                                      <a:rPr lang="x-none" sz="2000" i="1">
                                        <a:effectLst/>
                                        <a:latin typeface="Cambria Math" panose="02040503050406030204" pitchFamily="18" charset="0"/>
                                        <a:ea typeface="Cambria Math" panose="02040503050406030204" pitchFamily="18" charset="0"/>
                                        <a:cs typeface="Cambria Math" panose="02040503050406030204" pitchFamily="18" charset="0"/>
                                      </a:rPr>
                                    </m:ctrlPr>
                                  </m:sSupPr>
                                  <m:e>
                                    <m:r>
                                      <a:rPr lang="en-US" sz="2000" i="1">
                                        <a:effectLst/>
                                        <a:latin typeface="Cambria Math" panose="02040503050406030204" pitchFamily="18" charset="0"/>
                                        <a:ea typeface="Cambria Math" panose="02040503050406030204" pitchFamily="18" charset="0"/>
                                        <a:cs typeface="Cambria Math" panose="02040503050406030204" pitchFamily="18" charset="0"/>
                                      </a:rPr>
                                      <m:t>(6)</m:t>
                                    </m:r>
                                  </m:e>
                                  <m:sup>
                                    <m:f>
                                      <m:fPr>
                                        <m:ctrlPr>
                                          <a:rPr lang="x-none" sz="2000" i="1">
                                            <a:effectLst/>
                                            <a:latin typeface="Cambria Math" panose="02040503050406030204" pitchFamily="18" charset="0"/>
                                            <a:ea typeface="Cambria Math" panose="02040503050406030204" pitchFamily="18" charset="0"/>
                                            <a:cs typeface="Cambria Math" panose="02040503050406030204" pitchFamily="18" charset="0"/>
                                          </a:rPr>
                                        </m:ctrlPr>
                                      </m:fPr>
                                      <m:num>
                                        <m:r>
                                          <a:rPr lang="en-US" sz="2000" i="1">
                                            <a:effectLst/>
                                            <a:latin typeface="Cambria Math" panose="02040503050406030204" pitchFamily="18" charset="0"/>
                                            <a:ea typeface="Cambria Math" panose="02040503050406030204" pitchFamily="18" charset="0"/>
                                            <a:cs typeface="Cambria Math" panose="02040503050406030204" pitchFamily="18" charset="0"/>
                                          </a:rPr>
                                          <m:t>1</m:t>
                                        </m:r>
                                      </m:num>
                                      <m:den>
                                        <m:r>
                                          <a:rPr lang="en-US" sz="2000" i="1">
                                            <a:effectLst/>
                                            <a:latin typeface="Cambria Math" panose="02040503050406030204" pitchFamily="18" charset="0"/>
                                            <a:ea typeface="Cambria Math" panose="02040503050406030204" pitchFamily="18" charset="0"/>
                                            <a:cs typeface="Cambria Math" panose="02040503050406030204" pitchFamily="18" charset="0"/>
                                          </a:rPr>
                                          <m:t>2</m:t>
                                        </m:r>
                                      </m:den>
                                    </m:f>
                                  </m:sup>
                                </m:sSup>
                                <m:r>
                                  <a:rPr lang="en-US" sz="2000" i="1">
                                    <a:effectLst/>
                                    <a:latin typeface="Cambria Math" panose="02040503050406030204" pitchFamily="18" charset="0"/>
                                    <a:ea typeface="Cambria Math" panose="02040503050406030204" pitchFamily="18" charset="0"/>
                                    <a:cs typeface="Cambria Math" panose="02040503050406030204" pitchFamily="18" charset="0"/>
                                  </a:rPr>
                                  <m:t>∙(</m:t>
                                </m:r>
                                <m:sSup>
                                  <m:sSupPr>
                                    <m:ctrlPr>
                                      <a:rPr lang="x-none" sz="2000" i="1">
                                        <a:effectLst/>
                                        <a:latin typeface="Cambria Math" panose="02040503050406030204" pitchFamily="18" charset="0"/>
                                        <a:ea typeface="Cambria Math" panose="02040503050406030204" pitchFamily="18" charset="0"/>
                                        <a:cs typeface="Cambria Math" panose="02040503050406030204" pitchFamily="18" charset="0"/>
                                      </a:rPr>
                                    </m:ctrlPr>
                                  </m:sSupPr>
                                  <m:e>
                                    <m:r>
                                      <a:rPr lang="en-US" sz="2000" i="1">
                                        <a:effectLst/>
                                        <a:latin typeface="Cambria Math" panose="02040503050406030204" pitchFamily="18" charset="0"/>
                                        <a:ea typeface="Cambria Math" panose="02040503050406030204" pitchFamily="18" charset="0"/>
                                        <a:cs typeface="Cambria Math" panose="02040503050406030204" pitchFamily="18" charset="0"/>
                                      </a:rPr>
                                      <m:t>3)</m:t>
                                    </m:r>
                                  </m:e>
                                  <m:sup>
                                    <m:f>
                                      <m:fPr>
                                        <m:ctrlPr>
                                          <a:rPr lang="x-none" sz="2000" i="1">
                                            <a:effectLst/>
                                            <a:latin typeface="Cambria Math" panose="02040503050406030204" pitchFamily="18" charset="0"/>
                                            <a:ea typeface="Cambria Math" panose="02040503050406030204" pitchFamily="18" charset="0"/>
                                            <a:cs typeface="Cambria Math" panose="02040503050406030204" pitchFamily="18" charset="0"/>
                                          </a:rPr>
                                        </m:ctrlPr>
                                      </m:fPr>
                                      <m:num>
                                        <m:r>
                                          <a:rPr lang="en-US" sz="2000" i="1">
                                            <a:effectLst/>
                                            <a:latin typeface="Cambria Math" panose="02040503050406030204" pitchFamily="18" charset="0"/>
                                            <a:ea typeface="Cambria Math" panose="02040503050406030204" pitchFamily="18" charset="0"/>
                                            <a:cs typeface="Cambria Math" panose="02040503050406030204" pitchFamily="18" charset="0"/>
                                          </a:rPr>
                                          <m:t>1</m:t>
                                        </m:r>
                                      </m:num>
                                      <m:den>
                                        <m:r>
                                          <a:rPr lang="en-US" sz="2000" i="1">
                                            <a:effectLst/>
                                            <a:latin typeface="Cambria Math" panose="02040503050406030204" pitchFamily="18" charset="0"/>
                                            <a:ea typeface="Cambria Math" panose="02040503050406030204" pitchFamily="18" charset="0"/>
                                            <a:cs typeface="Cambria Math" panose="02040503050406030204" pitchFamily="18" charset="0"/>
                                          </a:rPr>
                                          <m:t>2</m:t>
                                        </m:r>
                                      </m:den>
                                    </m:f>
                                  </m:sup>
                                </m:sSup>
                              </m:oMath>
                            </m:oMathPara>
                          </a14:m>
                          <a:endParaRPr lang="x-none" sz="2000">
                            <a:effectLst/>
                            <a:latin typeface="Verdana" pitchFamily="34" charset="0"/>
                            <a:ea typeface="Verdana" pitchFamily="34" charset="0"/>
                            <a:cs typeface="Cambria Math" panose="02040503050406030204" pitchFamily="18" charset="0"/>
                          </a:endParaRPr>
                        </a:p>
                      </a:txBody>
                      <a:tcPr marL="68580" marR="68580" marT="9144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ad>
                                  <m:radPr>
                                    <m:degHide m:val="on"/>
                                    <m:ctrlPr>
                                      <a:rPr lang="x-none" sz="2000" i="1" smtClean="0">
                                        <a:effectLst/>
                                        <a:latin typeface="Cambria Math" panose="02040503050406030204" pitchFamily="18" charset="0"/>
                                        <a:ea typeface="Cambria Math" panose="02040503050406030204" pitchFamily="18" charset="0"/>
                                        <a:cs typeface="Cambria Math" panose="02040503050406030204" pitchFamily="18" charset="0"/>
                                      </a:rPr>
                                    </m:ctrlPr>
                                  </m:radPr>
                                  <m:deg/>
                                  <m:e>
                                    <m:r>
                                      <a:rPr lang="en-US" sz="2000" i="1">
                                        <a:effectLst/>
                                        <a:latin typeface="Cambria Math" panose="02040503050406030204" pitchFamily="18" charset="0"/>
                                        <a:ea typeface="Cambria Math" panose="02040503050406030204" pitchFamily="18" charset="0"/>
                                        <a:cs typeface="Cambria Math" panose="02040503050406030204" pitchFamily="18" charset="0"/>
                                      </a:rPr>
                                      <m:t>6</m:t>
                                    </m:r>
                                  </m:e>
                                </m:rad>
                                <m:r>
                                  <a:rPr lang="en-US" sz="2000" i="1">
                                    <a:effectLst/>
                                    <a:latin typeface="Cambria Math" panose="02040503050406030204" pitchFamily="18" charset="0"/>
                                    <a:ea typeface="Cambria Math" panose="02040503050406030204" pitchFamily="18" charset="0"/>
                                    <a:cs typeface="Cambria Math" panose="02040503050406030204" pitchFamily="18" charset="0"/>
                                  </a:rPr>
                                  <m:t>∙</m:t>
                                </m:r>
                                <m:rad>
                                  <m:radPr>
                                    <m:degHide m:val="on"/>
                                    <m:ctrlPr>
                                      <a:rPr lang="x-none" sz="2000" i="1">
                                        <a:effectLst/>
                                        <a:latin typeface="Cambria Math" panose="02040503050406030204" pitchFamily="18" charset="0"/>
                                        <a:ea typeface="Cambria Math" panose="02040503050406030204" pitchFamily="18" charset="0"/>
                                        <a:cs typeface="Cambria Math" panose="02040503050406030204" pitchFamily="18" charset="0"/>
                                      </a:rPr>
                                    </m:ctrlPr>
                                  </m:radPr>
                                  <m:deg/>
                                  <m:e>
                                    <m:r>
                                      <a:rPr lang="en-US" sz="2000" i="1">
                                        <a:effectLst/>
                                        <a:latin typeface="Cambria Math" panose="02040503050406030204" pitchFamily="18" charset="0"/>
                                        <a:ea typeface="Cambria Math" panose="02040503050406030204" pitchFamily="18" charset="0"/>
                                        <a:cs typeface="Cambria Math" panose="02040503050406030204" pitchFamily="18" charset="0"/>
                                      </a:rPr>
                                      <m:t>3</m:t>
                                    </m:r>
                                  </m:e>
                                </m:rad>
                              </m:oMath>
                            </m:oMathPara>
                          </a14:m>
                          <a:endParaRPr lang="x-none" sz="2000" dirty="0">
                            <a:effectLst/>
                            <a:latin typeface="Verdana" pitchFamily="34" charset="0"/>
                            <a:ea typeface="Verdana" pitchFamily="34" charset="0"/>
                            <a:cs typeface="Cambria Math" panose="02040503050406030204" pitchFamily="18" charset="0"/>
                          </a:endParaRPr>
                        </a:p>
                      </a:txBody>
                      <a:tcPr marL="68580" marR="68580" marT="9144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34919046"/>
                      </a:ext>
                    </a:extLst>
                  </a:tr>
                </a:tbl>
              </a:graphicData>
            </a:graphic>
          </p:graphicFrame>
        </mc:Choice>
        <mc:Fallback xmlns="">
          <p:graphicFrame>
            <p:nvGraphicFramePr>
              <p:cNvPr id="3" name="Table 2">
                <a:extLst>
                  <a:ext uri="{FF2B5EF4-FFF2-40B4-BE49-F238E27FC236}">
                    <a16:creationId xmlns:a16="http://schemas.microsoft.com/office/drawing/2014/main" id="{E0ADF209-4AC1-3F46-AC34-733CF12C220B}"/>
                  </a:ext>
                </a:extLst>
              </p:cNvPr>
              <p:cNvGraphicFramePr>
                <a:graphicFrameLocks noGrp="1"/>
              </p:cNvGraphicFramePr>
              <p:nvPr>
                <p:extLst>
                  <p:ext uri="{D42A27DB-BD31-4B8C-83A1-F6EECF244321}">
                    <p14:modId xmlns:p14="http://schemas.microsoft.com/office/powerpoint/2010/main" val="2767601420"/>
                  </p:ext>
                </p:extLst>
              </p:nvPr>
            </p:nvGraphicFramePr>
            <p:xfrm>
              <a:off x="1892744" y="2342819"/>
              <a:ext cx="7498080" cy="1472058"/>
            </p:xfrm>
            <a:graphic>
              <a:graphicData uri="http://schemas.openxmlformats.org/drawingml/2006/table">
                <a:tbl>
                  <a:tblPr bandRow="1"/>
                  <a:tblGrid>
                    <a:gridCol w="1828800">
                      <a:extLst>
                        <a:ext uri="{9D8B030D-6E8A-4147-A177-3AD203B41FA5}">
                          <a16:colId xmlns:a16="http://schemas.microsoft.com/office/drawing/2014/main" val="2087996158"/>
                        </a:ext>
                      </a:extLst>
                    </a:gridCol>
                    <a:gridCol w="3840480">
                      <a:extLst>
                        <a:ext uri="{9D8B030D-6E8A-4147-A177-3AD203B41FA5}">
                          <a16:colId xmlns:a16="http://schemas.microsoft.com/office/drawing/2014/main" val="1824617784"/>
                        </a:ext>
                      </a:extLst>
                    </a:gridCol>
                    <a:gridCol w="1828800">
                      <a:extLst>
                        <a:ext uri="{9D8B030D-6E8A-4147-A177-3AD203B41FA5}">
                          <a16:colId xmlns:a16="http://schemas.microsoft.com/office/drawing/2014/main" val="795572746"/>
                        </a:ext>
                      </a:extLst>
                    </a:gridCol>
                  </a:tblGrid>
                  <a:tr h="806260">
                    <a:tc>
                      <a:txBody>
                        <a:bodyPr/>
                        <a:lstStyle/>
                        <a:p>
                          <a:pPr marL="0" marR="0" algn="ctr">
                            <a:lnSpc>
                              <a:spcPct val="107000"/>
                            </a:lnSpc>
                            <a:spcBef>
                              <a:spcPts val="0"/>
                            </a:spcBef>
                            <a:spcAft>
                              <a:spcPts val="80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Given Expression</a:t>
                          </a:r>
                          <a:endParaRPr lang="x-none" sz="2000">
                            <a:effectLst/>
                            <a:latin typeface="Verdana" pitchFamily="34" charset="0"/>
                            <a:ea typeface="Verdana" pitchFamily="34" charset="0"/>
                            <a:cs typeface="Cambria Math" panose="020405030504060302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800"/>
                            </a:spcAft>
                          </a:pPr>
                          <a:r>
                            <a:rPr lang="en-US" sz="2000" b="1" dirty="0" err="1">
                              <a:solidFill>
                                <a:srgbClr val="000000"/>
                              </a:solidFill>
                              <a:effectLst/>
                              <a:latin typeface="Verdana" panose="020B0604030504040204" pitchFamily="34" charset="0"/>
                              <a:ea typeface="Verdana" panose="020B0604030504040204" pitchFamily="34" charset="0"/>
                              <a:cs typeface="Verdana" panose="020B0604030504040204" pitchFamily="34" charset="0"/>
                            </a:rPr>
                            <a:t>Ameer’s</a:t>
                          </a: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Work</a:t>
                          </a:r>
                          <a:endParaRPr lang="x-none" sz="2000">
                            <a:effectLst/>
                            <a:latin typeface="Verdana" pitchFamily="34" charset="0"/>
                            <a:ea typeface="Verdana" pitchFamily="34" charset="0"/>
                            <a:cs typeface="Cambria Math" panose="020405030504060302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80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Equivalent Expression</a:t>
                          </a:r>
                          <a:endParaRPr lang="x-none" sz="2000">
                            <a:effectLst/>
                            <a:latin typeface="Verdana" pitchFamily="34" charset="0"/>
                            <a:ea typeface="Verdana" pitchFamily="34" charset="0"/>
                            <a:cs typeface="Cambria Math" panose="020405030504060302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840899214"/>
                      </a:ext>
                    </a:extLst>
                  </a:tr>
                  <a:tr h="665798">
                    <a:tc>
                      <a:txBody>
                        <a:bodyPr/>
                        <a:lstStyle/>
                        <a:p>
                          <a:endParaRPr lang="en-US"/>
                        </a:p>
                      </a:txBody>
                      <a:tcPr marL="68580" marR="68580" marT="9144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694" t="-122642" r="-311111" b="-1887"/>
                          </a:stretch>
                        </a:blipFill>
                      </a:tcPr>
                    </a:tc>
                    <a:tc>
                      <a:txBody>
                        <a:bodyPr/>
                        <a:lstStyle/>
                        <a:p>
                          <a:endParaRPr lang="en-US"/>
                        </a:p>
                      </a:txBody>
                      <a:tcPr marL="68580" marR="68580" marT="9144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47855" t="-122642" r="-47855" b="-1887"/>
                          </a:stretch>
                        </a:blipFill>
                      </a:tcPr>
                    </a:tc>
                    <a:tc>
                      <a:txBody>
                        <a:bodyPr/>
                        <a:lstStyle/>
                        <a:p>
                          <a:endParaRPr lang="en-US"/>
                        </a:p>
                      </a:txBody>
                      <a:tcPr marL="68580" marR="68580" marT="9144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6"/>
                          <a:stretch>
                            <a:fillRect l="-311111" t="-122642" r="-694" b="-1887"/>
                          </a:stretch>
                        </a:blipFill>
                      </a:tcPr>
                    </a:tc>
                    <a:extLst>
                      <a:ext uri="{0D108BD9-81ED-4DB2-BD59-A6C34878D82A}">
                        <a16:rowId xmlns:a16="http://schemas.microsoft.com/office/drawing/2014/main" val="3234919046"/>
                      </a:ext>
                    </a:extLst>
                  </a:tr>
                </a:tbl>
              </a:graphicData>
            </a:graphic>
          </p:graphicFrame>
        </mc:Fallback>
      </mc:AlternateContent>
      <mc:AlternateContent xmlns:mc="http://schemas.openxmlformats.org/markup-compatibility/2006" xmlns:a14="http://schemas.microsoft.com/office/drawing/2010/main">
        <mc:Choice Requires="a14">
          <p:graphicFrame>
            <p:nvGraphicFramePr>
              <p:cNvPr id="11" name="Table 10">
                <a:extLst>
                  <a:ext uri="{FF2B5EF4-FFF2-40B4-BE49-F238E27FC236}">
                    <a16:creationId xmlns:a16="http://schemas.microsoft.com/office/drawing/2014/main" id="{E0ADF209-4AC1-3F46-AC34-733CF12C220B}"/>
                  </a:ext>
                </a:extLst>
              </p:cNvPr>
              <p:cNvGraphicFramePr>
                <a:graphicFrameLocks noGrp="1"/>
              </p:cNvGraphicFramePr>
              <p:nvPr>
                <p:extLst>
                  <p:ext uri="{D42A27DB-BD31-4B8C-83A1-F6EECF244321}">
                    <p14:modId xmlns:p14="http://schemas.microsoft.com/office/powerpoint/2010/main" val="1356803640"/>
                  </p:ext>
                </p:extLst>
              </p:nvPr>
            </p:nvGraphicFramePr>
            <p:xfrm>
              <a:off x="1892744" y="4988741"/>
              <a:ext cx="7498080" cy="1472058"/>
            </p:xfrm>
            <a:graphic>
              <a:graphicData uri="http://schemas.openxmlformats.org/drawingml/2006/table">
                <a:tbl>
                  <a:tblPr bandRow="1"/>
                  <a:tblGrid>
                    <a:gridCol w="1828800">
                      <a:extLst>
                        <a:ext uri="{9D8B030D-6E8A-4147-A177-3AD203B41FA5}">
                          <a16:colId xmlns:a16="http://schemas.microsoft.com/office/drawing/2014/main" val="2087996158"/>
                        </a:ext>
                      </a:extLst>
                    </a:gridCol>
                    <a:gridCol w="3840480">
                      <a:extLst>
                        <a:ext uri="{9D8B030D-6E8A-4147-A177-3AD203B41FA5}">
                          <a16:colId xmlns:a16="http://schemas.microsoft.com/office/drawing/2014/main" val="1824617784"/>
                        </a:ext>
                      </a:extLst>
                    </a:gridCol>
                    <a:gridCol w="1828800">
                      <a:extLst>
                        <a:ext uri="{9D8B030D-6E8A-4147-A177-3AD203B41FA5}">
                          <a16:colId xmlns:a16="http://schemas.microsoft.com/office/drawing/2014/main" val="795572746"/>
                        </a:ext>
                      </a:extLst>
                    </a:gridCol>
                  </a:tblGrid>
                  <a:tr h="457200">
                    <a:tc>
                      <a:txBody>
                        <a:bodyPr/>
                        <a:lstStyle/>
                        <a:p>
                          <a:pPr marL="0" marR="0" algn="ctr">
                            <a:lnSpc>
                              <a:spcPct val="107000"/>
                            </a:lnSpc>
                            <a:spcBef>
                              <a:spcPts val="0"/>
                            </a:spcBef>
                            <a:spcAft>
                              <a:spcPts val="80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Given Expression</a:t>
                          </a:r>
                          <a:endParaRPr lang="x-none" sz="2000" dirty="0">
                            <a:effectLst/>
                            <a:latin typeface="Verdana" pitchFamily="34" charset="0"/>
                            <a:ea typeface="Verdana" pitchFamily="34" charset="0"/>
                            <a:cs typeface="Cambria Math" panose="020405030504060302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800"/>
                            </a:spcAft>
                          </a:pPr>
                          <a:r>
                            <a:rPr lang="en-US" sz="2000" b="1" i="0" u="none" strike="noStrike" baseline="0" dirty="0">
                              <a:latin typeface="Verdana" pitchFamily="34" charset="0"/>
                              <a:ea typeface="Verdana" pitchFamily="34" charset="0"/>
                            </a:rPr>
                            <a:t>Sophia’s Work</a:t>
                          </a:r>
                          <a:endParaRPr lang="x-none" sz="2000">
                            <a:effectLst/>
                            <a:latin typeface="Verdana" pitchFamily="34" charset="0"/>
                            <a:ea typeface="Verdana" pitchFamily="34" charset="0"/>
                            <a:cs typeface="Cambria Math" panose="020405030504060302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80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Equivalent Expression</a:t>
                          </a:r>
                          <a:endParaRPr lang="x-none" sz="2000">
                            <a:effectLst/>
                            <a:latin typeface="Verdana" pitchFamily="34" charset="0"/>
                            <a:ea typeface="Verdana" pitchFamily="34" charset="0"/>
                            <a:cs typeface="Cambria Math" panose="020405030504060302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840899214"/>
                      </a:ext>
                    </a:extLst>
                  </a:tr>
                  <a:tr h="457200">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ad>
                                  <m:radPr>
                                    <m:degHide m:val="on"/>
                                    <m:ctrlPr>
                                      <a:rPr lang="x-none" sz="2000" i="1">
                                        <a:effectLst/>
                                        <a:latin typeface="Cambria Math" panose="02040503050406030204" pitchFamily="18" charset="0"/>
                                        <a:ea typeface="Cambria Math" panose="02040503050406030204" pitchFamily="18" charset="0"/>
                                        <a:cs typeface="Cambria Math" panose="02040503050406030204" pitchFamily="18" charset="0"/>
                                      </a:rPr>
                                    </m:ctrlPr>
                                  </m:radPr>
                                  <m:deg/>
                                  <m:e>
                                    <m:r>
                                      <a:rPr lang="en-US" sz="2000" i="1">
                                        <a:effectLst/>
                                        <a:latin typeface="Cambria Math" panose="02040503050406030204" pitchFamily="18" charset="0"/>
                                        <a:ea typeface="Cambria Math" panose="02040503050406030204" pitchFamily="18" charset="0"/>
                                        <a:cs typeface="Cambria Math" panose="02040503050406030204" pitchFamily="18" charset="0"/>
                                      </a:rPr>
                                      <m:t>18</m:t>
                                    </m:r>
                                  </m:e>
                                </m:rad>
                              </m:oMath>
                            </m:oMathPara>
                          </a14:m>
                          <a:endParaRPr lang="x-none" sz="2000">
                            <a:effectLst/>
                            <a:latin typeface="Verdana" pitchFamily="34" charset="0"/>
                            <a:ea typeface="Verdana" pitchFamily="34" charset="0"/>
                            <a:cs typeface="Cambria Math" panose="02040503050406030204" pitchFamily="18" charset="0"/>
                          </a:endParaRPr>
                        </a:p>
                      </a:txBody>
                      <a:tcPr marL="68580" marR="68580" marT="9144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sSup>
                                  <m:sSupPr>
                                    <m:ctrlPr>
                                      <a:rPr kumimoji="0" lang="x-none" sz="2000" b="0" i="1"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Cambria Math" panose="02040503050406030204" pitchFamily="18" charset="0"/>
                                        <a:sym typeface="Arial"/>
                                      </a:rPr>
                                    </m:ctrlPr>
                                  </m:sSupPr>
                                  <m:e>
                                    <m:r>
                                      <a:rPr kumimoji="0" lang="en-US" sz="2000" b="0" i="1" u="none" strike="noStrike" kern="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Cambria Math" panose="02040503050406030204" pitchFamily="18" charset="0"/>
                                        <a:sym typeface="Arial"/>
                                      </a:rPr>
                                      <m:t>18</m:t>
                                    </m:r>
                                  </m:e>
                                  <m:sup>
                                    <m:f>
                                      <m:fPr>
                                        <m:ctrlPr>
                                          <a:rPr kumimoji="0" lang="x-none" sz="2000" b="0" i="1" u="none" strike="noStrike" kern="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Cambria Math" panose="02040503050406030204" pitchFamily="18" charset="0"/>
                                            <a:sym typeface="Arial"/>
                                          </a:rPr>
                                        </m:ctrlPr>
                                      </m:fPr>
                                      <m:num>
                                        <m:r>
                                          <a:rPr kumimoji="0" lang="en-US" sz="2000" b="0" i="1" u="none" strike="noStrike" kern="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Cambria Math" panose="02040503050406030204" pitchFamily="18" charset="0"/>
                                            <a:sym typeface="Arial"/>
                                          </a:rPr>
                                          <m:t>1</m:t>
                                        </m:r>
                                      </m:num>
                                      <m:den>
                                        <m:r>
                                          <a:rPr kumimoji="0" lang="en-US" sz="2000" b="0" i="1" u="none" strike="noStrike" kern="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Cambria Math" panose="02040503050406030204" pitchFamily="18" charset="0"/>
                                            <a:sym typeface="Arial"/>
                                          </a:rPr>
                                          <m:t>2</m:t>
                                        </m:r>
                                      </m:den>
                                    </m:f>
                                  </m:sup>
                                </m:sSup>
                                <m:r>
                                  <a:rPr kumimoji="0" lang="en-US" sz="2000" b="0" i="1" u="none" strike="noStrike" kern="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Cambria Math" panose="02040503050406030204" pitchFamily="18" charset="0"/>
                                    <a:sym typeface="Arial"/>
                                  </a:rPr>
                                  <m:t>=</m:t>
                                </m:r>
                                <m:sSup>
                                  <m:sSupPr>
                                    <m:ctrlPr>
                                      <a:rPr kumimoji="0" lang="x-none" sz="2000" b="0" i="1" u="none" strike="noStrike" kern="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Cambria Math" panose="02040503050406030204" pitchFamily="18" charset="0"/>
                                        <a:sym typeface="Arial"/>
                                      </a:rPr>
                                    </m:ctrlPr>
                                  </m:sSupPr>
                                  <m:e>
                                    <m:r>
                                      <a:rPr kumimoji="0" lang="en-US" sz="2000" b="0" i="1" u="none" strike="noStrike" kern="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Cambria Math" panose="02040503050406030204" pitchFamily="18" charset="0"/>
                                        <a:sym typeface="Arial"/>
                                      </a:rPr>
                                      <m:t>(9∙2)</m:t>
                                    </m:r>
                                  </m:e>
                                  <m:sup>
                                    <m:f>
                                      <m:fPr>
                                        <m:ctrlPr>
                                          <a:rPr kumimoji="0" lang="x-none" sz="2000" b="0" i="1" u="none" strike="noStrike" kern="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Cambria Math" panose="02040503050406030204" pitchFamily="18" charset="0"/>
                                            <a:sym typeface="Arial"/>
                                          </a:rPr>
                                        </m:ctrlPr>
                                      </m:fPr>
                                      <m:num>
                                        <m:r>
                                          <a:rPr kumimoji="0" lang="en-US" sz="2000" b="0" i="1" u="none" strike="noStrike" kern="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Cambria Math" panose="02040503050406030204" pitchFamily="18" charset="0"/>
                                            <a:sym typeface="Arial"/>
                                          </a:rPr>
                                          <m:t>1</m:t>
                                        </m:r>
                                      </m:num>
                                      <m:den>
                                        <m:r>
                                          <a:rPr kumimoji="0" lang="en-US" sz="2000" b="0" i="1" u="none" strike="noStrike" kern="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Cambria Math" panose="02040503050406030204" pitchFamily="18" charset="0"/>
                                            <a:sym typeface="Arial"/>
                                          </a:rPr>
                                          <m:t>2</m:t>
                                        </m:r>
                                      </m:den>
                                    </m:f>
                                  </m:sup>
                                </m:sSup>
                                <m:r>
                                  <a:rPr kumimoji="0" lang="en-US" sz="2000" b="0" i="1" u="none" strike="noStrike" kern="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Cambria Math" panose="02040503050406030204" pitchFamily="18" charset="0"/>
                                    <a:sym typeface="Arial"/>
                                  </a:rPr>
                                  <m:t>=</m:t>
                                </m:r>
                                <m:sSup>
                                  <m:sSupPr>
                                    <m:ctrlPr>
                                      <a:rPr kumimoji="0" lang="x-none" sz="2000" b="0" i="1" u="none" strike="noStrike" kern="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Cambria Math" panose="02040503050406030204" pitchFamily="18" charset="0"/>
                                        <a:sym typeface="Arial"/>
                                      </a:rPr>
                                    </m:ctrlPr>
                                  </m:sSupPr>
                                  <m:e>
                                    <m:r>
                                      <a:rPr kumimoji="0" lang="en-US" sz="2000" b="0" i="1" u="none" strike="noStrike" kern="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Cambria Math" panose="02040503050406030204" pitchFamily="18" charset="0"/>
                                        <a:sym typeface="Arial"/>
                                      </a:rPr>
                                      <m:t>9</m:t>
                                    </m:r>
                                  </m:e>
                                  <m:sup>
                                    <m:f>
                                      <m:fPr>
                                        <m:ctrlPr>
                                          <a:rPr kumimoji="0" lang="x-none" sz="2000" b="0" i="1" u="none" strike="noStrike" kern="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Cambria Math" panose="02040503050406030204" pitchFamily="18" charset="0"/>
                                            <a:sym typeface="Arial"/>
                                          </a:rPr>
                                        </m:ctrlPr>
                                      </m:fPr>
                                      <m:num>
                                        <m:r>
                                          <a:rPr kumimoji="0" lang="en-US" sz="2000" b="0" i="1" u="none" strike="noStrike" kern="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Cambria Math" panose="02040503050406030204" pitchFamily="18" charset="0"/>
                                            <a:sym typeface="Arial"/>
                                          </a:rPr>
                                          <m:t>1</m:t>
                                        </m:r>
                                      </m:num>
                                      <m:den>
                                        <m:r>
                                          <a:rPr kumimoji="0" lang="en-US" sz="2000" b="0" i="1" u="none" strike="noStrike" kern="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Cambria Math" panose="02040503050406030204" pitchFamily="18" charset="0"/>
                                            <a:sym typeface="Arial"/>
                                          </a:rPr>
                                          <m:t>2</m:t>
                                        </m:r>
                                      </m:den>
                                    </m:f>
                                  </m:sup>
                                </m:sSup>
                                <m:r>
                                  <a:rPr kumimoji="0" lang="en-US" sz="2000" b="0" i="1" u="none" strike="noStrike" kern="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Cambria Math" panose="02040503050406030204" pitchFamily="18" charset="0"/>
                                    <a:sym typeface="Arial"/>
                                  </a:rPr>
                                  <m:t>∙</m:t>
                                </m:r>
                                <m:sSup>
                                  <m:sSupPr>
                                    <m:ctrlPr>
                                      <a:rPr kumimoji="0" lang="x-none" sz="2000" b="0" i="1" u="none" strike="noStrike" kern="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Cambria Math" panose="02040503050406030204" pitchFamily="18" charset="0"/>
                                        <a:sym typeface="Arial"/>
                                      </a:rPr>
                                    </m:ctrlPr>
                                  </m:sSupPr>
                                  <m:e>
                                    <m:r>
                                      <a:rPr kumimoji="0" lang="en-US" sz="2000" b="0" i="1" u="none" strike="noStrike" kern="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Cambria Math" panose="02040503050406030204" pitchFamily="18" charset="0"/>
                                        <a:sym typeface="Arial"/>
                                      </a:rPr>
                                      <m:t>2</m:t>
                                    </m:r>
                                  </m:e>
                                  <m:sup>
                                    <m:f>
                                      <m:fPr>
                                        <m:ctrlPr>
                                          <a:rPr kumimoji="0" lang="x-none" sz="2000" b="0" i="1" u="none" strike="noStrike" kern="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Cambria Math" panose="02040503050406030204" pitchFamily="18" charset="0"/>
                                            <a:sym typeface="Arial"/>
                                          </a:rPr>
                                        </m:ctrlPr>
                                      </m:fPr>
                                      <m:num>
                                        <m:r>
                                          <a:rPr kumimoji="0" lang="en-US" sz="2000" b="0" i="1" u="none" strike="noStrike" kern="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Cambria Math" panose="02040503050406030204" pitchFamily="18" charset="0"/>
                                            <a:sym typeface="Arial"/>
                                          </a:rPr>
                                          <m:t>1</m:t>
                                        </m:r>
                                      </m:num>
                                      <m:den>
                                        <m:r>
                                          <a:rPr kumimoji="0" lang="en-US" sz="2000" b="0" i="1" u="none" strike="noStrike" kern="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Cambria Math" panose="02040503050406030204" pitchFamily="18" charset="0"/>
                                            <a:sym typeface="Arial"/>
                                          </a:rPr>
                                          <m:t>2</m:t>
                                        </m:r>
                                      </m:den>
                                    </m:f>
                                  </m:sup>
                                </m:sSup>
                                <m:r>
                                  <a:rPr kumimoji="0" lang="en-US" sz="2000" b="0" i="1" u="none" strike="noStrike" kern="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Cambria Math" panose="02040503050406030204" pitchFamily="18" charset="0"/>
                                    <a:sym typeface="Arial"/>
                                  </a:rPr>
                                  <m:t>=</m:t>
                                </m:r>
                                <m:rad>
                                  <m:radPr>
                                    <m:degHide m:val="on"/>
                                    <m:ctrlPr>
                                      <a:rPr kumimoji="0" lang="x-none" sz="2000" b="0" i="1" u="none" strike="noStrike" kern="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Cambria Math" panose="02040503050406030204" pitchFamily="18" charset="0"/>
                                        <a:sym typeface="Arial"/>
                                      </a:rPr>
                                    </m:ctrlPr>
                                  </m:radPr>
                                  <m:deg/>
                                  <m:e>
                                    <m:r>
                                      <a:rPr kumimoji="0" lang="en-US" sz="2000" b="0" i="1" u="none" strike="noStrike" kern="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Cambria Math" panose="02040503050406030204" pitchFamily="18" charset="0"/>
                                        <a:sym typeface="Arial"/>
                                      </a:rPr>
                                      <m:t>9</m:t>
                                    </m:r>
                                  </m:e>
                                </m:rad>
                                <m:r>
                                  <a:rPr kumimoji="0" lang="en-US" sz="2000" b="0" i="1" u="none" strike="noStrike" kern="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Cambria Math" panose="02040503050406030204" pitchFamily="18" charset="0"/>
                                    <a:sym typeface="Arial"/>
                                  </a:rPr>
                                  <m:t>∙</m:t>
                                </m:r>
                                <m:rad>
                                  <m:radPr>
                                    <m:degHide m:val="on"/>
                                    <m:ctrlPr>
                                      <a:rPr kumimoji="0" lang="x-none" sz="2000" b="0" i="1" u="none" strike="noStrike" kern="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Cambria Math" panose="02040503050406030204" pitchFamily="18" charset="0"/>
                                        <a:sym typeface="Arial"/>
                                      </a:rPr>
                                    </m:ctrlPr>
                                  </m:radPr>
                                  <m:deg/>
                                  <m:e>
                                    <m:r>
                                      <a:rPr kumimoji="0" lang="en-US" sz="2000" b="0" i="1" u="none" strike="noStrike" kern="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Cambria Math" panose="02040503050406030204" pitchFamily="18" charset="0"/>
                                        <a:sym typeface="Arial"/>
                                      </a:rPr>
                                      <m:t>2</m:t>
                                    </m:r>
                                  </m:e>
                                </m:rad>
                              </m:oMath>
                            </m:oMathPara>
                          </a14:m>
                          <a:endParaRPr lang="x-none" sz="2000">
                            <a:effectLst/>
                            <a:latin typeface="Verdana" pitchFamily="34" charset="0"/>
                            <a:ea typeface="Verdana" pitchFamily="34" charset="0"/>
                            <a:cs typeface="Cambria Math" panose="02040503050406030204" pitchFamily="18" charset="0"/>
                          </a:endParaRPr>
                        </a:p>
                      </a:txBody>
                      <a:tcPr marL="68580" marR="68580" marT="9144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ctr" defTabSz="914400" rtl="0" eaLnBrk="1" fontAlgn="auto" latinLnBrk="0" hangingPunct="1">
                            <a:lnSpc>
                              <a:spcPct val="107000"/>
                            </a:lnSpc>
                            <a:spcBef>
                              <a:spcPts val="0"/>
                            </a:spcBef>
                            <a:spcAft>
                              <a:spcPts val="80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r>
                                  <a:rPr kumimoji="0" lang="en-US" sz="2000" b="0" i="1" u="none" strike="noStrike" kern="0" cap="none" spc="0" normalizeH="0" baseline="0" noProof="0" smtClean="0">
                                    <a:ln>
                                      <a:noFill/>
                                    </a:ln>
                                    <a:solidFill>
                                      <a:srgbClr val="000000"/>
                                    </a:solidFill>
                                    <a:effectLst/>
                                    <a:uLnTx/>
                                    <a:uFillTx/>
                                    <a:latin typeface="Cambria Math" panose="02040503050406030204" pitchFamily="18" charset="0"/>
                                    <a:ea typeface="Cambria Math" panose="02040503050406030204" pitchFamily="18" charset="0"/>
                                    <a:cs typeface="Cambria Math" panose="02040503050406030204" pitchFamily="18" charset="0"/>
                                    <a:sym typeface="Arial"/>
                                  </a:rPr>
                                  <m:t>3</m:t>
                                </m:r>
                                <m:rad>
                                  <m:radPr>
                                    <m:degHide m:val="on"/>
                                    <m:ctrlPr>
                                      <a:rPr kumimoji="0" lang="x-none" sz="2000" b="0" i="1" u="none" strike="noStrike" kern="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Cambria Math" panose="02040503050406030204" pitchFamily="18" charset="0"/>
                                        <a:sym typeface="Arial"/>
                                      </a:rPr>
                                    </m:ctrlPr>
                                  </m:radPr>
                                  <m:deg/>
                                  <m:e>
                                    <m:r>
                                      <a:rPr kumimoji="0" lang="en-US" sz="2000" b="0" i="1" u="none" strike="noStrike" kern="0" cap="none" spc="0" normalizeH="0" baseline="0" noProof="0">
                                        <a:ln>
                                          <a:noFill/>
                                        </a:ln>
                                        <a:solidFill>
                                          <a:srgbClr val="000000"/>
                                        </a:solidFill>
                                        <a:effectLst/>
                                        <a:uLnTx/>
                                        <a:uFillTx/>
                                        <a:latin typeface="Cambria Math" panose="02040503050406030204" pitchFamily="18" charset="0"/>
                                        <a:ea typeface="Cambria Math" panose="02040503050406030204" pitchFamily="18" charset="0"/>
                                        <a:cs typeface="Cambria Math" panose="02040503050406030204" pitchFamily="18" charset="0"/>
                                        <a:sym typeface="Arial"/>
                                      </a:rPr>
                                      <m:t>2</m:t>
                                    </m:r>
                                  </m:e>
                                </m:rad>
                              </m:oMath>
                            </m:oMathPara>
                          </a14:m>
                          <a:endParaRPr kumimoji="0" lang="x-none" sz="2000" b="0" i="0" u="none" strike="noStrike" kern="0" cap="none" spc="0" normalizeH="0" baseline="0" noProof="0" dirty="0">
                            <a:ln>
                              <a:noFill/>
                            </a:ln>
                            <a:solidFill>
                              <a:srgbClr val="000000"/>
                            </a:solidFill>
                            <a:effectLst/>
                            <a:uLnTx/>
                            <a:uFillTx/>
                            <a:latin typeface="Verdana" pitchFamily="34" charset="0"/>
                            <a:ea typeface="Verdana" pitchFamily="34" charset="0"/>
                            <a:cs typeface="Cambria Math" panose="02040503050406030204" pitchFamily="18" charset="0"/>
                            <a:sym typeface="Arial"/>
                          </a:endParaRPr>
                        </a:p>
                      </a:txBody>
                      <a:tcPr marL="68580" marR="68580" marT="9144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234919046"/>
                      </a:ext>
                    </a:extLst>
                  </a:tr>
                </a:tbl>
              </a:graphicData>
            </a:graphic>
          </p:graphicFrame>
        </mc:Choice>
        <mc:Fallback xmlns="">
          <p:graphicFrame>
            <p:nvGraphicFramePr>
              <p:cNvPr id="11" name="Table 10">
                <a:extLst>
                  <a:ext uri="{FF2B5EF4-FFF2-40B4-BE49-F238E27FC236}">
                    <a16:creationId xmlns:a16="http://schemas.microsoft.com/office/drawing/2014/main" id="{E0ADF209-4AC1-3F46-AC34-733CF12C220B}"/>
                  </a:ext>
                </a:extLst>
              </p:cNvPr>
              <p:cNvGraphicFramePr>
                <a:graphicFrameLocks noGrp="1"/>
              </p:cNvGraphicFramePr>
              <p:nvPr>
                <p:extLst>
                  <p:ext uri="{D42A27DB-BD31-4B8C-83A1-F6EECF244321}">
                    <p14:modId xmlns:p14="http://schemas.microsoft.com/office/powerpoint/2010/main" val="1356803640"/>
                  </p:ext>
                </p:extLst>
              </p:nvPr>
            </p:nvGraphicFramePr>
            <p:xfrm>
              <a:off x="1892744" y="4988741"/>
              <a:ext cx="7498080" cy="1472058"/>
            </p:xfrm>
            <a:graphic>
              <a:graphicData uri="http://schemas.openxmlformats.org/drawingml/2006/table">
                <a:tbl>
                  <a:tblPr bandRow="1"/>
                  <a:tblGrid>
                    <a:gridCol w="1828800">
                      <a:extLst>
                        <a:ext uri="{9D8B030D-6E8A-4147-A177-3AD203B41FA5}">
                          <a16:colId xmlns:a16="http://schemas.microsoft.com/office/drawing/2014/main" val="2087996158"/>
                        </a:ext>
                      </a:extLst>
                    </a:gridCol>
                    <a:gridCol w="3840480">
                      <a:extLst>
                        <a:ext uri="{9D8B030D-6E8A-4147-A177-3AD203B41FA5}">
                          <a16:colId xmlns:a16="http://schemas.microsoft.com/office/drawing/2014/main" val="1824617784"/>
                        </a:ext>
                      </a:extLst>
                    </a:gridCol>
                    <a:gridCol w="1828800">
                      <a:extLst>
                        <a:ext uri="{9D8B030D-6E8A-4147-A177-3AD203B41FA5}">
                          <a16:colId xmlns:a16="http://schemas.microsoft.com/office/drawing/2014/main" val="795572746"/>
                        </a:ext>
                      </a:extLst>
                    </a:gridCol>
                  </a:tblGrid>
                  <a:tr h="806260">
                    <a:tc>
                      <a:txBody>
                        <a:bodyPr/>
                        <a:lstStyle/>
                        <a:p>
                          <a:pPr marL="0" marR="0" algn="ctr">
                            <a:lnSpc>
                              <a:spcPct val="107000"/>
                            </a:lnSpc>
                            <a:spcBef>
                              <a:spcPts val="0"/>
                            </a:spcBef>
                            <a:spcAft>
                              <a:spcPts val="80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Given Expression</a:t>
                          </a:r>
                          <a:endParaRPr lang="x-none" sz="2000">
                            <a:effectLst/>
                            <a:latin typeface="Verdana" pitchFamily="34" charset="0"/>
                            <a:ea typeface="Verdana" pitchFamily="34" charset="0"/>
                            <a:cs typeface="Cambria Math" panose="020405030504060302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800"/>
                            </a:spcAft>
                          </a:pPr>
                          <a:r>
                            <a:rPr lang="en-US" sz="2000" b="1" i="0" u="none" strike="noStrike" baseline="0" dirty="0">
                              <a:latin typeface="Verdana" pitchFamily="34" charset="0"/>
                              <a:ea typeface="Verdana" pitchFamily="34" charset="0"/>
                            </a:rPr>
                            <a:t>Sophia’s Work</a:t>
                          </a:r>
                          <a:endParaRPr lang="x-none" sz="2000">
                            <a:effectLst/>
                            <a:latin typeface="Verdana" pitchFamily="34" charset="0"/>
                            <a:ea typeface="Verdana" pitchFamily="34" charset="0"/>
                            <a:cs typeface="Cambria Math" panose="020405030504060302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80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Equivalent Expression</a:t>
                          </a:r>
                          <a:endParaRPr lang="x-none" sz="2000">
                            <a:effectLst/>
                            <a:latin typeface="Verdana" pitchFamily="34" charset="0"/>
                            <a:ea typeface="Verdana" pitchFamily="34" charset="0"/>
                            <a:cs typeface="Cambria Math" panose="02040503050406030204" pitchFamily="18" charset="0"/>
                          </a:endParaRPr>
                        </a:p>
                      </a:txBody>
                      <a:tcPr marT="91440" marB="9144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840899214"/>
                      </a:ext>
                    </a:extLst>
                  </a:tr>
                  <a:tr h="665798">
                    <a:tc>
                      <a:txBody>
                        <a:bodyPr/>
                        <a:lstStyle/>
                        <a:p>
                          <a:endParaRPr lang="en-US"/>
                        </a:p>
                      </a:txBody>
                      <a:tcPr marL="68580" marR="68580" marT="9144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7"/>
                          <a:stretch>
                            <a:fillRect l="-694" t="-120755" r="-311111" b="-1887"/>
                          </a:stretch>
                        </a:blipFill>
                      </a:tcPr>
                    </a:tc>
                    <a:tc>
                      <a:txBody>
                        <a:bodyPr/>
                        <a:lstStyle/>
                        <a:p>
                          <a:endParaRPr lang="en-US"/>
                        </a:p>
                      </a:txBody>
                      <a:tcPr marL="68580" marR="68580" marT="9144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7"/>
                          <a:stretch>
                            <a:fillRect l="-47855" t="-120755" r="-47855" b="-1887"/>
                          </a:stretch>
                        </a:blipFill>
                      </a:tcPr>
                    </a:tc>
                    <a:tc>
                      <a:txBody>
                        <a:bodyPr/>
                        <a:lstStyle/>
                        <a:p>
                          <a:endParaRPr lang="en-US"/>
                        </a:p>
                      </a:txBody>
                      <a:tcPr marL="68580" marR="68580" marT="9144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7"/>
                          <a:stretch>
                            <a:fillRect l="-311111" t="-120755" r="-694" b="-1887"/>
                          </a:stretch>
                        </a:blipFill>
                      </a:tcPr>
                    </a:tc>
                    <a:extLst>
                      <a:ext uri="{0D108BD9-81ED-4DB2-BD59-A6C34878D82A}">
                        <a16:rowId xmlns:a16="http://schemas.microsoft.com/office/drawing/2014/main" val="3234919046"/>
                      </a:ext>
                    </a:extLst>
                  </a:tr>
                </a:tbl>
              </a:graphicData>
            </a:graphic>
          </p:graphicFrame>
        </mc:Fallback>
      </mc:AlternateContent>
      <p:sp>
        <p:nvSpPr>
          <p:cNvPr id="12" name="Google Shape;282;g104476d1465_1_17">
            <a:extLst>
              <a:ext uri="{FF2B5EF4-FFF2-40B4-BE49-F238E27FC236}">
                <a16:creationId xmlns:a16="http://schemas.microsoft.com/office/drawing/2014/main" id="{FA0A8AC0-E304-120C-9BAE-BA8EF269CD87}"/>
              </a:ext>
            </a:extLst>
          </p:cNvPr>
          <p:cNvSpPr txBox="1"/>
          <p:nvPr/>
        </p:nvSpPr>
        <p:spPr>
          <a:xfrm>
            <a:off x="8908141" y="6469331"/>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41</a:t>
            </a:r>
            <a:endParaRPr i="1" dirty="0">
              <a:latin typeface="Calibri"/>
              <a:ea typeface="Calibri"/>
              <a:cs typeface="Calibri"/>
              <a:sym typeface="Calibri"/>
            </a:endParaRPr>
          </a:p>
        </p:txBody>
      </p:sp>
      <p:pic>
        <p:nvPicPr>
          <p:cNvPr id="13" name="Google Shape;283;g104476d1465_1_17">
            <a:extLst>
              <a:ext uri="{FF2B5EF4-FFF2-40B4-BE49-F238E27FC236}">
                <a16:creationId xmlns:a16="http://schemas.microsoft.com/office/drawing/2014/main" id="{A757434D-9717-2C7B-411A-DFD983FFABDB}"/>
              </a:ext>
            </a:extLst>
          </p:cNvPr>
          <p:cNvPicPr preferRelativeResize="0"/>
          <p:nvPr/>
        </p:nvPicPr>
        <p:blipFill>
          <a:blip r:embed="rId8" cstate="screen">
            <a:alphaModFix/>
            <a:extLst>
              <a:ext uri="{28A0092B-C50C-407E-A947-70E740481C1C}">
                <a14:useLocalDpi xmlns:a14="http://schemas.microsoft.com/office/drawing/2010/main"/>
              </a:ext>
            </a:extLst>
          </a:blip>
          <a:stretch>
            <a:fillRect/>
          </a:stretch>
        </p:blipFill>
        <p:spPr>
          <a:xfrm>
            <a:off x="11533433"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67443704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11875"/>
            <a:ext cx="223200" cy="6866100"/>
          </a:xfrm>
          <a:prstGeom prst="rect">
            <a:avLst/>
          </a:prstGeom>
          <a:solidFill>
            <a:srgbClr val="F26763"/>
          </a:solidFill>
          <a:ln w="9525" cap="flat" cmpd="sng">
            <a:solidFill>
              <a:srgbClr val="F26763"/>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44DF7DE-9172-3E4E-B74A-7A51585FB6EA}"/>
                  </a:ext>
                </a:extLst>
              </p:cNvPr>
              <p:cNvSpPr txBox="1"/>
              <p:nvPr/>
            </p:nvSpPr>
            <p:spPr>
              <a:xfrm>
                <a:off x="974520" y="365754"/>
                <a:ext cx="10137980" cy="3202287"/>
              </a:xfrm>
              <a:prstGeom prst="rect">
                <a:avLst/>
              </a:prstGeom>
              <a:noFill/>
            </p:spPr>
            <p:txBody>
              <a:bodyPr wrap="square" rtlCol="0">
                <a:spAutoFit/>
              </a:bodyPr>
              <a:lstStyle/>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What similarities and differences do you notice between Ameer’s work and Sophia’s work?</a:t>
                </a:r>
              </a:p>
              <a:p>
                <a:pPr marL="457200" indent="-457200">
                  <a:buFont typeface="+mj-lt"/>
                  <a:buAutoNum type="arabi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With your partner, complete the work to find equivalent expressions for </a:t>
                </a:r>
                <a14:m>
                  <m:oMath xmlns:m="http://schemas.openxmlformats.org/officeDocument/2006/math">
                    <m:rad>
                      <m:radPr>
                        <m:degHide m:val="on"/>
                        <m:ctrlPr>
                          <a:rPr lang="en-US" sz="2000" i="1" dirty="0">
                            <a:latin typeface="Cambria Math" panose="02040503050406030204" pitchFamily="18" charset="0"/>
                            <a:ea typeface="Verdana" panose="020B0604030504040204" pitchFamily="34" charset="0"/>
                            <a:cs typeface="Verdana" panose="020B0604030504040204" pitchFamily="34" charset="0"/>
                          </a:rPr>
                        </m:ctrlPr>
                      </m:radPr>
                      <m:deg/>
                      <m:e>
                        <m:r>
                          <a:rPr lang="es-ES" sz="2000" i="1" dirty="0">
                            <a:latin typeface="Cambria Math" panose="02040503050406030204" pitchFamily="18" charset="0"/>
                            <a:ea typeface="Verdana" panose="020B0604030504040204" pitchFamily="34" charset="0"/>
                            <a:cs typeface="Verdana" panose="020B0604030504040204" pitchFamily="34" charset="0"/>
                          </a:rPr>
                          <m:t>175</m:t>
                        </m:r>
                      </m:e>
                    </m:rad>
                  </m:oMath>
                </a14:m>
                <a:r>
                  <a:rPr lang="en-US" sz="2000" dirty="0">
                    <a:latin typeface="Verdana" panose="020B0604030504040204" pitchFamily="34" charset="0"/>
                    <a:ea typeface="Verdana" panose="020B0604030504040204" pitchFamily="34" charset="0"/>
                    <a:cs typeface="Verdana" panose="020B0604030504040204" pitchFamily="34" charset="0"/>
                  </a:rPr>
                  <a:t> two different ways.</a:t>
                </a:r>
              </a:p>
            </p:txBody>
          </p:sp>
        </mc:Choice>
        <mc:Fallback xmlns="">
          <p:sp>
            <p:nvSpPr>
              <p:cNvPr id="10" name="TextBox 9">
                <a:extLst>
                  <a:ext uri="{FF2B5EF4-FFF2-40B4-BE49-F238E27FC236}">
                    <a16:creationId xmlns:a16="http://schemas.microsoft.com/office/drawing/2014/main" id="{E44DF7DE-9172-3E4E-B74A-7A51585FB6EA}"/>
                  </a:ext>
                </a:extLst>
              </p:cNvPr>
              <p:cNvSpPr txBox="1">
                <a:spLocks noRot="1" noChangeAspect="1" noMove="1" noResize="1" noEditPoints="1" noAdjustHandles="1" noChangeArrowheads="1" noChangeShapeType="1" noTextEdit="1"/>
              </p:cNvSpPr>
              <p:nvPr/>
            </p:nvSpPr>
            <p:spPr>
              <a:xfrm>
                <a:off x="974520" y="365754"/>
                <a:ext cx="10137980" cy="3202287"/>
              </a:xfrm>
              <a:prstGeom prst="rect">
                <a:avLst/>
              </a:prstGeom>
              <a:blipFill>
                <a:blip r:embed="rId4"/>
                <a:stretch>
                  <a:fillRect l="-625" t="-1186" b="-2372"/>
                </a:stretch>
              </a:blipFill>
            </p:spPr>
            <p:txBody>
              <a:bodyPr/>
              <a:lstStyle/>
              <a:p>
                <a:r>
                  <a:rPr lang="en-US">
                    <a:noFill/>
                  </a:rPr>
                  <a:t> </a:t>
                </a:r>
              </a:p>
            </p:txBody>
          </p:sp>
        </mc:Fallback>
      </mc:AlternateContent>
      <p:graphicFrame>
        <p:nvGraphicFramePr>
          <p:cNvPr id="4" name="Table 3">
            <a:extLst>
              <a:ext uri="{FF2B5EF4-FFF2-40B4-BE49-F238E27FC236}">
                <a16:creationId xmlns:a16="http://schemas.microsoft.com/office/drawing/2014/main" id="{5ADBAA4B-E853-9247-95B1-CAEF8AC7DE1E}"/>
              </a:ext>
            </a:extLst>
          </p:cNvPr>
          <p:cNvGraphicFramePr>
            <a:graphicFrameLocks noGrp="1"/>
          </p:cNvGraphicFramePr>
          <p:nvPr>
            <p:extLst>
              <p:ext uri="{D42A27DB-BD31-4B8C-83A1-F6EECF244321}">
                <p14:modId xmlns:p14="http://schemas.microsoft.com/office/powerpoint/2010/main" val="836866544"/>
              </p:ext>
            </p:extLst>
          </p:nvPr>
        </p:nvGraphicFramePr>
        <p:xfrm>
          <a:off x="2476080" y="1298279"/>
          <a:ext cx="7134860" cy="1490155"/>
        </p:xfrm>
        <a:graphic>
          <a:graphicData uri="http://schemas.openxmlformats.org/drawingml/2006/table">
            <a:tbl>
              <a:tblPr firstRow="1" firstCol="1" bandRow="1"/>
              <a:tblGrid>
                <a:gridCol w="3243580">
                  <a:extLst>
                    <a:ext uri="{9D8B030D-6E8A-4147-A177-3AD203B41FA5}">
                      <a16:colId xmlns:a16="http://schemas.microsoft.com/office/drawing/2014/main" val="1658076034"/>
                    </a:ext>
                  </a:extLst>
                </a:gridCol>
                <a:gridCol w="3891280">
                  <a:extLst>
                    <a:ext uri="{9D8B030D-6E8A-4147-A177-3AD203B41FA5}">
                      <a16:colId xmlns:a16="http://schemas.microsoft.com/office/drawing/2014/main" val="500069729"/>
                    </a:ext>
                  </a:extLst>
                </a:gridCol>
              </a:tblGrid>
              <a:tr h="457200">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Similarities</a:t>
                      </a:r>
                      <a:endParaRPr lang="x-none" sz="1800">
                        <a:effectLst/>
                        <a:latin typeface="Cambria Math" panose="02040503050406030204" pitchFamily="18" charset="0"/>
                        <a:ea typeface="Cambria Math" panose="02040503050406030204" pitchFamily="18" charset="0"/>
                        <a:cs typeface="Cambria Math" panose="020405030504060302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Differences</a:t>
                      </a:r>
                      <a:endParaRPr lang="x-none" sz="1800">
                        <a:effectLst/>
                        <a:latin typeface="Cambria Math" panose="02040503050406030204" pitchFamily="18" charset="0"/>
                        <a:ea typeface="Cambria Math" panose="02040503050406030204" pitchFamily="18" charset="0"/>
                        <a:cs typeface="Cambria Math" panose="020405030504060302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3842768128"/>
                  </a:ext>
                </a:extLst>
              </a:tr>
              <a:tr h="1005840">
                <a:tc>
                  <a:txBody>
                    <a:bodyPr/>
                    <a:lstStyle/>
                    <a:p>
                      <a:pPr marL="0" marR="0">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18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nSpc>
                          <a:spcPct val="107000"/>
                        </a:lnSpc>
                        <a:spcBef>
                          <a:spcPts val="0"/>
                        </a:spcBef>
                        <a:spcAft>
                          <a:spcPts val="0"/>
                        </a:spcAft>
                      </a:pPr>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18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288340512"/>
                  </a:ext>
                </a:extLst>
              </a:tr>
            </a:tbl>
          </a:graphicData>
        </a:graphic>
      </p:graphicFrame>
      <mc:AlternateContent xmlns:mc="http://schemas.openxmlformats.org/markup-compatibility/2006" xmlns:a14="http://schemas.microsoft.com/office/drawing/2010/main">
        <mc:Choice Requires="a14">
          <p:graphicFrame>
            <p:nvGraphicFramePr>
              <p:cNvPr id="7" name="Table 6">
                <a:extLst>
                  <a:ext uri="{FF2B5EF4-FFF2-40B4-BE49-F238E27FC236}">
                    <a16:creationId xmlns:a16="http://schemas.microsoft.com/office/drawing/2014/main" id="{923D9395-9CAE-7E45-BF0F-F32288B9481B}"/>
                  </a:ext>
                </a:extLst>
              </p:cNvPr>
              <p:cNvGraphicFramePr>
                <a:graphicFrameLocks noGrp="1"/>
              </p:cNvGraphicFramePr>
              <p:nvPr>
                <p:extLst>
                  <p:ext uri="{D42A27DB-BD31-4B8C-83A1-F6EECF244321}">
                    <p14:modId xmlns:p14="http://schemas.microsoft.com/office/powerpoint/2010/main" val="2057705308"/>
                  </p:ext>
                </p:extLst>
              </p:nvPr>
            </p:nvGraphicFramePr>
            <p:xfrm>
              <a:off x="2385910" y="3697718"/>
              <a:ext cx="7315200" cy="2589086"/>
            </p:xfrm>
            <a:graphic>
              <a:graphicData uri="http://schemas.openxmlformats.org/drawingml/2006/table">
                <a:tbl>
                  <a:tblPr firstRow="1" firstCol="1" bandRow="1"/>
                  <a:tblGrid>
                    <a:gridCol w="1828800">
                      <a:extLst>
                        <a:ext uri="{9D8B030D-6E8A-4147-A177-3AD203B41FA5}">
                          <a16:colId xmlns:a16="http://schemas.microsoft.com/office/drawing/2014/main" val="1360994199"/>
                        </a:ext>
                      </a:extLst>
                    </a:gridCol>
                    <a:gridCol w="3657600">
                      <a:extLst>
                        <a:ext uri="{9D8B030D-6E8A-4147-A177-3AD203B41FA5}">
                          <a16:colId xmlns:a16="http://schemas.microsoft.com/office/drawing/2014/main" val="2400238120"/>
                        </a:ext>
                      </a:extLst>
                    </a:gridCol>
                    <a:gridCol w="1828800">
                      <a:extLst>
                        <a:ext uri="{9D8B030D-6E8A-4147-A177-3AD203B41FA5}">
                          <a16:colId xmlns:a16="http://schemas.microsoft.com/office/drawing/2014/main" val="2906270593"/>
                        </a:ext>
                      </a:extLst>
                    </a:gridCol>
                  </a:tblGrid>
                  <a:tr h="793750">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Given Expression</a:t>
                          </a:r>
                          <a:endParaRPr lang="x-none" sz="2000" dirty="0">
                            <a:effectLst/>
                            <a:latin typeface="Verdana" pitchFamily="34" charset="0"/>
                            <a:ea typeface="Verdana" pitchFamily="34" charset="0"/>
                            <a:cs typeface="Cambria Math" panose="020405030504060302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Work</a:t>
                          </a:r>
                          <a:endParaRPr lang="x-none" sz="2000" dirty="0">
                            <a:effectLst/>
                            <a:latin typeface="Verdana" pitchFamily="34" charset="0"/>
                            <a:ea typeface="Verdana" pitchFamily="34" charset="0"/>
                            <a:cs typeface="Cambria Math" panose="020405030504060302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Equivalent Radical Expression</a:t>
                          </a:r>
                          <a:endParaRPr lang="x-none" sz="2000" dirty="0">
                            <a:effectLst/>
                            <a:latin typeface="Verdana" pitchFamily="34" charset="0"/>
                            <a:ea typeface="Verdana" pitchFamily="34" charset="0"/>
                            <a:cs typeface="Cambria Math" panose="020405030504060302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923125737"/>
                      </a:ext>
                    </a:extLst>
                  </a:tr>
                  <a:tr h="728345">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ad>
                                  <m:radPr>
                                    <m:degHide m:val="on"/>
                                    <m:ctrlPr>
                                      <a:rPr lang="x-none" sz="2000" i="1">
                                        <a:effectLst/>
                                        <a:latin typeface="Cambria Math" panose="02040503050406030204" pitchFamily="18" charset="0"/>
                                        <a:ea typeface="Verdana" panose="020B0604030504040204" pitchFamily="34" charset="0"/>
                                        <a:cs typeface="Verdana" panose="020B0604030504040204" pitchFamily="34" charset="0"/>
                                      </a:rPr>
                                    </m:ctrlPr>
                                  </m:radPr>
                                  <m:deg/>
                                  <m:e>
                                    <m:r>
                                      <a:rPr lang="en-US" sz="2000" i="1">
                                        <a:effectLst/>
                                        <a:latin typeface="Cambria Math" panose="02040503050406030204" pitchFamily="18" charset="0"/>
                                        <a:ea typeface="Verdana" panose="020B0604030504040204" pitchFamily="34" charset="0"/>
                                        <a:cs typeface="Verdana" panose="020B0604030504040204" pitchFamily="34" charset="0"/>
                                      </a:rPr>
                                      <m:t>175</m:t>
                                    </m:r>
                                  </m:e>
                                </m:rad>
                              </m:oMath>
                            </m:oMathPara>
                          </a14:m>
                          <a:endParaRPr lang="x-none" sz="2000" dirty="0">
                            <a:effectLst/>
                            <a:latin typeface="Verdana" pitchFamily="34" charset="0"/>
                            <a:ea typeface="Verdana" pitchFamily="34" charset="0"/>
                            <a:cs typeface="Cambria Math" panose="020405030504060302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Cambria Math" panose="02040503050406030204" pitchFamily="18" charset="0"/>
                                        <a:cs typeface="Cambria Math" panose="02040503050406030204" pitchFamily="18" charset="0"/>
                                      </a:rPr>
                                    </m:ctrlPr>
                                  </m:sSupPr>
                                  <m:e>
                                    <m:r>
                                      <a:rPr lang="en-US" sz="2000" i="1">
                                        <a:effectLst/>
                                        <a:latin typeface="Cambria Math" panose="02040503050406030204" pitchFamily="18" charset="0"/>
                                        <a:ea typeface="Cambria Math" panose="02040503050406030204" pitchFamily="18" charset="0"/>
                                        <a:cs typeface="Cambria Math" panose="02040503050406030204" pitchFamily="18" charset="0"/>
                                      </a:rPr>
                                      <m:t>175</m:t>
                                    </m:r>
                                  </m:e>
                                  <m:sup>
                                    <m:f>
                                      <m:fPr>
                                        <m:ctrlPr>
                                          <a:rPr lang="x-none" sz="2000" i="1">
                                            <a:effectLst/>
                                            <a:latin typeface="Cambria Math" panose="02040503050406030204" pitchFamily="18" charset="0"/>
                                            <a:ea typeface="Cambria Math" panose="02040503050406030204" pitchFamily="18" charset="0"/>
                                            <a:cs typeface="Cambria Math" panose="02040503050406030204" pitchFamily="18" charset="0"/>
                                          </a:rPr>
                                        </m:ctrlPr>
                                      </m:fPr>
                                      <m:num>
                                        <m:r>
                                          <a:rPr lang="en-US" sz="2000" i="1">
                                            <a:effectLst/>
                                            <a:latin typeface="Cambria Math" panose="02040503050406030204" pitchFamily="18" charset="0"/>
                                            <a:ea typeface="Cambria Math" panose="02040503050406030204" pitchFamily="18" charset="0"/>
                                            <a:cs typeface="Cambria Math" panose="02040503050406030204" pitchFamily="18" charset="0"/>
                                          </a:rPr>
                                          <m:t>1</m:t>
                                        </m:r>
                                      </m:num>
                                      <m:den>
                                        <m:r>
                                          <a:rPr lang="en-US" sz="2000" i="1">
                                            <a:effectLst/>
                                            <a:latin typeface="Cambria Math" panose="02040503050406030204" pitchFamily="18" charset="0"/>
                                            <a:ea typeface="Cambria Math" panose="02040503050406030204" pitchFamily="18" charset="0"/>
                                            <a:cs typeface="Cambria Math" panose="02040503050406030204" pitchFamily="18" charset="0"/>
                                          </a:rPr>
                                          <m:t>2</m:t>
                                        </m:r>
                                      </m:den>
                                    </m:f>
                                  </m:sup>
                                </m:sSup>
                                <m:r>
                                  <a:rPr lang="en-US" sz="2000" i="1">
                                    <a:effectLst/>
                                    <a:latin typeface="Cambria Math" panose="02040503050406030204" pitchFamily="18" charset="0"/>
                                    <a:ea typeface="Cambria Math" panose="02040503050406030204" pitchFamily="18" charset="0"/>
                                    <a:cs typeface="Cambria Math" panose="02040503050406030204" pitchFamily="18" charset="0"/>
                                  </a:rPr>
                                  <m:t>=</m:t>
                                </m:r>
                                <m:sSup>
                                  <m:sSupPr>
                                    <m:ctrlPr>
                                      <a:rPr lang="x-none" sz="2000" i="1">
                                        <a:effectLst/>
                                        <a:latin typeface="Cambria Math" panose="02040503050406030204" pitchFamily="18" charset="0"/>
                                        <a:ea typeface="Cambria Math" panose="02040503050406030204" pitchFamily="18" charset="0"/>
                                        <a:cs typeface="Cambria Math" panose="02040503050406030204" pitchFamily="18" charset="0"/>
                                      </a:rPr>
                                    </m:ctrlPr>
                                  </m:sSupPr>
                                  <m:e>
                                    <m:r>
                                      <a:rPr lang="en-US" sz="2000" i="1">
                                        <a:effectLst/>
                                        <a:latin typeface="Cambria Math" panose="02040503050406030204" pitchFamily="18" charset="0"/>
                                        <a:ea typeface="Cambria Math" panose="02040503050406030204" pitchFamily="18" charset="0"/>
                                        <a:cs typeface="Cambria Math" panose="02040503050406030204" pitchFamily="18" charset="0"/>
                                      </a:rPr>
                                      <m:t>(35∙5)</m:t>
                                    </m:r>
                                  </m:e>
                                  <m:sup>
                                    <m:f>
                                      <m:fPr>
                                        <m:ctrlPr>
                                          <a:rPr lang="x-none" sz="2000" i="1">
                                            <a:effectLst/>
                                            <a:latin typeface="Cambria Math" panose="02040503050406030204" pitchFamily="18" charset="0"/>
                                            <a:ea typeface="Cambria Math" panose="02040503050406030204" pitchFamily="18" charset="0"/>
                                            <a:cs typeface="Cambria Math" panose="02040503050406030204" pitchFamily="18" charset="0"/>
                                          </a:rPr>
                                        </m:ctrlPr>
                                      </m:fPr>
                                      <m:num>
                                        <m:r>
                                          <a:rPr lang="en-US" sz="2000" i="1">
                                            <a:effectLst/>
                                            <a:latin typeface="Cambria Math" panose="02040503050406030204" pitchFamily="18" charset="0"/>
                                            <a:ea typeface="Cambria Math" panose="02040503050406030204" pitchFamily="18" charset="0"/>
                                            <a:cs typeface="Cambria Math" panose="02040503050406030204" pitchFamily="18" charset="0"/>
                                          </a:rPr>
                                          <m:t>1</m:t>
                                        </m:r>
                                      </m:num>
                                      <m:den>
                                        <m:r>
                                          <a:rPr lang="en-US" sz="2000" i="1">
                                            <a:effectLst/>
                                            <a:latin typeface="Cambria Math" panose="02040503050406030204" pitchFamily="18" charset="0"/>
                                            <a:ea typeface="Cambria Math" panose="02040503050406030204" pitchFamily="18" charset="0"/>
                                            <a:cs typeface="Cambria Math" panose="02040503050406030204" pitchFamily="18" charset="0"/>
                                          </a:rPr>
                                          <m:t>2</m:t>
                                        </m:r>
                                      </m:den>
                                    </m:f>
                                  </m:sup>
                                </m:sSup>
                                <m:r>
                                  <a:rPr lang="en-US" sz="2000" i="1">
                                    <a:effectLst/>
                                    <a:latin typeface="Cambria Math" panose="02040503050406030204" pitchFamily="18" charset="0"/>
                                    <a:ea typeface="Cambria Math" panose="02040503050406030204" pitchFamily="18" charset="0"/>
                                    <a:cs typeface="Cambria Math" panose="02040503050406030204" pitchFamily="18" charset="0"/>
                                  </a:rPr>
                                  <m:t>=</m:t>
                                </m:r>
                                <m:sSup>
                                  <m:sSupPr>
                                    <m:ctrlPr>
                                      <a:rPr lang="x-none" sz="2000" i="1">
                                        <a:effectLst/>
                                        <a:latin typeface="Cambria Math" panose="02040503050406030204" pitchFamily="18" charset="0"/>
                                        <a:ea typeface="Cambria Math" panose="02040503050406030204" pitchFamily="18" charset="0"/>
                                        <a:cs typeface="Cambria Math" panose="02040503050406030204" pitchFamily="18" charset="0"/>
                                      </a:rPr>
                                    </m:ctrlPr>
                                  </m:sSupPr>
                                  <m:e>
                                    <m:r>
                                      <a:rPr lang="en-US" sz="2000" i="1">
                                        <a:effectLst/>
                                        <a:latin typeface="Cambria Math" panose="02040503050406030204" pitchFamily="18" charset="0"/>
                                        <a:ea typeface="Cambria Math" panose="02040503050406030204" pitchFamily="18" charset="0"/>
                                        <a:cs typeface="Cambria Math" panose="02040503050406030204" pitchFamily="18" charset="0"/>
                                      </a:rPr>
                                      <m:t>(___)</m:t>
                                    </m:r>
                                  </m:e>
                                  <m:sup>
                                    <m:f>
                                      <m:fPr>
                                        <m:ctrlPr>
                                          <a:rPr lang="x-none" sz="2000" i="1">
                                            <a:effectLst/>
                                            <a:latin typeface="Cambria Math" panose="02040503050406030204" pitchFamily="18" charset="0"/>
                                            <a:ea typeface="Cambria Math" panose="02040503050406030204" pitchFamily="18" charset="0"/>
                                            <a:cs typeface="Cambria Math" panose="02040503050406030204" pitchFamily="18" charset="0"/>
                                          </a:rPr>
                                        </m:ctrlPr>
                                      </m:fPr>
                                      <m:num>
                                        <m:r>
                                          <a:rPr lang="en-US" sz="2000" i="1">
                                            <a:effectLst/>
                                            <a:latin typeface="Cambria Math" panose="02040503050406030204" pitchFamily="18" charset="0"/>
                                            <a:ea typeface="Cambria Math" panose="02040503050406030204" pitchFamily="18" charset="0"/>
                                            <a:cs typeface="Cambria Math" panose="02040503050406030204" pitchFamily="18" charset="0"/>
                                          </a:rPr>
                                          <m:t>1</m:t>
                                        </m:r>
                                      </m:num>
                                      <m:den>
                                        <m:r>
                                          <a:rPr lang="en-US" sz="2000" i="1">
                                            <a:effectLst/>
                                            <a:latin typeface="Cambria Math" panose="02040503050406030204" pitchFamily="18" charset="0"/>
                                            <a:ea typeface="Cambria Math" panose="02040503050406030204" pitchFamily="18" charset="0"/>
                                            <a:cs typeface="Cambria Math" panose="02040503050406030204" pitchFamily="18" charset="0"/>
                                          </a:rPr>
                                          <m:t>2</m:t>
                                        </m:r>
                                      </m:den>
                                    </m:f>
                                  </m:sup>
                                </m:sSup>
                                <m:r>
                                  <a:rPr lang="en-US" sz="2000" i="1">
                                    <a:effectLst/>
                                    <a:latin typeface="Cambria Math" panose="02040503050406030204" pitchFamily="18" charset="0"/>
                                    <a:ea typeface="Cambria Math" panose="02040503050406030204" pitchFamily="18" charset="0"/>
                                    <a:cs typeface="Cambria Math" panose="02040503050406030204" pitchFamily="18" charset="0"/>
                                  </a:rPr>
                                  <m:t>∙</m:t>
                                </m:r>
                                <m:sSup>
                                  <m:sSupPr>
                                    <m:ctrlPr>
                                      <a:rPr lang="x-none" sz="2000" i="1">
                                        <a:effectLst/>
                                        <a:latin typeface="Cambria Math" panose="02040503050406030204" pitchFamily="18" charset="0"/>
                                        <a:ea typeface="Cambria Math" panose="02040503050406030204" pitchFamily="18" charset="0"/>
                                        <a:cs typeface="Cambria Math" panose="02040503050406030204" pitchFamily="18" charset="0"/>
                                      </a:rPr>
                                    </m:ctrlPr>
                                  </m:sSupPr>
                                  <m:e>
                                    <m:r>
                                      <a:rPr lang="en-US" sz="2000" i="1">
                                        <a:effectLst/>
                                        <a:latin typeface="Cambria Math" panose="02040503050406030204" pitchFamily="18" charset="0"/>
                                        <a:ea typeface="Cambria Math" panose="02040503050406030204" pitchFamily="18" charset="0"/>
                                        <a:cs typeface="Cambria Math" panose="02040503050406030204" pitchFamily="18" charset="0"/>
                                      </a:rPr>
                                      <m:t>(___)</m:t>
                                    </m:r>
                                  </m:e>
                                  <m:sup>
                                    <m:f>
                                      <m:fPr>
                                        <m:ctrlPr>
                                          <a:rPr lang="x-none" sz="2000" i="1">
                                            <a:effectLst/>
                                            <a:latin typeface="Cambria Math" panose="02040503050406030204" pitchFamily="18" charset="0"/>
                                            <a:ea typeface="Cambria Math" panose="02040503050406030204" pitchFamily="18" charset="0"/>
                                            <a:cs typeface="Cambria Math" panose="02040503050406030204" pitchFamily="18" charset="0"/>
                                          </a:rPr>
                                        </m:ctrlPr>
                                      </m:fPr>
                                      <m:num>
                                        <m:r>
                                          <a:rPr lang="en-US" sz="2000" i="1">
                                            <a:effectLst/>
                                            <a:latin typeface="Cambria Math" panose="02040503050406030204" pitchFamily="18" charset="0"/>
                                            <a:ea typeface="Cambria Math" panose="02040503050406030204" pitchFamily="18" charset="0"/>
                                            <a:cs typeface="Cambria Math" panose="02040503050406030204" pitchFamily="18" charset="0"/>
                                          </a:rPr>
                                          <m:t>1</m:t>
                                        </m:r>
                                      </m:num>
                                      <m:den>
                                        <m:r>
                                          <a:rPr lang="en-US" sz="2000" i="1">
                                            <a:effectLst/>
                                            <a:latin typeface="Cambria Math" panose="02040503050406030204" pitchFamily="18" charset="0"/>
                                            <a:ea typeface="Cambria Math" panose="02040503050406030204" pitchFamily="18" charset="0"/>
                                            <a:cs typeface="Cambria Math" panose="02040503050406030204" pitchFamily="18" charset="0"/>
                                          </a:rPr>
                                          <m:t>2</m:t>
                                        </m:r>
                                      </m:den>
                                    </m:f>
                                  </m:sup>
                                </m:sSup>
                              </m:oMath>
                            </m:oMathPara>
                          </a14:m>
                          <a:endParaRPr lang="x-none" sz="2000" dirty="0">
                            <a:effectLst/>
                            <a:latin typeface="Verdana" pitchFamily="34" charset="0"/>
                            <a:ea typeface="Verdana" pitchFamily="34" charset="0"/>
                            <a:cs typeface="Cambria Math" panose="020405030504060302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endParaRPr lang="x-none" sz="2000">
                            <a:effectLst/>
                            <a:latin typeface="Verdana" pitchFamily="34" charset="0"/>
                            <a:ea typeface="Verdana" pitchFamily="34" charset="0"/>
                            <a:cs typeface="Cambria Math" panose="020405030504060302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23043383"/>
                      </a:ext>
                    </a:extLst>
                  </a:tr>
                  <a:tr h="728345">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ad>
                                  <m:radPr>
                                    <m:degHide m:val="on"/>
                                    <m:ctrlPr>
                                      <a:rPr lang="x-none" sz="2000" i="1">
                                        <a:effectLst/>
                                        <a:latin typeface="Cambria Math" panose="02040503050406030204" pitchFamily="18" charset="0"/>
                                        <a:ea typeface="Verdana" panose="020B0604030504040204" pitchFamily="34" charset="0"/>
                                        <a:cs typeface="Verdana" panose="020B0604030504040204" pitchFamily="34" charset="0"/>
                                      </a:rPr>
                                    </m:ctrlPr>
                                  </m:radPr>
                                  <m:deg/>
                                  <m:e>
                                    <m:r>
                                      <a:rPr lang="en-US" sz="2000" i="1">
                                        <a:effectLst/>
                                        <a:latin typeface="Cambria Math" panose="02040503050406030204" pitchFamily="18" charset="0"/>
                                        <a:ea typeface="Verdana" panose="020B0604030504040204" pitchFamily="34" charset="0"/>
                                        <a:cs typeface="Verdana" panose="020B0604030504040204" pitchFamily="34" charset="0"/>
                                      </a:rPr>
                                      <m:t>175</m:t>
                                    </m:r>
                                  </m:e>
                                </m:rad>
                              </m:oMath>
                            </m:oMathPara>
                          </a14:m>
                          <a:endParaRPr lang="x-none" sz="2000">
                            <a:effectLst/>
                            <a:latin typeface="Verdana" pitchFamily="34" charset="0"/>
                            <a:ea typeface="Verdana" pitchFamily="34" charset="0"/>
                            <a:cs typeface="Cambria Math" panose="020405030504060302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sSup>
                                  <m:sSupPr>
                                    <m:ctrlPr>
                                      <a:rPr lang="x-none" sz="2000" i="1">
                                        <a:effectLst/>
                                        <a:latin typeface="Cambria Math" panose="02040503050406030204" pitchFamily="18" charset="0"/>
                                        <a:ea typeface="Cambria Math" panose="02040503050406030204" pitchFamily="18" charset="0"/>
                                        <a:cs typeface="Cambria Math" panose="02040503050406030204" pitchFamily="18" charset="0"/>
                                      </a:rPr>
                                    </m:ctrlPr>
                                  </m:sSupPr>
                                  <m:e>
                                    <m:r>
                                      <a:rPr lang="en-US" sz="2000" i="1">
                                        <a:effectLst/>
                                        <a:latin typeface="Cambria Math" panose="02040503050406030204" pitchFamily="18" charset="0"/>
                                        <a:ea typeface="Cambria Math" panose="02040503050406030204" pitchFamily="18" charset="0"/>
                                        <a:cs typeface="Cambria Math" panose="02040503050406030204" pitchFamily="18" charset="0"/>
                                      </a:rPr>
                                      <m:t>175</m:t>
                                    </m:r>
                                  </m:e>
                                  <m:sup>
                                    <m:f>
                                      <m:fPr>
                                        <m:ctrlPr>
                                          <a:rPr lang="x-none" sz="2000" i="1">
                                            <a:effectLst/>
                                            <a:latin typeface="Cambria Math" panose="02040503050406030204" pitchFamily="18" charset="0"/>
                                            <a:ea typeface="Cambria Math" panose="02040503050406030204" pitchFamily="18" charset="0"/>
                                            <a:cs typeface="Cambria Math" panose="02040503050406030204" pitchFamily="18" charset="0"/>
                                          </a:rPr>
                                        </m:ctrlPr>
                                      </m:fPr>
                                      <m:num>
                                        <m:r>
                                          <a:rPr lang="en-US" sz="2000" i="1">
                                            <a:effectLst/>
                                            <a:latin typeface="Cambria Math" panose="02040503050406030204" pitchFamily="18" charset="0"/>
                                            <a:ea typeface="Cambria Math" panose="02040503050406030204" pitchFamily="18" charset="0"/>
                                            <a:cs typeface="Cambria Math" panose="02040503050406030204" pitchFamily="18" charset="0"/>
                                          </a:rPr>
                                          <m:t>1</m:t>
                                        </m:r>
                                      </m:num>
                                      <m:den>
                                        <m:r>
                                          <a:rPr lang="en-US" sz="2000" i="1">
                                            <a:effectLst/>
                                            <a:latin typeface="Cambria Math" panose="02040503050406030204" pitchFamily="18" charset="0"/>
                                            <a:ea typeface="Cambria Math" panose="02040503050406030204" pitchFamily="18" charset="0"/>
                                            <a:cs typeface="Cambria Math" panose="02040503050406030204" pitchFamily="18" charset="0"/>
                                          </a:rPr>
                                          <m:t>2</m:t>
                                        </m:r>
                                      </m:den>
                                    </m:f>
                                  </m:sup>
                                </m:sSup>
                                <m:r>
                                  <a:rPr lang="en-US" sz="2000" i="1">
                                    <a:effectLst/>
                                    <a:latin typeface="Cambria Math" panose="02040503050406030204" pitchFamily="18" charset="0"/>
                                    <a:ea typeface="Cambria Math" panose="02040503050406030204" pitchFamily="18" charset="0"/>
                                    <a:cs typeface="Cambria Math" panose="02040503050406030204" pitchFamily="18" charset="0"/>
                                  </a:rPr>
                                  <m:t>=</m:t>
                                </m:r>
                                <m:sSup>
                                  <m:sSupPr>
                                    <m:ctrlPr>
                                      <a:rPr lang="x-none" sz="2000" i="1">
                                        <a:effectLst/>
                                        <a:latin typeface="Cambria Math" panose="02040503050406030204" pitchFamily="18" charset="0"/>
                                        <a:ea typeface="Cambria Math" panose="02040503050406030204" pitchFamily="18" charset="0"/>
                                        <a:cs typeface="Cambria Math" panose="02040503050406030204" pitchFamily="18" charset="0"/>
                                      </a:rPr>
                                    </m:ctrlPr>
                                  </m:sSupPr>
                                  <m:e>
                                    <m:r>
                                      <a:rPr lang="en-US" sz="2000" i="1">
                                        <a:effectLst/>
                                        <a:latin typeface="Cambria Math" panose="02040503050406030204" pitchFamily="18" charset="0"/>
                                        <a:ea typeface="Cambria Math" panose="02040503050406030204" pitchFamily="18" charset="0"/>
                                        <a:cs typeface="Cambria Math" panose="02040503050406030204" pitchFamily="18" charset="0"/>
                                      </a:rPr>
                                      <m:t>(25∙7)</m:t>
                                    </m:r>
                                  </m:e>
                                  <m:sup>
                                    <m:f>
                                      <m:fPr>
                                        <m:ctrlPr>
                                          <a:rPr lang="x-none" sz="2000" i="1">
                                            <a:effectLst/>
                                            <a:latin typeface="Cambria Math" panose="02040503050406030204" pitchFamily="18" charset="0"/>
                                            <a:ea typeface="Cambria Math" panose="02040503050406030204" pitchFamily="18" charset="0"/>
                                            <a:cs typeface="Cambria Math" panose="02040503050406030204" pitchFamily="18" charset="0"/>
                                          </a:rPr>
                                        </m:ctrlPr>
                                      </m:fPr>
                                      <m:num>
                                        <m:r>
                                          <a:rPr lang="en-US" sz="2000" i="1">
                                            <a:effectLst/>
                                            <a:latin typeface="Cambria Math" panose="02040503050406030204" pitchFamily="18" charset="0"/>
                                            <a:ea typeface="Cambria Math" panose="02040503050406030204" pitchFamily="18" charset="0"/>
                                            <a:cs typeface="Cambria Math" panose="02040503050406030204" pitchFamily="18" charset="0"/>
                                          </a:rPr>
                                          <m:t>1</m:t>
                                        </m:r>
                                      </m:num>
                                      <m:den>
                                        <m:r>
                                          <a:rPr lang="en-US" sz="2000" i="1">
                                            <a:effectLst/>
                                            <a:latin typeface="Cambria Math" panose="02040503050406030204" pitchFamily="18" charset="0"/>
                                            <a:ea typeface="Cambria Math" panose="02040503050406030204" pitchFamily="18" charset="0"/>
                                            <a:cs typeface="Cambria Math" panose="02040503050406030204" pitchFamily="18" charset="0"/>
                                          </a:rPr>
                                          <m:t>2</m:t>
                                        </m:r>
                                      </m:den>
                                    </m:f>
                                  </m:sup>
                                </m:sSup>
                                <m:r>
                                  <a:rPr lang="en-US" sz="2000" i="1">
                                    <a:effectLst/>
                                    <a:latin typeface="Cambria Math" panose="02040503050406030204" pitchFamily="18" charset="0"/>
                                    <a:ea typeface="Cambria Math" panose="02040503050406030204" pitchFamily="18" charset="0"/>
                                    <a:cs typeface="Cambria Math" panose="02040503050406030204" pitchFamily="18" charset="0"/>
                                  </a:rPr>
                                  <m:t>=</m:t>
                                </m:r>
                                <m:sSup>
                                  <m:sSupPr>
                                    <m:ctrlPr>
                                      <a:rPr lang="x-none" sz="2000" i="1">
                                        <a:effectLst/>
                                        <a:latin typeface="Cambria Math" panose="02040503050406030204" pitchFamily="18" charset="0"/>
                                        <a:ea typeface="Cambria Math" panose="02040503050406030204" pitchFamily="18" charset="0"/>
                                        <a:cs typeface="Cambria Math" panose="02040503050406030204" pitchFamily="18" charset="0"/>
                                      </a:rPr>
                                    </m:ctrlPr>
                                  </m:sSupPr>
                                  <m:e>
                                    <m:r>
                                      <a:rPr lang="en-US" sz="2000" i="1">
                                        <a:effectLst/>
                                        <a:latin typeface="Cambria Math" panose="02040503050406030204" pitchFamily="18" charset="0"/>
                                        <a:ea typeface="Cambria Math" panose="02040503050406030204" pitchFamily="18" charset="0"/>
                                        <a:cs typeface="Cambria Math" panose="02040503050406030204" pitchFamily="18" charset="0"/>
                                      </a:rPr>
                                      <m:t>(___)</m:t>
                                    </m:r>
                                  </m:e>
                                  <m:sup>
                                    <m:f>
                                      <m:fPr>
                                        <m:ctrlPr>
                                          <a:rPr lang="x-none" sz="2000" i="1">
                                            <a:effectLst/>
                                            <a:latin typeface="Cambria Math" panose="02040503050406030204" pitchFamily="18" charset="0"/>
                                            <a:ea typeface="Cambria Math" panose="02040503050406030204" pitchFamily="18" charset="0"/>
                                            <a:cs typeface="Cambria Math" panose="02040503050406030204" pitchFamily="18" charset="0"/>
                                          </a:rPr>
                                        </m:ctrlPr>
                                      </m:fPr>
                                      <m:num>
                                        <m:r>
                                          <a:rPr lang="en-US" sz="2000" i="1">
                                            <a:effectLst/>
                                            <a:latin typeface="Cambria Math" panose="02040503050406030204" pitchFamily="18" charset="0"/>
                                            <a:ea typeface="Cambria Math" panose="02040503050406030204" pitchFamily="18" charset="0"/>
                                            <a:cs typeface="Cambria Math" panose="02040503050406030204" pitchFamily="18" charset="0"/>
                                          </a:rPr>
                                          <m:t>1</m:t>
                                        </m:r>
                                      </m:num>
                                      <m:den>
                                        <m:r>
                                          <a:rPr lang="en-US" sz="2000" i="1">
                                            <a:effectLst/>
                                            <a:latin typeface="Cambria Math" panose="02040503050406030204" pitchFamily="18" charset="0"/>
                                            <a:ea typeface="Cambria Math" panose="02040503050406030204" pitchFamily="18" charset="0"/>
                                            <a:cs typeface="Cambria Math" panose="02040503050406030204" pitchFamily="18" charset="0"/>
                                          </a:rPr>
                                          <m:t>2</m:t>
                                        </m:r>
                                      </m:den>
                                    </m:f>
                                  </m:sup>
                                </m:sSup>
                                <m:r>
                                  <a:rPr lang="en-US" sz="2000" i="1">
                                    <a:effectLst/>
                                    <a:latin typeface="Cambria Math" panose="02040503050406030204" pitchFamily="18" charset="0"/>
                                    <a:ea typeface="Cambria Math" panose="02040503050406030204" pitchFamily="18" charset="0"/>
                                    <a:cs typeface="Cambria Math" panose="02040503050406030204" pitchFamily="18" charset="0"/>
                                  </a:rPr>
                                  <m:t>∙</m:t>
                                </m:r>
                                <m:sSup>
                                  <m:sSupPr>
                                    <m:ctrlPr>
                                      <a:rPr lang="x-none" sz="2000" i="1">
                                        <a:effectLst/>
                                        <a:latin typeface="Cambria Math" panose="02040503050406030204" pitchFamily="18" charset="0"/>
                                        <a:ea typeface="Cambria Math" panose="02040503050406030204" pitchFamily="18" charset="0"/>
                                        <a:cs typeface="Cambria Math" panose="02040503050406030204" pitchFamily="18" charset="0"/>
                                      </a:rPr>
                                    </m:ctrlPr>
                                  </m:sSupPr>
                                  <m:e>
                                    <m:r>
                                      <a:rPr lang="en-US" sz="2000" i="1">
                                        <a:effectLst/>
                                        <a:latin typeface="Cambria Math" panose="02040503050406030204" pitchFamily="18" charset="0"/>
                                        <a:ea typeface="Cambria Math" panose="02040503050406030204" pitchFamily="18" charset="0"/>
                                        <a:cs typeface="Cambria Math" panose="02040503050406030204" pitchFamily="18" charset="0"/>
                                      </a:rPr>
                                      <m:t>(___)</m:t>
                                    </m:r>
                                  </m:e>
                                  <m:sup>
                                    <m:f>
                                      <m:fPr>
                                        <m:ctrlPr>
                                          <a:rPr lang="x-none" sz="2000" i="1">
                                            <a:effectLst/>
                                            <a:latin typeface="Cambria Math" panose="02040503050406030204" pitchFamily="18" charset="0"/>
                                            <a:ea typeface="Cambria Math" panose="02040503050406030204" pitchFamily="18" charset="0"/>
                                            <a:cs typeface="Cambria Math" panose="02040503050406030204" pitchFamily="18" charset="0"/>
                                          </a:rPr>
                                        </m:ctrlPr>
                                      </m:fPr>
                                      <m:num>
                                        <m:r>
                                          <a:rPr lang="en-US" sz="2000" i="1">
                                            <a:effectLst/>
                                            <a:latin typeface="Cambria Math" panose="02040503050406030204" pitchFamily="18" charset="0"/>
                                            <a:ea typeface="Cambria Math" panose="02040503050406030204" pitchFamily="18" charset="0"/>
                                            <a:cs typeface="Cambria Math" panose="02040503050406030204" pitchFamily="18" charset="0"/>
                                          </a:rPr>
                                          <m:t>1</m:t>
                                        </m:r>
                                      </m:num>
                                      <m:den>
                                        <m:r>
                                          <a:rPr lang="en-US" sz="2000" i="1">
                                            <a:effectLst/>
                                            <a:latin typeface="Cambria Math" panose="02040503050406030204" pitchFamily="18" charset="0"/>
                                            <a:ea typeface="Cambria Math" panose="02040503050406030204" pitchFamily="18" charset="0"/>
                                            <a:cs typeface="Cambria Math" panose="02040503050406030204" pitchFamily="18" charset="0"/>
                                          </a:rPr>
                                          <m:t>2</m:t>
                                        </m:r>
                                      </m:den>
                                    </m:f>
                                  </m:sup>
                                </m:sSup>
                              </m:oMath>
                            </m:oMathPara>
                          </a14:m>
                          <a:endParaRPr lang="x-none" sz="2000">
                            <a:effectLst/>
                            <a:latin typeface="Verdana" pitchFamily="34" charset="0"/>
                            <a:ea typeface="Verdana" pitchFamily="34" charset="0"/>
                            <a:cs typeface="Cambria Math" panose="020405030504060302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algn="ctr">
                            <a:lnSpc>
                              <a:spcPct val="107000"/>
                            </a:lnSpc>
                            <a:spcBef>
                              <a:spcPts val="0"/>
                            </a:spcBef>
                            <a:spcAft>
                              <a:spcPts val="0"/>
                            </a:spcAft>
                          </a:pPr>
                          <a:endParaRPr lang="x-none" sz="2000" dirty="0">
                            <a:effectLst/>
                            <a:latin typeface="Verdana" pitchFamily="34" charset="0"/>
                            <a:ea typeface="Verdana" pitchFamily="34" charset="0"/>
                            <a:cs typeface="Cambria Math" panose="020405030504060302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49640405"/>
                      </a:ext>
                    </a:extLst>
                  </a:tr>
                </a:tbl>
              </a:graphicData>
            </a:graphic>
          </p:graphicFrame>
        </mc:Choice>
        <mc:Fallback xmlns="">
          <p:graphicFrame>
            <p:nvGraphicFramePr>
              <p:cNvPr id="7" name="Table 6">
                <a:extLst>
                  <a:ext uri="{FF2B5EF4-FFF2-40B4-BE49-F238E27FC236}">
                    <a16:creationId xmlns:a16="http://schemas.microsoft.com/office/drawing/2014/main" id="{923D9395-9CAE-7E45-BF0F-F32288B9481B}"/>
                  </a:ext>
                </a:extLst>
              </p:cNvPr>
              <p:cNvGraphicFramePr>
                <a:graphicFrameLocks noGrp="1"/>
              </p:cNvGraphicFramePr>
              <p:nvPr>
                <p:extLst>
                  <p:ext uri="{D42A27DB-BD31-4B8C-83A1-F6EECF244321}">
                    <p14:modId xmlns:p14="http://schemas.microsoft.com/office/powerpoint/2010/main" val="2057705308"/>
                  </p:ext>
                </p:extLst>
              </p:nvPr>
            </p:nvGraphicFramePr>
            <p:xfrm>
              <a:off x="2385910" y="3697718"/>
              <a:ext cx="7315200" cy="2589086"/>
            </p:xfrm>
            <a:graphic>
              <a:graphicData uri="http://schemas.openxmlformats.org/drawingml/2006/table">
                <a:tbl>
                  <a:tblPr firstRow="1" firstCol="1" bandRow="1"/>
                  <a:tblGrid>
                    <a:gridCol w="1828800">
                      <a:extLst>
                        <a:ext uri="{9D8B030D-6E8A-4147-A177-3AD203B41FA5}">
                          <a16:colId xmlns:a16="http://schemas.microsoft.com/office/drawing/2014/main" val="1360994199"/>
                        </a:ext>
                      </a:extLst>
                    </a:gridCol>
                    <a:gridCol w="3657600">
                      <a:extLst>
                        <a:ext uri="{9D8B030D-6E8A-4147-A177-3AD203B41FA5}">
                          <a16:colId xmlns:a16="http://schemas.microsoft.com/office/drawing/2014/main" val="2400238120"/>
                        </a:ext>
                      </a:extLst>
                    </a:gridCol>
                    <a:gridCol w="1828800">
                      <a:extLst>
                        <a:ext uri="{9D8B030D-6E8A-4147-A177-3AD203B41FA5}">
                          <a16:colId xmlns:a16="http://schemas.microsoft.com/office/drawing/2014/main" val="2906270593"/>
                        </a:ext>
                      </a:extLst>
                    </a:gridCol>
                  </a:tblGrid>
                  <a:tr h="1132396">
                    <a:tc>
                      <a:txBody>
                        <a:bodyPr/>
                        <a:lstStyle/>
                        <a:p>
                          <a:pPr marL="0" marR="0" algn="ctr">
                            <a:lnSpc>
                              <a:spcPct val="107000"/>
                            </a:lnSpc>
                            <a:spcBef>
                              <a:spcPts val="0"/>
                            </a:spcBef>
                            <a:spcAft>
                              <a:spcPts val="0"/>
                            </a:spcAft>
                          </a:pPr>
                          <a:r>
                            <a:rPr lang="en-US" sz="2000" b="1" dirty="0">
                              <a:effectLst/>
                              <a:latin typeface="Verdana" panose="020B0604030504040204" pitchFamily="34" charset="0"/>
                              <a:ea typeface="Verdana" panose="020B0604030504040204" pitchFamily="34" charset="0"/>
                              <a:cs typeface="Verdana" panose="020B0604030504040204" pitchFamily="34" charset="0"/>
                            </a:rPr>
                            <a:t>Given Expression</a:t>
                          </a:r>
                          <a:endParaRPr lang="x-none" sz="2000">
                            <a:effectLst/>
                            <a:latin typeface="Verdana" pitchFamily="34" charset="0"/>
                            <a:ea typeface="Verdana" pitchFamily="34" charset="0"/>
                            <a:cs typeface="Cambria Math" panose="020405030504060302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Work</a:t>
                          </a:r>
                          <a:endParaRPr lang="x-none" sz="2000" dirty="0">
                            <a:effectLst/>
                            <a:latin typeface="Verdana" pitchFamily="34" charset="0"/>
                            <a:ea typeface="Verdana" pitchFamily="34" charset="0"/>
                            <a:cs typeface="Cambria Math" panose="020405030504060302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Equivalent Radical Expression</a:t>
                          </a:r>
                          <a:endParaRPr lang="x-none" sz="2000">
                            <a:effectLst/>
                            <a:latin typeface="Verdana" pitchFamily="34" charset="0"/>
                            <a:ea typeface="Verdana" pitchFamily="34" charset="0"/>
                            <a:cs typeface="Cambria Math" panose="020405030504060302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923125737"/>
                      </a:ext>
                    </a:extLst>
                  </a:tr>
                  <a:tr h="728345">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t="-159649" r="-302083" b="-103509"/>
                          </a:stretch>
                        </a:blipFill>
                      </a:tcPr>
                    </a:tc>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49827" t="-159649" r="-50519" b="-103509"/>
                          </a:stretch>
                        </a:blipFill>
                      </a:tcPr>
                    </a:tc>
                    <a:tc>
                      <a:txBody>
                        <a:bodyPr/>
                        <a:lstStyle/>
                        <a:p>
                          <a:pPr marL="0" marR="0" algn="ctr">
                            <a:lnSpc>
                              <a:spcPct val="107000"/>
                            </a:lnSpc>
                            <a:spcBef>
                              <a:spcPts val="0"/>
                            </a:spcBef>
                            <a:spcAft>
                              <a:spcPts val="0"/>
                            </a:spcAft>
                          </a:pPr>
                          <a:endParaRPr lang="x-none" sz="2000">
                            <a:effectLst/>
                            <a:latin typeface="Verdana" pitchFamily="34" charset="0"/>
                            <a:ea typeface="Verdana" pitchFamily="34" charset="0"/>
                            <a:cs typeface="Cambria Math" panose="020405030504060302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823043383"/>
                      </a:ext>
                    </a:extLst>
                  </a:tr>
                  <a:tr h="728345">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t="-255172" r="-302083" b="-1724"/>
                          </a:stretch>
                        </a:blipFill>
                      </a:tcPr>
                    </a:tc>
                    <a:tc>
                      <a:txBody>
                        <a:bodyPr/>
                        <a:lstStyle/>
                        <a:p>
                          <a:endParaRPr lang="en-US"/>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49827" t="-255172" r="-50519" b="-1724"/>
                          </a:stretch>
                        </a:blipFill>
                      </a:tcPr>
                    </a:tc>
                    <a:tc>
                      <a:txBody>
                        <a:bodyPr/>
                        <a:lstStyle/>
                        <a:p>
                          <a:pPr marL="0" marR="0" algn="ctr">
                            <a:lnSpc>
                              <a:spcPct val="107000"/>
                            </a:lnSpc>
                            <a:spcBef>
                              <a:spcPts val="0"/>
                            </a:spcBef>
                            <a:spcAft>
                              <a:spcPts val="0"/>
                            </a:spcAft>
                          </a:pPr>
                          <a:endParaRPr lang="x-none" sz="2000" dirty="0">
                            <a:effectLst/>
                            <a:latin typeface="Verdana" pitchFamily="34" charset="0"/>
                            <a:ea typeface="Verdana" pitchFamily="34" charset="0"/>
                            <a:cs typeface="Cambria Math" panose="020405030504060302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2749640405"/>
                      </a:ext>
                    </a:extLst>
                  </a:tr>
                </a:tbl>
              </a:graphicData>
            </a:graphic>
          </p:graphicFrame>
        </mc:Fallback>
      </mc:AlternateContent>
      <p:pic>
        <p:nvPicPr>
          <p:cNvPr id="2050" name="Picture 2"/>
          <p:cNvPicPr>
            <a:picLocks noChangeAspect="1" noChangeArrowheads="1"/>
          </p:cNvPicPr>
          <p:nvPr/>
        </p:nvPicPr>
        <p:blipFill>
          <a:blip r:embed="rId6">
            <a:extLst>
              <a:ext uri="{28A0092B-C50C-407E-A947-70E740481C1C}">
                <a14:useLocalDpi xmlns:a14="http://schemas.microsoft.com/office/drawing/2010/main"/>
              </a:ext>
            </a:extLst>
          </a:blip>
          <a:srcRect/>
          <a:stretch>
            <a:fillRect/>
          </a:stretch>
        </p:blipFill>
        <p:spPr bwMode="auto">
          <a:xfrm>
            <a:off x="7903499" y="4885887"/>
            <a:ext cx="1601433" cy="608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2"/>
          <p:cNvPicPr>
            <a:picLocks noChangeAspect="1" noChangeArrowheads="1"/>
          </p:cNvPicPr>
          <p:nvPr/>
        </p:nvPicPr>
        <p:blipFill>
          <a:blip r:embed="rId6">
            <a:extLst>
              <a:ext uri="{28A0092B-C50C-407E-A947-70E740481C1C}">
                <a14:useLocalDpi xmlns:a14="http://schemas.microsoft.com/office/drawing/2010/main"/>
              </a:ext>
            </a:extLst>
          </a:blip>
          <a:srcRect/>
          <a:stretch>
            <a:fillRect/>
          </a:stretch>
        </p:blipFill>
        <p:spPr bwMode="auto">
          <a:xfrm>
            <a:off x="7899861" y="5595349"/>
            <a:ext cx="1601433" cy="6089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1" name="Google Shape;282;g104476d1465_1_17">
            <a:extLst>
              <a:ext uri="{FF2B5EF4-FFF2-40B4-BE49-F238E27FC236}">
                <a16:creationId xmlns:a16="http://schemas.microsoft.com/office/drawing/2014/main" id="{FE0879CE-2DE4-01E5-386A-78FC3D8C8A93}"/>
              </a:ext>
            </a:extLst>
          </p:cNvPr>
          <p:cNvSpPr txBox="1"/>
          <p:nvPr/>
        </p:nvSpPr>
        <p:spPr>
          <a:xfrm>
            <a:off x="8908141" y="6469331"/>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41</a:t>
            </a:r>
            <a:endParaRPr i="1" dirty="0">
              <a:latin typeface="Calibri"/>
              <a:ea typeface="Calibri"/>
              <a:cs typeface="Calibri"/>
              <a:sym typeface="Calibri"/>
            </a:endParaRPr>
          </a:p>
        </p:txBody>
      </p:sp>
      <p:pic>
        <p:nvPicPr>
          <p:cNvPr id="12" name="Google Shape;283;g104476d1465_1_17">
            <a:extLst>
              <a:ext uri="{FF2B5EF4-FFF2-40B4-BE49-F238E27FC236}">
                <a16:creationId xmlns:a16="http://schemas.microsoft.com/office/drawing/2014/main" id="{AF954F59-C19B-3D56-5C7B-A42FF8ED8852}"/>
              </a:ext>
            </a:extLst>
          </p:cNvPr>
          <p:cNvPicPr preferRelativeResize="0"/>
          <p:nvPr/>
        </p:nvPicPr>
        <p:blipFill>
          <a:blip r:embed="rId7" cstate="screen">
            <a:alphaModFix/>
            <a:extLst>
              <a:ext uri="{28A0092B-C50C-407E-A947-70E740481C1C}">
                <a14:useLocalDpi xmlns:a14="http://schemas.microsoft.com/office/drawing/2010/main"/>
              </a:ext>
            </a:extLst>
          </a:blip>
          <a:stretch>
            <a:fillRect/>
          </a:stretch>
        </p:blipFill>
        <p:spPr>
          <a:xfrm>
            <a:off x="11533433"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04951153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pic>
        <p:nvPicPr>
          <p:cNvPr id="1027" name="Picture 3"/>
          <p:cNvPicPr>
            <a:picLocks noChangeAspect="1" noChangeArrowheads="1"/>
          </p:cNvPicPr>
          <p:nvPr/>
        </p:nvPicPr>
        <p:blipFill>
          <a:blip r:embed="rId3">
            <a:extLst>
              <a:ext uri="{28A0092B-C50C-407E-A947-70E740481C1C}">
                <a14:useLocalDpi xmlns:a14="http://schemas.microsoft.com/office/drawing/2010/main"/>
              </a:ext>
            </a:extLst>
          </a:blip>
          <a:srcRect/>
          <a:stretch>
            <a:fillRect/>
          </a:stretch>
        </p:blipFill>
        <p:spPr bwMode="auto">
          <a:xfrm>
            <a:off x="2678363" y="2009635"/>
            <a:ext cx="2518860" cy="55151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0" name="TextBox 9">
            <a:extLst>
              <a:ext uri="{FF2B5EF4-FFF2-40B4-BE49-F238E27FC236}">
                <a16:creationId xmlns:a16="http://schemas.microsoft.com/office/drawing/2014/main" id="{E44DF7DE-9172-3E4E-B74A-7A51585FB6EA}"/>
              </a:ext>
            </a:extLst>
          </p:cNvPr>
          <p:cNvSpPr txBox="1"/>
          <p:nvPr/>
        </p:nvSpPr>
        <p:spPr>
          <a:xfrm>
            <a:off x="974520" y="398148"/>
            <a:ext cx="9718880" cy="2146037"/>
          </a:xfrm>
          <a:prstGeom prst="rect">
            <a:avLst/>
          </a:prstGeom>
          <a:noFill/>
        </p:spPr>
        <p:txBody>
          <a:bodyPr wrap="square" rtlCol="0">
            <a:spAutoFit/>
          </a:bodyPr>
          <a:lstStyle/>
          <a:p>
            <a:pPr marL="457200" indent="-457200">
              <a:buFont typeface="+mj-lt"/>
              <a:buAutoNum type="arabicPeriod" startAt="3"/>
            </a:pPr>
            <a:r>
              <a:rPr lang="en-US" sz="2000" dirty="0">
                <a:latin typeface="Verdana" panose="020B0604030504040204" pitchFamily="34" charset="0"/>
                <a:ea typeface="Verdana" panose="020B0604030504040204" pitchFamily="34" charset="0"/>
                <a:cs typeface="Verdana" panose="020B0604030504040204" pitchFamily="34" charset="0"/>
              </a:rPr>
              <a:t>Which equivalent radical expression above can be rewritten in the form of an </a:t>
            </a:r>
            <a:r>
              <a:rPr lang="en-US" sz="2000" b="1" dirty="0">
                <a:latin typeface="Verdana" panose="020B0604030504040204" pitchFamily="34" charset="0"/>
                <a:ea typeface="Verdana" panose="020B0604030504040204" pitchFamily="34" charset="0"/>
                <a:cs typeface="Verdana" panose="020B0604030504040204" pitchFamily="34" charset="0"/>
              </a:rPr>
              <a:t>integer</a:t>
            </a:r>
            <a:r>
              <a:rPr lang="en-US" sz="2000" dirty="0">
                <a:latin typeface="Verdana" panose="020B0604030504040204" pitchFamily="34" charset="0"/>
                <a:ea typeface="Verdana" panose="020B0604030504040204" pitchFamily="34" charset="0"/>
                <a:cs typeface="Verdana" panose="020B0604030504040204" pitchFamily="34" charset="0"/>
              </a:rPr>
              <a:t> multiplied by a </a:t>
            </a:r>
            <a:r>
              <a:rPr lang="en-US" sz="2000" b="1" dirty="0">
                <a:latin typeface="Verdana" panose="020B0604030504040204" pitchFamily="34" charset="0"/>
                <a:ea typeface="Verdana" panose="020B0604030504040204" pitchFamily="34" charset="0"/>
                <a:cs typeface="Verdana" panose="020B0604030504040204" pitchFamily="34" charset="0"/>
              </a:rPr>
              <a:t>radical</a:t>
            </a:r>
            <a:r>
              <a:rPr lang="en-US" sz="2000" dirty="0">
                <a:latin typeface="Verdana" panose="020B0604030504040204" pitchFamily="34" charset="0"/>
                <a:ea typeface="Verdana" panose="020B0604030504040204" pitchFamily="34" charset="0"/>
                <a:cs typeface="Verdana" panose="020B0604030504040204" pitchFamily="34" charset="0"/>
              </a:rPr>
              <a:t>? </a:t>
            </a:r>
          </a:p>
          <a:p>
            <a:pPr lvl="0"/>
            <a:endParaRPr lang="en-US" sz="2000" dirty="0">
              <a:latin typeface="Verdana" panose="020B0604030504040204" pitchFamily="34" charset="0"/>
              <a:ea typeface="Verdana" panose="020B0604030504040204" pitchFamily="34" charset="0"/>
              <a:cs typeface="Verdana" panose="020B0604030504040204" pitchFamily="34" charset="0"/>
            </a:endParaRPr>
          </a:p>
          <a:p>
            <a:pPr marL="463550" indent="-6350">
              <a:lnSpc>
                <a:spcPct val="200000"/>
              </a:lnSpc>
            </a:pPr>
            <a:r>
              <a:rPr lang="en-US" sz="2000" dirty="0">
                <a:latin typeface="Verdana" panose="020B0604030504040204" pitchFamily="34" charset="0"/>
                <a:ea typeface="Verdana" panose="020B0604030504040204" pitchFamily="34" charset="0"/>
                <a:cs typeface="Verdana" panose="020B0604030504040204" pitchFamily="34" charset="0"/>
              </a:rPr>
              <a:t>						       because </a:t>
            </a:r>
            <a:r>
              <a:rPr lang="en-US" sz="2000" b="1" dirty="0">
                <a:latin typeface="Verdana" panose="020B0604030504040204" pitchFamily="34" charset="0"/>
                <a:ea typeface="Verdana" panose="020B0604030504040204" pitchFamily="34" charset="0"/>
                <a:cs typeface="Verdana" panose="020B0604030504040204" pitchFamily="34" charset="0"/>
              </a:rPr>
              <a:t>_____</a:t>
            </a:r>
            <a:r>
              <a:rPr lang="en-US" sz="2000" dirty="0">
                <a:latin typeface="Verdana" panose="020B0604030504040204" pitchFamily="34" charset="0"/>
                <a:ea typeface="Verdana" panose="020B0604030504040204" pitchFamily="34" charset="0"/>
                <a:cs typeface="Verdana" panose="020B0604030504040204" pitchFamily="34" charset="0"/>
              </a:rPr>
              <a:t> is a perfect square,</a:t>
            </a:r>
          </a:p>
        </p:txBody>
      </p:sp>
      <p:pic>
        <p:nvPicPr>
          <p:cNvPr id="1026" name="Picture 2"/>
          <p:cNvPicPr>
            <a:picLocks noChangeAspect="1" noChangeArrowheads="1"/>
          </p:cNvPicPr>
          <p:nvPr/>
        </p:nvPicPr>
        <p:blipFill>
          <a:blip r:embed="rId4">
            <a:extLst>
              <a:ext uri="{28A0092B-C50C-407E-A947-70E740481C1C}">
                <a14:useLocalDpi xmlns:a14="http://schemas.microsoft.com/office/drawing/2010/main"/>
              </a:ext>
            </a:extLst>
          </a:blip>
          <a:srcRect/>
          <a:stretch>
            <a:fillRect/>
          </a:stretch>
        </p:blipFill>
        <p:spPr bwMode="auto">
          <a:xfrm>
            <a:off x="1283475" y="1336514"/>
            <a:ext cx="4918138" cy="6222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78" name="Google Shape;278;g104476d1465_1_17"/>
          <p:cNvSpPr/>
          <p:nvPr/>
        </p:nvSpPr>
        <p:spPr>
          <a:xfrm>
            <a:off x="0" y="-8225"/>
            <a:ext cx="223200" cy="6866100"/>
          </a:xfrm>
          <a:prstGeom prst="rect">
            <a:avLst/>
          </a:prstGeom>
          <a:solidFill>
            <a:srgbClr val="F26763"/>
          </a:solidFill>
          <a:ln w="9525" cap="flat" cmpd="sng">
            <a:solidFill>
              <a:srgbClr val="F26763"/>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282;g104476d1465_1_17">
            <a:extLst>
              <a:ext uri="{FF2B5EF4-FFF2-40B4-BE49-F238E27FC236}">
                <a16:creationId xmlns:a16="http://schemas.microsoft.com/office/drawing/2014/main" id="{91A14ACD-5AC7-0D70-0613-4A225B8FB144}"/>
              </a:ext>
            </a:extLst>
          </p:cNvPr>
          <p:cNvSpPr txBox="1"/>
          <p:nvPr/>
        </p:nvSpPr>
        <p:spPr>
          <a:xfrm>
            <a:off x="8908141" y="6469331"/>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41</a:t>
            </a:r>
            <a:endParaRPr i="1" dirty="0">
              <a:latin typeface="Calibri"/>
              <a:ea typeface="Calibri"/>
              <a:cs typeface="Calibri"/>
              <a:sym typeface="Calibri"/>
            </a:endParaRPr>
          </a:p>
        </p:txBody>
      </p:sp>
      <p:pic>
        <p:nvPicPr>
          <p:cNvPr id="9" name="Google Shape;283;g104476d1465_1_17">
            <a:extLst>
              <a:ext uri="{FF2B5EF4-FFF2-40B4-BE49-F238E27FC236}">
                <a16:creationId xmlns:a16="http://schemas.microsoft.com/office/drawing/2014/main" id="{238F2015-5C5C-A295-6C64-88909541EBC3}"/>
              </a:ext>
            </a:extLst>
          </p:cNvPr>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33433"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78958567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26763"/>
          </a:solidFill>
          <a:ln w="9525" cap="flat" cmpd="sng">
            <a:solidFill>
              <a:srgbClr val="F26763"/>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4998450" y="2766145"/>
            <a:ext cx="4480750" cy="1325700"/>
          </a:xfrm>
          <a:prstGeom prst="rect">
            <a:avLst/>
          </a:prstGeom>
          <a:noFill/>
          <a:ln>
            <a:noFill/>
          </a:ln>
        </p:spPr>
        <p:txBody>
          <a:bodyPr spcFirstLastPara="1" wrap="square" lIns="91425" tIns="45700" rIns="91425" bIns="45700" anchor="ctr" anchorCtr="0">
            <a:normAutofit fontScale="90000"/>
          </a:bodyPr>
          <a:lstStyle/>
          <a:p>
            <a:pPr algn="ctr">
              <a:buClr>
                <a:schemeClr val="lt1"/>
              </a:buClr>
              <a:buSzPts val="4800"/>
            </a:pPr>
            <a:r>
              <a:rPr lang="en-US" sz="5500" b="1" dirty="0">
                <a:solidFill>
                  <a:srgbClr val="54B5D1"/>
                </a:solidFill>
                <a:latin typeface="Verdana"/>
                <a:ea typeface="Verdana"/>
                <a:cs typeface="Verdana"/>
                <a:sym typeface="Verdana"/>
              </a:rPr>
              <a:t>Guided Instruction</a:t>
            </a:r>
            <a:endParaRPr sz="5100" b="1" dirty="0">
              <a:solidFill>
                <a:srgbClr val="54B5D1"/>
              </a:solidFill>
              <a:latin typeface="Verdana"/>
              <a:ea typeface="Verdana"/>
              <a:cs typeface="Verdana"/>
              <a:sym typeface="Verdana"/>
            </a:endParaRPr>
          </a:p>
        </p:txBody>
      </p:sp>
      <p:pic>
        <p:nvPicPr>
          <p:cNvPr id="7" name="image2.png" descr="Icon&#10;&#10;Description automatically generated">
            <a:extLst>
              <a:ext uri="{FF2B5EF4-FFF2-40B4-BE49-F238E27FC236}">
                <a16:creationId xmlns:a16="http://schemas.microsoft.com/office/drawing/2014/main" id="{A0C9CE80-D3A7-D940-AF48-0848EE880F56}"/>
              </a:ext>
            </a:extLst>
          </p:cNvPr>
          <p:cNvPicPr/>
          <p:nvPr/>
        </p:nvPicPr>
        <p:blipFill>
          <a:blip r:embed="rId3"/>
          <a:srcRect/>
          <a:stretch>
            <a:fillRect/>
          </a:stretch>
        </p:blipFill>
        <p:spPr>
          <a:xfrm>
            <a:off x="3285750" y="2849920"/>
            <a:ext cx="1158150" cy="1158150"/>
          </a:xfrm>
          <a:prstGeom prst="rect">
            <a:avLst/>
          </a:prstGeom>
          <a:ln/>
          <a:effectLst>
            <a:outerShdw blurRad="50800" dist="38100" dir="2700000" algn="tl" rotWithShape="0">
              <a:prstClr val="black">
                <a:alpha val="40000"/>
              </a:prstClr>
            </a:outerShdw>
          </a:effectLst>
        </p:spPr>
      </p:pic>
      <p:sp>
        <p:nvSpPr>
          <p:cNvPr id="9" name="Google Shape;282;g104476d1465_1_17">
            <a:extLst>
              <a:ext uri="{FF2B5EF4-FFF2-40B4-BE49-F238E27FC236}">
                <a16:creationId xmlns:a16="http://schemas.microsoft.com/office/drawing/2014/main" id="{2EF9EBDB-9F88-FCD8-4AE8-CF286297B50A}"/>
              </a:ext>
            </a:extLst>
          </p:cNvPr>
          <p:cNvSpPr txBox="1"/>
          <p:nvPr/>
        </p:nvSpPr>
        <p:spPr>
          <a:xfrm>
            <a:off x="8908141" y="6469331"/>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42</a:t>
            </a:r>
            <a:endParaRPr i="1" dirty="0">
              <a:latin typeface="Calibri"/>
              <a:ea typeface="Calibri"/>
              <a:cs typeface="Calibri"/>
              <a:sym typeface="Calibri"/>
            </a:endParaRPr>
          </a:p>
        </p:txBody>
      </p:sp>
      <p:pic>
        <p:nvPicPr>
          <p:cNvPr id="10" name="Google Shape;283;g104476d1465_1_17">
            <a:extLst>
              <a:ext uri="{FF2B5EF4-FFF2-40B4-BE49-F238E27FC236}">
                <a16:creationId xmlns:a16="http://schemas.microsoft.com/office/drawing/2014/main" id="{EA83108B-F68A-6879-3F71-CFE9F1883058}"/>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3433"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1518889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11875"/>
            <a:ext cx="223200" cy="6866100"/>
          </a:xfrm>
          <a:prstGeom prst="rect">
            <a:avLst/>
          </a:prstGeom>
          <a:solidFill>
            <a:srgbClr val="F26763"/>
          </a:solidFill>
          <a:ln w="9525" cap="flat" cmpd="sng">
            <a:solidFill>
              <a:srgbClr val="F26763"/>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405152" y="62881"/>
            <a:ext cx="9532021" cy="91653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200" b="1" dirty="0">
                <a:solidFill>
                  <a:srgbClr val="54B5D1"/>
                </a:solidFill>
                <a:latin typeface="Verdana"/>
                <a:ea typeface="Verdana"/>
                <a:cs typeface="Verdana"/>
                <a:sym typeface="Verdana"/>
              </a:rPr>
              <a:t>1.8.3 Guided Instruction: Equivalent Radical Expressions</a:t>
            </a:r>
          </a:p>
        </p:txBody>
      </p:sp>
      <mc:AlternateContent xmlns:mc="http://schemas.openxmlformats.org/markup-compatibility/2006">
        <mc:Choice xmlns:a14="http://schemas.microsoft.com/office/drawing/2010/main" Requires="a14">
          <p:sp>
            <p:nvSpPr>
              <p:cNvPr id="4" name="Rectangle 3">
                <a:extLst>
                  <a:ext uri="{FF2B5EF4-FFF2-40B4-BE49-F238E27FC236}">
                    <a16:creationId xmlns:a16="http://schemas.microsoft.com/office/drawing/2014/main" id="{FE208A00-51E7-C544-ABDE-AE9DC3DAAB4C}"/>
                  </a:ext>
                </a:extLst>
              </p:cNvPr>
              <p:cNvSpPr>
                <a:spLocks noChangeArrowheads="1"/>
              </p:cNvSpPr>
              <p:nvPr/>
            </p:nvSpPr>
            <p:spPr bwMode="auto">
              <a:xfrm>
                <a:off x="914400" y="1243616"/>
                <a:ext cx="9753600" cy="3785652"/>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lvl="0" eaLnBrk="0" fontAlgn="base" hangingPunct="0">
                  <a:spcBef>
                    <a:spcPct val="0"/>
                  </a:spcBef>
                  <a:spcAft>
                    <a:spcPct val="0"/>
                  </a:spcAft>
                  <a:buClrTx/>
                </a:pP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Recall the </a:t>
                </a:r>
                <a:r>
                  <a:rPr lang="en-US" altLang="en-US" sz="2400" b="1" i="1"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power of a product</a:t>
                </a:r>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law of exponents. It states the product of two or more numbers raised to a power is equal to the product of each number raised to the same power.</a:t>
                </a:r>
              </a:p>
              <a:p>
                <a:pPr lvl="0" eaLnBrk="0" fontAlgn="base" hangingPunct="0">
                  <a:spcBef>
                    <a:spcPct val="0"/>
                  </a:spcBef>
                  <a:spcAft>
                    <a:spcPct val="0"/>
                  </a:spcAft>
                  <a:buClrTx/>
                </a:pPr>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algn="ctr" eaLnBrk="0" fontAlgn="base" hangingPunct="0">
                  <a:spcBef>
                    <a:spcPct val="0"/>
                  </a:spcBef>
                  <a:spcAft>
                    <a:spcPct val="0"/>
                  </a:spcAft>
                  <a:buClrTx/>
                </a:pPr>
                <a14:m>
                  <m:oMath xmlns:m="http://schemas.openxmlformats.org/officeDocument/2006/math">
                    <m:sSup>
                      <m:sSupPr>
                        <m:ctrlPr>
                          <a:rPr lang="en-US" altLang="en-US" sz="2400" i="1" dirty="0">
                            <a:solidFill>
                              <a:schemeClr val="tx1"/>
                            </a:solidFill>
                            <a:latin typeface="Cambria Math" panose="02040503050406030204" pitchFamily="18" charset="0"/>
                            <a:cs typeface="Times New Roman" panose="02020603050405020304" pitchFamily="18" charset="0"/>
                          </a:rPr>
                        </m:ctrlPr>
                      </m:sSupPr>
                      <m:e>
                        <m:d>
                          <m:dPr>
                            <m:ctrlPr>
                              <a:rPr lang="en-US" altLang="en-US" sz="2400" i="1" dirty="0">
                                <a:solidFill>
                                  <a:schemeClr val="tx1"/>
                                </a:solidFill>
                                <a:latin typeface="Cambria Math" panose="02040503050406030204" pitchFamily="18" charset="0"/>
                                <a:cs typeface="Times New Roman" panose="02020603050405020304" pitchFamily="18" charset="0"/>
                              </a:rPr>
                            </m:ctrlPr>
                          </m:dPr>
                          <m:e>
                            <m:r>
                              <a:rPr lang="es-ES" altLang="en-US" sz="2400" i="1" dirty="0">
                                <a:solidFill>
                                  <a:schemeClr val="tx1"/>
                                </a:solidFill>
                                <a:latin typeface="Cambria Math" panose="02040503050406030204" pitchFamily="18" charset="0"/>
                                <a:cs typeface="Times New Roman" panose="02020603050405020304" pitchFamily="18" charset="0"/>
                              </a:rPr>
                              <m:t>𝑎𝑏</m:t>
                            </m:r>
                          </m:e>
                        </m:d>
                      </m:e>
                      <m:sup>
                        <m:r>
                          <a:rPr lang="es-ES" altLang="en-US" sz="2400" i="1" dirty="0">
                            <a:solidFill>
                              <a:schemeClr val="tx1"/>
                            </a:solidFill>
                            <a:latin typeface="Cambria Math" panose="02040503050406030204" pitchFamily="18" charset="0"/>
                            <a:cs typeface="Times New Roman" panose="02020603050405020304" pitchFamily="18" charset="0"/>
                          </a:rPr>
                          <m:t>𝑚</m:t>
                        </m:r>
                      </m:sup>
                    </m:sSup>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 </m:t>
                    </m:r>
                    <m:sSup>
                      <m:sSupPr>
                        <m:ctrlPr>
                          <a:rPr lang="en-US" altLang="en-US" sz="2400" i="1" dirty="0">
                            <a:solidFill>
                              <a:schemeClr val="tx1"/>
                            </a:solidFill>
                            <a:latin typeface="Cambria Math" panose="02040503050406030204" pitchFamily="18" charset="0"/>
                            <a:cs typeface="Times New Roman" panose="02020603050405020304" pitchFamily="18" charset="0"/>
                          </a:rPr>
                        </m:ctrlPr>
                      </m:sSupPr>
                      <m:e>
                        <m:r>
                          <a:rPr lang="es-ES" altLang="en-US" sz="2400" i="1" dirty="0">
                            <a:solidFill>
                              <a:schemeClr val="tx1"/>
                            </a:solidFill>
                            <a:latin typeface="Cambria Math" panose="02040503050406030204" pitchFamily="18" charset="0"/>
                            <a:cs typeface="Times New Roman" panose="02020603050405020304" pitchFamily="18" charset="0"/>
                          </a:rPr>
                          <m:t>𝑎</m:t>
                        </m:r>
                      </m:e>
                      <m:sup>
                        <m:r>
                          <a:rPr lang="es-ES" altLang="en-US" sz="2400" i="1" dirty="0">
                            <a:solidFill>
                              <a:schemeClr val="tx1"/>
                            </a:solidFill>
                            <a:latin typeface="Cambria Math" panose="02040503050406030204" pitchFamily="18" charset="0"/>
                            <a:cs typeface="Times New Roman" panose="02020603050405020304" pitchFamily="18" charset="0"/>
                          </a:rPr>
                          <m:t>𝑚</m:t>
                        </m:r>
                      </m:sup>
                    </m:sSup>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US" altLang="en-US" sz="2400" i="1" dirty="0">
                            <a:solidFill>
                              <a:schemeClr val="tx1"/>
                            </a:solidFill>
                            <a:latin typeface="Cambria Math" panose="02040503050406030204" pitchFamily="18" charset="0"/>
                            <a:cs typeface="Times New Roman" panose="02020603050405020304" pitchFamily="18" charset="0"/>
                          </a:rPr>
                        </m:ctrlPr>
                      </m:sSupPr>
                      <m:e>
                        <m:r>
                          <a:rPr lang="es-ES" altLang="en-US" sz="2400" i="1" dirty="0">
                            <a:solidFill>
                              <a:schemeClr val="tx1"/>
                            </a:solidFill>
                            <a:latin typeface="Cambria Math" panose="02040503050406030204" pitchFamily="18" charset="0"/>
                            <a:cs typeface="Times New Roman" panose="02020603050405020304" pitchFamily="18" charset="0"/>
                          </a:rPr>
                          <m:t>𝑏</m:t>
                        </m:r>
                      </m:e>
                      <m:sup>
                        <m:r>
                          <a:rPr lang="es-ES" altLang="en-US" sz="2400" i="1" dirty="0">
                            <a:solidFill>
                              <a:schemeClr val="tx1"/>
                            </a:solidFill>
                            <a:latin typeface="Cambria Math" panose="02040503050406030204" pitchFamily="18" charset="0"/>
                            <a:cs typeface="Times New Roman" panose="02020603050405020304" pitchFamily="18" charset="0"/>
                          </a:rPr>
                          <m:t>𝑚</m:t>
                        </m:r>
                      </m:sup>
                    </m:sSup>
                  </m:oMath>
                </a14:m>
                <a:r>
                  <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rPr>
                  <a:t>  or  </a:t>
                </a:r>
                <a14:m>
                  <m:oMath xmlns:m="http://schemas.openxmlformats.org/officeDocument/2006/math">
                    <m:sSup>
                      <m:sSupPr>
                        <m:ctrlPr>
                          <a:rPr lang="en-US" altLang="en-US" sz="2400" i="1" dirty="0">
                            <a:solidFill>
                              <a:schemeClr val="tx1"/>
                            </a:solidFill>
                            <a:latin typeface="Cambria Math" panose="02040503050406030204" pitchFamily="18" charset="0"/>
                            <a:cs typeface="Times New Roman" panose="02020603050405020304" pitchFamily="18" charset="0"/>
                          </a:rPr>
                        </m:ctrlPr>
                      </m:sSupPr>
                      <m:e>
                        <m:r>
                          <a:rPr lang="es-ES" altLang="en-US" sz="2400" i="1" dirty="0">
                            <a:solidFill>
                              <a:schemeClr val="tx1"/>
                            </a:solidFill>
                            <a:latin typeface="Cambria Math" panose="02040503050406030204" pitchFamily="18" charset="0"/>
                            <a:cs typeface="Times New Roman" panose="02020603050405020304" pitchFamily="18" charset="0"/>
                          </a:rPr>
                          <m:t>𝑎</m:t>
                        </m:r>
                      </m:e>
                      <m:sup>
                        <m:r>
                          <a:rPr lang="es-ES" altLang="en-US" sz="2400" i="1" dirty="0">
                            <a:solidFill>
                              <a:schemeClr val="tx1"/>
                            </a:solidFill>
                            <a:latin typeface="Cambria Math" panose="02040503050406030204" pitchFamily="18" charset="0"/>
                            <a:cs typeface="Times New Roman" panose="02020603050405020304" pitchFamily="18" charset="0"/>
                          </a:rPr>
                          <m:t>𝑚</m:t>
                        </m:r>
                      </m:sup>
                    </m:sSup>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US" altLang="en-US" sz="2400" i="1" dirty="0">
                            <a:solidFill>
                              <a:schemeClr val="tx1"/>
                            </a:solidFill>
                            <a:latin typeface="Cambria Math" panose="02040503050406030204" pitchFamily="18" charset="0"/>
                            <a:cs typeface="Times New Roman" panose="02020603050405020304" pitchFamily="18" charset="0"/>
                          </a:rPr>
                        </m:ctrlPr>
                      </m:sSupPr>
                      <m:e>
                        <m:r>
                          <a:rPr lang="es-ES" altLang="en-US" sz="2400" i="1" dirty="0">
                            <a:solidFill>
                              <a:schemeClr val="tx1"/>
                            </a:solidFill>
                            <a:latin typeface="Cambria Math" panose="02040503050406030204" pitchFamily="18" charset="0"/>
                            <a:cs typeface="Times New Roman" panose="02020603050405020304" pitchFamily="18" charset="0"/>
                          </a:rPr>
                          <m:t>𝑏</m:t>
                        </m:r>
                      </m:e>
                      <m:sup>
                        <m:r>
                          <a:rPr lang="es-ES" altLang="en-US" sz="2400" i="1" dirty="0">
                            <a:solidFill>
                              <a:schemeClr val="tx1"/>
                            </a:solidFill>
                            <a:latin typeface="Cambria Math" panose="02040503050406030204" pitchFamily="18" charset="0"/>
                            <a:cs typeface="Times New Roman" panose="02020603050405020304" pitchFamily="18" charset="0"/>
                          </a:rPr>
                          <m:t>𝑚</m:t>
                        </m:r>
                      </m:sup>
                    </m:sSup>
                    <m:r>
                      <a:rPr lang="en-US" altLang="en-US" sz="2400" i="1" dirty="0">
                        <a:solidFill>
                          <a:schemeClr val="tx1"/>
                        </a:solidFill>
                        <a:latin typeface="Cambria Math" panose="02040503050406030204" pitchFamily="18" charset="0"/>
                        <a:ea typeface="Times New Roman" panose="02020603050405020304" pitchFamily="18" charset="0"/>
                        <a:cs typeface="Times New Roman" panose="02020603050405020304" pitchFamily="18" charset="0"/>
                      </a:rPr>
                      <m:t>=</m:t>
                    </m:r>
                    <m:sSup>
                      <m:sSupPr>
                        <m:ctrlPr>
                          <a:rPr lang="en-US" altLang="en-US" sz="2400" i="1" dirty="0">
                            <a:solidFill>
                              <a:schemeClr val="tx1"/>
                            </a:solidFill>
                            <a:latin typeface="Cambria Math" panose="02040503050406030204" pitchFamily="18" charset="0"/>
                            <a:cs typeface="Times New Roman" panose="02020603050405020304" pitchFamily="18" charset="0"/>
                          </a:rPr>
                        </m:ctrlPr>
                      </m:sSupPr>
                      <m:e>
                        <m:d>
                          <m:dPr>
                            <m:ctrlPr>
                              <a:rPr lang="en-US" altLang="en-US" sz="2400" i="1" dirty="0">
                                <a:solidFill>
                                  <a:schemeClr val="tx1"/>
                                </a:solidFill>
                                <a:latin typeface="Cambria Math" panose="02040503050406030204" pitchFamily="18" charset="0"/>
                                <a:cs typeface="Times New Roman" panose="02020603050405020304" pitchFamily="18" charset="0"/>
                              </a:rPr>
                            </m:ctrlPr>
                          </m:dPr>
                          <m:e>
                            <m:r>
                              <a:rPr lang="es-ES" altLang="en-US" sz="2400" i="1" dirty="0">
                                <a:solidFill>
                                  <a:schemeClr val="tx1"/>
                                </a:solidFill>
                                <a:latin typeface="Cambria Math" panose="02040503050406030204" pitchFamily="18" charset="0"/>
                                <a:cs typeface="Times New Roman" panose="02020603050405020304" pitchFamily="18" charset="0"/>
                              </a:rPr>
                              <m:t>𝑎𝑏</m:t>
                            </m:r>
                          </m:e>
                        </m:d>
                      </m:e>
                      <m:sup>
                        <m:r>
                          <a:rPr lang="es-ES" altLang="en-US" sz="2400" i="1" dirty="0">
                            <a:solidFill>
                              <a:schemeClr val="tx1"/>
                            </a:solidFill>
                            <a:latin typeface="Cambria Math" panose="02040503050406030204" pitchFamily="18" charset="0"/>
                            <a:cs typeface="Times New Roman" panose="02020603050405020304" pitchFamily="18" charset="0"/>
                          </a:rPr>
                          <m:t>𝑚</m:t>
                        </m:r>
                      </m:sup>
                    </m:sSup>
                  </m:oMath>
                </a14:m>
                <a:endParaRPr lang="en-US" altLang="en-US" sz="2400" dirty="0">
                  <a:solidFill>
                    <a:schemeClr val="tx1"/>
                  </a:solidFill>
                  <a:latin typeface="Verdana" panose="020B0604030504040204" pitchFamily="34" charset="0"/>
                  <a:ea typeface="Times New Roman" panose="02020603050405020304" pitchFamily="18" charset="0"/>
                  <a:cs typeface="Times New Roman" panose="02020603050405020304" pitchFamily="18" charset="0"/>
                </a:endParaRPr>
              </a:p>
              <a:p>
                <a:pPr eaLnBrk="0" fontAlgn="base" hangingPunct="0">
                  <a:spcBef>
                    <a:spcPct val="0"/>
                  </a:spcBef>
                  <a:spcAft>
                    <a:spcPct val="0"/>
                  </a:spcAft>
                  <a:buClrTx/>
                </a:pPr>
                <a:endParaRPr lang="en-US" sz="2400" dirty="0">
                  <a:latin typeface="Verdana" panose="020B0604030504040204" pitchFamily="34" charset="0"/>
                  <a:ea typeface="Verdana" panose="020B0604030504040204" pitchFamily="34" charset="0"/>
                  <a:cs typeface="Verdana" panose="020B0604030504040204" pitchFamily="34" charset="0"/>
                </a:endParaRPr>
              </a:p>
              <a:p>
                <a:pPr eaLnBrk="0" fontAlgn="base" hangingPunct="0">
                  <a:spcBef>
                    <a:spcPct val="0"/>
                  </a:spcBef>
                  <a:spcAft>
                    <a:spcPct val="0"/>
                  </a:spcAft>
                  <a:buClrTx/>
                </a:pPr>
                <a:r>
                  <a:rPr lang="en-US" sz="2400" dirty="0">
                    <a:latin typeface="Verdana" panose="020B0604030504040204" pitchFamily="34" charset="0"/>
                    <a:ea typeface="Verdana" panose="020B0604030504040204" pitchFamily="34" charset="0"/>
                    <a:cs typeface="Verdana" panose="020B0604030504040204" pitchFamily="34" charset="0"/>
                  </a:rPr>
                  <a:t>The </a:t>
                </a:r>
                <a:r>
                  <a:rPr lang="en-US" sz="2400" b="1" i="1" dirty="0">
                    <a:latin typeface="Verdana" panose="020B0604030504040204" pitchFamily="34" charset="0"/>
                    <a:ea typeface="Verdana" panose="020B0604030504040204" pitchFamily="34" charset="0"/>
                    <a:cs typeface="Verdana" panose="020B0604030504040204" pitchFamily="34" charset="0"/>
                  </a:rPr>
                  <a:t>product law of radicals</a:t>
                </a:r>
                <a:r>
                  <a:rPr lang="en-US" sz="2400" dirty="0">
                    <a:latin typeface="Verdana" panose="020B0604030504040204" pitchFamily="34" charset="0"/>
                    <a:ea typeface="Verdana" panose="020B0604030504040204" pitchFamily="34" charset="0"/>
                    <a:cs typeface="Verdana" panose="020B0604030504040204" pitchFamily="34" charset="0"/>
                  </a:rPr>
                  <a:t> works similarly. Each of these equivalent expressions demonstrates the product law of radicals.</a:t>
                </a:r>
              </a:p>
            </p:txBody>
          </p:sp>
        </mc:Choice>
        <mc:Fallback>
          <p:sp>
            <p:nvSpPr>
              <p:cNvPr id="4" name="Rectangle 3">
                <a:extLst>
                  <a:ext uri="{FF2B5EF4-FFF2-40B4-BE49-F238E27FC236}">
                    <a16:creationId xmlns:a16="http://schemas.microsoft.com/office/drawing/2014/main" id="{FE208A00-51E7-C544-ABDE-AE9DC3DAAB4C}"/>
                  </a:ext>
                </a:extLst>
              </p:cNvPr>
              <p:cNvSpPr>
                <a:spLocks noRot="1" noChangeAspect="1" noMove="1" noResize="1" noEditPoints="1" noAdjustHandles="1" noChangeArrowheads="1" noChangeShapeType="1" noTextEdit="1"/>
              </p:cNvSpPr>
              <p:nvPr/>
            </p:nvSpPr>
            <p:spPr bwMode="auto">
              <a:xfrm>
                <a:off x="914400" y="1243616"/>
                <a:ext cx="9753600" cy="3785652"/>
              </a:xfrm>
              <a:prstGeom prst="rect">
                <a:avLst/>
              </a:prstGeom>
              <a:blipFill>
                <a:blip r:embed="rId3"/>
                <a:stretch>
                  <a:fillRect l="-938" t="-1288" b="-2738"/>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pic>
        <p:nvPicPr>
          <p:cNvPr id="9" name="image2.png" descr="Icon&#10;&#10;Description automatically generated">
            <a:extLst>
              <a:ext uri="{FF2B5EF4-FFF2-40B4-BE49-F238E27FC236}">
                <a16:creationId xmlns:a16="http://schemas.microsoft.com/office/drawing/2014/main" id="{EF739F6D-33B9-0249-801B-B1322B2ED366}"/>
              </a:ext>
            </a:extLst>
          </p:cNvPr>
          <p:cNvPicPr/>
          <p:nvPr/>
        </p:nvPicPr>
        <p:blipFill>
          <a:blip r:embed="rId4" cstate="screen">
            <a:extLst>
              <a:ext uri="{28A0092B-C50C-407E-A947-70E740481C1C}">
                <a14:useLocalDpi xmlns:a14="http://schemas.microsoft.com/office/drawing/2010/main"/>
              </a:ext>
            </a:extLst>
          </a:blip>
          <a:srcRect/>
          <a:stretch>
            <a:fillRect/>
          </a:stretch>
        </p:blipFill>
        <p:spPr>
          <a:xfrm>
            <a:off x="544153" y="147495"/>
            <a:ext cx="747302" cy="747302"/>
          </a:xfrm>
          <a:prstGeom prst="rect">
            <a:avLst/>
          </a:prstGeom>
          <a:ln/>
        </p:spPr>
      </p:pic>
      <mc:AlternateContent xmlns:mc="http://schemas.openxmlformats.org/markup-compatibility/2006">
        <mc:Choice xmlns:a14="http://schemas.microsoft.com/office/drawing/2010/main" Requires="a14">
          <p:graphicFrame>
            <p:nvGraphicFramePr>
              <p:cNvPr id="8" name="Table 7">
                <a:extLst>
                  <a:ext uri="{FF2B5EF4-FFF2-40B4-BE49-F238E27FC236}">
                    <a16:creationId xmlns:a16="http://schemas.microsoft.com/office/drawing/2014/main" id="{9CEAA43A-719E-2A43-B4DB-9DE95F1C2F48}"/>
                  </a:ext>
                </a:extLst>
              </p:cNvPr>
              <p:cNvGraphicFramePr>
                <a:graphicFrameLocks noGrp="1"/>
              </p:cNvGraphicFramePr>
              <p:nvPr>
                <p:extLst>
                  <p:ext uri="{D42A27DB-BD31-4B8C-83A1-F6EECF244321}">
                    <p14:modId xmlns:p14="http://schemas.microsoft.com/office/powerpoint/2010/main" val="1498249536"/>
                  </p:ext>
                </p:extLst>
              </p:nvPr>
            </p:nvGraphicFramePr>
            <p:xfrm>
              <a:off x="2776537" y="5205870"/>
              <a:ext cx="6029326" cy="1282256"/>
            </p:xfrm>
            <a:graphic>
              <a:graphicData uri="http://schemas.openxmlformats.org/drawingml/2006/table">
                <a:tbl>
                  <a:tblPr bandRow="1"/>
                  <a:tblGrid>
                    <a:gridCol w="3014663">
                      <a:extLst>
                        <a:ext uri="{9D8B030D-6E8A-4147-A177-3AD203B41FA5}">
                          <a16:colId xmlns:a16="http://schemas.microsoft.com/office/drawing/2014/main" val="1581968801"/>
                        </a:ext>
                      </a:extLst>
                    </a:gridCol>
                    <a:gridCol w="3014663">
                      <a:extLst>
                        <a:ext uri="{9D8B030D-6E8A-4147-A177-3AD203B41FA5}">
                          <a16:colId xmlns:a16="http://schemas.microsoft.com/office/drawing/2014/main" val="871310385"/>
                        </a:ext>
                      </a:extLst>
                    </a:gridCol>
                  </a:tblGrid>
                  <a:tr h="0">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ad>
                                  <m:radPr>
                                    <m:degHide m:val="on"/>
                                    <m:ctrlPr>
                                      <a:rPr lang="x-none" sz="2400" i="1">
                                        <a:effectLst/>
                                        <a:latin typeface="Cambria Math" panose="02040503050406030204" pitchFamily="18" charset="0"/>
                                        <a:ea typeface="Cambria Math" panose="02040503050406030204" pitchFamily="18" charset="0"/>
                                        <a:cs typeface="Cambria Math" panose="02040503050406030204" pitchFamily="18" charset="0"/>
                                      </a:rPr>
                                    </m:ctrlPr>
                                  </m:radPr>
                                  <m:deg/>
                                  <m:e>
                                    <m:r>
                                      <a:rPr lang="en-US" sz="2400" i="1">
                                        <a:effectLst/>
                                        <a:latin typeface="Cambria Math" panose="02040503050406030204" pitchFamily="18" charset="0"/>
                                        <a:ea typeface="Cambria Math" panose="02040503050406030204" pitchFamily="18" charset="0"/>
                                        <a:cs typeface="Cambria Math" panose="02040503050406030204" pitchFamily="18" charset="0"/>
                                      </a:rPr>
                                      <m:t>18</m:t>
                                    </m:r>
                                  </m:e>
                                </m:rad>
                                <m:r>
                                  <a:rPr lang="en-US" sz="2400" i="1">
                                    <a:effectLst/>
                                    <a:latin typeface="Cambria Math" panose="02040503050406030204" pitchFamily="18" charset="0"/>
                                    <a:ea typeface="Cambria Math" panose="02040503050406030204" pitchFamily="18" charset="0"/>
                                    <a:cs typeface="Cambria Math" panose="02040503050406030204" pitchFamily="18" charset="0"/>
                                  </a:rPr>
                                  <m:t>= </m:t>
                                </m:r>
                                <m:rad>
                                  <m:radPr>
                                    <m:degHide m:val="on"/>
                                    <m:ctrlPr>
                                      <a:rPr lang="x-none" sz="2400" i="1">
                                        <a:effectLst/>
                                        <a:latin typeface="Cambria Math" panose="02040503050406030204" pitchFamily="18" charset="0"/>
                                        <a:ea typeface="Cambria Math" panose="02040503050406030204" pitchFamily="18" charset="0"/>
                                        <a:cs typeface="Cambria Math" panose="02040503050406030204" pitchFamily="18" charset="0"/>
                                      </a:rPr>
                                    </m:ctrlPr>
                                  </m:radPr>
                                  <m:deg/>
                                  <m:e>
                                    <m:r>
                                      <a:rPr lang="en-US" sz="2400" i="1">
                                        <a:effectLst/>
                                        <a:latin typeface="Cambria Math" panose="02040503050406030204" pitchFamily="18" charset="0"/>
                                        <a:ea typeface="Cambria Math" panose="02040503050406030204" pitchFamily="18" charset="0"/>
                                        <a:cs typeface="Cambria Math" panose="02040503050406030204" pitchFamily="18" charset="0"/>
                                      </a:rPr>
                                      <m:t>6</m:t>
                                    </m:r>
                                  </m:e>
                                </m:rad>
                                <m:r>
                                  <a:rPr lang="en-US" sz="2400" i="1">
                                    <a:effectLst/>
                                    <a:latin typeface="Cambria Math" panose="02040503050406030204" pitchFamily="18" charset="0"/>
                                    <a:ea typeface="Cambria Math" panose="02040503050406030204" pitchFamily="18" charset="0"/>
                                    <a:cs typeface="Cambria Math" panose="02040503050406030204" pitchFamily="18" charset="0"/>
                                  </a:rPr>
                                  <m:t>∙</m:t>
                                </m:r>
                                <m:rad>
                                  <m:radPr>
                                    <m:degHide m:val="on"/>
                                    <m:ctrlPr>
                                      <a:rPr lang="x-none" sz="2400" i="1">
                                        <a:effectLst/>
                                        <a:latin typeface="Cambria Math" panose="02040503050406030204" pitchFamily="18" charset="0"/>
                                        <a:ea typeface="Cambria Math" panose="02040503050406030204" pitchFamily="18" charset="0"/>
                                        <a:cs typeface="Cambria Math" panose="02040503050406030204" pitchFamily="18" charset="0"/>
                                      </a:rPr>
                                    </m:ctrlPr>
                                  </m:radPr>
                                  <m:deg/>
                                  <m:e>
                                    <m:r>
                                      <a:rPr lang="en-US" sz="2400" i="1">
                                        <a:effectLst/>
                                        <a:latin typeface="Cambria Math" panose="02040503050406030204" pitchFamily="18" charset="0"/>
                                        <a:ea typeface="Cambria Math" panose="02040503050406030204" pitchFamily="18" charset="0"/>
                                        <a:cs typeface="Cambria Math" panose="02040503050406030204" pitchFamily="18" charset="0"/>
                                      </a:rPr>
                                      <m:t>3</m:t>
                                    </m:r>
                                  </m:e>
                                </m:rad>
                              </m:oMath>
                            </m:oMathPara>
                          </a14:m>
                          <a:endParaRPr lang="en-PH" sz="2400" dirty="0">
                            <a:effectLst/>
                            <a:latin typeface="Cambria Math" panose="02040503050406030204" pitchFamily="18" charset="0"/>
                            <a:ea typeface="Cambria Math" panose="02040503050406030204" pitchFamily="18" charset="0"/>
                            <a:cs typeface="Cambria Math" panose="02040503050406030204" pitchFamily="18" charset="0"/>
                          </a:endParaRPr>
                        </a:p>
                        <a:p>
                          <a:pPr marL="0" marR="0" algn="ctr">
                            <a:lnSpc>
                              <a:spcPct val="107000"/>
                            </a:lnSpc>
                            <a:spcBef>
                              <a:spcPts val="0"/>
                            </a:spcBef>
                            <a:spcAft>
                              <a:spcPts val="0"/>
                            </a:spcAft>
                          </a:pPr>
                          <a:endParaRPr lang="x-none" sz="2400">
                            <a:effectLst/>
                            <a:latin typeface="Cambria Math" panose="02040503050406030204" pitchFamily="18" charset="0"/>
                            <a:ea typeface="Cambria Math" panose="02040503050406030204" pitchFamily="18" charset="0"/>
                            <a:cs typeface="Cambria Math" panose="02040503050406030204" pitchFamily="18" charset="0"/>
                          </a:endParaRPr>
                        </a:p>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ad>
                                  <m:radPr>
                                    <m:degHide m:val="on"/>
                                    <m:ctrlPr>
                                      <a:rPr lang="x-none" sz="2400" i="1">
                                        <a:effectLst/>
                                        <a:latin typeface="Cambria Math" panose="02040503050406030204" pitchFamily="18" charset="0"/>
                                        <a:ea typeface="Cambria Math" panose="02040503050406030204" pitchFamily="18" charset="0"/>
                                        <a:cs typeface="Cambria Math" panose="02040503050406030204" pitchFamily="18" charset="0"/>
                                      </a:rPr>
                                    </m:ctrlPr>
                                  </m:radPr>
                                  <m:deg/>
                                  <m:e>
                                    <m:r>
                                      <a:rPr lang="en-US" sz="2400" i="1">
                                        <a:effectLst/>
                                        <a:latin typeface="Cambria Math" panose="02040503050406030204" pitchFamily="18" charset="0"/>
                                        <a:ea typeface="Cambria Math" panose="02040503050406030204" pitchFamily="18" charset="0"/>
                                        <a:cs typeface="Cambria Math" panose="02040503050406030204" pitchFamily="18" charset="0"/>
                                      </a:rPr>
                                      <m:t>18</m:t>
                                    </m:r>
                                  </m:e>
                                </m:rad>
                                <m:r>
                                  <a:rPr lang="en-US" sz="2400" i="1">
                                    <a:effectLst/>
                                    <a:latin typeface="Cambria Math" panose="02040503050406030204" pitchFamily="18" charset="0"/>
                                    <a:ea typeface="Cambria Math" panose="02040503050406030204" pitchFamily="18" charset="0"/>
                                    <a:cs typeface="Cambria Math" panose="02040503050406030204" pitchFamily="18" charset="0"/>
                                  </a:rPr>
                                  <m:t>= </m:t>
                                </m:r>
                                <m:rad>
                                  <m:radPr>
                                    <m:degHide m:val="on"/>
                                    <m:ctrlPr>
                                      <a:rPr lang="x-none" sz="2400" i="1">
                                        <a:effectLst/>
                                        <a:latin typeface="Cambria Math" panose="02040503050406030204" pitchFamily="18" charset="0"/>
                                        <a:ea typeface="Cambria Math" panose="02040503050406030204" pitchFamily="18" charset="0"/>
                                        <a:cs typeface="Cambria Math" panose="02040503050406030204" pitchFamily="18" charset="0"/>
                                      </a:rPr>
                                    </m:ctrlPr>
                                  </m:radPr>
                                  <m:deg/>
                                  <m:e>
                                    <m:r>
                                      <a:rPr lang="en-US" sz="2400" i="1">
                                        <a:effectLst/>
                                        <a:latin typeface="Cambria Math" panose="02040503050406030204" pitchFamily="18" charset="0"/>
                                        <a:ea typeface="Cambria Math" panose="02040503050406030204" pitchFamily="18" charset="0"/>
                                        <a:cs typeface="Cambria Math" panose="02040503050406030204" pitchFamily="18" charset="0"/>
                                      </a:rPr>
                                      <m:t>9</m:t>
                                    </m:r>
                                  </m:e>
                                </m:rad>
                                <m:r>
                                  <a:rPr lang="en-US" sz="2400" i="1">
                                    <a:effectLst/>
                                    <a:latin typeface="Cambria Math" panose="02040503050406030204" pitchFamily="18" charset="0"/>
                                    <a:ea typeface="Cambria Math" panose="02040503050406030204" pitchFamily="18" charset="0"/>
                                    <a:cs typeface="Cambria Math" panose="02040503050406030204" pitchFamily="18" charset="0"/>
                                  </a:rPr>
                                  <m:t>∙</m:t>
                                </m:r>
                                <m:rad>
                                  <m:radPr>
                                    <m:degHide m:val="on"/>
                                    <m:ctrlPr>
                                      <a:rPr lang="x-none" sz="2400" i="1">
                                        <a:effectLst/>
                                        <a:latin typeface="Cambria Math" panose="02040503050406030204" pitchFamily="18" charset="0"/>
                                        <a:ea typeface="Cambria Math" panose="02040503050406030204" pitchFamily="18" charset="0"/>
                                        <a:cs typeface="Cambria Math" panose="02040503050406030204" pitchFamily="18" charset="0"/>
                                      </a:rPr>
                                    </m:ctrlPr>
                                  </m:radPr>
                                  <m:deg/>
                                  <m:e>
                                    <m:r>
                                      <a:rPr lang="en-US" sz="2400" i="1">
                                        <a:effectLst/>
                                        <a:latin typeface="Cambria Math" panose="02040503050406030204" pitchFamily="18" charset="0"/>
                                        <a:ea typeface="Cambria Math" panose="02040503050406030204" pitchFamily="18" charset="0"/>
                                        <a:cs typeface="Cambria Math" panose="02040503050406030204" pitchFamily="18" charset="0"/>
                                      </a:rPr>
                                      <m:t>2</m:t>
                                    </m:r>
                                  </m:e>
                                </m:rad>
                              </m:oMath>
                            </m:oMathPara>
                          </a14:m>
                          <a:endParaRPr lang="x-none" sz="24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a:noFill/>
                        </a:lnL>
                        <a:lnR>
                          <a:noFill/>
                        </a:lnR>
                        <a:lnT>
                          <a:noFill/>
                        </a:lnT>
                        <a:lnB>
                          <a:noFill/>
                        </a:lnB>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ad>
                                  <m:radPr>
                                    <m:degHide m:val="on"/>
                                    <m:ctrlPr>
                                      <a:rPr lang="x-none" sz="2400" i="1">
                                        <a:effectLst/>
                                        <a:latin typeface="Cambria Math" panose="02040503050406030204" pitchFamily="18" charset="0"/>
                                        <a:ea typeface="Cambria Math" panose="02040503050406030204" pitchFamily="18" charset="0"/>
                                        <a:cs typeface="Cambria Math" panose="02040503050406030204" pitchFamily="18" charset="0"/>
                                      </a:rPr>
                                    </m:ctrlPr>
                                  </m:radPr>
                                  <m:deg/>
                                  <m:e>
                                    <m:r>
                                      <a:rPr lang="en-US" sz="2400" i="1">
                                        <a:effectLst/>
                                        <a:latin typeface="Cambria Math" panose="02040503050406030204" pitchFamily="18" charset="0"/>
                                        <a:ea typeface="Cambria Math" panose="02040503050406030204" pitchFamily="18" charset="0"/>
                                        <a:cs typeface="Cambria Math" panose="02040503050406030204" pitchFamily="18" charset="0"/>
                                      </a:rPr>
                                      <m:t>175</m:t>
                                    </m:r>
                                  </m:e>
                                </m:rad>
                                <m:r>
                                  <a:rPr lang="en-US" sz="2400" i="1">
                                    <a:effectLst/>
                                    <a:latin typeface="Cambria Math" panose="02040503050406030204" pitchFamily="18" charset="0"/>
                                    <a:ea typeface="Cambria Math" panose="02040503050406030204" pitchFamily="18" charset="0"/>
                                    <a:cs typeface="Cambria Math" panose="02040503050406030204" pitchFamily="18" charset="0"/>
                                  </a:rPr>
                                  <m:t>= </m:t>
                                </m:r>
                                <m:rad>
                                  <m:radPr>
                                    <m:degHide m:val="on"/>
                                    <m:ctrlPr>
                                      <a:rPr lang="x-none" sz="2400" i="1">
                                        <a:effectLst/>
                                        <a:latin typeface="Cambria Math" panose="02040503050406030204" pitchFamily="18" charset="0"/>
                                        <a:ea typeface="Cambria Math" panose="02040503050406030204" pitchFamily="18" charset="0"/>
                                        <a:cs typeface="Cambria Math" panose="02040503050406030204" pitchFamily="18" charset="0"/>
                                      </a:rPr>
                                    </m:ctrlPr>
                                  </m:radPr>
                                  <m:deg/>
                                  <m:e>
                                    <m:r>
                                      <a:rPr lang="en-US" sz="2400" i="1">
                                        <a:effectLst/>
                                        <a:latin typeface="Cambria Math" panose="02040503050406030204" pitchFamily="18" charset="0"/>
                                        <a:ea typeface="Cambria Math" panose="02040503050406030204" pitchFamily="18" charset="0"/>
                                        <a:cs typeface="Cambria Math" panose="02040503050406030204" pitchFamily="18" charset="0"/>
                                      </a:rPr>
                                      <m:t>35</m:t>
                                    </m:r>
                                  </m:e>
                                </m:rad>
                                <m:r>
                                  <a:rPr lang="en-US" sz="2400" i="1">
                                    <a:effectLst/>
                                    <a:latin typeface="Cambria Math" panose="02040503050406030204" pitchFamily="18" charset="0"/>
                                    <a:ea typeface="Cambria Math" panose="02040503050406030204" pitchFamily="18" charset="0"/>
                                    <a:cs typeface="Cambria Math" panose="02040503050406030204" pitchFamily="18" charset="0"/>
                                  </a:rPr>
                                  <m:t>∙</m:t>
                                </m:r>
                                <m:rad>
                                  <m:radPr>
                                    <m:degHide m:val="on"/>
                                    <m:ctrlPr>
                                      <a:rPr lang="x-none" sz="2400" i="1">
                                        <a:effectLst/>
                                        <a:latin typeface="Cambria Math" panose="02040503050406030204" pitchFamily="18" charset="0"/>
                                        <a:ea typeface="Cambria Math" panose="02040503050406030204" pitchFamily="18" charset="0"/>
                                        <a:cs typeface="Cambria Math" panose="02040503050406030204" pitchFamily="18" charset="0"/>
                                      </a:rPr>
                                    </m:ctrlPr>
                                  </m:radPr>
                                  <m:deg/>
                                  <m:e>
                                    <m:r>
                                      <a:rPr lang="en-US" sz="2400" i="1">
                                        <a:effectLst/>
                                        <a:latin typeface="Cambria Math" panose="02040503050406030204" pitchFamily="18" charset="0"/>
                                        <a:ea typeface="Cambria Math" panose="02040503050406030204" pitchFamily="18" charset="0"/>
                                        <a:cs typeface="Cambria Math" panose="02040503050406030204" pitchFamily="18" charset="0"/>
                                      </a:rPr>
                                      <m:t>5</m:t>
                                    </m:r>
                                  </m:e>
                                </m:rad>
                              </m:oMath>
                            </m:oMathPara>
                          </a14:m>
                          <a:endParaRPr lang="en-PH" sz="2400" dirty="0">
                            <a:effectLst/>
                            <a:latin typeface="Cambria Math" panose="02040503050406030204" pitchFamily="18" charset="0"/>
                            <a:ea typeface="Cambria Math" panose="02040503050406030204" pitchFamily="18" charset="0"/>
                            <a:cs typeface="Cambria Math" panose="02040503050406030204" pitchFamily="18" charset="0"/>
                          </a:endParaRPr>
                        </a:p>
                        <a:p>
                          <a:pPr marL="0" marR="0" algn="ctr">
                            <a:lnSpc>
                              <a:spcPct val="107000"/>
                            </a:lnSpc>
                            <a:spcBef>
                              <a:spcPts val="0"/>
                            </a:spcBef>
                            <a:spcAft>
                              <a:spcPts val="0"/>
                            </a:spcAft>
                          </a:pPr>
                          <a:endParaRPr lang="x-none" sz="2400" dirty="0">
                            <a:effectLst/>
                            <a:latin typeface="Cambria Math" panose="02040503050406030204" pitchFamily="18" charset="0"/>
                            <a:ea typeface="Cambria Math" panose="02040503050406030204" pitchFamily="18" charset="0"/>
                            <a:cs typeface="Cambria Math" panose="02040503050406030204" pitchFamily="18" charset="0"/>
                          </a:endParaRPr>
                        </a:p>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ad>
                                  <m:radPr>
                                    <m:degHide m:val="on"/>
                                    <m:ctrlPr>
                                      <a:rPr lang="x-none" sz="2400" i="1">
                                        <a:effectLst/>
                                        <a:latin typeface="Cambria Math" panose="02040503050406030204" pitchFamily="18" charset="0"/>
                                        <a:ea typeface="Cambria Math" panose="02040503050406030204" pitchFamily="18" charset="0"/>
                                        <a:cs typeface="Cambria Math" panose="02040503050406030204" pitchFamily="18" charset="0"/>
                                      </a:rPr>
                                    </m:ctrlPr>
                                  </m:radPr>
                                  <m:deg/>
                                  <m:e>
                                    <m:r>
                                      <a:rPr lang="en-US" sz="2400" i="1">
                                        <a:effectLst/>
                                        <a:latin typeface="Cambria Math" panose="02040503050406030204" pitchFamily="18" charset="0"/>
                                        <a:ea typeface="Cambria Math" panose="02040503050406030204" pitchFamily="18" charset="0"/>
                                        <a:cs typeface="Cambria Math" panose="02040503050406030204" pitchFamily="18" charset="0"/>
                                      </a:rPr>
                                      <m:t>175</m:t>
                                    </m:r>
                                  </m:e>
                                </m:rad>
                                <m:r>
                                  <a:rPr lang="en-US" sz="2400" i="1">
                                    <a:effectLst/>
                                    <a:latin typeface="Cambria Math" panose="02040503050406030204" pitchFamily="18" charset="0"/>
                                    <a:ea typeface="Cambria Math" panose="02040503050406030204" pitchFamily="18" charset="0"/>
                                    <a:cs typeface="Cambria Math" panose="02040503050406030204" pitchFamily="18" charset="0"/>
                                  </a:rPr>
                                  <m:t>= </m:t>
                                </m:r>
                                <m:rad>
                                  <m:radPr>
                                    <m:degHide m:val="on"/>
                                    <m:ctrlPr>
                                      <a:rPr lang="x-none" sz="2400" i="1">
                                        <a:effectLst/>
                                        <a:latin typeface="Cambria Math" panose="02040503050406030204" pitchFamily="18" charset="0"/>
                                        <a:ea typeface="Cambria Math" panose="02040503050406030204" pitchFamily="18" charset="0"/>
                                        <a:cs typeface="Cambria Math" panose="02040503050406030204" pitchFamily="18" charset="0"/>
                                      </a:rPr>
                                    </m:ctrlPr>
                                  </m:radPr>
                                  <m:deg/>
                                  <m:e>
                                    <m:r>
                                      <a:rPr lang="en-US" sz="2400" i="1">
                                        <a:effectLst/>
                                        <a:latin typeface="Cambria Math" panose="02040503050406030204" pitchFamily="18" charset="0"/>
                                        <a:ea typeface="Cambria Math" panose="02040503050406030204" pitchFamily="18" charset="0"/>
                                        <a:cs typeface="Cambria Math" panose="02040503050406030204" pitchFamily="18" charset="0"/>
                                      </a:rPr>
                                      <m:t>25</m:t>
                                    </m:r>
                                  </m:e>
                                </m:rad>
                                <m:r>
                                  <a:rPr lang="en-US" sz="2400" i="1">
                                    <a:effectLst/>
                                    <a:latin typeface="Cambria Math" panose="02040503050406030204" pitchFamily="18" charset="0"/>
                                    <a:ea typeface="Cambria Math" panose="02040503050406030204" pitchFamily="18" charset="0"/>
                                    <a:cs typeface="Cambria Math" panose="02040503050406030204" pitchFamily="18" charset="0"/>
                                  </a:rPr>
                                  <m:t>∙</m:t>
                                </m:r>
                                <m:rad>
                                  <m:radPr>
                                    <m:degHide m:val="on"/>
                                    <m:ctrlPr>
                                      <a:rPr lang="x-none" sz="2400" i="1">
                                        <a:effectLst/>
                                        <a:latin typeface="Cambria Math" panose="02040503050406030204" pitchFamily="18" charset="0"/>
                                        <a:ea typeface="Cambria Math" panose="02040503050406030204" pitchFamily="18" charset="0"/>
                                        <a:cs typeface="Cambria Math" panose="02040503050406030204" pitchFamily="18" charset="0"/>
                                      </a:rPr>
                                    </m:ctrlPr>
                                  </m:radPr>
                                  <m:deg/>
                                  <m:e>
                                    <m:r>
                                      <a:rPr lang="en-US" sz="2400" i="1">
                                        <a:effectLst/>
                                        <a:latin typeface="Cambria Math" panose="02040503050406030204" pitchFamily="18" charset="0"/>
                                        <a:ea typeface="Cambria Math" panose="02040503050406030204" pitchFamily="18" charset="0"/>
                                        <a:cs typeface="Cambria Math" panose="02040503050406030204" pitchFamily="18" charset="0"/>
                                      </a:rPr>
                                      <m:t>7</m:t>
                                    </m:r>
                                  </m:e>
                                </m:rad>
                              </m:oMath>
                            </m:oMathPara>
                          </a14:m>
                          <a:endParaRPr lang="x-none" sz="24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lnL>
                          <a:noFill/>
                        </a:lnL>
                        <a:lnR>
                          <a:noFill/>
                        </a:lnR>
                        <a:lnT>
                          <a:noFill/>
                        </a:lnT>
                        <a:lnB>
                          <a:noFill/>
                        </a:lnB>
                      </a:tcPr>
                    </a:tc>
                    <a:extLst>
                      <a:ext uri="{0D108BD9-81ED-4DB2-BD59-A6C34878D82A}">
                        <a16:rowId xmlns:a16="http://schemas.microsoft.com/office/drawing/2014/main" val="2139285031"/>
                      </a:ext>
                    </a:extLst>
                  </a:tr>
                </a:tbl>
              </a:graphicData>
            </a:graphic>
          </p:graphicFrame>
        </mc:Choice>
        <mc:Fallback>
          <p:graphicFrame>
            <p:nvGraphicFramePr>
              <p:cNvPr id="8" name="Table 7">
                <a:extLst>
                  <a:ext uri="{FF2B5EF4-FFF2-40B4-BE49-F238E27FC236}">
                    <a16:creationId xmlns:a16="http://schemas.microsoft.com/office/drawing/2014/main" id="{9CEAA43A-719E-2A43-B4DB-9DE95F1C2F48}"/>
                  </a:ext>
                </a:extLst>
              </p:cNvPr>
              <p:cNvGraphicFramePr>
                <a:graphicFrameLocks noGrp="1"/>
              </p:cNvGraphicFramePr>
              <p:nvPr>
                <p:extLst>
                  <p:ext uri="{D42A27DB-BD31-4B8C-83A1-F6EECF244321}">
                    <p14:modId xmlns:p14="http://schemas.microsoft.com/office/powerpoint/2010/main" val="1498249536"/>
                  </p:ext>
                </p:extLst>
              </p:nvPr>
            </p:nvGraphicFramePr>
            <p:xfrm>
              <a:off x="2776537" y="5205870"/>
              <a:ext cx="6029326" cy="1282256"/>
            </p:xfrm>
            <a:graphic>
              <a:graphicData uri="http://schemas.openxmlformats.org/drawingml/2006/table">
                <a:tbl>
                  <a:tblPr bandRow="1"/>
                  <a:tblGrid>
                    <a:gridCol w="3014663">
                      <a:extLst>
                        <a:ext uri="{9D8B030D-6E8A-4147-A177-3AD203B41FA5}">
                          <a16:colId xmlns:a16="http://schemas.microsoft.com/office/drawing/2014/main" val="1581968801"/>
                        </a:ext>
                      </a:extLst>
                    </a:gridCol>
                    <a:gridCol w="3014663">
                      <a:extLst>
                        <a:ext uri="{9D8B030D-6E8A-4147-A177-3AD203B41FA5}">
                          <a16:colId xmlns:a16="http://schemas.microsoft.com/office/drawing/2014/main" val="871310385"/>
                        </a:ext>
                      </a:extLst>
                    </a:gridCol>
                  </a:tblGrid>
                  <a:tr h="1282256">
                    <a:tc>
                      <a:txBody>
                        <a:bodyPr/>
                        <a:lstStyle/>
                        <a:p>
                          <a:endParaRPr lang="en-US"/>
                        </a:p>
                      </a:txBody>
                      <a:tcPr marL="68580" marR="68580" marT="0" marB="0">
                        <a:lnL>
                          <a:noFill/>
                        </a:lnL>
                        <a:lnR>
                          <a:noFill/>
                        </a:lnR>
                        <a:lnT>
                          <a:noFill/>
                        </a:lnT>
                        <a:lnB>
                          <a:noFill/>
                        </a:lnB>
                        <a:blipFill>
                          <a:blip r:embed="rId5"/>
                          <a:stretch>
                            <a:fillRect r="-100000"/>
                          </a:stretch>
                        </a:blipFill>
                      </a:tcPr>
                    </a:tc>
                    <a:tc>
                      <a:txBody>
                        <a:bodyPr/>
                        <a:lstStyle/>
                        <a:p>
                          <a:endParaRPr lang="en-US"/>
                        </a:p>
                      </a:txBody>
                      <a:tcPr marL="68580" marR="68580" marT="0" marB="0">
                        <a:lnL>
                          <a:noFill/>
                        </a:lnL>
                        <a:lnR>
                          <a:noFill/>
                        </a:lnR>
                        <a:lnT>
                          <a:noFill/>
                        </a:lnT>
                        <a:lnB>
                          <a:noFill/>
                        </a:lnB>
                        <a:blipFill>
                          <a:blip r:embed="rId5"/>
                          <a:stretch>
                            <a:fillRect l="-100000"/>
                          </a:stretch>
                        </a:blipFill>
                      </a:tcPr>
                    </a:tc>
                    <a:extLst>
                      <a:ext uri="{0D108BD9-81ED-4DB2-BD59-A6C34878D82A}">
                        <a16:rowId xmlns:a16="http://schemas.microsoft.com/office/drawing/2014/main" val="2139285031"/>
                      </a:ext>
                    </a:extLst>
                  </a:tr>
                </a:tbl>
              </a:graphicData>
            </a:graphic>
          </p:graphicFrame>
        </mc:Fallback>
      </mc:AlternateContent>
      <p:sp>
        <p:nvSpPr>
          <p:cNvPr id="10" name="Google Shape;282;g104476d1465_1_17">
            <a:extLst>
              <a:ext uri="{FF2B5EF4-FFF2-40B4-BE49-F238E27FC236}">
                <a16:creationId xmlns:a16="http://schemas.microsoft.com/office/drawing/2014/main" id="{4651424D-AE49-1B73-EF64-7420B90A1506}"/>
              </a:ext>
            </a:extLst>
          </p:cNvPr>
          <p:cNvSpPr txBox="1"/>
          <p:nvPr/>
        </p:nvSpPr>
        <p:spPr>
          <a:xfrm>
            <a:off x="8908141" y="6469331"/>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42</a:t>
            </a:r>
            <a:endParaRPr i="1" dirty="0">
              <a:latin typeface="Calibri"/>
              <a:ea typeface="Calibri"/>
              <a:cs typeface="Calibri"/>
              <a:sym typeface="Calibri"/>
            </a:endParaRPr>
          </a:p>
        </p:txBody>
      </p:sp>
      <p:pic>
        <p:nvPicPr>
          <p:cNvPr id="11" name="Google Shape;283;g104476d1465_1_17">
            <a:extLst>
              <a:ext uri="{FF2B5EF4-FFF2-40B4-BE49-F238E27FC236}">
                <a16:creationId xmlns:a16="http://schemas.microsoft.com/office/drawing/2014/main" id="{E02C501E-F9E9-2726-7228-9CFD28A111EF}"/>
              </a:ext>
            </a:extLst>
          </p:cNvPr>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533433"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29994051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11875"/>
            <a:ext cx="223200" cy="6866100"/>
          </a:xfrm>
          <a:prstGeom prst="rect">
            <a:avLst/>
          </a:prstGeom>
          <a:solidFill>
            <a:srgbClr val="F26763"/>
          </a:solidFill>
          <a:ln w="9525" cap="flat" cmpd="sng">
            <a:solidFill>
              <a:srgbClr val="F26763"/>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E44DF7DE-9172-3E4E-B74A-7A51585FB6EA}"/>
                  </a:ext>
                </a:extLst>
              </p:cNvPr>
              <p:cNvSpPr txBox="1"/>
              <p:nvPr/>
            </p:nvSpPr>
            <p:spPr>
              <a:xfrm>
                <a:off x="974520" y="411795"/>
                <a:ext cx="9680780" cy="5726632"/>
              </a:xfrm>
              <a:prstGeom prst="rect">
                <a:avLst/>
              </a:prstGeom>
              <a:noFill/>
            </p:spPr>
            <p:txBody>
              <a:bodyPr wrap="square" rtlCol="0">
                <a:spAutoFit/>
              </a:bodyPr>
              <a:lstStyle/>
              <a:p>
                <a:pPr lvl="0"/>
                <a:r>
                  <a:rPr lang="en-US" sz="2000" dirty="0">
                    <a:latin typeface="Verdana" panose="020B0604030504040204" pitchFamily="34" charset="0"/>
                    <a:ea typeface="Verdana" panose="020B0604030504040204" pitchFamily="34" charset="0"/>
                    <a:cs typeface="Verdana" panose="020B0604030504040204" pitchFamily="34" charset="0"/>
                  </a:rPr>
                  <a:t>When a radical expression is rewritten as a product of its factors, each of the radicals will have the same index.</a:t>
                </a:r>
              </a:p>
              <a:p>
                <a:pPr lvl="0"/>
                <a:endParaRPr lang="en-PH" sz="2000" dirty="0">
                  <a:latin typeface="Verdana" panose="020B0604030504040204" pitchFamily="34" charset="0"/>
                  <a:ea typeface="Verdana" panose="020B0604030504040204" pitchFamily="34" charset="0"/>
                  <a:cs typeface="Verdana" panose="020B0604030504040204" pitchFamily="34" charset="0"/>
                </a:endParaRPr>
              </a:p>
              <a:p>
                <a:pPr lvl="0"/>
                <a:endParaRPr lang="en-PH" sz="2000" dirty="0">
                  <a:latin typeface="Verdana" panose="020B0604030504040204" pitchFamily="34" charset="0"/>
                  <a:ea typeface="Verdana" panose="020B0604030504040204" pitchFamily="34" charset="0"/>
                  <a:cs typeface="Verdana" panose="020B0604030504040204" pitchFamily="34" charset="0"/>
                </a:endParaRPr>
              </a:p>
              <a:p>
                <a:pPr lvl="0"/>
                <a:endParaRPr lang="en-PH" sz="2000" dirty="0">
                  <a:latin typeface="Verdana" panose="020B0604030504040204" pitchFamily="34" charset="0"/>
                  <a:ea typeface="Verdana" panose="020B0604030504040204" pitchFamily="34" charset="0"/>
                  <a:cs typeface="Verdana" panose="020B0604030504040204" pitchFamily="34" charset="0"/>
                </a:endParaRPr>
              </a:p>
              <a:p>
                <a:pPr lvl="0"/>
                <a:endParaRPr lang="en-PH" sz="2000" dirty="0">
                  <a:latin typeface="Verdana" panose="020B0604030504040204" pitchFamily="34" charset="0"/>
                  <a:ea typeface="Verdana" panose="020B0604030504040204" pitchFamily="34" charset="0"/>
                  <a:cs typeface="Verdana" panose="020B0604030504040204" pitchFamily="34" charset="0"/>
                </a:endParaRPr>
              </a:p>
              <a:p>
                <a:pPr lvl="0"/>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r>
                  <a:rPr lang="en-US" sz="2000" dirty="0">
                    <a:latin typeface="Verdana" panose="020B0604030504040204" pitchFamily="34" charset="0"/>
                    <a:ea typeface="Verdana" panose="020B0604030504040204" pitchFamily="34" charset="0"/>
                    <a:cs typeface="Verdana" panose="020B0604030504040204" pitchFamily="34" charset="0"/>
                  </a:rPr>
                  <a:t>Rewrite </a:t>
                </a:r>
                <a14:m>
                  <m:oMath xmlns:m="http://schemas.openxmlformats.org/officeDocument/2006/math">
                    <m:rad>
                      <m:radPr>
                        <m:ctrlPr>
                          <a:rPr lang="en-US" sz="2000" i="1">
                            <a:latin typeface="Cambria Math" panose="02040503050406030204" pitchFamily="18" charset="0"/>
                            <a:ea typeface="Verdana" panose="020B0604030504040204" pitchFamily="34" charset="0"/>
                            <a:cs typeface="Verdana" panose="020B0604030504040204" pitchFamily="34" charset="0"/>
                          </a:rPr>
                        </m:ctrlPr>
                      </m:radPr>
                      <m:deg>
                        <m:r>
                          <a:rPr lang="en-US" sz="2000" i="1">
                            <a:latin typeface="Cambria Math" panose="02040503050406030204" pitchFamily="18" charset="0"/>
                            <a:ea typeface="Verdana" panose="020B0604030504040204" pitchFamily="34" charset="0"/>
                            <a:cs typeface="Verdana" panose="020B0604030504040204" pitchFamily="34" charset="0"/>
                          </a:rPr>
                          <m:t>3</m:t>
                        </m:r>
                      </m:deg>
                      <m:e>
                        <m:r>
                          <a:rPr lang="es-ES" sz="2000" i="1">
                            <a:latin typeface="Cambria Math" panose="02040503050406030204" pitchFamily="18" charset="0"/>
                            <a:ea typeface="Verdana" panose="020B0604030504040204" pitchFamily="34" charset="0"/>
                            <a:cs typeface="Verdana" panose="020B0604030504040204" pitchFamily="34" charset="0"/>
                          </a:rPr>
                          <m:t>325</m:t>
                        </m:r>
                      </m:e>
                    </m:rad>
                  </m:oMath>
                </a14:m>
                <a:r>
                  <a:rPr lang="en-US" sz="2000" dirty="0">
                    <a:latin typeface="Verdana" panose="020B0604030504040204" pitchFamily="34" charset="0"/>
                    <a:ea typeface="Verdana" panose="020B0604030504040204" pitchFamily="34" charset="0"/>
                    <a:cs typeface="Verdana" panose="020B0604030504040204" pitchFamily="34" charset="0"/>
                  </a:rPr>
                  <a:t> in two different ways using the product law of radicals.</a:t>
                </a:r>
              </a:p>
              <a:p>
                <a:pPr marL="457200" indent="-457200">
                  <a:buFont typeface="+mj-lt"/>
                  <a:buAutoNum type="arabi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r>
                  <a:rPr lang="en-US" sz="2000" dirty="0">
                    <a:latin typeface="Verdana" panose="020B0604030504040204" pitchFamily="34" charset="0"/>
                    <a:ea typeface="Verdana" panose="020B0604030504040204" pitchFamily="34" charset="0"/>
                    <a:cs typeface="Verdana" panose="020B0604030504040204" pitchFamily="34" charset="0"/>
                  </a:rPr>
                  <a:t>When rewriting radical expressions, mathematicians generally try to rewrite the expression in the form of an </a:t>
                </a:r>
                <a:r>
                  <a:rPr lang="en-US" sz="2000" b="1" dirty="0">
                    <a:latin typeface="Verdana" panose="020B0604030504040204" pitchFamily="34" charset="0"/>
                    <a:ea typeface="Verdana" panose="020B0604030504040204" pitchFamily="34" charset="0"/>
                    <a:cs typeface="Verdana" panose="020B0604030504040204" pitchFamily="34" charset="0"/>
                  </a:rPr>
                  <a:t>integer</a:t>
                </a:r>
                <a:r>
                  <a:rPr lang="en-US" sz="2000" dirty="0">
                    <a:latin typeface="Verdana" panose="020B0604030504040204" pitchFamily="34" charset="0"/>
                    <a:ea typeface="Verdana" panose="020B0604030504040204" pitchFamily="34" charset="0"/>
                    <a:cs typeface="Verdana" panose="020B0604030504040204" pitchFamily="34" charset="0"/>
                  </a:rPr>
                  <a:t> multiplied by a </a:t>
                </a:r>
                <a:r>
                  <a:rPr lang="en-US" sz="2000" b="1" dirty="0">
                    <a:latin typeface="Verdana" panose="020B0604030504040204" pitchFamily="34" charset="0"/>
                    <a:ea typeface="Verdana" panose="020B0604030504040204" pitchFamily="34" charset="0"/>
                    <a:cs typeface="Verdana" panose="020B0604030504040204" pitchFamily="34" charset="0"/>
                  </a:rPr>
                  <a:t>radical</a:t>
                </a:r>
                <a:r>
                  <a:rPr lang="en-US" sz="2000" dirty="0">
                    <a:latin typeface="Verdana" panose="020B0604030504040204" pitchFamily="34" charset="0"/>
                    <a:ea typeface="Verdana" panose="020B0604030504040204" pitchFamily="34" charset="0"/>
                    <a:cs typeface="Verdana" panose="020B0604030504040204" pitchFamily="34" charset="0"/>
                  </a:rPr>
                  <a:t>, when possible.</a:t>
                </a:r>
              </a:p>
              <a:p>
                <a:r>
                  <a:rPr lang="en-US" sz="2000" dirty="0">
                    <a:latin typeface="Verdana" panose="020B0604030504040204" pitchFamily="34" charset="0"/>
                    <a:ea typeface="Verdana" panose="020B0604030504040204" pitchFamily="34" charset="0"/>
                    <a:cs typeface="Verdana" panose="020B0604030504040204" pitchFamily="34" charset="0"/>
                  </a:rPr>
                  <a:t> </a:t>
                </a:r>
              </a:p>
              <a:p>
                <a:pPr algn="ctr"/>
                <a14:m>
                  <m:oMath xmlns:m="http://schemas.openxmlformats.org/officeDocument/2006/math">
                    <m:rad>
                      <m:radPr>
                        <m:degHide m:val="on"/>
                        <m:ctrlPr>
                          <a:rPr lang="en-US" sz="2000" i="1" dirty="0">
                            <a:latin typeface="Cambria Math" panose="02040503050406030204" pitchFamily="18" charset="0"/>
                            <a:ea typeface="Verdana" panose="020B0604030504040204" pitchFamily="34" charset="0"/>
                            <a:cs typeface="Verdana" panose="020B0604030504040204" pitchFamily="34" charset="0"/>
                          </a:rPr>
                        </m:ctrlPr>
                      </m:radPr>
                      <m:deg/>
                      <m:e>
                        <m:r>
                          <a:rPr lang="es-ES" sz="2000" i="1" dirty="0">
                            <a:latin typeface="Cambria Math" panose="02040503050406030204" pitchFamily="18" charset="0"/>
                            <a:ea typeface="Verdana" panose="020B0604030504040204" pitchFamily="34" charset="0"/>
                            <a:cs typeface="Verdana" panose="020B0604030504040204" pitchFamily="34" charset="0"/>
                          </a:rPr>
                          <m:t>18</m:t>
                        </m:r>
                      </m:e>
                    </m:rad>
                    <m:r>
                      <a:rPr lang="en-US" sz="2000" i="1" dirty="0">
                        <a:latin typeface="Cambria Math" panose="02040503050406030204" pitchFamily="18" charset="0"/>
                        <a:ea typeface="Verdana" panose="020B0604030504040204" pitchFamily="34" charset="0"/>
                        <a:cs typeface="Verdana" panose="020B0604030504040204" pitchFamily="34" charset="0"/>
                      </a:rPr>
                      <m:t>= </m:t>
                    </m:r>
                    <m:rad>
                      <m:radPr>
                        <m:degHide m:val="on"/>
                        <m:ctrlPr>
                          <a:rPr lang="en-US" sz="2000" i="1" dirty="0">
                            <a:latin typeface="Cambria Math" panose="02040503050406030204" pitchFamily="18" charset="0"/>
                            <a:ea typeface="Verdana" panose="020B0604030504040204" pitchFamily="34" charset="0"/>
                            <a:cs typeface="Verdana" panose="020B0604030504040204" pitchFamily="34" charset="0"/>
                          </a:rPr>
                        </m:ctrlPr>
                      </m:radPr>
                      <m:deg/>
                      <m:e>
                        <m:r>
                          <a:rPr lang="es-ES" sz="2000" i="1" dirty="0">
                            <a:latin typeface="Cambria Math" panose="02040503050406030204" pitchFamily="18" charset="0"/>
                            <a:ea typeface="Verdana" panose="020B0604030504040204" pitchFamily="34" charset="0"/>
                            <a:cs typeface="Verdana" panose="020B0604030504040204" pitchFamily="34" charset="0"/>
                          </a:rPr>
                          <m:t>9</m:t>
                        </m:r>
                      </m:e>
                    </m:rad>
                    <m:r>
                      <a:rPr lang="en-US" sz="2000" i="1" dirty="0">
                        <a:latin typeface="Cambria Math" panose="02040503050406030204" pitchFamily="18" charset="0"/>
                        <a:ea typeface="Verdana" panose="020B0604030504040204" pitchFamily="34" charset="0"/>
                        <a:cs typeface="Verdana" panose="020B0604030504040204" pitchFamily="34" charset="0"/>
                      </a:rPr>
                      <m:t>∙</m:t>
                    </m:r>
                    <m:rad>
                      <m:radPr>
                        <m:degHide m:val="on"/>
                        <m:ctrlPr>
                          <a:rPr lang="en-US" sz="2000" i="1" dirty="0">
                            <a:latin typeface="Cambria Math" panose="02040503050406030204" pitchFamily="18" charset="0"/>
                            <a:ea typeface="Verdana" panose="020B0604030504040204" pitchFamily="34" charset="0"/>
                            <a:cs typeface="Verdana" panose="020B0604030504040204" pitchFamily="34" charset="0"/>
                          </a:rPr>
                        </m:ctrlPr>
                      </m:radPr>
                      <m:deg/>
                      <m:e>
                        <m:r>
                          <a:rPr lang="es-ES" sz="2000" i="1" dirty="0">
                            <a:latin typeface="Cambria Math" panose="02040503050406030204" pitchFamily="18" charset="0"/>
                            <a:ea typeface="Verdana" panose="020B0604030504040204" pitchFamily="34" charset="0"/>
                            <a:cs typeface="Verdana" panose="020B0604030504040204" pitchFamily="34" charset="0"/>
                          </a:rPr>
                          <m:t>2</m:t>
                        </m:r>
                      </m:e>
                    </m:rad>
                  </m:oMath>
                </a14:m>
                <a:r>
                  <a:rPr lang="en-US" sz="2000" dirty="0">
                    <a:latin typeface="Verdana" panose="020B0604030504040204" pitchFamily="34" charset="0"/>
                    <a:ea typeface="Verdana" panose="020B0604030504040204" pitchFamily="34" charset="0"/>
                    <a:cs typeface="Verdana" panose="020B0604030504040204" pitchFamily="34" charset="0"/>
                  </a:rPr>
                  <a:t>, which can be rewritten as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3</m:t>
                    </m:r>
                    <m:rad>
                      <m:radPr>
                        <m:degHide m:val="on"/>
                        <m:ctrlPr>
                          <a:rPr lang="en-US" sz="2000" i="1" dirty="0">
                            <a:latin typeface="Cambria Math" panose="02040503050406030204" pitchFamily="18" charset="0"/>
                            <a:ea typeface="Verdana" panose="020B0604030504040204" pitchFamily="34" charset="0"/>
                            <a:cs typeface="Verdana" panose="020B0604030504040204" pitchFamily="34" charset="0"/>
                          </a:rPr>
                        </m:ctrlPr>
                      </m:radPr>
                      <m:deg/>
                      <m:e>
                        <m:r>
                          <a:rPr lang="es-ES" sz="2000" i="1" dirty="0">
                            <a:latin typeface="Cambria Math" panose="02040503050406030204" pitchFamily="18" charset="0"/>
                            <a:ea typeface="Verdana" panose="020B0604030504040204" pitchFamily="34" charset="0"/>
                            <a:cs typeface="Verdana" panose="020B0604030504040204" pitchFamily="34" charset="0"/>
                          </a:rPr>
                          <m:t>2</m:t>
                        </m:r>
                      </m:e>
                    </m:rad>
                  </m:oMath>
                </a14:m>
                <a:endParaRPr lang="en-US" sz="2000" dirty="0">
                  <a:latin typeface="Verdana" panose="020B0604030504040204" pitchFamily="34" charset="0"/>
                  <a:ea typeface="Verdana" panose="020B0604030504040204" pitchFamily="34" charset="0"/>
                  <a:cs typeface="Verdana" panose="020B0604030504040204" pitchFamily="34" charset="0"/>
                </a:endParaRPr>
              </a:p>
              <a:p>
                <a:pPr algn="ctr"/>
                <a:r>
                  <a:rPr lang="en-US" sz="2000" dirty="0">
                    <a:latin typeface="Verdana" panose="020B0604030504040204" pitchFamily="34" charset="0"/>
                    <a:ea typeface="Verdana" panose="020B0604030504040204" pitchFamily="34" charset="0"/>
                    <a:cs typeface="Verdana" panose="020B0604030504040204" pitchFamily="34" charset="0"/>
                  </a:rPr>
                  <a:t> </a:t>
                </a:r>
              </a:p>
              <a:p>
                <a:pPr algn="ctr"/>
                <a14:m>
                  <m:oMath xmlns:m="http://schemas.openxmlformats.org/officeDocument/2006/math">
                    <m:rad>
                      <m:radPr>
                        <m:degHide m:val="on"/>
                        <m:ctrlPr>
                          <a:rPr lang="en-US" sz="2000" i="1" dirty="0">
                            <a:latin typeface="Cambria Math" panose="02040503050406030204" pitchFamily="18" charset="0"/>
                            <a:ea typeface="Verdana" panose="020B0604030504040204" pitchFamily="34" charset="0"/>
                            <a:cs typeface="Verdana" panose="020B0604030504040204" pitchFamily="34" charset="0"/>
                          </a:rPr>
                        </m:ctrlPr>
                      </m:radPr>
                      <m:deg/>
                      <m:e>
                        <m:r>
                          <a:rPr lang="en-US" sz="2000" i="1" dirty="0">
                            <a:latin typeface="Cambria Math" panose="02040503050406030204" pitchFamily="18" charset="0"/>
                            <a:ea typeface="Verdana" panose="020B0604030504040204" pitchFamily="34" charset="0"/>
                            <a:cs typeface="Verdana" panose="020B0604030504040204" pitchFamily="34" charset="0"/>
                          </a:rPr>
                          <m:t>175</m:t>
                        </m:r>
                      </m:e>
                    </m:rad>
                    <m:r>
                      <a:rPr lang="en-US" sz="2000" i="1" dirty="0">
                        <a:latin typeface="Cambria Math" panose="02040503050406030204" pitchFamily="18" charset="0"/>
                        <a:ea typeface="Verdana" panose="020B0604030504040204" pitchFamily="34" charset="0"/>
                        <a:cs typeface="Verdana" panose="020B0604030504040204" pitchFamily="34" charset="0"/>
                      </a:rPr>
                      <m:t>= </m:t>
                    </m:r>
                    <m:rad>
                      <m:radPr>
                        <m:degHide m:val="on"/>
                        <m:ctrlPr>
                          <a:rPr lang="en-US" sz="2000" i="1" dirty="0">
                            <a:latin typeface="Cambria Math" panose="02040503050406030204" pitchFamily="18" charset="0"/>
                            <a:ea typeface="Verdana" panose="020B0604030504040204" pitchFamily="34" charset="0"/>
                            <a:cs typeface="Verdana" panose="020B0604030504040204" pitchFamily="34" charset="0"/>
                          </a:rPr>
                        </m:ctrlPr>
                      </m:radPr>
                      <m:deg/>
                      <m:e>
                        <m:r>
                          <a:rPr lang="en-US" sz="2000" i="1" dirty="0">
                            <a:latin typeface="Cambria Math" panose="02040503050406030204" pitchFamily="18" charset="0"/>
                            <a:ea typeface="Verdana" panose="020B0604030504040204" pitchFamily="34" charset="0"/>
                            <a:cs typeface="Verdana" panose="020B0604030504040204" pitchFamily="34" charset="0"/>
                          </a:rPr>
                          <m:t>25</m:t>
                        </m:r>
                      </m:e>
                    </m:rad>
                    <m:r>
                      <a:rPr lang="en-US" sz="2000" i="1" dirty="0">
                        <a:latin typeface="Cambria Math" panose="02040503050406030204" pitchFamily="18" charset="0"/>
                        <a:ea typeface="Verdana" panose="020B0604030504040204" pitchFamily="34" charset="0"/>
                        <a:cs typeface="Verdana" panose="020B0604030504040204" pitchFamily="34" charset="0"/>
                      </a:rPr>
                      <m:t>∙</m:t>
                    </m:r>
                    <m:rad>
                      <m:radPr>
                        <m:degHide m:val="on"/>
                        <m:ctrlPr>
                          <a:rPr lang="en-US" sz="2000" i="1" dirty="0">
                            <a:latin typeface="Cambria Math" panose="02040503050406030204" pitchFamily="18" charset="0"/>
                            <a:ea typeface="Verdana" panose="020B0604030504040204" pitchFamily="34" charset="0"/>
                            <a:cs typeface="Verdana" panose="020B0604030504040204" pitchFamily="34" charset="0"/>
                          </a:rPr>
                        </m:ctrlPr>
                      </m:radPr>
                      <m:deg/>
                      <m:e>
                        <m:r>
                          <a:rPr lang="es-ES" sz="2000" i="1" dirty="0">
                            <a:latin typeface="Cambria Math" panose="02040503050406030204" pitchFamily="18" charset="0"/>
                            <a:ea typeface="Verdana" panose="020B0604030504040204" pitchFamily="34" charset="0"/>
                            <a:cs typeface="Verdana" panose="020B0604030504040204" pitchFamily="34" charset="0"/>
                          </a:rPr>
                          <m:t>7</m:t>
                        </m:r>
                      </m:e>
                    </m:rad>
                  </m:oMath>
                </a14:m>
                <a:r>
                  <a:rPr lang="en-US" sz="2000" dirty="0">
                    <a:latin typeface="Verdana" panose="020B0604030504040204" pitchFamily="34" charset="0"/>
                    <a:ea typeface="Verdana" panose="020B0604030504040204" pitchFamily="34" charset="0"/>
                    <a:cs typeface="Verdana" panose="020B0604030504040204" pitchFamily="34" charset="0"/>
                  </a:rPr>
                  <a:t>, which can be rewritten as </a:t>
                </a:r>
                <a14:m>
                  <m:oMath xmlns:m="http://schemas.openxmlformats.org/officeDocument/2006/math">
                    <m:r>
                      <a:rPr lang="en-US" sz="2000" i="1" dirty="0">
                        <a:latin typeface="Cambria Math" panose="02040503050406030204" pitchFamily="18" charset="0"/>
                        <a:ea typeface="Verdana" panose="020B0604030504040204" pitchFamily="34" charset="0"/>
                        <a:cs typeface="Verdana" panose="020B0604030504040204" pitchFamily="34" charset="0"/>
                      </a:rPr>
                      <m:t>5</m:t>
                    </m:r>
                    <m:rad>
                      <m:radPr>
                        <m:degHide m:val="on"/>
                        <m:ctrlPr>
                          <a:rPr lang="en-US" sz="2000" i="1" dirty="0">
                            <a:latin typeface="Cambria Math" panose="02040503050406030204" pitchFamily="18" charset="0"/>
                            <a:ea typeface="Verdana" panose="020B0604030504040204" pitchFamily="34" charset="0"/>
                            <a:cs typeface="Verdana" panose="020B0604030504040204" pitchFamily="34" charset="0"/>
                          </a:rPr>
                        </m:ctrlPr>
                      </m:radPr>
                      <m:deg/>
                      <m:e>
                        <m:r>
                          <a:rPr lang="es-ES" sz="2000" i="1" dirty="0">
                            <a:latin typeface="Cambria Math" panose="02040503050406030204" pitchFamily="18" charset="0"/>
                            <a:ea typeface="Verdana" panose="020B0604030504040204" pitchFamily="34" charset="0"/>
                            <a:cs typeface="Verdana" panose="020B0604030504040204" pitchFamily="34" charset="0"/>
                          </a:rPr>
                          <m:t>7</m:t>
                        </m:r>
                      </m:e>
                    </m:rad>
                  </m:oMath>
                </a14:m>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9" name="TextBox 8">
                <a:extLst>
                  <a:ext uri="{FF2B5EF4-FFF2-40B4-BE49-F238E27FC236}">
                    <a16:creationId xmlns:a16="http://schemas.microsoft.com/office/drawing/2014/main" id="{E44DF7DE-9172-3E4E-B74A-7A51585FB6EA}"/>
                  </a:ext>
                </a:extLst>
              </p:cNvPr>
              <p:cNvSpPr txBox="1">
                <a:spLocks noRot="1" noChangeAspect="1" noMove="1" noResize="1" noEditPoints="1" noAdjustHandles="1" noChangeArrowheads="1" noChangeShapeType="1" noTextEdit="1"/>
              </p:cNvSpPr>
              <p:nvPr/>
            </p:nvSpPr>
            <p:spPr>
              <a:xfrm>
                <a:off x="974520" y="411795"/>
                <a:ext cx="9680780" cy="5726632"/>
              </a:xfrm>
              <a:prstGeom prst="rect">
                <a:avLst/>
              </a:prstGeom>
              <a:blipFill>
                <a:blip r:embed="rId4"/>
                <a:stretch>
                  <a:fillRect l="-654" t="-664" b="-885"/>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0" name="Rectangle: Rounded Corners 51">
                <a:extLst>
                  <a:ext uri="{FF2B5EF4-FFF2-40B4-BE49-F238E27FC236}">
                    <a16:creationId xmlns:a16="http://schemas.microsoft.com/office/drawing/2014/main" id="{D9C9B412-ACDF-D646-ABF3-AF964FC25BD4}"/>
                  </a:ext>
                </a:extLst>
              </p:cNvPr>
              <p:cNvSpPr/>
              <p:nvPr/>
            </p:nvSpPr>
            <p:spPr>
              <a:xfrm>
                <a:off x="2231135" y="1260135"/>
                <a:ext cx="5274069" cy="1048230"/>
              </a:xfrm>
              <a:prstGeom prst="roundRect">
                <a:avLst/>
              </a:prstGeom>
              <a:solidFill>
                <a:srgbClr val="E3EFD5"/>
              </a:solidFill>
              <a:ln>
                <a:solidFill>
                  <a:srgbClr val="E3EFD5"/>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horz" wrap="square" lIns="91440" tIns="91440" rIns="91440" bIns="91440" numCol="1" spcCol="0" rtlCol="0" fromWordArt="0" anchor="ctr" anchorCtr="0" forceAA="0" compatLnSpc="1">
                <a:prstTxWarp prst="textNoShape">
                  <a:avLst/>
                </a:prstTxWarp>
                <a:spAutoFit/>
              </a:bodyPr>
              <a:lstStyle/>
              <a:p>
                <a:pPr marL="114300">
                  <a:lnSpc>
                    <a:spcPct val="107000"/>
                  </a:lnSpc>
                  <a:spcAft>
                    <a:spcPts val="800"/>
                  </a:spcAft>
                </a:pPr>
                <a:r>
                  <a:rPr lang="en-US" sz="2000" b="1" i="1" dirty="0">
                    <a:solidFill>
                      <a:srgbClr val="6C993C"/>
                    </a:solidFill>
                    <a:latin typeface="Verdana" panose="020B0604030504040204" pitchFamily="34" charset="0"/>
                    <a:ea typeface="Times New Roman" panose="02020603050405020304" pitchFamily="18" charset="0"/>
                    <a:cs typeface="Times New Roman" panose="02020603050405020304" pitchFamily="18" charset="0"/>
                  </a:rPr>
                  <a:t>Product Law of Radicals</a:t>
                </a:r>
                <a:endParaRPr lang="x-none" sz="2000" dirty="0">
                  <a:latin typeface="Cambria Math" panose="02040503050406030204" pitchFamily="18" charset="0"/>
                  <a:ea typeface="Cambria Math" panose="02040503050406030204" pitchFamily="18" charset="0"/>
                  <a:cs typeface="Cambria Math" panose="02040503050406030204" pitchFamily="18" charset="0"/>
                </a:endParaRPr>
              </a:p>
              <a:p>
                <a:pPr marL="114300">
                  <a:lnSpc>
                    <a:spcPct val="107000"/>
                  </a:lnSpc>
                  <a:spcAft>
                    <a:spcPts val="800"/>
                  </a:spcAft>
                </a:pPr>
                <a14:m>
                  <m:oMath xmlns:m="http://schemas.openxmlformats.org/officeDocument/2006/math">
                    <m:rad>
                      <m:radPr>
                        <m:ctrlPr>
                          <a:rPr lang="x-none" sz="2000" i="1">
                            <a:solidFill>
                              <a:srgbClr val="6C993C"/>
                            </a:solidFill>
                            <a:latin typeface="Cambria Math" panose="02040503050406030204" pitchFamily="18" charset="0"/>
                            <a:ea typeface="Cambria Math" panose="02040503050406030204" pitchFamily="18" charset="0"/>
                            <a:cs typeface="Cambria Math" panose="02040503050406030204" pitchFamily="18" charset="0"/>
                          </a:rPr>
                        </m:ctrlPr>
                      </m:radPr>
                      <m:deg>
                        <m:r>
                          <a:rPr lang="en-US" sz="2000" i="1">
                            <a:solidFill>
                              <a:srgbClr val="6C993C"/>
                            </a:solidFill>
                            <a:latin typeface="Cambria Math" panose="02040503050406030204" pitchFamily="18" charset="0"/>
                            <a:ea typeface="Cambria Math" panose="02040503050406030204" pitchFamily="18" charset="0"/>
                            <a:cs typeface="Cambria Math" panose="02040503050406030204" pitchFamily="18" charset="0"/>
                          </a:rPr>
                          <m:t>𝑚</m:t>
                        </m:r>
                      </m:deg>
                      <m:e>
                        <m:r>
                          <a:rPr lang="en-US" sz="2000" i="1">
                            <a:solidFill>
                              <a:srgbClr val="6C993C"/>
                            </a:solidFill>
                            <a:latin typeface="Cambria Math" panose="02040503050406030204" pitchFamily="18" charset="0"/>
                            <a:ea typeface="Cambria Math" panose="02040503050406030204" pitchFamily="18" charset="0"/>
                            <a:cs typeface="Cambria Math" panose="02040503050406030204" pitchFamily="18" charset="0"/>
                          </a:rPr>
                          <m:t>𝑎𝑏</m:t>
                        </m:r>
                      </m:e>
                    </m:rad>
                    <m:r>
                      <a:rPr lang="en-US" sz="2000" i="1">
                        <a:solidFill>
                          <a:srgbClr val="6C993C"/>
                        </a:solidFill>
                        <a:latin typeface="Cambria Math" panose="02040503050406030204" pitchFamily="18" charset="0"/>
                        <a:ea typeface="Cambria Math" panose="02040503050406030204" pitchFamily="18" charset="0"/>
                        <a:cs typeface="Cambria Math" panose="02040503050406030204" pitchFamily="18" charset="0"/>
                      </a:rPr>
                      <m:t>= </m:t>
                    </m:r>
                    <m:rad>
                      <m:radPr>
                        <m:ctrlPr>
                          <a:rPr lang="x-none" sz="2000" i="1">
                            <a:solidFill>
                              <a:srgbClr val="6C993C"/>
                            </a:solidFill>
                            <a:latin typeface="Cambria Math" panose="02040503050406030204" pitchFamily="18" charset="0"/>
                            <a:ea typeface="Cambria Math" panose="02040503050406030204" pitchFamily="18" charset="0"/>
                            <a:cs typeface="Cambria Math" panose="02040503050406030204" pitchFamily="18" charset="0"/>
                          </a:rPr>
                        </m:ctrlPr>
                      </m:radPr>
                      <m:deg>
                        <m:r>
                          <a:rPr lang="en-US" sz="2000" i="1">
                            <a:solidFill>
                              <a:srgbClr val="6C993C"/>
                            </a:solidFill>
                            <a:latin typeface="Cambria Math" panose="02040503050406030204" pitchFamily="18" charset="0"/>
                            <a:ea typeface="Cambria Math" panose="02040503050406030204" pitchFamily="18" charset="0"/>
                            <a:cs typeface="Cambria Math" panose="02040503050406030204" pitchFamily="18" charset="0"/>
                          </a:rPr>
                          <m:t>𝑚</m:t>
                        </m:r>
                      </m:deg>
                      <m:e>
                        <m:r>
                          <a:rPr lang="en-US" sz="2000" i="1">
                            <a:solidFill>
                              <a:srgbClr val="6C993C"/>
                            </a:solidFill>
                            <a:latin typeface="Cambria Math" panose="02040503050406030204" pitchFamily="18" charset="0"/>
                            <a:ea typeface="Cambria Math" panose="02040503050406030204" pitchFamily="18" charset="0"/>
                            <a:cs typeface="Cambria Math" panose="02040503050406030204" pitchFamily="18" charset="0"/>
                          </a:rPr>
                          <m:t>𝑎</m:t>
                        </m:r>
                      </m:e>
                    </m:rad>
                    <m:r>
                      <a:rPr lang="en-US" sz="2000" i="1">
                        <a:solidFill>
                          <a:srgbClr val="6C993C"/>
                        </a:solidFill>
                        <a:latin typeface="Cambria Math" panose="02040503050406030204" pitchFamily="18" charset="0"/>
                        <a:ea typeface="Cambria Math" panose="02040503050406030204" pitchFamily="18" charset="0"/>
                        <a:cs typeface="Cambria Math" panose="02040503050406030204" pitchFamily="18" charset="0"/>
                      </a:rPr>
                      <m:t>∙</m:t>
                    </m:r>
                    <m:rad>
                      <m:radPr>
                        <m:ctrlPr>
                          <a:rPr lang="x-none" sz="2000" i="1">
                            <a:solidFill>
                              <a:srgbClr val="6C993C"/>
                            </a:solidFill>
                            <a:latin typeface="Cambria Math" panose="02040503050406030204" pitchFamily="18" charset="0"/>
                            <a:ea typeface="Cambria Math" panose="02040503050406030204" pitchFamily="18" charset="0"/>
                            <a:cs typeface="Cambria Math" panose="02040503050406030204" pitchFamily="18" charset="0"/>
                          </a:rPr>
                        </m:ctrlPr>
                      </m:radPr>
                      <m:deg>
                        <m:r>
                          <a:rPr lang="en-US" sz="2000" i="1">
                            <a:solidFill>
                              <a:srgbClr val="6C993C"/>
                            </a:solidFill>
                            <a:latin typeface="Cambria Math" panose="02040503050406030204" pitchFamily="18" charset="0"/>
                            <a:ea typeface="Cambria Math" panose="02040503050406030204" pitchFamily="18" charset="0"/>
                            <a:cs typeface="Cambria Math" panose="02040503050406030204" pitchFamily="18" charset="0"/>
                          </a:rPr>
                          <m:t>𝑚</m:t>
                        </m:r>
                      </m:deg>
                      <m:e>
                        <m:r>
                          <a:rPr lang="en-US" sz="2000" i="1">
                            <a:solidFill>
                              <a:srgbClr val="6C993C"/>
                            </a:solidFill>
                            <a:latin typeface="Cambria Math" panose="02040503050406030204" pitchFamily="18" charset="0"/>
                            <a:ea typeface="Cambria Math" panose="02040503050406030204" pitchFamily="18" charset="0"/>
                            <a:cs typeface="Cambria Math" panose="02040503050406030204" pitchFamily="18" charset="0"/>
                          </a:rPr>
                          <m:t>𝑏</m:t>
                        </m:r>
                      </m:e>
                    </m:rad>
                  </m:oMath>
                </a14:m>
                <a:r>
                  <a:rPr lang="en-US" sz="2000" dirty="0">
                    <a:solidFill>
                      <a:srgbClr val="6C993C"/>
                    </a:solidFill>
                    <a:latin typeface="Cambria Math" panose="02040503050406030204" pitchFamily="18" charset="0"/>
                    <a:ea typeface="Cambria Math" panose="02040503050406030204" pitchFamily="18" charset="0"/>
                    <a:cs typeface="Cambria Math" panose="02040503050406030204" pitchFamily="18" charset="0"/>
                  </a:rPr>
                  <a:t>    </a:t>
                </a:r>
                <a:r>
                  <a:rPr lang="en-US" sz="2000" dirty="0">
                    <a:solidFill>
                      <a:srgbClr val="6C993C"/>
                    </a:solidFill>
                    <a:latin typeface="Verdana" panose="020B0604030504040204" pitchFamily="34" charset="0"/>
                    <a:ea typeface="Cambria Math" panose="02040503050406030204" pitchFamily="18" charset="0"/>
                    <a:cs typeface="Cambria Math" panose="02040503050406030204" pitchFamily="18" charset="0"/>
                  </a:rPr>
                  <a:t>or  </a:t>
                </a:r>
                <a:r>
                  <a:rPr lang="en-US" sz="2000" dirty="0">
                    <a:solidFill>
                      <a:srgbClr val="6C993C"/>
                    </a:solidFill>
                    <a:latin typeface="Cambria Math" panose="02040503050406030204" pitchFamily="18" charset="0"/>
                    <a:ea typeface="Cambria Math" panose="02040503050406030204" pitchFamily="18" charset="0"/>
                    <a:cs typeface="Cambria Math" panose="02040503050406030204" pitchFamily="18" charset="0"/>
                  </a:rPr>
                  <a:t> </a:t>
                </a:r>
                <a14:m>
                  <m:oMath xmlns:m="http://schemas.openxmlformats.org/officeDocument/2006/math">
                    <m:rad>
                      <m:radPr>
                        <m:ctrlPr>
                          <a:rPr lang="x-none" sz="2000" i="1">
                            <a:solidFill>
                              <a:srgbClr val="6C993C"/>
                            </a:solidFill>
                            <a:latin typeface="Cambria Math" panose="02040503050406030204" pitchFamily="18" charset="0"/>
                            <a:ea typeface="Cambria Math" panose="02040503050406030204" pitchFamily="18" charset="0"/>
                            <a:cs typeface="Cambria Math" panose="02040503050406030204" pitchFamily="18" charset="0"/>
                          </a:rPr>
                        </m:ctrlPr>
                      </m:radPr>
                      <m:deg>
                        <m:r>
                          <a:rPr lang="en-US" sz="2000" i="1">
                            <a:solidFill>
                              <a:srgbClr val="6C993C"/>
                            </a:solidFill>
                            <a:latin typeface="Cambria Math" panose="02040503050406030204" pitchFamily="18" charset="0"/>
                            <a:ea typeface="Cambria Math" panose="02040503050406030204" pitchFamily="18" charset="0"/>
                            <a:cs typeface="Cambria Math" panose="02040503050406030204" pitchFamily="18" charset="0"/>
                          </a:rPr>
                          <m:t>𝑚</m:t>
                        </m:r>
                      </m:deg>
                      <m:e>
                        <m:r>
                          <a:rPr lang="en-US" sz="2000" i="1">
                            <a:solidFill>
                              <a:srgbClr val="6C993C"/>
                            </a:solidFill>
                            <a:latin typeface="Cambria Math" panose="02040503050406030204" pitchFamily="18" charset="0"/>
                            <a:ea typeface="Cambria Math" panose="02040503050406030204" pitchFamily="18" charset="0"/>
                            <a:cs typeface="Cambria Math" panose="02040503050406030204" pitchFamily="18" charset="0"/>
                          </a:rPr>
                          <m:t>𝑎</m:t>
                        </m:r>
                      </m:e>
                    </m:rad>
                    <m:r>
                      <a:rPr lang="en-US" sz="2000" i="1">
                        <a:solidFill>
                          <a:srgbClr val="6C993C"/>
                        </a:solidFill>
                        <a:latin typeface="Cambria Math" panose="02040503050406030204" pitchFamily="18" charset="0"/>
                        <a:ea typeface="Cambria Math" panose="02040503050406030204" pitchFamily="18" charset="0"/>
                        <a:cs typeface="Cambria Math" panose="02040503050406030204" pitchFamily="18" charset="0"/>
                      </a:rPr>
                      <m:t>∙</m:t>
                    </m:r>
                    <m:rad>
                      <m:radPr>
                        <m:ctrlPr>
                          <a:rPr lang="x-none" sz="2000" i="1">
                            <a:solidFill>
                              <a:srgbClr val="6C993C"/>
                            </a:solidFill>
                            <a:latin typeface="Cambria Math" panose="02040503050406030204" pitchFamily="18" charset="0"/>
                            <a:ea typeface="Cambria Math" panose="02040503050406030204" pitchFamily="18" charset="0"/>
                            <a:cs typeface="Cambria Math" panose="02040503050406030204" pitchFamily="18" charset="0"/>
                          </a:rPr>
                        </m:ctrlPr>
                      </m:radPr>
                      <m:deg>
                        <m:r>
                          <a:rPr lang="en-US" sz="2000" i="1">
                            <a:solidFill>
                              <a:srgbClr val="6C993C"/>
                            </a:solidFill>
                            <a:latin typeface="Cambria Math" panose="02040503050406030204" pitchFamily="18" charset="0"/>
                            <a:ea typeface="Cambria Math" panose="02040503050406030204" pitchFamily="18" charset="0"/>
                            <a:cs typeface="Cambria Math" panose="02040503050406030204" pitchFamily="18" charset="0"/>
                          </a:rPr>
                          <m:t>𝑚</m:t>
                        </m:r>
                      </m:deg>
                      <m:e>
                        <m:r>
                          <a:rPr lang="en-US" sz="2000" i="1">
                            <a:solidFill>
                              <a:srgbClr val="6C993C"/>
                            </a:solidFill>
                            <a:latin typeface="Cambria Math" panose="02040503050406030204" pitchFamily="18" charset="0"/>
                            <a:ea typeface="Cambria Math" panose="02040503050406030204" pitchFamily="18" charset="0"/>
                            <a:cs typeface="Cambria Math" panose="02040503050406030204" pitchFamily="18" charset="0"/>
                          </a:rPr>
                          <m:t>𝑏</m:t>
                        </m:r>
                      </m:e>
                    </m:rad>
                    <m:r>
                      <a:rPr lang="en-US" sz="2000" i="1">
                        <a:solidFill>
                          <a:srgbClr val="6C993C"/>
                        </a:solidFill>
                        <a:latin typeface="Cambria Math" panose="02040503050406030204" pitchFamily="18" charset="0"/>
                        <a:ea typeface="Cambria Math" panose="02040503050406030204" pitchFamily="18" charset="0"/>
                        <a:cs typeface="Cambria Math" panose="02040503050406030204" pitchFamily="18" charset="0"/>
                      </a:rPr>
                      <m:t>= </m:t>
                    </m:r>
                    <m:rad>
                      <m:radPr>
                        <m:ctrlPr>
                          <a:rPr lang="x-none" sz="2000" i="1">
                            <a:solidFill>
                              <a:srgbClr val="6C993C"/>
                            </a:solidFill>
                            <a:latin typeface="Cambria Math" panose="02040503050406030204" pitchFamily="18" charset="0"/>
                            <a:ea typeface="Cambria Math" panose="02040503050406030204" pitchFamily="18" charset="0"/>
                            <a:cs typeface="Cambria Math" panose="02040503050406030204" pitchFamily="18" charset="0"/>
                          </a:rPr>
                        </m:ctrlPr>
                      </m:radPr>
                      <m:deg>
                        <m:r>
                          <a:rPr lang="en-US" sz="2000" i="1">
                            <a:solidFill>
                              <a:srgbClr val="6C993C"/>
                            </a:solidFill>
                            <a:latin typeface="Cambria Math" panose="02040503050406030204" pitchFamily="18" charset="0"/>
                            <a:ea typeface="Cambria Math" panose="02040503050406030204" pitchFamily="18" charset="0"/>
                            <a:cs typeface="Cambria Math" panose="02040503050406030204" pitchFamily="18" charset="0"/>
                          </a:rPr>
                          <m:t>𝑚</m:t>
                        </m:r>
                      </m:deg>
                      <m:e>
                        <m:r>
                          <a:rPr lang="en-US" sz="2000" i="1">
                            <a:solidFill>
                              <a:srgbClr val="6C993C"/>
                            </a:solidFill>
                            <a:latin typeface="Cambria Math" panose="02040503050406030204" pitchFamily="18" charset="0"/>
                            <a:ea typeface="Cambria Math" panose="02040503050406030204" pitchFamily="18" charset="0"/>
                            <a:cs typeface="Cambria Math" panose="02040503050406030204" pitchFamily="18" charset="0"/>
                          </a:rPr>
                          <m:t>𝑎𝑏</m:t>
                        </m:r>
                      </m:e>
                    </m:rad>
                  </m:oMath>
                </a14:m>
                <a:r>
                  <a:rPr lang="en-US" sz="2000" dirty="0">
                    <a:solidFill>
                      <a:srgbClr val="6C993C"/>
                    </a:solidFill>
                    <a:latin typeface="Verdana" panose="020B0604030504040204" pitchFamily="34" charset="0"/>
                    <a:ea typeface="Cambria Math" panose="02040503050406030204" pitchFamily="18" charset="0"/>
                    <a:cs typeface="Cambria Math" panose="02040503050406030204" pitchFamily="18" charset="0"/>
                  </a:rPr>
                  <a:t> </a:t>
                </a:r>
                <a:endParaRPr lang="x-none" sz="2000" dirty="0">
                  <a:latin typeface="Cambria Math" panose="02040503050406030204" pitchFamily="18" charset="0"/>
                  <a:ea typeface="Cambria Math" panose="02040503050406030204" pitchFamily="18" charset="0"/>
                  <a:cs typeface="Cambria Math" panose="02040503050406030204" pitchFamily="18" charset="0"/>
                </a:endParaRPr>
              </a:p>
            </p:txBody>
          </p:sp>
        </mc:Choice>
        <mc:Fallback>
          <p:sp>
            <p:nvSpPr>
              <p:cNvPr id="10" name="Rectangle: Rounded Corners 51">
                <a:extLst>
                  <a:ext uri="{FF2B5EF4-FFF2-40B4-BE49-F238E27FC236}">
                    <a16:creationId xmlns:a16="http://schemas.microsoft.com/office/drawing/2014/main" id="{D9C9B412-ACDF-D646-ABF3-AF964FC25BD4}"/>
                  </a:ext>
                </a:extLst>
              </p:cNvPr>
              <p:cNvSpPr>
                <a:spLocks noRot="1" noChangeAspect="1" noMove="1" noResize="1" noEditPoints="1" noAdjustHandles="1" noChangeArrowheads="1" noChangeShapeType="1" noTextEdit="1"/>
              </p:cNvSpPr>
              <p:nvPr/>
            </p:nvSpPr>
            <p:spPr>
              <a:xfrm>
                <a:off x="2231135" y="1260135"/>
                <a:ext cx="5274069" cy="1048230"/>
              </a:xfrm>
              <a:prstGeom prst="roundRect">
                <a:avLst/>
              </a:prstGeom>
              <a:blipFill>
                <a:blip r:embed="rId5"/>
                <a:stretch>
                  <a:fillRect/>
                </a:stretch>
              </a:blipFill>
              <a:ln>
                <a:solidFill>
                  <a:srgbClr val="E3EFD5"/>
                </a:solidFill>
              </a:ln>
              <a:effectLst>
                <a:outerShdw blurRad="50800" dist="38100" dir="2700000" algn="tl" rotWithShape="0">
                  <a:prstClr val="black">
                    <a:alpha val="40000"/>
                  </a:prstClr>
                </a:outerShdw>
              </a:effectLst>
            </p:spPr>
            <p:txBody>
              <a:bodyPr/>
              <a:lstStyle/>
              <a:p>
                <a:r>
                  <a:rPr lang="en-US">
                    <a:noFill/>
                  </a:rPr>
                  <a:t> </a:t>
                </a:r>
              </a:p>
            </p:txBody>
          </p:sp>
        </mc:Fallback>
      </mc:AlternateContent>
      <p:sp>
        <p:nvSpPr>
          <p:cNvPr id="7" name="Google Shape;282;g104476d1465_1_17">
            <a:extLst>
              <a:ext uri="{FF2B5EF4-FFF2-40B4-BE49-F238E27FC236}">
                <a16:creationId xmlns:a16="http://schemas.microsoft.com/office/drawing/2014/main" id="{297C9C14-CA8C-7F30-7D96-1DDAB6F37E33}"/>
              </a:ext>
            </a:extLst>
          </p:cNvPr>
          <p:cNvSpPr txBox="1"/>
          <p:nvPr/>
        </p:nvSpPr>
        <p:spPr>
          <a:xfrm>
            <a:off x="8908141" y="6469331"/>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42</a:t>
            </a:r>
            <a:endParaRPr i="1" dirty="0">
              <a:latin typeface="Calibri"/>
              <a:ea typeface="Calibri"/>
              <a:cs typeface="Calibri"/>
              <a:sym typeface="Calibri"/>
            </a:endParaRPr>
          </a:p>
        </p:txBody>
      </p:sp>
      <p:pic>
        <p:nvPicPr>
          <p:cNvPr id="8" name="Google Shape;283;g104476d1465_1_17">
            <a:extLst>
              <a:ext uri="{FF2B5EF4-FFF2-40B4-BE49-F238E27FC236}">
                <a16:creationId xmlns:a16="http://schemas.microsoft.com/office/drawing/2014/main" id="{C654CBC7-9069-71FB-D792-18C3624A29A1}"/>
              </a:ext>
            </a:extLst>
          </p:cNvPr>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533433"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81408942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F26763"/>
          </a:solidFill>
          <a:ln w="9525" cap="flat" cmpd="sng">
            <a:solidFill>
              <a:srgbClr val="F26763"/>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C725BEA-22FC-444E-962E-519D9C6446EE}"/>
                  </a:ext>
                </a:extLst>
              </p:cNvPr>
              <p:cNvSpPr txBox="1"/>
              <p:nvPr/>
            </p:nvSpPr>
            <p:spPr>
              <a:xfrm>
                <a:off x="974520" y="306609"/>
                <a:ext cx="9693480" cy="5353517"/>
              </a:xfrm>
              <a:prstGeom prst="rect">
                <a:avLst/>
              </a:prstGeom>
              <a:noFill/>
            </p:spPr>
            <p:txBody>
              <a:bodyPr wrap="square" rtlCol="0">
                <a:spAutoFit/>
              </a:bodyPr>
              <a:lstStyle/>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What was done to rewrite the example expressions?</a:t>
                </a:r>
              </a:p>
              <a:p>
                <a:pPr marL="457200" indent="-457200">
                  <a:buFont typeface="+mj-lt"/>
                  <a:buAutoNum type="arabicPeriod" startAt="2"/>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The following radical expressions are equivalent to </a:t>
                </a:r>
                <a14:m>
                  <m:oMath xmlns:m="http://schemas.openxmlformats.org/officeDocument/2006/math">
                    <m:rad>
                      <m:radPr>
                        <m:ctrlPr>
                          <a:rPr lang="en-US" sz="2000" i="1" dirty="0">
                            <a:latin typeface="Cambria Math" panose="02040503050406030204" pitchFamily="18" charset="0"/>
                            <a:ea typeface="Verdana" panose="020B0604030504040204" pitchFamily="34" charset="0"/>
                            <a:cs typeface="Verdana" panose="020B0604030504040204" pitchFamily="34" charset="0"/>
                          </a:rPr>
                        </m:ctrlPr>
                      </m:radPr>
                      <m:deg>
                        <m:r>
                          <a:rPr lang="en-US" sz="2000" i="1" dirty="0">
                            <a:latin typeface="Cambria Math" panose="02040503050406030204" pitchFamily="18" charset="0"/>
                            <a:ea typeface="Verdana" panose="020B0604030504040204" pitchFamily="34" charset="0"/>
                            <a:cs typeface="Verdana" panose="020B0604030504040204" pitchFamily="34" charset="0"/>
                          </a:rPr>
                          <m:t>3</m:t>
                        </m:r>
                      </m:deg>
                      <m:e>
                        <m:r>
                          <a:rPr lang="es-ES" sz="2000" i="1" dirty="0">
                            <a:latin typeface="Cambria Math" panose="02040503050406030204" pitchFamily="18" charset="0"/>
                            <a:ea typeface="Verdana" panose="020B0604030504040204" pitchFamily="34" charset="0"/>
                            <a:cs typeface="Verdana" panose="020B0604030504040204" pitchFamily="34" charset="0"/>
                          </a:rPr>
                          <m:t>320</m:t>
                        </m:r>
                      </m:e>
                    </m:rad>
                  </m:oMath>
                </a14:m>
                <a:r>
                  <a:rPr lang="en-US" sz="2000" dirty="0">
                    <a:latin typeface="Verdana" panose="020B0604030504040204" pitchFamily="34" charset="0"/>
                    <a:ea typeface="Verdana" panose="020B0604030504040204" pitchFamily="34" charset="0"/>
                    <a:cs typeface="Verdana" panose="020B0604030504040204" pitchFamily="34" charset="0"/>
                  </a:rPr>
                  <a:t>.</a:t>
                </a:r>
              </a:p>
              <a:p>
                <a:pPr marL="457200" indent="-457200">
                  <a:buFont typeface="+mj-lt"/>
                  <a:buAutoNum type="arabicPeriod" startAt="2"/>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Determine which of the expressions can be rewritten in the form of an integer multiplied by a radical. </a:t>
                </a:r>
              </a:p>
              <a:p>
                <a:pPr marL="914400" indent="-457200">
                  <a:buFont typeface="+mj-lt"/>
                  <a:buAutoNum type="alphaL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endParaRPr lang="en-US" sz="2000" dirty="0">
                  <a:latin typeface="Verdana" panose="020B0604030504040204" pitchFamily="34" charset="0"/>
                  <a:ea typeface="Verdana" panose="020B0604030504040204" pitchFamily="34" charset="0"/>
                  <a:cs typeface="Verdana" panose="020B0604030504040204" pitchFamily="34" charset="0"/>
                </a:endParaRPr>
              </a:p>
              <a:p>
                <a:pPr marL="914400" indent="-457200">
                  <a:buFont typeface="+mj-lt"/>
                  <a:buAutoNum type="alphaLcPeriod"/>
                </a:pPr>
                <a:r>
                  <a:rPr lang="en-US" sz="2000" dirty="0">
                    <a:latin typeface="Verdana" panose="020B0604030504040204" pitchFamily="34" charset="0"/>
                    <a:ea typeface="Verdana" panose="020B0604030504040204" pitchFamily="34" charset="0"/>
                    <a:cs typeface="Verdana" panose="020B0604030504040204" pitchFamily="34" charset="0"/>
                  </a:rPr>
                  <a:t>Discuss with your partner why these expressions can be rewritten. </a:t>
                </a:r>
              </a:p>
            </p:txBody>
          </p:sp>
        </mc:Choice>
        <mc:Fallback xmlns="">
          <p:sp>
            <p:nvSpPr>
              <p:cNvPr id="8" name="TextBox 7">
                <a:extLst>
                  <a:ext uri="{FF2B5EF4-FFF2-40B4-BE49-F238E27FC236}">
                    <a16:creationId xmlns:a16="http://schemas.microsoft.com/office/drawing/2014/main" id="{BC725BEA-22FC-444E-962E-519D9C6446EE}"/>
                  </a:ext>
                </a:extLst>
              </p:cNvPr>
              <p:cNvSpPr txBox="1">
                <a:spLocks noRot="1" noChangeAspect="1" noMove="1" noResize="1" noEditPoints="1" noAdjustHandles="1" noChangeArrowheads="1" noChangeShapeType="1" noTextEdit="1"/>
              </p:cNvSpPr>
              <p:nvPr/>
            </p:nvSpPr>
            <p:spPr>
              <a:xfrm>
                <a:off x="974520" y="306609"/>
                <a:ext cx="9693480" cy="5353517"/>
              </a:xfrm>
              <a:prstGeom prst="rect">
                <a:avLst/>
              </a:prstGeom>
              <a:blipFill>
                <a:blip r:embed="rId4"/>
                <a:stretch>
                  <a:fillRect l="-654" t="-711" r="-1438" b="-948"/>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graphicFrame>
            <p:nvGraphicFramePr>
              <p:cNvPr id="6" name="Table 5">
                <a:extLst>
                  <a:ext uri="{FF2B5EF4-FFF2-40B4-BE49-F238E27FC236}">
                    <a16:creationId xmlns:a16="http://schemas.microsoft.com/office/drawing/2014/main" id="{EBCFF70B-DA97-1645-9EFE-1D1DEF1EF02B}"/>
                  </a:ext>
                </a:extLst>
              </p:cNvPr>
              <p:cNvGraphicFramePr>
                <a:graphicFrameLocks noGrp="1"/>
              </p:cNvGraphicFramePr>
              <p:nvPr>
                <p:extLst>
                  <p:ext uri="{D42A27DB-BD31-4B8C-83A1-F6EECF244321}">
                    <p14:modId xmlns:p14="http://schemas.microsoft.com/office/powerpoint/2010/main" val="3183818739"/>
                  </p:ext>
                </p:extLst>
              </p:nvPr>
            </p:nvGraphicFramePr>
            <p:xfrm>
              <a:off x="2871138" y="2485787"/>
              <a:ext cx="4533900" cy="939038"/>
            </p:xfrm>
            <a:graphic>
              <a:graphicData uri="http://schemas.openxmlformats.org/drawingml/2006/table">
                <a:tbl>
                  <a:tblPr bandRow="1"/>
                  <a:tblGrid>
                    <a:gridCol w="2266632">
                      <a:extLst>
                        <a:ext uri="{9D8B030D-6E8A-4147-A177-3AD203B41FA5}">
                          <a16:colId xmlns:a16="http://schemas.microsoft.com/office/drawing/2014/main" val="1508611642"/>
                        </a:ext>
                      </a:extLst>
                    </a:gridCol>
                    <a:gridCol w="2267268">
                      <a:extLst>
                        <a:ext uri="{9D8B030D-6E8A-4147-A177-3AD203B41FA5}">
                          <a16:colId xmlns:a16="http://schemas.microsoft.com/office/drawing/2014/main" val="3175294628"/>
                        </a:ext>
                      </a:extLst>
                    </a:gridCol>
                  </a:tblGrid>
                  <a:tr h="457200">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ad>
                                  <m:radPr>
                                    <m:ctrlPr>
                                      <a:rPr lang="x-none" sz="2000" i="1">
                                        <a:effectLst/>
                                        <a:latin typeface="Cambria Math" panose="02040503050406030204" pitchFamily="18" charset="0"/>
                                        <a:ea typeface="Cambria Math" panose="02040503050406030204" pitchFamily="18" charset="0"/>
                                        <a:cs typeface="Cambria Math" panose="02040503050406030204" pitchFamily="18" charset="0"/>
                                      </a:rPr>
                                    </m:ctrlPr>
                                  </m:radPr>
                                  <m:deg>
                                    <m:r>
                                      <a:rPr lang="en-US" sz="2000" i="1">
                                        <a:effectLst/>
                                        <a:latin typeface="Cambria Math" panose="02040503050406030204" pitchFamily="18" charset="0"/>
                                        <a:ea typeface="Cambria Math" panose="02040503050406030204" pitchFamily="18" charset="0"/>
                                        <a:cs typeface="Cambria Math" panose="02040503050406030204" pitchFamily="18" charset="0"/>
                                      </a:rPr>
                                      <m:t>3</m:t>
                                    </m:r>
                                  </m:deg>
                                  <m:e>
                                    <m:r>
                                      <a:rPr lang="en-US" sz="2000" i="1">
                                        <a:effectLst/>
                                        <a:latin typeface="Cambria Math" panose="02040503050406030204" pitchFamily="18" charset="0"/>
                                        <a:ea typeface="Cambria Math" panose="02040503050406030204" pitchFamily="18" charset="0"/>
                                        <a:cs typeface="Cambria Math" panose="02040503050406030204" pitchFamily="18" charset="0"/>
                                      </a:rPr>
                                      <m:t>32</m:t>
                                    </m:r>
                                  </m:e>
                                </m:rad>
                                <m:r>
                                  <a:rPr lang="en-US" sz="2000" i="1">
                                    <a:effectLst/>
                                    <a:latin typeface="Cambria Math" panose="02040503050406030204" pitchFamily="18" charset="0"/>
                                    <a:ea typeface="Cambria Math" panose="02040503050406030204" pitchFamily="18" charset="0"/>
                                    <a:cs typeface="Cambria Math" panose="02040503050406030204" pitchFamily="18" charset="0"/>
                                  </a:rPr>
                                  <m:t>∙</m:t>
                                </m:r>
                                <m:rad>
                                  <m:radPr>
                                    <m:ctrlPr>
                                      <a:rPr lang="x-none" sz="2000" i="1">
                                        <a:effectLst/>
                                        <a:latin typeface="Cambria Math" panose="02040503050406030204" pitchFamily="18" charset="0"/>
                                        <a:ea typeface="Cambria Math" panose="02040503050406030204" pitchFamily="18" charset="0"/>
                                        <a:cs typeface="Cambria Math" panose="02040503050406030204" pitchFamily="18" charset="0"/>
                                      </a:rPr>
                                    </m:ctrlPr>
                                  </m:radPr>
                                  <m:deg>
                                    <m:r>
                                      <a:rPr lang="en-US" sz="2000" i="1">
                                        <a:effectLst/>
                                        <a:latin typeface="Cambria Math" panose="02040503050406030204" pitchFamily="18" charset="0"/>
                                        <a:ea typeface="Cambria Math" panose="02040503050406030204" pitchFamily="18" charset="0"/>
                                        <a:cs typeface="Cambria Math" panose="02040503050406030204" pitchFamily="18" charset="0"/>
                                      </a:rPr>
                                      <m:t>3</m:t>
                                    </m:r>
                                  </m:deg>
                                  <m:e>
                                    <m:r>
                                      <a:rPr lang="en-US" sz="2000" i="1">
                                        <a:effectLst/>
                                        <a:latin typeface="Cambria Math" panose="02040503050406030204" pitchFamily="18" charset="0"/>
                                        <a:ea typeface="Cambria Math" panose="02040503050406030204" pitchFamily="18" charset="0"/>
                                        <a:cs typeface="Cambria Math" panose="02040503050406030204" pitchFamily="18" charset="0"/>
                                      </a:rPr>
                                      <m:t>10</m:t>
                                    </m:r>
                                  </m:e>
                                </m:rad>
                              </m:oMath>
                            </m:oMathPara>
                          </a14:m>
                          <a:endParaRPr lang="x-none" sz="18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a:noFill/>
                        </a:lnL>
                        <a:lnR>
                          <a:noFill/>
                        </a:lnR>
                        <a:lnT>
                          <a:noFill/>
                        </a:lnT>
                        <a:lnB>
                          <a:noFill/>
                        </a:lnB>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ad>
                                  <m:radPr>
                                    <m:ctrlPr>
                                      <a:rPr lang="x-none" sz="2000" i="1">
                                        <a:effectLst/>
                                        <a:latin typeface="Cambria Math" panose="02040503050406030204" pitchFamily="18" charset="0"/>
                                        <a:ea typeface="Cambria Math" panose="02040503050406030204" pitchFamily="18" charset="0"/>
                                        <a:cs typeface="Cambria Math" panose="02040503050406030204" pitchFamily="18" charset="0"/>
                                      </a:rPr>
                                    </m:ctrlPr>
                                  </m:radPr>
                                  <m:deg>
                                    <m:r>
                                      <a:rPr lang="en-US" sz="2000" i="1">
                                        <a:effectLst/>
                                        <a:latin typeface="Cambria Math" panose="02040503050406030204" pitchFamily="18" charset="0"/>
                                        <a:ea typeface="Cambria Math" panose="02040503050406030204" pitchFamily="18" charset="0"/>
                                        <a:cs typeface="Cambria Math" panose="02040503050406030204" pitchFamily="18" charset="0"/>
                                      </a:rPr>
                                      <m:t>3</m:t>
                                    </m:r>
                                  </m:deg>
                                  <m:e>
                                    <m:r>
                                      <a:rPr lang="en-US" sz="2000" i="1">
                                        <a:effectLst/>
                                        <a:latin typeface="Cambria Math" panose="02040503050406030204" pitchFamily="18" charset="0"/>
                                        <a:ea typeface="Cambria Math" panose="02040503050406030204" pitchFamily="18" charset="0"/>
                                        <a:cs typeface="Cambria Math" panose="02040503050406030204" pitchFamily="18" charset="0"/>
                                      </a:rPr>
                                      <m:t>64</m:t>
                                    </m:r>
                                  </m:e>
                                </m:rad>
                                <m:r>
                                  <a:rPr lang="en-US" sz="2000" i="1">
                                    <a:effectLst/>
                                    <a:latin typeface="Cambria Math" panose="02040503050406030204" pitchFamily="18" charset="0"/>
                                    <a:ea typeface="Cambria Math" panose="02040503050406030204" pitchFamily="18" charset="0"/>
                                    <a:cs typeface="Cambria Math" panose="02040503050406030204" pitchFamily="18" charset="0"/>
                                  </a:rPr>
                                  <m:t>∙</m:t>
                                </m:r>
                                <m:rad>
                                  <m:radPr>
                                    <m:ctrlPr>
                                      <a:rPr lang="x-none" sz="2000" i="1">
                                        <a:effectLst/>
                                        <a:latin typeface="Cambria Math" panose="02040503050406030204" pitchFamily="18" charset="0"/>
                                        <a:ea typeface="Cambria Math" panose="02040503050406030204" pitchFamily="18" charset="0"/>
                                        <a:cs typeface="Cambria Math" panose="02040503050406030204" pitchFamily="18" charset="0"/>
                                      </a:rPr>
                                    </m:ctrlPr>
                                  </m:radPr>
                                  <m:deg>
                                    <m:r>
                                      <a:rPr lang="en-US" sz="2000" i="1">
                                        <a:effectLst/>
                                        <a:latin typeface="Cambria Math" panose="02040503050406030204" pitchFamily="18" charset="0"/>
                                        <a:ea typeface="Cambria Math" panose="02040503050406030204" pitchFamily="18" charset="0"/>
                                        <a:cs typeface="Cambria Math" panose="02040503050406030204" pitchFamily="18" charset="0"/>
                                      </a:rPr>
                                      <m:t>3</m:t>
                                    </m:r>
                                  </m:deg>
                                  <m:e>
                                    <m:r>
                                      <a:rPr lang="en-US" sz="2000" i="1">
                                        <a:effectLst/>
                                        <a:latin typeface="Cambria Math" panose="02040503050406030204" pitchFamily="18" charset="0"/>
                                        <a:ea typeface="Cambria Math" panose="02040503050406030204" pitchFamily="18" charset="0"/>
                                        <a:cs typeface="Cambria Math" panose="02040503050406030204" pitchFamily="18" charset="0"/>
                                      </a:rPr>
                                      <m:t>5</m:t>
                                    </m:r>
                                  </m:e>
                                </m:rad>
                              </m:oMath>
                            </m:oMathPara>
                          </a14:m>
                          <a:endParaRPr lang="x-none" sz="18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a:noFill/>
                        </a:lnL>
                        <a:lnR>
                          <a:noFill/>
                        </a:lnR>
                        <a:lnT>
                          <a:noFill/>
                        </a:lnT>
                        <a:lnB>
                          <a:noFill/>
                        </a:lnB>
                      </a:tcPr>
                    </a:tc>
                    <a:extLst>
                      <a:ext uri="{0D108BD9-81ED-4DB2-BD59-A6C34878D82A}">
                        <a16:rowId xmlns:a16="http://schemas.microsoft.com/office/drawing/2014/main" val="3460209330"/>
                      </a:ext>
                    </a:extLst>
                  </a:tr>
                  <a:tr h="457200">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ad>
                                  <m:radPr>
                                    <m:ctrlPr>
                                      <a:rPr lang="x-none" sz="2000" i="1">
                                        <a:effectLst/>
                                        <a:latin typeface="Cambria Math" panose="02040503050406030204" pitchFamily="18" charset="0"/>
                                        <a:ea typeface="Cambria Math" panose="02040503050406030204" pitchFamily="18" charset="0"/>
                                        <a:cs typeface="Cambria Math" panose="02040503050406030204" pitchFamily="18" charset="0"/>
                                      </a:rPr>
                                    </m:ctrlPr>
                                  </m:radPr>
                                  <m:deg>
                                    <m:r>
                                      <a:rPr lang="en-US" sz="2000" i="1">
                                        <a:effectLst/>
                                        <a:latin typeface="Cambria Math" panose="02040503050406030204" pitchFamily="18" charset="0"/>
                                        <a:ea typeface="Cambria Math" panose="02040503050406030204" pitchFamily="18" charset="0"/>
                                        <a:cs typeface="Cambria Math" panose="02040503050406030204" pitchFamily="18" charset="0"/>
                                      </a:rPr>
                                      <m:t>3</m:t>
                                    </m:r>
                                  </m:deg>
                                  <m:e>
                                    <m:r>
                                      <a:rPr lang="en-US" sz="2000" i="1">
                                        <a:effectLst/>
                                        <a:latin typeface="Cambria Math" panose="02040503050406030204" pitchFamily="18" charset="0"/>
                                        <a:ea typeface="Cambria Math" panose="02040503050406030204" pitchFamily="18" charset="0"/>
                                        <a:cs typeface="Cambria Math" panose="02040503050406030204" pitchFamily="18" charset="0"/>
                                      </a:rPr>
                                      <m:t>8</m:t>
                                    </m:r>
                                  </m:e>
                                </m:rad>
                                <m:r>
                                  <a:rPr lang="en-US" sz="2000" i="1">
                                    <a:effectLst/>
                                    <a:latin typeface="Cambria Math" panose="02040503050406030204" pitchFamily="18" charset="0"/>
                                    <a:ea typeface="Cambria Math" panose="02040503050406030204" pitchFamily="18" charset="0"/>
                                    <a:cs typeface="Cambria Math" panose="02040503050406030204" pitchFamily="18" charset="0"/>
                                  </a:rPr>
                                  <m:t>∙</m:t>
                                </m:r>
                                <m:rad>
                                  <m:radPr>
                                    <m:ctrlPr>
                                      <a:rPr lang="x-none" sz="2000" i="1">
                                        <a:effectLst/>
                                        <a:latin typeface="Cambria Math" panose="02040503050406030204" pitchFamily="18" charset="0"/>
                                        <a:ea typeface="Cambria Math" panose="02040503050406030204" pitchFamily="18" charset="0"/>
                                        <a:cs typeface="Cambria Math" panose="02040503050406030204" pitchFamily="18" charset="0"/>
                                      </a:rPr>
                                    </m:ctrlPr>
                                  </m:radPr>
                                  <m:deg>
                                    <m:r>
                                      <a:rPr lang="en-US" sz="2000" i="1">
                                        <a:effectLst/>
                                        <a:latin typeface="Cambria Math" panose="02040503050406030204" pitchFamily="18" charset="0"/>
                                        <a:ea typeface="Cambria Math" panose="02040503050406030204" pitchFamily="18" charset="0"/>
                                        <a:cs typeface="Cambria Math" panose="02040503050406030204" pitchFamily="18" charset="0"/>
                                      </a:rPr>
                                      <m:t>3</m:t>
                                    </m:r>
                                  </m:deg>
                                  <m:e>
                                    <m:r>
                                      <a:rPr lang="en-US" sz="2000" i="1">
                                        <a:effectLst/>
                                        <a:latin typeface="Cambria Math" panose="02040503050406030204" pitchFamily="18" charset="0"/>
                                        <a:ea typeface="Cambria Math" panose="02040503050406030204" pitchFamily="18" charset="0"/>
                                        <a:cs typeface="Cambria Math" panose="02040503050406030204" pitchFamily="18" charset="0"/>
                                      </a:rPr>
                                      <m:t>40</m:t>
                                    </m:r>
                                  </m:e>
                                </m:rad>
                              </m:oMath>
                            </m:oMathPara>
                          </a14:m>
                          <a:endParaRPr lang="x-none" sz="180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a:noFill/>
                        </a:lnL>
                        <a:lnR>
                          <a:noFill/>
                        </a:lnR>
                        <a:lnT>
                          <a:noFill/>
                        </a:lnT>
                        <a:lnB>
                          <a:noFill/>
                        </a:lnB>
                      </a:tcPr>
                    </a:tc>
                    <a:tc>
                      <a:txBody>
                        <a:bodyPr/>
                        <a:lstStyle/>
                        <a:p>
                          <a:pPr marL="0" marR="0" algn="ctr">
                            <a:lnSpc>
                              <a:spcPct val="107000"/>
                            </a:lnSpc>
                            <a:spcBef>
                              <a:spcPts val="0"/>
                            </a:spcBef>
                            <a:spcAft>
                              <a:spcPts val="800"/>
                            </a:spcAft>
                          </a:pPr>
                          <a14:m>
                            <m:oMathPara xmlns:m="http://schemas.openxmlformats.org/officeDocument/2006/math">
                              <m:oMathParaPr>
                                <m:jc m:val="centerGroup"/>
                              </m:oMathParaPr>
                              <m:oMath xmlns:m="http://schemas.openxmlformats.org/officeDocument/2006/math">
                                <m:rad>
                                  <m:radPr>
                                    <m:ctrlPr>
                                      <a:rPr lang="x-none" sz="2000" i="1">
                                        <a:effectLst/>
                                        <a:latin typeface="Cambria Math" panose="02040503050406030204" pitchFamily="18" charset="0"/>
                                        <a:ea typeface="Cambria Math" panose="02040503050406030204" pitchFamily="18" charset="0"/>
                                        <a:cs typeface="Cambria Math" panose="02040503050406030204" pitchFamily="18" charset="0"/>
                                      </a:rPr>
                                    </m:ctrlPr>
                                  </m:radPr>
                                  <m:deg>
                                    <m:r>
                                      <a:rPr lang="en-US" sz="2000" i="1">
                                        <a:effectLst/>
                                        <a:latin typeface="Cambria Math" panose="02040503050406030204" pitchFamily="18" charset="0"/>
                                        <a:ea typeface="Cambria Math" panose="02040503050406030204" pitchFamily="18" charset="0"/>
                                        <a:cs typeface="Cambria Math" panose="02040503050406030204" pitchFamily="18" charset="0"/>
                                      </a:rPr>
                                      <m:t>3</m:t>
                                    </m:r>
                                  </m:deg>
                                  <m:e>
                                    <m:r>
                                      <a:rPr lang="en-US" sz="2000" i="1">
                                        <a:effectLst/>
                                        <a:latin typeface="Cambria Math" panose="02040503050406030204" pitchFamily="18" charset="0"/>
                                        <a:ea typeface="Cambria Math" panose="02040503050406030204" pitchFamily="18" charset="0"/>
                                        <a:cs typeface="Cambria Math" panose="02040503050406030204" pitchFamily="18" charset="0"/>
                                      </a:rPr>
                                      <m:t>16</m:t>
                                    </m:r>
                                  </m:e>
                                </m:rad>
                                <m:r>
                                  <a:rPr lang="en-US" sz="2000" i="1">
                                    <a:effectLst/>
                                    <a:latin typeface="Cambria Math" panose="02040503050406030204" pitchFamily="18" charset="0"/>
                                    <a:ea typeface="Cambria Math" panose="02040503050406030204" pitchFamily="18" charset="0"/>
                                    <a:cs typeface="Cambria Math" panose="02040503050406030204" pitchFamily="18" charset="0"/>
                                  </a:rPr>
                                  <m:t>∙</m:t>
                                </m:r>
                                <m:rad>
                                  <m:radPr>
                                    <m:ctrlPr>
                                      <a:rPr lang="x-none" sz="2000" i="1">
                                        <a:effectLst/>
                                        <a:latin typeface="Cambria Math" panose="02040503050406030204" pitchFamily="18" charset="0"/>
                                        <a:ea typeface="Cambria Math" panose="02040503050406030204" pitchFamily="18" charset="0"/>
                                        <a:cs typeface="Cambria Math" panose="02040503050406030204" pitchFamily="18" charset="0"/>
                                      </a:rPr>
                                    </m:ctrlPr>
                                  </m:radPr>
                                  <m:deg>
                                    <m:r>
                                      <a:rPr lang="en-US" sz="2000" i="1">
                                        <a:effectLst/>
                                        <a:latin typeface="Cambria Math" panose="02040503050406030204" pitchFamily="18" charset="0"/>
                                        <a:ea typeface="Cambria Math" panose="02040503050406030204" pitchFamily="18" charset="0"/>
                                        <a:cs typeface="Cambria Math" panose="02040503050406030204" pitchFamily="18" charset="0"/>
                                      </a:rPr>
                                      <m:t>3</m:t>
                                    </m:r>
                                  </m:deg>
                                  <m:e>
                                    <m:r>
                                      <a:rPr lang="en-US" sz="2000" i="1">
                                        <a:effectLst/>
                                        <a:latin typeface="Cambria Math" panose="02040503050406030204" pitchFamily="18" charset="0"/>
                                        <a:ea typeface="Cambria Math" panose="02040503050406030204" pitchFamily="18" charset="0"/>
                                        <a:cs typeface="Cambria Math" panose="02040503050406030204" pitchFamily="18" charset="0"/>
                                      </a:rPr>
                                      <m:t>20</m:t>
                                    </m:r>
                                  </m:e>
                                </m:rad>
                              </m:oMath>
                            </m:oMathPara>
                          </a14:m>
                          <a:endParaRPr lang="x-none" sz="18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68580" marR="68580" marT="0" marB="0" anchor="ctr">
                        <a:lnL>
                          <a:noFill/>
                        </a:lnL>
                        <a:lnR>
                          <a:noFill/>
                        </a:lnR>
                        <a:lnT>
                          <a:noFill/>
                        </a:lnT>
                        <a:lnB>
                          <a:noFill/>
                        </a:lnB>
                      </a:tcPr>
                    </a:tc>
                    <a:extLst>
                      <a:ext uri="{0D108BD9-81ED-4DB2-BD59-A6C34878D82A}">
                        <a16:rowId xmlns:a16="http://schemas.microsoft.com/office/drawing/2014/main" val="427747681"/>
                      </a:ext>
                    </a:extLst>
                  </a:tr>
                </a:tbl>
              </a:graphicData>
            </a:graphic>
          </p:graphicFrame>
        </mc:Choice>
        <mc:Fallback xmlns="">
          <p:graphicFrame>
            <p:nvGraphicFramePr>
              <p:cNvPr id="6" name="Table 5">
                <a:extLst>
                  <a:ext uri="{FF2B5EF4-FFF2-40B4-BE49-F238E27FC236}">
                    <a16:creationId xmlns:a16="http://schemas.microsoft.com/office/drawing/2014/main" id="{EBCFF70B-DA97-1645-9EFE-1D1DEF1EF02B}"/>
                  </a:ext>
                </a:extLst>
              </p:cNvPr>
              <p:cNvGraphicFramePr>
                <a:graphicFrameLocks noGrp="1"/>
              </p:cNvGraphicFramePr>
              <p:nvPr>
                <p:extLst>
                  <p:ext uri="{D42A27DB-BD31-4B8C-83A1-F6EECF244321}">
                    <p14:modId xmlns:p14="http://schemas.microsoft.com/office/powerpoint/2010/main" val="3183818739"/>
                  </p:ext>
                </p:extLst>
              </p:nvPr>
            </p:nvGraphicFramePr>
            <p:xfrm>
              <a:off x="2871138" y="2485787"/>
              <a:ext cx="4533900" cy="939038"/>
            </p:xfrm>
            <a:graphic>
              <a:graphicData uri="http://schemas.openxmlformats.org/drawingml/2006/table">
                <a:tbl>
                  <a:tblPr bandRow="1"/>
                  <a:tblGrid>
                    <a:gridCol w="2266632">
                      <a:extLst>
                        <a:ext uri="{9D8B030D-6E8A-4147-A177-3AD203B41FA5}">
                          <a16:colId xmlns:a16="http://schemas.microsoft.com/office/drawing/2014/main" val="1508611642"/>
                        </a:ext>
                      </a:extLst>
                    </a:gridCol>
                    <a:gridCol w="2267268">
                      <a:extLst>
                        <a:ext uri="{9D8B030D-6E8A-4147-A177-3AD203B41FA5}">
                          <a16:colId xmlns:a16="http://schemas.microsoft.com/office/drawing/2014/main" val="3175294628"/>
                        </a:ext>
                      </a:extLst>
                    </a:gridCol>
                  </a:tblGrid>
                  <a:tr h="472821">
                    <a:tc>
                      <a:txBody>
                        <a:bodyPr/>
                        <a:lstStyle/>
                        <a:p>
                          <a:endParaRPr lang="en-US"/>
                        </a:p>
                      </a:txBody>
                      <a:tcPr marL="68580" marR="68580" marT="0" marB="0" anchor="ctr">
                        <a:lnL>
                          <a:noFill/>
                        </a:lnL>
                        <a:lnR>
                          <a:noFill/>
                        </a:lnR>
                        <a:lnT>
                          <a:noFill/>
                        </a:lnT>
                        <a:lnB>
                          <a:noFill/>
                        </a:lnB>
                        <a:blipFill>
                          <a:blip r:embed="rId5"/>
                          <a:stretch>
                            <a:fillRect l="-559" r="-100000" b="-97368"/>
                          </a:stretch>
                        </a:blipFill>
                      </a:tcPr>
                    </a:tc>
                    <a:tc>
                      <a:txBody>
                        <a:bodyPr/>
                        <a:lstStyle/>
                        <a:p>
                          <a:endParaRPr lang="en-US"/>
                        </a:p>
                      </a:txBody>
                      <a:tcPr marL="68580" marR="68580" marT="0" marB="0" anchor="ctr">
                        <a:lnL>
                          <a:noFill/>
                        </a:lnL>
                        <a:lnR>
                          <a:noFill/>
                        </a:lnR>
                        <a:lnT>
                          <a:noFill/>
                        </a:lnT>
                        <a:lnB>
                          <a:noFill/>
                        </a:lnB>
                        <a:blipFill>
                          <a:blip r:embed="rId5"/>
                          <a:stretch>
                            <a:fillRect l="-100559" b="-97368"/>
                          </a:stretch>
                        </a:blipFill>
                      </a:tcPr>
                    </a:tc>
                    <a:extLst>
                      <a:ext uri="{0D108BD9-81ED-4DB2-BD59-A6C34878D82A}">
                        <a16:rowId xmlns:a16="http://schemas.microsoft.com/office/drawing/2014/main" val="3460209330"/>
                      </a:ext>
                    </a:extLst>
                  </a:tr>
                  <a:tr h="466217">
                    <a:tc>
                      <a:txBody>
                        <a:bodyPr/>
                        <a:lstStyle/>
                        <a:p>
                          <a:endParaRPr lang="en-US"/>
                        </a:p>
                      </a:txBody>
                      <a:tcPr marL="68580" marR="68580" marT="0" marB="0" anchor="ctr">
                        <a:lnL>
                          <a:noFill/>
                        </a:lnL>
                        <a:lnR>
                          <a:noFill/>
                        </a:lnR>
                        <a:lnT>
                          <a:noFill/>
                        </a:lnT>
                        <a:lnB>
                          <a:noFill/>
                        </a:lnB>
                        <a:blipFill>
                          <a:blip r:embed="rId5"/>
                          <a:stretch>
                            <a:fillRect l="-559" t="-102703" r="-100000"/>
                          </a:stretch>
                        </a:blipFill>
                      </a:tcPr>
                    </a:tc>
                    <a:tc>
                      <a:txBody>
                        <a:bodyPr/>
                        <a:lstStyle/>
                        <a:p>
                          <a:endParaRPr lang="en-US"/>
                        </a:p>
                      </a:txBody>
                      <a:tcPr marL="68580" marR="68580" marT="0" marB="0" anchor="ctr">
                        <a:lnL>
                          <a:noFill/>
                        </a:lnL>
                        <a:lnR>
                          <a:noFill/>
                        </a:lnR>
                        <a:lnT>
                          <a:noFill/>
                        </a:lnT>
                        <a:lnB>
                          <a:noFill/>
                        </a:lnB>
                        <a:blipFill>
                          <a:blip r:embed="rId5"/>
                          <a:stretch>
                            <a:fillRect l="-100559" t="-102703"/>
                          </a:stretch>
                        </a:blipFill>
                      </a:tcPr>
                    </a:tc>
                    <a:extLst>
                      <a:ext uri="{0D108BD9-81ED-4DB2-BD59-A6C34878D82A}">
                        <a16:rowId xmlns:a16="http://schemas.microsoft.com/office/drawing/2014/main" val="427747681"/>
                      </a:ext>
                    </a:extLst>
                  </a:tr>
                </a:tbl>
              </a:graphicData>
            </a:graphic>
          </p:graphicFrame>
        </mc:Fallback>
      </mc:AlternateContent>
      <p:sp>
        <p:nvSpPr>
          <p:cNvPr id="7" name="Google Shape;282;g104476d1465_1_17">
            <a:extLst>
              <a:ext uri="{FF2B5EF4-FFF2-40B4-BE49-F238E27FC236}">
                <a16:creationId xmlns:a16="http://schemas.microsoft.com/office/drawing/2014/main" id="{FCE6818D-0A63-D492-EC56-C50F289746A8}"/>
              </a:ext>
            </a:extLst>
          </p:cNvPr>
          <p:cNvSpPr txBox="1"/>
          <p:nvPr/>
        </p:nvSpPr>
        <p:spPr>
          <a:xfrm>
            <a:off x="8908141" y="6469331"/>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42</a:t>
            </a:r>
            <a:endParaRPr i="1" dirty="0">
              <a:latin typeface="Calibri"/>
              <a:ea typeface="Calibri"/>
              <a:cs typeface="Calibri"/>
              <a:sym typeface="Calibri"/>
            </a:endParaRPr>
          </a:p>
        </p:txBody>
      </p:sp>
      <p:pic>
        <p:nvPicPr>
          <p:cNvPr id="9" name="Google Shape;283;g104476d1465_1_17">
            <a:extLst>
              <a:ext uri="{FF2B5EF4-FFF2-40B4-BE49-F238E27FC236}">
                <a16:creationId xmlns:a16="http://schemas.microsoft.com/office/drawing/2014/main" id="{D33E08CA-E049-767A-273E-845F03389BB0}"/>
              </a:ext>
            </a:extLst>
          </p:cNvPr>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533433"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08454112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F26763"/>
          </a:solidFill>
          <a:ln w="9525" cap="flat" cmpd="sng">
            <a:solidFill>
              <a:srgbClr val="F26763"/>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TextBox 7">
            <a:extLst>
              <a:ext uri="{FF2B5EF4-FFF2-40B4-BE49-F238E27FC236}">
                <a16:creationId xmlns:a16="http://schemas.microsoft.com/office/drawing/2014/main" id="{BC725BEA-22FC-444E-962E-519D9C6446EE}"/>
              </a:ext>
            </a:extLst>
          </p:cNvPr>
          <p:cNvSpPr txBox="1"/>
          <p:nvPr/>
        </p:nvSpPr>
        <p:spPr>
          <a:xfrm>
            <a:off x="974520" y="289191"/>
            <a:ext cx="9706180" cy="3477875"/>
          </a:xfrm>
          <a:prstGeom prst="rect">
            <a:avLst/>
          </a:prstGeom>
          <a:noFill/>
        </p:spPr>
        <p:txBody>
          <a:bodyPr wrap="square" rtlCol="0">
            <a:spAutoFit/>
          </a:bodyPr>
          <a:lstStyle/>
          <a:p>
            <a:pPr marL="457200" indent="-457200">
              <a:buFont typeface="+mj-lt"/>
              <a:buAutoNum type="arabicPeriod" startAt="4"/>
            </a:pPr>
            <a:r>
              <a:rPr lang="en-US" sz="2000" dirty="0">
                <a:latin typeface="Verdana" panose="020B0604030504040204" pitchFamily="34" charset="0"/>
                <a:ea typeface="Verdana" panose="020B0604030504040204" pitchFamily="34" charset="0"/>
                <a:cs typeface="Verdana" panose="020B0604030504040204" pitchFamily="34" charset="0"/>
              </a:rPr>
              <a:t>Some radical expressions are given as an integer multiplied by the radical before any rewriting is done. Priya and Raj were asked to rewrite this type of expression. Their work is shown.</a:t>
            </a:r>
          </a:p>
          <a:p>
            <a:pPr marL="457200" indent="-457200">
              <a:buFont typeface="+mj-lt"/>
              <a:buAutoNum type="arabicPeriod" startAt="4"/>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indent="-457200">
              <a:buFont typeface="+mj-lt"/>
              <a:buAutoNum type="arabicPeriod" startAt="4"/>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457200"/>
            <a:r>
              <a:rPr lang="en-US" sz="2000" dirty="0">
                <a:latin typeface="Verdana" panose="020B0604030504040204" pitchFamily="34" charset="0"/>
                <a:ea typeface="Verdana" panose="020B0604030504040204" pitchFamily="34" charset="0"/>
                <a:cs typeface="Verdana" panose="020B0604030504040204" pitchFamily="34" charset="0"/>
              </a:rPr>
              <a:t>Explain whether </a:t>
            </a:r>
            <a:r>
              <a:rPr lang="en-US" sz="2000" dirty="0" err="1">
                <a:latin typeface="Verdana" panose="020B0604030504040204" pitchFamily="34" charset="0"/>
                <a:ea typeface="Verdana" panose="020B0604030504040204" pitchFamily="34" charset="0"/>
                <a:cs typeface="Verdana" panose="020B0604030504040204" pitchFamily="34" charset="0"/>
              </a:rPr>
              <a:t>Priya</a:t>
            </a:r>
            <a:r>
              <a:rPr lang="en-US" sz="2000" dirty="0">
                <a:latin typeface="Verdana" panose="020B0604030504040204" pitchFamily="34" charset="0"/>
                <a:ea typeface="Verdana" panose="020B0604030504040204" pitchFamily="34" charset="0"/>
                <a:cs typeface="Verdana" panose="020B0604030504040204" pitchFamily="34" charset="0"/>
              </a:rPr>
              <a:t> or Raj rewrote the expression correctly.</a:t>
            </a:r>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19CFC543-98AF-E240-A393-0F647662021D}"/>
                  </a:ext>
                </a:extLst>
              </p:cNvPr>
              <p:cNvGraphicFramePr>
                <a:graphicFrameLocks noGrp="1"/>
              </p:cNvGraphicFramePr>
              <p:nvPr>
                <p:extLst>
                  <p:ext uri="{D42A27DB-BD31-4B8C-83A1-F6EECF244321}">
                    <p14:modId xmlns:p14="http://schemas.microsoft.com/office/powerpoint/2010/main" val="849649940"/>
                  </p:ext>
                </p:extLst>
              </p:nvPr>
            </p:nvGraphicFramePr>
            <p:xfrm>
              <a:off x="1795236" y="1906140"/>
              <a:ext cx="6937284" cy="1108202"/>
            </p:xfrm>
            <a:graphic>
              <a:graphicData uri="http://schemas.openxmlformats.org/drawingml/2006/table">
                <a:tbl>
                  <a:tblPr firstRow="1" firstCol="1" bandRow="1"/>
                  <a:tblGrid>
                    <a:gridCol w="2011680">
                      <a:extLst>
                        <a:ext uri="{9D8B030D-6E8A-4147-A177-3AD203B41FA5}">
                          <a16:colId xmlns:a16="http://schemas.microsoft.com/office/drawing/2014/main" val="3018485011"/>
                        </a:ext>
                      </a:extLst>
                    </a:gridCol>
                    <a:gridCol w="4925604">
                      <a:extLst>
                        <a:ext uri="{9D8B030D-6E8A-4147-A177-3AD203B41FA5}">
                          <a16:colId xmlns:a16="http://schemas.microsoft.com/office/drawing/2014/main" val="3281321739"/>
                        </a:ext>
                      </a:extLst>
                    </a:gridCol>
                  </a:tblGrid>
                  <a:tr h="457200">
                    <a:tc>
                      <a:txBody>
                        <a:bodyPr/>
                        <a:lstStyle/>
                        <a:p>
                          <a:pPr marL="0" marR="0" algn="ctr">
                            <a:lnSpc>
                              <a:spcPct val="107000"/>
                            </a:lnSpc>
                            <a:spcBef>
                              <a:spcPts val="0"/>
                            </a:spcBef>
                            <a:spcAft>
                              <a:spcPts val="0"/>
                            </a:spcAft>
                          </a:pPr>
                          <a:r>
                            <a:rPr lang="en-US" sz="2000" b="1" dirty="0" err="1">
                              <a:effectLst/>
                              <a:latin typeface="Verdana" panose="020B0604030504040204" pitchFamily="34" charset="0"/>
                              <a:ea typeface="Verdana" panose="020B0604030504040204" pitchFamily="34" charset="0"/>
                              <a:cs typeface="Verdana" panose="020B0604030504040204" pitchFamily="34" charset="0"/>
                            </a:rPr>
                            <a:t>Priya’s</a:t>
                          </a:r>
                          <a:r>
                            <a:rPr lang="en-US" sz="2000" b="1" dirty="0">
                              <a:effectLst/>
                              <a:latin typeface="Verdana" panose="020B0604030504040204" pitchFamily="34" charset="0"/>
                              <a:ea typeface="Verdana" panose="020B0604030504040204" pitchFamily="34" charset="0"/>
                              <a:cs typeface="Verdana" panose="020B0604030504040204" pitchFamily="34" charset="0"/>
                            </a:rPr>
                            <a:t> Work</a:t>
                          </a:r>
                          <a:endParaRPr lang="x-none" sz="2000">
                            <a:effectLst/>
                            <a:latin typeface="Verdana" pitchFamily="34" charset="0"/>
                            <a:ea typeface="Verdana" pitchFamily="34" charset="0"/>
                            <a:cs typeface="Cambria Math" panose="020405030504060302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panose="020B0604030504040204" pitchFamily="34" charset="0"/>
                                    <a:cs typeface="Verdana" panose="020B0604030504040204" pitchFamily="34" charset="0"/>
                                  </a:rPr>
                                  <m:t>3</m:t>
                                </m:r>
                                <m:rad>
                                  <m:radPr>
                                    <m:degHide m:val="on"/>
                                    <m:ctrlPr>
                                      <a:rPr lang="x-none" sz="2000" i="1">
                                        <a:effectLst/>
                                        <a:latin typeface="Cambria Math" panose="02040503050406030204" pitchFamily="18" charset="0"/>
                                        <a:ea typeface="Verdana" panose="020B0604030504040204" pitchFamily="34" charset="0"/>
                                        <a:cs typeface="Verdana" panose="020B0604030504040204" pitchFamily="34" charset="0"/>
                                      </a:rPr>
                                    </m:ctrlPr>
                                  </m:radPr>
                                  <m:deg/>
                                  <m:e>
                                    <m:r>
                                      <a:rPr lang="en-US" sz="2000" i="1">
                                        <a:effectLst/>
                                        <a:latin typeface="Cambria Math" panose="02040503050406030204" pitchFamily="18" charset="0"/>
                                        <a:ea typeface="Verdana" panose="020B0604030504040204" pitchFamily="34" charset="0"/>
                                        <a:cs typeface="Verdana" panose="020B0604030504040204" pitchFamily="34" charset="0"/>
                                      </a:rPr>
                                      <m:t>20</m:t>
                                    </m:r>
                                  </m:e>
                                </m:rad>
                                <m:r>
                                  <a:rPr lang="en-US" sz="2000" i="1">
                                    <a:effectLst/>
                                    <a:latin typeface="Cambria Math" panose="02040503050406030204" pitchFamily="18" charset="0"/>
                                    <a:ea typeface="Verdana" panose="020B0604030504040204" pitchFamily="34" charset="0"/>
                                    <a:cs typeface="Verdana" panose="020B0604030504040204" pitchFamily="34" charset="0"/>
                                  </a:rPr>
                                  <m:t>=3∙</m:t>
                                </m:r>
                                <m:rad>
                                  <m:radPr>
                                    <m:degHide m:val="on"/>
                                    <m:ctrlPr>
                                      <a:rPr lang="x-none" sz="2000" i="1">
                                        <a:effectLst/>
                                        <a:latin typeface="Cambria Math" panose="02040503050406030204" pitchFamily="18" charset="0"/>
                                        <a:ea typeface="Verdana" panose="020B0604030504040204" pitchFamily="34" charset="0"/>
                                        <a:cs typeface="Verdana" panose="020B0604030504040204" pitchFamily="34" charset="0"/>
                                      </a:rPr>
                                    </m:ctrlPr>
                                  </m:radPr>
                                  <m:deg/>
                                  <m:e>
                                    <m:r>
                                      <a:rPr lang="en-US" sz="2000" i="1">
                                        <a:effectLst/>
                                        <a:latin typeface="Cambria Math" panose="02040503050406030204" pitchFamily="18" charset="0"/>
                                        <a:ea typeface="Verdana" panose="020B0604030504040204" pitchFamily="34" charset="0"/>
                                        <a:cs typeface="Verdana" panose="020B0604030504040204" pitchFamily="34" charset="0"/>
                                      </a:rPr>
                                      <m:t>4</m:t>
                                    </m:r>
                                  </m:e>
                                </m:rad>
                                <m:r>
                                  <a:rPr lang="en-US" sz="2000" i="1">
                                    <a:effectLst/>
                                    <a:latin typeface="Cambria Math" panose="02040503050406030204" pitchFamily="18" charset="0"/>
                                    <a:ea typeface="Verdana" panose="020B0604030504040204" pitchFamily="34" charset="0"/>
                                    <a:cs typeface="Verdana" panose="020B0604030504040204" pitchFamily="34" charset="0"/>
                                  </a:rPr>
                                  <m:t>∙</m:t>
                                </m:r>
                                <m:rad>
                                  <m:radPr>
                                    <m:degHide m:val="on"/>
                                    <m:ctrlPr>
                                      <a:rPr lang="x-none" sz="2000" i="1">
                                        <a:effectLst/>
                                        <a:latin typeface="Cambria Math" panose="02040503050406030204" pitchFamily="18" charset="0"/>
                                        <a:ea typeface="Verdana" panose="020B0604030504040204" pitchFamily="34" charset="0"/>
                                        <a:cs typeface="Verdana" panose="020B0604030504040204" pitchFamily="34" charset="0"/>
                                      </a:rPr>
                                    </m:ctrlPr>
                                  </m:radPr>
                                  <m:deg/>
                                  <m:e>
                                    <m:r>
                                      <a:rPr lang="en-US" sz="2000" i="1">
                                        <a:effectLst/>
                                        <a:latin typeface="Cambria Math" panose="02040503050406030204" pitchFamily="18" charset="0"/>
                                        <a:ea typeface="Verdana" panose="020B0604030504040204" pitchFamily="34" charset="0"/>
                                        <a:cs typeface="Verdana" panose="020B0604030504040204" pitchFamily="34" charset="0"/>
                                      </a:rPr>
                                      <m:t>5</m:t>
                                    </m:r>
                                  </m:e>
                                </m:rad>
                                <m:r>
                                  <a:rPr lang="en-US" sz="2000" i="1">
                                    <a:effectLst/>
                                    <a:latin typeface="Cambria Math" panose="02040503050406030204" pitchFamily="18" charset="0"/>
                                    <a:ea typeface="Verdana" panose="020B0604030504040204" pitchFamily="34" charset="0"/>
                                    <a:cs typeface="Verdana" panose="020B0604030504040204" pitchFamily="34" charset="0"/>
                                  </a:rPr>
                                  <m:t>=3∙2</m:t>
                                </m:r>
                                <m:rad>
                                  <m:radPr>
                                    <m:degHide m:val="on"/>
                                    <m:ctrlPr>
                                      <a:rPr lang="x-none" sz="2000" i="1">
                                        <a:effectLst/>
                                        <a:latin typeface="Cambria Math" panose="02040503050406030204" pitchFamily="18" charset="0"/>
                                        <a:ea typeface="Verdana" panose="020B0604030504040204" pitchFamily="34" charset="0"/>
                                        <a:cs typeface="Verdana" panose="020B0604030504040204" pitchFamily="34" charset="0"/>
                                      </a:rPr>
                                    </m:ctrlPr>
                                  </m:radPr>
                                  <m:deg/>
                                  <m:e>
                                    <m:r>
                                      <a:rPr lang="en-US" sz="2000" i="1">
                                        <a:effectLst/>
                                        <a:latin typeface="Cambria Math" panose="02040503050406030204" pitchFamily="18" charset="0"/>
                                        <a:ea typeface="Verdana" panose="020B0604030504040204" pitchFamily="34" charset="0"/>
                                        <a:cs typeface="Verdana" panose="020B0604030504040204" pitchFamily="34" charset="0"/>
                                      </a:rPr>
                                      <m:t>5</m:t>
                                    </m:r>
                                  </m:e>
                                </m:rad>
                                <m:r>
                                  <a:rPr lang="en-US" sz="2000" i="1">
                                    <a:effectLst/>
                                    <a:latin typeface="Cambria Math" panose="02040503050406030204" pitchFamily="18" charset="0"/>
                                    <a:ea typeface="Verdana" panose="020B0604030504040204" pitchFamily="34" charset="0"/>
                                    <a:cs typeface="Verdana" panose="020B0604030504040204" pitchFamily="34" charset="0"/>
                                  </a:rPr>
                                  <m:t>=6</m:t>
                                </m:r>
                                <m:rad>
                                  <m:radPr>
                                    <m:degHide m:val="on"/>
                                    <m:ctrlPr>
                                      <a:rPr lang="x-none" sz="2000" i="1">
                                        <a:effectLst/>
                                        <a:latin typeface="Cambria Math" panose="02040503050406030204" pitchFamily="18" charset="0"/>
                                        <a:ea typeface="Verdana" panose="020B0604030504040204" pitchFamily="34" charset="0"/>
                                        <a:cs typeface="Verdana" panose="020B0604030504040204" pitchFamily="34" charset="0"/>
                                      </a:rPr>
                                    </m:ctrlPr>
                                  </m:radPr>
                                  <m:deg/>
                                  <m:e>
                                    <m:r>
                                      <a:rPr lang="en-US" sz="2000" i="1">
                                        <a:effectLst/>
                                        <a:latin typeface="Cambria Math" panose="02040503050406030204" pitchFamily="18" charset="0"/>
                                        <a:ea typeface="Verdana" panose="020B0604030504040204" pitchFamily="34" charset="0"/>
                                        <a:cs typeface="Verdana" panose="020B0604030504040204" pitchFamily="34" charset="0"/>
                                      </a:rPr>
                                      <m:t>5</m:t>
                                    </m:r>
                                  </m:e>
                                </m:rad>
                              </m:oMath>
                            </m:oMathPara>
                          </a14:m>
                          <a:endParaRPr lang="x-none" sz="2000" dirty="0">
                            <a:effectLst/>
                            <a:latin typeface="Verdana" pitchFamily="34" charset="0"/>
                            <a:ea typeface="Verdana" pitchFamily="34" charset="0"/>
                            <a:cs typeface="Cambria Math" panose="02040503050406030204" pitchFamily="18" charset="0"/>
                          </a:endParaRPr>
                        </a:p>
                      </a:txBody>
                      <a:tcPr marL="1828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373345593"/>
                      </a:ext>
                    </a:extLst>
                  </a:tr>
                  <a:tr h="457200">
                    <a:tc>
                      <a:txBody>
                        <a:bodyPr/>
                        <a:lstStyle/>
                        <a:p>
                          <a:pPr marL="0" marR="0" algn="ctr">
                            <a:lnSpc>
                              <a:spcPct val="107000"/>
                            </a:lnSpc>
                            <a:spcBef>
                              <a:spcPts val="0"/>
                            </a:spcBef>
                            <a:spcAft>
                              <a:spcPts val="0"/>
                            </a:spcAft>
                          </a:pPr>
                          <a:r>
                            <a:rPr lang="en-US" sz="2000" b="1" dirty="0" err="1">
                              <a:solidFill>
                                <a:srgbClr val="000000"/>
                              </a:solidFill>
                              <a:effectLst/>
                              <a:latin typeface="Verdana" panose="020B0604030504040204" pitchFamily="34" charset="0"/>
                              <a:ea typeface="Verdana" panose="020B0604030504040204" pitchFamily="34" charset="0"/>
                              <a:cs typeface="Verdana" panose="020B0604030504040204" pitchFamily="34" charset="0"/>
                            </a:rPr>
                            <a:t>Raj’s</a:t>
                          </a: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Work</a:t>
                          </a:r>
                          <a:endParaRPr lang="x-none" sz="2000" dirty="0">
                            <a:effectLst/>
                            <a:latin typeface="Verdana" pitchFamily="34" charset="0"/>
                            <a:ea typeface="Verdana" pitchFamily="34" charset="0"/>
                            <a:cs typeface="Cambria Math" panose="020405030504060302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panose="02040503050406030204" pitchFamily="18" charset="0"/>
                                    <a:ea typeface="Verdana" panose="020B0604030504040204" pitchFamily="34" charset="0"/>
                                    <a:cs typeface="Verdana" panose="020B0604030504040204" pitchFamily="34" charset="0"/>
                                  </a:rPr>
                                  <m:t>3</m:t>
                                </m:r>
                                <m:rad>
                                  <m:radPr>
                                    <m:degHide m:val="on"/>
                                    <m:ctrlPr>
                                      <a:rPr lang="x-none" sz="2000" i="1">
                                        <a:effectLst/>
                                        <a:latin typeface="Cambria Math" panose="02040503050406030204" pitchFamily="18" charset="0"/>
                                        <a:ea typeface="Verdana" panose="020B0604030504040204" pitchFamily="34" charset="0"/>
                                        <a:cs typeface="Verdana" panose="020B0604030504040204" pitchFamily="34" charset="0"/>
                                      </a:rPr>
                                    </m:ctrlPr>
                                  </m:radPr>
                                  <m:deg/>
                                  <m:e>
                                    <m:r>
                                      <a:rPr lang="en-US" sz="2000" i="1">
                                        <a:effectLst/>
                                        <a:latin typeface="Cambria Math" panose="02040503050406030204" pitchFamily="18" charset="0"/>
                                        <a:ea typeface="Verdana" panose="020B0604030504040204" pitchFamily="34" charset="0"/>
                                        <a:cs typeface="Verdana" panose="020B0604030504040204" pitchFamily="34" charset="0"/>
                                      </a:rPr>
                                      <m:t>20</m:t>
                                    </m:r>
                                  </m:e>
                                </m:rad>
                                <m:r>
                                  <a:rPr lang="en-US" sz="2000" i="1">
                                    <a:effectLst/>
                                    <a:latin typeface="Cambria Math" panose="02040503050406030204" pitchFamily="18" charset="0"/>
                                    <a:ea typeface="Verdana" panose="020B0604030504040204" pitchFamily="34" charset="0"/>
                                    <a:cs typeface="Verdana" panose="020B0604030504040204" pitchFamily="34" charset="0"/>
                                  </a:rPr>
                                  <m:t>=3∙</m:t>
                                </m:r>
                                <m:rad>
                                  <m:radPr>
                                    <m:degHide m:val="on"/>
                                    <m:ctrlPr>
                                      <a:rPr lang="x-none" sz="2000" i="1">
                                        <a:effectLst/>
                                        <a:latin typeface="Cambria Math" panose="02040503050406030204" pitchFamily="18" charset="0"/>
                                        <a:ea typeface="Verdana" panose="020B0604030504040204" pitchFamily="34" charset="0"/>
                                        <a:cs typeface="Verdana" panose="020B0604030504040204" pitchFamily="34" charset="0"/>
                                      </a:rPr>
                                    </m:ctrlPr>
                                  </m:radPr>
                                  <m:deg/>
                                  <m:e>
                                    <m:r>
                                      <a:rPr lang="en-US" sz="2000" i="1">
                                        <a:effectLst/>
                                        <a:latin typeface="Cambria Math" panose="02040503050406030204" pitchFamily="18" charset="0"/>
                                        <a:ea typeface="Verdana" panose="020B0604030504040204" pitchFamily="34" charset="0"/>
                                        <a:cs typeface="Verdana" panose="020B0604030504040204" pitchFamily="34" charset="0"/>
                                      </a:rPr>
                                      <m:t>4</m:t>
                                    </m:r>
                                  </m:e>
                                </m:rad>
                                <m:r>
                                  <a:rPr lang="en-US" sz="2000" i="1">
                                    <a:effectLst/>
                                    <a:latin typeface="Cambria Math" panose="02040503050406030204" pitchFamily="18" charset="0"/>
                                    <a:ea typeface="Verdana" panose="020B0604030504040204" pitchFamily="34" charset="0"/>
                                    <a:cs typeface="Verdana" panose="020B0604030504040204" pitchFamily="34" charset="0"/>
                                  </a:rPr>
                                  <m:t>∙</m:t>
                                </m:r>
                                <m:rad>
                                  <m:radPr>
                                    <m:degHide m:val="on"/>
                                    <m:ctrlPr>
                                      <a:rPr lang="x-none" sz="2000" i="1">
                                        <a:effectLst/>
                                        <a:latin typeface="Cambria Math" panose="02040503050406030204" pitchFamily="18" charset="0"/>
                                        <a:ea typeface="Verdana" panose="020B0604030504040204" pitchFamily="34" charset="0"/>
                                        <a:cs typeface="Verdana" panose="020B0604030504040204" pitchFamily="34" charset="0"/>
                                      </a:rPr>
                                    </m:ctrlPr>
                                  </m:radPr>
                                  <m:deg/>
                                  <m:e>
                                    <m:r>
                                      <a:rPr lang="en-US" sz="2000" i="1">
                                        <a:effectLst/>
                                        <a:latin typeface="Cambria Math" panose="02040503050406030204" pitchFamily="18" charset="0"/>
                                        <a:ea typeface="Verdana" panose="020B0604030504040204" pitchFamily="34" charset="0"/>
                                        <a:cs typeface="Verdana" panose="020B0604030504040204" pitchFamily="34" charset="0"/>
                                      </a:rPr>
                                      <m:t>5</m:t>
                                    </m:r>
                                  </m:e>
                                </m:rad>
                                <m:r>
                                  <a:rPr lang="en-US" sz="2000" i="1">
                                    <a:effectLst/>
                                    <a:latin typeface="Cambria Math" panose="02040503050406030204" pitchFamily="18" charset="0"/>
                                    <a:ea typeface="Verdana" panose="020B0604030504040204" pitchFamily="34" charset="0"/>
                                    <a:cs typeface="Verdana" panose="020B0604030504040204" pitchFamily="34" charset="0"/>
                                  </a:rPr>
                                  <m:t>=3∙2</m:t>
                                </m:r>
                                <m:rad>
                                  <m:radPr>
                                    <m:degHide m:val="on"/>
                                    <m:ctrlPr>
                                      <a:rPr lang="x-none" sz="2000" i="1">
                                        <a:effectLst/>
                                        <a:latin typeface="Cambria Math" panose="02040503050406030204" pitchFamily="18" charset="0"/>
                                        <a:ea typeface="Verdana" panose="020B0604030504040204" pitchFamily="34" charset="0"/>
                                        <a:cs typeface="Verdana" panose="020B0604030504040204" pitchFamily="34" charset="0"/>
                                      </a:rPr>
                                    </m:ctrlPr>
                                  </m:radPr>
                                  <m:deg/>
                                  <m:e>
                                    <m:r>
                                      <a:rPr lang="en-US" sz="2000" i="1">
                                        <a:effectLst/>
                                        <a:latin typeface="Cambria Math" panose="02040503050406030204" pitchFamily="18" charset="0"/>
                                        <a:ea typeface="Verdana" panose="020B0604030504040204" pitchFamily="34" charset="0"/>
                                        <a:cs typeface="Verdana" panose="020B0604030504040204" pitchFamily="34" charset="0"/>
                                      </a:rPr>
                                      <m:t>5</m:t>
                                    </m:r>
                                  </m:e>
                                </m:rad>
                                <m:r>
                                  <a:rPr lang="en-US" sz="2000" i="1">
                                    <a:effectLst/>
                                    <a:latin typeface="Cambria Math" panose="02040503050406030204" pitchFamily="18" charset="0"/>
                                    <a:ea typeface="Verdana" panose="020B0604030504040204" pitchFamily="34" charset="0"/>
                                    <a:cs typeface="Verdana" panose="020B0604030504040204" pitchFamily="34" charset="0"/>
                                  </a:rPr>
                                  <m:t>=5</m:t>
                                </m:r>
                                <m:rad>
                                  <m:radPr>
                                    <m:degHide m:val="on"/>
                                    <m:ctrlPr>
                                      <a:rPr lang="x-none" sz="2000" i="1">
                                        <a:effectLst/>
                                        <a:latin typeface="Cambria Math" panose="02040503050406030204" pitchFamily="18" charset="0"/>
                                        <a:ea typeface="Verdana" panose="020B0604030504040204" pitchFamily="34" charset="0"/>
                                        <a:cs typeface="Verdana" panose="020B0604030504040204" pitchFamily="34" charset="0"/>
                                      </a:rPr>
                                    </m:ctrlPr>
                                  </m:radPr>
                                  <m:deg/>
                                  <m:e>
                                    <m:r>
                                      <a:rPr lang="en-US" sz="2000" i="1">
                                        <a:effectLst/>
                                        <a:latin typeface="Cambria Math" panose="02040503050406030204" pitchFamily="18" charset="0"/>
                                        <a:ea typeface="Verdana" panose="020B0604030504040204" pitchFamily="34" charset="0"/>
                                        <a:cs typeface="Verdana" panose="020B0604030504040204" pitchFamily="34" charset="0"/>
                                      </a:rPr>
                                      <m:t>5</m:t>
                                    </m:r>
                                  </m:e>
                                </m:rad>
                              </m:oMath>
                            </m:oMathPara>
                          </a14:m>
                          <a:endParaRPr lang="x-none" sz="2000" dirty="0">
                            <a:effectLst/>
                            <a:latin typeface="Verdana" pitchFamily="34" charset="0"/>
                            <a:ea typeface="Verdana" pitchFamily="34" charset="0"/>
                            <a:cs typeface="Cambria Math" panose="02040503050406030204" pitchFamily="18" charset="0"/>
                          </a:endParaRPr>
                        </a:p>
                      </a:txBody>
                      <a:tcPr marL="1828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030228117"/>
                      </a:ext>
                    </a:extLst>
                  </a:tr>
                </a:tbl>
              </a:graphicData>
            </a:graphic>
          </p:graphicFrame>
        </mc:Choice>
        <mc:Fallback xmlns="">
          <p:graphicFrame>
            <p:nvGraphicFramePr>
              <p:cNvPr id="4" name="Table 3">
                <a:extLst>
                  <a:ext uri="{FF2B5EF4-FFF2-40B4-BE49-F238E27FC236}">
                    <a16:creationId xmlns:a16="http://schemas.microsoft.com/office/drawing/2014/main" id="{19CFC543-98AF-E240-A393-0F647662021D}"/>
                  </a:ext>
                </a:extLst>
              </p:cNvPr>
              <p:cNvGraphicFramePr>
                <a:graphicFrameLocks noGrp="1"/>
              </p:cNvGraphicFramePr>
              <p:nvPr>
                <p:extLst>
                  <p:ext uri="{D42A27DB-BD31-4B8C-83A1-F6EECF244321}">
                    <p14:modId xmlns:p14="http://schemas.microsoft.com/office/powerpoint/2010/main" val="849649940"/>
                  </p:ext>
                </p:extLst>
              </p:nvPr>
            </p:nvGraphicFramePr>
            <p:xfrm>
              <a:off x="1795236" y="1906140"/>
              <a:ext cx="6937284" cy="1108202"/>
            </p:xfrm>
            <a:graphic>
              <a:graphicData uri="http://schemas.openxmlformats.org/drawingml/2006/table">
                <a:tbl>
                  <a:tblPr firstRow="1" firstCol="1" bandRow="1"/>
                  <a:tblGrid>
                    <a:gridCol w="2011680">
                      <a:extLst>
                        <a:ext uri="{9D8B030D-6E8A-4147-A177-3AD203B41FA5}">
                          <a16:colId xmlns:a16="http://schemas.microsoft.com/office/drawing/2014/main" val="3018485011"/>
                        </a:ext>
                      </a:extLst>
                    </a:gridCol>
                    <a:gridCol w="4925604">
                      <a:extLst>
                        <a:ext uri="{9D8B030D-6E8A-4147-A177-3AD203B41FA5}">
                          <a16:colId xmlns:a16="http://schemas.microsoft.com/office/drawing/2014/main" val="3281321739"/>
                        </a:ext>
                      </a:extLst>
                    </a:gridCol>
                  </a:tblGrid>
                  <a:tr h="554101">
                    <a:tc>
                      <a:txBody>
                        <a:bodyPr/>
                        <a:lstStyle/>
                        <a:p>
                          <a:pPr marL="0" marR="0" algn="ctr">
                            <a:lnSpc>
                              <a:spcPct val="107000"/>
                            </a:lnSpc>
                            <a:spcBef>
                              <a:spcPts val="0"/>
                            </a:spcBef>
                            <a:spcAft>
                              <a:spcPts val="0"/>
                            </a:spcAft>
                          </a:pPr>
                          <a:r>
                            <a:rPr lang="en-US" sz="2000" b="1" dirty="0" err="1">
                              <a:effectLst/>
                              <a:latin typeface="Verdana" panose="020B0604030504040204" pitchFamily="34" charset="0"/>
                              <a:ea typeface="Verdana" panose="020B0604030504040204" pitchFamily="34" charset="0"/>
                              <a:cs typeface="Verdana" panose="020B0604030504040204" pitchFamily="34" charset="0"/>
                            </a:rPr>
                            <a:t>Priya’s</a:t>
                          </a:r>
                          <a:r>
                            <a:rPr lang="en-US" sz="2000" b="1" dirty="0">
                              <a:effectLst/>
                              <a:latin typeface="Verdana" panose="020B0604030504040204" pitchFamily="34" charset="0"/>
                              <a:ea typeface="Verdana" panose="020B0604030504040204" pitchFamily="34" charset="0"/>
                              <a:cs typeface="Verdana" panose="020B0604030504040204" pitchFamily="34" charset="0"/>
                            </a:rPr>
                            <a:t> Work</a:t>
                          </a:r>
                          <a:endParaRPr lang="x-none" sz="2000">
                            <a:effectLst/>
                            <a:latin typeface="Verdana" pitchFamily="34" charset="0"/>
                            <a:ea typeface="Verdana" pitchFamily="34" charset="0"/>
                            <a:cs typeface="Cambria Math" panose="020405030504060302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1828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41237" t="-2273" r="-258" b="-104545"/>
                          </a:stretch>
                        </a:blipFill>
                      </a:tcPr>
                    </a:tc>
                    <a:extLst>
                      <a:ext uri="{0D108BD9-81ED-4DB2-BD59-A6C34878D82A}">
                        <a16:rowId xmlns:a16="http://schemas.microsoft.com/office/drawing/2014/main" val="3373345593"/>
                      </a:ext>
                    </a:extLst>
                  </a:tr>
                  <a:tr h="554101">
                    <a:tc>
                      <a:txBody>
                        <a:bodyPr/>
                        <a:lstStyle/>
                        <a:p>
                          <a:pPr marL="0" marR="0" algn="ctr">
                            <a:lnSpc>
                              <a:spcPct val="107000"/>
                            </a:lnSpc>
                            <a:spcBef>
                              <a:spcPts val="0"/>
                            </a:spcBef>
                            <a:spcAft>
                              <a:spcPts val="0"/>
                            </a:spcAft>
                          </a:pPr>
                          <a:r>
                            <a:rPr lang="en-US" sz="2000" b="1" dirty="0" err="1">
                              <a:solidFill>
                                <a:srgbClr val="000000"/>
                              </a:solidFill>
                              <a:effectLst/>
                              <a:latin typeface="Verdana" panose="020B0604030504040204" pitchFamily="34" charset="0"/>
                              <a:ea typeface="Verdana" panose="020B0604030504040204" pitchFamily="34" charset="0"/>
                              <a:cs typeface="Verdana" panose="020B0604030504040204" pitchFamily="34" charset="0"/>
                            </a:rPr>
                            <a:t>Raj’s</a:t>
                          </a:r>
                          <a:r>
                            <a:rPr lang="en-US" sz="2000" b="1" dirty="0">
                              <a:solidFill>
                                <a:srgbClr val="000000"/>
                              </a:solidFill>
                              <a:effectLst/>
                              <a:latin typeface="Verdana" panose="020B0604030504040204" pitchFamily="34" charset="0"/>
                              <a:ea typeface="Verdana" panose="020B0604030504040204" pitchFamily="34" charset="0"/>
                              <a:cs typeface="Verdana" panose="020B0604030504040204" pitchFamily="34" charset="0"/>
                            </a:rPr>
                            <a:t> Work</a:t>
                          </a:r>
                          <a:endParaRPr lang="x-none" sz="2000">
                            <a:effectLst/>
                            <a:latin typeface="Verdana" pitchFamily="34" charset="0"/>
                            <a:ea typeface="Verdana" pitchFamily="34" charset="0"/>
                            <a:cs typeface="Cambria Math" panose="02040503050406030204" pitchFamily="18" charset="0"/>
                          </a:endParaRPr>
                        </a:p>
                      </a:txBody>
                      <a:tcPr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tc>
                      <a:txBody>
                        <a:bodyPr/>
                        <a:lstStyle/>
                        <a:p>
                          <a:endParaRPr lang="en-US"/>
                        </a:p>
                      </a:txBody>
                      <a:tcPr marL="182880" marT="91440" marB="9144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41237" t="-102273" r="-258" b="-4545"/>
                          </a:stretch>
                        </a:blipFill>
                      </a:tcPr>
                    </a:tc>
                    <a:extLst>
                      <a:ext uri="{0D108BD9-81ED-4DB2-BD59-A6C34878D82A}">
                        <a16:rowId xmlns:a16="http://schemas.microsoft.com/office/drawing/2014/main" val="3030228117"/>
                      </a:ext>
                    </a:extLst>
                  </a:tr>
                </a:tbl>
              </a:graphicData>
            </a:graphic>
          </p:graphicFrame>
        </mc:Fallback>
      </mc:AlternateContent>
      <p:sp>
        <p:nvSpPr>
          <p:cNvPr id="7" name="Google Shape;282;g104476d1465_1_17">
            <a:extLst>
              <a:ext uri="{FF2B5EF4-FFF2-40B4-BE49-F238E27FC236}">
                <a16:creationId xmlns:a16="http://schemas.microsoft.com/office/drawing/2014/main" id="{F4864C76-A014-35F6-EA6B-95EA589D8013}"/>
              </a:ext>
            </a:extLst>
          </p:cNvPr>
          <p:cNvSpPr txBox="1"/>
          <p:nvPr/>
        </p:nvSpPr>
        <p:spPr>
          <a:xfrm>
            <a:off x="8908141" y="6469331"/>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43</a:t>
            </a:r>
            <a:endParaRPr i="1" dirty="0">
              <a:latin typeface="Calibri"/>
              <a:ea typeface="Calibri"/>
              <a:cs typeface="Calibri"/>
              <a:sym typeface="Calibri"/>
            </a:endParaRPr>
          </a:p>
        </p:txBody>
      </p:sp>
      <p:pic>
        <p:nvPicPr>
          <p:cNvPr id="9" name="Google Shape;283;g104476d1465_1_17">
            <a:extLst>
              <a:ext uri="{FF2B5EF4-FFF2-40B4-BE49-F238E27FC236}">
                <a16:creationId xmlns:a16="http://schemas.microsoft.com/office/drawing/2014/main" id="{73E03C46-7603-F6B1-81DD-B20A969C7FA7}"/>
              </a:ext>
            </a:extLst>
          </p:cNvPr>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33433"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19629597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26763"/>
          </a:solidFill>
          <a:ln w="9525" cap="flat" cmpd="sng">
            <a:solidFill>
              <a:srgbClr val="F26763"/>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3816694" y="2766144"/>
            <a:ext cx="5002742"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3BEA6"/>
                </a:solidFill>
                <a:latin typeface="Verdana"/>
                <a:ea typeface="Verdana"/>
                <a:cs typeface="Verdana"/>
                <a:sym typeface="Verdana"/>
              </a:rPr>
              <a:t>Try It</a:t>
            </a:r>
            <a:endParaRPr sz="5100" b="1" dirty="0">
              <a:solidFill>
                <a:srgbClr val="33BEA6"/>
              </a:solidFill>
              <a:latin typeface="Verdana"/>
              <a:ea typeface="Verdana"/>
              <a:cs typeface="Verdana"/>
              <a:sym typeface="Verdana"/>
            </a:endParaRPr>
          </a:p>
        </p:txBody>
      </p:sp>
      <p:pic>
        <p:nvPicPr>
          <p:cNvPr id="8" name="image8.png">
            <a:extLst>
              <a:ext uri="{FF2B5EF4-FFF2-40B4-BE49-F238E27FC236}">
                <a16:creationId xmlns:a16="http://schemas.microsoft.com/office/drawing/2014/main" id="{6F3E5FA5-369D-634B-B0F2-AF1F5129634D}"/>
              </a:ext>
            </a:extLst>
          </p:cNvPr>
          <p:cNvPicPr/>
          <p:nvPr/>
        </p:nvPicPr>
        <p:blipFill>
          <a:blip r:embed="rId3"/>
          <a:srcRect/>
          <a:stretch>
            <a:fillRect/>
          </a:stretch>
        </p:blipFill>
        <p:spPr>
          <a:xfrm>
            <a:off x="3424538" y="2846297"/>
            <a:ext cx="1165395" cy="1165395"/>
          </a:xfrm>
          <a:prstGeom prst="rect">
            <a:avLst/>
          </a:prstGeom>
          <a:ln/>
          <a:effectLst>
            <a:outerShdw blurRad="50800" dist="38100" dir="2700000" algn="tl" rotWithShape="0">
              <a:prstClr val="black">
                <a:alpha val="40000"/>
              </a:prstClr>
            </a:outerShdw>
          </a:effectLst>
        </p:spPr>
      </p:pic>
      <p:sp>
        <p:nvSpPr>
          <p:cNvPr id="9" name="Google Shape;282;g104476d1465_1_17">
            <a:extLst>
              <a:ext uri="{FF2B5EF4-FFF2-40B4-BE49-F238E27FC236}">
                <a16:creationId xmlns:a16="http://schemas.microsoft.com/office/drawing/2014/main" id="{43A04E73-9988-B56B-25D6-B0753AEA659F}"/>
              </a:ext>
            </a:extLst>
          </p:cNvPr>
          <p:cNvSpPr txBox="1"/>
          <p:nvPr/>
        </p:nvSpPr>
        <p:spPr>
          <a:xfrm>
            <a:off x="8908141" y="6469331"/>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43</a:t>
            </a:r>
            <a:endParaRPr i="1" dirty="0">
              <a:latin typeface="Calibri"/>
              <a:ea typeface="Calibri"/>
              <a:cs typeface="Calibri"/>
              <a:sym typeface="Calibri"/>
            </a:endParaRPr>
          </a:p>
        </p:txBody>
      </p:sp>
      <p:pic>
        <p:nvPicPr>
          <p:cNvPr id="10" name="Google Shape;283;g104476d1465_1_17">
            <a:extLst>
              <a:ext uri="{FF2B5EF4-FFF2-40B4-BE49-F238E27FC236}">
                <a16:creationId xmlns:a16="http://schemas.microsoft.com/office/drawing/2014/main" id="{640C0321-783D-4917-2947-347D7B25D1AB}"/>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3433"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12355499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F26763"/>
          </a:solidFill>
          <a:ln w="9525" cap="flat" cmpd="sng">
            <a:solidFill>
              <a:srgbClr val="F26763"/>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8" name="Google Shape;324;g103996e1364_0_25">
            <a:extLst>
              <a:ext uri="{FF2B5EF4-FFF2-40B4-BE49-F238E27FC236}">
                <a16:creationId xmlns:a16="http://schemas.microsoft.com/office/drawing/2014/main" id="{DB5796CA-12EB-BB4C-8338-B127D750A026}"/>
              </a:ext>
            </a:extLst>
          </p:cNvPr>
          <p:cNvSpPr txBox="1">
            <a:spLocks/>
          </p:cNvSpPr>
          <p:nvPr/>
        </p:nvSpPr>
        <p:spPr>
          <a:xfrm>
            <a:off x="1516728" y="242831"/>
            <a:ext cx="9741079" cy="960616"/>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3600" b="1" dirty="0">
                <a:solidFill>
                  <a:srgbClr val="33BEA6"/>
                </a:solidFill>
                <a:latin typeface="Verdana"/>
                <a:ea typeface="Verdana"/>
                <a:cs typeface="Verdana"/>
                <a:sym typeface="Verdana"/>
              </a:rPr>
              <a:t>1.8.4 Try It: Equivalent Radical Expressions</a:t>
            </a:r>
          </a:p>
        </p:txBody>
      </p:sp>
      <p:sp>
        <p:nvSpPr>
          <p:cNvPr id="10" name="TextBox 9">
            <a:extLst>
              <a:ext uri="{FF2B5EF4-FFF2-40B4-BE49-F238E27FC236}">
                <a16:creationId xmlns:a16="http://schemas.microsoft.com/office/drawing/2014/main" id="{E44DF7DE-9172-3E4E-B74A-7A51585FB6EA}"/>
              </a:ext>
            </a:extLst>
          </p:cNvPr>
          <p:cNvSpPr txBox="1"/>
          <p:nvPr/>
        </p:nvSpPr>
        <p:spPr>
          <a:xfrm>
            <a:off x="1141824" y="1499631"/>
            <a:ext cx="9957976" cy="3785652"/>
          </a:xfrm>
          <a:prstGeom prst="rect">
            <a:avLst/>
          </a:prstGeom>
          <a:noFill/>
        </p:spPr>
        <p:txBody>
          <a:bodyPr wrap="square" rtlCol="0">
            <a:spAutoFit/>
          </a:bodyPr>
          <a:lstStyle/>
          <a:p>
            <a:pPr marL="457200" indent="-457200">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Write two equivalent expressions for each radical expression. Show all your steps.</a:t>
            </a:r>
          </a:p>
          <a:p>
            <a:pPr marL="457200" indent="-457200">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indent="-6350">
              <a:buFont typeface="+mj-lt"/>
              <a:buAutoNum type="alphaLcPeriod"/>
            </a:pPr>
            <a:r>
              <a:rPr lang="en-PH" sz="2400" dirty="0">
                <a:latin typeface="Verdana" panose="020B0604030504040204" pitchFamily="34" charset="0"/>
                <a:ea typeface="Verdana" panose="020B0604030504040204" pitchFamily="34" charset="0"/>
                <a:cs typeface="Verdana" panose="020B0604030504040204" pitchFamily="34" charset="0"/>
              </a:rPr>
              <a:t> </a:t>
            </a:r>
          </a:p>
          <a:p>
            <a:pPr marL="457200" indent="-6350">
              <a:buFont typeface="+mj-lt"/>
              <a:buAutoNum type="alphaLcPeriod"/>
            </a:pPr>
            <a:endParaRPr lang="en-PH" sz="2400" dirty="0">
              <a:latin typeface="Verdana" panose="020B0604030504040204" pitchFamily="34" charset="0"/>
              <a:ea typeface="Verdana" panose="020B0604030504040204" pitchFamily="34" charset="0"/>
              <a:cs typeface="Verdana" panose="020B0604030504040204" pitchFamily="34" charset="0"/>
            </a:endParaRPr>
          </a:p>
          <a:p>
            <a:pPr marL="457200" indent="-6350">
              <a:buFont typeface="+mj-lt"/>
              <a:buAutoNum type="alphaLcPeriod"/>
            </a:pPr>
            <a:endParaRPr lang="en-PH" sz="2400" dirty="0">
              <a:latin typeface="Verdana" panose="020B0604030504040204" pitchFamily="34" charset="0"/>
              <a:ea typeface="Verdana" panose="020B0604030504040204" pitchFamily="34" charset="0"/>
              <a:cs typeface="Verdana" panose="020B0604030504040204" pitchFamily="34" charset="0"/>
            </a:endParaRPr>
          </a:p>
          <a:p>
            <a:pPr marL="457200" indent="-6350">
              <a:buFont typeface="+mj-lt"/>
              <a:buAutoNum type="alphaLcPeriod"/>
            </a:pPr>
            <a:endParaRPr lang="en-PH" sz="2400" dirty="0">
              <a:latin typeface="Verdana" panose="020B0604030504040204" pitchFamily="34" charset="0"/>
              <a:ea typeface="Verdana" panose="020B0604030504040204" pitchFamily="34" charset="0"/>
              <a:cs typeface="Verdana" panose="020B0604030504040204" pitchFamily="34" charset="0"/>
            </a:endParaRPr>
          </a:p>
          <a:p>
            <a:pPr marL="457200" indent="-6350">
              <a:buFont typeface="+mj-lt"/>
              <a:buAutoNum type="alphaLcPeriod"/>
            </a:pPr>
            <a:endParaRPr lang="en-PH" sz="2400" dirty="0">
              <a:latin typeface="Verdana" panose="020B0604030504040204" pitchFamily="34" charset="0"/>
              <a:ea typeface="Verdana" panose="020B0604030504040204" pitchFamily="34" charset="0"/>
              <a:cs typeface="Verdana" panose="020B0604030504040204" pitchFamily="34" charset="0"/>
            </a:endParaRPr>
          </a:p>
          <a:p>
            <a:pPr marL="457200" indent="-6350">
              <a:buFont typeface="+mj-lt"/>
              <a:buAutoNum type="alphaLcPeriod"/>
            </a:pPr>
            <a:endParaRPr lang="en-PH" sz="2400" dirty="0">
              <a:latin typeface="Verdana" panose="020B0604030504040204" pitchFamily="34" charset="0"/>
              <a:ea typeface="Verdana" panose="020B0604030504040204" pitchFamily="34" charset="0"/>
              <a:cs typeface="Verdana" panose="020B0604030504040204" pitchFamily="34" charset="0"/>
            </a:endParaRPr>
          </a:p>
          <a:p>
            <a:pPr marL="457200" indent="-6350">
              <a:buFont typeface="+mj-lt"/>
              <a:buAutoNum type="alphaLcPeriod"/>
            </a:pPr>
            <a:r>
              <a:rPr lang="en-PH" sz="2400" dirty="0">
                <a:latin typeface="Verdana" panose="020B0604030504040204" pitchFamily="34" charset="0"/>
                <a:ea typeface="Verdana" panose="020B0604030504040204" pitchFamily="34" charset="0"/>
                <a:cs typeface="Verdana" panose="020B0604030504040204" pitchFamily="34" charset="0"/>
              </a:rPr>
              <a:t> </a:t>
            </a:r>
            <a:endParaRPr lang="en-US" sz="2400" dirty="0">
              <a:latin typeface="Verdana" panose="020B0604030504040204" pitchFamily="34" charset="0"/>
              <a:ea typeface="Verdana" panose="020B0604030504040204" pitchFamily="34" charset="0"/>
              <a:cs typeface="Verdana" panose="020B0604030504040204" pitchFamily="34" charset="0"/>
            </a:endParaRPr>
          </a:p>
        </p:txBody>
      </p:sp>
      <p:pic>
        <p:nvPicPr>
          <p:cNvPr id="9" name="image8.png">
            <a:extLst>
              <a:ext uri="{FF2B5EF4-FFF2-40B4-BE49-F238E27FC236}">
                <a16:creationId xmlns:a16="http://schemas.microsoft.com/office/drawing/2014/main" id="{6BEF10FB-0551-464B-BBC9-99CD32ADE148}"/>
              </a:ext>
            </a:extLst>
          </p:cNvPr>
          <p:cNvPicPr/>
          <p:nvPr/>
        </p:nvPicPr>
        <p:blipFill>
          <a:blip r:embed="rId3" cstate="screen">
            <a:extLst>
              <a:ext uri="{28A0092B-C50C-407E-A947-70E740481C1C}">
                <a14:useLocalDpi xmlns:a14="http://schemas.microsoft.com/office/drawing/2010/main"/>
              </a:ext>
            </a:extLst>
          </a:blip>
          <a:srcRect/>
          <a:stretch>
            <a:fillRect/>
          </a:stretch>
        </p:blipFill>
        <p:spPr>
          <a:xfrm>
            <a:off x="766919" y="271131"/>
            <a:ext cx="749810" cy="749810"/>
          </a:xfrm>
          <a:prstGeom prst="rect">
            <a:avLst/>
          </a:prstGeom>
          <a:ln/>
        </p:spPr>
      </p:pic>
      <mc:AlternateContent xmlns:mc="http://schemas.openxmlformats.org/markup-compatibility/2006">
        <mc:Choice xmlns:a14="http://schemas.microsoft.com/office/drawing/2010/main" Requires="a14">
          <p:graphicFrame>
            <p:nvGraphicFramePr>
              <p:cNvPr id="3" name="Table 2">
                <a:extLst>
                  <a:ext uri="{FF2B5EF4-FFF2-40B4-BE49-F238E27FC236}">
                    <a16:creationId xmlns:a16="http://schemas.microsoft.com/office/drawing/2014/main" id="{C8022B5A-0092-274E-AE8A-8AE27CED4B18}"/>
                  </a:ext>
                </a:extLst>
              </p:cNvPr>
              <p:cNvGraphicFramePr>
                <a:graphicFrameLocks noGrp="1"/>
              </p:cNvGraphicFramePr>
              <p:nvPr>
                <p:extLst>
                  <p:ext uri="{D42A27DB-BD31-4B8C-83A1-F6EECF244321}">
                    <p14:modId xmlns:p14="http://schemas.microsoft.com/office/powerpoint/2010/main" val="2123814790"/>
                  </p:ext>
                </p:extLst>
              </p:nvPr>
            </p:nvGraphicFramePr>
            <p:xfrm>
              <a:off x="2197743" y="2519328"/>
              <a:ext cx="6400800" cy="1371600"/>
            </p:xfrm>
            <a:graphic>
              <a:graphicData uri="http://schemas.openxmlformats.org/drawingml/2006/table">
                <a:tbl>
                  <a:tblPr firstRow="1" firstCol="1" bandRow="1"/>
                  <a:tblGrid>
                    <a:gridCol w="6400800">
                      <a:extLst>
                        <a:ext uri="{9D8B030D-6E8A-4147-A177-3AD203B41FA5}">
                          <a16:colId xmlns:a16="http://schemas.microsoft.com/office/drawing/2014/main" val="124075428"/>
                        </a:ext>
                      </a:extLst>
                    </a:gridCol>
                  </a:tblGrid>
                  <a:tr h="457200">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ad>
                                  <m:radPr>
                                    <m:degHide m:val="on"/>
                                    <m:ctrlPr>
                                      <a:rPr lang="x-none" sz="1900" b="1" i="1">
                                        <a:effectLst/>
                                        <a:latin typeface="Cambria Math" panose="02040503050406030204" pitchFamily="18" charset="0"/>
                                        <a:ea typeface="Verdana" panose="020B0604030504040204" pitchFamily="34" charset="0"/>
                                        <a:cs typeface="Verdana" panose="020B0604030504040204" pitchFamily="34" charset="0"/>
                                      </a:rPr>
                                    </m:ctrlPr>
                                  </m:radPr>
                                  <m:deg/>
                                  <m:e>
                                    <m:r>
                                      <a:rPr lang="en-US" sz="1900" b="1"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𝟏𝟑𝟓</m:t>
                                    </m:r>
                                  </m:e>
                                </m:rad>
                              </m:oMath>
                            </m:oMathPara>
                          </a14:m>
                          <a:endParaRPr lang="x-none" sz="1700">
                            <a:effectLst/>
                            <a:latin typeface="Cambria Math" panose="02040503050406030204" pitchFamily="18" charset="0"/>
                            <a:ea typeface="Cambria Math" panose="02040503050406030204" pitchFamily="18" charset="0"/>
                            <a:cs typeface="Cambria Math" panose="02040503050406030204" pitchFamily="18" charset="0"/>
                          </a:endParaRPr>
                        </a:p>
                      </a:txBody>
                      <a:tcPr marL="73355" marR="7335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885473765"/>
                      </a:ext>
                    </a:extLst>
                  </a:tr>
                  <a:tr h="457200">
                    <a:tc>
                      <a:txBody>
                        <a:bodyPr/>
                        <a:lstStyle/>
                        <a:p>
                          <a:pPr marL="0" marR="0">
                            <a:lnSpc>
                              <a:spcPct val="107000"/>
                            </a:lnSpc>
                            <a:spcBef>
                              <a:spcPts val="0"/>
                            </a:spcBef>
                            <a:spcAft>
                              <a:spcPts val="0"/>
                            </a:spcAft>
                          </a:pPr>
                          <a14:m>
                            <m:oMath xmlns:m="http://schemas.openxmlformats.org/officeDocument/2006/math">
                              <m:rad>
                                <m:radPr>
                                  <m:degHide m:val="on"/>
                                  <m:ctrlPr>
                                    <a:rPr lang="x-none" sz="1900" i="1">
                                      <a:effectLst/>
                                      <a:latin typeface="Cambria Math" panose="02040503050406030204" pitchFamily="18" charset="0"/>
                                      <a:ea typeface="Verdana" panose="020B0604030504040204" pitchFamily="34" charset="0"/>
                                      <a:cs typeface="Verdana" panose="020B0604030504040204" pitchFamily="34" charset="0"/>
                                    </a:rPr>
                                  </m:ctrlPr>
                                </m:radPr>
                                <m:deg/>
                                <m:e>
                                  <m:r>
                                    <a:rPr lang="en-US" sz="1900" i="1">
                                      <a:effectLst/>
                                      <a:latin typeface="Cambria Math" panose="02040503050406030204" pitchFamily="18" charset="0"/>
                                      <a:ea typeface="Verdana" panose="020B0604030504040204" pitchFamily="34" charset="0"/>
                                      <a:cs typeface="Verdana" panose="020B0604030504040204" pitchFamily="34" charset="0"/>
                                    </a:rPr>
                                    <m:t>135</m:t>
                                  </m:r>
                                </m:e>
                              </m:rad>
                              <m:r>
                                <a:rPr lang="en-US" sz="1900" i="1">
                                  <a:effectLst/>
                                  <a:latin typeface="Cambria Math" panose="02040503050406030204" pitchFamily="18" charset="0"/>
                                  <a:ea typeface="Verdana" panose="020B0604030504040204" pitchFamily="34" charset="0"/>
                                  <a:cs typeface="Verdana" panose="020B0604030504040204" pitchFamily="34" charset="0"/>
                                </a:rPr>
                                <m:t>= </m:t>
                              </m:r>
                            </m:oMath>
                          </a14:m>
                          <a:r>
                            <a:rPr lang="en-US" sz="1900" dirty="0">
                              <a:effectLst/>
                              <a:latin typeface="Verdana" panose="020B0604030504040204" pitchFamily="34" charset="0"/>
                              <a:ea typeface="Verdana" panose="020B0604030504040204" pitchFamily="34" charset="0"/>
                              <a:cs typeface="Verdana" panose="020B0604030504040204" pitchFamily="34" charset="0"/>
                            </a:rPr>
                            <a:t>  </a:t>
                          </a:r>
                          <a:endParaRPr lang="x-none" sz="1700">
                            <a:effectLst/>
                            <a:latin typeface="Cambria Math" panose="02040503050406030204" pitchFamily="18" charset="0"/>
                            <a:ea typeface="Cambria Math" panose="02040503050406030204" pitchFamily="18" charset="0"/>
                            <a:cs typeface="Cambria Math" panose="02040503050406030204" pitchFamily="18" charset="0"/>
                          </a:endParaRPr>
                        </a:p>
                      </a:txBody>
                      <a:tcPr marL="73355" marR="7335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394927776"/>
                      </a:ext>
                    </a:extLst>
                  </a:tr>
                  <a:tr h="457200">
                    <a:tc>
                      <a:txBody>
                        <a:bodyPr/>
                        <a:lstStyle/>
                        <a:p>
                          <a:pPr marL="0" marR="0">
                            <a:lnSpc>
                              <a:spcPct val="107000"/>
                            </a:lnSpc>
                            <a:spcBef>
                              <a:spcPts val="0"/>
                            </a:spcBef>
                            <a:spcAft>
                              <a:spcPts val="0"/>
                            </a:spcAft>
                          </a:pPr>
                          <a14:m>
                            <m:oMath xmlns:m="http://schemas.openxmlformats.org/officeDocument/2006/math">
                              <m:rad>
                                <m:radPr>
                                  <m:degHide m:val="on"/>
                                  <m:ctrlPr>
                                    <a:rPr lang="x-none" sz="1900" i="1">
                                      <a:effectLst/>
                                      <a:latin typeface="Cambria Math" panose="02040503050406030204" pitchFamily="18" charset="0"/>
                                      <a:ea typeface="Verdana" panose="020B0604030504040204" pitchFamily="34" charset="0"/>
                                      <a:cs typeface="Verdana" panose="020B0604030504040204" pitchFamily="34" charset="0"/>
                                    </a:rPr>
                                  </m:ctrlPr>
                                </m:radPr>
                                <m:deg/>
                                <m:e>
                                  <m:r>
                                    <a:rPr lang="en-US" sz="1900" i="1">
                                      <a:effectLst/>
                                      <a:latin typeface="Cambria Math" panose="02040503050406030204" pitchFamily="18" charset="0"/>
                                      <a:ea typeface="Verdana" panose="020B0604030504040204" pitchFamily="34" charset="0"/>
                                      <a:cs typeface="Verdana" panose="020B0604030504040204" pitchFamily="34" charset="0"/>
                                    </a:rPr>
                                    <m:t>135</m:t>
                                  </m:r>
                                </m:e>
                              </m:rad>
                              <m:r>
                                <a:rPr lang="en-US" sz="1900" i="1">
                                  <a:effectLst/>
                                  <a:latin typeface="Cambria Math" panose="02040503050406030204" pitchFamily="18" charset="0"/>
                                  <a:ea typeface="Verdana" panose="020B0604030504040204" pitchFamily="34" charset="0"/>
                                  <a:cs typeface="Verdana" panose="020B0604030504040204" pitchFamily="34" charset="0"/>
                                </a:rPr>
                                <m:t>= </m:t>
                              </m:r>
                            </m:oMath>
                          </a14:m>
                          <a:r>
                            <a:rPr lang="en-US" sz="1900" dirty="0">
                              <a:effectLst/>
                              <a:latin typeface="Verdana" panose="020B0604030504040204" pitchFamily="34" charset="0"/>
                              <a:ea typeface="Verdana" panose="020B0604030504040204" pitchFamily="34" charset="0"/>
                              <a:cs typeface="Verdana" panose="020B0604030504040204" pitchFamily="34" charset="0"/>
                            </a:rPr>
                            <a:t> </a:t>
                          </a:r>
                          <a:endParaRPr lang="x-none" sz="1700" dirty="0">
                            <a:effectLst/>
                            <a:latin typeface="Cambria Math" panose="02040503050406030204" pitchFamily="18" charset="0"/>
                            <a:ea typeface="Cambria Math" panose="02040503050406030204" pitchFamily="18" charset="0"/>
                            <a:cs typeface="Cambria Math" panose="02040503050406030204" pitchFamily="18" charset="0"/>
                          </a:endParaRPr>
                        </a:p>
                      </a:txBody>
                      <a:tcPr marL="73355" marR="7335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3428638027"/>
                      </a:ext>
                    </a:extLst>
                  </a:tr>
                </a:tbl>
              </a:graphicData>
            </a:graphic>
          </p:graphicFrame>
        </mc:Choice>
        <mc:Fallback>
          <p:graphicFrame>
            <p:nvGraphicFramePr>
              <p:cNvPr id="3" name="Table 2">
                <a:extLst>
                  <a:ext uri="{FF2B5EF4-FFF2-40B4-BE49-F238E27FC236}">
                    <a16:creationId xmlns:a16="http://schemas.microsoft.com/office/drawing/2014/main" id="{C8022B5A-0092-274E-AE8A-8AE27CED4B18}"/>
                  </a:ext>
                </a:extLst>
              </p:cNvPr>
              <p:cNvGraphicFramePr>
                <a:graphicFrameLocks noGrp="1"/>
              </p:cNvGraphicFramePr>
              <p:nvPr>
                <p:extLst>
                  <p:ext uri="{D42A27DB-BD31-4B8C-83A1-F6EECF244321}">
                    <p14:modId xmlns:p14="http://schemas.microsoft.com/office/powerpoint/2010/main" val="2123814790"/>
                  </p:ext>
                </p:extLst>
              </p:nvPr>
            </p:nvGraphicFramePr>
            <p:xfrm>
              <a:off x="2197743" y="2519328"/>
              <a:ext cx="6400800" cy="1371600"/>
            </p:xfrm>
            <a:graphic>
              <a:graphicData uri="http://schemas.openxmlformats.org/drawingml/2006/table">
                <a:tbl>
                  <a:tblPr firstRow="1" firstCol="1" bandRow="1"/>
                  <a:tblGrid>
                    <a:gridCol w="6400800">
                      <a:extLst>
                        <a:ext uri="{9D8B030D-6E8A-4147-A177-3AD203B41FA5}">
                          <a16:colId xmlns:a16="http://schemas.microsoft.com/office/drawing/2014/main" val="124075428"/>
                        </a:ext>
                      </a:extLst>
                    </a:gridCol>
                  </a:tblGrid>
                  <a:tr h="457200">
                    <a:tc>
                      <a:txBody>
                        <a:bodyPr/>
                        <a:lstStyle/>
                        <a:p>
                          <a:endParaRPr lang="en-US"/>
                        </a:p>
                      </a:txBody>
                      <a:tcPr marL="73355" marR="7335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95" t="-1333" r="-190" b="-204000"/>
                          </a:stretch>
                        </a:blipFill>
                      </a:tcPr>
                    </a:tc>
                    <a:extLst>
                      <a:ext uri="{0D108BD9-81ED-4DB2-BD59-A6C34878D82A}">
                        <a16:rowId xmlns:a16="http://schemas.microsoft.com/office/drawing/2014/main" val="1885473765"/>
                      </a:ext>
                    </a:extLst>
                  </a:tr>
                  <a:tr h="457200">
                    <a:tc>
                      <a:txBody>
                        <a:bodyPr/>
                        <a:lstStyle/>
                        <a:p>
                          <a:endParaRPr lang="en-US"/>
                        </a:p>
                      </a:txBody>
                      <a:tcPr marL="73355" marR="7335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95" t="-100000" r="-190" b="-101316"/>
                          </a:stretch>
                        </a:blipFill>
                      </a:tcPr>
                    </a:tc>
                    <a:extLst>
                      <a:ext uri="{0D108BD9-81ED-4DB2-BD59-A6C34878D82A}">
                        <a16:rowId xmlns:a16="http://schemas.microsoft.com/office/drawing/2014/main" val="1394927776"/>
                      </a:ext>
                    </a:extLst>
                  </a:tr>
                  <a:tr h="457200">
                    <a:tc>
                      <a:txBody>
                        <a:bodyPr/>
                        <a:lstStyle/>
                        <a:p>
                          <a:endParaRPr lang="en-US"/>
                        </a:p>
                      </a:txBody>
                      <a:tcPr marL="73355" marR="73355"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4"/>
                          <a:stretch>
                            <a:fillRect l="-95" t="-202667" r="-190" b="-2667"/>
                          </a:stretch>
                        </a:blipFill>
                      </a:tcPr>
                    </a:tc>
                    <a:extLst>
                      <a:ext uri="{0D108BD9-81ED-4DB2-BD59-A6C34878D82A}">
                        <a16:rowId xmlns:a16="http://schemas.microsoft.com/office/drawing/2014/main" val="3428638027"/>
                      </a:ext>
                    </a:extLst>
                  </a:tr>
                </a:tbl>
              </a:graphicData>
            </a:graphic>
          </p:graphicFrame>
        </mc:Fallback>
      </mc:AlternateContent>
      <mc:AlternateContent xmlns:mc="http://schemas.openxmlformats.org/markup-compatibility/2006">
        <mc:Choice xmlns:a14="http://schemas.microsoft.com/office/drawing/2010/main" Requires="a14">
          <p:graphicFrame>
            <p:nvGraphicFramePr>
              <p:cNvPr id="11" name="Table 10">
                <a:extLst>
                  <a:ext uri="{FF2B5EF4-FFF2-40B4-BE49-F238E27FC236}">
                    <a16:creationId xmlns:a16="http://schemas.microsoft.com/office/drawing/2014/main" id="{D44B6543-D0ED-D549-B4AB-4FCBB5307780}"/>
                  </a:ext>
                </a:extLst>
              </p:cNvPr>
              <p:cNvGraphicFramePr>
                <a:graphicFrameLocks noGrp="1"/>
              </p:cNvGraphicFramePr>
              <p:nvPr>
                <p:extLst>
                  <p:ext uri="{D42A27DB-BD31-4B8C-83A1-F6EECF244321}">
                    <p14:modId xmlns:p14="http://schemas.microsoft.com/office/powerpoint/2010/main" val="98529719"/>
                  </p:ext>
                </p:extLst>
              </p:nvPr>
            </p:nvGraphicFramePr>
            <p:xfrm>
              <a:off x="2197743" y="4535723"/>
              <a:ext cx="6400800" cy="1371600"/>
            </p:xfrm>
            <a:graphic>
              <a:graphicData uri="http://schemas.openxmlformats.org/drawingml/2006/table">
                <a:tbl>
                  <a:tblPr firstRow="1" firstCol="1" bandRow="1"/>
                  <a:tblGrid>
                    <a:gridCol w="6400800">
                      <a:extLst>
                        <a:ext uri="{9D8B030D-6E8A-4147-A177-3AD203B41FA5}">
                          <a16:colId xmlns:a16="http://schemas.microsoft.com/office/drawing/2014/main" val="1694294154"/>
                        </a:ext>
                      </a:extLst>
                    </a:gridCol>
                  </a:tblGrid>
                  <a:tr h="457200">
                    <a:tc>
                      <a:txBody>
                        <a:bodyPr/>
                        <a:lstStyle/>
                        <a:p>
                          <a:pPr marL="0" marR="0" algn="ctr">
                            <a:lnSpc>
                              <a:spcPct val="107000"/>
                            </a:lnSpc>
                            <a:spcBef>
                              <a:spcPts val="0"/>
                            </a:spcBef>
                            <a:spcAft>
                              <a:spcPts val="0"/>
                            </a:spcAft>
                          </a:pPr>
                          <a14:m>
                            <m:oMathPara xmlns:m="http://schemas.openxmlformats.org/officeDocument/2006/math">
                              <m:oMathParaPr>
                                <m:jc m:val="centerGroup"/>
                              </m:oMathParaPr>
                              <m:oMath xmlns:m="http://schemas.openxmlformats.org/officeDocument/2006/math">
                                <m:rad>
                                  <m:radPr>
                                    <m:ctrlPr>
                                      <a:rPr lang="x-none" sz="2000" b="1" i="1">
                                        <a:effectLst/>
                                        <a:latin typeface="Cambria Math" panose="02040503050406030204" pitchFamily="18" charset="0"/>
                                        <a:ea typeface="Verdana" panose="020B0604030504040204" pitchFamily="34" charset="0"/>
                                        <a:cs typeface="Verdana" panose="020B0604030504040204" pitchFamily="34" charset="0"/>
                                      </a:rPr>
                                    </m:ctrlPr>
                                  </m:radPr>
                                  <m:deg>
                                    <m:r>
                                      <a:rPr lang="en-US" sz="2000" b="1"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𝟑</m:t>
                                    </m:r>
                                  </m:deg>
                                  <m:e>
                                    <m:r>
                                      <a:rPr lang="en-US" sz="2000" b="1" i="1">
                                        <a:solidFill>
                                          <a:srgbClr val="000000"/>
                                        </a:solidFill>
                                        <a:effectLst/>
                                        <a:latin typeface="Cambria Math" panose="02040503050406030204" pitchFamily="18" charset="0"/>
                                        <a:ea typeface="Verdana" panose="020B0604030504040204" pitchFamily="34" charset="0"/>
                                        <a:cs typeface="Verdana" panose="020B0604030504040204" pitchFamily="34" charset="0"/>
                                      </a:rPr>
                                      <m:t>𝟔𝟎𝟎</m:t>
                                    </m:r>
                                  </m:e>
                                </m:rad>
                              </m:oMath>
                            </m:oMathPara>
                          </a14:m>
                          <a:endParaRPr lang="x-none" sz="2000">
                            <a:effectLst/>
                            <a:latin typeface="Verdana" pitchFamily="34" charset="0"/>
                            <a:ea typeface="Verdana" pitchFamily="34" charset="0"/>
                            <a:cs typeface="Cambria Math" panose="02040503050406030204" pitchFamily="18" charset="0"/>
                          </a:endParaRPr>
                        </a:p>
                      </a:txBody>
                      <a:tcPr marL="72951" marR="729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BFBFBF"/>
                        </a:solidFill>
                      </a:tcPr>
                    </a:tc>
                    <a:extLst>
                      <a:ext uri="{0D108BD9-81ED-4DB2-BD59-A6C34878D82A}">
                        <a16:rowId xmlns:a16="http://schemas.microsoft.com/office/drawing/2014/main" val="1658021235"/>
                      </a:ext>
                    </a:extLst>
                  </a:tr>
                  <a:tr h="457200">
                    <a:tc>
                      <a:txBody>
                        <a:bodyPr/>
                        <a:lstStyle/>
                        <a:p>
                          <a:pPr marL="0" marR="0">
                            <a:lnSpc>
                              <a:spcPct val="107000"/>
                            </a:lnSpc>
                            <a:spcBef>
                              <a:spcPts val="0"/>
                            </a:spcBef>
                            <a:spcAft>
                              <a:spcPts val="0"/>
                            </a:spcAft>
                          </a:pPr>
                          <a14:m>
                            <m:oMath xmlns:m="http://schemas.openxmlformats.org/officeDocument/2006/math">
                              <m:rad>
                                <m:radPr>
                                  <m:ctrlPr>
                                    <a:rPr lang="x-none" sz="2000" i="1">
                                      <a:effectLst/>
                                      <a:latin typeface="Cambria Math" panose="02040503050406030204" pitchFamily="18" charset="0"/>
                                      <a:ea typeface="Verdana" panose="020B0604030504040204" pitchFamily="34" charset="0"/>
                                      <a:cs typeface="Verdana" panose="020B0604030504040204" pitchFamily="34" charset="0"/>
                                    </a:rPr>
                                  </m:ctrlPr>
                                </m:radPr>
                                <m:deg>
                                  <m:r>
                                    <a:rPr lang="en-US" sz="2000" i="1">
                                      <a:effectLst/>
                                      <a:latin typeface="Cambria Math" panose="02040503050406030204" pitchFamily="18" charset="0"/>
                                      <a:ea typeface="Verdana" panose="020B0604030504040204" pitchFamily="34" charset="0"/>
                                      <a:cs typeface="Verdana" panose="020B0604030504040204" pitchFamily="34" charset="0"/>
                                    </a:rPr>
                                    <m:t>3</m:t>
                                  </m:r>
                                </m:deg>
                                <m:e>
                                  <m:r>
                                    <a:rPr lang="en-US" sz="2000" i="1">
                                      <a:effectLst/>
                                      <a:latin typeface="Cambria Math" panose="02040503050406030204" pitchFamily="18" charset="0"/>
                                      <a:ea typeface="Verdana" panose="020B0604030504040204" pitchFamily="34" charset="0"/>
                                      <a:cs typeface="Verdana" panose="020B0604030504040204" pitchFamily="34" charset="0"/>
                                    </a:rPr>
                                    <m:t>600</m:t>
                                  </m:r>
                                </m:e>
                              </m:rad>
                              <m:r>
                                <a:rPr lang="en-US" sz="2000" i="1">
                                  <a:effectLst/>
                                  <a:latin typeface="Cambria Math" panose="02040503050406030204" pitchFamily="18" charset="0"/>
                                  <a:ea typeface="Verdana" panose="020B0604030504040204" pitchFamily="34" charset="0"/>
                                  <a:cs typeface="Verdana" panose="020B0604030504040204" pitchFamily="34" charset="0"/>
                                </a:rPr>
                                <m:t>= </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a:effectLst/>
                            <a:latin typeface="Verdana" pitchFamily="34" charset="0"/>
                            <a:ea typeface="Verdana" pitchFamily="34" charset="0"/>
                            <a:cs typeface="Cambria Math" panose="02040503050406030204" pitchFamily="18" charset="0"/>
                          </a:endParaRPr>
                        </a:p>
                      </a:txBody>
                      <a:tcPr marL="72951" marR="729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52015095"/>
                      </a:ext>
                    </a:extLst>
                  </a:tr>
                  <a:tr h="457200">
                    <a:tc>
                      <a:txBody>
                        <a:bodyPr/>
                        <a:lstStyle/>
                        <a:p>
                          <a:pPr marL="0" marR="0">
                            <a:lnSpc>
                              <a:spcPct val="107000"/>
                            </a:lnSpc>
                            <a:spcBef>
                              <a:spcPts val="0"/>
                            </a:spcBef>
                            <a:spcAft>
                              <a:spcPts val="0"/>
                            </a:spcAft>
                          </a:pPr>
                          <a14:m>
                            <m:oMath xmlns:m="http://schemas.openxmlformats.org/officeDocument/2006/math">
                              <m:rad>
                                <m:radPr>
                                  <m:ctrlPr>
                                    <a:rPr lang="x-none" sz="2000" i="1">
                                      <a:effectLst/>
                                      <a:latin typeface="Cambria Math" panose="02040503050406030204" pitchFamily="18" charset="0"/>
                                      <a:ea typeface="Verdana" panose="020B0604030504040204" pitchFamily="34" charset="0"/>
                                      <a:cs typeface="Verdana" panose="020B0604030504040204" pitchFamily="34" charset="0"/>
                                    </a:rPr>
                                  </m:ctrlPr>
                                </m:radPr>
                                <m:deg>
                                  <m:r>
                                    <a:rPr lang="en-US" sz="2000" i="1">
                                      <a:effectLst/>
                                      <a:latin typeface="Cambria Math" panose="02040503050406030204" pitchFamily="18" charset="0"/>
                                      <a:ea typeface="Verdana" panose="020B0604030504040204" pitchFamily="34" charset="0"/>
                                      <a:cs typeface="Verdana" panose="020B0604030504040204" pitchFamily="34" charset="0"/>
                                    </a:rPr>
                                    <m:t>3</m:t>
                                  </m:r>
                                </m:deg>
                                <m:e>
                                  <m:r>
                                    <a:rPr lang="en-US" sz="2000" i="1">
                                      <a:effectLst/>
                                      <a:latin typeface="Cambria Math" panose="02040503050406030204" pitchFamily="18" charset="0"/>
                                      <a:ea typeface="Verdana" panose="020B0604030504040204" pitchFamily="34" charset="0"/>
                                      <a:cs typeface="Verdana" panose="020B0604030504040204" pitchFamily="34" charset="0"/>
                                    </a:rPr>
                                    <m:t>600</m:t>
                                  </m:r>
                                </m:e>
                              </m:rad>
                              <m:r>
                                <a:rPr lang="en-US" sz="2000" i="1">
                                  <a:effectLst/>
                                  <a:latin typeface="Cambria Math" panose="02040503050406030204" pitchFamily="18" charset="0"/>
                                  <a:ea typeface="Verdana" panose="020B0604030504040204" pitchFamily="34" charset="0"/>
                                  <a:cs typeface="Verdana" panose="020B0604030504040204" pitchFamily="34" charset="0"/>
                                </a:rPr>
                                <m:t>= </m:t>
                              </m:r>
                            </m:oMath>
                          </a14:m>
                          <a:r>
                            <a:rPr lang="en-US" sz="2000" dirty="0">
                              <a:effectLst/>
                              <a:latin typeface="Verdana" panose="020B0604030504040204" pitchFamily="34" charset="0"/>
                              <a:ea typeface="Verdana" panose="020B0604030504040204" pitchFamily="34" charset="0"/>
                              <a:cs typeface="Verdana" panose="020B0604030504040204" pitchFamily="34" charset="0"/>
                            </a:rPr>
                            <a:t> </a:t>
                          </a:r>
                          <a:endParaRPr lang="x-none" sz="2000" dirty="0">
                            <a:effectLst/>
                            <a:latin typeface="Verdana" pitchFamily="34" charset="0"/>
                            <a:ea typeface="Verdana" pitchFamily="34" charset="0"/>
                            <a:cs typeface="Cambria Math" panose="02040503050406030204" pitchFamily="18" charset="0"/>
                          </a:endParaRPr>
                        </a:p>
                      </a:txBody>
                      <a:tcPr marL="72951" marR="729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4035296096"/>
                      </a:ext>
                    </a:extLst>
                  </a:tr>
                </a:tbl>
              </a:graphicData>
            </a:graphic>
          </p:graphicFrame>
        </mc:Choice>
        <mc:Fallback>
          <p:graphicFrame>
            <p:nvGraphicFramePr>
              <p:cNvPr id="11" name="Table 10">
                <a:extLst>
                  <a:ext uri="{FF2B5EF4-FFF2-40B4-BE49-F238E27FC236}">
                    <a16:creationId xmlns:a16="http://schemas.microsoft.com/office/drawing/2014/main" id="{D44B6543-D0ED-D549-B4AB-4FCBB5307780}"/>
                  </a:ext>
                </a:extLst>
              </p:cNvPr>
              <p:cNvGraphicFramePr>
                <a:graphicFrameLocks noGrp="1"/>
              </p:cNvGraphicFramePr>
              <p:nvPr>
                <p:extLst>
                  <p:ext uri="{D42A27DB-BD31-4B8C-83A1-F6EECF244321}">
                    <p14:modId xmlns:p14="http://schemas.microsoft.com/office/powerpoint/2010/main" val="98529719"/>
                  </p:ext>
                </p:extLst>
              </p:nvPr>
            </p:nvGraphicFramePr>
            <p:xfrm>
              <a:off x="2197743" y="4535723"/>
              <a:ext cx="6400800" cy="1371600"/>
            </p:xfrm>
            <a:graphic>
              <a:graphicData uri="http://schemas.openxmlformats.org/drawingml/2006/table">
                <a:tbl>
                  <a:tblPr firstRow="1" firstCol="1" bandRow="1"/>
                  <a:tblGrid>
                    <a:gridCol w="6400800">
                      <a:extLst>
                        <a:ext uri="{9D8B030D-6E8A-4147-A177-3AD203B41FA5}">
                          <a16:colId xmlns:a16="http://schemas.microsoft.com/office/drawing/2014/main" val="1694294154"/>
                        </a:ext>
                      </a:extLst>
                    </a:gridCol>
                  </a:tblGrid>
                  <a:tr h="457200">
                    <a:tc>
                      <a:txBody>
                        <a:bodyPr/>
                        <a:lstStyle/>
                        <a:p>
                          <a:endParaRPr lang="en-US"/>
                        </a:p>
                      </a:txBody>
                      <a:tcPr marL="72951" marR="729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95" t="-1333" r="-190" b="-204000"/>
                          </a:stretch>
                        </a:blipFill>
                      </a:tcPr>
                    </a:tc>
                    <a:extLst>
                      <a:ext uri="{0D108BD9-81ED-4DB2-BD59-A6C34878D82A}">
                        <a16:rowId xmlns:a16="http://schemas.microsoft.com/office/drawing/2014/main" val="1658021235"/>
                      </a:ext>
                    </a:extLst>
                  </a:tr>
                  <a:tr h="457200">
                    <a:tc>
                      <a:txBody>
                        <a:bodyPr/>
                        <a:lstStyle/>
                        <a:p>
                          <a:endParaRPr lang="en-US"/>
                        </a:p>
                      </a:txBody>
                      <a:tcPr marL="72951" marR="729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95" t="-100000" r="-190" b="-101316"/>
                          </a:stretch>
                        </a:blipFill>
                      </a:tcPr>
                    </a:tc>
                    <a:extLst>
                      <a:ext uri="{0D108BD9-81ED-4DB2-BD59-A6C34878D82A}">
                        <a16:rowId xmlns:a16="http://schemas.microsoft.com/office/drawing/2014/main" val="152015095"/>
                      </a:ext>
                    </a:extLst>
                  </a:tr>
                  <a:tr h="457200">
                    <a:tc>
                      <a:txBody>
                        <a:bodyPr/>
                        <a:lstStyle/>
                        <a:p>
                          <a:endParaRPr lang="en-US"/>
                        </a:p>
                      </a:txBody>
                      <a:tcPr marL="72951" marR="72951" marT="0" marB="0"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blipFill>
                          <a:blip r:embed="rId5"/>
                          <a:stretch>
                            <a:fillRect l="-95" t="-202667" r="-190" b="-2667"/>
                          </a:stretch>
                        </a:blipFill>
                      </a:tcPr>
                    </a:tc>
                    <a:extLst>
                      <a:ext uri="{0D108BD9-81ED-4DB2-BD59-A6C34878D82A}">
                        <a16:rowId xmlns:a16="http://schemas.microsoft.com/office/drawing/2014/main" val="4035296096"/>
                      </a:ext>
                    </a:extLst>
                  </a:tr>
                </a:tbl>
              </a:graphicData>
            </a:graphic>
          </p:graphicFrame>
        </mc:Fallback>
      </mc:AlternateContent>
      <p:sp>
        <p:nvSpPr>
          <p:cNvPr id="12" name="Google Shape;282;g104476d1465_1_17">
            <a:extLst>
              <a:ext uri="{FF2B5EF4-FFF2-40B4-BE49-F238E27FC236}">
                <a16:creationId xmlns:a16="http://schemas.microsoft.com/office/drawing/2014/main" id="{96513686-DBB5-6026-798A-7998EED57EEA}"/>
              </a:ext>
            </a:extLst>
          </p:cNvPr>
          <p:cNvSpPr txBox="1"/>
          <p:nvPr/>
        </p:nvSpPr>
        <p:spPr>
          <a:xfrm>
            <a:off x="8908141" y="6469331"/>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43</a:t>
            </a:r>
            <a:endParaRPr i="1" dirty="0">
              <a:latin typeface="Calibri"/>
              <a:ea typeface="Calibri"/>
              <a:cs typeface="Calibri"/>
              <a:sym typeface="Calibri"/>
            </a:endParaRPr>
          </a:p>
        </p:txBody>
      </p:sp>
      <p:pic>
        <p:nvPicPr>
          <p:cNvPr id="13" name="Google Shape;283;g104476d1465_1_17">
            <a:extLst>
              <a:ext uri="{FF2B5EF4-FFF2-40B4-BE49-F238E27FC236}">
                <a16:creationId xmlns:a16="http://schemas.microsoft.com/office/drawing/2014/main" id="{C15CAF36-6BA6-B8C3-1937-C11090BE4DD2}"/>
              </a:ext>
            </a:extLst>
          </p:cNvPr>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533433"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404480410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11875"/>
            <a:ext cx="223200" cy="6866100"/>
          </a:xfrm>
          <a:prstGeom prst="rect">
            <a:avLst/>
          </a:prstGeom>
          <a:solidFill>
            <a:srgbClr val="F26763"/>
          </a:solidFill>
          <a:ln w="9525" cap="flat" cmpd="sng">
            <a:solidFill>
              <a:srgbClr val="F26763"/>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sp>
            <p:nvSpPr>
              <p:cNvPr id="8" name="TextBox 7">
                <a:extLst>
                  <a:ext uri="{FF2B5EF4-FFF2-40B4-BE49-F238E27FC236}">
                    <a16:creationId xmlns:a16="http://schemas.microsoft.com/office/drawing/2014/main" id="{BC725BEA-22FC-444E-962E-519D9C6446EE}"/>
                  </a:ext>
                </a:extLst>
              </p:cNvPr>
              <p:cNvSpPr txBox="1"/>
              <p:nvPr/>
            </p:nvSpPr>
            <p:spPr>
              <a:xfrm>
                <a:off x="974519" y="306608"/>
                <a:ext cx="10164535" cy="1620700"/>
              </a:xfrm>
              <a:prstGeom prst="rect">
                <a:avLst/>
              </a:prstGeom>
              <a:noFill/>
            </p:spPr>
            <p:txBody>
              <a:bodyPr wrap="square" rtlCol="0">
                <a:spAutoFit/>
              </a:bodyPr>
              <a:lstStyle/>
              <a:p>
                <a:pPr marL="468313" indent="-457200">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Write an equivalent expression for the following radical expression.</a:t>
                </a:r>
              </a:p>
              <a:p>
                <a:pPr marL="468313" indent="-457200">
                  <a:buFont typeface="+mj-lt"/>
                  <a:buAutoNum type="arabicPeriod" startAt="2"/>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11113"/>
                <a14:m>
                  <m:oMathPara xmlns:m="http://schemas.openxmlformats.org/officeDocument/2006/math">
                    <m:oMathParaPr>
                      <m:jc m:val="centerGroup"/>
                    </m:oMathParaPr>
                    <m:oMath xmlns:m="http://schemas.openxmlformats.org/officeDocument/2006/math">
                      <m:r>
                        <a:rPr lang="en-US" sz="2400" i="1" dirty="0">
                          <a:latin typeface="Cambria Math" panose="02040503050406030204" pitchFamily="18" charset="0"/>
                          <a:ea typeface="Verdana" panose="020B0604030504040204" pitchFamily="34" charset="0"/>
                          <a:cs typeface="Verdana" panose="020B0604030504040204" pitchFamily="34" charset="0"/>
                        </a:rPr>
                        <m:t>5</m:t>
                      </m:r>
                      <m:rad>
                        <m:radPr>
                          <m:ctrlPr>
                            <a:rPr lang="en-US" sz="2400" i="1" dirty="0">
                              <a:latin typeface="Cambria Math" panose="02040503050406030204" pitchFamily="18" charset="0"/>
                              <a:ea typeface="Verdana" panose="020B0604030504040204" pitchFamily="34" charset="0"/>
                              <a:cs typeface="Verdana" panose="020B0604030504040204" pitchFamily="34" charset="0"/>
                            </a:rPr>
                          </m:ctrlPr>
                        </m:radPr>
                        <m:deg>
                          <m:r>
                            <a:rPr lang="en-US" sz="2400" i="1" dirty="0">
                              <a:latin typeface="Cambria Math" panose="02040503050406030204" pitchFamily="18" charset="0"/>
                              <a:ea typeface="Verdana" panose="020B0604030504040204" pitchFamily="34" charset="0"/>
                              <a:cs typeface="Verdana" panose="020B0604030504040204" pitchFamily="34" charset="0"/>
                            </a:rPr>
                            <m:t>3</m:t>
                          </m:r>
                        </m:deg>
                        <m:e>
                          <m:r>
                            <a:rPr lang="es-ES" sz="2400" i="1" dirty="0">
                              <a:latin typeface="Cambria Math" panose="02040503050406030204" pitchFamily="18" charset="0"/>
                              <a:ea typeface="Verdana" panose="020B0604030504040204" pitchFamily="34" charset="0"/>
                              <a:cs typeface="Verdana" panose="020B0604030504040204" pitchFamily="34" charset="0"/>
                            </a:rPr>
                            <m:t>56</m:t>
                          </m:r>
                        </m:e>
                      </m:rad>
                    </m:oMath>
                  </m:oMathPara>
                </a14:m>
                <a:endParaRPr lang="en-US" sz="2400"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8" name="TextBox 7">
                <a:extLst>
                  <a:ext uri="{FF2B5EF4-FFF2-40B4-BE49-F238E27FC236}">
                    <a16:creationId xmlns:a16="http://schemas.microsoft.com/office/drawing/2014/main" id="{BC725BEA-22FC-444E-962E-519D9C6446EE}"/>
                  </a:ext>
                </a:extLst>
              </p:cNvPr>
              <p:cNvSpPr txBox="1">
                <a:spLocks noRot="1" noChangeAspect="1" noMove="1" noResize="1" noEditPoints="1" noAdjustHandles="1" noChangeArrowheads="1" noChangeShapeType="1" noTextEdit="1"/>
              </p:cNvSpPr>
              <p:nvPr/>
            </p:nvSpPr>
            <p:spPr>
              <a:xfrm>
                <a:off x="974519" y="306608"/>
                <a:ext cx="10164535" cy="1620700"/>
              </a:xfrm>
              <a:prstGeom prst="rect">
                <a:avLst/>
              </a:prstGeom>
              <a:blipFill>
                <a:blip r:embed="rId3"/>
                <a:stretch>
                  <a:fillRect l="-840" t="-3008"/>
                </a:stretch>
              </a:blipFill>
            </p:spPr>
            <p:txBody>
              <a:bodyPr/>
              <a:lstStyle/>
              <a:p>
                <a:r>
                  <a:rPr lang="en-US">
                    <a:noFill/>
                  </a:rPr>
                  <a:t> </a:t>
                </a:r>
              </a:p>
            </p:txBody>
          </p:sp>
        </mc:Fallback>
      </mc:AlternateContent>
      <p:sp>
        <p:nvSpPr>
          <p:cNvPr id="6" name="Google Shape;282;g104476d1465_1_17">
            <a:extLst>
              <a:ext uri="{FF2B5EF4-FFF2-40B4-BE49-F238E27FC236}">
                <a16:creationId xmlns:a16="http://schemas.microsoft.com/office/drawing/2014/main" id="{20051BAE-17FF-392B-299E-39DD08AE21A5}"/>
              </a:ext>
            </a:extLst>
          </p:cNvPr>
          <p:cNvSpPr txBox="1"/>
          <p:nvPr/>
        </p:nvSpPr>
        <p:spPr>
          <a:xfrm>
            <a:off x="8908141" y="6469331"/>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43</a:t>
            </a:r>
            <a:endParaRPr i="1" dirty="0">
              <a:latin typeface="Calibri"/>
              <a:ea typeface="Calibri"/>
              <a:cs typeface="Calibri"/>
              <a:sym typeface="Calibri"/>
            </a:endParaRPr>
          </a:p>
        </p:txBody>
      </p:sp>
      <p:pic>
        <p:nvPicPr>
          <p:cNvPr id="7" name="Google Shape;283;g104476d1465_1_17">
            <a:extLst>
              <a:ext uri="{FF2B5EF4-FFF2-40B4-BE49-F238E27FC236}">
                <a16:creationId xmlns:a16="http://schemas.microsoft.com/office/drawing/2014/main" id="{2159A183-6BD3-0CA5-C0BB-936CB32A7F9B}"/>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3433"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06607730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0"/>
            <a:ext cx="2731200" cy="6866100"/>
          </a:xfrm>
          <a:prstGeom prst="rect">
            <a:avLst/>
          </a:prstGeom>
          <a:solidFill>
            <a:srgbClr val="F26763"/>
          </a:solidFill>
          <a:ln w="9525" cap="flat" cmpd="sng">
            <a:solidFill>
              <a:srgbClr val="F26763"/>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4998450" y="2766145"/>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E24E5F"/>
                </a:solidFill>
                <a:latin typeface="Verdana"/>
                <a:ea typeface="Verdana"/>
                <a:cs typeface="Verdana"/>
                <a:sym typeface="Verdana"/>
              </a:rPr>
              <a:t>Your Turn</a:t>
            </a:r>
            <a:endParaRPr sz="5100" b="1" dirty="0">
              <a:solidFill>
                <a:srgbClr val="E24E5F"/>
              </a:solidFill>
              <a:latin typeface="Verdana"/>
              <a:ea typeface="Verdana"/>
              <a:cs typeface="Verdana"/>
              <a:sym typeface="Verdana"/>
            </a:endParaRPr>
          </a:p>
        </p:txBody>
      </p:sp>
      <p:pic>
        <p:nvPicPr>
          <p:cNvPr id="9" name="Picture 8" descr="Icon&#10;&#10;Description automatically generated">
            <a:extLst>
              <a:ext uri="{FF2B5EF4-FFF2-40B4-BE49-F238E27FC236}">
                <a16:creationId xmlns:a16="http://schemas.microsoft.com/office/drawing/2014/main" id="{758FF271-6581-5740-BCCD-706D33EA7E3D}"/>
              </a:ext>
            </a:extLst>
          </p:cNvPr>
          <p:cNvPicPr>
            <a:picLocks noChangeAspect="1"/>
          </p:cNvPicPr>
          <p:nvPr/>
        </p:nvPicPr>
        <p:blipFill>
          <a:blip r:embed="rId3" cstate="print">
            <a:extLst>
              <a:ext uri="{28A0092B-C50C-407E-A947-70E740481C1C}">
                <a14:useLocalDpi xmlns:a14="http://schemas.microsoft.com/office/drawing/2010/main"/>
              </a:ext>
            </a:extLst>
          </a:blip>
          <a:stretch>
            <a:fillRect/>
          </a:stretch>
        </p:blipFill>
        <p:spPr>
          <a:xfrm>
            <a:off x="3285750" y="2849920"/>
            <a:ext cx="1158150" cy="1158150"/>
          </a:xfrm>
          <a:prstGeom prst="rect">
            <a:avLst/>
          </a:prstGeom>
          <a:effectLst>
            <a:outerShdw blurRad="50800" dist="38100" dir="2700000" algn="tl" rotWithShape="0">
              <a:prstClr val="black">
                <a:alpha val="40000"/>
              </a:prstClr>
            </a:outerShdw>
          </a:effectLst>
        </p:spPr>
      </p:pic>
      <p:sp>
        <p:nvSpPr>
          <p:cNvPr id="7" name="Google Shape;282;g104476d1465_1_17">
            <a:extLst>
              <a:ext uri="{FF2B5EF4-FFF2-40B4-BE49-F238E27FC236}">
                <a16:creationId xmlns:a16="http://schemas.microsoft.com/office/drawing/2014/main" id="{BE174098-C361-2D8D-11B1-1C5D486E57B9}"/>
              </a:ext>
            </a:extLst>
          </p:cNvPr>
          <p:cNvSpPr txBox="1"/>
          <p:nvPr/>
        </p:nvSpPr>
        <p:spPr>
          <a:xfrm>
            <a:off x="8908141" y="6469331"/>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44</a:t>
            </a:r>
            <a:endParaRPr i="1" dirty="0">
              <a:latin typeface="Calibri"/>
              <a:ea typeface="Calibri"/>
              <a:cs typeface="Calibri"/>
              <a:sym typeface="Calibri"/>
            </a:endParaRPr>
          </a:p>
        </p:txBody>
      </p:sp>
      <p:pic>
        <p:nvPicPr>
          <p:cNvPr id="10" name="Google Shape;283;g104476d1465_1_17">
            <a:extLst>
              <a:ext uri="{FF2B5EF4-FFF2-40B4-BE49-F238E27FC236}">
                <a16:creationId xmlns:a16="http://schemas.microsoft.com/office/drawing/2014/main" id="{0D3E813A-FFAD-0C7A-DA35-7EDF956C3251}"/>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3433"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3634196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11875"/>
            <a:ext cx="223200" cy="6866100"/>
          </a:xfrm>
          <a:prstGeom prst="rect">
            <a:avLst/>
          </a:prstGeom>
          <a:solidFill>
            <a:srgbClr val="F26763"/>
          </a:solidFill>
          <a:ln w="9525" cap="flat" cmpd="sng">
            <a:solidFill>
              <a:srgbClr val="F26763"/>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343;g103996e1364_0_321">
            <a:extLst>
              <a:ext uri="{FF2B5EF4-FFF2-40B4-BE49-F238E27FC236}">
                <a16:creationId xmlns:a16="http://schemas.microsoft.com/office/drawing/2014/main" id="{21B1DF8E-16A0-FA4E-8CEB-434668DFA68D}"/>
              </a:ext>
            </a:extLst>
          </p:cNvPr>
          <p:cNvSpPr txBox="1">
            <a:spLocks/>
          </p:cNvSpPr>
          <p:nvPr/>
        </p:nvSpPr>
        <p:spPr>
          <a:xfrm>
            <a:off x="1642104" y="290301"/>
            <a:ext cx="8306646" cy="450215"/>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pPr>
            <a:r>
              <a:rPr lang="en-US" sz="4400" b="1" dirty="0">
                <a:solidFill>
                  <a:srgbClr val="E24E5F"/>
                </a:solidFill>
                <a:latin typeface="Verdana"/>
                <a:ea typeface="Verdana"/>
                <a:cs typeface="Verdana"/>
                <a:sym typeface="Verdana"/>
              </a:rPr>
              <a:t>1.8.5 Your Turn!</a:t>
            </a:r>
          </a:p>
        </p:txBody>
      </p:sp>
      <mc:AlternateContent xmlns:mc="http://schemas.openxmlformats.org/markup-compatibility/2006">
        <mc:Choice xmlns:a14="http://schemas.microsoft.com/office/drawing/2010/main" Requires="a14">
          <p:sp>
            <p:nvSpPr>
              <p:cNvPr id="4" name="Rectangle 3">
                <a:extLst>
                  <a:ext uri="{FF2B5EF4-FFF2-40B4-BE49-F238E27FC236}">
                    <a16:creationId xmlns:a16="http://schemas.microsoft.com/office/drawing/2014/main" id="{FE208A00-51E7-C544-ABDE-AE9DC3DAAB4C}"/>
                  </a:ext>
                </a:extLst>
              </p:cNvPr>
              <p:cNvSpPr>
                <a:spLocks noChangeArrowheads="1"/>
              </p:cNvSpPr>
              <p:nvPr/>
            </p:nvSpPr>
            <p:spPr bwMode="auto">
              <a:xfrm>
                <a:off x="866899" y="1374912"/>
                <a:ext cx="8681981" cy="4766305"/>
              </a:xfrm>
              <a:prstGeom prst="rect">
                <a:avLst/>
              </a:prstGeom>
              <a:noFill/>
              <a:ln>
                <a:noFill/>
              </a:ln>
              <a:effectLst/>
              <a:extLst>
                <a:ext uri="{909E8E84-426E-40DD-AFC4-6F175D3DCCD1}">
                  <a14:hiddenFill>
                    <a:solidFill>
                      <a:schemeClr val="accent1"/>
                    </a:solidFill>
                  </a14:hiddenFill>
                </a:ext>
                <a:ext uri="{91240B29-F687-4F45-9708-019B960494DF}">
                  <a14:hiddenLine w="9525">
                    <a:solidFill>
                      <a:schemeClr val="tx1"/>
                    </a:solidFill>
                    <a:miter lim="800000"/>
                    <a:headEnd/>
                    <a:tailEnd/>
                  </a14:hiddenLine>
                </a:ext>
                <a:ext uri="{AF507438-7753-43E0-B8FC-AC1667EBCBE1}">
                  <a14:hiddenEffects>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spAutoFit/>
              </a:bodyPr>
              <a:lstStyle/>
              <a:p>
                <a:pPr marL="457200" indent="-457200">
                  <a:lnSpc>
                    <a:spcPct val="107000"/>
                  </a:lnSpc>
                  <a:spcAft>
                    <a:spcPts val="800"/>
                  </a:spcAft>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Select all expressions that are equivalent to </a:t>
                </a:r>
                <a14:m>
                  <m:oMath xmlns:m="http://schemas.openxmlformats.org/officeDocument/2006/math">
                    <m:rad>
                      <m:radPr>
                        <m:degHide m:val="on"/>
                        <m:ctrlPr>
                          <a:rPr lang="x-none" sz="2400" i="1">
                            <a:latin typeface="Cambria Math" panose="02040503050406030204" pitchFamily="18" charset="0"/>
                            <a:ea typeface="Cambria Math" panose="02040503050406030204" pitchFamily="18" charset="0"/>
                            <a:cs typeface="Cambria Math" panose="02040503050406030204" pitchFamily="18" charset="0"/>
                          </a:rPr>
                        </m:ctrlPr>
                      </m:radPr>
                      <m:deg/>
                      <m:e>
                        <m:r>
                          <a:rPr lang="en-US" sz="2400" i="1">
                            <a:latin typeface="Cambria Math" panose="02040503050406030204" pitchFamily="18" charset="0"/>
                            <a:ea typeface="Cambria Math" panose="02040503050406030204" pitchFamily="18" charset="0"/>
                            <a:cs typeface="Cambria Math" panose="02040503050406030204" pitchFamily="18" charset="0"/>
                          </a:rPr>
                          <m:t>40</m:t>
                        </m:r>
                      </m:e>
                    </m:rad>
                  </m:oMath>
                </a14:m>
                <a:r>
                  <a:rPr lang="en-US" sz="2400" dirty="0">
                    <a:latin typeface="Verdana" panose="020B0604030504040204" pitchFamily="34" charset="0"/>
                    <a:ea typeface="Verdana" panose="020B0604030504040204" pitchFamily="34" charset="0"/>
                    <a:cs typeface="Verdana" panose="020B0604030504040204" pitchFamily="34" charset="0"/>
                  </a:rPr>
                  <a:t>.</a:t>
                </a:r>
                <a:endParaRPr lang="x-none" sz="2400" dirty="0">
                  <a:latin typeface="Verdana" pitchFamily="34" charset="0"/>
                  <a:ea typeface="Verdana" pitchFamily="34" charset="0"/>
                  <a:cs typeface="Cambria Math" panose="02040503050406030204" pitchFamily="18" charset="0"/>
                </a:endParaRPr>
              </a:p>
              <a:p>
                <a:pPr marL="914400" lvl="1" indent="-457200">
                  <a:lnSpc>
                    <a:spcPct val="115000"/>
                  </a:lnSpc>
                  <a:spcAft>
                    <a:spcPts val="800"/>
                  </a:spcAft>
                  <a:buFont typeface="Wingdings" pitchFamily="2" charset="2"/>
                  <a:buChar char=""/>
                </a:pPr>
                <a14:m>
                  <m:oMath xmlns:m="http://schemas.openxmlformats.org/officeDocument/2006/math">
                    <m:sSup>
                      <m:sSupPr>
                        <m:ctrlPr>
                          <a:rPr lang="x-none" sz="2400" i="1">
                            <a:latin typeface="Cambria Math" panose="02040503050406030204" pitchFamily="18" charset="0"/>
                            <a:ea typeface="Cambria Math" panose="02040503050406030204" pitchFamily="18" charset="0"/>
                            <a:cs typeface="Cambria Math" panose="02040503050406030204" pitchFamily="18" charset="0"/>
                          </a:rPr>
                        </m:ctrlPr>
                      </m:sSupPr>
                      <m:e>
                        <m:r>
                          <a:rPr lang="en-US" sz="2400" i="1">
                            <a:latin typeface="Cambria Math" panose="02040503050406030204" pitchFamily="18" charset="0"/>
                            <a:ea typeface="Cambria Math" panose="02040503050406030204" pitchFamily="18" charset="0"/>
                            <a:cs typeface="Cambria Math" panose="02040503050406030204" pitchFamily="18" charset="0"/>
                          </a:rPr>
                          <m:t>(40)</m:t>
                        </m:r>
                      </m:e>
                      <m:sup>
                        <m:f>
                          <m:fPr>
                            <m:ctrlPr>
                              <a:rPr lang="x-none" sz="2400" i="1">
                                <a:latin typeface="Cambria Math" panose="02040503050406030204" pitchFamily="18" charset="0"/>
                                <a:ea typeface="Cambria Math" panose="02040503050406030204" pitchFamily="18" charset="0"/>
                                <a:cs typeface="Cambria Math" panose="02040503050406030204" pitchFamily="18" charset="0"/>
                              </a:rPr>
                            </m:ctrlPr>
                          </m:fPr>
                          <m:num>
                            <m:r>
                              <a:rPr lang="en-US" sz="2400" i="1">
                                <a:latin typeface="Cambria Math" panose="02040503050406030204" pitchFamily="18" charset="0"/>
                                <a:ea typeface="Cambria Math" panose="02040503050406030204" pitchFamily="18" charset="0"/>
                                <a:cs typeface="Cambria Math" panose="02040503050406030204" pitchFamily="18" charset="0"/>
                              </a:rPr>
                              <m:t>1</m:t>
                            </m:r>
                          </m:num>
                          <m:den>
                            <m:r>
                              <a:rPr lang="en-US" sz="2400" i="1">
                                <a:latin typeface="Cambria Math" panose="02040503050406030204" pitchFamily="18" charset="0"/>
                                <a:ea typeface="Cambria Math" panose="02040503050406030204" pitchFamily="18" charset="0"/>
                                <a:cs typeface="Cambria Math" panose="02040503050406030204" pitchFamily="18" charset="0"/>
                              </a:rPr>
                              <m:t>2</m:t>
                            </m:r>
                          </m:den>
                        </m:f>
                      </m:sup>
                    </m:sSup>
                  </m:oMath>
                </a14:m>
                <a:endParaRPr lang="x-none" sz="2400" dirty="0">
                  <a:latin typeface="Verdana" pitchFamily="34" charset="0"/>
                  <a:ea typeface="Verdana" pitchFamily="34" charset="0"/>
                  <a:cs typeface="Cambria Math" panose="02040503050406030204" pitchFamily="18" charset="0"/>
                </a:endParaRPr>
              </a:p>
              <a:p>
                <a:pPr marL="914400" lvl="1" indent="-457200">
                  <a:lnSpc>
                    <a:spcPct val="115000"/>
                  </a:lnSpc>
                  <a:spcAft>
                    <a:spcPts val="800"/>
                  </a:spcAft>
                  <a:buFont typeface="Wingdings" pitchFamily="2" charset="2"/>
                  <a:buChar char=""/>
                </a:pPr>
                <a14:m>
                  <m:oMath xmlns:m="http://schemas.openxmlformats.org/officeDocument/2006/math">
                    <m:r>
                      <a:rPr lang="en-US" sz="2400" i="1">
                        <a:latin typeface="Cambria Math" panose="02040503050406030204" pitchFamily="18" charset="0"/>
                        <a:ea typeface="Cambria Math" panose="02040503050406030204" pitchFamily="18" charset="0"/>
                        <a:cs typeface="Cambria Math" panose="02040503050406030204" pitchFamily="18" charset="0"/>
                      </a:rPr>
                      <m:t>2</m:t>
                    </m:r>
                    <m:rad>
                      <m:radPr>
                        <m:degHide m:val="on"/>
                        <m:ctrlPr>
                          <a:rPr lang="x-none" sz="2400" i="1">
                            <a:latin typeface="Cambria Math" panose="02040503050406030204" pitchFamily="18" charset="0"/>
                            <a:ea typeface="Cambria Math" panose="02040503050406030204" pitchFamily="18" charset="0"/>
                            <a:cs typeface="Cambria Math" panose="02040503050406030204" pitchFamily="18" charset="0"/>
                          </a:rPr>
                        </m:ctrlPr>
                      </m:radPr>
                      <m:deg/>
                      <m:e>
                        <m:r>
                          <a:rPr lang="en-US" sz="2400" i="1">
                            <a:latin typeface="Cambria Math" panose="02040503050406030204" pitchFamily="18" charset="0"/>
                            <a:ea typeface="Cambria Math" panose="02040503050406030204" pitchFamily="18" charset="0"/>
                            <a:cs typeface="Cambria Math" panose="02040503050406030204" pitchFamily="18" charset="0"/>
                          </a:rPr>
                          <m:t>20</m:t>
                        </m:r>
                      </m:e>
                    </m:rad>
                  </m:oMath>
                </a14:m>
                <a:endParaRPr lang="x-none" sz="2400" dirty="0">
                  <a:latin typeface="Verdana" pitchFamily="34" charset="0"/>
                  <a:ea typeface="Verdana" pitchFamily="34" charset="0"/>
                  <a:cs typeface="Cambria Math" panose="02040503050406030204" pitchFamily="18" charset="0"/>
                </a:endParaRPr>
              </a:p>
              <a:p>
                <a:pPr marL="914400" lvl="1" indent="-457200">
                  <a:lnSpc>
                    <a:spcPct val="115000"/>
                  </a:lnSpc>
                  <a:spcAft>
                    <a:spcPts val="800"/>
                  </a:spcAft>
                  <a:buFont typeface="Wingdings" pitchFamily="2" charset="2"/>
                  <a:buChar char=""/>
                </a:pPr>
                <a14:m>
                  <m:oMath xmlns:m="http://schemas.openxmlformats.org/officeDocument/2006/math">
                    <m:rad>
                      <m:radPr>
                        <m:degHide m:val="on"/>
                        <m:ctrlPr>
                          <a:rPr lang="x-none" sz="2400" i="1">
                            <a:latin typeface="Cambria Math" panose="02040503050406030204" pitchFamily="18" charset="0"/>
                            <a:ea typeface="Cambria Math" panose="02040503050406030204" pitchFamily="18" charset="0"/>
                            <a:cs typeface="Cambria Math" panose="02040503050406030204" pitchFamily="18" charset="0"/>
                          </a:rPr>
                        </m:ctrlPr>
                      </m:radPr>
                      <m:deg/>
                      <m:e>
                        <m:r>
                          <a:rPr lang="en-US" sz="2400" i="1">
                            <a:latin typeface="Cambria Math" panose="02040503050406030204" pitchFamily="18" charset="0"/>
                            <a:ea typeface="Cambria Math" panose="02040503050406030204" pitchFamily="18" charset="0"/>
                            <a:cs typeface="Cambria Math" panose="02040503050406030204" pitchFamily="18" charset="0"/>
                          </a:rPr>
                          <m:t>4</m:t>
                        </m:r>
                      </m:e>
                    </m:rad>
                    <m:r>
                      <a:rPr lang="en-US" sz="2400" i="1">
                        <a:latin typeface="Cambria Math" panose="02040503050406030204" pitchFamily="18" charset="0"/>
                        <a:ea typeface="Cambria Math" panose="02040503050406030204" pitchFamily="18" charset="0"/>
                        <a:cs typeface="Cambria Math" panose="02040503050406030204" pitchFamily="18" charset="0"/>
                      </a:rPr>
                      <m:t>∙</m:t>
                    </m:r>
                    <m:rad>
                      <m:radPr>
                        <m:degHide m:val="on"/>
                        <m:ctrlPr>
                          <a:rPr lang="x-none" sz="2400" i="1">
                            <a:latin typeface="Cambria Math" panose="02040503050406030204" pitchFamily="18" charset="0"/>
                            <a:ea typeface="Cambria Math" panose="02040503050406030204" pitchFamily="18" charset="0"/>
                            <a:cs typeface="Cambria Math" panose="02040503050406030204" pitchFamily="18" charset="0"/>
                          </a:rPr>
                        </m:ctrlPr>
                      </m:radPr>
                      <m:deg/>
                      <m:e>
                        <m:r>
                          <a:rPr lang="en-US" sz="2400" i="1">
                            <a:latin typeface="Cambria Math" panose="02040503050406030204" pitchFamily="18" charset="0"/>
                            <a:ea typeface="Cambria Math" panose="02040503050406030204" pitchFamily="18" charset="0"/>
                            <a:cs typeface="Cambria Math" panose="02040503050406030204" pitchFamily="18" charset="0"/>
                          </a:rPr>
                          <m:t>10</m:t>
                        </m:r>
                      </m:e>
                    </m:rad>
                  </m:oMath>
                </a14:m>
                <a:endParaRPr lang="x-none" sz="2400" dirty="0">
                  <a:latin typeface="Verdana" pitchFamily="34" charset="0"/>
                  <a:ea typeface="Verdana" pitchFamily="34" charset="0"/>
                  <a:cs typeface="Cambria Math" panose="02040503050406030204" pitchFamily="18" charset="0"/>
                </a:endParaRPr>
              </a:p>
              <a:p>
                <a:pPr marL="914400" lvl="1" indent="-457200">
                  <a:lnSpc>
                    <a:spcPct val="115000"/>
                  </a:lnSpc>
                  <a:spcAft>
                    <a:spcPts val="800"/>
                  </a:spcAft>
                  <a:buFont typeface="Wingdings" pitchFamily="2" charset="2"/>
                  <a:buChar char=""/>
                </a:pPr>
                <a14:m>
                  <m:oMath xmlns:m="http://schemas.openxmlformats.org/officeDocument/2006/math">
                    <m:sSup>
                      <m:sSupPr>
                        <m:ctrlPr>
                          <a:rPr lang="x-none" sz="2400" i="1">
                            <a:latin typeface="Cambria Math" panose="02040503050406030204" pitchFamily="18" charset="0"/>
                            <a:ea typeface="Cambria Math" panose="02040503050406030204" pitchFamily="18" charset="0"/>
                            <a:cs typeface="Cambria Math" panose="02040503050406030204" pitchFamily="18" charset="0"/>
                          </a:rPr>
                        </m:ctrlPr>
                      </m:sSupPr>
                      <m:e>
                        <m:r>
                          <a:rPr lang="en-US" sz="2400" i="1">
                            <a:latin typeface="Cambria Math" panose="02040503050406030204" pitchFamily="18" charset="0"/>
                            <a:ea typeface="Cambria Math" panose="02040503050406030204" pitchFamily="18" charset="0"/>
                            <a:cs typeface="Cambria Math" panose="02040503050406030204" pitchFamily="18" charset="0"/>
                          </a:rPr>
                          <m:t>(20∙2)</m:t>
                        </m:r>
                      </m:e>
                      <m:sup>
                        <m:f>
                          <m:fPr>
                            <m:ctrlPr>
                              <a:rPr lang="x-none" sz="2400" i="1">
                                <a:latin typeface="Cambria Math" panose="02040503050406030204" pitchFamily="18" charset="0"/>
                                <a:ea typeface="Cambria Math" panose="02040503050406030204" pitchFamily="18" charset="0"/>
                                <a:cs typeface="Cambria Math" panose="02040503050406030204" pitchFamily="18" charset="0"/>
                              </a:rPr>
                            </m:ctrlPr>
                          </m:fPr>
                          <m:num>
                            <m:r>
                              <a:rPr lang="en-US" sz="2400" i="1">
                                <a:latin typeface="Cambria Math" panose="02040503050406030204" pitchFamily="18" charset="0"/>
                                <a:ea typeface="Cambria Math" panose="02040503050406030204" pitchFamily="18" charset="0"/>
                                <a:cs typeface="Cambria Math" panose="02040503050406030204" pitchFamily="18" charset="0"/>
                              </a:rPr>
                              <m:t>1</m:t>
                            </m:r>
                          </m:num>
                          <m:den>
                            <m:r>
                              <a:rPr lang="en-US" sz="2400" i="1">
                                <a:latin typeface="Cambria Math" panose="02040503050406030204" pitchFamily="18" charset="0"/>
                                <a:ea typeface="Cambria Math" panose="02040503050406030204" pitchFamily="18" charset="0"/>
                                <a:cs typeface="Cambria Math" panose="02040503050406030204" pitchFamily="18" charset="0"/>
                              </a:rPr>
                              <m:t>2</m:t>
                            </m:r>
                          </m:den>
                        </m:f>
                      </m:sup>
                    </m:sSup>
                  </m:oMath>
                </a14:m>
                <a:endParaRPr lang="x-none" sz="2400" dirty="0">
                  <a:latin typeface="Verdana" pitchFamily="34" charset="0"/>
                  <a:ea typeface="Verdana" pitchFamily="34" charset="0"/>
                  <a:cs typeface="Cambria Math" panose="02040503050406030204" pitchFamily="18" charset="0"/>
                </a:endParaRPr>
              </a:p>
              <a:p>
                <a:pPr marL="914400" lvl="1" indent="-457200">
                  <a:lnSpc>
                    <a:spcPct val="115000"/>
                  </a:lnSpc>
                  <a:spcAft>
                    <a:spcPts val="800"/>
                  </a:spcAft>
                  <a:buFont typeface="Wingdings" pitchFamily="2" charset="2"/>
                  <a:buChar char=""/>
                </a:pPr>
                <a14:m>
                  <m:oMath xmlns:m="http://schemas.openxmlformats.org/officeDocument/2006/math">
                    <m:r>
                      <a:rPr lang="en-US" sz="2400" i="1">
                        <a:latin typeface="Cambria Math" panose="02040503050406030204" pitchFamily="18" charset="0"/>
                        <a:ea typeface="Cambria Math" panose="02040503050406030204" pitchFamily="18" charset="0"/>
                        <a:cs typeface="Cambria Math" panose="02040503050406030204" pitchFamily="18" charset="0"/>
                      </a:rPr>
                      <m:t>5</m:t>
                    </m:r>
                    <m:rad>
                      <m:radPr>
                        <m:degHide m:val="on"/>
                        <m:ctrlPr>
                          <a:rPr lang="x-none" sz="2400" i="1">
                            <a:latin typeface="Cambria Math" panose="02040503050406030204" pitchFamily="18" charset="0"/>
                            <a:ea typeface="Cambria Math" panose="02040503050406030204" pitchFamily="18" charset="0"/>
                            <a:cs typeface="Cambria Math" panose="02040503050406030204" pitchFamily="18" charset="0"/>
                          </a:rPr>
                        </m:ctrlPr>
                      </m:radPr>
                      <m:deg/>
                      <m:e>
                        <m:r>
                          <a:rPr lang="en-US" sz="2400" i="1">
                            <a:latin typeface="Cambria Math" panose="02040503050406030204" pitchFamily="18" charset="0"/>
                            <a:ea typeface="Cambria Math" panose="02040503050406030204" pitchFamily="18" charset="0"/>
                            <a:cs typeface="Cambria Math" panose="02040503050406030204" pitchFamily="18" charset="0"/>
                          </a:rPr>
                          <m:t>8</m:t>
                        </m:r>
                      </m:e>
                    </m:rad>
                  </m:oMath>
                </a14:m>
                <a:endParaRPr lang="x-none" sz="2400" dirty="0">
                  <a:latin typeface="Verdana" pitchFamily="34" charset="0"/>
                  <a:ea typeface="Verdana" pitchFamily="34" charset="0"/>
                  <a:cs typeface="Cambria Math" panose="02040503050406030204" pitchFamily="18" charset="0"/>
                </a:endParaRPr>
              </a:p>
              <a:p>
                <a:pPr marL="914400" lvl="1" indent="-457200">
                  <a:lnSpc>
                    <a:spcPct val="115000"/>
                  </a:lnSpc>
                  <a:spcAft>
                    <a:spcPts val="800"/>
                  </a:spcAft>
                  <a:buFont typeface="Wingdings" pitchFamily="2" charset="2"/>
                  <a:buChar char=""/>
                </a:pPr>
                <a14:m>
                  <m:oMath xmlns:m="http://schemas.openxmlformats.org/officeDocument/2006/math">
                    <m:r>
                      <a:rPr lang="en-US" sz="2400" i="1">
                        <a:latin typeface="Cambria Math" panose="02040503050406030204" pitchFamily="18" charset="0"/>
                        <a:ea typeface="Cambria Math" panose="02040503050406030204" pitchFamily="18" charset="0"/>
                        <a:cs typeface="Cambria Math" panose="02040503050406030204" pitchFamily="18" charset="0"/>
                      </a:rPr>
                      <m:t>2</m:t>
                    </m:r>
                    <m:rad>
                      <m:radPr>
                        <m:degHide m:val="on"/>
                        <m:ctrlPr>
                          <a:rPr lang="x-none" sz="2400" i="1">
                            <a:latin typeface="Cambria Math" panose="02040503050406030204" pitchFamily="18" charset="0"/>
                            <a:ea typeface="Cambria Math" panose="02040503050406030204" pitchFamily="18" charset="0"/>
                            <a:cs typeface="Cambria Math" panose="02040503050406030204" pitchFamily="18" charset="0"/>
                          </a:rPr>
                        </m:ctrlPr>
                      </m:radPr>
                      <m:deg/>
                      <m:e>
                        <m:r>
                          <a:rPr lang="en-US" sz="2400" i="1">
                            <a:latin typeface="Cambria Math" panose="02040503050406030204" pitchFamily="18" charset="0"/>
                            <a:ea typeface="Cambria Math" panose="02040503050406030204" pitchFamily="18" charset="0"/>
                            <a:cs typeface="Cambria Math" panose="02040503050406030204" pitchFamily="18" charset="0"/>
                          </a:rPr>
                          <m:t>10</m:t>
                        </m:r>
                      </m:e>
                    </m:rad>
                  </m:oMath>
                </a14:m>
                <a:endParaRPr lang="x-none" sz="2400" dirty="0">
                  <a:latin typeface="Verdana" pitchFamily="34" charset="0"/>
                  <a:ea typeface="Verdana" pitchFamily="34" charset="0"/>
                  <a:cs typeface="Cambria Math" panose="02040503050406030204" pitchFamily="18" charset="0"/>
                </a:endParaRPr>
              </a:p>
              <a:p>
                <a:pPr marL="914400" lvl="1" indent="-457200">
                  <a:lnSpc>
                    <a:spcPct val="115000"/>
                  </a:lnSpc>
                  <a:buFont typeface="Wingdings" pitchFamily="2" charset="2"/>
                  <a:buChar char=""/>
                </a:pPr>
                <a14:m>
                  <m:oMath xmlns:m="http://schemas.openxmlformats.org/officeDocument/2006/math">
                    <m:sSup>
                      <m:sSupPr>
                        <m:ctrlPr>
                          <a:rPr lang="x-none" sz="2400" i="1">
                            <a:latin typeface="Cambria Math" panose="02040503050406030204" pitchFamily="18" charset="0"/>
                            <a:ea typeface="Cambria Math" panose="02040503050406030204" pitchFamily="18" charset="0"/>
                            <a:cs typeface="Cambria Math" panose="02040503050406030204" pitchFamily="18" charset="0"/>
                          </a:rPr>
                        </m:ctrlPr>
                      </m:sSupPr>
                      <m:e>
                        <m:r>
                          <a:rPr lang="en-US" sz="2400" i="1">
                            <a:latin typeface="Cambria Math" panose="02040503050406030204" pitchFamily="18" charset="0"/>
                            <a:ea typeface="Cambria Math" panose="02040503050406030204" pitchFamily="18" charset="0"/>
                            <a:cs typeface="Cambria Math" panose="02040503050406030204" pitchFamily="18" charset="0"/>
                          </a:rPr>
                          <m:t>(10∙4)</m:t>
                        </m:r>
                      </m:e>
                      <m:sup>
                        <m:f>
                          <m:fPr>
                            <m:ctrlPr>
                              <a:rPr lang="x-none" sz="2400" i="1">
                                <a:latin typeface="Cambria Math" panose="02040503050406030204" pitchFamily="18" charset="0"/>
                                <a:ea typeface="Cambria Math" panose="02040503050406030204" pitchFamily="18" charset="0"/>
                                <a:cs typeface="Cambria Math" panose="02040503050406030204" pitchFamily="18" charset="0"/>
                              </a:rPr>
                            </m:ctrlPr>
                          </m:fPr>
                          <m:num>
                            <m:r>
                              <a:rPr lang="en-US" sz="2400" i="1">
                                <a:latin typeface="Cambria Math" panose="02040503050406030204" pitchFamily="18" charset="0"/>
                                <a:ea typeface="Cambria Math" panose="02040503050406030204" pitchFamily="18" charset="0"/>
                                <a:cs typeface="Cambria Math" panose="02040503050406030204" pitchFamily="18" charset="0"/>
                              </a:rPr>
                              <m:t>1</m:t>
                            </m:r>
                          </m:num>
                          <m:den>
                            <m:r>
                              <a:rPr lang="en-US" sz="2400" i="1">
                                <a:latin typeface="Cambria Math" panose="02040503050406030204" pitchFamily="18" charset="0"/>
                                <a:ea typeface="Cambria Math" panose="02040503050406030204" pitchFamily="18" charset="0"/>
                                <a:cs typeface="Cambria Math" panose="02040503050406030204" pitchFamily="18" charset="0"/>
                              </a:rPr>
                              <m:t>2</m:t>
                            </m:r>
                          </m:den>
                        </m:f>
                      </m:sup>
                    </m:sSup>
                  </m:oMath>
                </a14:m>
                <a:endParaRPr lang="en-US" sz="2400" dirty="0">
                  <a:latin typeface="Verdana" pitchFamily="34" charset="0"/>
                  <a:ea typeface="Cambria Math" panose="02040503050406030204" pitchFamily="18" charset="0"/>
                  <a:cs typeface="Cambria Math" panose="02040503050406030204" pitchFamily="18" charset="0"/>
                </a:endParaRPr>
              </a:p>
            </p:txBody>
          </p:sp>
        </mc:Choice>
        <mc:Fallback>
          <p:sp>
            <p:nvSpPr>
              <p:cNvPr id="4" name="Rectangle 3">
                <a:extLst>
                  <a:ext uri="{FF2B5EF4-FFF2-40B4-BE49-F238E27FC236}">
                    <a16:creationId xmlns:a16="http://schemas.microsoft.com/office/drawing/2014/main" id="{FE208A00-51E7-C544-ABDE-AE9DC3DAAB4C}"/>
                  </a:ext>
                </a:extLst>
              </p:cNvPr>
              <p:cNvSpPr>
                <a:spLocks noRot="1" noChangeAspect="1" noMove="1" noResize="1" noEditPoints="1" noAdjustHandles="1" noChangeArrowheads="1" noChangeShapeType="1" noTextEdit="1"/>
              </p:cNvSpPr>
              <p:nvPr/>
            </p:nvSpPr>
            <p:spPr bwMode="auto">
              <a:xfrm>
                <a:off x="866899" y="1374912"/>
                <a:ext cx="8681981" cy="4766305"/>
              </a:xfrm>
              <a:prstGeom prst="rect">
                <a:avLst/>
              </a:prstGeom>
              <a:blipFill>
                <a:blip r:embed="rId3"/>
                <a:stretch>
                  <a:fillRect l="-1053" t="-640"/>
                </a:stretch>
              </a:blip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p>
                <a:r>
                  <a:rPr lang="en-US">
                    <a:noFill/>
                  </a:rPr>
                  <a:t> </a:t>
                </a:r>
              </a:p>
            </p:txBody>
          </p:sp>
        </mc:Fallback>
      </mc:AlternateContent>
      <p:pic>
        <p:nvPicPr>
          <p:cNvPr id="15" name="Picture 14" descr="Icon&#10;&#10;Description automatically generated">
            <a:extLst>
              <a:ext uri="{FF2B5EF4-FFF2-40B4-BE49-F238E27FC236}">
                <a16:creationId xmlns:a16="http://schemas.microsoft.com/office/drawing/2014/main" id="{2B53F9A7-2434-5D4E-B654-257F5CF1B6BE}"/>
              </a:ext>
            </a:extLst>
          </p:cNvPr>
          <p:cNvPicPr>
            <a:picLocks noChangeAspect="1"/>
          </p:cNvPicPr>
          <p:nvPr/>
        </p:nvPicPr>
        <p:blipFill>
          <a:blip r:embed="rId4" cstate="screen">
            <a:extLst>
              <a:ext uri="{28A0092B-C50C-407E-A947-70E740481C1C}">
                <a14:useLocalDpi xmlns:a14="http://schemas.microsoft.com/office/drawing/2010/main"/>
              </a:ext>
            </a:extLst>
          </a:blip>
          <a:stretch>
            <a:fillRect/>
          </a:stretch>
        </p:blipFill>
        <p:spPr>
          <a:xfrm>
            <a:off x="624224" y="121283"/>
            <a:ext cx="747301" cy="747301"/>
          </a:xfrm>
          <a:prstGeom prst="rect">
            <a:avLst/>
          </a:prstGeom>
        </p:spPr>
      </p:pic>
      <p:sp>
        <p:nvSpPr>
          <p:cNvPr id="8" name="Google Shape;282;g104476d1465_1_17">
            <a:extLst>
              <a:ext uri="{FF2B5EF4-FFF2-40B4-BE49-F238E27FC236}">
                <a16:creationId xmlns:a16="http://schemas.microsoft.com/office/drawing/2014/main" id="{FC7947CC-AAAE-01CB-44A5-2CF53A24ADE8}"/>
              </a:ext>
            </a:extLst>
          </p:cNvPr>
          <p:cNvSpPr txBox="1"/>
          <p:nvPr/>
        </p:nvSpPr>
        <p:spPr>
          <a:xfrm>
            <a:off x="8908141" y="6469331"/>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44</a:t>
            </a:r>
            <a:endParaRPr i="1" dirty="0">
              <a:latin typeface="Calibri"/>
              <a:ea typeface="Calibri"/>
              <a:cs typeface="Calibri"/>
              <a:sym typeface="Calibri"/>
            </a:endParaRPr>
          </a:p>
        </p:txBody>
      </p:sp>
      <p:pic>
        <p:nvPicPr>
          <p:cNvPr id="9" name="Google Shape;283;g104476d1465_1_17">
            <a:extLst>
              <a:ext uri="{FF2B5EF4-FFF2-40B4-BE49-F238E27FC236}">
                <a16:creationId xmlns:a16="http://schemas.microsoft.com/office/drawing/2014/main" id="{5608F79B-179C-EDEA-57D4-9D200C81805A}"/>
              </a:ext>
            </a:extLst>
          </p:cNvPr>
          <p:cNvPicPr preferRelativeResize="0"/>
          <p:nvPr/>
        </p:nvPicPr>
        <p:blipFill>
          <a:blip r:embed="rId5" cstate="screen">
            <a:alphaModFix/>
            <a:extLst>
              <a:ext uri="{28A0092B-C50C-407E-A947-70E740481C1C}">
                <a14:useLocalDpi xmlns:a14="http://schemas.microsoft.com/office/drawing/2010/main"/>
              </a:ext>
            </a:extLst>
          </a:blip>
          <a:stretch>
            <a:fillRect/>
          </a:stretch>
        </p:blipFill>
        <p:spPr>
          <a:xfrm>
            <a:off x="11533433"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94807127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F26763"/>
          </a:solidFill>
          <a:ln w="9525" cap="flat" cmpd="sng">
            <a:solidFill>
              <a:srgbClr val="F26763"/>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BC725BEA-22FC-444E-962E-519D9C6446EE}"/>
                  </a:ext>
                </a:extLst>
              </p:cNvPr>
              <p:cNvSpPr txBox="1"/>
              <p:nvPr/>
            </p:nvSpPr>
            <p:spPr>
              <a:xfrm>
                <a:off x="927018" y="259898"/>
                <a:ext cx="10223911" cy="884986"/>
              </a:xfrm>
              <a:prstGeom prst="rect">
                <a:avLst/>
              </a:prstGeom>
              <a:noFill/>
            </p:spPr>
            <p:txBody>
              <a:bodyPr wrap="square" rtlCol="0">
                <a:spAutoFit/>
              </a:bodyPr>
              <a:lstStyle/>
              <a:p>
                <a:pPr marL="457200" indent="-457200">
                  <a:lnSpc>
                    <a:spcPct val="107000"/>
                  </a:lnSpc>
                  <a:buFont typeface="+mj-lt"/>
                  <a:buAutoNum type="arabicPeriod" startAt="2"/>
                </a:pPr>
                <a:r>
                  <a:rPr lang="en-US" sz="2400" dirty="0">
                    <a:latin typeface="Verdana" panose="020B0604030504040204" pitchFamily="34" charset="0"/>
                    <a:ea typeface="Verdana" panose="020B0604030504040204" pitchFamily="34" charset="0"/>
                    <a:cs typeface="Verdana" panose="020B0604030504040204" pitchFamily="34" charset="0"/>
                  </a:rPr>
                  <a:t>Write an equivalent expression for </a:t>
                </a:r>
                <a14:m>
                  <m:oMath xmlns:m="http://schemas.openxmlformats.org/officeDocument/2006/math">
                    <m:rad>
                      <m:radPr>
                        <m:ctrlPr>
                          <a:rPr lang="en-US" sz="2400" i="1" dirty="0">
                            <a:latin typeface="Cambria Math" panose="02040503050406030204" pitchFamily="18" charset="0"/>
                            <a:ea typeface="Verdana" panose="020B0604030504040204" pitchFamily="34" charset="0"/>
                            <a:cs typeface="Verdana" panose="020B0604030504040204" pitchFamily="34" charset="0"/>
                          </a:rPr>
                        </m:ctrlPr>
                      </m:radPr>
                      <m:deg>
                        <m:r>
                          <a:rPr lang="en-US" sz="2400" i="1" dirty="0">
                            <a:latin typeface="Cambria Math" panose="02040503050406030204" pitchFamily="18" charset="0"/>
                            <a:ea typeface="Verdana" panose="020B0604030504040204" pitchFamily="34" charset="0"/>
                            <a:cs typeface="Verdana" panose="020B0604030504040204" pitchFamily="34" charset="0"/>
                          </a:rPr>
                          <m:t>3</m:t>
                        </m:r>
                      </m:deg>
                      <m:e>
                        <m:r>
                          <a:rPr lang="es-ES" sz="2400" i="1" dirty="0">
                            <a:latin typeface="Cambria Math" panose="02040503050406030204" pitchFamily="18" charset="0"/>
                            <a:ea typeface="Verdana" panose="020B0604030504040204" pitchFamily="34" charset="0"/>
                            <a:cs typeface="Verdana" panose="020B0604030504040204" pitchFamily="34" charset="0"/>
                          </a:rPr>
                          <m:t>378</m:t>
                        </m:r>
                      </m:e>
                    </m:rad>
                  </m:oMath>
                </a14:m>
                <a:r>
                  <a:rPr lang="en-US" sz="2400" dirty="0">
                    <a:latin typeface="Verdana" panose="020B0604030504040204" pitchFamily="34" charset="0"/>
                    <a:ea typeface="Verdana" panose="020B0604030504040204" pitchFamily="34" charset="0"/>
                    <a:cs typeface="Verdana" panose="020B0604030504040204" pitchFamily="34" charset="0"/>
                  </a:rPr>
                  <a:t> in the form of a constant multiplied by a radical.</a:t>
                </a:r>
              </a:p>
            </p:txBody>
          </p:sp>
        </mc:Choice>
        <mc:Fallback>
          <p:sp>
            <p:nvSpPr>
              <p:cNvPr id="7" name="TextBox 6">
                <a:extLst>
                  <a:ext uri="{FF2B5EF4-FFF2-40B4-BE49-F238E27FC236}">
                    <a16:creationId xmlns:a16="http://schemas.microsoft.com/office/drawing/2014/main" id="{BC725BEA-22FC-444E-962E-519D9C6446EE}"/>
                  </a:ext>
                </a:extLst>
              </p:cNvPr>
              <p:cNvSpPr txBox="1">
                <a:spLocks noRot="1" noChangeAspect="1" noMove="1" noResize="1" noEditPoints="1" noAdjustHandles="1" noChangeArrowheads="1" noChangeShapeType="1" noTextEdit="1"/>
              </p:cNvSpPr>
              <p:nvPr/>
            </p:nvSpPr>
            <p:spPr>
              <a:xfrm>
                <a:off x="927018" y="259898"/>
                <a:ext cx="10223911" cy="884986"/>
              </a:xfrm>
              <a:prstGeom prst="rect">
                <a:avLst/>
              </a:prstGeom>
              <a:blipFill>
                <a:blip r:embed="rId3"/>
                <a:stretch>
                  <a:fillRect l="-894" t="-3448" b="-14483"/>
                </a:stretch>
              </a:blipFill>
            </p:spPr>
            <p:txBody>
              <a:bodyPr/>
              <a:lstStyle/>
              <a:p>
                <a:r>
                  <a:rPr lang="en-US">
                    <a:noFill/>
                  </a:rPr>
                  <a:t> </a:t>
                </a:r>
              </a:p>
            </p:txBody>
          </p:sp>
        </mc:Fallback>
      </mc:AlternateContent>
      <p:sp>
        <p:nvSpPr>
          <p:cNvPr id="6" name="Google Shape;282;g104476d1465_1_17">
            <a:extLst>
              <a:ext uri="{FF2B5EF4-FFF2-40B4-BE49-F238E27FC236}">
                <a16:creationId xmlns:a16="http://schemas.microsoft.com/office/drawing/2014/main" id="{7AE23FD6-3526-0CCC-DB95-2E77C14833D0}"/>
              </a:ext>
            </a:extLst>
          </p:cNvPr>
          <p:cNvSpPr txBox="1"/>
          <p:nvPr/>
        </p:nvSpPr>
        <p:spPr>
          <a:xfrm>
            <a:off x="8908141" y="6469331"/>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44</a:t>
            </a:r>
            <a:endParaRPr i="1" dirty="0">
              <a:latin typeface="Calibri"/>
              <a:ea typeface="Calibri"/>
              <a:cs typeface="Calibri"/>
              <a:sym typeface="Calibri"/>
            </a:endParaRPr>
          </a:p>
        </p:txBody>
      </p:sp>
      <p:pic>
        <p:nvPicPr>
          <p:cNvPr id="8" name="Google Shape;283;g104476d1465_1_17">
            <a:extLst>
              <a:ext uri="{FF2B5EF4-FFF2-40B4-BE49-F238E27FC236}">
                <a16:creationId xmlns:a16="http://schemas.microsoft.com/office/drawing/2014/main" id="{A54FFA81-B438-B40D-B67E-CA7C27ED7174}"/>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3433"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74919408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08"/>
        <p:cNvGrpSpPr/>
        <p:nvPr/>
      </p:nvGrpSpPr>
      <p:grpSpPr>
        <a:xfrm>
          <a:off x="0" y="0"/>
          <a:ext cx="0" cy="0"/>
          <a:chOff x="0" y="0"/>
          <a:chExt cx="0" cy="0"/>
        </a:xfrm>
      </p:grpSpPr>
      <p:sp>
        <p:nvSpPr>
          <p:cNvPr id="309" name="Google Shape;309;g104476d1465_1_39"/>
          <p:cNvSpPr/>
          <p:nvPr/>
        </p:nvSpPr>
        <p:spPr>
          <a:xfrm>
            <a:off x="0" y="-8225"/>
            <a:ext cx="2731200" cy="6866100"/>
          </a:xfrm>
          <a:prstGeom prst="rect">
            <a:avLst/>
          </a:prstGeom>
          <a:solidFill>
            <a:srgbClr val="F26763"/>
          </a:solidFill>
          <a:ln w="9525" cap="flat" cmpd="sng">
            <a:solidFill>
              <a:srgbClr val="F26763"/>
            </a:solidFill>
            <a:prstDash val="solid"/>
            <a:round/>
            <a:headEnd type="none" w="sm" len="sm"/>
            <a:tailEnd type="none" w="sm" len="sm"/>
          </a:ln>
          <a:effectLst>
            <a:outerShdw blurRad="50800" dist="38100" dir="2700000" algn="tl" rotWithShape="0">
              <a:prstClr val="black">
                <a:alpha val="40000"/>
              </a:prstClr>
            </a:outerShdw>
          </a:effectLst>
        </p:spPr>
        <p:txBody>
          <a:bodyPr spcFirstLastPara="1" wrap="square" lIns="91425" tIns="91425" rIns="91425" bIns="91425" anchor="ctr" anchorCtr="0">
            <a:noAutofit/>
          </a:bodyPr>
          <a:lstStyle/>
          <a:p>
            <a:endParaRPr/>
          </a:p>
        </p:txBody>
      </p:sp>
      <p:sp>
        <p:nvSpPr>
          <p:cNvPr id="313" name="Google Shape;313;g104476d1465_1_39"/>
          <p:cNvSpPr txBox="1">
            <a:spLocks noGrp="1"/>
          </p:cNvSpPr>
          <p:nvPr>
            <p:ph type="title" idx="4294967295"/>
          </p:nvPr>
        </p:nvSpPr>
        <p:spPr>
          <a:xfrm>
            <a:off x="4767072" y="2761974"/>
            <a:ext cx="4480750" cy="1325700"/>
          </a:xfrm>
          <a:prstGeom prst="rect">
            <a:avLst/>
          </a:prstGeom>
          <a:noFill/>
          <a:ln>
            <a:noFill/>
          </a:ln>
        </p:spPr>
        <p:txBody>
          <a:bodyPr spcFirstLastPara="1" wrap="square" lIns="91425" tIns="45700" rIns="91425" bIns="45700" anchor="ctr" anchorCtr="0">
            <a:normAutofit/>
          </a:bodyPr>
          <a:lstStyle/>
          <a:p>
            <a:pPr algn="ctr">
              <a:buClr>
                <a:schemeClr val="lt1"/>
              </a:buClr>
              <a:buSzPts val="4800"/>
            </a:pPr>
            <a:r>
              <a:rPr lang="en-US" sz="5500" b="1" dirty="0">
                <a:solidFill>
                  <a:srgbClr val="3F2A67"/>
                </a:solidFill>
                <a:latin typeface="Verdana"/>
                <a:ea typeface="Verdana"/>
                <a:cs typeface="Verdana"/>
                <a:sym typeface="Verdana"/>
              </a:rPr>
              <a:t>Wrap-Up</a:t>
            </a:r>
            <a:endParaRPr sz="5100" b="1" dirty="0">
              <a:solidFill>
                <a:srgbClr val="3F2A67"/>
              </a:solidFill>
              <a:latin typeface="Verdana"/>
              <a:ea typeface="Verdana"/>
              <a:cs typeface="Verdana"/>
              <a:sym typeface="Verdana"/>
            </a:endParaRPr>
          </a:p>
        </p:txBody>
      </p:sp>
      <p:pic>
        <p:nvPicPr>
          <p:cNvPr id="7" name="Google Shape;450;g103996e1364_0_457">
            <a:extLst>
              <a:ext uri="{FF2B5EF4-FFF2-40B4-BE49-F238E27FC236}">
                <a16:creationId xmlns:a16="http://schemas.microsoft.com/office/drawing/2014/main" id="{DE95225C-59B5-E847-AFA2-B83DCFFA10D8}"/>
              </a:ext>
            </a:extLst>
          </p:cNvPr>
          <p:cNvPicPr preferRelativeResize="0"/>
          <p:nvPr/>
        </p:nvPicPr>
        <p:blipFill rotWithShape="1">
          <a:blip r:embed="rId3">
            <a:alphaModFix/>
          </a:blip>
          <a:srcRect/>
          <a:stretch/>
        </p:blipFill>
        <p:spPr>
          <a:xfrm>
            <a:off x="3758773" y="2916568"/>
            <a:ext cx="1008299" cy="1016513"/>
          </a:xfrm>
          <a:prstGeom prst="rect">
            <a:avLst/>
          </a:prstGeom>
          <a:noFill/>
          <a:ln>
            <a:noFill/>
          </a:ln>
          <a:effectLst>
            <a:outerShdw blurRad="50800" dist="38100" dir="2700000" algn="tl" rotWithShape="0">
              <a:prstClr val="black">
                <a:alpha val="40000"/>
              </a:prstClr>
            </a:outerShdw>
          </a:effectLst>
        </p:spPr>
      </p:pic>
      <p:sp>
        <p:nvSpPr>
          <p:cNvPr id="8" name="Google Shape;282;g104476d1465_1_17">
            <a:extLst>
              <a:ext uri="{FF2B5EF4-FFF2-40B4-BE49-F238E27FC236}">
                <a16:creationId xmlns:a16="http://schemas.microsoft.com/office/drawing/2014/main" id="{143FB385-3916-85EF-B927-00A37588DC75}"/>
              </a:ext>
            </a:extLst>
          </p:cNvPr>
          <p:cNvSpPr txBox="1"/>
          <p:nvPr/>
        </p:nvSpPr>
        <p:spPr>
          <a:xfrm>
            <a:off x="8908141" y="6469331"/>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44</a:t>
            </a:r>
            <a:endParaRPr i="1" dirty="0">
              <a:latin typeface="Calibri"/>
              <a:ea typeface="Calibri"/>
              <a:cs typeface="Calibri"/>
              <a:sym typeface="Calibri"/>
            </a:endParaRPr>
          </a:p>
        </p:txBody>
      </p:sp>
      <p:pic>
        <p:nvPicPr>
          <p:cNvPr id="9" name="Google Shape;283;g104476d1465_1_17">
            <a:extLst>
              <a:ext uri="{FF2B5EF4-FFF2-40B4-BE49-F238E27FC236}">
                <a16:creationId xmlns:a16="http://schemas.microsoft.com/office/drawing/2014/main" id="{91E0BC67-188D-BF28-89DF-BCC5140C42BC}"/>
              </a:ext>
            </a:extLst>
          </p:cNvPr>
          <p:cNvPicPr preferRelativeResize="0"/>
          <p:nvPr/>
        </p:nvPicPr>
        <p:blipFill>
          <a:blip r:embed="rId4" cstate="screen">
            <a:alphaModFix/>
            <a:extLst>
              <a:ext uri="{28A0092B-C50C-407E-A947-70E740481C1C}">
                <a14:useLocalDpi xmlns:a14="http://schemas.microsoft.com/office/drawing/2010/main"/>
              </a:ext>
            </a:extLst>
          </a:blip>
          <a:stretch>
            <a:fillRect/>
          </a:stretch>
        </p:blipFill>
        <p:spPr>
          <a:xfrm>
            <a:off x="11533433"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67690871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7"/>
        <p:cNvGrpSpPr/>
        <p:nvPr/>
      </p:nvGrpSpPr>
      <p:grpSpPr>
        <a:xfrm>
          <a:off x="0" y="0"/>
          <a:ext cx="0" cy="0"/>
          <a:chOff x="0" y="0"/>
          <a:chExt cx="0" cy="0"/>
        </a:xfrm>
      </p:grpSpPr>
      <p:sp>
        <p:nvSpPr>
          <p:cNvPr id="278" name="Google Shape;278;g104476d1465_1_17"/>
          <p:cNvSpPr/>
          <p:nvPr/>
        </p:nvSpPr>
        <p:spPr>
          <a:xfrm>
            <a:off x="0" y="-8225"/>
            <a:ext cx="223200" cy="6866100"/>
          </a:xfrm>
          <a:prstGeom prst="rect">
            <a:avLst/>
          </a:prstGeom>
          <a:solidFill>
            <a:srgbClr val="F26763"/>
          </a:solidFill>
          <a:ln w="9525" cap="flat" cmpd="sng">
            <a:solidFill>
              <a:srgbClr val="F26763"/>
            </a:solidFill>
            <a:prstDash val="solid"/>
            <a:round/>
            <a:headEnd type="none" w="sm" len="sm"/>
            <a:tailEnd type="none" w="sm" len="sm"/>
          </a:ln>
          <a:effectLst>
            <a:outerShdw blurRad="57150" dist="19050" dir="5400000" algn="bl" rotWithShape="0">
              <a:srgbClr val="000000">
                <a:alpha val="50000"/>
              </a:srgbClr>
            </a:outerShdw>
          </a:effectLst>
        </p:spPr>
        <p:txBody>
          <a:bodyPr spcFirstLastPara="1" wrap="square" lIns="91425" tIns="91425" rIns="91425" bIns="91425" anchor="ctr" anchorCtr="0">
            <a:noAutofit/>
          </a:bodyPr>
          <a:lstStyle/>
          <a:p>
            <a:endParaRPr/>
          </a:p>
        </p:txBody>
      </p:sp>
      <p:sp>
        <p:nvSpPr>
          <p:cNvPr id="7" name="Google Shape;456;g103996e1364_0_463">
            <a:extLst>
              <a:ext uri="{FF2B5EF4-FFF2-40B4-BE49-F238E27FC236}">
                <a16:creationId xmlns:a16="http://schemas.microsoft.com/office/drawing/2014/main" id="{68C03D65-F0BF-3F41-B52A-024F47388982}"/>
              </a:ext>
            </a:extLst>
          </p:cNvPr>
          <p:cNvSpPr txBox="1">
            <a:spLocks/>
          </p:cNvSpPr>
          <p:nvPr/>
        </p:nvSpPr>
        <p:spPr>
          <a:xfrm>
            <a:off x="1558350" y="150050"/>
            <a:ext cx="8390400" cy="662850"/>
          </a:xfrm>
          <a:prstGeom prst="rect">
            <a:avLst/>
          </a:prstGeom>
          <a:noFill/>
          <a:ln>
            <a:noFill/>
          </a:ln>
        </p:spPr>
        <p:txBody>
          <a:bodyPr spcFirstLastPara="1" wrap="square" lIns="91425" tIns="45700" rIns="91425" bIns="45700"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nSpc>
                <a:spcPct val="90000"/>
              </a:lnSpc>
              <a:buClr>
                <a:schemeClr val="dk1"/>
              </a:buClr>
              <a:buSzPts val="5400"/>
              <a:buFont typeface="Century Gothic"/>
              <a:buNone/>
            </a:pPr>
            <a:r>
              <a:rPr lang="en-US" sz="4400" b="1" dirty="0">
                <a:solidFill>
                  <a:srgbClr val="3F2A67"/>
                </a:solidFill>
                <a:latin typeface="Verdana"/>
                <a:ea typeface="Verdana"/>
                <a:cs typeface="Verdana"/>
                <a:sym typeface="Verdana"/>
              </a:rPr>
              <a:t>1.8.6 Wrap-Up: Reflection</a:t>
            </a:r>
          </a:p>
        </p:txBody>
      </p:sp>
      <p:pic>
        <p:nvPicPr>
          <p:cNvPr id="9" name="Google Shape;458;g103996e1364_0_463">
            <a:extLst>
              <a:ext uri="{FF2B5EF4-FFF2-40B4-BE49-F238E27FC236}">
                <a16:creationId xmlns:a16="http://schemas.microsoft.com/office/drawing/2014/main" id="{EEA44D6C-2366-AC41-B1B5-EDDC34786A66}"/>
              </a:ext>
            </a:extLst>
          </p:cNvPr>
          <p:cNvPicPr preferRelativeResize="0"/>
          <p:nvPr/>
        </p:nvPicPr>
        <p:blipFill rotWithShape="1">
          <a:blip r:embed="rId3">
            <a:alphaModFix/>
          </a:blip>
          <a:srcRect/>
          <a:stretch/>
        </p:blipFill>
        <p:spPr>
          <a:xfrm>
            <a:off x="632920" y="107825"/>
            <a:ext cx="747300" cy="747300"/>
          </a:xfrm>
          <a:prstGeom prst="rect">
            <a:avLst/>
          </a:prstGeom>
          <a:noFill/>
          <a:ln>
            <a:noFill/>
          </a:ln>
        </p:spPr>
      </p:pic>
      <p:sp>
        <p:nvSpPr>
          <p:cNvPr id="2" name="Rectangle 1">
            <a:extLst>
              <a:ext uri="{FF2B5EF4-FFF2-40B4-BE49-F238E27FC236}">
                <a16:creationId xmlns:a16="http://schemas.microsoft.com/office/drawing/2014/main" id="{AE281112-0763-C941-9DB7-9B28C4EA4745}"/>
              </a:ext>
            </a:extLst>
          </p:cNvPr>
          <p:cNvSpPr/>
          <p:nvPr/>
        </p:nvSpPr>
        <p:spPr>
          <a:xfrm>
            <a:off x="811050" y="1148737"/>
            <a:ext cx="10301450" cy="1200329"/>
          </a:xfrm>
          <a:prstGeom prst="rect">
            <a:avLst/>
          </a:prstGeom>
        </p:spPr>
        <p:txBody>
          <a:bodyPr wrap="square">
            <a:spAutoFit/>
          </a:bodyPr>
          <a:lstStyle/>
          <a:p>
            <a:pPr marL="457200" indent="-457200">
              <a:buFont typeface="+mj-lt"/>
              <a:buAutoNum type="arabicPeriod"/>
            </a:pPr>
            <a:r>
              <a:rPr lang="en-US" sz="2400" dirty="0">
                <a:latin typeface="Verdana" panose="020B0604030504040204" pitchFamily="34" charset="0"/>
                <a:ea typeface="Times New Roman" panose="02020603050405020304" pitchFamily="18" charset="0"/>
                <a:cs typeface="Times New Roman" panose="02020603050405020304" pitchFamily="18" charset="0"/>
              </a:rPr>
              <a:t>What was the </a:t>
            </a:r>
            <a:r>
              <a:rPr lang="en-US" sz="2400" b="1" i="1" dirty="0">
                <a:latin typeface="Verdana" panose="020B0604030504040204" pitchFamily="34" charset="0"/>
                <a:ea typeface="Times New Roman" panose="02020603050405020304" pitchFamily="18" charset="0"/>
                <a:cs typeface="Times New Roman" panose="02020603050405020304" pitchFamily="18" charset="0"/>
              </a:rPr>
              <a:t>muddiest</a:t>
            </a:r>
            <a:r>
              <a:rPr lang="en-US" sz="2400" dirty="0">
                <a:latin typeface="Verdana" panose="020B0604030504040204" pitchFamily="34" charset="0"/>
                <a:ea typeface="Times New Roman" panose="02020603050405020304" pitchFamily="18" charset="0"/>
                <a:cs typeface="Times New Roman" panose="02020603050405020304" pitchFamily="18" charset="0"/>
              </a:rPr>
              <a:t> (most difficult or confusing) point in today’s lesson on writing equivalent expressions for numerical radicals? </a:t>
            </a:r>
          </a:p>
        </p:txBody>
      </p:sp>
      <p:pic>
        <p:nvPicPr>
          <p:cNvPr id="10" name="Picture 9" descr="Splatter pack 2 - Download Free Vector Art, Stock Graphics ...">
            <a:extLst>
              <a:ext uri="{FF2B5EF4-FFF2-40B4-BE49-F238E27FC236}">
                <a16:creationId xmlns:a16="http://schemas.microsoft.com/office/drawing/2014/main" id="{42E8B8D4-E7E8-5B43-BA1A-0539CED22EF2}"/>
              </a:ext>
            </a:extLst>
          </p:cNvPr>
          <p:cNvPicPr>
            <a:picLocks noChangeAspect="1"/>
          </p:cNvPicPr>
          <p:nvPr/>
        </p:nvPicPr>
        <p:blipFill>
          <a:blip r:embed="rId4">
            <a:alphaModFix amt="35000"/>
            <a:extLst>
              <a:ext uri="{28A0092B-C50C-407E-A947-70E740481C1C}">
                <a14:useLocalDpi xmlns:a14="http://schemas.microsoft.com/office/drawing/2010/main"/>
              </a:ext>
              <a:ext uri="{837473B0-CC2E-450A-ABE3-18F120FF3D39}">
                <a1611:picAttrSrcUrl xmlns:a1611="http://schemas.microsoft.com/office/drawing/2016/11/main" r:id="rId5"/>
              </a:ext>
            </a:extLst>
          </a:blip>
          <a:stretch>
            <a:fillRect/>
          </a:stretch>
        </p:blipFill>
        <p:spPr>
          <a:xfrm>
            <a:off x="3976985" y="2138022"/>
            <a:ext cx="4238030" cy="2963657"/>
          </a:xfrm>
          <a:prstGeom prst="rect">
            <a:avLst/>
          </a:prstGeom>
        </p:spPr>
      </p:pic>
      <p:sp>
        <p:nvSpPr>
          <p:cNvPr id="11" name="Google Shape;282;g104476d1465_1_17">
            <a:extLst>
              <a:ext uri="{FF2B5EF4-FFF2-40B4-BE49-F238E27FC236}">
                <a16:creationId xmlns:a16="http://schemas.microsoft.com/office/drawing/2014/main" id="{14A5F9E1-8E35-194E-3199-E47D797A8A76}"/>
              </a:ext>
            </a:extLst>
          </p:cNvPr>
          <p:cNvSpPr txBox="1"/>
          <p:nvPr/>
        </p:nvSpPr>
        <p:spPr>
          <a:xfrm>
            <a:off x="8908141" y="6469331"/>
            <a:ext cx="2634000" cy="400200"/>
          </a:xfrm>
          <a:prstGeom prst="rect">
            <a:avLst/>
          </a:prstGeom>
          <a:noFill/>
          <a:ln>
            <a:noFill/>
          </a:ln>
        </p:spPr>
        <p:txBody>
          <a:bodyPr spcFirstLastPara="1" wrap="square" lIns="91425" tIns="91425" rIns="91425" bIns="91425" anchor="t" anchorCtr="0">
            <a:spAutoFit/>
          </a:bodyPr>
          <a:lstStyle/>
          <a:p>
            <a:pPr algn="r"/>
            <a:r>
              <a:rPr lang="en-US" i="1" dirty="0">
                <a:latin typeface="Calibri"/>
                <a:ea typeface="Calibri"/>
                <a:cs typeface="Calibri"/>
                <a:sym typeface="Calibri"/>
              </a:rPr>
              <a:t>volume 1, pg. 44</a:t>
            </a:r>
            <a:endParaRPr i="1" dirty="0">
              <a:latin typeface="Calibri"/>
              <a:ea typeface="Calibri"/>
              <a:cs typeface="Calibri"/>
              <a:sym typeface="Calibri"/>
            </a:endParaRPr>
          </a:p>
        </p:txBody>
      </p:sp>
      <p:pic>
        <p:nvPicPr>
          <p:cNvPr id="12" name="Google Shape;283;g104476d1465_1_17">
            <a:extLst>
              <a:ext uri="{FF2B5EF4-FFF2-40B4-BE49-F238E27FC236}">
                <a16:creationId xmlns:a16="http://schemas.microsoft.com/office/drawing/2014/main" id="{08BFCFC9-9878-1D06-3964-1385E8B95577}"/>
              </a:ext>
            </a:extLst>
          </p:cNvPr>
          <p:cNvPicPr preferRelativeResize="0"/>
          <p:nvPr/>
        </p:nvPicPr>
        <p:blipFill>
          <a:blip r:embed="rId6" cstate="screen">
            <a:alphaModFix/>
            <a:extLst>
              <a:ext uri="{28A0092B-C50C-407E-A947-70E740481C1C}">
                <a14:useLocalDpi xmlns:a14="http://schemas.microsoft.com/office/drawing/2010/main"/>
              </a:ext>
            </a:extLst>
          </a:blip>
          <a:stretch>
            <a:fillRect/>
          </a:stretch>
        </p:blipFill>
        <p:spPr>
          <a:xfrm>
            <a:off x="11533433" y="6200599"/>
            <a:ext cx="563850" cy="657276"/>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553995615"/>
      </p:ext>
    </p:extLst>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10340</TotalTime>
  <Words>992</Words>
  <Application>Microsoft Office PowerPoint</Application>
  <PresentationFormat>Widescreen</PresentationFormat>
  <Paragraphs>214</Paragraphs>
  <Slides>23</Slides>
  <Notes>22</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Verdana</vt:lpstr>
      <vt:lpstr>Wingdings</vt:lpstr>
      <vt:lpstr>Century Gothic</vt:lpstr>
      <vt:lpstr>Calibri</vt:lpstr>
      <vt:lpstr>Arial Black</vt:lpstr>
      <vt:lpstr>Cambria Math</vt:lpstr>
      <vt:lpstr>Arial</vt:lpstr>
      <vt:lpstr>1_Office Theme</vt:lpstr>
      <vt:lpstr>Algebra 1  Unit 1, Lesson 8  Equivalent Radical Expressions  Volume 1, pg. 40  </vt:lpstr>
      <vt:lpstr>Benchmark</vt:lpstr>
      <vt:lpstr>PowerPoint Presentation</vt:lpstr>
      <vt:lpstr>PowerPoint Presentation</vt:lpstr>
      <vt:lpstr>Warm-Up</vt:lpstr>
      <vt:lpstr>PowerPoint Presentation</vt:lpstr>
      <vt:lpstr>Exploration</vt:lpstr>
      <vt:lpstr>PowerPoint Presentation</vt:lpstr>
      <vt:lpstr>PowerPoint Presentation</vt:lpstr>
      <vt:lpstr>PowerPoint Presentation</vt:lpstr>
      <vt:lpstr>Guided Instruction</vt:lpstr>
      <vt:lpstr>PowerPoint Presentation</vt:lpstr>
      <vt:lpstr>PowerPoint Presentation</vt:lpstr>
      <vt:lpstr>PowerPoint Presentation</vt:lpstr>
      <vt:lpstr>PowerPoint Presentation</vt:lpstr>
      <vt:lpstr>Try It</vt:lpstr>
      <vt:lpstr>PowerPoint Presentation</vt:lpstr>
      <vt:lpstr>PowerPoint Presentation</vt:lpstr>
      <vt:lpstr>Your Turn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Algebra 2 Unit 4 Lesson 4</dc:title>
  <dc:creator>Karen McKenzie</dc:creator>
  <cp:lastModifiedBy>Natasha Dease</cp:lastModifiedBy>
  <cp:revision>43</cp:revision>
  <dcterms:created xsi:type="dcterms:W3CDTF">2015-03-17T18:51:18Z</dcterms:created>
  <dcterms:modified xsi:type="dcterms:W3CDTF">2022-06-22T13:53:48Z</dcterms:modified>
</cp:coreProperties>
</file>