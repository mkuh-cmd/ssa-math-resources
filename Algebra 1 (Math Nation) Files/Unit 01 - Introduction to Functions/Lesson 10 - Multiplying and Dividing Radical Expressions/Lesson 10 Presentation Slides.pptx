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345" r:id="rId4"/>
    <p:sldId id="286" r:id="rId5"/>
    <p:sldId id="261" r:id="rId6"/>
    <p:sldId id="287" r:id="rId7"/>
    <p:sldId id="346" r:id="rId8"/>
    <p:sldId id="347" r:id="rId9"/>
    <p:sldId id="349" r:id="rId10"/>
    <p:sldId id="361" r:id="rId11"/>
    <p:sldId id="362" r:id="rId12"/>
    <p:sldId id="363" r:id="rId13"/>
    <p:sldId id="364" r:id="rId14"/>
    <p:sldId id="365" r:id="rId15"/>
    <p:sldId id="366" r:id="rId16"/>
    <p:sldId id="314" r:id="rId17"/>
    <p:sldId id="315" r:id="rId18"/>
    <p:sldId id="354" r:id="rId19"/>
    <p:sldId id="355" r:id="rId20"/>
    <p:sldId id="356" r:id="rId21"/>
    <p:sldId id="306" r:id="rId22"/>
    <p:sldId id="307" r:id="rId23"/>
  </p:sldIdLst>
  <p:sldSz cx="12192000" cy="6858000"/>
  <p:notesSz cx="6858000" cy="9144000"/>
  <p:embeddedFontLst>
    <p:embeddedFont>
      <p:font typeface="Arial Black" panose="020B0A04020102020204" pitchFamily="34" charset="0"/>
      <p:bold r:id="rId25"/>
    </p:embeddedFont>
    <p:embeddedFont>
      <p:font typeface="Calibri" panose="020F0502020204030204" pitchFamily="34" charset="0"/>
      <p:regular r:id="rId26"/>
      <p:bold r:id="rId27"/>
      <p:italic r:id="rId28"/>
      <p:boldItalic r:id="rId29"/>
    </p:embeddedFont>
    <p:embeddedFont>
      <p:font typeface="Cambria Math" panose="02040503050406030204" pitchFamily="18" charset="0"/>
      <p:regular r:id="rId30"/>
    </p:embeddedFont>
    <p:embeddedFont>
      <p:font typeface="Century Gothic" panose="020B0502020202020204" pitchFamily="34" charset="0"/>
      <p:regular r:id="rId31"/>
      <p:bold r:id="rId32"/>
      <p:italic r:id="rId33"/>
      <p:boldItalic r:id="rId34"/>
    </p:embeddedFont>
    <p:embeddedFont>
      <p:font typeface="Verdana" panose="020B060403050404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763"/>
    <a:srgbClr val="E24E5F"/>
    <a:srgbClr val="1765AD"/>
    <a:srgbClr val="1664AC"/>
    <a:srgbClr val="BFBFBF"/>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41"/>
    <p:restoredTop sz="94687"/>
  </p:normalViewPr>
  <p:slideViewPr>
    <p:cSldViewPr snapToGrid="0">
      <p:cViewPr varScale="1">
        <p:scale>
          <a:sx n="81" d="100"/>
          <a:sy n="81" d="100"/>
        </p:scale>
        <p:origin x="678"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80458719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838804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30136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103383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684142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312049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053226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6064166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9136904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991907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6563403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4940305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25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80.png"/></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 Lesson 10</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Multiplying and Dividing Radical Expressions</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50</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90357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72347" y="39557"/>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43449" y="328757"/>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855023" y="1462225"/>
            <a:ext cx="981297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800" dirty="0">
                <a:latin typeface="Verdana" panose="020B0604030504040204" pitchFamily="34" charset="0"/>
                <a:ea typeface="Verdana" panose="020B0604030504040204" pitchFamily="34" charset="0"/>
                <a:cs typeface="Verdana" panose="020B0604030504040204" pitchFamily="34" charset="0"/>
              </a:rPr>
              <a:t>MA.912.NSO.1.4</a:t>
            </a:r>
          </a:p>
          <a:p>
            <a:pPr marL="552450" lvl="1" indent="0">
              <a:buNone/>
            </a:pPr>
            <a:r>
              <a:rPr lang="en-US" sz="2800" dirty="0">
                <a:latin typeface="Verdana" panose="020B0604030504040204" pitchFamily="34" charset="0"/>
                <a:ea typeface="Verdana" panose="020B0604030504040204" pitchFamily="34" charset="0"/>
                <a:cs typeface="Verdana" panose="020B0604030504040204" pitchFamily="34" charset="0"/>
              </a:rPr>
              <a:t>Apply previous understanding of operations with rational numbers to add, subtract, multiply, and divide numerical radicals.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744660" y="338256"/>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575088" y="129667"/>
            <a:ext cx="929083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855023" y="1455367"/>
            <a:ext cx="9761889"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8" name="Google Shape;282;g104476d1465_1_17">
            <a:extLst>
              <a:ext uri="{FF2B5EF4-FFF2-40B4-BE49-F238E27FC236}">
                <a16:creationId xmlns:a16="http://schemas.microsoft.com/office/drawing/2014/main" id="{19CDF274-B274-8E50-F8FC-5274E347C5BA}"/>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85B3D9D4-740B-8BC3-73FC-6A1B53BF72AF}"/>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75850"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728550"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855023" y="1547093"/>
            <a:ext cx="983837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3200" dirty="0">
                <a:latin typeface="Verdana" panose="020B0604030504040204" pitchFamily="34" charset="0"/>
                <a:ea typeface="Verdana" panose="020B0604030504040204" pitchFamily="34" charset="0"/>
                <a:cs typeface="Verdana" panose="020B0604030504040204" pitchFamily="34" charset="0"/>
              </a:rPr>
              <a:t>I can multiply and divide two square roots or two cube roots.</a:t>
            </a:r>
          </a:p>
        </p:txBody>
      </p:sp>
      <p:sp>
        <p:nvSpPr>
          <p:cNvPr id="8" name="Google Shape;282;g104476d1465_1_17">
            <a:extLst>
              <a:ext uri="{FF2B5EF4-FFF2-40B4-BE49-F238E27FC236}">
                <a16:creationId xmlns:a16="http://schemas.microsoft.com/office/drawing/2014/main" id="{4FEAE03D-1036-69EF-03F4-ECA35E6D5946}"/>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66E650E9-9200-4F0F-8FF0-1E08EB24C97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733016" y="291312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973492"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537CD83F-DF6B-A549-C18D-E269671FC467}"/>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5B5EF723-6006-1F82-B12C-A5CF00A26DA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44192" y="351754"/>
            <a:ext cx="10020493" cy="56767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1.10.1 Warm-Up: True Equations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08268" y="23595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843148" y="1296241"/>
                <a:ext cx="9824851" cy="120032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Using the digits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9</m:t>
                    </m:r>
                  </m:oMath>
                </a14:m>
                <a:r>
                  <a:rPr lang="en-US" sz="2400" dirty="0">
                    <a:latin typeface="Verdana" panose="020B0604030504040204" pitchFamily="34" charset="0"/>
                    <a:ea typeface="Verdana" panose="020B0604030504040204" pitchFamily="34" charset="0"/>
                    <a:cs typeface="Verdana" panose="020B0604030504040204" pitchFamily="34" charset="0"/>
                  </a:rPr>
                  <a:t>, place a digit in each blue box to make both equations true. Each digit can only be used one time, at most.</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43148" y="1296241"/>
                <a:ext cx="9824851" cy="1200329"/>
              </a:xfrm>
              <a:prstGeom prst="rect">
                <a:avLst/>
              </a:prstGeom>
              <a:blipFill>
                <a:blip r:embed="rId4"/>
                <a:stretch>
                  <a:fillRect l="-931" t="-4569" r="-931" b="-10660"/>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5" name="Picture 4" descr="Shape&#10;&#10;Description automatically generated">
            <a:extLst>
              <a:ext uri="{FF2B5EF4-FFF2-40B4-BE49-F238E27FC236}">
                <a16:creationId xmlns:a16="http://schemas.microsoft.com/office/drawing/2014/main" id="{4207BEF6-E594-7C4A-B60A-5403EE7F8CB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94544" y="2916441"/>
            <a:ext cx="5344402" cy="2491763"/>
          </a:xfrm>
          <a:prstGeom prst="rect">
            <a:avLst/>
          </a:prstGeom>
        </p:spPr>
      </p:pic>
      <p:sp>
        <p:nvSpPr>
          <p:cNvPr id="14" name="Google Shape;282;g104476d1465_1_17">
            <a:extLst>
              <a:ext uri="{FF2B5EF4-FFF2-40B4-BE49-F238E27FC236}">
                <a16:creationId xmlns:a16="http://schemas.microsoft.com/office/drawing/2014/main" id="{3997E8EE-8D61-7859-6CBE-8A5802E2A3A2}"/>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50</a:t>
            </a:r>
            <a:endParaRPr i="1" dirty="0">
              <a:latin typeface="Calibri"/>
              <a:ea typeface="Calibri"/>
              <a:cs typeface="Calibri"/>
              <a:sym typeface="Calibri"/>
            </a:endParaRPr>
          </a:p>
        </p:txBody>
      </p:sp>
      <p:pic>
        <p:nvPicPr>
          <p:cNvPr id="16" name="Google Shape;283;g104476d1465_1_17">
            <a:extLst>
              <a:ext uri="{FF2B5EF4-FFF2-40B4-BE49-F238E27FC236}">
                <a16:creationId xmlns:a16="http://schemas.microsoft.com/office/drawing/2014/main" id="{032FE58B-A88E-6B4E-3EC9-2E7B172298E3}"/>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664532"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image2.png" descr="Icon&#10;&#10;Description automatically generated">
            <a:extLst>
              <a:ext uri="{FF2B5EF4-FFF2-40B4-BE49-F238E27FC236}">
                <a16:creationId xmlns:a16="http://schemas.microsoft.com/office/drawing/2014/main" id="{4E14CF5A-4B3E-9C4F-BD34-81DCEF20513F}"/>
              </a:ext>
            </a:extLst>
          </p:cNvPr>
          <p:cNvPicPr/>
          <p:nvPr/>
        </p:nvPicPr>
        <p:blipFill>
          <a:blip r:embed="rId3"/>
          <a:srcRect/>
          <a:stretch>
            <a:fillRect/>
          </a:stretch>
        </p:blipFill>
        <p:spPr>
          <a:xfrm>
            <a:off x="3285750" y="2849920"/>
            <a:ext cx="1158150" cy="1158150"/>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52FCC193-66C8-1EA7-BB57-6F928219BEA8}"/>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A2421726-8F6A-C618-C182-2AE67F135827}"/>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51888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53787" y="95160"/>
            <a:ext cx="963088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1.10.2 Guided Instruction: Multiplying and Dividing Radical Expressions</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843148" y="1333662"/>
                <a:ext cx="9837551" cy="424827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Recall the </a:t>
                </a:r>
                <a:r>
                  <a:rPr lang="en-US" sz="2400" b="1" i="1" dirty="0">
                    <a:latin typeface="Verdana" panose="020B0604030504040204" pitchFamily="34" charset="0"/>
                    <a:ea typeface="Verdana" panose="020B0604030504040204" pitchFamily="34" charset="0"/>
                    <a:cs typeface="Verdana" panose="020B0604030504040204" pitchFamily="34" charset="0"/>
                  </a:rPr>
                  <a:t>quotient of powers</a:t>
                </a:r>
                <a:r>
                  <a:rPr lang="en-US" sz="2400" dirty="0">
                    <a:latin typeface="Verdana" panose="020B0604030504040204" pitchFamily="34" charset="0"/>
                    <a:ea typeface="Verdana" panose="020B0604030504040204" pitchFamily="34" charset="0"/>
                    <a:cs typeface="Verdana" panose="020B0604030504040204" pitchFamily="34" charset="0"/>
                  </a:rPr>
                  <a:t> law of exponents. </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14:m>
                  <m:oMathPara xmlns:m="http://schemas.openxmlformats.org/officeDocument/2006/math">
                    <m:oMathParaPr>
                      <m:jc m:val="centerGroup"/>
                    </m:oMathParaPr>
                    <m:oMath xmlns:m="http://schemas.openxmlformats.org/officeDocument/2006/math">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𝑎</m:t>
                              </m:r>
                            </m:e>
                            <m:sup>
                              <m:r>
                                <a:rPr lang="en-US" sz="2400" i="1">
                                  <a:latin typeface="Cambria Math" panose="02040503050406030204" pitchFamily="18" charset="0"/>
                                  <a:ea typeface="Verdana" panose="020B0604030504040204" pitchFamily="34" charset="0"/>
                                  <a:cs typeface="Verdana" panose="020B0604030504040204" pitchFamily="34" charset="0"/>
                                </a:rPr>
                                <m:t>𝑚</m:t>
                              </m:r>
                            </m:sup>
                          </m:sSup>
                        </m:num>
                        <m:den>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𝑎</m:t>
                              </m:r>
                            </m:e>
                            <m:sup>
                              <m:r>
                                <a:rPr lang="en-US" sz="2400" i="1">
                                  <a:latin typeface="Cambria Math" panose="02040503050406030204" pitchFamily="18" charset="0"/>
                                  <a:ea typeface="Verdana" panose="020B0604030504040204" pitchFamily="34" charset="0"/>
                                  <a:cs typeface="Verdana" panose="020B0604030504040204" pitchFamily="34" charset="0"/>
                                </a:rPr>
                                <m:t>𝑛</m:t>
                              </m:r>
                            </m:sup>
                          </m:sSup>
                        </m:den>
                      </m:f>
                      <m:r>
                        <a:rPr lang="en-US" sz="2400" i="1">
                          <a:latin typeface="Cambria Math" panose="02040503050406030204" pitchFamily="18" charset="0"/>
                          <a:ea typeface="Verdana" panose="020B0604030504040204" pitchFamily="34" charset="0"/>
                          <a:cs typeface="Verdana" panose="020B0604030504040204" pitchFamily="34" charset="0"/>
                        </a:rPr>
                        <m:t>=</m:t>
                      </m:r>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𝑎</m:t>
                          </m:r>
                        </m:e>
                        <m:sup>
                          <m:r>
                            <a:rPr lang="en-US" sz="2400" i="1">
                              <a:latin typeface="Cambria Math" panose="02040503050406030204" pitchFamily="18" charset="0"/>
                              <a:ea typeface="Verdana" panose="020B0604030504040204" pitchFamily="34" charset="0"/>
                              <a:cs typeface="Verdana" panose="020B0604030504040204" pitchFamily="34" charset="0"/>
                            </a:rPr>
                            <m:t>𝑚</m:t>
                          </m:r>
                          <m:r>
                            <a:rPr lang="en-US" sz="2400" i="1">
                              <a:latin typeface="Cambria Math" panose="02040503050406030204" pitchFamily="18" charset="0"/>
                              <a:ea typeface="Verdana" panose="020B0604030504040204" pitchFamily="34" charset="0"/>
                              <a:cs typeface="Verdana" panose="020B0604030504040204" pitchFamily="34" charset="0"/>
                            </a:rPr>
                            <m:t>−</m:t>
                          </m:r>
                          <m:r>
                            <a:rPr lang="en-US" sz="2400" i="1">
                              <a:latin typeface="Cambria Math" panose="02040503050406030204" pitchFamily="18" charset="0"/>
                              <a:ea typeface="Verdana" panose="020B0604030504040204" pitchFamily="34" charset="0"/>
                              <a:cs typeface="Verdana" panose="020B0604030504040204" pitchFamily="34" charset="0"/>
                            </a:rPr>
                            <m:t>𝑛</m:t>
                          </m:r>
                        </m:sup>
                      </m:sSup>
                    </m:oMath>
                  </m:oMathPara>
                </a14:m>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Ariana used the </a:t>
                </a:r>
                <a:r>
                  <a:rPr lang="en-US" sz="2400" b="1" i="1" dirty="0">
                    <a:latin typeface="Verdana" panose="020B0604030504040204" pitchFamily="34" charset="0"/>
                    <a:ea typeface="Verdana" panose="020B0604030504040204" pitchFamily="34" charset="0"/>
                    <a:cs typeface="Verdana" panose="020B0604030504040204" pitchFamily="34" charset="0"/>
                  </a:rPr>
                  <a:t>quotient of power</a:t>
                </a:r>
                <a:r>
                  <a:rPr lang="en-US" sz="2400" b="1" dirty="0">
                    <a:latin typeface="Verdana" panose="020B0604030504040204" pitchFamily="34" charset="0"/>
                    <a:ea typeface="Verdana" panose="020B0604030504040204" pitchFamily="34" charset="0"/>
                    <a:cs typeface="Verdana" panose="020B0604030504040204" pitchFamily="34" charset="0"/>
                  </a:rPr>
                  <a:t>s</a:t>
                </a:r>
                <a:r>
                  <a:rPr lang="en-US" sz="2400" dirty="0">
                    <a:latin typeface="Verdana" panose="020B0604030504040204" pitchFamily="34" charset="0"/>
                    <a:ea typeface="Verdana" panose="020B0604030504040204" pitchFamily="34" charset="0"/>
                    <a:cs typeface="Verdana" panose="020B0604030504040204" pitchFamily="34" charset="0"/>
                  </a:rPr>
                  <a:t> law of exponents to simplify </a:t>
                </a:r>
                <a14:m>
                  <m:oMath xmlns:m="http://schemas.openxmlformats.org/officeDocument/2006/math">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x-none" sz="2400" i="1">
                                <a:latin typeface="Cambria Math" panose="02040503050406030204" pitchFamily="18" charset="0"/>
                                <a:ea typeface="Verdana" panose="020B0604030504040204" pitchFamily="34" charset="0"/>
                                <a:cs typeface="Verdana" panose="020B0604030504040204" pitchFamily="34" charset="0"/>
                              </a:rPr>
                            </m:ctrlPr>
                          </m:radPr>
                          <m:deg/>
                          <m:e>
                            <m:r>
                              <a:rPr lang="en-US" sz="2400" i="1">
                                <a:latin typeface="Cambria Math" panose="02040503050406030204" pitchFamily="18" charset="0"/>
                                <a:ea typeface="Verdana" panose="020B0604030504040204" pitchFamily="34" charset="0"/>
                                <a:cs typeface="Verdana" panose="020B0604030504040204" pitchFamily="34" charset="0"/>
                              </a:rPr>
                              <m:t>10</m:t>
                            </m:r>
                          </m:e>
                        </m:rad>
                      </m:num>
                      <m:den>
                        <m:rad>
                          <m:radPr>
                            <m:degHide m:val="on"/>
                            <m:ctrlPr>
                              <a:rPr lang="x-none" sz="2400" i="1">
                                <a:latin typeface="Cambria Math" panose="02040503050406030204" pitchFamily="18" charset="0"/>
                                <a:ea typeface="Verdana" panose="020B0604030504040204" pitchFamily="34" charset="0"/>
                                <a:cs typeface="Verdana" panose="020B0604030504040204" pitchFamily="34" charset="0"/>
                              </a:rPr>
                            </m:ctrlPr>
                          </m:radPr>
                          <m:deg/>
                          <m:e>
                            <m:r>
                              <a:rPr lang="en-US" sz="2400" i="1">
                                <a:latin typeface="Cambria Math" panose="02040503050406030204" pitchFamily="18" charset="0"/>
                                <a:ea typeface="Verdana" panose="020B0604030504040204" pitchFamily="34" charset="0"/>
                                <a:cs typeface="Verdana" panose="020B0604030504040204" pitchFamily="34" charset="0"/>
                              </a:rPr>
                              <m:t>10</m:t>
                            </m:r>
                          </m:e>
                        </m:rad>
                      </m:den>
                    </m:f>
                  </m:oMath>
                </a14:m>
                <a:r>
                  <a:rPr lang="en-US" sz="2400" dirty="0">
                    <a:latin typeface="Verdana" panose="020B0604030504040204" pitchFamily="34" charset="0"/>
                    <a:ea typeface="Verdana" panose="020B0604030504040204" pitchFamily="34" charset="0"/>
                    <a:cs typeface="Verdana" panose="020B0604030504040204" pitchFamily="34" charset="0"/>
                  </a:rPr>
                  <a:t> . Her work is shown. </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a:p>
                <a:pPr>
                  <a:lnSpc>
                    <a:spcPct val="107000"/>
                  </a:lnSpc>
                </a:pPr>
                <a14:m>
                  <m:oMathPara xmlns:m="http://schemas.openxmlformats.org/officeDocument/2006/math">
                    <m:oMathParaPr>
                      <m:jc m:val="centerGroup"/>
                    </m:oMathParaPr>
                    <m:oMath xmlns:m="http://schemas.openxmlformats.org/officeDocument/2006/math">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x-none" sz="2400" i="1">
                                  <a:latin typeface="Cambria Math" panose="02040503050406030204" pitchFamily="18" charset="0"/>
                                  <a:ea typeface="Verdana" panose="020B0604030504040204" pitchFamily="34" charset="0"/>
                                  <a:cs typeface="Verdana" panose="020B0604030504040204" pitchFamily="34" charset="0"/>
                                </a:rPr>
                              </m:ctrlPr>
                            </m:radPr>
                            <m:deg/>
                            <m:e>
                              <m:r>
                                <a:rPr lang="en-US" sz="2400" i="1">
                                  <a:latin typeface="Cambria Math" panose="02040503050406030204" pitchFamily="18" charset="0"/>
                                  <a:ea typeface="Verdana" panose="020B0604030504040204" pitchFamily="34" charset="0"/>
                                  <a:cs typeface="Verdana" panose="020B0604030504040204" pitchFamily="34" charset="0"/>
                                </a:rPr>
                                <m:t>10</m:t>
                              </m:r>
                            </m:e>
                          </m:rad>
                        </m:num>
                        <m:den>
                          <m:rad>
                            <m:radPr>
                              <m:degHide m:val="on"/>
                              <m:ctrlPr>
                                <a:rPr lang="x-none" sz="2400" i="1">
                                  <a:latin typeface="Cambria Math" panose="02040503050406030204" pitchFamily="18" charset="0"/>
                                  <a:ea typeface="Verdana" panose="020B0604030504040204" pitchFamily="34" charset="0"/>
                                  <a:cs typeface="Verdana" panose="020B0604030504040204" pitchFamily="34" charset="0"/>
                                </a:rPr>
                              </m:ctrlPr>
                            </m:radPr>
                            <m:deg/>
                            <m:e>
                              <m:r>
                                <a:rPr lang="en-US" sz="2400" i="1">
                                  <a:latin typeface="Cambria Math" panose="02040503050406030204" pitchFamily="18" charset="0"/>
                                  <a:ea typeface="Verdana" panose="020B0604030504040204" pitchFamily="34" charset="0"/>
                                  <a:cs typeface="Verdana" panose="020B0604030504040204" pitchFamily="34" charset="0"/>
                                </a:rPr>
                                <m:t>10</m:t>
                              </m:r>
                            </m:e>
                          </m:rad>
                        </m:den>
                      </m:f>
                      <m:r>
                        <a:rPr lang="en-US" sz="2400" i="1">
                          <a:latin typeface="Cambria Math" panose="02040503050406030204" pitchFamily="18" charset="0"/>
                          <a:ea typeface="Verdana" panose="020B0604030504040204" pitchFamily="34" charset="0"/>
                          <a:cs typeface="Verdana" panose="020B0604030504040204" pitchFamily="34" charset="0"/>
                        </a:rPr>
                        <m:t>=</m:t>
                      </m:r>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10</m:t>
                              </m:r>
                            </m:e>
                            <m:sup>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1</m:t>
                                  </m:r>
                                </m:num>
                                <m:den>
                                  <m:r>
                                    <a:rPr lang="en-US" sz="2400" i="1">
                                      <a:latin typeface="Cambria Math" panose="02040503050406030204" pitchFamily="18" charset="0"/>
                                      <a:ea typeface="Verdana" panose="020B0604030504040204" pitchFamily="34" charset="0"/>
                                      <a:cs typeface="Verdana" panose="020B0604030504040204" pitchFamily="34" charset="0"/>
                                    </a:rPr>
                                    <m:t>2</m:t>
                                  </m:r>
                                </m:den>
                              </m:f>
                            </m:sup>
                          </m:sSup>
                        </m:num>
                        <m:den>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10</m:t>
                              </m:r>
                            </m:e>
                            <m:sup>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1</m:t>
                                  </m:r>
                                </m:num>
                                <m:den>
                                  <m:r>
                                    <a:rPr lang="en-US" sz="2400" i="1">
                                      <a:latin typeface="Cambria Math" panose="02040503050406030204" pitchFamily="18" charset="0"/>
                                      <a:ea typeface="Verdana" panose="020B0604030504040204" pitchFamily="34" charset="0"/>
                                      <a:cs typeface="Verdana" panose="020B0604030504040204" pitchFamily="34" charset="0"/>
                                    </a:rPr>
                                    <m:t>2</m:t>
                                  </m:r>
                                </m:den>
                              </m:f>
                            </m:sup>
                          </m:sSup>
                        </m:den>
                      </m:f>
                      <m:r>
                        <a:rPr lang="en-US" sz="2400" i="1">
                          <a:latin typeface="Cambria Math" panose="02040503050406030204" pitchFamily="18" charset="0"/>
                          <a:ea typeface="Verdana" panose="020B0604030504040204" pitchFamily="34" charset="0"/>
                          <a:cs typeface="Verdana" panose="020B0604030504040204" pitchFamily="34" charset="0"/>
                        </a:rPr>
                        <m:t>=</m:t>
                      </m:r>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10</m:t>
                          </m:r>
                        </m:e>
                        <m:sup>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1</m:t>
                              </m:r>
                            </m:num>
                            <m:den>
                              <m:r>
                                <a:rPr lang="en-US" sz="2400" i="1">
                                  <a:latin typeface="Cambria Math" panose="02040503050406030204" pitchFamily="18" charset="0"/>
                                  <a:ea typeface="Verdana" panose="020B0604030504040204" pitchFamily="34" charset="0"/>
                                  <a:cs typeface="Verdana" panose="020B0604030504040204" pitchFamily="34" charset="0"/>
                                </a:rPr>
                                <m:t>2</m:t>
                              </m:r>
                            </m:den>
                          </m:f>
                          <m:r>
                            <a:rPr lang="en-US" sz="2400" i="1">
                              <a:latin typeface="Cambria Math" panose="02040503050406030204" pitchFamily="18" charset="0"/>
                              <a:ea typeface="Verdana" panose="020B0604030504040204" pitchFamily="34" charset="0"/>
                              <a:cs typeface="Verdana" panose="020B0604030504040204" pitchFamily="34" charset="0"/>
                            </a:rPr>
                            <m:t> − </m:t>
                          </m:r>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1</m:t>
                              </m:r>
                            </m:num>
                            <m:den>
                              <m:r>
                                <a:rPr lang="en-US" sz="2400" i="1">
                                  <a:latin typeface="Cambria Math" panose="02040503050406030204" pitchFamily="18" charset="0"/>
                                  <a:ea typeface="Verdana" panose="020B0604030504040204" pitchFamily="34" charset="0"/>
                                  <a:cs typeface="Verdana" panose="020B0604030504040204" pitchFamily="34" charset="0"/>
                                </a:rPr>
                                <m:t>2</m:t>
                              </m:r>
                            </m:den>
                          </m:f>
                        </m:sup>
                      </m:sSup>
                      <m:r>
                        <a:rPr lang="en-US" sz="2400" i="1">
                          <a:latin typeface="Cambria Math" panose="02040503050406030204" pitchFamily="18" charset="0"/>
                          <a:ea typeface="Verdana" panose="020B0604030504040204" pitchFamily="34" charset="0"/>
                          <a:cs typeface="Verdana" panose="020B0604030504040204" pitchFamily="34" charset="0"/>
                        </a:rPr>
                        <m:t>=</m:t>
                      </m:r>
                      <m:sSup>
                        <m:sSupPr>
                          <m:ctrlPr>
                            <a:rPr lang="x-none" sz="2400" i="1">
                              <a:latin typeface="Cambria Math" panose="02040503050406030204" pitchFamily="18" charset="0"/>
                              <a:ea typeface="Verdana" panose="020B0604030504040204" pitchFamily="34" charset="0"/>
                              <a:cs typeface="Verdana" panose="020B0604030504040204" pitchFamily="34" charset="0"/>
                            </a:rPr>
                          </m:ctrlPr>
                        </m:sSupPr>
                        <m:e>
                          <m:r>
                            <a:rPr lang="en-US" sz="2400" i="1">
                              <a:latin typeface="Cambria Math" panose="02040503050406030204" pitchFamily="18" charset="0"/>
                              <a:ea typeface="Verdana" panose="020B0604030504040204" pitchFamily="34" charset="0"/>
                              <a:cs typeface="Verdana" panose="020B0604030504040204" pitchFamily="34" charset="0"/>
                            </a:rPr>
                            <m:t>10</m:t>
                          </m:r>
                        </m:e>
                        <m:sup>
                          <m:r>
                            <a:rPr lang="en-US" sz="2400" i="1">
                              <a:latin typeface="Cambria Math" panose="02040503050406030204" pitchFamily="18" charset="0"/>
                              <a:ea typeface="Verdana" panose="020B0604030504040204" pitchFamily="34" charset="0"/>
                              <a:cs typeface="Verdana" panose="020B0604030504040204" pitchFamily="34" charset="0"/>
                            </a:rPr>
                            <m:t>0</m:t>
                          </m:r>
                        </m:sup>
                      </m:sSup>
                      <m:r>
                        <a:rPr lang="en-US" sz="2400" i="1">
                          <a:latin typeface="Cambria Math" panose="02040503050406030204" pitchFamily="18" charset="0"/>
                          <a:ea typeface="Verdana" panose="020B0604030504040204" pitchFamily="34" charset="0"/>
                          <a:cs typeface="Verdana" panose="020B0604030504040204" pitchFamily="34" charset="0"/>
                        </a:rPr>
                        <m:t>=1</m:t>
                      </m:r>
                    </m:oMath>
                  </m:oMathPara>
                </a14:m>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843148" y="1333662"/>
                <a:ext cx="9837551" cy="4248279"/>
              </a:xfrm>
              <a:prstGeom prst="rect">
                <a:avLst/>
              </a:prstGeom>
              <a:blipFill>
                <a:blip r:embed="rId3"/>
                <a:stretch>
                  <a:fillRect l="-929" t="-1435"/>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image2.png" descr="Icon&#10;&#10;Description automatically generated">
            <a:extLst>
              <a:ext uri="{FF2B5EF4-FFF2-40B4-BE49-F238E27FC236}">
                <a16:creationId xmlns:a16="http://schemas.microsoft.com/office/drawing/2014/main" id="{ACB230CA-5508-0F4D-9534-00872F373CBF}"/>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517287" y="277482"/>
            <a:ext cx="747302" cy="747302"/>
          </a:xfrm>
          <a:prstGeom prst="rect">
            <a:avLst/>
          </a:prstGeom>
          <a:ln/>
        </p:spPr>
      </p:pic>
      <p:sp>
        <p:nvSpPr>
          <p:cNvPr id="8" name="Google Shape;282;g104476d1465_1_17">
            <a:extLst>
              <a:ext uri="{FF2B5EF4-FFF2-40B4-BE49-F238E27FC236}">
                <a16:creationId xmlns:a16="http://schemas.microsoft.com/office/drawing/2014/main" id="{905D2ABF-6FE7-C2F5-36D5-56E6AEBC0FAE}"/>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576913B6-FC39-FB8F-7E92-FA6AA645AC72}"/>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99405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5" name="TextBox 4">
            <a:extLst>
              <a:ext uri="{FF2B5EF4-FFF2-40B4-BE49-F238E27FC236}">
                <a16:creationId xmlns:a16="http://schemas.microsoft.com/office/drawing/2014/main" id="{8AE5E1E0-A54D-BE42-84B5-F917038ADE99}"/>
              </a:ext>
            </a:extLst>
          </p:cNvPr>
          <p:cNvSpPr txBox="1"/>
          <p:nvPr/>
        </p:nvSpPr>
        <p:spPr>
          <a:xfrm>
            <a:off x="843149" y="502871"/>
            <a:ext cx="9824852" cy="1569660"/>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When dividing radicals with the same index, the </a:t>
            </a:r>
            <a:r>
              <a:rPr lang="en-US" sz="2400" b="1" i="1" dirty="0">
                <a:latin typeface="Verdana" panose="020B0604030504040204" pitchFamily="34" charset="0"/>
                <a:ea typeface="Verdana" panose="020B0604030504040204" pitchFamily="34" charset="0"/>
                <a:cs typeface="Verdana" panose="020B0604030504040204" pitchFamily="34" charset="0"/>
              </a:rPr>
              <a:t>quotient law of radicals</a:t>
            </a:r>
            <a:r>
              <a:rPr lang="en-US" sz="2400" dirty="0">
                <a:latin typeface="Verdana" panose="020B0604030504040204" pitchFamily="34" charset="0"/>
                <a:ea typeface="Verdana" panose="020B0604030504040204" pitchFamily="34" charset="0"/>
                <a:cs typeface="Verdana" panose="020B0604030504040204" pitchFamily="34" charset="0"/>
              </a:rPr>
              <a:t> is used to rewrite the expression. Each of the following equivalent expressions demonstrates the quotient law of radicals.</a:t>
            </a: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63D3F340-05E2-A244-85DD-1E6BF602408D}"/>
                  </a:ext>
                </a:extLst>
              </p:cNvPr>
              <p:cNvGraphicFramePr>
                <a:graphicFrameLocks noGrp="1"/>
              </p:cNvGraphicFramePr>
              <p:nvPr>
                <p:extLst>
                  <p:ext uri="{D42A27DB-BD31-4B8C-83A1-F6EECF244321}">
                    <p14:modId xmlns:p14="http://schemas.microsoft.com/office/powerpoint/2010/main" val="2975641115"/>
                  </p:ext>
                </p:extLst>
              </p:nvPr>
            </p:nvGraphicFramePr>
            <p:xfrm>
              <a:off x="2641950" y="2571871"/>
              <a:ext cx="6029326" cy="1266000"/>
            </p:xfrm>
            <a:graphic>
              <a:graphicData uri="http://schemas.openxmlformats.org/drawingml/2006/table">
                <a:tbl>
                  <a:tblPr bandRow="1"/>
                  <a:tblGrid>
                    <a:gridCol w="3014663">
                      <a:extLst>
                        <a:ext uri="{9D8B030D-6E8A-4147-A177-3AD203B41FA5}">
                          <a16:colId xmlns:a16="http://schemas.microsoft.com/office/drawing/2014/main" val="3825562925"/>
                        </a:ext>
                      </a:extLst>
                    </a:gridCol>
                    <a:gridCol w="3014663">
                      <a:extLst>
                        <a:ext uri="{9D8B030D-6E8A-4147-A177-3AD203B41FA5}">
                          <a16:colId xmlns:a16="http://schemas.microsoft.com/office/drawing/2014/main" val="3443218504"/>
                        </a:ext>
                      </a:extLst>
                    </a:gridCol>
                  </a:tblGrid>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13</m:t>
                                        </m:r>
                                      </m:e>
                                    </m:rad>
                                  </m:num>
                                  <m:den>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13</m:t>
                                        </m:r>
                                      </m:e>
                                    </m:rad>
                                  </m:den>
                                </m:f>
                                <m:r>
                                  <a:rPr lang="en-US" sz="2000" i="1">
                                    <a:effectLst/>
                                    <a:latin typeface="Cambria Math" panose="02040503050406030204" pitchFamily="18" charset="0"/>
                                    <a:ea typeface="Cambria Math" panose="02040503050406030204" pitchFamily="18" charset="0"/>
                                    <a:cs typeface="Cambria Math" panose="02040503050406030204" pitchFamily="18" charset="0"/>
                                  </a:rPr>
                                  <m:t>= </m:t>
                                </m:r>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13</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13</m:t>
                                        </m:r>
                                      </m:den>
                                    </m:f>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oMath>
                            </m:oMathPara>
                          </a14:m>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Cambria Math" panose="02040503050406030204" pitchFamily="18" charset="0"/>
                            </a:rPr>
                            <a:t> </a:t>
                          </a:r>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a:noFill/>
                        </a:lnL>
                        <a:lnR>
                          <a:noFill/>
                        </a:lnR>
                        <a:lnT>
                          <a:noFill/>
                        </a:lnT>
                        <a:lnB>
                          <a:noFill/>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21</m:t>
                                        </m:r>
                                      </m:e>
                                    </m:rad>
                                  </m:num>
                                  <m:den>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21</m:t>
                                        </m:r>
                                      </m:e>
                                    </m:rad>
                                  </m:den>
                                </m:f>
                                <m:r>
                                  <a:rPr lang="en-US" sz="2000" i="1">
                                    <a:effectLst/>
                                    <a:latin typeface="Cambria Math" panose="02040503050406030204" pitchFamily="18" charset="0"/>
                                    <a:ea typeface="Cambria Math" panose="02040503050406030204" pitchFamily="18" charset="0"/>
                                    <a:cs typeface="Cambria Math" panose="02040503050406030204" pitchFamily="18" charset="0"/>
                                  </a:rPr>
                                  <m:t>= </m:t>
                                </m:r>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21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21</m:t>
                                        </m:r>
                                      </m:den>
                                    </m:f>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oMath>
                            </m:oMathPara>
                          </a14:m>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Cambria Math" panose="02040503050406030204" pitchFamily="18" charset="0"/>
                            </a:rPr>
                            <a:t> </a:t>
                          </a:r>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523794265"/>
                      </a:ext>
                    </a:extLst>
                  </a:tr>
                </a:tbl>
              </a:graphicData>
            </a:graphic>
          </p:graphicFrame>
        </mc:Choice>
        <mc:Fallback>
          <p:graphicFrame>
            <p:nvGraphicFramePr>
              <p:cNvPr id="3" name="Table 2">
                <a:extLst>
                  <a:ext uri="{FF2B5EF4-FFF2-40B4-BE49-F238E27FC236}">
                    <a16:creationId xmlns:a16="http://schemas.microsoft.com/office/drawing/2014/main" id="{63D3F340-05E2-A244-85DD-1E6BF602408D}"/>
                  </a:ext>
                </a:extLst>
              </p:cNvPr>
              <p:cNvGraphicFramePr>
                <a:graphicFrameLocks noGrp="1"/>
              </p:cNvGraphicFramePr>
              <p:nvPr>
                <p:extLst>
                  <p:ext uri="{D42A27DB-BD31-4B8C-83A1-F6EECF244321}">
                    <p14:modId xmlns:p14="http://schemas.microsoft.com/office/powerpoint/2010/main" val="2975641115"/>
                  </p:ext>
                </p:extLst>
              </p:nvPr>
            </p:nvGraphicFramePr>
            <p:xfrm>
              <a:off x="2641950" y="2571871"/>
              <a:ext cx="6029326" cy="1266000"/>
            </p:xfrm>
            <a:graphic>
              <a:graphicData uri="http://schemas.openxmlformats.org/drawingml/2006/table">
                <a:tbl>
                  <a:tblPr bandRow="1"/>
                  <a:tblGrid>
                    <a:gridCol w="3014663">
                      <a:extLst>
                        <a:ext uri="{9D8B030D-6E8A-4147-A177-3AD203B41FA5}">
                          <a16:colId xmlns:a16="http://schemas.microsoft.com/office/drawing/2014/main" val="3825562925"/>
                        </a:ext>
                      </a:extLst>
                    </a:gridCol>
                    <a:gridCol w="3014663">
                      <a:extLst>
                        <a:ext uri="{9D8B030D-6E8A-4147-A177-3AD203B41FA5}">
                          <a16:colId xmlns:a16="http://schemas.microsoft.com/office/drawing/2014/main" val="3443218504"/>
                        </a:ext>
                      </a:extLst>
                    </a:gridCol>
                  </a:tblGrid>
                  <a:tr h="1266000">
                    <a:tc>
                      <a:txBody>
                        <a:bodyPr/>
                        <a:lstStyle/>
                        <a:p>
                          <a:endParaRPr lang="en-US"/>
                        </a:p>
                      </a:txBody>
                      <a:tcPr marL="68580" marR="68580" marT="0" marB="0">
                        <a:lnL>
                          <a:noFill/>
                        </a:lnL>
                        <a:lnR>
                          <a:noFill/>
                        </a:lnR>
                        <a:lnT>
                          <a:noFill/>
                        </a:lnT>
                        <a:lnB>
                          <a:noFill/>
                        </a:lnB>
                        <a:blipFill>
                          <a:blip r:embed="rId3"/>
                          <a:stretch>
                            <a:fillRect r="-100000"/>
                          </a:stretch>
                        </a:blipFill>
                      </a:tcPr>
                    </a:tc>
                    <a:tc>
                      <a:txBody>
                        <a:bodyPr/>
                        <a:lstStyle/>
                        <a:p>
                          <a:endParaRPr lang="en-US"/>
                        </a:p>
                      </a:txBody>
                      <a:tcPr marL="68580" marR="68580" marT="0" marB="0">
                        <a:lnL>
                          <a:noFill/>
                        </a:lnL>
                        <a:lnR>
                          <a:noFill/>
                        </a:lnR>
                        <a:lnT>
                          <a:noFill/>
                        </a:lnT>
                        <a:lnB>
                          <a:noFill/>
                        </a:lnB>
                        <a:blipFill>
                          <a:blip r:embed="rId3"/>
                          <a:stretch>
                            <a:fillRect l="-100000"/>
                          </a:stretch>
                        </a:blipFill>
                      </a:tcPr>
                    </a:tc>
                    <a:extLst>
                      <a:ext uri="{0D108BD9-81ED-4DB2-BD59-A6C34878D82A}">
                        <a16:rowId xmlns:a16="http://schemas.microsoft.com/office/drawing/2014/main" val="523794265"/>
                      </a:ext>
                    </a:extLst>
                  </a:tr>
                </a:tbl>
              </a:graphicData>
            </a:graphic>
          </p:graphicFrame>
        </mc:Fallback>
      </mc:AlternateContent>
      <p:sp>
        <p:nvSpPr>
          <p:cNvPr id="7" name="Google Shape;282;g104476d1465_1_17">
            <a:extLst>
              <a:ext uri="{FF2B5EF4-FFF2-40B4-BE49-F238E27FC236}">
                <a16:creationId xmlns:a16="http://schemas.microsoft.com/office/drawing/2014/main" id="{31EAB3A6-CF78-17EE-1EEE-B3282B42FFE5}"/>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4CC09655-0AAB-7E6E-740A-941E9CA41C5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140894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AE5E1E0-A54D-BE42-84B5-F917038ADE99}"/>
                  </a:ext>
                </a:extLst>
              </p:cNvPr>
              <p:cNvSpPr txBox="1"/>
              <p:nvPr/>
            </p:nvSpPr>
            <p:spPr>
              <a:xfrm>
                <a:off x="855023" y="441121"/>
                <a:ext cx="9838377" cy="3330399"/>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ad>
                          <m:radPr>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r>
                              <a:rPr lang="en-US" sz="2400" i="1" dirty="0">
                                <a:latin typeface="Cambria Math" panose="02040503050406030204" pitchFamily="18" charset="0"/>
                                <a:ea typeface="Verdana" panose="020B0604030504040204" pitchFamily="34" charset="0"/>
                                <a:cs typeface="Verdana" panose="020B0604030504040204" pitchFamily="34" charset="0"/>
                              </a:rPr>
                              <m:t>3</m:t>
                            </m: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num>
                      <m:den>
                        <m:rad>
                          <m:radPr>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r>
                              <a:rPr lang="en-US" sz="2400" i="1" dirty="0">
                                <a:latin typeface="Cambria Math" panose="02040503050406030204" pitchFamily="18" charset="0"/>
                                <a:ea typeface="Verdana" panose="020B0604030504040204" pitchFamily="34" charset="0"/>
                                <a:cs typeface="Verdana" panose="020B0604030504040204" pitchFamily="34" charset="0"/>
                              </a:rPr>
                              <m:t>3</m:t>
                            </m: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den>
                    </m:f>
                  </m:oMath>
                </a14:m>
                <a:r>
                  <a:rPr lang="en-US" sz="2400" dirty="0">
                    <a:latin typeface="Verdana" panose="020B0604030504040204" pitchFamily="34" charset="0"/>
                    <a:ea typeface="Verdana" panose="020B0604030504040204" pitchFamily="34" charset="0"/>
                    <a:cs typeface="Verdana" panose="020B0604030504040204" pitchFamily="34" charset="0"/>
                  </a:rPr>
                  <a:t> using the quotient law of radicals.</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63550"/>
                <a:endParaRPr lang="en-US" sz="2400" dirty="0">
                  <a:latin typeface="Verdana" panose="020B0604030504040204" pitchFamily="34" charset="0"/>
                  <a:ea typeface="Verdana" panose="020B0604030504040204" pitchFamily="34" charset="0"/>
                  <a:cs typeface="Verdana" panose="020B0604030504040204" pitchFamily="34" charset="0"/>
                </a:endParaRPr>
              </a:p>
              <a:p>
                <a:pPr marL="463550"/>
                <a:r>
                  <a:rPr lang="en-US" sz="2400" dirty="0">
                    <a:latin typeface="Verdana" panose="020B0604030504040204" pitchFamily="34" charset="0"/>
                    <a:ea typeface="Verdana" panose="020B0604030504040204" pitchFamily="34" charset="0"/>
                    <a:cs typeface="Verdana" panose="020B0604030504040204" pitchFamily="34" charset="0"/>
                  </a:rPr>
                  <a:t>When dividing radical expressions, rewrite radical expressions in equivalent forms and use the quotient law to eliminate radicals where possible. </a:t>
                </a:r>
              </a:p>
            </p:txBody>
          </p:sp>
        </mc:Choice>
        <mc:Fallback>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55023" y="441121"/>
                <a:ext cx="9838377" cy="3330399"/>
              </a:xfrm>
              <a:prstGeom prst="rect">
                <a:avLst/>
              </a:prstGeom>
              <a:blipFill>
                <a:blip r:embed="rId3"/>
                <a:stretch>
                  <a:fillRect l="-929" b="-3108"/>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765930B0-2C43-850C-DB8A-9196A4C85033}"/>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3ED4D3FA-69F9-6C14-81E0-55616021108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98891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AE5E1E0-A54D-BE42-84B5-F917038ADE99}"/>
                  </a:ext>
                </a:extLst>
              </p:cNvPr>
              <p:cNvSpPr txBox="1"/>
              <p:nvPr/>
            </p:nvSpPr>
            <p:spPr>
              <a:xfrm>
                <a:off x="937662" y="215192"/>
                <a:ext cx="8059163" cy="703334"/>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equivalent expression for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125</m:t>
                            </m:r>
                          </m:e>
                        </m:rad>
                      </m:num>
                      <m:den>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245</m:t>
                            </m:r>
                          </m:e>
                        </m:rad>
                      </m:den>
                    </m:f>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937662" y="215192"/>
                <a:ext cx="8059163" cy="703334"/>
              </a:xfrm>
              <a:prstGeom prst="rect">
                <a:avLst/>
              </a:prstGeom>
              <a:blipFill>
                <a:blip r:embed="rId3"/>
                <a:stretch>
                  <a:fillRect l="-1210" b="-258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34293B50-D5EC-224C-835A-4F4922D77623}"/>
                  </a:ext>
                </a:extLst>
              </p:cNvPr>
              <p:cNvGraphicFramePr>
                <a:graphicFrameLocks noGrp="1"/>
              </p:cNvGraphicFramePr>
              <p:nvPr>
                <p:extLst>
                  <p:ext uri="{D42A27DB-BD31-4B8C-83A1-F6EECF244321}">
                    <p14:modId xmlns:p14="http://schemas.microsoft.com/office/powerpoint/2010/main" val="2573005773"/>
                  </p:ext>
                </p:extLst>
              </p:nvPr>
            </p:nvGraphicFramePr>
            <p:xfrm>
              <a:off x="2119345" y="1109221"/>
              <a:ext cx="7122037" cy="5352890"/>
            </p:xfrm>
            <a:graphic>
              <a:graphicData uri="http://schemas.openxmlformats.org/drawingml/2006/table">
                <a:tbl>
                  <a:tblPr firstRow="1" firstCol="1" bandRow="1">
                    <a:tableStyleId>{A91F0D33-8C57-4600-99A7-42BC86742BE1}</a:tableStyleId>
                  </a:tblPr>
                  <a:tblGrid>
                    <a:gridCol w="2964820">
                      <a:extLst>
                        <a:ext uri="{9D8B030D-6E8A-4147-A177-3AD203B41FA5}">
                          <a16:colId xmlns:a16="http://schemas.microsoft.com/office/drawing/2014/main" val="3576278934"/>
                        </a:ext>
                      </a:extLst>
                    </a:gridCol>
                    <a:gridCol w="4157217">
                      <a:extLst>
                        <a:ext uri="{9D8B030D-6E8A-4147-A177-3AD203B41FA5}">
                          <a16:colId xmlns:a16="http://schemas.microsoft.com/office/drawing/2014/main" val="2978442617"/>
                        </a:ext>
                      </a:extLst>
                    </a:gridCol>
                  </a:tblGrid>
                  <a:tr h="817932">
                    <a:tc gridSpan="2">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𝟏𝟐𝟓</m:t>
                                        </m:r>
                                      </m:e>
                                    </m:rad>
                                  </m:num>
                                  <m:den>
                                    <m:rad>
                                      <m:radPr>
                                        <m:degHide m:val="on"/>
                                        <m:ctrlPr>
                                          <a:rPr lang="x-none" sz="2000" i="1">
                                            <a:effectLst/>
                                            <a:latin typeface="Cambria Math" panose="02040503050406030204" pitchFamily="18" charset="0"/>
                                          </a:rPr>
                                        </m:ctrlPr>
                                      </m:radPr>
                                      <m:deg/>
                                      <m:e>
                                        <m:r>
                                          <a:rPr lang="en-US" sz="2000">
                                            <a:effectLst/>
                                            <a:latin typeface="Cambria Math"/>
                                          </a:rPr>
                                          <m:t>𝟐𝟒𝟓</m:t>
                                        </m:r>
                                      </m:e>
                                    </m:rad>
                                  </m:den>
                                </m:f>
                              </m:oMath>
                            </m:oMathPara>
                          </a14:m>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x-none"/>
                        </a:p>
                      </a:txBody>
                      <a:tcPr/>
                    </a:tc>
                    <a:extLst>
                      <a:ext uri="{0D108BD9-81ED-4DB2-BD59-A6C34878D82A}">
                        <a16:rowId xmlns:a16="http://schemas.microsoft.com/office/drawing/2014/main" val="2216515225"/>
                      </a:ext>
                    </a:extLst>
                  </a:tr>
                  <a:tr h="984778">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125</m:t>
                                        </m:r>
                                      </m:e>
                                    </m:rad>
                                  </m:num>
                                  <m:den>
                                    <m:rad>
                                      <m:radPr>
                                        <m:degHide m:val="on"/>
                                        <m:ctrlPr>
                                          <a:rPr lang="x-none" sz="2000" i="1">
                                            <a:effectLst/>
                                            <a:latin typeface="Cambria Math" panose="02040503050406030204" pitchFamily="18" charset="0"/>
                                          </a:rPr>
                                        </m:ctrlPr>
                                      </m:radPr>
                                      <m:deg/>
                                      <m:e>
                                        <m:r>
                                          <a:rPr lang="en-US" sz="2000">
                                            <a:effectLst/>
                                            <a:latin typeface="Cambria Math"/>
                                          </a:rPr>
                                          <m:t>245</m:t>
                                        </m:r>
                                      </m:e>
                                    </m:rad>
                                  </m:den>
                                </m:f>
                                <m:r>
                                  <a:rPr lang="en-US" sz="2000">
                                    <a:effectLst/>
                                    <a:latin typeface="Cambria Math"/>
                                  </a:rPr>
                                  <m:t>=</m:t>
                                </m:r>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_______∙5</m:t>
                                        </m:r>
                                      </m:e>
                                    </m:rad>
                                  </m:num>
                                  <m:den>
                                    <m:rad>
                                      <m:radPr>
                                        <m:degHide m:val="on"/>
                                        <m:ctrlPr>
                                          <a:rPr lang="x-none" sz="2000" i="1">
                                            <a:effectLst/>
                                            <a:latin typeface="Cambria Math" panose="02040503050406030204" pitchFamily="18" charset="0"/>
                                          </a:rPr>
                                        </m:ctrlPr>
                                      </m:radPr>
                                      <m:deg/>
                                      <m:e>
                                        <m:r>
                                          <a:rPr lang="en-US" sz="2000">
                                            <a:effectLst/>
                                            <a:latin typeface="Cambria Math"/>
                                          </a:rPr>
                                          <m:t>_______∙5</m:t>
                                        </m:r>
                                      </m:e>
                                    </m:rad>
                                  </m:den>
                                </m:f>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radicands ______ and ______ are rewritten as the product of a factor and </a:t>
                          </a:r>
                          <a14:m>
                            <m:oMath xmlns:m="http://schemas.openxmlformats.org/officeDocument/2006/math">
                              <m:r>
                                <a:rPr lang="en-US" sz="2000">
                                  <a:effectLst/>
                                  <a:latin typeface="Cambria Math"/>
                                </a:rPr>
                                <m:t>5</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26338537"/>
                      </a:ext>
                    </a:extLst>
                  </a:tr>
                  <a:tr h="984778">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_______∙5</m:t>
                                        </m:r>
                                      </m:e>
                                    </m:rad>
                                  </m:num>
                                  <m:den>
                                    <m:rad>
                                      <m:radPr>
                                        <m:degHide m:val="on"/>
                                        <m:ctrlPr>
                                          <a:rPr lang="x-none" sz="2000" i="1">
                                            <a:effectLst/>
                                            <a:latin typeface="Cambria Math" panose="02040503050406030204" pitchFamily="18" charset="0"/>
                                          </a:rPr>
                                        </m:ctrlPr>
                                      </m:radPr>
                                      <m:deg/>
                                      <m:e>
                                        <m:r>
                                          <a:rPr lang="en-US" sz="2000">
                                            <a:effectLst/>
                                            <a:latin typeface="Cambria Math"/>
                                          </a:rPr>
                                          <m:t>_______∙5</m:t>
                                        </m:r>
                                      </m:e>
                                    </m:rad>
                                  </m:den>
                                </m:f>
                                <m:r>
                                  <a:rPr lang="en-US" sz="2000">
                                    <a:effectLst/>
                                    <a:latin typeface="Cambria Math"/>
                                  </a:rPr>
                                  <m:t>=</m:t>
                                </m:r>
                                <m:f>
                                  <m:fPr>
                                    <m:ctrlPr>
                                      <a:rPr lang="x-none" sz="2000" i="1">
                                        <a:effectLst/>
                                        <a:latin typeface="Cambria Math" panose="02040503050406030204" pitchFamily="18" charset="0"/>
                                      </a:rPr>
                                    </m:ctrlPr>
                                  </m:fPr>
                                  <m:num>
                                    <m:r>
                                      <a:rPr lang="en-US" sz="2000">
                                        <a:effectLst/>
                                        <a:latin typeface="Cambria Math"/>
                                      </a:rPr>
                                      <m:t>_______∙</m:t>
                                    </m:r>
                                    <m:rad>
                                      <m:radPr>
                                        <m:degHide m:val="on"/>
                                        <m:ctrlPr>
                                          <a:rPr lang="x-none" sz="2000" i="1">
                                            <a:effectLst/>
                                            <a:latin typeface="Cambria Math" panose="02040503050406030204" pitchFamily="18" charset="0"/>
                                          </a:rPr>
                                        </m:ctrlPr>
                                      </m:radPr>
                                      <m:deg/>
                                      <m:e>
                                        <m:r>
                                          <a:rPr lang="en-US" sz="2000">
                                            <a:effectLst/>
                                            <a:latin typeface="Cambria Math"/>
                                          </a:rPr>
                                          <m:t>5</m:t>
                                        </m:r>
                                      </m:e>
                                    </m:rad>
                                  </m:num>
                                  <m:den>
                                    <m:r>
                                      <a:rPr lang="en-US" sz="2000">
                                        <a:effectLst/>
                                        <a:latin typeface="Cambria Math"/>
                                      </a:rPr>
                                      <m:t>_______∙</m:t>
                                    </m:r>
                                    <m:rad>
                                      <m:radPr>
                                        <m:degHide m:val="on"/>
                                        <m:ctrlPr>
                                          <a:rPr lang="x-none" sz="2000" i="1">
                                            <a:effectLst/>
                                            <a:latin typeface="Cambria Math" panose="02040503050406030204" pitchFamily="18" charset="0"/>
                                          </a:rPr>
                                        </m:ctrlPr>
                                      </m:radPr>
                                      <m:deg/>
                                      <m:e>
                                        <m:r>
                                          <a:rPr lang="en-US" sz="2000">
                                            <a:effectLst/>
                                            <a:latin typeface="Cambria Math"/>
                                          </a:rPr>
                                          <m:t>5</m:t>
                                        </m:r>
                                      </m:e>
                                    </m:rad>
                                  </m:den>
                                </m:f>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radicals are rewritten using the __________ law of radicals.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718150"/>
                      </a:ext>
                    </a:extLst>
                  </a:tr>
                  <a:tr h="799534">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a:rPr>
                                      <m:t>_______∙</m:t>
                                    </m:r>
                                    <m:rad>
                                      <m:radPr>
                                        <m:degHide m:val="on"/>
                                        <m:ctrlPr>
                                          <a:rPr lang="x-none" sz="2000" i="1">
                                            <a:effectLst/>
                                            <a:latin typeface="Cambria Math" panose="02040503050406030204" pitchFamily="18" charset="0"/>
                                          </a:rPr>
                                        </m:ctrlPr>
                                      </m:radPr>
                                      <m:deg/>
                                      <m:e>
                                        <m:r>
                                          <a:rPr lang="en-US" sz="2000">
                                            <a:effectLst/>
                                            <a:latin typeface="Cambria Math"/>
                                          </a:rPr>
                                          <m:t>5</m:t>
                                        </m:r>
                                      </m:e>
                                    </m:rad>
                                  </m:num>
                                  <m:den>
                                    <m:r>
                                      <a:rPr lang="en-US" sz="2000">
                                        <a:effectLst/>
                                        <a:latin typeface="Cambria Math"/>
                                      </a:rPr>
                                      <m:t>_______∙</m:t>
                                    </m:r>
                                    <m:rad>
                                      <m:radPr>
                                        <m:degHide m:val="on"/>
                                        <m:ctrlPr>
                                          <a:rPr lang="x-none" sz="2000" i="1">
                                            <a:effectLst/>
                                            <a:latin typeface="Cambria Math" panose="02040503050406030204" pitchFamily="18" charset="0"/>
                                          </a:rPr>
                                        </m:ctrlPr>
                                      </m:radPr>
                                      <m:deg/>
                                      <m:e>
                                        <m:r>
                                          <a:rPr lang="en-US" sz="2000">
                                            <a:effectLst/>
                                            <a:latin typeface="Cambria Math"/>
                                          </a:rPr>
                                          <m:t>5</m:t>
                                        </m:r>
                                      </m:e>
                                    </m:rad>
                                  </m:den>
                                </m:f>
                                <m:r>
                                  <a:rPr lang="en-US" sz="2000">
                                    <a:effectLst/>
                                    <a:latin typeface="Cambria Math"/>
                                  </a:rPr>
                                  <m:t>=</m:t>
                                </m:r>
                                <m:f>
                                  <m:fPr>
                                    <m:ctrlPr>
                                      <a:rPr lang="x-none" sz="2000" i="1">
                                        <a:effectLst/>
                                        <a:latin typeface="Cambria Math" panose="02040503050406030204" pitchFamily="18" charset="0"/>
                                      </a:rPr>
                                    </m:ctrlPr>
                                  </m:fPr>
                                  <m:num>
                                    <m:r>
                                      <a:rPr lang="en-US" sz="2000">
                                        <a:effectLst/>
                                        <a:latin typeface="Cambria Math"/>
                                      </a:rPr>
                                      <m:t>_______</m:t>
                                    </m:r>
                                  </m:num>
                                  <m:den>
                                    <m:r>
                                      <a:rPr lang="en-US" sz="2000">
                                        <a:effectLst/>
                                        <a:latin typeface="Cambria Math"/>
                                      </a:rPr>
                                      <m:t>_______</m:t>
                                    </m:r>
                                  </m:den>
                                </m:f>
                                <m:r>
                                  <a:rPr lang="en-US" sz="2000">
                                    <a:effectLst/>
                                    <a:latin typeface="Cambria Math"/>
                                  </a:rPr>
                                  <m:t>∙</m:t>
                                </m:r>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5</m:t>
                                        </m:r>
                                      </m:e>
                                    </m:rad>
                                  </m:num>
                                  <m:den>
                                    <m:rad>
                                      <m:radPr>
                                        <m:degHide m:val="on"/>
                                        <m:ctrlPr>
                                          <a:rPr lang="x-none" sz="2000" i="1">
                                            <a:effectLst/>
                                            <a:latin typeface="Cambria Math" panose="02040503050406030204" pitchFamily="18" charset="0"/>
                                          </a:rPr>
                                        </m:ctrlPr>
                                      </m:radPr>
                                      <m:deg/>
                                      <m:e>
                                        <m:r>
                                          <a:rPr lang="en-US" sz="2000">
                                            <a:effectLst/>
                                            <a:latin typeface="Cambria Math"/>
                                          </a:rPr>
                                          <m:t>5</m:t>
                                        </m:r>
                                      </m:e>
                                    </m:rad>
                                  </m:den>
                                </m:f>
                              </m:oMath>
                            </m:oMathPara>
                          </a14:m>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Rewrite each perfect square root.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4508219"/>
                      </a:ext>
                    </a:extLst>
                  </a:tr>
                  <a:tr h="764315">
                    <a:tc gridSpan="2">
                      <a:txBody>
                        <a:bodyPr/>
                        <a:lstStyle/>
                        <a:p>
                          <a:pPr marL="0" marR="0" algn="ctr">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Because </a:t>
                          </a:r>
                          <a14:m>
                            <m:oMath xmlns:m="http://schemas.openxmlformats.org/officeDocument/2006/math">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5</m:t>
                                      </m:r>
                                    </m:e>
                                  </m:rad>
                                </m:num>
                                <m:den>
                                  <m:rad>
                                    <m:radPr>
                                      <m:degHide m:val="on"/>
                                      <m:ctrlPr>
                                        <a:rPr lang="x-none" sz="2000" i="1">
                                          <a:effectLst/>
                                          <a:latin typeface="Cambria Math" panose="02040503050406030204" pitchFamily="18" charset="0"/>
                                        </a:rPr>
                                      </m:ctrlPr>
                                    </m:radPr>
                                    <m:deg/>
                                    <m:e>
                                      <m:r>
                                        <a:rPr lang="en-US" sz="2000">
                                          <a:effectLst/>
                                          <a:latin typeface="Cambria Math"/>
                                        </a:rPr>
                                        <m:t>5</m:t>
                                      </m:r>
                                    </m:e>
                                  </m:rad>
                                </m:den>
                              </m:f>
                              <m:r>
                                <a:rPr lang="en-US" sz="2000">
                                  <a:effectLst/>
                                  <a:latin typeface="Cambria Math"/>
                                </a:rPr>
                                <m:t>=1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x-none" sz="2000" i="1">
                                      <a:effectLst/>
                                      <a:latin typeface="Cambria Math" panose="02040503050406030204" pitchFamily="18" charset="0"/>
                                    </a:rPr>
                                  </m:ctrlPr>
                                </m:fPr>
                                <m:num>
                                  <m:r>
                                    <a:rPr lang="en-US" sz="2000">
                                      <a:effectLst/>
                                      <a:latin typeface="Cambria Math"/>
                                    </a:rPr>
                                    <m:t>_______</m:t>
                                  </m:r>
                                </m:num>
                                <m:den>
                                  <m:r>
                                    <a:rPr lang="en-US" sz="2000">
                                      <a:effectLst/>
                                      <a:latin typeface="Cambria Math"/>
                                    </a:rPr>
                                    <m:t>_______</m:t>
                                  </m:r>
                                </m:den>
                              </m:f>
                              <m:r>
                                <a:rPr lang="en-US" sz="2000">
                                  <a:effectLst/>
                                  <a:latin typeface="Cambria Math"/>
                                </a:rPr>
                                <m:t>∙</m:t>
                              </m:r>
                              <m:f>
                                <m:fPr>
                                  <m:ctrlPr>
                                    <a:rPr lang="x-none" sz="2000" i="1">
                                      <a:effectLst/>
                                      <a:latin typeface="Cambria Math" panose="02040503050406030204" pitchFamily="18" charset="0"/>
                                    </a:rPr>
                                  </m:ctrlPr>
                                </m:fPr>
                                <m:num>
                                  <m:rad>
                                    <m:radPr>
                                      <m:degHide m:val="on"/>
                                      <m:ctrlPr>
                                        <a:rPr lang="x-none" sz="2000" i="1">
                                          <a:effectLst/>
                                          <a:latin typeface="Cambria Math" panose="02040503050406030204" pitchFamily="18" charset="0"/>
                                        </a:rPr>
                                      </m:ctrlPr>
                                    </m:radPr>
                                    <m:deg/>
                                    <m:e>
                                      <m:r>
                                        <a:rPr lang="en-US" sz="2000">
                                          <a:effectLst/>
                                          <a:latin typeface="Cambria Math"/>
                                        </a:rPr>
                                        <m:t>5</m:t>
                                      </m:r>
                                    </m:e>
                                  </m:rad>
                                </m:num>
                                <m:den>
                                  <m:rad>
                                    <m:radPr>
                                      <m:degHide m:val="on"/>
                                      <m:ctrlPr>
                                        <a:rPr lang="x-none" sz="2000" i="1">
                                          <a:effectLst/>
                                          <a:latin typeface="Cambria Math" panose="02040503050406030204" pitchFamily="18" charset="0"/>
                                        </a:rPr>
                                      </m:ctrlPr>
                                    </m:radPr>
                                    <m:deg/>
                                    <m:e>
                                      <m:r>
                                        <a:rPr lang="en-US" sz="2000">
                                          <a:effectLst/>
                                          <a:latin typeface="Cambria Math"/>
                                        </a:rPr>
                                        <m:t>5</m:t>
                                      </m:r>
                                    </m:e>
                                  </m:rad>
                                </m:den>
                              </m:f>
                              <m:r>
                                <a:rPr lang="en-US" sz="2000">
                                  <a:effectLst/>
                                  <a:latin typeface="Cambria Math"/>
                                </a:rPr>
                                <m:t>=</m:t>
                              </m:r>
                              <m:f>
                                <m:fPr>
                                  <m:ctrlPr>
                                    <a:rPr lang="x-none" sz="2000" i="1">
                                      <a:effectLst/>
                                      <a:latin typeface="Cambria Math" panose="02040503050406030204" pitchFamily="18" charset="0"/>
                                    </a:rPr>
                                  </m:ctrlPr>
                                </m:fPr>
                                <m:num>
                                  <m:r>
                                    <a:rPr lang="en-US" sz="2000">
                                      <a:effectLst/>
                                      <a:latin typeface="Cambria Math"/>
                                    </a:rPr>
                                    <m:t>_______</m:t>
                                  </m:r>
                                </m:num>
                                <m:den>
                                  <m:r>
                                    <a:rPr lang="en-US" sz="2000">
                                      <a:effectLst/>
                                      <a:latin typeface="Cambria Math"/>
                                    </a:rPr>
                                    <m:t>_______</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x-none"/>
                        </a:p>
                      </a:txBody>
                      <a:tcPr/>
                    </a:tc>
                    <a:extLst>
                      <a:ext uri="{0D108BD9-81ED-4DB2-BD59-A6C34878D82A}">
                        <a16:rowId xmlns:a16="http://schemas.microsoft.com/office/drawing/2014/main" val="2970408992"/>
                      </a:ext>
                    </a:extLst>
                  </a:tr>
                </a:tbl>
              </a:graphicData>
            </a:graphic>
          </p:graphicFrame>
        </mc:Choice>
        <mc:Fallback>
          <p:graphicFrame>
            <p:nvGraphicFramePr>
              <p:cNvPr id="2" name="Table 1">
                <a:extLst>
                  <a:ext uri="{FF2B5EF4-FFF2-40B4-BE49-F238E27FC236}">
                    <a16:creationId xmlns:a16="http://schemas.microsoft.com/office/drawing/2014/main" id="{34293B50-D5EC-224C-835A-4F4922D77623}"/>
                  </a:ext>
                </a:extLst>
              </p:cNvPr>
              <p:cNvGraphicFramePr>
                <a:graphicFrameLocks noGrp="1"/>
              </p:cNvGraphicFramePr>
              <p:nvPr>
                <p:extLst>
                  <p:ext uri="{D42A27DB-BD31-4B8C-83A1-F6EECF244321}">
                    <p14:modId xmlns:p14="http://schemas.microsoft.com/office/powerpoint/2010/main" val="2573005773"/>
                  </p:ext>
                </p:extLst>
              </p:nvPr>
            </p:nvGraphicFramePr>
            <p:xfrm>
              <a:off x="2119345" y="1109221"/>
              <a:ext cx="7122037" cy="5352890"/>
            </p:xfrm>
            <a:graphic>
              <a:graphicData uri="http://schemas.openxmlformats.org/drawingml/2006/table">
                <a:tbl>
                  <a:tblPr firstRow="1" firstCol="1" bandRow="1">
                    <a:tableStyleId>{A91F0D33-8C57-4600-99A7-42BC86742BE1}</a:tableStyleId>
                  </a:tblPr>
                  <a:tblGrid>
                    <a:gridCol w="2964820">
                      <a:extLst>
                        <a:ext uri="{9D8B030D-6E8A-4147-A177-3AD203B41FA5}">
                          <a16:colId xmlns:a16="http://schemas.microsoft.com/office/drawing/2014/main" val="3576278934"/>
                        </a:ext>
                      </a:extLst>
                    </a:gridCol>
                    <a:gridCol w="4157217">
                      <a:extLst>
                        <a:ext uri="{9D8B030D-6E8A-4147-A177-3AD203B41FA5}">
                          <a16:colId xmlns:a16="http://schemas.microsoft.com/office/drawing/2014/main" val="2978442617"/>
                        </a:ext>
                      </a:extLst>
                    </a:gridCol>
                  </a:tblGrid>
                  <a:tr h="838518">
                    <a:tc gridSpan="2">
                      <a:txBody>
                        <a:bodyPr/>
                        <a:lstStyle/>
                        <a:p>
                          <a:endParaRPr lang="en-US"/>
                        </a:p>
                      </a:txBody>
                      <a:tcPr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 t="-725" r="-257" b="-539130"/>
                          </a:stretch>
                        </a:blipFill>
                      </a:tcPr>
                    </a:tc>
                    <a:tc hMerge="1">
                      <a:txBody>
                        <a:bodyPr/>
                        <a:lstStyle/>
                        <a:p>
                          <a:endParaRPr lang="x-none"/>
                        </a:p>
                      </a:txBody>
                      <a:tcPr/>
                    </a:tc>
                    <a:extLst>
                      <a:ext uri="{0D108BD9-81ED-4DB2-BD59-A6C34878D82A}">
                        <a16:rowId xmlns:a16="http://schemas.microsoft.com/office/drawing/2014/main" val="2216515225"/>
                      </a:ext>
                    </a:extLst>
                  </a:tr>
                  <a:tr h="1404493">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 t="-60173" r="-140657" b="-222078"/>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71554" t="-60173" r="-440" b="-222078"/>
                          </a:stretch>
                        </a:blipFill>
                      </a:tcPr>
                    </a:tc>
                    <a:extLst>
                      <a:ext uri="{0D108BD9-81ED-4DB2-BD59-A6C34878D82A}">
                        <a16:rowId xmlns:a16="http://schemas.microsoft.com/office/drawing/2014/main" val="2326338537"/>
                      </a:ext>
                    </a:extLst>
                  </a:tr>
                  <a:tr h="140138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 t="-160870" r="-140657" b="-123043"/>
                          </a:stretch>
                        </a:blipFill>
                      </a:tcPr>
                    </a:tc>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The radicals are rewritten using the __________ law of radicals.</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1718150"/>
                      </a:ext>
                    </a:extLst>
                  </a:tr>
                  <a:tr h="944182">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5" t="-387097" r="-140657" b="-82581"/>
                          </a:stretch>
                        </a:blipFill>
                      </a:tcPr>
                    </a:tc>
                    <a:tc>
                      <a:txBody>
                        <a:bodyPr/>
                        <a:lstStyle/>
                        <a:p>
                          <a:pPr marL="0" marR="0">
                            <a:lnSpc>
                              <a:spcPct val="15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Rewrite each perfect square root. </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4508219"/>
                      </a:ext>
                    </a:extLst>
                  </a:tr>
                  <a:tr h="764315">
                    <a:tc gridSpan="2">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6" t="-599206" r="-257" b="-1587"/>
                          </a:stretch>
                        </a:blipFill>
                      </a:tcPr>
                    </a:tc>
                    <a:tc hMerge="1">
                      <a:txBody>
                        <a:bodyPr/>
                        <a:lstStyle/>
                        <a:p>
                          <a:endParaRPr lang="x-none"/>
                        </a:p>
                      </a:txBody>
                      <a:tcPr/>
                    </a:tc>
                    <a:extLst>
                      <a:ext uri="{0D108BD9-81ED-4DB2-BD59-A6C34878D82A}">
                        <a16:rowId xmlns:a16="http://schemas.microsoft.com/office/drawing/2014/main" val="2970408992"/>
                      </a:ext>
                    </a:extLst>
                  </a:tr>
                </a:tbl>
              </a:graphicData>
            </a:graphic>
          </p:graphicFrame>
        </mc:Fallback>
      </mc:AlternateContent>
      <p:sp>
        <p:nvSpPr>
          <p:cNvPr id="7" name="Google Shape;282;g104476d1465_1_17">
            <a:extLst>
              <a:ext uri="{FF2B5EF4-FFF2-40B4-BE49-F238E27FC236}">
                <a16:creationId xmlns:a16="http://schemas.microsoft.com/office/drawing/2014/main" id="{4A8516E0-514B-6790-C62C-5615FB2342B2}"/>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8521EEC6-81B2-F633-6DAA-70644CADF8F4}"/>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35911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8AE5E1E0-A54D-BE42-84B5-F917038ADE99}"/>
                  </a:ext>
                </a:extLst>
              </p:cNvPr>
              <p:cNvSpPr txBox="1"/>
              <p:nvPr/>
            </p:nvSpPr>
            <p:spPr>
              <a:xfrm>
                <a:off x="843148" y="267902"/>
                <a:ext cx="10414660" cy="1074910"/>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With your partner, rewrite the expression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275</m:t>
                            </m:r>
                          </m:e>
                        </m:rad>
                      </m:num>
                      <m:den>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44</m:t>
                            </m:r>
                          </m:e>
                        </m:rad>
                      </m:den>
                    </m:f>
                  </m:oMath>
                </a14:m>
                <a:r>
                  <a:rPr lang="en-US" sz="2400" dirty="0">
                    <a:latin typeface="Verdana" panose="020B0604030504040204" pitchFamily="34" charset="0"/>
                    <a:ea typeface="Verdana" panose="020B0604030504040204" pitchFamily="34" charset="0"/>
                    <a:cs typeface="Verdana" panose="020B0604030504040204" pitchFamily="34" charset="0"/>
                  </a:rPr>
                  <a:t> using the quotient laws of radicals.</a:t>
                </a:r>
              </a:p>
            </p:txBody>
          </p:sp>
        </mc:Choice>
        <mc:Fallback>
          <p:sp>
            <p:nvSpPr>
              <p:cNvPr id="6" name="TextBox 5">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43148" y="267902"/>
                <a:ext cx="10414660" cy="1074910"/>
              </a:xfrm>
              <a:prstGeom prst="rect">
                <a:avLst/>
              </a:prstGeom>
              <a:blipFill>
                <a:blip r:embed="rId3"/>
                <a:stretch>
                  <a:fillRect l="-878" b="-11932"/>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906D5A26-5E4D-D12D-F13D-A1396078DABD}"/>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51</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24C9EE94-D6A7-21EA-8AE3-97A8842479D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11609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AE5E1E0-A54D-BE42-84B5-F917038ADE99}"/>
                  </a:ext>
                </a:extLst>
              </p:cNvPr>
              <p:cNvSpPr txBox="1"/>
              <p:nvPr/>
            </p:nvSpPr>
            <p:spPr>
              <a:xfrm>
                <a:off x="866899" y="336682"/>
                <a:ext cx="10284031" cy="6036461"/>
              </a:xfrm>
              <a:prstGeom prst="rect">
                <a:avLst/>
              </a:prstGeom>
              <a:noFill/>
            </p:spPr>
            <p:txBody>
              <a:bodyPr wrap="square" rtlCol="0">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Jean and Marcus were asked to explain how they would multiply </a:t>
                </a:r>
                <a14:m>
                  <m:oMath xmlns:m="http://schemas.openxmlformats.org/officeDocument/2006/math">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8</m:t>
                        </m:r>
                      </m:e>
                    </m:rad>
                    <m:r>
                      <a:rPr lang="en-US" sz="2400" i="1" dirty="0">
                        <a:latin typeface="Cambria Math" panose="02040503050406030204" pitchFamily="18" charset="0"/>
                        <a:ea typeface="Verdana" panose="020B0604030504040204" pitchFamily="34" charset="0"/>
                        <a:cs typeface="Verdana" panose="020B0604030504040204" pitchFamily="34" charset="0"/>
                      </a:rPr>
                      <m:t>  ∙ </m:t>
                    </m:r>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8</m:t>
                        </m:r>
                      </m:e>
                    </m:rad>
                  </m:oMath>
                </a14:m>
                <a:r>
                  <a:rPr lang="en-US" sz="2400" dirty="0">
                    <a:latin typeface="Verdana" panose="020B0604030504040204" pitchFamily="34" charset="0"/>
                    <a:ea typeface="Verdana" panose="020B0604030504040204" pitchFamily="34" charset="0"/>
                    <a:cs typeface="Verdana" panose="020B0604030504040204" pitchFamily="34" charset="0"/>
                  </a:rPr>
                  <a:t>. Their explanations are shown.</a:t>
                </a: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a:r>
                  <a:rPr lang="en-US" sz="2400" dirty="0">
                    <a:latin typeface="Verdana" panose="020B0604030504040204" pitchFamily="34" charset="0"/>
                    <a:ea typeface="Verdana" panose="020B0604030504040204" pitchFamily="34" charset="0"/>
                    <a:cs typeface="Verdana" panose="020B0604030504040204" pitchFamily="34" charset="0"/>
                  </a:rPr>
                  <a:t>Do you agree that both expressions have a value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8</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66899" y="336682"/>
                <a:ext cx="10284031" cy="6036461"/>
              </a:xfrm>
              <a:prstGeom prst="rect">
                <a:avLst/>
              </a:prstGeom>
              <a:blipFill>
                <a:blip r:embed="rId3"/>
                <a:stretch>
                  <a:fillRect l="-889" t="-808" b="-13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CAF5DF2C-B42C-3641-BEA5-D87F5D666B1A}"/>
                  </a:ext>
                </a:extLst>
              </p:cNvPr>
              <p:cNvGraphicFramePr>
                <a:graphicFrameLocks noGrp="1"/>
              </p:cNvGraphicFramePr>
              <p:nvPr>
                <p:extLst>
                  <p:ext uri="{D42A27DB-BD31-4B8C-83A1-F6EECF244321}">
                    <p14:modId xmlns:p14="http://schemas.microsoft.com/office/powerpoint/2010/main" val="1903139080"/>
                  </p:ext>
                </p:extLst>
              </p:nvPr>
            </p:nvGraphicFramePr>
            <p:xfrm>
              <a:off x="2233779" y="1273118"/>
              <a:ext cx="7315200" cy="4501769"/>
            </p:xfrm>
            <a:graphic>
              <a:graphicData uri="http://schemas.openxmlformats.org/drawingml/2006/table">
                <a:tbl>
                  <a:tblPr firstRow="1" firstCol="1" bandRow="1"/>
                  <a:tblGrid>
                    <a:gridCol w="1920240">
                      <a:extLst>
                        <a:ext uri="{9D8B030D-6E8A-4147-A177-3AD203B41FA5}">
                          <a16:colId xmlns:a16="http://schemas.microsoft.com/office/drawing/2014/main" val="1399636717"/>
                        </a:ext>
                      </a:extLst>
                    </a:gridCol>
                    <a:gridCol w="5394960">
                      <a:extLst>
                        <a:ext uri="{9D8B030D-6E8A-4147-A177-3AD203B41FA5}">
                          <a16:colId xmlns:a16="http://schemas.microsoft.com/office/drawing/2014/main" val="1604417550"/>
                        </a:ext>
                      </a:extLst>
                    </a:gridCol>
                  </a:tblGrid>
                  <a:tr h="457200">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Jean’s Explanation</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would first rewrite the radical expressions using rational exponents and then use the </a:t>
                          </a:r>
                          <a:r>
                            <a:rPr lang="en-US" sz="2000" b="1" i="1" dirty="0">
                              <a:effectLst/>
                              <a:latin typeface="Verdana" panose="020B0604030504040204" pitchFamily="34" charset="0"/>
                              <a:ea typeface="Verdana" panose="020B0604030504040204" pitchFamily="34" charset="0"/>
                              <a:cs typeface="Verdana" panose="020B0604030504040204" pitchFamily="34" charset="0"/>
                            </a:rPr>
                            <a:t>product of powers law of exponents</a:t>
                          </a:r>
                          <a:r>
                            <a:rPr lang="en-US" sz="2000" dirty="0">
                              <a:effectLst/>
                              <a:latin typeface="Verdana" panose="020B0604030504040204" pitchFamily="34" charset="0"/>
                              <a:ea typeface="Verdana" panose="020B0604030504040204" pitchFamily="34" charset="0"/>
                              <a:cs typeface="Verdana" panose="020B0604030504040204" pitchFamily="34" charset="0"/>
                            </a:rPr>
                            <a:t> to multiply the like bases.</a:t>
                          </a:r>
                          <a:endParaRPr lang="x-none" sz="2000">
                            <a:effectLst/>
                            <a:latin typeface="Verdana" pitchFamily="34" charset="0"/>
                            <a:ea typeface="Verdana" pitchFamily="34" charset="0"/>
                            <a:cs typeface="Cambria Math" panose="02040503050406030204" pitchFamily="18" charset="0"/>
                          </a:endParaRPr>
                        </a:p>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Math" panose="02040503050406030204" pitchFamily="18" charset="0"/>
                          </a:endParaRPr>
                        </a:p>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8</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8</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r>
                                      <a:rPr lang="en-US" sz="2000" i="1">
                                        <a:effectLst/>
                                        <a:latin typeface="Cambria Math" panose="02040503050406030204" pitchFamily="18" charset="0"/>
                                        <a:ea typeface="Verdana" panose="020B0604030504040204" pitchFamily="34" charset="0"/>
                                        <a:cs typeface="Verdana" panose="020B0604030504040204" pitchFamily="34" charset="0"/>
                                      </a:rPr>
                                      <m:t> + </m:t>
                                    </m:r>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1</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
                                          <a:rPr lang="en-US" sz="2000" i="1">
                                            <a:effectLst/>
                                            <a:latin typeface="Cambria Math" panose="02040503050406030204" pitchFamily="18" charset="0"/>
                                            <a:ea typeface="Verdana" panose="020B0604030504040204" pitchFamily="34" charset="0"/>
                                            <a:cs typeface="Verdana" panose="020B0604030504040204" pitchFamily="34" charset="0"/>
                                          </a:rPr>
                                          <m:t>2</m:t>
                                        </m:r>
                                      </m:num>
                                      <m:den>
                                        <m:r>
                                          <a:rPr lang="en-US" sz="2000" i="1">
                                            <a:effectLst/>
                                            <a:latin typeface="Cambria Math" panose="02040503050406030204" pitchFamily="18" charset="0"/>
                                            <a:ea typeface="Verdana" panose="020B0604030504040204" pitchFamily="34" charset="0"/>
                                            <a:cs typeface="Verdana" panose="020B0604030504040204" pitchFamily="34" charset="0"/>
                                          </a:rPr>
                                          <m:t>2</m:t>
                                        </m:r>
                                      </m:den>
                                    </m:f>
                                  </m:sup>
                                </m:sSup>
                                <m:r>
                                  <a:rPr lang="en-US" sz="2000" i="1">
                                    <a:effectLst/>
                                    <a:latin typeface="Cambria Math" panose="02040503050406030204" pitchFamily="18" charset="0"/>
                                    <a:ea typeface="Verdana" panose="020B0604030504040204" pitchFamily="34" charset="0"/>
                                    <a:cs typeface="Verdana" panose="020B0604030504040204" pitchFamily="34" charset="0"/>
                                  </a:rPr>
                                  <m:t>=</m:t>
                                </m:r>
                                <m:sSup>
                                  <m:sSupPr>
                                    <m:ctrlPr>
                                      <a:rPr lang="x-none" sz="2000" i="1">
                                        <a:effectLst/>
                                        <a:latin typeface="Cambria Math" panose="02040503050406030204" pitchFamily="18" charset="0"/>
                                        <a:ea typeface="Verdana" panose="020B0604030504040204" pitchFamily="34" charset="0"/>
                                        <a:cs typeface="Verdana" panose="020B0604030504040204" pitchFamily="34" charset="0"/>
                                      </a:rPr>
                                    </m:ctrlPr>
                                  </m:sSupPr>
                                  <m:e>
                                    <m:r>
                                      <a:rPr lang="en-US" sz="2000" i="1">
                                        <a:effectLst/>
                                        <a:latin typeface="Cambria Math" panose="02040503050406030204" pitchFamily="18" charset="0"/>
                                        <a:ea typeface="Verdana" panose="020B0604030504040204" pitchFamily="34" charset="0"/>
                                        <a:cs typeface="Verdana" panose="020B0604030504040204" pitchFamily="34" charset="0"/>
                                      </a:rPr>
                                      <m:t>8</m:t>
                                    </m:r>
                                  </m:e>
                                  <m:sup>
                                    <m:r>
                                      <a:rPr lang="en-US" sz="2000" i="1">
                                        <a:effectLst/>
                                        <a:latin typeface="Cambria Math" panose="02040503050406030204" pitchFamily="18" charset="0"/>
                                        <a:ea typeface="Verdana" panose="020B0604030504040204" pitchFamily="34" charset="0"/>
                                        <a:cs typeface="Verdana" panose="020B0604030504040204" pitchFamily="34" charset="0"/>
                                      </a:rPr>
                                      <m:t>1</m:t>
                                    </m:r>
                                  </m:sup>
                                </m:sSup>
                                <m:r>
                                  <a:rPr lang="en-US" sz="2000" i="1">
                                    <a:effectLst/>
                                    <a:latin typeface="Cambria Math" panose="02040503050406030204" pitchFamily="18" charset="0"/>
                                    <a:ea typeface="Verdana" panose="020B0604030504040204" pitchFamily="34" charset="0"/>
                                    <a:cs typeface="Verdana" panose="020B0604030504040204" pitchFamily="34" charset="0"/>
                                  </a:rPr>
                                  <m:t>=8</m:t>
                                </m:r>
                              </m:oMath>
                            </m:oMathPara>
                          </a14:m>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79435588"/>
                      </a:ext>
                    </a:extLst>
                  </a:tr>
                  <a:tr h="457200">
                    <a:tc>
                      <a:txBody>
                        <a:bodyPr/>
                        <a:lstStyle/>
                        <a:p>
                          <a:pPr marL="0" marR="0" algn="ctr">
                            <a:lnSpc>
                              <a:spcPct val="100000"/>
                            </a:lnSpc>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Marcus’s Explanation</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I would use the </a:t>
                          </a:r>
                          <a:r>
                            <a:rPr lang="en-US" sz="2000" b="1" i="1" dirty="0">
                              <a:effectLst/>
                              <a:latin typeface="Verdana" panose="020B0604030504040204" pitchFamily="34" charset="0"/>
                              <a:ea typeface="Verdana" panose="020B0604030504040204" pitchFamily="34" charset="0"/>
                              <a:cs typeface="Verdana" panose="020B0604030504040204" pitchFamily="34" charset="0"/>
                            </a:rPr>
                            <a:t>product law of radicals</a:t>
                          </a:r>
                          <a:r>
                            <a:rPr lang="en-US" sz="2000" dirty="0">
                              <a:effectLst/>
                              <a:latin typeface="Verdana" panose="020B0604030504040204" pitchFamily="34" charset="0"/>
                              <a:ea typeface="Verdana" panose="020B0604030504040204" pitchFamily="34" charset="0"/>
                              <a:cs typeface="Verdana" panose="020B0604030504040204" pitchFamily="34" charset="0"/>
                            </a:rPr>
                            <a:t> to multiply the radical expressions and then use the law again to rewrite the square root. </a:t>
                          </a:r>
                          <a:endParaRPr lang="x-none" sz="2000" dirty="0">
                            <a:effectLst/>
                            <a:latin typeface="Verdana" pitchFamily="34" charset="0"/>
                            <a:ea typeface="Verdana" pitchFamily="34" charset="0"/>
                            <a:cs typeface="Cambria Math" panose="02040503050406030204" pitchFamily="18" charset="0"/>
                          </a:endParaRPr>
                        </a:p>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Math" panose="02040503050406030204" pitchFamily="18" charset="0"/>
                          </a:endParaRPr>
                        </a:p>
                        <a:p>
                          <a:pPr marL="0" marR="0">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8</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8</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8∙8</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64</m:t>
                                    </m:r>
                                  </m:e>
                                </m:rad>
                                <m:r>
                                  <a:rPr lang="en-US" sz="2000" i="1">
                                    <a:effectLst/>
                                    <a:latin typeface="Cambria Math" panose="02040503050406030204" pitchFamily="18" charset="0"/>
                                    <a:ea typeface="Verdana" panose="020B0604030504040204" pitchFamily="34" charset="0"/>
                                    <a:cs typeface="Verdana" panose="020B0604030504040204" pitchFamily="34" charset="0"/>
                                  </a:rPr>
                                  <m:t>=8</m:t>
                                </m:r>
                              </m:oMath>
                            </m:oMathPara>
                          </a14:m>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52740179"/>
                      </a:ext>
                    </a:extLst>
                  </a:tr>
                </a:tbl>
              </a:graphicData>
            </a:graphic>
          </p:graphicFrame>
        </mc:Choice>
        <mc:Fallback>
          <p:graphicFrame>
            <p:nvGraphicFramePr>
              <p:cNvPr id="3" name="Table 2">
                <a:extLst>
                  <a:ext uri="{FF2B5EF4-FFF2-40B4-BE49-F238E27FC236}">
                    <a16:creationId xmlns:a16="http://schemas.microsoft.com/office/drawing/2014/main" id="{CAF5DF2C-B42C-3641-BEA5-D87F5D666B1A}"/>
                  </a:ext>
                </a:extLst>
              </p:cNvPr>
              <p:cNvGraphicFramePr>
                <a:graphicFrameLocks noGrp="1"/>
              </p:cNvGraphicFramePr>
              <p:nvPr>
                <p:extLst>
                  <p:ext uri="{D42A27DB-BD31-4B8C-83A1-F6EECF244321}">
                    <p14:modId xmlns:p14="http://schemas.microsoft.com/office/powerpoint/2010/main" val="1903139080"/>
                  </p:ext>
                </p:extLst>
              </p:nvPr>
            </p:nvGraphicFramePr>
            <p:xfrm>
              <a:off x="2233779" y="1273118"/>
              <a:ext cx="7315200" cy="4501769"/>
            </p:xfrm>
            <a:graphic>
              <a:graphicData uri="http://schemas.openxmlformats.org/drawingml/2006/table">
                <a:tbl>
                  <a:tblPr firstRow="1" firstCol="1" bandRow="1"/>
                  <a:tblGrid>
                    <a:gridCol w="1920240">
                      <a:extLst>
                        <a:ext uri="{9D8B030D-6E8A-4147-A177-3AD203B41FA5}">
                          <a16:colId xmlns:a16="http://schemas.microsoft.com/office/drawing/2014/main" val="1399636717"/>
                        </a:ext>
                      </a:extLst>
                    </a:gridCol>
                    <a:gridCol w="5394960">
                      <a:extLst>
                        <a:ext uri="{9D8B030D-6E8A-4147-A177-3AD203B41FA5}">
                          <a16:colId xmlns:a16="http://schemas.microsoft.com/office/drawing/2014/main" val="1604417550"/>
                        </a:ext>
                      </a:extLst>
                    </a:gridCol>
                  </a:tblGrid>
                  <a:tr h="2454148">
                    <a:tc>
                      <a:txBody>
                        <a:bodyPr/>
                        <a:lstStyle/>
                        <a:p>
                          <a:pPr marL="0" marR="0" algn="ctr">
                            <a:lnSpc>
                              <a:spcPct val="100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Jean’s Explanation</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5666" t="-248" r="-226" b="-84119"/>
                          </a:stretch>
                        </a:blipFill>
                      </a:tcPr>
                    </a:tc>
                    <a:extLst>
                      <a:ext uri="{0D108BD9-81ED-4DB2-BD59-A6C34878D82A}">
                        <a16:rowId xmlns:a16="http://schemas.microsoft.com/office/drawing/2014/main" val="1579435588"/>
                      </a:ext>
                    </a:extLst>
                  </a:tr>
                  <a:tr h="2047621">
                    <a:tc>
                      <a:txBody>
                        <a:bodyPr/>
                        <a:lstStyle/>
                        <a:p>
                          <a:pPr marL="0" marR="0" algn="ctr">
                            <a:lnSpc>
                              <a:spcPct val="100000"/>
                            </a:lnSpc>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Marcus’s Explanation</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35666" t="-119881" r="-226" b="-593"/>
                          </a:stretch>
                        </a:blipFill>
                      </a:tcPr>
                    </a:tc>
                    <a:extLst>
                      <a:ext uri="{0D108BD9-81ED-4DB2-BD59-A6C34878D82A}">
                        <a16:rowId xmlns:a16="http://schemas.microsoft.com/office/drawing/2014/main" val="2252740179"/>
                      </a:ext>
                    </a:extLst>
                  </a:tr>
                </a:tbl>
              </a:graphicData>
            </a:graphic>
          </p:graphicFrame>
        </mc:Fallback>
      </mc:AlternateContent>
      <p:sp>
        <p:nvSpPr>
          <p:cNvPr id="7" name="Google Shape;282;g104476d1465_1_17">
            <a:extLst>
              <a:ext uri="{FF2B5EF4-FFF2-40B4-BE49-F238E27FC236}">
                <a16:creationId xmlns:a16="http://schemas.microsoft.com/office/drawing/2014/main" id="{48075938-0052-F727-D364-B172DCDBBEA1}"/>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2FFA0829-3A37-669A-8291-C4AD674EEFBB}"/>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240133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AE5E1E0-A54D-BE42-84B5-F917038ADE99}"/>
                  </a:ext>
                </a:extLst>
              </p:cNvPr>
              <p:cNvSpPr txBox="1"/>
              <p:nvPr/>
            </p:nvSpPr>
            <p:spPr>
              <a:xfrm>
                <a:off x="843148" y="224361"/>
                <a:ext cx="9850252" cy="3495829"/>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Explain which method you would use to multiply </a:t>
                </a:r>
                <a14:m>
                  <m:oMath xmlns:m="http://schemas.openxmlformats.org/officeDocument/2006/math">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12</m:t>
                        </m:r>
                      </m:e>
                    </m:rad>
                    <m:r>
                      <a:rPr lang="en-US" sz="2400" i="1" dirty="0">
                        <a:latin typeface="Cambria Math" panose="02040503050406030204" pitchFamily="18" charset="0"/>
                        <a:ea typeface="Verdana" panose="020B0604030504040204" pitchFamily="34" charset="0"/>
                        <a:cs typeface="Verdana" panose="020B0604030504040204" pitchFamily="34" charset="0"/>
                      </a:rPr>
                      <m:t>  ∙ </m:t>
                    </m:r>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12</m:t>
                        </m:r>
                      </m:e>
                    </m:rad>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5"/>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5"/>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r>
                  <a:rPr lang="en-US" sz="2400" dirty="0">
                    <a:latin typeface="Verdana" panose="020B0604030504040204" pitchFamily="34" charset="0"/>
                    <a:ea typeface="Verdana" panose="020B0604030504040204" pitchFamily="34" charset="0"/>
                    <a:cs typeface="Verdana" panose="020B0604030504040204" pitchFamily="34" charset="0"/>
                  </a:rPr>
                  <a:t>Multiply the following radical expressions.</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6</m:t>
                          </m:r>
                        </m:e>
                      </m:rad>
                      <m:r>
                        <a:rPr lang="en-US" sz="2400" i="1" dirty="0">
                          <a:latin typeface="Cambria Math" panose="02040503050406030204" pitchFamily="18" charset="0"/>
                          <a:ea typeface="Verdana" panose="020B0604030504040204" pitchFamily="34" charset="0"/>
                          <a:cs typeface="Verdana" panose="020B0604030504040204" pitchFamily="34" charset="0"/>
                        </a:rPr>
                        <m:t>∙</m:t>
                      </m:r>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18</m:t>
                          </m:r>
                        </m:e>
                      </m:ra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843148" y="224361"/>
                <a:ext cx="9850252" cy="3495829"/>
              </a:xfrm>
              <a:prstGeom prst="rect">
                <a:avLst/>
              </a:prstGeom>
              <a:blipFill>
                <a:blip r:embed="rId3"/>
                <a:stretch>
                  <a:fillRect l="-928" t="-524" r="-495"/>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71A0F649-C221-AC7F-61A1-7B6A3D29B043}"/>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313D5D46-456F-0906-9436-CBAC0350DBD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14751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041400" y="228404"/>
                <a:ext cx="9651999" cy="4069768"/>
              </a:xfrm>
              <a:prstGeom prst="rect">
                <a:avLst/>
              </a:prstGeom>
              <a:noFill/>
            </p:spPr>
            <p:txBody>
              <a:bodyPr wrap="square" rtlCol="0">
                <a:spAutoFit/>
              </a:bodyPr>
              <a:lstStyle/>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A model of how to rationalize the expression </a:t>
                </a:r>
                <a14:m>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30</m:t>
                        </m:r>
                      </m:num>
                      <m:den>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den>
                    </m:f>
                  </m:oMath>
                </a14:m>
                <a:r>
                  <a:rPr lang="en-US" sz="2400" dirty="0">
                    <a:latin typeface="Verdana" panose="020B0604030504040204" pitchFamily="34" charset="0"/>
                    <a:ea typeface="Verdana" panose="020B0604030504040204" pitchFamily="34" charset="0"/>
                    <a:cs typeface="Verdana" panose="020B0604030504040204" pitchFamily="34" charset="0"/>
                  </a:rPr>
                  <a:t> is shown.</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30</m:t>
                          </m:r>
                        </m:num>
                        <m:den>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den>
                      </m:f>
                      <m:r>
                        <a:rPr lang="en-U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num>
                        <m:den>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den>
                      </m:f>
                      <m:r>
                        <a:rPr lang="en-U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30</m:t>
                          </m:r>
                          <m:rad>
                            <m:radPr>
                              <m:degHide m:val="on"/>
                              <m:ctrlPr>
                                <a:rPr lang="es-E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num>
                        <m:den>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4</m:t>
                              </m:r>
                            </m:e>
                          </m:rad>
                        </m:den>
                      </m:f>
                      <m:r>
                        <a:rPr lang="en-U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30</m:t>
                          </m:r>
                          <m:rad>
                            <m:radPr>
                              <m:degHide m:val="on"/>
                              <m:ctrlPr>
                                <a:rPr lang="es-E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r>
                        <a:rPr lang="en-US" sz="2400" i="1" dirty="0">
                          <a:latin typeface="Cambria Math" panose="02040503050406030204" pitchFamily="18" charset="0"/>
                          <a:ea typeface="Verdana" panose="020B0604030504040204" pitchFamily="34" charset="0"/>
                          <a:cs typeface="Verdana" panose="020B0604030504040204" pitchFamily="34" charset="0"/>
                        </a:rPr>
                        <m:t>=15</m:t>
                      </m:r>
                      <m:rad>
                        <m:radPr>
                          <m:degHide m:val="on"/>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e>
                          <m:r>
                            <a:rPr lang="es-ES" sz="2400" i="1" dirty="0">
                              <a:latin typeface="Cambria Math" panose="02040503050406030204" pitchFamily="18" charset="0"/>
                              <a:ea typeface="Verdana" panose="020B0604030504040204" pitchFamily="34" charset="0"/>
                              <a:cs typeface="Verdana" panose="020B0604030504040204" pitchFamily="34" charset="0"/>
                            </a:rPr>
                            <m:t>2</m:t>
                          </m:r>
                        </m:e>
                      </m:ra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1041400" y="228404"/>
                <a:ext cx="9651999" cy="4069768"/>
              </a:xfrm>
              <a:prstGeom prst="rect">
                <a:avLst/>
              </a:prstGeom>
              <a:blipFill>
                <a:blip r:embed="rId4"/>
                <a:stretch>
                  <a:fillRect l="-1053"/>
                </a:stretch>
              </a:blipFill>
            </p:spPr>
            <p:txBody>
              <a:bodyPr/>
              <a:lstStyle/>
              <a:p>
                <a:r>
                  <a:rPr lang="en-US">
                    <a:noFill/>
                  </a:rPr>
                  <a:t> </a:t>
                </a:r>
              </a:p>
            </p:txBody>
          </p:sp>
        </mc:Fallback>
      </mc:AlternateContent>
      <p:grpSp>
        <p:nvGrpSpPr>
          <p:cNvPr id="2" name="Group 1"/>
          <p:cNvGrpSpPr/>
          <p:nvPr/>
        </p:nvGrpSpPr>
        <p:grpSpPr>
          <a:xfrm>
            <a:off x="2066418" y="345205"/>
            <a:ext cx="8059163" cy="1661732"/>
            <a:chOff x="1188084" y="659286"/>
            <a:chExt cx="8059163" cy="1661732"/>
          </a:xfrm>
        </p:grpSpPr>
        <p:sp>
          <p:nvSpPr>
            <p:cNvPr id="6" name="Rectangle: Rounded Corners 114">
              <a:extLst>
                <a:ext uri="{FF2B5EF4-FFF2-40B4-BE49-F238E27FC236}">
                  <a16:creationId xmlns:a16="http://schemas.microsoft.com/office/drawing/2014/main" id="{6636C536-A647-8E41-B574-BD1ECA9C5893}"/>
                </a:ext>
              </a:extLst>
            </p:cNvPr>
            <p:cNvSpPr/>
            <p:nvPr/>
          </p:nvSpPr>
          <p:spPr>
            <a:xfrm>
              <a:off x="1188084" y="659286"/>
              <a:ext cx="8059163" cy="1661732"/>
            </a:xfrm>
            <a:prstGeom prst="roundRect">
              <a:avLst/>
            </a:prstGeom>
            <a:solidFill>
              <a:srgbClr val="B8E6F5"/>
            </a:solidFill>
            <a:ln>
              <a:solidFill>
                <a:srgbClr val="B8E6F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t" anchorCtr="0" forceAA="0" compatLnSpc="1">
              <a:prstTxWarp prst="textNoShape">
                <a:avLst/>
              </a:prstTxWarp>
              <a:spAutoFit/>
            </a:bodyPr>
            <a:lstStyle/>
            <a:p>
              <a:pPr marL="800100">
                <a:lnSpc>
                  <a:spcPct val="107000"/>
                </a:lnSpc>
                <a:spcAft>
                  <a:spcPts val="800"/>
                </a:spcAft>
              </a:pPr>
              <a:r>
                <a:rPr lang="en-US" sz="2000" dirty="0">
                  <a:solidFill>
                    <a:srgbClr val="1175BF"/>
                  </a:solidFill>
                  <a:latin typeface="Verdana" panose="020B0604030504040204" pitchFamily="34" charset="0"/>
                  <a:ea typeface="Cambria Math" panose="02040503050406030204" pitchFamily="18" charset="0"/>
                  <a:cs typeface="Cambria Math" panose="02040503050406030204" pitchFamily="18" charset="0"/>
                </a:rPr>
                <a:t>In cases where there is a fraction with a radical in the </a:t>
              </a:r>
              <a:r>
                <a:rPr lang="en-US" sz="2000" b="1" dirty="0">
                  <a:solidFill>
                    <a:srgbClr val="1175BF"/>
                  </a:solidFill>
                  <a:latin typeface="Verdana" panose="020B0604030504040204" pitchFamily="34" charset="0"/>
                  <a:ea typeface="Cambria Math" panose="02040503050406030204" pitchFamily="18" charset="0"/>
                  <a:cs typeface="Cambria Math" panose="02040503050406030204" pitchFamily="18" charset="0"/>
                </a:rPr>
                <a:t>denominator</a:t>
              </a:r>
              <a:r>
                <a:rPr lang="en-US" sz="2000" dirty="0">
                  <a:solidFill>
                    <a:srgbClr val="1175BF"/>
                  </a:solidFill>
                  <a:latin typeface="Verdana" panose="020B0604030504040204" pitchFamily="34" charset="0"/>
                  <a:ea typeface="Cambria Math" panose="02040503050406030204" pitchFamily="18" charset="0"/>
                  <a:cs typeface="Cambria Math" panose="02040503050406030204" pitchFamily="18" charset="0"/>
                </a:rPr>
                <a:t>, mathematicians use a technique called </a:t>
              </a:r>
              <a:r>
                <a:rPr lang="en-US" sz="2000" b="1" dirty="0">
                  <a:solidFill>
                    <a:srgbClr val="1175BF"/>
                  </a:solidFill>
                  <a:latin typeface="Verdana" panose="020B0604030504040204" pitchFamily="34" charset="0"/>
                  <a:ea typeface="Cambria Math" panose="02040503050406030204" pitchFamily="18" charset="0"/>
                  <a:cs typeface="Cambria Math" panose="02040503050406030204" pitchFamily="18" charset="0"/>
                </a:rPr>
                <a:t>rationalizing the denominator</a:t>
              </a:r>
              <a:r>
                <a:rPr lang="en-US" sz="2000" dirty="0">
                  <a:solidFill>
                    <a:srgbClr val="1175BF"/>
                  </a:solidFill>
                  <a:latin typeface="Verdana" panose="020B0604030504040204" pitchFamily="34" charset="0"/>
                  <a:ea typeface="Cambria Math" panose="02040503050406030204" pitchFamily="18" charset="0"/>
                  <a:cs typeface="Cambria Math" panose="02040503050406030204" pitchFamily="18" charset="0"/>
                </a:rPr>
                <a:t> to rewrite an expression.</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p:txBody>
        </p:sp>
        <p:pic>
          <p:nvPicPr>
            <p:cNvPr id="7" name="image3.png" descr="Icon&#10;&#10;Description automatically generated">
              <a:extLst>
                <a:ext uri="{FF2B5EF4-FFF2-40B4-BE49-F238E27FC236}">
                  <a16:creationId xmlns:a16="http://schemas.microsoft.com/office/drawing/2014/main" id="{EB2488CC-EAA9-5846-BF2A-BE439231E909}"/>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1409700" y="950402"/>
              <a:ext cx="539750" cy="539750"/>
            </a:xfrm>
            <a:prstGeom prst="rect">
              <a:avLst/>
            </a:prstGeom>
            <a:ln/>
            <a:effectLst>
              <a:outerShdw blurRad="50800" dist="38100" dir="2700000" algn="tl" rotWithShape="0">
                <a:prstClr val="black">
                  <a:alpha val="40000"/>
                </a:prstClr>
              </a:outerShdw>
            </a:effectLst>
          </p:spPr>
        </p:pic>
      </p:grpSp>
      <p:sp>
        <p:nvSpPr>
          <p:cNvPr id="9" name="Google Shape;282;g104476d1465_1_17">
            <a:extLst>
              <a:ext uri="{FF2B5EF4-FFF2-40B4-BE49-F238E27FC236}">
                <a16:creationId xmlns:a16="http://schemas.microsoft.com/office/drawing/2014/main" id="{FDA276DB-FF9C-4BB3-F539-2A61E86EC39A}"/>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52</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56B27F72-FD6C-B1A7-DC39-0CB918E1AD15}"/>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679988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12348"/>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09616"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9" name="image12.png" descr="Icon&#10;&#10;Description automatically generated">
            <a:extLst>
              <a:ext uri="{FF2B5EF4-FFF2-40B4-BE49-F238E27FC236}">
                <a16:creationId xmlns:a16="http://schemas.microsoft.com/office/drawing/2014/main" id="{51555AC7-F08C-3A41-8AE5-C505B63C9DA6}"/>
              </a:ext>
            </a:extLst>
          </p:cNvPr>
          <p:cNvPicPr/>
          <p:nvPr/>
        </p:nvPicPr>
        <p:blipFill>
          <a:blip r:embed="rId3"/>
          <a:srcRect/>
          <a:stretch>
            <a:fillRect/>
          </a:stretch>
        </p:blipFill>
        <p:spPr>
          <a:xfrm>
            <a:off x="3633544" y="2852922"/>
            <a:ext cx="1152145" cy="1152145"/>
          </a:xfrm>
          <a:prstGeom prst="rect">
            <a:avLst/>
          </a:prstGeom>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5F33EA93-26CE-46EC-B2F5-2D1A631AEEF2}"/>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53</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D8A4AE02-E49B-BB5D-8215-04D70B0963C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718661" y="254021"/>
            <a:ext cx="8327864" cy="5302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000" b="1" dirty="0">
                <a:solidFill>
                  <a:srgbClr val="33BEA6"/>
                </a:solidFill>
                <a:latin typeface="Verdana"/>
                <a:ea typeface="Verdana"/>
                <a:cs typeface="Verdana"/>
                <a:sym typeface="Verdana"/>
              </a:rPr>
              <a:t>1.10.3 Activity: Pass Around</a:t>
            </a:r>
          </a:p>
        </p:txBody>
      </p:sp>
      <p:sp>
        <p:nvSpPr>
          <p:cNvPr id="10" name="TextBox 9">
            <a:extLst>
              <a:ext uri="{FF2B5EF4-FFF2-40B4-BE49-F238E27FC236}">
                <a16:creationId xmlns:a16="http://schemas.microsoft.com/office/drawing/2014/main" id="{E44DF7DE-9172-3E4E-B74A-7A51585FB6EA}"/>
              </a:ext>
            </a:extLst>
          </p:cNvPr>
          <p:cNvSpPr txBox="1"/>
          <p:nvPr/>
        </p:nvSpPr>
        <p:spPr>
          <a:xfrm>
            <a:off x="903041" y="1090224"/>
            <a:ext cx="9764959" cy="1323439"/>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In groups of four, each student completes the </a:t>
            </a:r>
            <a:r>
              <a:rPr lang="en-US" sz="2000" b="1" dirty="0">
                <a:latin typeface="Verdana" panose="020B0604030504040204" pitchFamily="34" charset="0"/>
                <a:ea typeface="Verdana" panose="020B0604030504040204" pitchFamily="34" charset="0"/>
                <a:cs typeface="Verdana" panose="020B0604030504040204" pitchFamily="34" charset="0"/>
              </a:rPr>
              <a:t>first</a:t>
            </a:r>
            <a:r>
              <a:rPr lang="en-US" sz="2000" dirty="0">
                <a:latin typeface="Verdana" panose="020B0604030504040204" pitchFamily="34" charset="0"/>
                <a:ea typeface="Verdana" panose="020B0604030504040204" pitchFamily="34" charset="0"/>
                <a:cs typeface="Verdana" panose="020B0604030504040204" pitchFamily="34" charset="0"/>
              </a:rPr>
              <a:t> step of their problem. The students then pass their problem to the student on their right to complete the next step. For each new step, continue passing the problems to the student on the right.</a:t>
            </a:r>
          </a:p>
        </p:txBody>
      </p:sp>
      <p:pic>
        <p:nvPicPr>
          <p:cNvPr id="11" name="image12.png" descr="Icon&#10;&#10;Description automatically generated">
            <a:extLst>
              <a:ext uri="{FF2B5EF4-FFF2-40B4-BE49-F238E27FC236}">
                <a16:creationId xmlns:a16="http://schemas.microsoft.com/office/drawing/2014/main" id="{F65C75A6-6EF1-1D47-9FA4-4B40F0766CA6}"/>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903041" y="144230"/>
            <a:ext cx="749809" cy="749809"/>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3CD8780C-2382-AE4B-A1EE-BB6C6295DECE}"/>
                  </a:ext>
                </a:extLst>
              </p:cNvPr>
              <p:cNvGraphicFramePr>
                <a:graphicFrameLocks noGrp="1"/>
              </p:cNvGraphicFramePr>
              <p:nvPr>
                <p:extLst>
                  <p:ext uri="{D42A27DB-BD31-4B8C-83A1-F6EECF244321}">
                    <p14:modId xmlns:p14="http://schemas.microsoft.com/office/powerpoint/2010/main" val="759153788"/>
                  </p:ext>
                </p:extLst>
              </p:nvPr>
            </p:nvGraphicFramePr>
            <p:xfrm>
              <a:off x="2202096" y="2606869"/>
              <a:ext cx="7608654" cy="3657600"/>
            </p:xfrm>
            <a:graphic>
              <a:graphicData uri="http://schemas.openxmlformats.org/drawingml/2006/table">
                <a:tbl>
                  <a:tblPr firstRow="1" firstCol="1" bandRow="1"/>
                  <a:tblGrid>
                    <a:gridCol w="3804327">
                      <a:extLst>
                        <a:ext uri="{9D8B030D-6E8A-4147-A177-3AD203B41FA5}">
                          <a16:colId xmlns:a16="http://schemas.microsoft.com/office/drawing/2014/main" val="4196882918"/>
                        </a:ext>
                      </a:extLst>
                    </a:gridCol>
                    <a:gridCol w="3804327">
                      <a:extLst>
                        <a:ext uri="{9D8B030D-6E8A-4147-A177-3AD203B41FA5}">
                          <a16:colId xmlns:a16="http://schemas.microsoft.com/office/drawing/2014/main" val="2272852617"/>
                        </a:ext>
                      </a:extLst>
                    </a:gridCol>
                  </a:tblGrid>
                  <a:tr h="1828800">
                    <a:tc>
                      <a:txBody>
                        <a:bodyPr/>
                        <a:lstStyle/>
                        <a:p>
                          <a:pPr marL="0" marR="0">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Student A</a:t>
                          </a:r>
                          <a:endParaRPr lang="x-none" sz="2000" dirty="0">
                            <a:effectLst/>
                            <a:latin typeface="Verdana" pitchFamily="34" charset="0"/>
                            <a:ea typeface="Verdana" pitchFamily="34" charset="0"/>
                            <a:cs typeface="Cambria Math" panose="02040503050406030204" pitchFamily="18" charset="0"/>
                          </a:endParaRPr>
                        </a:p>
                        <a:p>
                          <a:pPr marL="0" marR="0" algn="ctr">
                            <a:lnSpc>
                              <a:spcPct val="107000"/>
                            </a:lnSpc>
                            <a:spcBef>
                              <a:spcPts val="0"/>
                            </a:spcBef>
                            <a:spcAft>
                              <a:spcPts val="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ad>
                                    <m:ra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i="1">
                                          <a:effectLst/>
                                          <a:latin typeface="Cambria Math" panose="02040503050406030204" pitchFamily="18" charset="0"/>
                                          <a:ea typeface="Verdana" panose="020B0604030504040204" pitchFamily="34" charset="0"/>
                                          <a:cs typeface="Verdana" panose="020B0604030504040204" pitchFamily="34" charset="0"/>
                                        </a:rPr>
                                        <m:t>3</m:t>
                                      </m:r>
                                    </m:deg>
                                    <m:e>
                                      <m:r>
                                        <a:rPr lang="en-US" sz="2000" i="1">
                                          <a:effectLst/>
                                          <a:latin typeface="Cambria Math" panose="02040503050406030204" pitchFamily="18" charset="0"/>
                                          <a:ea typeface="Verdana" panose="020B0604030504040204" pitchFamily="34" charset="0"/>
                                          <a:cs typeface="Verdana" panose="020B0604030504040204" pitchFamily="34" charset="0"/>
                                        </a:rPr>
                                        <m:t>200</m:t>
                                      </m:r>
                                    </m:e>
                                  </m:rad>
                                </m:num>
                                <m:den>
                                  <m:rad>
                                    <m:ra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i="1">
                                          <a:effectLst/>
                                          <a:latin typeface="Cambria Math" panose="02040503050406030204" pitchFamily="18" charset="0"/>
                                          <a:ea typeface="Verdana" panose="020B0604030504040204" pitchFamily="34" charset="0"/>
                                          <a:cs typeface="Verdana" panose="020B0604030504040204" pitchFamily="34" charset="0"/>
                                        </a:rPr>
                                        <m:t>3</m:t>
                                      </m:r>
                                    </m:deg>
                                    <m:e>
                                      <m:r>
                                        <a:rPr lang="en-US" sz="2000" i="1">
                                          <a:effectLst/>
                                          <a:latin typeface="Cambria Math" panose="02040503050406030204" pitchFamily="18" charset="0"/>
                                          <a:ea typeface="Verdana" panose="020B0604030504040204" pitchFamily="34" charset="0"/>
                                          <a:cs typeface="Verdana" panose="020B0604030504040204" pitchFamily="34" charset="0"/>
                                        </a:rPr>
                                        <m:t>625</m:t>
                                      </m:r>
                                    </m:e>
                                  </m:rad>
                                </m:den>
                              </m:f>
                            </m:oMath>
                          </a14:m>
                          <a:r>
                            <a:rPr lang="en-PH" sz="2000" dirty="0">
                              <a:effectLst/>
                              <a:latin typeface="Verdana" pitchFamily="34" charset="0"/>
                              <a:ea typeface="Verdana" pitchFamily="34" charset="0"/>
                              <a:cs typeface="Cambria Math" panose="02040503050406030204" pitchFamily="18" charset="0"/>
                            </a:rPr>
                            <a:t> </a:t>
                          </a:r>
                          <a:endParaRPr lang="x-none" sz="2000" dirty="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Student B</a:t>
                          </a:r>
                          <a:endParaRPr lang="x-none" sz="2000" dirty="0">
                            <a:effectLst/>
                            <a:latin typeface="Verdana" pitchFamily="34" charset="0"/>
                            <a:ea typeface="Verdana" pitchFamily="34" charset="0"/>
                            <a:cs typeface="Cambria Math" panose="02040503050406030204"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i="1">
                                        <a:effectLst/>
                                        <a:latin typeface="Cambria Math" panose="02040503050406030204" pitchFamily="18" charset="0"/>
                                        <a:ea typeface="Verdana" panose="020B0604030504040204" pitchFamily="34" charset="0"/>
                                        <a:cs typeface="Verdana" panose="020B0604030504040204" pitchFamily="34" charset="0"/>
                                      </a:rPr>
                                      <m:t>3</m:t>
                                    </m:r>
                                  </m:deg>
                                  <m:e>
                                    <m:r>
                                      <a:rPr lang="en-US" sz="2000" i="1">
                                        <a:effectLst/>
                                        <a:latin typeface="Cambria Math" panose="02040503050406030204" pitchFamily="18" charset="0"/>
                                        <a:ea typeface="Verdana" panose="020B0604030504040204" pitchFamily="34" charset="0"/>
                                        <a:cs typeface="Verdana" panose="020B0604030504040204" pitchFamily="34" charset="0"/>
                                      </a:rPr>
                                      <m:t>14</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i="1">
                                        <a:effectLst/>
                                        <a:latin typeface="Cambria Math" panose="02040503050406030204" pitchFamily="18" charset="0"/>
                                        <a:ea typeface="Verdana" panose="020B0604030504040204" pitchFamily="34" charset="0"/>
                                        <a:cs typeface="Verdana" panose="020B0604030504040204" pitchFamily="34" charset="0"/>
                                      </a:rPr>
                                      <m:t>3</m:t>
                                    </m:r>
                                  </m:deg>
                                  <m:e>
                                    <m:r>
                                      <a:rPr lang="en-US" sz="2000" i="1">
                                        <a:effectLst/>
                                        <a:latin typeface="Cambria Math" panose="02040503050406030204" pitchFamily="18" charset="0"/>
                                        <a:ea typeface="Verdana" panose="020B0604030504040204" pitchFamily="34" charset="0"/>
                                        <a:cs typeface="Verdana" panose="020B0604030504040204" pitchFamily="34" charset="0"/>
                                      </a:rPr>
                                      <m:t>20</m:t>
                                    </m:r>
                                  </m:e>
                                </m:rad>
                              </m:oMath>
                            </m:oMathPara>
                          </a14:m>
                          <a:endParaRPr lang="x-none" sz="2000" dirty="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98110"/>
                      </a:ext>
                    </a:extLst>
                  </a:tr>
                  <a:tr h="1828800">
                    <a:tc>
                      <a:txBody>
                        <a:bodyPr/>
                        <a:lstStyle/>
                        <a:p>
                          <a:pPr marL="0" marR="0">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Student C</a:t>
                          </a:r>
                          <a:endParaRPr lang="x-none" sz="2000">
                            <a:effectLst/>
                            <a:latin typeface="Verdana" pitchFamily="34" charset="0"/>
                            <a:ea typeface="Verdana" pitchFamily="34" charset="0"/>
                            <a:cs typeface="Cambria Math" panose="02040503050406030204" pitchFamily="18" charset="0"/>
                          </a:endParaRPr>
                        </a:p>
                        <a:p>
                          <a:pPr marL="0" marR="0">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24</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30</m:t>
                                    </m:r>
                                  </m:e>
                                </m:rad>
                              </m:oMath>
                            </m:oMathPara>
                          </a14:m>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Student D</a:t>
                          </a:r>
                          <a:endParaRPr lang="x-none" sz="2000" dirty="0">
                            <a:effectLst/>
                            <a:latin typeface="Verdana" pitchFamily="34" charset="0"/>
                            <a:ea typeface="Verdana" pitchFamily="34" charset="0"/>
                            <a:cs typeface="Cambria Math" panose="02040503050406030204" pitchFamily="18" charset="0"/>
                          </a:endParaRPr>
                        </a:p>
                        <a:p>
                          <a:pPr marL="0" marR="0" algn="ctr">
                            <a:lnSpc>
                              <a:spcPct val="107000"/>
                            </a:lnSpc>
                            <a:spcBef>
                              <a:spcPts val="0"/>
                            </a:spcBef>
                            <a:spcAft>
                              <a:spcPts val="0"/>
                            </a:spcAft>
                          </a:pPr>
                          <a14:m>
                            <m:oMath xmlns:m="http://schemas.openxmlformats.org/officeDocument/2006/math">
                              <m:f>
                                <m:fPr>
                                  <m:ctrlPr>
                                    <a:rPr lang="x-none" sz="2000" i="1">
                                      <a:effectLst/>
                                      <a:latin typeface="Cambria Math" panose="02040503050406030204" pitchFamily="18" charset="0"/>
                                      <a:ea typeface="Verdana" panose="020B0604030504040204" pitchFamily="34" charset="0"/>
                                      <a:cs typeface="Verdana" panose="020B0604030504040204" pitchFamily="34" charset="0"/>
                                    </a:rPr>
                                  </m:ctrlPr>
                                </m:fPr>
                                <m:num>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256</m:t>
                                      </m:r>
                                    </m:e>
                                  </m:rad>
                                </m:num>
                                <m:den>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108</m:t>
                                      </m:r>
                                    </m:e>
                                  </m:rad>
                                </m:den>
                              </m:f>
                            </m:oMath>
                          </a14:m>
                          <a:r>
                            <a:rPr lang="en-PH" sz="2000" dirty="0">
                              <a:effectLst/>
                              <a:latin typeface="Verdana" pitchFamily="34" charset="0"/>
                              <a:ea typeface="Verdana" pitchFamily="34" charset="0"/>
                              <a:cs typeface="Cambria Math" panose="02040503050406030204" pitchFamily="18" charset="0"/>
                            </a:rPr>
                            <a:t> </a:t>
                          </a:r>
                          <a:endParaRPr lang="x-none" sz="2000" dirty="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a:extLst>
                  <a:ext uri="{FF2B5EF4-FFF2-40B4-BE49-F238E27FC236}">
                    <a16:creationId xmlns:a16="http://schemas.microsoft.com/office/drawing/2014/main" id="{3CD8780C-2382-AE4B-A1EE-BB6C6295DECE}"/>
                  </a:ext>
                </a:extLst>
              </p:cNvPr>
              <p:cNvGraphicFramePr>
                <a:graphicFrameLocks noGrp="1"/>
              </p:cNvGraphicFramePr>
              <p:nvPr>
                <p:extLst>
                  <p:ext uri="{D42A27DB-BD31-4B8C-83A1-F6EECF244321}">
                    <p14:modId xmlns:p14="http://schemas.microsoft.com/office/powerpoint/2010/main" val="759153788"/>
                  </p:ext>
                </p:extLst>
              </p:nvPr>
            </p:nvGraphicFramePr>
            <p:xfrm>
              <a:off x="2202096" y="2606869"/>
              <a:ext cx="7608654" cy="3657600"/>
            </p:xfrm>
            <a:graphic>
              <a:graphicData uri="http://schemas.openxmlformats.org/drawingml/2006/table">
                <a:tbl>
                  <a:tblPr firstRow="1" firstCol="1" bandRow="1"/>
                  <a:tblGrid>
                    <a:gridCol w="3804327">
                      <a:extLst>
                        <a:ext uri="{9D8B030D-6E8A-4147-A177-3AD203B41FA5}">
                          <a16:colId xmlns:a16="http://schemas.microsoft.com/office/drawing/2014/main" val="4196882918"/>
                        </a:ext>
                      </a:extLst>
                    </a:gridCol>
                    <a:gridCol w="3804327">
                      <a:extLst>
                        <a:ext uri="{9D8B030D-6E8A-4147-A177-3AD203B41FA5}">
                          <a16:colId xmlns:a16="http://schemas.microsoft.com/office/drawing/2014/main" val="2272852617"/>
                        </a:ext>
                      </a:extLst>
                    </a:gridCol>
                  </a:tblGrid>
                  <a:tr h="182880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33" t="-690" r="-100333" b="-100000"/>
                          </a:stretch>
                        </a:blipFill>
                      </a:tcPr>
                    </a:tc>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333" t="-690" r="-333" b="-100000"/>
                          </a:stretch>
                        </a:blipFill>
                      </a:tcPr>
                    </a:tc>
                    <a:extLst>
                      <a:ext uri="{0D108BD9-81ED-4DB2-BD59-A6C34878D82A}">
                        <a16:rowId xmlns:a16="http://schemas.microsoft.com/office/drawing/2014/main" val="20198110"/>
                      </a:ext>
                    </a:extLst>
                  </a:tr>
                  <a:tr h="1828800">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33" t="-101389" r="-100333" b="-694"/>
                          </a:stretch>
                        </a:blipFill>
                      </a:tcPr>
                    </a:tc>
                    <a:tc>
                      <a:txBody>
                        <a:bodyPr/>
                        <a:lstStyle/>
                        <a:p>
                          <a:endParaRPr lang="en-US"/>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333" t="-101389" r="-333" b="-694"/>
                          </a:stretch>
                        </a:blipFill>
                      </a:tcPr>
                    </a:tc>
                    <a:extLst>
                      <a:ext uri="{0D108BD9-81ED-4DB2-BD59-A6C34878D82A}">
                        <a16:rowId xmlns:a16="http://schemas.microsoft.com/office/drawing/2014/main" val="10001"/>
                      </a:ext>
                    </a:extLst>
                  </a:tr>
                </a:tbl>
              </a:graphicData>
            </a:graphic>
          </p:graphicFrame>
        </mc:Fallback>
      </mc:AlternateContent>
      <p:sp>
        <p:nvSpPr>
          <p:cNvPr id="9" name="Google Shape;282;g104476d1465_1_17">
            <a:extLst>
              <a:ext uri="{FF2B5EF4-FFF2-40B4-BE49-F238E27FC236}">
                <a16:creationId xmlns:a16="http://schemas.microsoft.com/office/drawing/2014/main" id="{9992C733-FEA0-5400-6D71-B81533BDB101}"/>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53</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0536F02D-8736-0173-EA8A-DBAB00E47EFB}"/>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011725" y="276197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9" name="Picture 8" descr="Icon&#10;&#10;Description automatically generated">
            <a:extLst>
              <a:ext uri="{FF2B5EF4-FFF2-40B4-BE49-F238E27FC236}">
                <a16:creationId xmlns:a16="http://schemas.microsoft.com/office/drawing/2014/main" id="{758FF271-6581-5740-BCCD-706D33EA7E3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618958" y="2845750"/>
            <a:ext cx="1158150" cy="1158150"/>
          </a:xfrm>
          <a:prstGeom prst="rect">
            <a:avLst/>
          </a:prstGeom>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7A5BC3C9-8EBE-D1B9-5D65-B299EDF9F924}"/>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53</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AD7984EE-14BF-52E6-6632-81AF854DA959}"/>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36341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35836" y="-122556"/>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1.10.4 Your Turn!</a:t>
            </a: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855023" y="1344536"/>
            <a:ext cx="98129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an equivalent expression for each radical expression.</a:t>
            </a:r>
          </a:p>
        </p:txBody>
      </p:sp>
      <p:pic>
        <p:nvPicPr>
          <p:cNvPr id="15" name="Picture 14" descr="Icon&#10;&#10;Description automatically generated">
            <a:extLst>
              <a:ext uri="{FF2B5EF4-FFF2-40B4-BE49-F238E27FC236}">
                <a16:creationId xmlns:a16="http://schemas.microsoft.com/office/drawing/2014/main" id="{2B53F9A7-2434-5D4E-B654-257F5CF1B6B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8535" y="166644"/>
            <a:ext cx="747301" cy="747301"/>
          </a:xfrm>
          <a:prstGeom prst="rect">
            <a:avLst/>
          </a:prstGeom>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D552D4B8-9D1D-C242-875F-E7094A3F8B29}"/>
                  </a:ext>
                </a:extLst>
              </p:cNvPr>
              <p:cNvGraphicFramePr>
                <a:graphicFrameLocks noGrp="1"/>
              </p:cNvGraphicFramePr>
              <p:nvPr>
                <p:extLst>
                  <p:ext uri="{D42A27DB-BD31-4B8C-83A1-F6EECF244321}">
                    <p14:modId xmlns:p14="http://schemas.microsoft.com/office/powerpoint/2010/main" val="389041717"/>
                  </p:ext>
                </p:extLst>
              </p:nvPr>
            </p:nvGraphicFramePr>
            <p:xfrm>
              <a:off x="1435836" y="2598004"/>
              <a:ext cx="7428521" cy="830996"/>
            </p:xfrm>
            <a:graphic>
              <a:graphicData uri="http://schemas.openxmlformats.org/drawingml/2006/table">
                <a:tbl>
                  <a:tblPr firstRow="1" firstCol="1" bandRow="1"/>
                  <a:tblGrid>
                    <a:gridCol w="2475721">
                      <a:extLst>
                        <a:ext uri="{9D8B030D-6E8A-4147-A177-3AD203B41FA5}">
                          <a16:colId xmlns:a16="http://schemas.microsoft.com/office/drawing/2014/main" val="2852088066"/>
                        </a:ext>
                      </a:extLst>
                    </a:gridCol>
                    <a:gridCol w="2476400">
                      <a:extLst>
                        <a:ext uri="{9D8B030D-6E8A-4147-A177-3AD203B41FA5}">
                          <a16:colId xmlns:a16="http://schemas.microsoft.com/office/drawing/2014/main" val="1705531101"/>
                        </a:ext>
                      </a:extLst>
                    </a:gridCol>
                    <a:gridCol w="2476400">
                      <a:extLst>
                        <a:ext uri="{9D8B030D-6E8A-4147-A177-3AD203B41FA5}">
                          <a16:colId xmlns:a16="http://schemas.microsoft.com/office/drawing/2014/main" val="1105065349"/>
                        </a:ext>
                      </a:extLst>
                    </a:gridCol>
                  </a:tblGrid>
                  <a:tr h="830996">
                    <a:tc>
                      <a:txBody>
                        <a:bodyPr/>
                        <a:lstStyle/>
                        <a:p>
                          <a:pPr marL="457200" marR="0" lvl="0" indent="-457200">
                            <a:lnSpc>
                              <a:spcPct val="100000"/>
                            </a:lnSpc>
                            <a:spcBef>
                              <a:spcPts val="600"/>
                            </a:spcBef>
                            <a:spcAft>
                              <a:spcPts val="0"/>
                            </a:spcAft>
                            <a:buFont typeface="+mj-lt"/>
                            <a:buAutoNum type="alphaLcPeriod"/>
                          </a:pPr>
                          <a:r>
                            <a:rPr lang="en-PH" sz="2400" i="0" baseline="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ad>
                                <m:radPr>
                                  <m:degHide m:val="on"/>
                                  <m:ctrlPr>
                                    <a:rPr lang="x-none" sz="24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400" i="1">
                                      <a:effectLst/>
                                      <a:latin typeface="Cambria Math" panose="02040503050406030204" pitchFamily="18" charset="0"/>
                                      <a:ea typeface="Verdana" panose="020B0604030504040204" pitchFamily="34" charset="0"/>
                                      <a:cs typeface="Verdana" panose="020B0604030504040204" pitchFamily="34" charset="0"/>
                                    </a:rPr>
                                    <m:t>9</m:t>
                                  </m:r>
                                </m:e>
                              </m:rad>
                              <m:r>
                                <a:rPr lang="en-US" sz="24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4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400" i="1">
                                      <a:effectLst/>
                                      <a:latin typeface="Cambria Math" panose="02040503050406030204" pitchFamily="18" charset="0"/>
                                      <a:ea typeface="Verdana" panose="020B0604030504040204" pitchFamily="34" charset="0"/>
                                      <a:cs typeface="Verdana" panose="020B0604030504040204" pitchFamily="34" charset="0"/>
                                    </a:rPr>
                                    <m:t>9</m:t>
                                  </m:r>
                                </m:e>
                              </m:rad>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x-none"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a:noFill/>
                        </a:lnL>
                        <a:lnR>
                          <a:noFill/>
                        </a:lnR>
                        <a:lnT>
                          <a:noFill/>
                        </a:lnT>
                        <a:lnB>
                          <a:noFill/>
                        </a:lnB>
                      </a:tcPr>
                    </a:tc>
                    <a:tc>
                      <a:txBody>
                        <a:bodyPr/>
                        <a:lstStyle/>
                        <a:p>
                          <a:pPr marL="457200" marR="0" lvl="0" indent="-457200">
                            <a:lnSpc>
                              <a:spcPct val="107000"/>
                            </a:lnSpc>
                            <a:spcBef>
                              <a:spcPts val="0"/>
                            </a:spcBef>
                            <a:spcAft>
                              <a:spcPts val="0"/>
                            </a:spcAft>
                            <a:buFont typeface="+mj-lt"/>
                            <a:buAutoNum type="alphaLcPeriod" startAt="2"/>
                          </a:pPr>
                          <a:r>
                            <a:rPr lang="en-US" sz="2400" i="0" baseline="0" dirty="0">
                              <a:solidFill>
                                <a:schemeClr val="tx1"/>
                              </a:solidFill>
                              <a:effectLst/>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f>
                                <m:fPr>
                                  <m:ctrlPr>
                                    <a:rPr lang="x-none" sz="2400" i="1">
                                      <a:effectLst/>
                                      <a:latin typeface="Cambria Math" panose="02040503050406030204" pitchFamily="18" charset="0"/>
                                      <a:ea typeface="Verdana" panose="020B0604030504040204" pitchFamily="34" charset="0"/>
                                      <a:cs typeface="Verdana" panose="020B0604030504040204" pitchFamily="34" charset="0"/>
                                    </a:rPr>
                                  </m:ctrlPr>
                                </m:fPr>
                                <m:num>
                                  <m:rad>
                                    <m:radPr>
                                      <m:ctrlPr>
                                        <a:rPr lang="x-none" sz="24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400" i="1">
                                          <a:effectLst/>
                                          <a:latin typeface="Cambria Math" panose="02040503050406030204" pitchFamily="18" charset="0"/>
                                          <a:ea typeface="Verdana" panose="020B0604030504040204" pitchFamily="34" charset="0"/>
                                          <a:cs typeface="Verdana" panose="020B0604030504040204" pitchFamily="34" charset="0"/>
                                        </a:rPr>
                                        <m:t>3</m:t>
                                      </m:r>
                                    </m:deg>
                                    <m:e>
                                      <m:r>
                                        <a:rPr lang="en-US" sz="2400" i="1">
                                          <a:effectLst/>
                                          <a:latin typeface="Cambria Math" panose="02040503050406030204" pitchFamily="18" charset="0"/>
                                          <a:ea typeface="Verdana" panose="020B0604030504040204" pitchFamily="34" charset="0"/>
                                          <a:cs typeface="Verdana" panose="020B0604030504040204" pitchFamily="34" charset="0"/>
                                        </a:rPr>
                                        <m:t>56</m:t>
                                      </m:r>
                                    </m:e>
                                  </m:rad>
                                </m:num>
                                <m:den>
                                  <m:rad>
                                    <m:radPr>
                                      <m:ctrlPr>
                                        <a:rPr lang="x-none" sz="24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400" i="1">
                                          <a:effectLst/>
                                          <a:latin typeface="Cambria Math" panose="02040503050406030204" pitchFamily="18" charset="0"/>
                                          <a:ea typeface="Verdana" panose="020B0604030504040204" pitchFamily="34" charset="0"/>
                                          <a:cs typeface="Verdana" panose="020B0604030504040204" pitchFamily="34" charset="0"/>
                                        </a:rPr>
                                        <m:t>3</m:t>
                                      </m:r>
                                    </m:deg>
                                    <m:e>
                                      <m:r>
                                        <a:rPr lang="en-US" sz="2400" i="1">
                                          <a:effectLst/>
                                          <a:latin typeface="Cambria Math" panose="02040503050406030204" pitchFamily="18" charset="0"/>
                                          <a:ea typeface="Verdana" panose="020B0604030504040204" pitchFamily="34" charset="0"/>
                                          <a:cs typeface="Verdana" panose="020B0604030504040204" pitchFamily="34" charset="0"/>
                                        </a:rPr>
                                        <m:t>77</m:t>
                                      </m:r>
                                    </m:e>
                                  </m:rad>
                                </m:den>
                              </m:f>
                            </m:oMath>
                          </a14:m>
                          <a:r>
                            <a:rPr lang="en-US" sz="2400" dirty="0">
                              <a:effectLst/>
                              <a:latin typeface="Verdana" panose="020B0604030504040204" pitchFamily="34" charset="0"/>
                              <a:ea typeface="Verdana" panose="020B0604030504040204" pitchFamily="34" charset="0"/>
                              <a:cs typeface="Verdana" panose="020B0604030504040204" pitchFamily="34" charset="0"/>
                            </a:rPr>
                            <a:t>                             </a:t>
                          </a:r>
                          <a:endParaRPr lang="x-none"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tc>
                      <a:txBody>
                        <a:bodyPr/>
                        <a:lstStyle/>
                        <a:p>
                          <a:pPr marL="457200" marR="0" lvl="0" indent="-457200">
                            <a:lnSpc>
                              <a:spcPct val="107000"/>
                            </a:lnSpc>
                            <a:spcBef>
                              <a:spcPts val="0"/>
                            </a:spcBef>
                            <a:spcAft>
                              <a:spcPts val="0"/>
                            </a:spcAft>
                            <a:buFont typeface="+mj-lt"/>
                            <a:buAutoNum type="alphaLcPeriod" startAt="3"/>
                          </a:pPr>
                          <a:r>
                            <a:rPr lang="en-US" sz="2400" b="0" dirty="0">
                              <a:effectLst/>
                              <a:ea typeface="Verdana" panose="020B0604030504040204" pitchFamily="34" charset="0"/>
                              <a:cs typeface="Verdana" panose="020B0604030504040204" pitchFamily="34" charset="0"/>
                            </a:rPr>
                            <a:t> </a:t>
                          </a:r>
                          <a14:m>
                            <m:oMath xmlns:m="http://schemas.openxmlformats.org/officeDocument/2006/math">
                              <m:r>
                                <a:rPr lang="en-US" sz="2400" b="0" i="0" smtClean="0">
                                  <a:effectLst/>
                                  <a:latin typeface="Cambria Math" panose="02040503050406030204" pitchFamily="18" charset="0"/>
                                  <a:ea typeface="Verdana" panose="020B0604030504040204" pitchFamily="34" charset="0"/>
                                  <a:cs typeface="Verdana" panose="020B0604030504040204" pitchFamily="34" charset="0"/>
                                </a:rPr>
                                <m:t> </m:t>
                              </m:r>
                              <m:f>
                                <m:fPr>
                                  <m:ctrlPr>
                                    <a:rPr lang="x-none" sz="2400" i="1">
                                      <a:effectLst/>
                                      <a:latin typeface="Cambria Math" panose="02040503050406030204" pitchFamily="18" charset="0"/>
                                      <a:ea typeface="Verdana" panose="020B0604030504040204" pitchFamily="34" charset="0"/>
                                      <a:cs typeface="Verdana" panose="020B0604030504040204" pitchFamily="34" charset="0"/>
                                    </a:rPr>
                                  </m:ctrlPr>
                                </m:fPr>
                                <m:num>
                                  <m:r>
                                    <a:rPr lang="en-US" sz="2400" i="1">
                                      <a:effectLst/>
                                      <a:latin typeface="Cambria Math" panose="02040503050406030204" pitchFamily="18" charset="0"/>
                                      <a:ea typeface="Verdana" panose="020B0604030504040204" pitchFamily="34" charset="0"/>
                                      <a:cs typeface="Verdana" panose="020B0604030504040204" pitchFamily="34" charset="0"/>
                                    </a:rPr>
                                    <m:t>2</m:t>
                                  </m:r>
                                  <m:rad>
                                    <m:radPr>
                                      <m:degHide m:val="on"/>
                                      <m:ctrlPr>
                                        <a:rPr lang="x-none" sz="24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400" i="1">
                                          <a:effectLst/>
                                          <a:latin typeface="Cambria Math" panose="02040503050406030204" pitchFamily="18" charset="0"/>
                                          <a:ea typeface="Verdana" panose="020B0604030504040204" pitchFamily="34" charset="0"/>
                                          <a:cs typeface="Verdana" panose="020B0604030504040204" pitchFamily="34" charset="0"/>
                                        </a:rPr>
                                        <m:t>22</m:t>
                                      </m:r>
                                    </m:e>
                                  </m:rad>
                                </m:num>
                                <m:den>
                                  <m:rad>
                                    <m:radPr>
                                      <m:degHide m:val="on"/>
                                      <m:ctrlPr>
                                        <a:rPr lang="x-none" sz="24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400" i="1">
                                          <a:effectLst/>
                                          <a:latin typeface="Cambria Math" panose="02040503050406030204" pitchFamily="18" charset="0"/>
                                          <a:ea typeface="Verdana" panose="020B0604030504040204" pitchFamily="34" charset="0"/>
                                          <a:cs typeface="Verdana" panose="020B0604030504040204" pitchFamily="34" charset="0"/>
                                        </a:rPr>
                                        <m:t>8</m:t>
                                      </m:r>
                                    </m:e>
                                  </m:rad>
                                </m:den>
                              </m:f>
                            </m:oMath>
                          </a14:m>
                          <a:endParaRPr lang="x-none"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a:noFill/>
                        </a:lnL>
                        <a:lnR>
                          <a:noFill/>
                        </a:lnR>
                        <a:lnT>
                          <a:noFill/>
                        </a:lnT>
                        <a:lnB>
                          <a:noFill/>
                        </a:lnB>
                      </a:tcPr>
                    </a:tc>
                    <a:extLst>
                      <a:ext uri="{0D108BD9-81ED-4DB2-BD59-A6C34878D82A}">
                        <a16:rowId xmlns:a16="http://schemas.microsoft.com/office/drawing/2014/main" val="1194284577"/>
                      </a:ext>
                    </a:extLst>
                  </a:tr>
                </a:tbl>
              </a:graphicData>
            </a:graphic>
          </p:graphicFrame>
        </mc:Choice>
        <mc:Fallback>
          <p:graphicFrame>
            <p:nvGraphicFramePr>
              <p:cNvPr id="3" name="Table 2">
                <a:extLst>
                  <a:ext uri="{FF2B5EF4-FFF2-40B4-BE49-F238E27FC236}">
                    <a16:creationId xmlns:a16="http://schemas.microsoft.com/office/drawing/2014/main" id="{D552D4B8-9D1D-C242-875F-E7094A3F8B29}"/>
                  </a:ext>
                </a:extLst>
              </p:cNvPr>
              <p:cNvGraphicFramePr>
                <a:graphicFrameLocks noGrp="1"/>
              </p:cNvGraphicFramePr>
              <p:nvPr>
                <p:extLst>
                  <p:ext uri="{D42A27DB-BD31-4B8C-83A1-F6EECF244321}">
                    <p14:modId xmlns:p14="http://schemas.microsoft.com/office/powerpoint/2010/main" val="389041717"/>
                  </p:ext>
                </p:extLst>
              </p:nvPr>
            </p:nvGraphicFramePr>
            <p:xfrm>
              <a:off x="1435836" y="2598004"/>
              <a:ext cx="7428521" cy="830996"/>
            </p:xfrm>
            <a:graphic>
              <a:graphicData uri="http://schemas.openxmlformats.org/drawingml/2006/table">
                <a:tbl>
                  <a:tblPr firstRow="1" firstCol="1" bandRow="1"/>
                  <a:tblGrid>
                    <a:gridCol w="2475721">
                      <a:extLst>
                        <a:ext uri="{9D8B030D-6E8A-4147-A177-3AD203B41FA5}">
                          <a16:colId xmlns:a16="http://schemas.microsoft.com/office/drawing/2014/main" val="2852088066"/>
                        </a:ext>
                      </a:extLst>
                    </a:gridCol>
                    <a:gridCol w="2476400">
                      <a:extLst>
                        <a:ext uri="{9D8B030D-6E8A-4147-A177-3AD203B41FA5}">
                          <a16:colId xmlns:a16="http://schemas.microsoft.com/office/drawing/2014/main" val="1705531101"/>
                        </a:ext>
                      </a:extLst>
                    </a:gridCol>
                    <a:gridCol w="2476400">
                      <a:extLst>
                        <a:ext uri="{9D8B030D-6E8A-4147-A177-3AD203B41FA5}">
                          <a16:colId xmlns:a16="http://schemas.microsoft.com/office/drawing/2014/main" val="1105065349"/>
                        </a:ext>
                      </a:extLst>
                    </a:gridCol>
                  </a:tblGrid>
                  <a:tr h="830996">
                    <a:tc>
                      <a:txBody>
                        <a:bodyPr/>
                        <a:lstStyle/>
                        <a:p>
                          <a:endParaRPr lang="en-US"/>
                        </a:p>
                      </a:txBody>
                      <a:tcPr marL="68580" marR="68580" marT="0" marB="0" anchor="ctr">
                        <a:lnL>
                          <a:noFill/>
                        </a:lnL>
                        <a:lnR>
                          <a:noFill/>
                        </a:lnR>
                        <a:lnT>
                          <a:noFill/>
                        </a:lnT>
                        <a:lnB>
                          <a:noFill/>
                        </a:lnB>
                        <a:blipFill>
                          <a:blip r:embed="rId4"/>
                          <a:stretch>
                            <a:fillRect r="-199754"/>
                          </a:stretch>
                        </a:blipFill>
                      </a:tcPr>
                    </a:tc>
                    <a:tc>
                      <a:txBody>
                        <a:bodyPr/>
                        <a:lstStyle/>
                        <a:p>
                          <a:endParaRPr lang="en-US"/>
                        </a:p>
                      </a:txBody>
                      <a:tcPr marL="68580" marR="68580" marT="0" marB="0">
                        <a:lnL>
                          <a:noFill/>
                        </a:lnL>
                        <a:lnR>
                          <a:noFill/>
                        </a:lnR>
                        <a:lnT>
                          <a:noFill/>
                        </a:lnT>
                        <a:lnB>
                          <a:noFill/>
                        </a:lnB>
                        <a:blipFill>
                          <a:blip r:embed="rId4"/>
                          <a:stretch>
                            <a:fillRect l="-100246" r="-100246"/>
                          </a:stretch>
                        </a:blipFill>
                      </a:tcPr>
                    </a:tc>
                    <a:tc>
                      <a:txBody>
                        <a:bodyPr/>
                        <a:lstStyle/>
                        <a:p>
                          <a:endParaRPr lang="en-US"/>
                        </a:p>
                      </a:txBody>
                      <a:tcPr marL="68580" marR="68580" marT="0" marB="0">
                        <a:lnL>
                          <a:noFill/>
                        </a:lnL>
                        <a:lnR>
                          <a:noFill/>
                        </a:lnR>
                        <a:lnT>
                          <a:noFill/>
                        </a:lnT>
                        <a:lnB>
                          <a:noFill/>
                        </a:lnB>
                        <a:blipFill>
                          <a:blip r:embed="rId4"/>
                          <a:stretch>
                            <a:fillRect l="-199754"/>
                          </a:stretch>
                        </a:blipFill>
                      </a:tcPr>
                    </a:tc>
                    <a:extLst>
                      <a:ext uri="{0D108BD9-81ED-4DB2-BD59-A6C34878D82A}">
                        <a16:rowId xmlns:a16="http://schemas.microsoft.com/office/drawing/2014/main" val="1194284577"/>
                      </a:ext>
                    </a:extLst>
                  </a:tr>
                </a:tbl>
              </a:graphicData>
            </a:graphic>
          </p:graphicFrame>
        </mc:Fallback>
      </mc:AlternateContent>
      <p:sp>
        <p:nvSpPr>
          <p:cNvPr id="9" name="Google Shape;282;g104476d1465_1_17">
            <a:extLst>
              <a:ext uri="{FF2B5EF4-FFF2-40B4-BE49-F238E27FC236}">
                <a16:creationId xmlns:a16="http://schemas.microsoft.com/office/drawing/2014/main" id="{89CCBB44-A5EA-9B34-7886-2BFFC42965B0}"/>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53</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44D873FA-DE03-FFB0-534D-303B41BDC6F5}"/>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8071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365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0DF6523C-A429-FF41-87E5-33EFE902A358}"/>
                  </a:ext>
                </a:extLst>
              </p:cNvPr>
              <p:cNvSpPr>
                <a:spLocks noChangeArrowheads="1"/>
              </p:cNvSpPr>
              <p:nvPr/>
            </p:nvSpPr>
            <p:spPr bwMode="auto">
              <a:xfrm>
                <a:off x="843148" y="363906"/>
                <a:ext cx="9850251" cy="321633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a:lnSpc>
                    <a:spcPct val="107000"/>
                  </a:lnSpc>
                  <a:buFont typeface="+mj-lt"/>
                  <a:buAutoNum type="arabicPeriod" startAt="2"/>
                </a:pPr>
                <a:r>
                  <a:rPr lang="en-US" sz="2400" dirty="0" err="1">
                    <a:latin typeface="Verdana" panose="020B0604030504040204" pitchFamily="34" charset="0"/>
                    <a:ea typeface="Verdana" panose="020B0604030504040204" pitchFamily="34" charset="0"/>
                    <a:cs typeface="Verdana" panose="020B0604030504040204" pitchFamily="34" charset="0"/>
                  </a:rPr>
                  <a:t>Anjelica</a:t>
                </a:r>
                <a:r>
                  <a:rPr lang="en-US" sz="2400" dirty="0">
                    <a:latin typeface="Verdana" panose="020B0604030504040204" pitchFamily="34" charset="0"/>
                    <a:ea typeface="Verdana" panose="020B0604030504040204" pitchFamily="34" charset="0"/>
                    <a:cs typeface="Verdana" panose="020B0604030504040204" pitchFamily="34" charset="0"/>
                  </a:rPr>
                  <a:t> was asked to rewrite the expression</a:t>
                </a:r>
                <a14:m>
                  <m:oMath xmlns:m="http://schemas.openxmlformats.org/officeDocument/2006/math">
                    <m:r>
                      <a:rPr lang="en-US" sz="2400" i="1">
                        <a:latin typeface="Cambria Math" panose="02040503050406030204" pitchFamily="18" charset="0"/>
                        <a:ea typeface="Verdana" panose="020B0604030504040204" pitchFamily="34" charset="0"/>
                        <a:cs typeface="Verdana" panose="020B0604030504040204" pitchFamily="34" charset="0"/>
                      </a:rPr>
                      <m:t> </m:t>
                    </m:r>
                    <m:f>
                      <m:fPr>
                        <m:ctrlPr>
                          <a:rPr lang="x-none" sz="2400" i="1">
                            <a:latin typeface="Cambria Math" panose="02040503050406030204" pitchFamily="18" charset="0"/>
                            <a:ea typeface="Verdana" panose="020B0604030504040204" pitchFamily="34" charset="0"/>
                            <a:cs typeface="Cambria Math" panose="02040503050406030204" pitchFamily="18" charset="0"/>
                          </a:rPr>
                        </m:ctrlPr>
                      </m:fPr>
                      <m:num>
                        <m:rad>
                          <m:radPr>
                            <m:ctrlPr>
                              <a:rPr lang="x-none" sz="2400" i="1">
                                <a:latin typeface="Cambria Math" panose="02040503050406030204" pitchFamily="18" charset="0"/>
                                <a:ea typeface="Verdana" panose="020B0604030504040204" pitchFamily="34" charset="0"/>
                                <a:cs typeface="Cambria Math" panose="02040503050406030204" pitchFamily="18" charset="0"/>
                              </a:rPr>
                            </m:ctrlPr>
                          </m:radPr>
                          <m:deg>
                            <m:r>
                              <a:rPr lang="en-US" sz="2400" i="1">
                                <a:latin typeface="Cambria Math" panose="02040503050406030204" pitchFamily="18" charset="0"/>
                                <a:ea typeface="Verdana" panose="020B0604030504040204" pitchFamily="34" charset="0"/>
                                <a:cs typeface="Cambria Math" panose="02040503050406030204" pitchFamily="18" charset="0"/>
                              </a:rPr>
                              <m:t>3</m:t>
                            </m:r>
                          </m:deg>
                          <m:e>
                            <m:r>
                              <a:rPr lang="en-US" sz="2400" i="1">
                                <a:latin typeface="Cambria Math" panose="02040503050406030204" pitchFamily="18" charset="0"/>
                                <a:ea typeface="Verdana" panose="020B0604030504040204" pitchFamily="34" charset="0"/>
                                <a:cs typeface="Cambria Math" panose="02040503050406030204" pitchFamily="18" charset="0"/>
                              </a:rPr>
                              <m:t>264</m:t>
                            </m:r>
                          </m:e>
                        </m:rad>
                      </m:num>
                      <m:den>
                        <m:rad>
                          <m:radPr>
                            <m:ctrlPr>
                              <a:rPr lang="x-none" sz="2400" i="1">
                                <a:latin typeface="Cambria Math" panose="02040503050406030204" pitchFamily="18" charset="0"/>
                                <a:ea typeface="Verdana" panose="020B0604030504040204" pitchFamily="34" charset="0"/>
                                <a:cs typeface="Cambria Math" panose="02040503050406030204" pitchFamily="18" charset="0"/>
                              </a:rPr>
                            </m:ctrlPr>
                          </m:radPr>
                          <m:deg>
                            <m:r>
                              <a:rPr lang="en-US" sz="2400" i="1">
                                <a:latin typeface="Cambria Math" panose="02040503050406030204" pitchFamily="18" charset="0"/>
                                <a:ea typeface="Verdana" panose="020B0604030504040204" pitchFamily="34" charset="0"/>
                                <a:cs typeface="Cambria Math" panose="02040503050406030204" pitchFamily="18" charset="0"/>
                              </a:rPr>
                              <m:t>3</m:t>
                            </m:r>
                          </m:deg>
                          <m:e>
                            <m:r>
                              <a:rPr lang="en-US" sz="2400" i="1">
                                <a:latin typeface="Cambria Math" panose="02040503050406030204" pitchFamily="18" charset="0"/>
                                <a:ea typeface="Verdana" panose="020B0604030504040204" pitchFamily="34" charset="0"/>
                                <a:cs typeface="Cambria Math" panose="02040503050406030204" pitchFamily="18" charset="0"/>
                              </a:rPr>
                              <m:t>81</m:t>
                            </m:r>
                          </m:e>
                        </m:rad>
                      </m:den>
                    </m:f>
                  </m:oMath>
                </a14:m>
                <a:r>
                  <a:rPr lang="en-US" sz="2400" dirty="0">
                    <a:latin typeface="Verdana" panose="020B0604030504040204" pitchFamily="34" charset="0"/>
                    <a:ea typeface="Verdana" panose="020B0604030504040204" pitchFamily="34" charset="0"/>
                    <a:cs typeface="Verdana" panose="020B0604030504040204" pitchFamily="34" charset="0"/>
                  </a:rPr>
                  <a:t>. Anjelica’s work is shown. Write an explanation to Anjelica describing why her problem is incorrect. Then, show how to correctly work the problem. </a:t>
                </a:r>
                <a:endParaRPr lang="x-none" sz="2400" dirty="0">
                  <a:latin typeface="Verdana" pitchFamily="34" charset="0"/>
                  <a:ea typeface="Verdana" pitchFamily="34" charset="0"/>
                  <a:cs typeface="Cambria Math" panose="02040503050406030204" pitchFamily="18" charset="0"/>
                </a:endParaRPr>
              </a:p>
              <a:p>
                <a:pPr marL="457200">
                  <a:lnSpc>
                    <a:spcPct val="107000"/>
                  </a:lnSpc>
                </a:pPr>
                <a:r>
                  <a:rPr lang="en-US" sz="2400" dirty="0">
                    <a:latin typeface="Verdana" panose="020B0604030504040204" pitchFamily="34" charset="0"/>
                    <a:ea typeface="Verdana" panose="020B0604030504040204" pitchFamily="34" charset="0"/>
                    <a:cs typeface="Verdana" panose="020B0604030504040204" pitchFamily="34" charset="0"/>
                  </a:rPr>
                  <a:t> </a:t>
                </a:r>
                <a:endParaRPr lang="x-none" sz="2400" dirty="0">
                  <a:latin typeface="Verdana" pitchFamily="34" charset="0"/>
                  <a:ea typeface="Verdana" pitchFamily="34" charset="0"/>
                  <a:cs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ad>
                            <m:radPr>
                              <m:ctrlPr>
                                <a:rPr lang="x-none" sz="2400" i="1">
                                  <a:latin typeface="Cambria Math" panose="02040503050406030204" pitchFamily="18" charset="0"/>
                                  <a:ea typeface="Verdana" panose="020B0604030504040204" pitchFamily="34" charset="0"/>
                                  <a:cs typeface="Verdana" panose="020B0604030504040204" pitchFamily="34" charset="0"/>
                                </a:rPr>
                              </m:ctrlPr>
                            </m:radPr>
                            <m:deg>
                              <m:r>
                                <a:rPr lang="en-US" sz="2400" i="1">
                                  <a:latin typeface="Cambria Math" panose="02040503050406030204" pitchFamily="18" charset="0"/>
                                  <a:ea typeface="Verdana" panose="020B0604030504040204" pitchFamily="34" charset="0"/>
                                  <a:cs typeface="Verdana" panose="020B0604030504040204" pitchFamily="34" charset="0"/>
                                </a:rPr>
                                <m:t>3</m:t>
                              </m:r>
                            </m:deg>
                            <m:e>
                              <m:r>
                                <a:rPr lang="en-US" sz="2400" i="1">
                                  <a:latin typeface="Cambria Math" panose="02040503050406030204" pitchFamily="18" charset="0"/>
                                  <a:ea typeface="Verdana" panose="020B0604030504040204" pitchFamily="34" charset="0"/>
                                  <a:cs typeface="Verdana" panose="020B0604030504040204" pitchFamily="34" charset="0"/>
                                </a:rPr>
                                <m:t>264</m:t>
                              </m:r>
                            </m:e>
                          </m:rad>
                        </m:num>
                        <m:den>
                          <m:rad>
                            <m:radPr>
                              <m:ctrlPr>
                                <a:rPr lang="x-none" sz="2400" i="1">
                                  <a:latin typeface="Cambria Math" panose="02040503050406030204" pitchFamily="18" charset="0"/>
                                  <a:ea typeface="Verdana" panose="020B0604030504040204" pitchFamily="34" charset="0"/>
                                  <a:cs typeface="Verdana" panose="020B0604030504040204" pitchFamily="34" charset="0"/>
                                </a:rPr>
                              </m:ctrlPr>
                            </m:radPr>
                            <m:deg>
                              <m:r>
                                <a:rPr lang="en-US" sz="2400" i="1">
                                  <a:latin typeface="Cambria Math" panose="02040503050406030204" pitchFamily="18" charset="0"/>
                                  <a:ea typeface="Verdana" panose="020B0604030504040204" pitchFamily="34" charset="0"/>
                                  <a:cs typeface="Verdana" panose="020B0604030504040204" pitchFamily="34" charset="0"/>
                                </a:rPr>
                                <m:t>3</m:t>
                              </m:r>
                            </m:deg>
                            <m:e>
                              <m:r>
                                <a:rPr lang="en-US" sz="2400" i="1">
                                  <a:latin typeface="Cambria Math" panose="02040503050406030204" pitchFamily="18" charset="0"/>
                                  <a:ea typeface="Verdana" panose="020B0604030504040204" pitchFamily="34" charset="0"/>
                                  <a:cs typeface="Verdana" panose="020B0604030504040204" pitchFamily="34" charset="0"/>
                                </a:rPr>
                                <m:t>81</m:t>
                              </m:r>
                            </m:e>
                          </m:rad>
                        </m:den>
                      </m:f>
                      <m:r>
                        <a:rPr lang="en-US" sz="2400" i="1">
                          <a:latin typeface="Cambria Math" panose="02040503050406030204" pitchFamily="18" charset="0"/>
                          <a:ea typeface="Verdana" panose="020B0604030504040204" pitchFamily="34" charset="0"/>
                          <a:cs typeface="Verdana" panose="020B0604030504040204" pitchFamily="34" charset="0"/>
                        </a:rPr>
                        <m:t>=</m:t>
                      </m:r>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ad>
                            <m:radPr>
                              <m:ctrlPr>
                                <a:rPr lang="x-none" sz="2400" i="1">
                                  <a:latin typeface="Cambria Math" panose="02040503050406030204" pitchFamily="18" charset="0"/>
                                  <a:ea typeface="Verdana" panose="020B0604030504040204" pitchFamily="34" charset="0"/>
                                  <a:cs typeface="Verdana" panose="020B0604030504040204" pitchFamily="34" charset="0"/>
                                </a:rPr>
                              </m:ctrlPr>
                            </m:radPr>
                            <m:deg>
                              <m:r>
                                <a:rPr lang="en-US" sz="2400" i="1">
                                  <a:latin typeface="Cambria Math" panose="02040503050406030204" pitchFamily="18" charset="0"/>
                                  <a:ea typeface="Verdana" panose="020B0604030504040204" pitchFamily="34" charset="0"/>
                                  <a:cs typeface="Verdana" panose="020B0604030504040204" pitchFamily="34" charset="0"/>
                                </a:rPr>
                                <m:t>3</m:t>
                              </m:r>
                            </m:deg>
                            <m:e>
                              <m:r>
                                <a:rPr lang="en-US" sz="2400" i="1">
                                  <a:latin typeface="Cambria Math" panose="02040503050406030204" pitchFamily="18" charset="0"/>
                                  <a:ea typeface="Verdana" panose="020B0604030504040204" pitchFamily="34" charset="0"/>
                                  <a:cs typeface="Verdana" panose="020B0604030504040204" pitchFamily="34" charset="0"/>
                                </a:rPr>
                                <m:t>8∙33</m:t>
                              </m:r>
                            </m:e>
                          </m:rad>
                        </m:num>
                        <m:den>
                          <m:rad>
                            <m:radPr>
                              <m:ctrlPr>
                                <a:rPr lang="x-none" sz="2400" i="1">
                                  <a:latin typeface="Cambria Math" panose="02040503050406030204" pitchFamily="18" charset="0"/>
                                  <a:ea typeface="Verdana" panose="020B0604030504040204" pitchFamily="34" charset="0"/>
                                  <a:cs typeface="Verdana" panose="020B0604030504040204" pitchFamily="34" charset="0"/>
                                </a:rPr>
                              </m:ctrlPr>
                            </m:radPr>
                            <m:deg>
                              <m:r>
                                <a:rPr lang="en-US" sz="2400" i="1">
                                  <a:latin typeface="Cambria Math" panose="02040503050406030204" pitchFamily="18" charset="0"/>
                                  <a:ea typeface="Verdana" panose="020B0604030504040204" pitchFamily="34" charset="0"/>
                                  <a:cs typeface="Verdana" panose="020B0604030504040204" pitchFamily="34" charset="0"/>
                                </a:rPr>
                                <m:t>3</m:t>
                              </m:r>
                            </m:deg>
                            <m:e>
                              <m:r>
                                <a:rPr lang="en-US" sz="2400" i="1">
                                  <a:latin typeface="Cambria Math" panose="02040503050406030204" pitchFamily="18" charset="0"/>
                                  <a:ea typeface="Verdana" panose="020B0604030504040204" pitchFamily="34" charset="0"/>
                                  <a:cs typeface="Verdana" panose="020B0604030504040204" pitchFamily="34" charset="0"/>
                                </a:rPr>
                                <m:t>9∙9</m:t>
                              </m:r>
                            </m:e>
                          </m:rad>
                        </m:den>
                      </m:f>
                      <m:r>
                        <a:rPr lang="en-US" sz="2400" i="1">
                          <a:latin typeface="Cambria Math" panose="02040503050406030204" pitchFamily="18" charset="0"/>
                          <a:ea typeface="Verdana" panose="020B0604030504040204" pitchFamily="34" charset="0"/>
                          <a:cs typeface="Verdana" panose="020B0604030504040204" pitchFamily="34" charset="0"/>
                        </a:rPr>
                        <m:t>=</m:t>
                      </m:r>
                      <m:f>
                        <m:fPr>
                          <m:ctrlPr>
                            <a:rPr lang="x-none" sz="2400" i="1">
                              <a:latin typeface="Cambria Math" panose="02040503050406030204" pitchFamily="18" charset="0"/>
                              <a:ea typeface="Verdana" panose="020B0604030504040204" pitchFamily="34" charset="0"/>
                              <a:cs typeface="Verdana" panose="020B0604030504040204" pitchFamily="34" charset="0"/>
                            </a:rPr>
                          </m:ctrlPr>
                        </m:fPr>
                        <m:num>
                          <m:r>
                            <a:rPr lang="en-US" sz="2400" i="1">
                              <a:latin typeface="Cambria Math" panose="02040503050406030204" pitchFamily="18" charset="0"/>
                              <a:ea typeface="Verdana" panose="020B0604030504040204" pitchFamily="34" charset="0"/>
                              <a:cs typeface="Verdana" panose="020B0604030504040204" pitchFamily="34" charset="0"/>
                            </a:rPr>
                            <m:t>2</m:t>
                          </m:r>
                          <m:rad>
                            <m:radPr>
                              <m:ctrlPr>
                                <a:rPr lang="x-none" sz="2400" i="1">
                                  <a:latin typeface="Cambria Math" panose="02040503050406030204" pitchFamily="18" charset="0"/>
                                  <a:ea typeface="Verdana" panose="020B0604030504040204" pitchFamily="34" charset="0"/>
                                  <a:cs typeface="Verdana" panose="020B0604030504040204" pitchFamily="34" charset="0"/>
                                </a:rPr>
                              </m:ctrlPr>
                            </m:radPr>
                            <m:deg>
                              <m:r>
                                <a:rPr lang="en-US" sz="2400" i="1">
                                  <a:latin typeface="Cambria Math" panose="02040503050406030204" pitchFamily="18" charset="0"/>
                                  <a:ea typeface="Verdana" panose="020B0604030504040204" pitchFamily="34" charset="0"/>
                                  <a:cs typeface="Verdana" panose="020B0604030504040204" pitchFamily="34" charset="0"/>
                                </a:rPr>
                                <m:t>3</m:t>
                              </m:r>
                            </m:deg>
                            <m:e>
                              <m:r>
                                <a:rPr lang="en-US" sz="2400" i="1">
                                  <a:latin typeface="Cambria Math" panose="02040503050406030204" pitchFamily="18" charset="0"/>
                                  <a:ea typeface="Verdana" panose="020B0604030504040204" pitchFamily="34" charset="0"/>
                                  <a:cs typeface="Verdana" panose="020B0604030504040204" pitchFamily="34" charset="0"/>
                                </a:rPr>
                                <m:t>33</m:t>
                              </m:r>
                            </m:e>
                          </m:rad>
                        </m:num>
                        <m:den>
                          <m:r>
                            <a:rPr lang="en-US" sz="2400" i="1">
                              <a:latin typeface="Cambria Math" panose="02040503050406030204" pitchFamily="18" charset="0"/>
                              <a:ea typeface="Verdana" panose="020B0604030504040204" pitchFamily="34" charset="0"/>
                              <a:cs typeface="Verdana" panose="020B0604030504040204" pitchFamily="34" charset="0"/>
                            </a:rPr>
                            <m:t>9</m:t>
                          </m:r>
                        </m:den>
                      </m:f>
                    </m:oMath>
                  </m:oMathPara>
                </a14:m>
                <a:endParaRPr lang="en-US" altLang="en-US" sz="2400" dirty="0">
                  <a:solidFill>
                    <a:schemeClr val="tx1"/>
                  </a:solidFill>
                  <a:latin typeface="Verdana" panose="020B0604030504040204" pitchFamily="34" charset="0"/>
                  <a:ea typeface="Verdana" pitchFamily="34" charset="0"/>
                  <a:cs typeface="Times New Roman" panose="02020603050405020304" pitchFamily="18" charset="0"/>
                </a:endParaRPr>
              </a:p>
            </p:txBody>
          </p:sp>
        </mc:Choice>
        <mc:Fallback>
          <p:sp>
            <p:nvSpPr>
              <p:cNvPr id="6" name="Rectangle 5">
                <a:extLst>
                  <a:ext uri="{FF2B5EF4-FFF2-40B4-BE49-F238E27FC236}">
                    <a16:creationId xmlns:a16="http://schemas.microsoft.com/office/drawing/2014/main" id="{0DF6523C-A429-FF41-87E5-33EFE902A358}"/>
                  </a:ext>
                </a:extLst>
              </p:cNvPr>
              <p:cNvSpPr>
                <a:spLocks noRot="1" noChangeAspect="1" noMove="1" noResize="1" noEditPoints="1" noAdjustHandles="1" noChangeArrowheads="1" noChangeShapeType="1" noTextEdit="1"/>
              </p:cNvSpPr>
              <p:nvPr/>
            </p:nvSpPr>
            <p:spPr bwMode="auto">
              <a:xfrm>
                <a:off x="843148" y="363906"/>
                <a:ext cx="9850251" cy="3216330"/>
              </a:xfrm>
              <a:prstGeom prst="rect">
                <a:avLst/>
              </a:prstGeom>
              <a:blipFill>
                <a:blip r:embed="rId3"/>
                <a:stretch>
                  <a:fillRect l="-928" r="-160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1D4F45CC-D054-F4D9-7392-6E75D1250B1F}"/>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53</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0F76AD6C-4762-F4DA-7F2A-456D6F104E5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91940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77970" y="-405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640739" y="277909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3297219" y="2933693"/>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FA32E94C-C941-DE6E-620F-4DD894D455BB}"/>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54</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8A4AB259-BF7F-F7A5-7A0B-FEF88BA3361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761503" y="147379"/>
            <a:ext cx="8906496" cy="747299"/>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1.10.5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777364" y="194036"/>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866899" y="1096038"/>
            <a:ext cx="10224654" cy="1446550"/>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Color in the arrow up to the statement that best describes your current understanding of the following.</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447675"/>
            <a:r>
              <a:rPr lang="en-US" sz="2200" dirty="0">
                <a:latin typeface="Verdana" panose="020B0604030504040204" pitchFamily="34" charset="0"/>
                <a:ea typeface="Times New Roman" panose="02020603050405020304" pitchFamily="18" charset="0"/>
                <a:cs typeface="Times New Roman" panose="02020603050405020304" pitchFamily="18" charset="0"/>
              </a:rPr>
              <a:t>I can multiply and divide two square roots or two cube roots.</a:t>
            </a:r>
          </a:p>
        </p:txBody>
      </p:sp>
      <p:graphicFrame>
        <p:nvGraphicFramePr>
          <p:cNvPr id="5" name="Table 4">
            <a:extLst>
              <a:ext uri="{FF2B5EF4-FFF2-40B4-BE49-F238E27FC236}">
                <a16:creationId xmlns:a16="http://schemas.microsoft.com/office/drawing/2014/main" id="{00BD58B8-036F-EA43-8E8A-E45E8F5EA187}"/>
              </a:ext>
            </a:extLst>
          </p:cNvPr>
          <p:cNvGraphicFramePr>
            <a:graphicFrameLocks noGrp="1"/>
          </p:cNvGraphicFramePr>
          <p:nvPr>
            <p:extLst>
              <p:ext uri="{D42A27DB-BD31-4B8C-83A1-F6EECF244321}">
                <p14:modId xmlns:p14="http://schemas.microsoft.com/office/powerpoint/2010/main" val="477211168"/>
              </p:ext>
            </p:extLst>
          </p:nvPr>
        </p:nvGraphicFramePr>
        <p:xfrm>
          <a:off x="2214317" y="2866573"/>
          <a:ext cx="7283073" cy="3686495"/>
        </p:xfrm>
        <a:graphic>
          <a:graphicData uri="http://schemas.openxmlformats.org/drawingml/2006/table">
            <a:tbl>
              <a:tblPr firstRow="1" firstCol="1" bandRow="1"/>
              <a:tblGrid>
                <a:gridCol w="970330">
                  <a:extLst>
                    <a:ext uri="{9D8B030D-6E8A-4147-A177-3AD203B41FA5}">
                      <a16:colId xmlns:a16="http://schemas.microsoft.com/office/drawing/2014/main" val="1802067427"/>
                    </a:ext>
                  </a:extLst>
                </a:gridCol>
                <a:gridCol w="6312743">
                  <a:extLst>
                    <a:ext uri="{9D8B030D-6E8A-4147-A177-3AD203B41FA5}">
                      <a16:colId xmlns:a16="http://schemas.microsoft.com/office/drawing/2014/main" val="3561010876"/>
                    </a:ext>
                  </a:extLst>
                </a:gridCol>
              </a:tblGrid>
              <a:tr h="601448">
                <a:tc>
                  <a:txBody>
                    <a:bodyPr/>
                    <a:lstStyle/>
                    <a:p>
                      <a:pPr marL="0" marR="0">
                        <a:lnSpc>
                          <a:spcPct val="107000"/>
                        </a:lnSpc>
                        <a:spcBef>
                          <a:spcPts val="0"/>
                        </a:spcBef>
                        <a:spcAft>
                          <a:spcPts val="0"/>
                        </a:spcAft>
                      </a:pPr>
                      <a:r>
                        <a:rPr lang="en-US" sz="1400" dirty="0">
                          <a:effectLst/>
                          <a:latin typeface="Verdana" panose="020B0604030504040204" pitchFamily="34" charset="0"/>
                          <a:ea typeface="Cambria Math" panose="02040503050406030204" pitchFamily="18" charset="0"/>
                          <a:cs typeface="Cambria Math" panose="02040503050406030204" pitchFamily="18" charset="0"/>
                        </a:rPr>
                        <a:t> </a:t>
                      </a:r>
                      <a:endParaRPr lang="x-none" sz="12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0">
                    <a:lnL>
                      <a:noFill/>
                    </a:lnL>
                    <a:lnR>
                      <a:noFill/>
                    </a:lnR>
                    <a:lnT>
                      <a:noFill/>
                    </a:lnT>
                    <a:lnB>
                      <a:noFill/>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Cambria Math" panose="02040503050406030204" pitchFamily="18" charset="0"/>
                          <a:cs typeface="Cambria Math" panose="02040503050406030204" pitchFamily="18" charset="0"/>
                        </a:rPr>
                        <a:t>I am so confident; I could explain this to someone else!</a:t>
                      </a:r>
                      <a:endParaRPr lang="x-none"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137160">
                    <a:lnL>
                      <a:noFill/>
                    </a:lnL>
                    <a:lnR>
                      <a:noFill/>
                    </a:lnR>
                    <a:lnT>
                      <a:noFill/>
                    </a:lnT>
                    <a:lnB>
                      <a:noFill/>
                    </a:lnB>
                  </a:tcPr>
                </a:tc>
                <a:extLst>
                  <a:ext uri="{0D108BD9-81ED-4DB2-BD59-A6C34878D82A}">
                    <a16:rowId xmlns:a16="http://schemas.microsoft.com/office/drawing/2014/main" val="1842051467"/>
                  </a:ext>
                </a:extLst>
              </a:tr>
              <a:tr h="601448">
                <a:tc>
                  <a:txBody>
                    <a:bodyPr/>
                    <a:lstStyle/>
                    <a:p>
                      <a:pPr marL="0" marR="0">
                        <a:lnSpc>
                          <a:spcPct val="107000"/>
                        </a:lnSpc>
                        <a:spcBef>
                          <a:spcPts val="0"/>
                        </a:spcBef>
                        <a:spcAft>
                          <a:spcPts val="0"/>
                        </a:spcAft>
                      </a:pPr>
                      <a:r>
                        <a:rPr lang="en-US" sz="1400">
                          <a:effectLst/>
                          <a:latin typeface="Verdana" panose="020B0604030504040204" pitchFamily="34" charset="0"/>
                          <a:ea typeface="Cambria Math" panose="02040503050406030204" pitchFamily="18" charset="0"/>
                          <a:cs typeface="Cambria Math" panose="02040503050406030204" pitchFamily="18" charset="0"/>
                        </a:rPr>
                        <a:t> </a:t>
                      </a:r>
                      <a:endParaRPr lang="x-none" sz="12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0">
                    <a:lnL>
                      <a:noFill/>
                    </a:lnL>
                    <a:lnR>
                      <a:noFill/>
                    </a:lnR>
                    <a:lnT>
                      <a:noFill/>
                    </a:lnT>
                    <a:lnB>
                      <a:noFill/>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Cambria Math" panose="02040503050406030204" pitchFamily="18" charset="0"/>
                          <a:cs typeface="Cambria Math" panose="02040503050406030204" pitchFamily="18" charset="0"/>
                        </a:rPr>
                        <a:t>I can get to the right answer, but I do not understand well enough to explain it yet.</a:t>
                      </a:r>
                      <a:endParaRPr lang="x-none"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137160">
                    <a:lnL>
                      <a:noFill/>
                    </a:lnL>
                    <a:lnR>
                      <a:noFill/>
                    </a:lnR>
                    <a:lnT>
                      <a:noFill/>
                    </a:lnT>
                    <a:lnB>
                      <a:noFill/>
                    </a:lnB>
                  </a:tcPr>
                </a:tc>
                <a:extLst>
                  <a:ext uri="{0D108BD9-81ED-4DB2-BD59-A6C34878D82A}">
                    <a16:rowId xmlns:a16="http://schemas.microsoft.com/office/drawing/2014/main" val="501864041"/>
                  </a:ext>
                </a:extLst>
              </a:tr>
              <a:tr h="601448">
                <a:tc>
                  <a:txBody>
                    <a:bodyPr/>
                    <a:lstStyle/>
                    <a:p>
                      <a:pPr marL="0" marR="0">
                        <a:lnSpc>
                          <a:spcPct val="107000"/>
                        </a:lnSpc>
                        <a:spcBef>
                          <a:spcPts val="0"/>
                        </a:spcBef>
                        <a:spcAft>
                          <a:spcPts val="0"/>
                        </a:spcAft>
                      </a:pPr>
                      <a:r>
                        <a:rPr lang="en-US" sz="1400">
                          <a:effectLst/>
                          <a:latin typeface="Verdana" panose="020B0604030504040204" pitchFamily="34" charset="0"/>
                          <a:ea typeface="Cambria Math" panose="02040503050406030204" pitchFamily="18" charset="0"/>
                          <a:cs typeface="Cambria Math" panose="02040503050406030204" pitchFamily="18" charset="0"/>
                        </a:rPr>
                        <a:t> </a:t>
                      </a:r>
                      <a:endParaRPr lang="x-none" sz="12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0">
                    <a:lnL>
                      <a:noFill/>
                    </a:lnL>
                    <a:lnR>
                      <a:noFill/>
                    </a:lnR>
                    <a:lnT>
                      <a:noFill/>
                    </a:lnT>
                    <a:lnB>
                      <a:noFill/>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Cambria Math" panose="02040503050406030204" pitchFamily="18" charset="0"/>
                          <a:cs typeface="Cambria Math" panose="02040503050406030204" pitchFamily="18" charset="0"/>
                        </a:rPr>
                        <a:t>I understand some of this, but I do not understand all of it yet.</a:t>
                      </a:r>
                      <a:endParaRPr lang="x-none"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137160">
                    <a:lnL>
                      <a:noFill/>
                    </a:lnL>
                    <a:lnR>
                      <a:noFill/>
                    </a:lnR>
                    <a:lnT>
                      <a:noFill/>
                    </a:lnT>
                    <a:lnB>
                      <a:noFill/>
                    </a:lnB>
                  </a:tcPr>
                </a:tc>
                <a:extLst>
                  <a:ext uri="{0D108BD9-81ED-4DB2-BD59-A6C34878D82A}">
                    <a16:rowId xmlns:a16="http://schemas.microsoft.com/office/drawing/2014/main" val="1438792318"/>
                  </a:ext>
                </a:extLst>
              </a:tr>
              <a:tr h="597539">
                <a:tc>
                  <a:txBody>
                    <a:bodyPr/>
                    <a:lstStyle/>
                    <a:p>
                      <a:pPr marL="0" marR="0">
                        <a:lnSpc>
                          <a:spcPct val="107000"/>
                        </a:lnSpc>
                        <a:spcBef>
                          <a:spcPts val="0"/>
                        </a:spcBef>
                        <a:spcAft>
                          <a:spcPts val="0"/>
                        </a:spcAft>
                      </a:pPr>
                      <a:r>
                        <a:rPr lang="en-US" sz="1400">
                          <a:effectLst/>
                          <a:latin typeface="Verdana" panose="020B0604030504040204" pitchFamily="34" charset="0"/>
                          <a:ea typeface="Cambria Math" panose="02040503050406030204" pitchFamily="18" charset="0"/>
                          <a:cs typeface="Cambria Math" panose="02040503050406030204" pitchFamily="18" charset="0"/>
                        </a:rPr>
                        <a:t> </a:t>
                      </a:r>
                      <a:endParaRPr lang="x-none" sz="12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0">
                    <a:lnL>
                      <a:noFill/>
                    </a:lnL>
                    <a:lnR>
                      <a:noFill/>
                    </a:lnR>
                    <a:lnT>
                      <a:noFill/>
                    </a:lnT>
                    <a:lnB>
                      <a:noFill/>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Cambria Math" panose="02040503050406030204" pitchFamily="18" charset="0"/>
                          <a:cs typeface="Cambria Math" panose="02040503050406030204" pitchFamily="18" charset="0"/>
                        </a:rPr>
                        <a:t>I tried hard and I listened, but I am finding this challenging. I will get help by …</a:t>
                      </a:r>
                      <a:endParaRPr lang="x-none" sz="20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137160">
                    <a:lnL>
                      <a:noFill/>
                    </a:lnL>
                    <a:lnR>
                      <a:noFill/>
                    </a:lnR>
                    <a:lnT>
                      <a:noFill/>
                    </a:lnT>
                    <a:lnB>
                      <a:noFill/>
                    </a:lnB>
                  </a:tcPr>
                </a:tc>
                <a:extLst>
                  <a:ext uri="{0D108BD9-81ED-4DB2-BD59-A6C34878D82A}">
                    <a16:rowId xmlns:a16="http://schemas.microsoft.com/office/drawing/2014/main" val="3208345092"/>
                  </a:ext>
                </a:extLst>
              </a:tr>
              <a:tr h="582487">
                <a:tc>
                  <a:txBody>
                    <a:bodyPr/>
                    <a:lstStyle/>
                    <a:p>
                      <a:pPr marL="0" marR="0">
                        <a:lnSpc>
                          <a:spcPct val="107000"/>
                        </a:lnSpc>
                        <a:spcBef>
                          <a:spcPts val="0"/>
                        </a:spcBef>
                        <a:spcAft>
                          <a:spcPts val="0"/>
                        </a:spcAft>
                      </a:pPr>
                      <a:r>
                        <a:rPr lang="en-US" sz="1400">
                          <a:effectLst/>
                          <a:latin typeface="Verdana" panose="020B0604030504040204" pitchFamily="34" charset="0"/>
                          <a:ea typeface="Cambria Math" panose="02040503050406030204" pitchFamily="18" charset="0"/>
                          <a:cs typeface="Cambria Math" panose="02040503050406030204" pitchFamily="18" charset="0"/>
                        </a:rPr>
                        <a:t> </a:t>
                      </a:r>
                      <a:endParaRPr lang="x-none" sz="120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0">
                    <a:lnL>
                      <a:noFill/>
                    </a:lnL>
                    <a:lnR>
                      <a:noFill/>
                    </a:lnR>
                    <a:lnT>
                      <a:noFill/>
                    </a:lnT>
                    <a:lnB>
                      <a:noFill/>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Cambria Math" panose="02040503050406030204" pitchFamily="18" charset="0"/>
                          <a:cs typeface="Cambria Math" panose="02040503050406030204" pitchFamily="18" charset="0"/>
                        </a:rPr>
                        <a:t>I do not understand any of this yet. I will get help by ….</a:t>
                      </a:r>
                      <a:endParaRPr lang="x-none" sz="20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52767" marR="52767" marT="0" marB="0">
                    <a:lnL>
                      <a:noFill/>
                    </a:lnL>
                    <a:lnR>
                      <a:noFill/>
                    </a:lnR>
                    <a:lnT>
                      <a:noFill/>
                    </a:lnT>
                    <a:lnB>
                      <a:noFill/>
                    </a:lnB>
                  </a:tcPr>
                </a:tc>
                <a:extLst>
                  <a:ext uri="{0D108BD9-81ED-4DB2-BD59-A6C34878D82A}">
                    <a16:rowId xmlns:a16="http://schemas.microsoft.com/office/drawing/2014/main" val="3130188684"/>
                  </a:ext>
                </a:extLst>
              </a:tr>
            </a:tbl>
          </a:graphicData>
        </a:graphic>
      </p:graphicFrame>
      <p:sp>
        <p:nvSpPr>
          <p:cNvPr id="11" name="Arrow: Up 6">
            <a:extLst>
              <a:ext uri="{FF2B5EF4-FFF2-40B4-BE49-F238E27FC236}">
                <a16:creationId xmlns:a16="http://schemas.microsoft.com/office/drawing/2014/main" id="{F7B9250C-9276-3F4D-B19F-7FF762F7F175}"/>
              </a:ext>
            </a:extLst>
          </p:cNvPr>
          <p:cNvSpPr/>
          <p:nvPr/>
        </p:nvSpPr>
        <p:spPr>
          <a:xfrm>
            <a:off x="2093349" y="2792475"/>
            <a:ext cx="894176" cy="3736763"/>
          </a:xfrm>
          <a:prstGeom prst="upArrow">
            <a:avLst/>
          </a:prstGeom>
          <a:noFill/>
          <a:ln w="476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0" name="Google Shape;282;g104476d1465_1_17">
            <a:extLst>
              <a:ext uri="{FF2B5EF4-FFF2-40B4-BE49-F238E27FC236}">
                <a16:creationId xmlns:a16="http://schemas.microsoft.com/office/drawing/2014/main" id="{269F05F0-0FA8-ED48-5928-F8364DE4F06A}"/>
              </a:ext>
            </a:extLst>
          </p:cNvPr>
          <p:cNvSpPr txBox="1"/>
          <p:nvPr/>
        </p:nvSpPr>
        <p:spPr>
          <a:xfrm>
            <a:off x="8948434" y="64990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54</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CD6F3906-1C19-BFE1-1595-4D6450928E6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82434"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3632</TotalTime>
  <Words>968</Words>
  <Application>Microsoft Office PowerPoint</Application>
  <PresentationFormat>Widescreen</PresentationFormat>
  <Paragraphs>162</Paragraphs>
  <Slides>22</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Verdana</vt:lpstr>
      <vt:lpstr>Wingdings</vt:lpstr>
      <vt:lpstr>Century Gothic</vt:lpstr>
      <vt:lpstr>Calibri</vt:lpstr>
      <vt:lpstr>Arial Black</vt:lpstr>
      <vt:lpstr>Cambria Math</vt:lpstr>
      <vt:lpstr>Arial</vt:lpstr>
      <vt:lpstr>1_Office Theme</vt:lpstr>
      <vt:lpstr>Algebra 1  Unit 1, Lesson 10  Multiplying and Dividing Radical Expressions  Volume 1, pg. 50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34</cp:revision>
  <dcterms:created xsi:type="dcterms:W3CDTF">2015-03-17T18:51:18Z</dcterms:created>
  <dcterms:modified xsi:type="dcterms:W3CDTF">2022-06-22T16:02:42Z</dcterms:modified>
</cp:coreProperties>
</file>