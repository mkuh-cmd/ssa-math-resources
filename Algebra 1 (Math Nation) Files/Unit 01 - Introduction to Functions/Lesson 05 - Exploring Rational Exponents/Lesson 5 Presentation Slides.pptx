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345" r:id="rId4"/>
    <p:sldId id="286" r:id="rId5"/>
    <p:sldId id="261" r:id="rId6"/>
    <p:sldId id="287" r:id="rId7"/>
    <p:sldId id="288" r:id="rId8"/>
    <p:sldId id="314" r:id="rId9"/>
    <p:sldId id="315" r:id="rId10"/>
    <p:sldId id="370" r:id="rId11"/>
    <p:sldId id="371" r:id="rId12"/>
    <p:sldId id="372" r:id="rId13"/>
    <p:sldId id="346" r:id="rId14"/>
    <p:sldId id="347" r:id="rId15"/>
    <p:sldId id="349" r:id="rId16"/>
    <p:sldId id="373" r:id="rId17"/>
    <p:sldId id="361" r:id="rId18"/>
    <p:sldId id="362" r:id="rId19"/>
    <p:sldId id="363" r:id="rId20"/>
    <p:sldId id="364" r:id="rId21"/>
    <p:sldId id="366" r:id="rId22"/>
    <p:sldId id="375" r:id="rId23"/>
    <p:sldId id="368" r:id="rId24"/>
    <p:sldId id="369" r:id="rId25"/>
    <p:sldId id="306" r:id="rId26"/>
    <p:sldId id="307" r:id="rId27"/>
    <p:sldId id="360" r:id="rId28"/>
  </p:sldIdLst>
  <p:sldSz cx="12192000" cy="6858000"/>
  <p:notesSz cx="6858000" cy="9144000"/>
  <p:embeddedFontLst>
    <p:embeddedFont>
      <p:font typeface="Arial Black" panose="020B0A04020102020204" pitchFamily="34" charset="0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Cutive" panose="020B0604020202020204" charset="0"/>
      <p:regular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763"/>
    <a:srgbClr val="E24E5F"/>
    <a:srgbClr val="1765AD"/>
    <a:srgbClr val="1664AC"/>
    <a:srgbClr val="BFBFBF"/>
    <a:srgbClr val="C9DF6F"/>
    <a:srgbClr val="417DBF"/>
    <a:srgbClr val="3F2A67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32" autoAdjust="0"/>
    <p:restoredTop sz="94591" autoAdjust="0"/>
  </p:normalViewPr>
  <p:slideViewPr>
    <p:cSldViewPr snapToGrid="0">
      <p:cViewPr varScale="1">
        <p:scale>
          <a:sx n="86" d="100"/>
          <a:sy n="86" d="100"/>
        </p:scale>
        <p:origin x="48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03065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060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3783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4172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98509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0303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8576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213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1940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50528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70750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4787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74909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1254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0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5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Exploring Rational Exponents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70714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925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847493" y="1487536"/>
            <a:ext cx="989113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MA.912.NSO.1.1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Extend previous understanding of the Laws of Exponents to include rational exponents. Apply the Laws of Exponents to evaluate numerical expressions and generate equivalent numerical expressions involving rational exponents.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0500" y="3559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56370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858644" y="1455367"/>
            <a:ext cx="9857678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7923B9B-1C73-5FCA-C69A-7474A400D520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C2987751-5EBD-6B96-D185-469CD90BE21E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764146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58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836341" y="1616528"/>
            <a:ext cx="991343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apply the Laws of Exponents to rational exponents.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convert between expressions involving rational exponents and expressions involving radicals.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E51A0D6-6263-0DC7-7B4D-CF1F961572C8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6A0BC38D-977F-6F20-55C0-AD3E84EFE2F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907" y="290895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05457" y="276197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CE7A21DE-E34F-609D-099D-9587046D3D4F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F74F9201-ED1F-2732-5D7B-7151BE1C569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4000" y="224529"/>
            <a:ext cx="8646702" cy="70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1.5.1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268" y="19201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847493" y="1309757"/>
            <a:ext cx="98911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Laws of Exponents to write an equivalent expression. Then, find the value of each expression. If necessary, use a calculator to find the value of the equivalent expression. 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92A34CE-F6A9-554C-B8B2-BE04DB6A6B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5777947"/>
                  </p:ext>
                </p:extLst>
              </p:nvPr>
            </p:nvGraphicFramePr>
            <p:xfrm>
              <a:off x="2021114" y="3055677"/>
              <a:ext cx="6579870" cy="324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89935">
                      <a:extLst>
                        <a:ext uri="{9D8B030D-6E8A-4147-A177-3AD203B41FA5}">
                          <a16:colId xmlns:a16="http://schemas.microsoft.com/office/drawing/2014/main" val="631291415"/>
                        </a:ext>
                      </a:extLst>
                    </a:gridCol>
                    <a:gridCol w="3289935">
                      <a:extLst>
                        <a:ext uri="{9D8B030D-6E8A-4147-A177-3AD203B41FA5}">
                          <a16:colId xmlns:a16="http://schemas.microsoft.com/office/drawing/2014/main" val="1857705157"/>
                        </a:ext>
                      </a:extLst>
                    </a:gridCol>
                  </a:tblGrid>
                  <a:tr h="32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8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−5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8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________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 ______________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3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________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 ______________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974034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92A34CE-F6A9-554C-B8B2-BE04DB6A6B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5777947"/>
                  </p:ext>
                </p:extLst>
              </p:nvPr>
            </p:nvGraphicFramePr>
            <p:xfrm>
              <a:off x="2021114" y="3055677"/>
              <a:ext cx="6579870" cy="324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89935">
                      <a:extLst>
                        <a:ext uri="{9D8B030D-6E8A-4147-A177-3AD203B41FA5}">
                          <a16:colId xmlns:a16="http://schemas.microsoft.com/office/drawing/2014/main" val="631291415"/>
                        </a:ext>
                      </a:extLst>
                    </a:gridCol>
                    <a:gridCol w="3289935">
                      <a:extLst>
                        <a:ext uri="{9D8B030D-6E8A-4147-A177-3AD203B41FA5}">
                          <a16:colId xmlns:a16="http://schemas.microsoft.com/office/drawing/2014/main" val="1857705157"/>
                        </a:ext>
                      </a:extLst>
                    </a:gridCol>
                  </a:tblGrid>
                  <a:tr h="32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" t="-376" r="-100741" b="-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370" t="-376" r="-741" b="-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40348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AEF972DC-8074-BB86-5375-0AA378404B5F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E42AE8A5-9427-9130-3BE9-C28AB40E9456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29D2739-FD7C-FB44-81E0-B50D186106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255348"/>
                  </p:ext>
                </p:extLst>
              </p:nvPr>
            </p:nvGraphicFramePr>
            <p:xfrm>
              <a:off x="2806065" y="417918"/>
              <a:ext cx="6579870" cy="324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89935">
                      <a:extLst>
                        <a:ext uri="{9D8B030D-6E8A-4147-A177-3AD203B41FA5}">
                          <a16:colId xmlns:a16="http://schemas.microsoft.com/office/drawing/2014/main" val="28046195"/>
                        </a:ext>
                      </a:extLst>
                    </a:gridCol>
                    <a:gridCol w="3289935">
                      <a:extLst>
                        <a:ext uri="{9D8B030D-6E8A-4147-A177-3AD203B41FA5}">
                          <a16:colId xmlns:a16="http://schemas.microsoft.com/office/drawing/2014/main" val="4150567790"/>
                        </a:ext>
                      </a:extLst>
                    </a:gridCol>
                  </a:tblGrid>
                  <a:tr h="32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11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________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 ______________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12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36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________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 ______________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5607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29D2739-FD7C-FB44-81E0-B50D186106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255348"/>
                  </p:ext>
                </p:extLst>
              </p:nvPr>
            </p:nvGraphicFramePr>
            <p:xfrm>
              <a:off x="2806065" y="417918"/>
              <a:ext cx="6579870" cy="324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89935">
                      <a:extLst>
                        <a:ext uri="{9D8B030D-6E8A-4147-A177-3AD203B41FA5}">
                          <a16:colId xmlns:a16="http://schemas.microsoft.com/office/drawing/2014/main" val="28046195"/>
                        </a:ext>
                      </a:extLst>
                    </a:gridCol>
                    <a:gridCol w="3289935">
                      <a:extLst>
                        <a:ext uri="{9D8B030D-6E8A-4147-A177-3AD203B41FA5}">
                          <a16:colId xmlns:a16="http://schemas.microsoft.com/office/drawing/2014/main" val="4150567790"/>
                        </a:ext>
                      </a:extLst>
                    </a:gridCol>
                  </a:tblGrid>
                  <a:tr h="32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5" t="-389" r="-100385" b="-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385" t="-389" r="-385" b="-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56074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3AEC6125-EBC3-242D-7D1E-5DBA9A1D9C76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1214AEB2-822B-45C7-8D1A-C33B2B00EC2D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633667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1.png" descr="Icon&#10;&#10;Description automatically generated">
            <a:extLst>
              <a:ext uri="{FF2B5EF4-FFF2-40B4-BE49-F238E27FC236}">
                <a16:creationId xmlns:a16="http://schemas.microsoft.com/office/drawing/2014/main" id="{222893E6-3090-CA4C-87D5-65E70090E60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481522" y="2852921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C048B443-0910-888C-CE03-F3F9D12CEF76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01AAB38-E521-3E48-815E-A7DA6696ABC5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93902" y="71476"/>
            <a:ext cx="992458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1.5.2 Exploration: Rational Exponents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847493" y="1646261"/>
            <a:ext cx="9801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in the blank with the value of each. </a:t>
            </a:r>
          </a:p>
        </p:txBody>
      </p:sp>
      <p:pic>
        <p:nvPicPr>
          <p:cNvPr id="9" name="image1.png" descr="Icon&#10;&#10;Description automatically generated">
            <a:extLst>
              <a:ext uri="{FF2B5EF4-FFF2-40B4-BE49-F238E27FC236}">
                <a16:creationId xmlns:a16="http://schemas.microsoft.com/office/drawing/2014/main" id="{26671929-AB0C-A64E-9479-5B279F2281FB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7712" y="348270"/>
            <a:ext cx="749810" cy="749810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9C7B2FC-B099-C442-9979-1FF9C3DA7E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1040502"/>
                  </p:ext>
                </p:extLst>
              </p:nvPr>
            </p:nvGraphicFramePr>
            <p:xfrm>
              <a:off x="2123743" y="2540813"/>
              <a:ext cx="6028690" cy="74809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014345">
                      <a:extLst>
                        <a:ext uri="{9D8B030D-6E8A-4147-A177-3AD203B41FA5}">
                          <a16:colId xmlns:a16="http://schemas.microsoft.com/office/drawing/2014/main" val="2419599939"/>
                        </a:ext>
                      </a:extLst>
                    </a:gridCol>
                    <a:gridCol w="3014345">
                      <a:extLst>
                        <a:ext uri="{9D8B030D-6E8A-4147-A177-3AD203B41FA5}">
                          <a16:colId xmlns:a16="http://schemas.microsoft.com/office/drawing/2014/main" val="35980886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16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= _______</a:t>
                          </a: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x-none" sz="24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16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= _______</a:t>
                          </a:r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x-none" sz="24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4352372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9C7B2FC-B099-C442-9979-1FF9C3DA7E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1040502"/>
                  </p:ext>
                </p:extLst>
              </p:nvPr>
            </p:nvGraphicFramePr>
            <p:xfrm>
              <a:off x="2123743" y="2540813"/>
              <a:ext cx="6028690" cy="74809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014345">
                      <a:extLst>
                        <a:ext uri="{9D8B030D-6E8A-4147-A177-3AD203B41FA5}">
                          <a16:colId xmlns:a16="http://schemas.microsoft.com/office/drawing/2014/main" val="2419599939"/>
                        </a:ext>
                      </a:extLst>
                    </a:gridCol>
                    <a:gridCol w="3014345">
                      <a:extLst>
                        <a:ext uri="{9D8B030D-6E8A-4147-A177-3AD203B41FA5}">
                          <a16:colId xmlns:a16="http://schemas.microsoft.com/office/drawing/2014/main" val="3598088653"/>
                        </a:ext>
                      </a:extLst>
                    </a:gridCol>
                  </a:tblGrid>
                  <a:tr h="7480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5254" r="-100000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422" t="-15254" r="-422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2372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361883-8033-A048-B13B-E0F50ADB783D}"/>
                  </a:ext>
                </a:extLst>
              </p:cNvPr>
              <p:cNvSpPr txBox="1"/>
              <p:nvPr/>
            </p:nvSpPr>
            <p:spPr>
              <a:xfrm>
                <a:off x="847493" y="3823655"/>
                <a:ext cx="9801922" cy="596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the values above, guess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16</m:t>
                        </m:r>
                      </m:e>
                      <m:sup>
                        <m:f>
                          <m:fPr>
                            <m:ctrlP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361883-8033-A048-B13B-E0F50ADB7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3823655"/>
                <a:ext cx="9801922" cy="596830"/>
              </a:xfrm>
              <a:prstGeom prst="rect">
                <a:avLst/>
              </a:prstGeom>
              <a:blipFill>
                <a:blip r:embed="rId6"/>
                <a:stretch>
                  <a:fillRect l="-93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0B4F3466-73C5-508B-8116-68DFC055AA19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D8D30791-9A8F-7C25-7364-40722E34219E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36341" y="621298"/>
                <a:ext cx="9835376" cy="4794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anose="020B0604030504040204" pitchFamily="34" charset="0"/>
                  </a:rPr>
                  <a:t>Explain the strategy you used.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anose="020B0604030504040204" pitchFamily="34" charset="0"/>
                  </a:rPr>
                  <a:t>Find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16</m:t>
                        </m:r>
                      </m:e>
                      <m:sup>
                        <m:f>
                          <m:fPr>
                            <m:ctrlP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anose="020B0604030504040204" pitchFamily="34" charset="0"/>
                  </a:rPr>
                  <a:t> using a calculator.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anose="020B0604030504040204" pitchFamily="34" charset="0"/>
                  </a:rPr>
                  <a:t>Discuss with your partner what you notice about the relationship between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anose="020B0604030504040204" pitchFamily="34" charset="0"/>
                  </a:rPr>
                  <a:t> and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16</m:t>
                        </m:r>
                      </m:e>
                      <m:sup>
                        <m:f>
                          <m:fPr>
                            <m:ctrlP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41" y="621298"/>
                <a:ext cx="9835376" cy="4794646"/>
              </a:xfrm>
              <a:prstGeom prst="rect">
                <a:avLst/>
              </a:prstGeom>
              <a:blipFill>
                <a:blip r:embed="rId3"/>
                <a:stretch>
                  <a:fillRect l="-929" t="-1018" b="-1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53416C71-8DFA-24C3-4B09-CF43E13A2361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3DB73BA7-6C51-BDD4-9F4B-80E3245E3AE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5236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58644" y="568459"/>
                <a:ext cx="9846527" cy="4929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Predict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49</m:t>
                        </m:r>
                      </m:e>
                      <m:sup>
                        <m:f>
                          <m:fPr>
                            <m:ctrlP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Check using your calculator.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Predict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100</m:t>
                        </m:r>
                      </m:e>
                      <m:sup>
                        <m:f>
                          <m:fPr>
                            <m:ctrlP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Check using your calculator.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expression equivalent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𝑎</m:t>
                        </m:r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</m:e>
                      <m:sup>
                        <m:f>
                          <m:fPr>
                            <m:ctrlP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 your answer with your partner. If necessary, update your answer.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568459"/>
                <a:ext cx="9846527" cy="4929811"/>
              </a:xfrm>
              <a:prstGeom prst="rect">
                <a:avLst/>
              </a:prstGeom>
              <a:blipFill>
                <a:blip r:embed="rId3"/>
                <a:stretch>
                  <a:fillRect l="-991" r="-805" b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7E9475CA-6A88-F208-6656-27001A41BE02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ADC3A53D-6080-BCDE-E56E-64C52EF72C4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523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36341" y="586986"/>
                <a:ext cx="9980341" cy="4935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31825" indent="-631825">
                  <a:buFont typeface="+mj-lt"/>
                  <a:buAutoNum type="arabicPeriod" startAt="1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Predict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8 </m:t>
                        </m:r>
                      </m:e>
                      <m:sup>
                        <m:f>
                          <m:fPr>
                            <m:ctrlP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Check using your calculator.</a:t>
                </a:r>
              </a:p>
              <a:p>
                <a:pPr marL="631825" indent="-631825">
                  <a:buFont typeface="+mj-lt"/>
                  <a:buAutoNum type="arabicPeriod" startAt="10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1825" indent="-631825">
                  <a:buFont typeface="+mj-lt"/>
                  <a:buAutoNum type="arabicPeriod" startAt="10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1825" indent="-631825">
                  <a:buFont typeface="+mj-lt"/>
                  <a:buAutoNum type="arabicPeriod" startAt="1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Predict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125</m:t>
                        </m:r>
                      </m:e>
                      <m:sup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f>
                          <m:fPr>
                            <m:ctrlP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Check using your calculator.</a:t>
                </a:r>
              </a:p>
              <a:p>
                <a:pPr marL="631825" indent="-631825">
                  <a:buFont typeface="+mj-lt"/>
                  <a:buAutoNum type="arabicPeriod" startAt="10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1825" indent="-631825">
                  <a:buFont typeface="+mj-lt"/>
                  <a:buAutoNum type="arabicPeriod" startAt="10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1825" indent="-631825">
                  <a:buFont typeface="+mj-lt"/>
                  <a:buAutoNum type="arabicPeriod" startAt="1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expression equivalent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𝑎</m:t>
                        </m:r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</m:e>
                      <m:sup>
                        <m:f>
                          <m:fPr>
                            <m:ctrlP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631825" indent="-631825">
                  <a:buFont typeface="+mj-lt"/>
                  <a:buAutoNum type="arabicPeriod" startAt="10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1825" indent="-631825">
                  <a:buFont typeface="+mj-lt"/>
                  <a:buAutoNum type="arabicPeriod" startAt="10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1825" indent="-631825">
                  <a:buFont typeface="+mj-lt"/>
                  <a:buAutoNum type="arabicPeriod" startAt="10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1825" indent="-631825">
                  <a:buFont typeface="+mj-lt"/>
                  <a:buAutoNum type="arabicPeriod" startAt="1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 your answer with your partner. If necessary, update your answer.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41" y="586986"/>
                <a:ext cx="9980341" cy="4935005"/>
              </a:xfrm>
              <a:prstGeom prst="rect">
                <a:avLst/>
              </a:prstGeom>
              <a:blipFill>
                <a:blip r:embed="rId3"/>
                <a:stretch>
                  <a:fillRect l="-916" r="-1283" b="-1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CA39F5E5-6DF2-A928-46FD-D0C5E2A947CB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BC14B737-2C2B-3C82-FE4D-CD023082B24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2467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32056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2.png" descr="Icon&#10;&#10;Description automatically generated">
            <a:extLst>
              <a:ext uri="{FF2B5EF4-FFF2-40B4-BE49-F238E27FC236}">
                <a16:creationId xmlns:a16="http://schemas.microsoft.com/office/drawing/2014/main" id="{FAC96B8B-DFA9-F14C-BC15-9F8FE4A1AA7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402553" y="284575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5D25A2BE-D060-665E-9DBD-B7D3E928F62E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45AAC202-C848-02E7-FDE1-0992AA138DF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527717" y="-105525"/>
            <a:ext cx="943393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1.5.3 Guided Instruction: Why Does That Work?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493" y="1361185"/>
                <a:ext cx="8840731" cy="7078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product of powers law,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to evaluate the expression.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493" y="1361185"/>
                <a:ext cx="8840731" cy="707886"/>
              </a:xfrm>
              <a:prstGeom prst="rect">
                <a:avLst/>
              </a:prstGeom>
              <a:blipFill>
                <a:blip r:embed="rId3"/>
                <a:stretch>
                  <a:fillRect l="-759" t="-5172" b="-1465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2.png" descr="Icon&#10;&#10;Description automatically generated">
            <a:extLst>
              <a:ext uri="{FF2B5EF4-FFF2-40B4-BE49-F238E27FC236}">
                <a16:creationId xmlns:a16="http://schemas.microsoft.com/office/drawing/2014/main" id="{7F0695FC-6E97-1A4F-91B3-E64A9C4D6D75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1112" y="110646"/>
            <a:ext cx="747302" cy="747302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A9AB2F4-A396-234C-9624-D6308682A6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843314"/>
                  </p:ext>
                </p:extLst>
              </p:nvPr>
            </p:nvGraphicFramePr>
            <p:xfrm>
              <a:off x="2633629" y="2236825"/>
              <a:ext cx="6480000" cy="118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859497776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4090956607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1716370245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391322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6 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6 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_____+______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 = 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6 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___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26909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A9AB2F4-A396-234C-9624-D6308682A6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843314"/>
                  </p:ext>
                </p:extLst>
              </p:nvPr>
            </p:nvGraphicFramePr>
            <p:xfrm>
              <a:off x="2633629" y="2236825"/>
              <a:ext cx="6480000" cy="118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859497776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4090956607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1716370245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391322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04" t="-66667" r="-261268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6078" t="-66667" r="-45490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26909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14B501-728C-0340-92D0-B2149CEC0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493" y="3746051"/>
                <a:ext cx="9835375" cy="23903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whole number that completes this equation?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e>
                      </m:rad>
                      <m:r>
                        <a:rPr lang="en-US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e>
                      </m:rad>
                      <m:r>
                        <a:rPr lang="en-US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=______</m:t>
                      </m:r>
                    </m:oMath>
                  </m:oMathPara>
                </a14:m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9263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ctrlPr>
                              <a:rPr lang="en-U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2</m:t>
                            </m:r>
                          </m:den>
                        </m:f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ctrlPr>
                              <a:rPr lang="en-U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2</m:t>
                            </m:r>
                          </m:den>
                        </m:f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=_______  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</m:rad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ad>
                      <m:radPr>
                        <m:degHide m:val="on"/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</m:rad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=_______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ctrlPr>
                              <a:rPr lang="en-U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equivalent to ______.</a:t>
                </a: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14B501-728C-0340-92D0-B2149CEC0D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493" y="3746051"/>
                <a:ext cx="9835375" cy="2390398"/>
              </a:xfrm>
              <a:prstGeom prst="rect">
                <a:avLst/>
              </a:prstGeom>
              <a:blipFill>
                <a:blip r:embed="rId7"/>
                <a:stretch>
                  <a:fillRect l="-682" t="-1276" b="-408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497699-008B-F571-DB1D-180FA44FB806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76272358-D8E4-FD28-F517-83C0209DB10D}"/>
              </a:ext>
            </a:extLst>
          </p:cNvPr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8643" y="476156"/>
                <a:ext cx="990228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product of powers law,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to evaluate the expression.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3" y="476156"/>
                <a:ext cx="9902283" cy="830997"/>
              </a:xfrm>
              <a:prstGeom prst="rect">
                <a:avLst/>
              </a:prstGeom>
              <a:blipFill>
                <a:blip r:embed="rId3"/>
                <a:stretch>
                  <a:fillRect l="-985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4482592-2BB0-F947-8337-6EA0E42DBC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2085922"/>
                  </p:ext>
                </p:extLst>
              </p:nvPr>
            </p:nvGraphicFramePr>
            <p:xfrm>
              <a:off x="2341823" y="1551317"/>
              <a:ext cx="6480000" cy="118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717820985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67470992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544245366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483235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5 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_____+______+______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___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386420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4482592-2BB0-F947-8337-6EA0E42DBC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2085922"/>
                  </p:ext>
                </p:extLst>
              </p:nvPr>
            </p:nvGraphicFramePr>
            <p:xfrm>
              <a:off x="2341823" y="1551317"/>
              <a:ext cx="6480000" cy="118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717820985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67470992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544245366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483235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6" t="-66387" r="-260473" b="-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015" t="-66387" r="-44925" b="-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386420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DBAE0B-6FB3-C048-9A26-BDC5A0F7FAE9}"/>
                  </a:ext>
                </a:extLst>
              </p:cNvPr>
              <p:cNvSpPr txBox="1"/>
              <p:nvPr/>
            </p:nvSpPr>
            <p:spPr>
              <a:xfrm>
                <a:off x="858643" y="3172922"/>
                <a:ext cx="9902283" cy="2859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whole number that completes the equation?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>
                          <m: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deg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5</m:t>
                          </m:r>
                        </m:e>
                      </m:rad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∙</m:t>
                      </m:r>
                      <m:rad>
                        <m:ra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>
                          <m: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deg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5</m:t>
                          </m:r>
                        </m:e>
                      </m:rad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∙</m:t>
                      </m:r>
                      <m:rad>
                        <m:ra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>
                          <m: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deg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5</m:t>
                          </m:r>
                        </m:e>
                      </m:rad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=______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  <m:sup>
                        <m:f>
                          <m:f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3</m:t>
                            </m:r>
                          </m:den>
                        </m:f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  <m:sup>
                        <m:f>
                          <m:f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3</m:t>
                            </m:r>
                          </m:den>
                        </m:f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  <m:sup>
                        <m:f>
                          <m:f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3</m:t>
                            </m:r>
                          </m:den>
                        </m:f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=_______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and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>
                        <m: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g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∙</m:t>
                    </m:r>
                    <m:rad>
                      <m:rad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>
                        <m: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g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∙</m:t>
                    </m:r>
                    <m:rad>
                      <m:rad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>
                        <m: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g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  <m:sup>
                        <m:f>
                          <m:f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3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equivalent to ______.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DBAE0B-6FB3-C048-9A26-BDC5A0F7F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3" y="3172922"/>
                <a:ext cx="9902283" cy="2859373"/>
              </a:xfrm>
              <a:prstGeom prst="rect">
                <a:avLst/>
              </a:prstGeom>
              <a:blipFill>
                <a:blip r:embed="rId5"/>
                <a:stretch>
                  <a:fillRect l="-985" t="-1702" b="-3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4E25E33-4E4E-0633-5988-3522EEFFD7B3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763BC38A-E5B3-7FEF-17F8-478E81C46164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47492" y="474867"/>
            <a:ext cx="10002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each exponential expression as a radical expression. Then, evaluate each expression.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6145FCA-9961-AF48-A773-B452EB76A8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9119756"/>
                  </p:ext>
                </p:extLst>
              </p:nvPr>
            </p:nvGraphicFramePr>
            <p:xfrm>
              <a:off x="2200782" y="1562940"/>
              <a:ext cx="6840000" cy="288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3765690619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360205951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19847212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Exponential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Radical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40196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81 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6416231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8 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408954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−216</m:t>
                                        </m:r>
                                      </m:e>
                                    </m:d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2748862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6145FCA-9961-AF48-A773-B452EB76A8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9119756"/>
                  </p:ext>
                </p:extLst>
              </p:nvPr>
            </p:nvGraphicFramePr>
            <p:xfrm>
              <a:off x="2200782" y="1562940"/>
              <a:ext cx="6840000" cy="288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3765690619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360205951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19847212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Exponential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Radical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40196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83" t="-104202" r="-171981" b="-200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6416231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83" t="-205932" r="-171981" b="-10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408954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83" t="-305932" r="-171981" b="-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274886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EDC266B2-A3F6-D7B5-7A3C-5012D0605E06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B9BFECF4-21CE-6FF3-F090-E3019488DBFD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9078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13;g104476d1465_1_39">
            <a:extLst>
              <a:ext uri="{FF2B5EF4-FFF2-40B4-BE49-F238E27FC236}">
                <a16:creationId xmlns:a16="http://schemas.microsoft.com/office/drawing/2014/main" id="{E3FFF28C-0085-D34D-A274-D6C784B92607}"/>
              </a:ext>
            </a:extLst>
          </p:cNvPr>
          <p:cNvSpPr txBox="1">
            <a:spLocks/>
          </p:cNvSpPr>
          <p:nvPr/>
        </p:nvSpPr>
        <p:spPr>
          <a:xfrm>
            <a:off x="4039338" y="2852922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1.png" descr="Icon&#10;&#10;Description automatically generated">
            <a:extLst>
              <a:ext uri="{FF2B5EF4-FFF2-40B4-BE49-F238E27FC236}">
                <a16:creationId xmlns:a16="http://schemas.microsoft.com/office/drawing/2014/main" id="{46D4D8C1-92BC-9348-9043-9C4D0E62C3C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081281" y="2852922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E88F019-6B7B-ABDF-7F4A-5AFE9CD8318F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3B62C5BF-A55A-2F69-A413-C93BAB7BCFF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2623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71524" y="4903"/>
            <a:ext cx="89433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0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1.5.4 Exploration: Other Roots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850440" y="1330603"/>
            <a:ext cx="98770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Rewriting exponential expressions as radical expressions does not only apply to square roots and cube roots. Other roots apply these same principals.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to explore other rational exponents and roots.</a:t>
            </a:r>
          </a:p>
        </p:txBody>
      </p:sp>
      <p:pic>
        <p:nvPicPr>
          <p:cNvPr id="9" name="image1.png" descr="Icon&#10;&#10;Description automatically generated">
            <a:extLst>
              <a:ext uri="{FF2B5EF4-FFF2-40B4-BE49-F238E27FC236}">
                <a16:creationId xmlns:a16="http://schemas.microsoft.com/office/drawing/2014/main" id="{A680C4E3-FC78-8E40-AACB-734DBAF6B22B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1715" y="238916"/>
            <a:ext cx="749810" cy="749810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AF1EB08-E676-5943-AE6D-A52A2CA51E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7947364"/>
                  </p:ext>
                </p:extLst>
              </p:nvPr>
            </p:nvGraphicFramePr>
            <p:xfrm>
              <a:off x="1793679" y="3748499"/>
              <a:ext cx="7740000" cy="278896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3821070036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706929072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1252164793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Exponent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Radical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2155573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81 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84329537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256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87227528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−32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69510314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1,000,000,000 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9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220460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AF1EB08-E676-5943-AE6D-A52A2CA51E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7947364"/>
                  </p:ext>
                </p:extLst>
              </p:nvPr>
            </p:nvGraphicFramePr>
            <p:xfrm>
              <a:off x="1793679" y="3748499"/>
              <a:ext cx="7740000" cy="278896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3821070036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706929072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1252164793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Exponent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Radical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2155573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3" t="-82105" r="-169345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84329537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36" t="-182105" r="-69703" b="-2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87227528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36" t="-285106" r="-69703" b="-1074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69510314"/>
                      </a:ext>
                    </a:extLst>
                  </a:tr>
                  <a:tr h="5929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3" t="-369388" r="-169345" b="-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220460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2E87C098-2B1B-BAA6-77C8-2E54E76CF79E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6B058934-722F-9D55-6B25-A534B93A7D23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1043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13;g104476d1465_1_39">
            <a:extLst>
              <a:ext uri="{FF2B5EF4-FFF2-40B4-BE49-F238E27FC236}">
                <a16:creationId xmlns:a16="http://schemas.microsoft.com/office/drawing/2014/main" id="{9961B167-8574-0B48-BAF0-B6CC8AB315C7}"/>
              </a:ext>
            </a:extLst>
          </p:cNvPr>
          <p:cNvSpPr txBox="1">
            <a:spLocks/>
          </p:cNvSpPr>
          <p:nvPr/>
        </p:nvSpPr>
        <p:spPr>
          <a:xfrm>
            <a:off x="496075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2.png" descr="Icon&#10;&#10;Description automatically generated">
            <a:extLst>
              <a:ext uri="{FF2B5EF4-FFF2-40B4-BE49-F238E27FC236}">
                <a16:creationId xmlns:a16="http://schemas.microsoft.com/office/drawing/2014/main" id="{F05D0ECB-07D4-7D4E-B241-839158379A7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369896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76033F53-B211-CAB0-DE49-2C624B7AA19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142169D-2C45-D0B4-FA9D-05E58D181A73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9124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62551" y="0"/>
            <a:ext cx="962103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1.5.5 Guided Instruction: Exponent Laws with Rational Exponents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341" y="1343344"/>
                <a:ext cx="9891131" cy="4298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Kalini’s teacher asked her to rewrite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100</m:t>
                                    </m:r>
                                  </m:e>
                                </m:d>
                              </m:e>
                              <m:sup>
                                <m:f>
                                  <m:fPr>
                                    <m:ctrlPr>
                                      <a:rPr lang="en-U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as an equivalent exponential expression. </a:t>
                </a:r>
                <a:r>
                  <a:rPr lang="en-US" altLang="en-US" sz="2400" dirty="0" err="1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Kalini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says that she can use a law of exponents to multiply the powers.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law of exponents is </a:t>
                </a:r>
                <a:r>
                  <a:rPr lang="en-US" altLang="en-US" sz="2400" dirty="0" err="1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Kalini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using?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Using the laws of exponents, what is an equivalent exponential expression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100</m:t>
                                    </m:r>
                                  </m:e>
                                </m:d>
                              </m:e>
                              <m:sup>
                                <m:f>
                                  <m:fPr>
                                    <m:ctrlPr>
                                      <a:rPr lang="en-U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6341" y="1343344"/>
                <a:ext cx="9891131" cy="4298356"/>
              </a:xfrm>
              <a:prstGeom prst="rect">
                <a:avLst/>
              </a:prstGeom>
              <a:blipFill>
                <a:blip r:embed="rId3"/>
                <a:stretch>
                  <a:fillRect l="-924" r="-431" b="-25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2.png" descr="Icon&#10;&#10;Description automatically generated">
            <a:extLst>
              <a:ext uri="{FF2B5EF4-FFF2-40B4-BE49-F238E27FC236}">
                <a16:creationId xmlns:a16="http://schemas.microsoft.com/office/drawing/2014/main" id="{A5BD50E6-4138-144D-A6E8-51E4DE810DC2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5249" y="110645"/>
            <a:ext cx="747302" cy="747302"/>
          </a:xfrm>
          <a:prstGeom prst="rect">
            <a:avLst/>
          </a:prstGeom>
          <a:ln/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F5363AD-F19B-4459-54C2-9DDA5313BE71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FC8A85D5-B145-89FB-4A81-C164844C41C8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2413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8644" y="458536"/>
                <a:ext cx="10002644" cy="5561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27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s-E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·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27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also be rewritten using the laws of exponents.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the expression.</a:t>
                </a:r>
              </a:p>
              <a:p>
                <a:pPr marL="9017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2175" defTabSz="271463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27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s-E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·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27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s-E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017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exponent law was used?</a:t>
                </a:r>
              </a:p>
              <a:p>
                <a:pPr marL="9017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 your answer with your partner.</a:t>
                </a: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Evaluate the exponential expression.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458536"/>
                <a:ext cx="10002644" cy="5561522"/>
              </a:xfrm>
              <a:prstGeom prst="rect">
                <a:avLst/>
              </a:prstGeom>
              <a:blipFill>
                <a:blip r:embed="rId3"/>
                <a:stretch>
                  <a:fillRect l="-670" b="-1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A27A5752-0C0F-08A5-0409-E89B139C5F2D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0EACED6A-7C49-5D2F-3F9A-5D299DEEE82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4303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69794" y="485851"/>
            <a:ext cx="99134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Maeko explained his work for rewriting the following expression.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82B8F2A-5B92-CD49-B10D-37133E88A1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4663075"/>
                  </p:ext>
                </p:extLst>
              </p:nvPr>
            </p:nvGraphicFramePr>
            <p:xfrm>
              <a:off x="1981882" y="1399968"/>
              <a:ext cx="7200000" cy="342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680000">
                      <a:extLst>
                        <a:ext uri="{9D8B030D-6E8A-4147-A177-3AD203B41FA5}">
                          <a16:colId xmlns:a16="http://schemas.microsoft.com/office/drawing/2014/main" val="875484923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126111557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𝟏𝟔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− 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𝟖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 ∙ 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𝟏𝟔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6348135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first used the product of powers to rewrite the expression.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− 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 ∙  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 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− 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43639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Next, I simplified the fractional exponent.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36914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Finally, I rewrote the expression using the negative exponent law.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48312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82B8F2A-5B92-CD49-B10D-37133E88A1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4663075"/>
                  </p:ext>
                </p:extLst>
              </p:nvPr>
            </p:nvGraphicFramePr>
            <p:xfrm>
              <a:off x="1981882" y="1399968"/>
              <a:ext cx="7200000" cy="342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680000">
                      <a:extLst>
                        <a:ext uri="{9D8B030D-6E8A-4147-A177-3AD203B41FA5}">
                          <a16:colId xmlns:a16="http://schemas.microsoft.com/office/drawing/2014/main" val="875484923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126111557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5990" t="-847" r="-725" b="-3788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6348135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first used the product of powers to rewrite the expression.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5990" t="-80405" r="-725" b="-20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943639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Next, I simplified the fractional exponent.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5990" t="-180405" r="-725" b="-10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36914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Finally, I rewrote the expression using the negative exponent law.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5990" t="-280405" r="-725" b="-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48312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45EE667-00E5-6342-A73A-D26756726F94}"/>
              </a:ext>
            </a:extLst>
          </p:cNvPr>
          <p:cNvSpPr txBox="1"/>
          <p:nvPr/>
        </p:nvSpPr>
        <p:spPr>
          <a:xfrm>
            <a:off x="847493" y="5093604"/>
            <a:ext cx="99134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Check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Maeko’s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work and explain any errors he may have made.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1F31841-C080-E280-0545-090DDD105B90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9B60F607-A5A7-10FD-3B60-AE16021B805C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8882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30152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8.png">
            <a:extLst>
              <a:ext uri="{FF2B5EF4-FFF2-40B4-BE49-F238E27FC236}">
                <a16:creationId xmlns:a16="http://schemas.microsoft.com/office/drawing/2014/main" id="{98091840-472C-E249-8BEC-C9504B32D564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499463" y="2852368"/>
            <a:ext cx="1153254" cy="115325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05D616D-6741-88EE-62FD-2CEE559E6DA1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E1F21F82-B026-703B-A462-6332506ED49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5646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39291" y="106334"/>
            <a:ext cx="98632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1.5.6 Try It: Writing Rational Exponents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789483" y="1432034"/>
            <a:ext cx="10082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each expression using the laws of exponents. Then, evaluate the expression.</a:t>
            </a:r>
          </a:p>
        </p:txBody>
      </p:sp>
      <p:pic>
        <p:nvPicPr>
          <p:cNvPr id="9" name="image8.png">
            <a:extLst>
              <a:ext uri="{FF2B5EF4-FFF2-40B4-BE49-F238E27FC236}">
                <a16:creationId xmlns:a16="http://schemas.microsoft.com/office/drawing/2014/main" id="{341CD16E-66A9-894D-8C50-2A4345FDA4B3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9483" y="348270"/>
            <a:ext cx="749809" cy="749809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905CB4D-FD69-AF49-8754-2735391F29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5570122"/>
                  </p:ext>
                </p:extLst>
              </p:nvPr>
            </p:nvGraphicFramePr>
            <p:xfrm>
              <a:off x="1696712" y="2199192"/>
              <a:ext cx="7200000" cy="425860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1269566454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301267554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304399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2000" b="1" i="1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2000" b="1" i="1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8619306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5 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26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 ∙ 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5 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9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9083909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23 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8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23 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3090208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125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7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15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 ∙ 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125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 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15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3226881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169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 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 ∙ 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169 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25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 ∙ 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169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 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31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22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11082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905CB4D-FD69-AF49-8754-2735391F29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5570122"/>
                  </p:ext>
                </p:extLst>
              </p:nvPr>
            </p:nvGraphicFramePr>
            <p:xfrm>
              <a:off x="1696712" y="2199192"/>
              <a:ext cx="7200000" cy="425860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1269566454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301267554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304399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2000" b="1" i="1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2000" b="1" i="1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8619306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6" t="-90441" r="-122744" b="-3301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9083909"/>
                      </a:ext>
                    </a:extLst>
                  </a:tr>
                  <a:tr h="10546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6" t="-148851" r="-122744" b="-1580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3090208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6" t="-318382" r="-122744" b="-1022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3226881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6" t="-418382" r="-122744" b="-22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11082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7D1ABA89-6339-4D62-4788-EBC2A4A7B3E6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65A19595-E8E8-151A-8508-050FB5D4DA6E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6704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23767" y="277909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9669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8510FC5-332D-A96E-756B-5C232BA0D380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66B5AE46-1379-38FE-D179-92A0FD2AC42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758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76207" y="116570"/>
            <a:ext cx="9857678" cy="121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1.5.7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907" y="261049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/>
              <p:nvPr/>
            </p:nvSpPr>
            <p:spPr>
              <a:xfrm>
                <a:off x="828907" y="1571510"/>
                <a:ext cx="9965473" cy="47982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Find the value of the variable.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14</m:t>
                        </m:r>
                      </m:e>
                    </m:rad>
                    <m:r>
                      <a:rPr lang="es-E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14</m:t>
                        </m:r>
                      </m:e>
                      <m:sup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s-E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den>
                        </m:f>
                      </m:sup>
                    </m:sSup>
                  </m:oMath>
                </a14:m>
                <a:endParaRPr lang="en-US" sz="24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048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=______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50</m:t>
                        </m:r>
                      </m:e>
                      <m:sup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s-E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ctrlP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g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50</m:t>
                        </m:r>
                      </m:e>
                    </m:rad>
                  </m:oMath>
                </a14:m>
                <a:endParaRPr lang="en-US" sz="24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04875" defTabSz="9017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=______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07" y="1571510"/>
                <a:ext cx="9965473" cy="4798237"/>
              </a:xfrm>
              <a:prstGeom prst="rect">
                <a:avLst/>
              </a:prstGeom>
              <a:blipFill>
                <a:blip r:embed="rId4"/>
                <a:stretch>
                  <a:fillRect l="-979" t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354B009-3A96-0140-5FF6-3BEF0B760FCB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20975743-E5CC-2DAC-4232-29C9C45B7A02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759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836341" y="491697"/>
            <a:ext cx="99245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 by writing an equivalent expression using the laws of exponents. Then, evaluate the expression.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D80DECD-D360-7042-B6FC-DD64B15923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7486536"/>
                  </p:ext>
                </p:extLst>
              </p:nvPr>
            </p:nvGraphicFramePr>
            <p:xfrm>
              <a:off x="2339223" y="1659502"/>
              <a:ext cx="6480000" cy="2952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4001105009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1441033208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863606580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026427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 ∙ 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6 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19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611313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90296482"/>
                      </a:ext>
                    </a:extLst>
                  </a:tr>
                  <a:tr h="1152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 7 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7 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464102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D80DECD-D360-7042-B6FC-DD64B15923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7486536"/>
                  </p:ext>
                </p:extLst>
              </p:nvPr>
            </p:nvGraphicFramePr>
            <p:xfrm>
              <a:off x="2339223" y="1659502"/>
              <a:ext cx="6480000" cy="2952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4001105009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1441033208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863606580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026427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2" t="-69663" r="-200563" b="-107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611313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90296482"/>
                      </a:ext>
                    </a:extLst>
                  </a:tr>
                  <a:tr h="115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2" t="-159788" r="-200563" b="-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464102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2940B3E-C6F0-1064-F465-1929570ADFC7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9AB18322-F2D6-CD81-B8A9-E68313E86F66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93226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3101</TotalTime>
  <Words>1099</Words>
  <Application>Microsoft Office PowerPoint</Application>
  <PresentationFormat>Widescreen</PresentationFormat>
  <Paragraphs>284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Verdana</vt:lpstr>
      <vt:lpstr>Wingdings</vt:lpstr>
      <vt:lpstr>Century Gothic</vt:lpstr>
      <vt:lpstr>Cutive</vt:lpstr>
      <vt:lpstr>Calibri</vt:lpstr>
      <vt:lpstr>Arial Black</vt:lpstr>
      <vt:lpstr>Cambria Math</vt:lpstr>
      <vt:lpstr>Arial</vt:lpstr>
      <vt:lpstr>1_Office Theme</vt:lpstr>
      <vt:lpstr>Algebra 1  Unit 1, Lesson 5  Exploring Rational Exponents  Volume 1, pg. 27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32</cp:revision>
  <dcterms:created xsi:type="dcterms:W3CDTF">2015-03-17T18:51:18Z</dcterms:created>
  <dcterms:modified xsi:type="dcterms:W3CDTF">2022-06-21T20:56:22Z</dcterms:modified>
</cp:coreProperties>
</file>