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345" r:id="rId4"/>
    <p:sldId id="286" r:id="rId5"/>
    <p:sldId id="261" r:id="rId6"/>
    <p:sldId id="287" r:id="rId7"/>
    <p:sldId id="314" r:id="rId8"/>
    <p:sldId id="315" r:id="rId9"/>
    <p:sldId id="316" r:id="rId10"/>
    <p:sldId id="346" r:id="rId11"/>
    <p:sldId id="347" r:id="rId12"/>
    <p:sldId id="349" r:id="rId13"/>
    <p:sldId id="361" r:id="rId14"/>
    <p:sldId id="362" r:id="rId15"/>
    <p:sldId id="354" r:id="rId16"/>
    <p:sldId id="355" r:id="rId17"/>
    <p:sldId id="356" r:id="rId18"/>
    <p:sldId id="363" r:id="rId19"/>
    <p:sldId id="364" r:id="rId20"/>
    <p:sldId id="365" r:id="rId21"/>
    <p:sldId id="366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A04020102020204" pitchFamily="3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 Math" panose="02040503050406030204" pitchFamily="18" charset="0"/>
      <p:regular r:id="rId31"/>
    </p:embeddedFon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Verdana" panose="020B060403050404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B7D4"/>
    <a:srgbClr val="F26763"/>
    <a:srgbClr val="E24E5F"/>
    <a:srgbClr val="1765AD"/>
    <a:srgbClr val="1664AC"/>
    <a:srgbClr val="BFBFBF"/>
    <a:srgbClr val="C9DF6F"/>
    <a:srgbClr val="417DBF"/>
    <a:srgbClr val="3F2A67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24" autoAdjust="0"/>
    <p:restoredTop sz="94648"/>
  </p:normalViewPr>
  <p:slideViewPr>
    <p:cSldViewPr snapToGrid="0">
      <p:cViewPr varScale="1">
        <p:scale>
          <a:sx n="86" d="100"/>
          <a:sy n="86" d="100"/>
        </p:scale>
        <p:origin x="42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5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39035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3135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20453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40305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51203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98024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694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72702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0.png"/><Relationship Id="rId4" Type="http://schemas.openxmlformats.org/officeDocument/2006/relationships/image" Target="../media/image21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4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Applying the Laws of Exponents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31620" y="136525"/>
            <a:ext cx="763063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007" y="34780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834390" y="1462225"/>
            <a:ext cx="98259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MA.912.NSO.1.1</a:t>
            </a:r>
          </a:p>
          <a:p>
            <a:pPr marL="552450" lvl="1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Extend previous understanding of the Laws of Exponents to include rational exponents. Apply the Laws of Exponents to evaluate numerical expressions and generate equivalent numerical expressions involving rational exponents.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-1143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050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514714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845820" y="1432998"/>
            <a:ext cx="9831466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167C0EC-CBAD-0F3B-D7A5-0E278BFC3B58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50129D7B-4E84-E077-0D83-85B7B2F904F4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10382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141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845820" y="1608365"/>
            <a:ext cx="879416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apply the Laws of Exponents to write equivalent numerical expressions.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evaluate square roots and cube roots.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3E3FED3-43CC-0EB5-8FC1-349D7CDE2E79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FB727546-0142-31EB-C336-7F7666A956BA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025" y="291312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5835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7867996-6E99-3BB9-767A-B863E949431D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31FB1CC4-2505-D45D-353B-F68DB1DE118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1272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52356" y="0"/>
            <a:ext cx="940857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1.4.1 Warm-Up: Toothpick Squares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996" y="19633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847492" y="1451947"/>
            <a:ext cx="10270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Make two squares of different sizes by removing two toothpicks.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90EA2D-2579-1D48-B54A-ECEAABA0C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651" y="2330238"/>
            <a:ext cx="4339714" cy="4158965"/>
          </a:xfrm>
          <a:prstGeom prst="rect">
            <a:avLst/>
          </a:prstGeom>
        </p:spPr>
      </p:pic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id="{1F582BAB-F51C-AC8E-5F99-9480A18E50E6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>
            <a:extLst>
              <a:ext uri="{FF2B5EF4-FFF2-40B4-BE49-F238E27FC236}">
                <a16:creationId xmlns:a16="http://schemas.microsoft.com/office/drawing/2014/main" id="{A7C51CAF-9E02-F453-0B4A-895708771765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03047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10.png" descr="Icon&#10;&#10;Description automatically generated">
            <a:extLst>
              <a:ext uri="{FF2B5EF4-FFF2-40B4-BE49-F238E27FC236}">
                <a16:creationId xmlns:a16="http://schemas.microsoft.com/office/drawing/2014/main" id="{42CB2FA9-9B25-B245-9D8B-6FBED5FC883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291056" y="2894460"/>
            <a:ext cx="1069070" cy="106907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F51E32FC-F159-A231-C889-4EDEAACDFEB3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F4817229-B636-DD77-541C-7D4ED1FC7BF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70715" y="60325"/>
            <a:ext cx="980244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1.4.2 Refresher: Laws of Exponents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858644" y="1412587"/>
            <a:ext cx="10214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Using the given exponent law, complete the table by writing an equivalent exponential expression.</a:t>
            </a:r>
          </a:p>
        </p:txBody>
      </p:sp>
      <p:pic>
        <p:nvPicPr>
          <p:cNvPr id="9" name="image10.png" descr="Icon&#10;&#10;Description automatically generated">
            <a:extLst>
              <a:ext uri="{FF2B5EF4-FFF2-40B4-BE49-F238E27FC236}">
                <a16:creationId xmlns:a16="http://schemas.microsoft.com/office/drawing/2014/main" id="{E3665975-F8C9-004A-8541-26B6C2CC4611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906" y="279737"/>
            <a:ext cx="749810" cy="749810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09C1375-E212-AA4A-B15B-D3FF3867C5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7009330"/>
                  </p:ext>
                </p:extLst>
              </p:nvPr>
            </p:nvGraphicFramePr>
            <p:xfrm>
              <a:off x="1680366" y="2269939"/>
              <a:ext cx="7200000" cy="404670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3285599687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75552253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1304764966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 Law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7103480"/>
                      </a:ext>
                    </a:extLst>
                  </a:tr>
                  <a:tr h="73279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90725069"/>
                      </a:ext>
                    </a:extLst>
                  </a:tr>
                  <a:tr h="9194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14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0740383"/>
                      </a:ext>
                    </a:extLst>
                  </a:tr>
                  <a:tr h="73279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𝑚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∙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4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10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09572751"/>
                      </a:ext>
                    </a:extLst>
                  </a:tr>
                  <a:tr h="79375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𝑎𝑏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5∙2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1178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09C1375-E212-AA4A-B15B-D3FF3867C5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7009330"/>
                  </p:ext>
                </p:extLst>
              </p:nvPr>
            </p:nvGraphicFramePr>
            <p:xfrm>
              <a:off x="1680366" y="2269939"/>
              <a:ext cx="7200000" cy="404670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3285599687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75552253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1304764966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 Law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7103480"/>
                      </a:ext>
                    </a:extLst>
                  </a:tr>
                  <a:tr h="743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41" t="-101695" r="-150661" b="-3491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0563" t="-101695" r="-140845" b="-3491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90725069"/>
                      </a:ext>
                    </a:extLst>
                  </a:tr>
                  <a:tr h="10455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41" t="-145122" r="-150661" b="-1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0563" t="-145122" r="-140845" b="-1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0740383"/>
                      </a:ext>
                    </a:extLst>
                  </a:tr>
                  <a:tr h="743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41" t="-340678" r="-150661" b="-1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0563" t="-340678" r="-140845" b="-1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09572751"/>
                      </a:ext>
                    </a:extLst>
                  </a:tr>
                  <a:tr h="793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41" t="-412698" r="-150661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0563" t="-412698" r="-140845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1178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6F5CE9B3-C208-7B6D-7FD7-7E0D24CBABF4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1521CCA9-C7A5-918C-0626-78709E4BC217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31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CD47F72-E8F1-1D45-ADB5-0C3E9F4128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7287742"/>
                  </p:ext>
                </p:extLst>
              </p:nvPr>
            </p:nvGraphicFramePr>
            <p:xfrm>
              <a:off x="2496000" y="393176"/>
              <a:ext cx="7200000" cy="580742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3043091954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51804212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309845058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 Law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𝑎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𝑏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11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57406588"/>
                      </a:ext>
                    </a:extLst>
                  </a:tr>
                  <a:tr h="25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Negative Exponents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82098415"/>
                      </a:ext>
                    </a:extLst>
                  </a:tr>
                  <a:tr h="65205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Identity Exponent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572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70165139"/>
                      </a:ext>
                    </a:extLst>
                  </a:tr>
                  <a:tr h="7249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Zero Exponent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0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572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8979021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CD47F72-E8F1-1D45-ADB5-0C3E9F4128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7287742"/>
                  </p:ext>
                </p:extLst>
              </p:nvPr>
            </p:nvGraphicFramePr>
            <p:xfrm>
              <a:off x="2496000" y="393176"/>
              <a:ext cx="7200000" cy="580742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3043091954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51804212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309845058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 Law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3" t="-69663" r="-150529" b="-371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1017" t="-69663" r="-141356" b="-371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57406588"/>
                      </a:ext>
                    </a:extLst>
                  </a:tr>
                  <a:tr h="25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Negative Exponents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82098415"/>
                      </a:ext>
                    </a:extLst>
                  </a:tr>
                  <a:tr h="743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3" t="-586885" r="-150529" b="-10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1017" t="-586885" r="-141356" b="-10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70165139"/>
                      </a:ext>
                    </a:extLst>
                  </a:tr>
                  <a:tr h="743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3" t="-686885" r="-150529" b="-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1017" t="-686885" r="-141356" b="-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897902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4E28704-6854-4E4D-B5B9-BBA9D43F56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2620747"/>
                  </p:ext>
                </p:extLst>
              </p:nvPr>
            </p:nvGraphicFramePr>
            <p:xfrm>
              <a:off x="3113816" y="2609208"/>
              <a:ext cx="1853910" cy="186296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53910">
                      <a:extLst>
                        <a:ext uri="{9D8B030D-6E8A-4147-A177-3AD203B41FA5}">
                          <a16:colId xmlns:a16="http://schemas.microsoft.com/office/drawing/2014/main" val="668934364"/>
                        </a:ext>
                      </a:extLst>
                    </a:gridCol>
                  </a:tblGrid>
                  <a:tr h="56487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720201367"/>
                      </a:ext>
                    </a:extLst>
                  </a:tr>
                  <a:tr h="56487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𝑎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𝑏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25814357"/>
                      </a:ext>
                    </a:extLst>
                  </a:tr>
                  <a:tr h="45721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𝑎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𝑏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934827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4E28704-6854-4E4D-B5B9-BBA9D43F56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2620747"/>
                  </p:ext>
                </p:extLst>
              </p:nvPr>
            </p:nvGraphicFramePr>
            <p:xfrm>
              <a:off x="3113816" y="2609208"/>
              <a:ext cx="1853910" cy="186296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53910">
                      <a:extLst>
                        <a:ext uri="{9D8B030D-6E8A-4147-A177-3AD203B41FA5}">
                          <a16:colId xmlns:a16="http://schemas.microsoft.com/office/drawing/2014/main" val="668934364"/>
                        </a:ext>
                      </a:extLst>
                    </a:gridCol>
                  </a:tblGrid>
                  <a:tr h="612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80" b="-2163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0201367"/>
                      </a:ext>
                    </a:extLst>
                  </a:tr>
                  <a:tr h="622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80" t="-100000" b="-1163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814357"/>
                      </a:ext>
                    </a:extLst>
                  </a:tr>
                  <a:tr h="6279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80" t="-196000" b="-1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34827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8F020AE-57E9-DD4C-B20A-B0B754B627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5402466"/>
                  </p:ext>
                </p:extLst>
              </p:nvPr>
            </p:nvGraphicFramePr>
            <p:xfrm>
              <a:off x="5981867" y="2389636"/>
              <a:ext cx="928640" cy="207037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928640">
                      <a:extLst>
                        <a:ext uri="{9D8B030D-6E8A-4147-A177-3AD203B41FA5}">
                          <a16:colId xmlns:a16="http://schemas.microsoft.com/office/drawing/2014/main" val="785506423"/>
                        </a:ext>
                      </a:extLst>
                    </a:gridCol>
                  </a:tblGrid>
                  <a:tr h="47665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9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5353" marR="55353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76422452"/>
                      </a:ext>
                    </a:extLst>
                  </a:tr>
                  <a:tr h="71549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5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7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5353" marR="55353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1118305"/>
                      </a:ext>
                    </a:extLst>
                  </a:tr>
                  <a:tr h="54379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13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5353" marR="55353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998024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8F020AE-57E9-DD4C-B20A-B0B754B627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5402466"/>
                  </p:ext>
                </p:extLst>
              </p:nvPr>
            </p:nvGraphicFramePr>
            <p:xfrm>
              <a:off x="5981867" y="2389636"/>
              <a:ext cx="928640" cy="187610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928640">
                      <a:extLst>
                        <a:ext uri="{9D8B030D-6E8A-4147-A177-3AD203B41FA5}">
                          <a16:colId xmlns:a16="http://schemas.microsoft.com/office/drawing/2014/main" val="785506423"/>
                        </a:ext>
                      </a:extLst>
                    </a:gridCol>
                  </a:tblGrid>
                  <a:tr h="4766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353" marR="55353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351" b="-3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6422452"/>
                      </a:ext>
                    </a:extLst>
                  </a:tr>
                  <a:tr h="7154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353" marR="55353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351" t="-67857" b="-1089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1118305"/>
                      </a:ext>
                    </a:extLst>
                  </a:tr>
                  <a:tr h="6839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353" marR="55353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351" t="-174074" b="-129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8024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3167023-70C4-3A4A-8378-D424132ED2F8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04FD729E-0460-DFB7-E543-1ADC5B61BA4F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98450" y="276197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2.png" descr="Icon&#10;&#10;Description automatically generated">
            <a:extLst>
              <a:ext uri="{FF2B5EF4-FFF2-40B4-BE49-F238E27FC236}">
                <a16:creationId xmlns:a16="http://schemas.microsoft.com/office/drawing/2014/main" id="{DA40782A-57C0-E24A-8647-1A53135EFB3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285750" y="284575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99222FD2-8FEC-8F74-8986-6E48BBC0CA50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72D95880-F614-8CC8-F115-810ADD262286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9481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38507" y="-43333"/>
            <a:ext cx="908824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1.4.3 Guided Instruction: Building On Square Roots and Cube Roots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493" y="1448613"/>
            <a:ext cx="85027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square a number means to </a:t>
            </a:r>
          </a:p>
        </p:txBody>
      </p:sp>
      <p:pic>
        <p:nvPicPr>
          <p:cNvPr id="9" name="image2.png" descr="Icon&#10;&#10;Description automatically generated">
            <a:extLst>
              <a:ext uri="{FF2B5EF4-FFF2-40B4-BE49-F238E27FC236}">
                <a16:creationId xmlns:a16="http://schemas.microsoft.com/office/drawing/2014/main" id="{D1305ABB-909A-5A43-9604-FD41AE26AABE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483" y="164720"/>
            <a:ext cx="747301" cy="747301"/>
          </a:xfrm>
          <a:prstGeom prst="rect">
            <a:avLst/>
          </a:prstGeom>
          <a:ln/>
          <a:effectLst/>
        </p:spPr>
      </p:pic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750935E0-822D-B04C-9985-1DA695956D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98770" y="1208126"/>
            <a:ext cx="3314270" cy="1013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2222965-E7CD-1D46-8238-145E63D393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8300" y="2450996"/>
                <a:ext cx="7801898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PH" altLang="en-US" sz="2400" i="1" dirty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PH" altLang="en-US" sz="2400" i="1" dirty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=______∙______=_______</m:t>
                      </m:r>
                    </m:oMath>
                  </m:oMathPara>
                </a14:m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E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−7</m:t>
                              </m:r>
                            </m:e>
                          </m:d>
                        </m:e>
                        <m:sup>
                          <m:r>
                            <a:rPr lang="es-ES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=______∙______=_______</m:t>
                      </m:r>
                    </m:oMath>
                  </m:oMathPara>
                </a14:m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2222965-E7CD-1D46-8238-145E63D393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8300" y="2450996"/>
                <a:ext cx="7801898" cy="1200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7E8FD70-6F0E-E34D-9880-3582F67CEA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7493" y="3988775"/>
                <a:ext cx="8502705" cy="8822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inverse of squaring a number is taking the square root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</m:t>
                        </m:r>
                      </m:e>
                    </m:rad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7E8FD70-6F0E-E34D-9880-3582F67CEA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493" y="3988775"/>
                <a:ext cx="8502705" cy="882293"/>
              </a:xfrm>
              <a:prstGeom prst="rect">
                <a:avLst/>
              </a:prstGeom>
              <a:blipFill>
                <a:blip r:embed="rId7"/>
                <a:stretch>
                  <a:fillRect l="-1075" t="-4828" b="-82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picture containing shape&#10;&#10;Description automatically generated">
            <a:extLst>
              <a:ext uri="{FF2B5EF4-FFF2-40B4-BE49-F238E27FC236}">
                <a16:creationId xmlns:a16="http://schemas.microsoft.com/office/drawing/2014/main" id="{9187B51D-30B8-2146-BBBA-8C94B0609F5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9936" y="4941469"/>
            <a:ext cx="3803374" cy="1081431"/>
          </a:xfrm>
          <a:prstGeom prst="rect">
            <a:avLst/>
          </a:prstGeom>
        </p:spPr>
      </p:pic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848B8866-C885-ED9C-0FCC-3DE3CDA79774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>
            <a:extLst>
              <a:ext uri="{FF2B5EF4-FFF2-40B4-BE49-F238E27FC236}">
                <a16:creationId xmlns:a16="http://schemas.microsoft.com/office/drawing/2014/main" id="{699A2251-4E5D-2F7C-5682-DC5A1FA5E513}"/>
              </a:ext>
            </a:extLst>
          </p:cNvPr>
          <p:cNvPicPr preferRelativeResize="0"/>
          <p:nvPr/>
        </p:nvPicPr>
        <p:blipFill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3453" y="-11151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7493" y="458538"/>
                <a:ext cx="8454163" cy="2385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evaluate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g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also written 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ask, “What times itself equals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?”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5∙5=25 </m:t>
                      </m:r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or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−5∙−5=25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Therefore,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458538"/>
                <a:ext cx="8454163" cy="2385397"/>
              </a:xfrm>
              <a:prstGeom prst="rect">
                <a:avLst/>
              </a:prstGeom>
              <a:blipFill>
                <a:blip r:embed="rId3"/>
                <a:stretch>
                  <a:fillRect l="-1081" t="-765" b="-4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974520" y="3429000"/>
            <a:ext cx="8280000" cy="1123712"/>
            <a:chOff x="408432" y="3431280"/>
            <a:chExt cx="8280000" cy="11237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: Rounded Corners 51">
                  <a:extLst>
                    <a:ext uri="{FF2B5EF4-FFF2-40B4-BE49-F238E27FC236}">
                      <a16:creationId xmlns:a16="http://schemas.microsoft.com/office/drawing/2014/main" id="{CBA16F09-1E8F-D94E-A076-941FD39BF228}"/>
                    </a:ext>
                  </a:extLst>
                </p:cNvPr>
                <p:cNvSpPr/>
                <p:nvPr/>
              </p:nvSpPr>
              <p:spPr>
                <a:xfrm>
                  <a:off x="408432" y="3431280"/>
                  <a:ext cx="8280000" cy="1123712"/>
                </a:xfrm>
                <a:prstGeom prst="roundRect">
                  <a:avLst/>
                </a:prstGeom>
                <a:solidFill>
                  <a:srgbClr val="E3EFD5"/>
                </a:solidFill>
                <a:ln>
                  <a:solidFill>
                    <a:srgbClr val="E3EFD5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631825"/>
                  <a:r>
                    <a:rPr lang="en-US" sz="2000" dirty="0">
                      <a:solidFill>
                        <a:srgbClr val="6C993C"/>
                      </a:solidFill>
                      <a:latin typeface="Verdana" panose="020B0604030504040204" pitchFamily="34" charset="0"/>
                      <a:ea typeface="Verdana" pitchFamily="34" charset="0"/>
                      <a:cs typeface="Cambria Math" panose="02040503050406030204" pitchFamily="18" charset="0"/>
                    </a:rPr>
                    <a:t>All radicands greater than or equal to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C993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sz="2000" dirty="0">
                      <a:solidFill>
                        <a:srgbClr val="6C993C"/>
                      </a:solidFill>
                      <a:latin typeface="Verdana" panose="020B0604030504040204" pitchFamily="34" charset="0"/>
                      <a:ea typeface="Verdana" pitchFamily="34" charset="0"/>
                      <a:cs typeface="Cambria Math" panose="020405030504060302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C993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solidFill>
                            <a:srgbClr val="6C993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≥0</m:t>
                      </m:r>
                    </m:oMath>
                  </a14:m>
                  <a:r>
                    <a:rPr lang="en-US" sz="2000" dirty="0">
                      <a:solidFill>
                        <a:srgbClr val="6C993C"/>
                      </a:solidFill>
                      <a:latin typeface="Verdana" panose="020B0604030504040204" pitchFamily="34" charset="0"/>
                      <a:ea typeface="Verdana" pitchFamily="34" charset="0"/>
                      <a:cs typeface="Cambria Math" panose="02040503050406030204" pitchFamily="18" charset="0"/>
                    </a:rPr>
                    <a:t>, have two square roots, a positive and a negative. The positive square root is referred to as the </a:t>
                  </a:r>
                  <a:r>
                    <a:rPr lang="en-US" sz="2000" b="1" i="1" dirty="0">
                      <a:solidFill>
                        <a:srgbClr val="6C993C"/>
                      </a:solidFill>
                      <a:latin typeface="Verdana" panose="020B0604030504040204" pitchFamily="34" charset="0"/>
                      <a:ea typeface="Verdana" pitchFamily="34" charset="0"/>
                      <a:cs typeface="Cambria Math" panose="02040503050406030204" pitchFamily="18" charset="0"/>
                    </a:rPr>
                    <a:t>principal square root</a:t>
                  </a:r>
                  <a:r>
                    <a:rPr lang="en-US" sz="2000" i="1" dirty="0">
                      <a:solidFill>
                        <a:srgbClr val="6C993C"/>
                      </a:solidFill>
                      <a:latin typeface="Verdana" panose="020B0604030504040204" pitchFamily="34" charset="0"/>
                      <a:ea typeface="Verdana" pitchFamily="34" charset="0"/>
                      <a:cs typeface="Cambria Math" panose="02040503050406030204" pitchFamily="18" charset="0"/>
                    </a:rPr>
                    <a:t>.</a:t>
                  </a:r>
                  <a:endParaRPr lang="x-none" sz="1800" i="1" dirty="0">
                    <a:latin typeface="Verdana" pitchFamily="34" charset="0"/>
                    <a:ea typeface="Verdana" pitchFamily="34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Rectangle: Rounded Corners 51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CBA16F09-1E8F-D94E-A076-941FD39BF2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432" y="3431280"/>
                  <a:ext cx="8280000" cy="1123712"/>
                </a:xfrm>
                <a:prstGeom prst="round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  <a:ln>
                  <a:solidFill>
                    <a:srgbClr val="E3EFD5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Shape 7" descr="Icon&#10;&#10;Description automatically generated">
              <a:extLst>
                <a:ext uri="{FF2B5EF4-FFF2-40B4-BE49-F238E27FC236}">
                  <a16:creationId xmlns:a16="http://schemas.microsoft.com/office/drawing/2014/main" id="{D3EE34BC-B74D-1345-B699-C6C13190002F}"/>
                </a:ext>
              </a:extLst>
            </p:cNvPr>
            <p:cNvPicPr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04904" y="3723261"/>
              <a:ext cx="539750" cy="53975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B9ADCD91-F2D1-3571-D5D1-7AF7FD29AE66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8C2FBB6E-7031-0AAE-E6CA-1530E9972D7A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3453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58644" y="466192"/>
                <a:ext cx="10345574" cy="1973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square root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written 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16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because both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−4</m:t>
                            </m:r>
                          </m:e>
                        </m:d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equal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cube a number means to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466192"/>
                <a:ext cx="10345574" cy="1973810"/>
              </a:xfrm>
              <a:prstGeom prst="rect">
                <a:avLst/>
              </a:prstGeom>
              <a:blipFill>
                <a:blip r:embed="rId3"/>
                <a:stretch>
                  <a:fillRect l="-943" t="-926" b="-5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Text&#10;&#10;Description automatically generated with medium confidence">
            <a:extLst>
              <a:ext uri="{FF2B5EF4-FFF2-40B4-BE49-F238E27FC236}">
                <a16:creationId xmlns:a16="http://schemas.microsoft.com/office/drawing/2014/main" id="{863967FF-6120-964E-A50C-ED5409B7661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5586" y="1625530"/>
            <a:ext cx="5907770" cy="13644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3089F8B-FFB2-364A-BF40-431F6C5E71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2055411"/>
                  </p:ext>
                </p:extLst>
              </p:nvPr>
            </p:nvGraphicFramePr>
            <p:xfrm>
              <a:off x="3284933" y="3868046"/>
              <a:ext cx="6437836" cy="40576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18918">
                      <a:extLst>
                        <a:ext uri="{9D8B030D-6E8A-4147-A177-3AD203B41FA5}">
                          <a16:colId xmlns:a16="http://schemas.microsoft.com/office/drawing/2014/main" val="3923882719"/>
                        </a:ext>
                      </a:extLst>
                    </a:gridCol>
                    <a:gridCol w="3218918">
                      <a:extLst>
                        <a:ext uri="{9D8B030D-6E8A-4147-A177-3AD203B41FA5}">
                          <a16:colId xmlns:a16="http://schemas.microsoft.com/office/drawing/2014/main" val="3249488671"/>
                        </a:ext>
                      </a:extLst>
                    </a:gridCol>
                  </a:tblGrid>
                  <a:tr h="405765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x-none" sz="24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>
                                            <a:effectLst/>
                                            <a:latin typeface="Cambria Math"/>
                                          </a:rPr>
                                          <m:t>−6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x-none" sz="24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404625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3089F8B-FFB2-364A-BF40-431F6C5E71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2055411"/>
                  </p:ext>
                </p:extLst>
              </p:nvPr>
            </p:nvGraphicFramePr>
            <p:xfrm>
              <a:off x="3284933" y="3868046"/>
              <a:ext cx="6437836" cy="40576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18918">
                      <a:extLst>
                        <a:ext uri="{9D8B030D-6E8A-4147-A177-3AD203B41FA5}">
                          <a16:colId xmlns:a16="http://schemas.microsoft.com/office/drawing/2014/main" val="3923882719"/>
                        </a:ext>
                      </a:extLst>
                    </a:gridCol>
                    <a:gridCol w="3218918">
                      <a:extLst>
                        <a:ext uri="{9D8B030D-6E8A-4147-A177-3AD203B41FA5}">
                          <a16:colId xmlns:a16="http://schemas.microsoft.com/office/drawing/2014/main" val="3249488671"/>
                        </a:ext>
                      </a:extLst>
                    </a:gridCol>
                  </a:tblGrid>
                  <a:tr h="4057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r="-998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1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04625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FCA6614-BDD6-172B-2E7B-0C6A18664592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625FBBD7-5FF7-B30C-418A-92A57FBA47B7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4902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3453" y="-11151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7493" y="474866"/>
                <a:ext cx="10303727" cy="4268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cube root of a number is a value that when multiplied by itself three times gives that number.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27=__</m:t>
                    </m:r>
                    <m:r>
                      <a:rPr lang="es-E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___</m:t>
                    </m:r>
                    <m:r>
                      <a:rPr lang="es-ES" sz="2400" i="1" baseline="30000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>
                        <m: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g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27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endParaRPr lang="en-US" sz="2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27=__</m:t>
                      </m:r>
                      <m:r>
                        <a:rPr lang="es-E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___</m:t>
                      </m:r>
                      <m:r>
                        <a:rPr lang="es-ES" sz="2400" i="1" baseline="30000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</m:t>
                      </m:r>
                      <m:rad>
                        <m:rad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radPr>
                        <m:deg>
                          <m: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deg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−27</m:t>
                          </m:r>
                        </m:e>
                      </m:rad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=_______</m:t>
                      </m:r>
                      <m:r>
                        <m:rPr>
                          <m:nor/>
                        </m:rP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</m:t>
                      </m:r>
                    </m:oMath>
                  </m:oMathPara>
                </a14:m>
                <a:endParaRPr lang="en-US" sz="2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cube root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written as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>
                        <m: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g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64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4∙4∙4=64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474866"/>
                <a:ext cx="10303727" cy="4268797"/>
              </a:xfrm>
              <a:prstGeom prst="rect">
                <a:avLst/>
              </a:prstGeom>
              <a:blipFill>
                <a:blip r:embed="rId3"/>
                <a:stretch>
                  <a:fillRect l="-888" t="-1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32C2BAEC-CA5B-E8C8-3D73-4844B483D87E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676E8843-E691-9934-4E11-BB57CE4E3E8C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5879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62739" y="276197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758FF271-6581-5740-BCCD-706D33EA7E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8879" y="2845750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0062259E-FE28-4AC0-8931-6B0AA726A81F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2C2787F1-4EBB-6372-429E-F84E8D160D12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45834" y="-122556"/>
            <a:ext cx="860291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1.4.4 Your Turn!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8644" y="1374634"/>
                <a:ext cx="9801922" cy="31348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value(s) of each.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121</m:t>
                        </m:r>
                      </m:e>
                    </m:rad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=_________</m:t>
                    </m:r>
                  </m:oMath>
                </a14:m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125</m:t>
                        </m:r>
                      </m:e>
                    </m:rad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=_________</m:t>
                    </m:r>
                  </m:oMath>
                </a14:m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8644" y="1374634"/>
                <a:ext cx="9801922" cy="3134897"/>
              </a:xfrm>
              <a:prstGeom prst="rect">
                <a:avLst/>
              </a:prstGeom>
              <a:blipFill>
                <a:blip r:embed="rId3"/>
                <a:stretch>
                  <a:fillRect l="-995" t="-7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2B53F9A7-2434-5D4E-B654-257F5CF1B6B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533" y="166644"/>
            <a:ext cx="747301" cy="747301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57996E2-50D3-8BF2-E796-84EC6B804232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4B3F7981-D963-579E-716B-03AE6D87A499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2926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55A5EB-E0C2-9B46-A8A5-A3041AB69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093" y="366685"/>
            <a:ext cx="79067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a partner to complete the chart.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E09EE19-421C-2F45-BF77-ADC9204104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2389956"/>
                  </p:ext>
                </p:extLst>
              </p:nvPr>
            </p:nvGraphicFramePr>
            <p:xfrm>
              <a:off x="1332481" y="956888"/>
              <a:ext cx="6840000" cy="524371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1229180556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3004316852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36134557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 Law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557770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8553979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0524093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7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5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9899940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32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1846428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10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8900604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8940371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3∙7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35965607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13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47232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E09EE19-421C-2F45-BF77-ADC9204104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2389956"/>
                  </p:ext>
                </p:extLst>
              </p:nvPr>
            </p:nvGraphicFramePr>
            <p:xfrm>
              <a:off x="1332481" y="956888"/>
              <a:ext cx="6840000" cy="524371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1229180556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3004316852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36134557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 Law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557770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42857" r="-281690" b="-75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8553979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5789" t="-237209" r="-1170" b="-637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524093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37209" r="-281690" b="-5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9899940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5789" t="-447619" r="-1170" b="-4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8464286"/>
                      </a:ext>
                    </a:extLst>
                  </a:tr>
                  <a:tr h="743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89831" r="-281690" b="-2203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8900604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5789" t="-672093" r="-1170" b="-2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940371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790476" r="-281690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35965607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5789" t="-869767" r="-1170" b="-46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47232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964B394-82A7-3EBF-BF54-790359BA5828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9194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8E1D3C5-4921-3344-BC58-FD0428E897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6946156"/>
                  </p:ext>
                </p:extLst>
              </p:nvPr>
            </p:nvGraphicFramePr>
            <p:xfrm>
              <a:off x="1535224" y="915048"/>
              <a:ext cx="6840000" cy="448580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653110063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673489239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1681501896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 Law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7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287424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6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25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2027528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5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Negative Exponents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5423600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11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11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7799769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Negative Exponents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45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558477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8E1D3C5-4921-3344-BC58-FD0428E897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6946156"/>
                  </p:ext>
                </p:extLst>
              </p:nvPr>
            </p:nvGraphicFramePr>
            <p:xfrm>
              <a:off x="1535224" y="915048"/>
              <a:ext cx="6840000" cy="448580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653110063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673489239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1681501896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 Law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872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8" t="-84932" r="-280743" b="-3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2874241"/>
                      </a:ext>
                    </a:extLst>
                  </a:tr>
                  <a:tr h="74580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6620" t="-221311" r="-1127" b="-2901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0275284"/>
                      </a:ext>
                    </a:extLst>
                  </a:tr>
                  <a:tr h="8886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8" t="-268493" r="-280743" b="-1424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Negative Exponents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5423600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8" t="-611364" r="-280743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77997692"/>
                      </a:ext>
                    </a:extLst>
                  </a:tr>
                  <a:tr h="70408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Negative Exponents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6620" t="-539655" r="-1127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58477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D9B41364-3297-54A0-D69D-0664EEE92AF7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901AABD5-4F99-4555-17D8-28D526B5C5A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8899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FC3FC1F-E65E-4840-9C57-2D0064E2A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480" y="446369"/>
                <a:ext cx="10243285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3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Marques, Pablo, and Tandice used the product of powers law to write an equivalent expression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−7</m:t>
                        </m:r>
                      </m:sup>
                    </m:sSup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Each student’s equivalent expression is shown in the table.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FC3FC1F-E65E-4840-9C57-2D0064E2A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4480" y="446369"/>
                <a:ext cx="10243285" cy="1200329"/>
              </a:xfrm>
              <a:prstGeom prst="rect">
                <a:avLst/>
              </a:prstGeom>
              <a:blipFill>
                <a:blip r:embed="rId4"/>
                <a:stretch>
                  <a:fillRect l="-892" t="-4061" b="-1066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0C53B53-8012-954F-9B05-B9550B83CD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962007"/>
                  </p:ext>
                </p:extLst>
              </p:nvPr>
            </p:nvGraphicFramePr>
            <p:xfrm>
              <a:off x="2262194" y="1911583"/>
              <a:ext cx="6000115" cy="1296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99615">
                      <a:extLst>
                        <a:ext uri="{9D8B030D-6E8A-4147-A177-3AD203B41FA5}">
                          <a16:colId xmlns:a16="http://schemas.microsoft.com/office/drawing/2014/main" val="873735010"/>
                        </a:ext>
                      </a:extLst>
                    </a:gridCol>
                    <a:gridCol w="2000250">
                      <a:extLst>
                        <a:ext uri="{9D8B030D-6E8A-4147-A177-3AD203B41FA5}">
                          <a16:colId xmlns:a16="http://schemas.microsoft.com/office/drawing/2014/main" val="689589448"/>
                        </a:ext>
                      </a:extLst>
                    </a:gridCol>
                    <a:gridCol w="2000250">
                      <a:extLst>
                        <a:ext uri="{9D8B030D-6E8A-4147-A177-3AD203B41FA5}">
                          <a16:colId xmlns:a16="http://schemas.microsoft.com/office/drawing/2014/main" val="1099803595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Marques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Pablo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Tandice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4663048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050135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0C53B53-8012-954F-9B05-B9550B83CD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962007"/>
                  </p:ext>
                </p:extLst>
              </p:nvPr>
            </p:nvGraphicFramePr>
            <p:xfrm>
              <a:off x="2262194" y="1911583"/>
              <a:ext cx="6000115" cy="1296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99615">
                      <a:extLst>
                        <a:ext uri="{9D8B030D-6E8A-4147-A177-3AD203B41FA5}">
                          <a16:colId xmlns:a16="http://schemas.microsoft.com/office/drawing/2014/main" val="873735010"/>
                        </a:ext>
                      </a:extLst>
                    </a:gridCol>
                    <a:gridCol w="2000250">
                      <a:extLst>
                        <a:ext uri="{9D8B030D-6E8A-4147-A177-3AD203B41FA5}">
                          <a16:colId xmlns:a16="http://schemas.microsoft.com/office/drawing/2014/main" val="689589448"/>
                        </a:ext>
                      </a:extLst>
                    </a:gridCol>
                    <a:gridCol w="2000250">
                      <a:extLst>
                        <a:ext uri="{9D8B030D-6E8A-4147-A177-3AD203B41FA5}">
                          <a16:colId xmlns:a16="http://schemas.microsoft.com/office/drawing/2014/main" val="1099803595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Marques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Pablo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Tandice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4663048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10" t="-56934" r="-201220" b="-2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04" t="-56934" r="-100608" b="-2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915" t="-56934" r="-915" b="-2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50135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C6F40B-4DD3-724B-AA8D-39F1ACC0AF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479" y="3835083"/>
                <a:ext cx="10243285" cy="19389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student’s answer is not an equivalent expression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−7</m:t>
                        </m:r>
                      </m:sup>
                    </m:sSup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 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student also applied the negative exponent law? </a:t>
                </a: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C6F40B-4DD3-724B-AA8D-39F1ACC0AF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4479" y="3835083"/>
                <a:ext cx="10243285" cy="1938992"/>
              </a:xfrm>
              <a:prstGeom prst="rect">
                <a:avLst/>
              </a:prstGeom>
              <a:blipFill>
                <a:blip r:embed="rId6"/>
                <a:stretch>
                  <a:fillRect t="-1887" r="-1249" b="-69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1DACC8D-6AB9-350F-AB96-1FF75B3246AD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388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2926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C3FC1F-E65E-4840-9C57-2D0064E2A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190" y="380111"/>
            <a:ext cx="103483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4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value of the variable(s) that makes the equation true.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10BB075-CB27-6F45-A830-95D5A8F40D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7088066"/>
                  </p:ext>
                </p:extLst>
              </p:nvPr>
            </p:nvGraphicFramePr>
            <p:xfrm>
              <a:off x="1324038" y="1066082"/>
              <a:ext cx="6480000" cy="545484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val="638092776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3296776440"/>
                        </a:ext>
                      </a:extLst>
                    </a:gridCol>
                  </a:tblGrid>
                  <a:tr h="2160000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</a:pPr>
                          <a:r>
                            <a:rPr lang="en-PH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 7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10</m:t>
                                  </m:r>
                                </m:sup>
                              </m:sSup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7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7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𝑓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45720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  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𝑓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=______</m:t>
                                </m:r>
                              </m:oMath>
                            </m:oMathPara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768" marR="59768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2"/>
                          </a:pPr>
                          <a:r>
                            <a:rPr lang="en-PH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 3</m:t>
                                  </m:r>
                                </m:deg>
                                <m:e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h</m:t>
                                  </m:r>
                                </m:e>
                              </m:rad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∙</m:t>
                              </m:r>
                              <m:rad>
                                <m:rad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h</m:t>
                                  </m:r>
                                </m:e>
                              </m:rad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∙</m:t>
                              </m:r>
                              <m:rad>
                                <m:rad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h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=−13</m:t>
                              </m:r>
                            </m:oMath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45720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  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=______</m:t>
                                </m:r>
                              </m:oMath>
                            </m:oMathPara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768" marR="59768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86508756"/>
                      </a:ext>
                    </a:extLst>
                  </a:tr>
                  <a:tr h="2291663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3"/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rad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∙</m:t>
                              </m:r>
                              <m:rad>
                                <m:radPr>
                                  <m:degHide m:val="on"/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=26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45720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  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=______</m:t>
                                </m:r>
                              </m:oMath>
                            </m:oMathPara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768" marR="59768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4"/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x-none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>
                                          <a:effectLst/>
                                          <a:latin typeface="Cambria Math"/>
                                        </a:rPr>
                                        <m:t>7</m:t>
                                      </m:r>
                                    </m:e>
                                    <m:sup>
                                      <m:r>
                                        <a:rPr lang="en-US" sz="2400">
                                          <a:effectLst/>
                                          <a:latin typeface="Cambria Math"/>
                                        </a:rPr>
                                        <m:t>5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x-none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>
                                          <a:effectLst/>
                                          <a:latin typeface="Cambria Math"/>
                                        </a:rPr>
                                        <m:t>6</m:t>
                                      </m:r>
                                    </m:e>
                                    <m:sup>
                                      <m:r>
                                        <a:rPr lang="en-US" sz="2400">
                                          <a:effectLst/>
                                          <a:latin typeface="Cambria Math"/>
                                        </a:rPr>
                                        <m:t>5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x-none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x-none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>
                                              <a:effectLst/>
                                              <a:latin typeface="Cambria Math"/>
                                            </a:rPr>
                                            <m:t>6</m:t>
                                          </m:r>
                                        </m:num>
                                        <m:den>
                                          <m:r>
                                            <a:rPr lang="en-US" sz="2400">
                                              <a:effectLst/>
                                              <a:latin typeface="Cambria Math"/>
                                            </a:rPr>
                                            <m:t>7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𝑦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45720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  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=______</m:t>
                                </m:r>
                              </m:oMath>
                            </m:oMathPara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768" marR="59768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11761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10BB075-CB27-6F45-A830-95D5A8F40D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7088066"/>
                  </p:ext>
                </p:extLst>
              </p:nvPr>
            </p:nvGraphicFramePr>
            <p:xfrm>
              <a:off x="1324038" y="1066082"/>
              <a:ext cx="6480000" cy="545484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val="638092776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3296776440"/>
                        </a:ext>
                      </a:extLst>
                    </a:gridCol>
                  </a:tblGrid>
                  <a:tr h="27456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768" marR="59768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548" r="-100000" b="-986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768" marR="59768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3548" b="-986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6508756"/>
                      </a:ext>
                    </a:extLst>
                  </a:tr>
                  <a:tr h="27092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768" marR="59768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4944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768" marR="59768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1049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761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E7E0CB5A-56BE-818A-E817-22F08FB75204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FF6385D9-C0AA-D68D-28A5-E9491C1D222B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5143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550" y="2926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97019B6-F6A5-9144-9E9C-EF2841F301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2794811"/>
                  </p:ext>
                </p:extLst>
              </p:nvPr>
            </p:nvGraphicFramePr>
            <p:xfrm>
              <a:off x="1333914" y="536152"/>
              <a:ext cx="6480000" cy="548887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val="4049665999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3254399340"/>
                        </a:ext>
                      </a:extLst>
                    </a:gridCol>
                  </a:tblGrid>
                  <a:tr h="2411124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5"/>
                          </a:pPr>
                          <a:r>
                            <a:rPr lang="en-PH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35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12</m:t>
                                  </m:r>
                                </m:sup>
                              </m:sSup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  </m:t>
                                  </m:r>
                                  <m:d>
                                    <m:dPr>
                                      <m:ctrlPr>
                                        <a:rPr lang="x-none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x-none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>
                                              <a:effectLst/>
                                              <a:latin typeface="Cambria Math"/>
                                            </a:rPr>
                                            <m:t>35</m:t>
                                          </m:r>
                                        </m:e>
                                        <m:sup>
                                          <m:r>
                                            <a:rPr lang="en-US" sz="2400">
                                              <a:effectLst/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 </a:t>
                          </a:r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  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45720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  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=______</m:t>
                                </m:r>
                              </m:oMath>
                            </m:oMathPara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45720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54000" marR="54000" marT="16200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6"/>
                          </a:pPr>
                          <a:r>
                            <a:rPr lang="en-PH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x-none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x-none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>
                                              <a:effectLst/>
                                              <a:latin typeface="Cambria Math"/>
                                            </a:rPr>
                                            <m:t>9</m:t>
                                          </m:r>
                                        </m:num>
                                        <m:den>
                                          <m:r>
                                            <a:rPr lang="en-US" sz="2400">
                                              <a:effectLst/>
                                              <a:latin typeface="Cambria Math"/>
                                            </a:rPr>
                                            <m:t>10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𝑟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 </a:t>
                          </a:r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   </a:t>
                          </a:r>
                        </a:p>
                        <a:p>
                          <a:pPr marL="45720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  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𝑐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=______</m:t>
                                </m:r>
                              </m:oMath>
                            </m:oMathPara>
                          </a14:m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45720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  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𝑟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=______</m:t>
                                </m:r>
                              </m:oMath>
                            </m:oMathPara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45720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52950" marR="5295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01238367"/>
                      </a:ext>
                    </a:extLst>
                  </a:tr>
                  <a:tr h="1940214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7"/>
                          </a:pPr>
                          <a:r>
                            <a:rPr lang="en-PH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18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0</m:t>
                                  </m:r>
                                </m:sup>
                              </m:sSup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x-none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>
                                          <a:effectLst/>
                                          <a:latin typeface="Cambria Math"/>
                                        </a:rPr>
                                        <m:t>18</m:t>
                                      </m:r>
                                    </m:e>
                                    <m:sup>
                                      <m:r>
                                        <a:rPr lang="en-US" sz="2400">
                                          <a:effectLst/>
                                          <a:latin typeface="Cambria Math"/>
                                        </a:rPr>
                                        <m:t>𝑤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x-none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>
                                          <a:effectLst/>
                                          <a:latin typeface="Cambria Math"/>
                                        </a:rPr>
                                        <m:t>18</m:t>
                                      </m:r>
                                    </m:e>
                                    <m:sup>
                                      <m:r>
                                        <a:rPr lang="en-US" sz="2400">
                                          <a:effectLst/>
                                          <a:latin typeface="Cambria Math"/>
                                        </a:rPr>
                                        <m:t>7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 </a:t>
                          </a:r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45720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  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𝑤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=______</m:t>
                                </m:r>
                              </m:oMath>
                            </m:oMathPara>
                          </a14:m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  <a:endParaRPr lang="x-none" sz="24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52950" marR="5295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  <a:endParaRPr lang="x-none" sz="24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52950" marR="5295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743069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97019B6-F6A5-9144-9E9C-EF2841F301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2794811"/>
                  </p:ext>
                </p:extLst>
              </p:nvPr>
            </p:nvGraphicFramePr>
            <p:xfrm>
              <a:off x="1333914" y="536152"/>
              <a:ext cx="6480000" cy="548887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val="4049665999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3254399340"/>
                        </a:ext>
                      </a:extLst>
                    </a:gridCol>
                  </a:tblGrid>
                  <a:tr h="33670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000" marR="54000" marT="16200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100000" b="-631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950" marR="5295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b="-631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1238367"/>
                      </a:ext>
                    </a:extLst>
                  </a:tr>
                  <a:tr h="21218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950" marR="5295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58453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  <a:endParaRPr lang="x-none" sz="24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52950" marR="5295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743069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8F5DB789-A189-D5F2-985A-3DBDA80A00DF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E0CB1AAB-B28A-CB5D-6FA1-1270EB55D6FA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5951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531882" y="277909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9812" y="293369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F9053AC-9BEE-F998-665B-0C67E7139007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5C643577-A0C3-64C0-7648-D17B9CA28D7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95207" y="88803"/>
            <a:ext cx="9064276" cy="701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1.4.5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7907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/>
              <p:nvPr/>
            </p:nvSpPr>
            <p:spPr>
              <a:xfrm>
                <a:off x="847493" y="1089372"/>
                <a:ext cx="1022566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the symbols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compare each pair of values. Then, explain your choice.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1089372"/>
                <a:ext cx="10225668" cy="830997"/>
              </a:xfrm>
              <a:prstGeom prst="rect">
                <a:avLst/>
              </a:prstGeom>
              <a:blipFill>
                <a:blip r:embed="rId4"/>
                <a:stretch>
                  <a:fillRect l="-89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C61332D-1D24-7244-9B44-42CC8E1316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1762956"/>
                  </p:ext>
                </p:extLst>
              </p:nvPr>
            </p:nvGraphicFramePr>
            <p:xfrm>
              <a:off x="2151750" y="2098616"/>
              <a:ext cx="6480000" cy="418081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402084754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val="3448235715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Explanation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246365"/>
                      </a:ext>
                    </a:extLst>
                  </a:tr>
                  <a:tr h="123760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2∙3</m:t>
                              </m:r>
                            </m:oMath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27764935"/>
                      </a:ext>
                    </a:extLst>
                  </a:tr>
                  <a:tr h="123760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_____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61203150"/>
                      </a:ext>
                    </a:extLst>
                  </a:tr>
                  <a:tr h="123760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100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_____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100</m:t>
                                  </m:r>
                                </m:sup>
                              </m:sSup>
                            </m:oMath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245204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C61332D-1D24-7244-9B44-42CC8E1316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1762956"/>
                  </p:ext>
                </p:extLst>
              </p:nvPr>
            </p:nvGraphicFramePr>
            <p:xfrm>
              <a:off x="2151750" y="2098616"/>
              <a:ext cx="6480000" cy="418081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402084754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val="3448235715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Explanation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246365"/>
                      </a:ext>
                    </a:extLst>
                  </a:tr>
                  <a:tr h="12376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03" t="-38776" r="-157789" b="-20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27764935"/>
                      </a:ext>
                    </a:extLst>
                  </a:tr>
                  <a:tr h="12376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03" t="-140206" r="-157789" b="-103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61203150"/>
                      </a:ext>
                    </a:extLst>
                  </a:tr>
                  <a:tr h="12376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03" t="-237755" r="-157789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2452042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23EF8F4-4107-03D1-1E7A-5BDB78527670}"/>
              </a:ext>
            </a:extLst>
          </p:cNvPr>
          <p:cNvSpPr txBox="1"/>
          <p:nvPr/>
        </p:nvSpPr>
        <p:spPr>
          <a:xfrm>
            <a:off x="89293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D6677C60-CCD0-3CDF-DB0D-7458FCA6F160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3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3108</TotalTime>
  <Words>1001</Words>
  <Application>Microsoft Office PowerPoint</Application>
  <PresentationFormat>Widescreen</PresentationFormat>
  <Paragraphs>265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Verdana</vt:lpstr>
      <vt:lpstr>Wingdings</vt:lpstr>
      <vt:lpstr>Century Gothic</vt:lpstr>
      <vt:lpstr>Calibri</vt:lpstr>
      <vt:lpstr>Arial Black</vt:lpstr>
      <vt:lpstr>Cambria Math</vt:lpstr>
      <vt:lpstr>Arial</vt:lpstr>
      <vt:lpstr>1_Office Theme</vt:lpstr>
      <vt:lpstr>Algebra 1  Unit 1, Lesson 4  Applying the Laws of Exponents  Volume 1, pg. 22  </vt:lpstr>
      <vt:lpstr>Benchmark</vt:lpstr>
      <vt:lpstr>PowerPoint Presentation</vt:lpstr>
      <vt:lpstr>PowerPoint Presentation</vt:lpstr>
      <vt:lpstr>Warm-Up</vt:lpstr>
      <vt:lpstr>PowerPoint Presentation</vt:lpstr>
      <vt:lpstr>Refresher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32</cp:revision>
  <dcterms:created xsi:type="dcterms:W3CDTF">2015-03-17T18:51:18Z</dcterms:created>
  <dcterms:modified xsi:type="dcterms:W3CDTF">2022-06-21T18:33:08Z</dcterms:modified>
</cp:coreProperties>
</file>