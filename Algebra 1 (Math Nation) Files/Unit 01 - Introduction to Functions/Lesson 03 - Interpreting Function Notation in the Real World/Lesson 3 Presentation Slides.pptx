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45" r:id="rId4"/>
    <p:sldId id="286" r:id="rId5"/>
    <p:sldId id="261" r:id="rId6"/>
    <p:sldId id="287" r:id="rId7"/>
    <p:sldId id="346" r:id="rId8"/>
    <p:sldId id="347" r:id="rId9"/>
    <p:sldId id="348" r:id="rId10"/>
    <p:sldId id="349" r:id="rId11"/>
    <p:sldId id="366" r:id="rId12"/>
    <p:sldId id="367" r:id="rId13"/>
    <p:sldId id="368" r:id="rId14"/>
    <p:sldId id="361" r:id="rId15"/>
    <p:sldId id="362" r:id="rId16"/>
    <p:sldId id="363" r:id="rId17"/>
    <p:sldId id="364" r:id="rId18"/>
    <p:sldId id="370" r:id="rId19"/>
    <p:sldId id="372" r:id="rId20"/>
    <p:sldId id="314" r:id="rId21"/>
    <p:sldId id="315" r:id="rId22"/>
    <p:sldId id="354" r:id="rId23"/>
    <p:sldId id="355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63"/>
    <a:srgbClr val="E24E5F"/>
    <a:srgbClr val="1765AD"/>
    <a:srgbClr val="1664AC"/>
    <a:srgbClr val="BFBFBF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34" autoAdjust="0"/>
    <p:restoredTop sz="94591" autoAdjust="0"/>
  </p:normalViewPr>
  <p:slideViewPr>
    <p:cSldViewPr snapToGrid="0">
      <p:cViewPr varScale="1">
        <p:scale>
          <a:sx n="111" d="100"/>
          <a:sy n="111" d="100"/>
        </p:scale>
        <p:origin x="1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Volumes\GoogleDrive\My%20Drive\MN%20Level%200%20-%20Content%20Team\MN%20-%20Content%20Development%20Ideas%20and%20Resources\MN%20-%20BEST%20Standards%20Content%20Development\BEST%20Organization%20for%20content%20writing%20\BEST%20Content\new%20folder%20structure\Algebra%201\Step%209%20-%20Ashley\Step%2012%20Filming%20:%20K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en-US" sz="2000" b="1" dirty="0">
                <a:solidFill>
                  <a:schemeClr val="tx1"/>
                </a:solidFill>
              </a:rPr>
              <a:t>Estimated Grizzly Bear Population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0">
                <a:solidFill>
                  <a:schemeClr val="accent1"/>
                </a:solidFill>
              </a:ln>
              <a:effectLst/>
            </c:spPr>
          </c:marker>
          <c:xVal>
            <c:numRef>
              <c:f>[A1_1_3_MA912F12_v7.xlsx]Sheet1!$A$2:$A$12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0</c:v>
                </c:pt>
              </c:numCache>
            </c:numRef>
          </c:xVal>
          <c:yVal>
            <c:numRef>
              <c:f>[A1_1_3_MA912F12_v7.xlsx]Sheet1!$B$2:$B$12</c:f>
              <c:numCache>
                <c:formatCode>General</c:formatCode>
                <c:ptCount val="11"/>
                <c:pt idx="0">
                  <c:v>737</c:v>
                </c:pt>
                <c:pt idx="1">
                  <c:v>714</c:v>
                </c:pt>
                <c:pt idx="2">
                  <c:v>718</c:v>
                </c:pt>
                <c:pt idx="3">
                  <c:v>695</c:v>
                </c:pt>
                <c:pt idx="4">
                  <c:v>723</c:v>
                </c:pt>
                <c:pt idx="5">
                  <c:v>757</c:v>
                </c:pt>
                <c:pt idx="6">
                  <c:v>741</c:v>
                </c:pt>
                <c:pt idx="7">
                  <c:v>718</c:v>
                </c:pt>
                <c:pt idx="8">
                  <c:v>593</c:v>
                </c:pt>
                <c:pt idx="9">
                  <c:v>602</c:v>
                </c:pt>
                <c:pt idx="10">
                  <c:v>582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3C7-7745-92B9-BF16E8A61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562560"/>
        <c:axId val="48564480"/>
      </c:scatterChart>
      <c:valAx>
        <c:axId val="4856256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48564480"/>
        <c:crosses val="autoZero"/>
        <c:crossBetween val="midCat"/>
        <c:majorUnit val="1"/>
      </c:valAx>
      <c:valAx>
        <c:axId val="48564480"/>
        <c:scaling>
          <c:orientation val="minMax"/>
          <c:min val="4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48562560"/>
        <c:crosses val="autoZero"/>
        <c:crossBetween val="midCat"/>
        <c:majorUnit val="100"/>
      </c:valAx>
      <c:spPr>
        <a:noFill/>
        <a:ln>
          <a:solidFill>
            <a:schemeClr val="accent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3475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0697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7855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943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201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012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7831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309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9914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8355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Interpreting Function Notation in the Real World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504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33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00" y="36413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47493" y="1463043"/>
            <a:ext cx="985767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MA.912.F.1.2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function represented in function notation, evaluate the function for an input in its domain. For a real-world context, interpret the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052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41384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836341" y="1463591"/>
            <a:ext cx="9835376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AE8E350-BD27-EF1B-A59B-CC03D95A21C8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FF5ACAD0-D7F9-218B-62CF-EAC3BCC92BC5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687968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934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47493" y="1608364"/>
            <a:ext cx="907007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evaluate a function for a specific input value of the domain and interpret it in a real-world context.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E7C3B92-5A7B-5F2D-AC99-1B3923C44618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A792BC3B-F8D1-68E3-0AEB-76AF77DDFF1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350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09564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932AA96-15B2-E4D2-39F2-8048356B6A65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4866A24-AF6F-D1AB-EE96-5ACFDC77EDD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0329" y="45151"/>
            <a:ext cx="92213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1.3.1 Warm-Up: Equivalent Function Values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742" y="1963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47493" y="1563678"/>
                <a:ext cx="1045984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the boxes to construct two functions where the final equality statement is true.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digits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once each at most.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1563678"/>
                <a:ext cx="10459844" cy="1569660"/>
              </a:xfrm>
              <a:prstGeom prst="rect">
                <a:avLst/>
              </a:prstGeom>
              <a:blipFill>
                <a:blip r:embed="rId4"/>
                <a:stretch>
                  <a:fillRect l="-874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 descr="A picture containing square&#10;&#10;Description automatically generated">
            <a:extLst>
              <a:ext uri="{FF2B5EF4-FFF2-40B4-BE49-F238E27FC236}">
                <a16:creationId xmlns:a16="http://schemas.microsoft.com/office/drawing/2014/main" id="{EB78543D-4DAB-414D-9CEE-5B969AD882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8010" y="3604966"/>
            <a:ext cx="3338946" cy="2011133"/>
          </a:xfrm>
          <a:prstGeom prst="rect">
            <a:avLst/>
          </a:prstGeom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1F44D620-F0EF-CC20-3B60-56C05B93D8C8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>
            <a:extLst>
              <a:ext uri="{FF2B5EF4-FFF2-40B4-BE49-F238E27FC236}">
                <a16:creationId xmlns:a16="http://schemas.microsoft.com/office/drawing/2014/main" id="{551FD4A2-38E2-C8F5-43F8-DAEEF60FF1E4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5852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id="{42492999-A2C9-4148-A1AE-C1AA921093D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65789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6BAC1AB-A895-64BA-0963-1990F276C1AE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9A3EAB1-9E37-F326-7871-CE2B30E007C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71525" y="0"/>
            <a:ext cx="103484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1.3.2 Guided Instruction: Interpreting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644" y="1531999"/>
                <a:ext cx="9935736" cy="3416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Recall that functions have a special notation which allows unique relationships to be expressed in a concise and meaningful way. 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value of a function is dependent on the input. The statement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(2)=60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means that for an input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 value of the function, 𝐷, is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Functions can be used to model real-world relationships.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8644" y="1531999"/>
                <a:ext cx="9935736" cy="3416320"/>
              </a:xfrm>
              <a:prstGeom prst="rect">
                <a:avLst/>
              </a:prstGeom>
              <a:blipFill>
                <a:blip r:embed="rId3"/>
                <a:stretch>
                  <a:fillRect l="-982" t="-1426" b="-30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382008CF-0CEE-FD42-81C1-51B960F0094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223" y="194354"/>
            <a:ext cx="747302" cy="747302"/>
          </a:xfrm>
          <a:prstGeom prst="rect">
            <a:avLst/>
          </a:prstGeom>
          <a:ln/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96D5B93-6306-A170-79BE-472220EE817C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8DD14852-AA4C-47A1-D21A-D71177A8DC1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318CE7-6092-1946-842D-9D3BBB6A8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2" y="875938"/>
                <a:ext cx="10091854" cy="31569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models the outside temperature in degrees Fahrenheit 𝑡 hours after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a.m., the statement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(2)=60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specific meaning within the context.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4025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(2)=60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interpreted as _____ hours after ___ a.m., which is _____ a.m., the outside temperature is _____ degrees Fahrenheit.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318CE7-6092-1946-842D-9D3BBB6A8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2" y="875938"/>
                <a:ext cx="10091854" cy="3156954"/>
              </a:xfrm>
              <a:prstGeom prst="rect">
                <a:avLst/>
              </a:prstGeom>
              <a:blipFill>
                <a:blip r:embed="rId3"/>
                <a:stretch>
                  <a:fillRect l="-906" t="-1351" r="-1691" b="-38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20E9BF75-FACF-795B-6C7E-33E134BCFF4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794EDC54-AB69-6B37-7F38-15233B9F42B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390500"/>
                <a:ext cx="993573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Physics students drop a ball from the top of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foot high building and model its height above the ground as a function of time using the function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)=400−16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height, 𝐻, is measured in feet and time, 𝑡, is measured in seconds.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 in the context of this problem?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390500"/>
                <a:ext cx="9935737" cy="4524315"/>
              </a:xfrm>
              <a:prstGeom prst="rect">
                <a:avLst/>
              </a:prstGeom>
              <a:blipFill>
                <a:blip r:embed="rId3"/>
                <a:stretch>
                  <a:fillRect l="-920" t="-1213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6F33202-E1D6-81D5-3CF7-0692C7A09D6A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27B8767E-7446-A40B-EBD8-475ACF4450A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406828"/>
                <a:ext cx="9935737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meaning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based on the given context.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José is asked to interpret the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Is interpreting this value reasonable in the context of this situation?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406828"/>
                <a:ext cx="9935737" cy="5262979"/>
              </a:xfrm>
              <a:prstGeom prst="rect">
                <a:avLst/>
              </a:prstGeom>
              <a:blipFill>
                <a:blip r:embed="rId3"/>
                <a:stretch>
                  <a:fillRect t="-1043" b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A46615A3-6879-57F8-C9E4-E6A3C244BE85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7B3A632B-92DE-8D76-5299-D2F2A572293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81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58644" y="414401"/>
            <a:ext cx="848067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𝐻(𝑡) is shown on the coordinate grid.</a:t>
            </a:r>
          </a:p>
          <a:p>
            <a:pPr marL="914400" indent="-457200">
              <a:lnSpc>
                <a:spcPct val="150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the context,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𝑥-axis represents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the 𝑦-axis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_______________.</a:t>
            </a:r>
          </a:p>
          <a:p>
            <a:pPr marL="900113" indent="-457200">
              <a:spcAft>
                <a:spcPts val="1200"/>
              </a:spcAft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will the height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ball be when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hits the ground? </a:t>
            </a:r>
          </a:p>
          <a:p>
            <a:pPr marL="900113" indent="-457200">
              <a:spcAft>
                <a:spcPts val="1200"/>
              </a:spcAft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point where the ball will hit the ground.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7E899-5E26-D048-8215-670A41FB89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9399" y="1069125"/>
            <a:ext cx="4476750" cy="4476750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A32C3A4-C4BA-202E-310E-1EACEA9D54A7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30682757-A06D-AD5A-E0BD-85653A75B80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8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3" y="387537"/>
                <a:ext cx="9801923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point where the ball hits the ground using function notation.</a:t>
                </a: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𝐻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(______)=________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long did it take the ball to hit the ground after it was released?</a:t>
                </a: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(1.8)&gt;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(3.4)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means in terms of the context.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3" y="387537"/>
                <a:ext cx="9801923" cy="5262979"/>
              </a:xfrm>
              <a:prstGeom prst="rect">
                <a:avLst/>
              </a:prstGeom>
              <a:blipFill>
                <a:blip r:embed="rId3"/>
                <a:stretch>
                  <a:fillRect t="-927" r="-684" b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827F3387-FF07-0A07-AE7D-32DDD226DC33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0AADA65E-64E3-10B0-2445-9D56616974E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789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5799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EB3AE54-B0EA-6344-8025-AF5E2828F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3712" y="284992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847643EA-A64D-E2BA-9B45-39874175E9F5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A16202CF-764E-185F-107E-5932C238A2F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385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0809" y="0"/>
            <a:ext cx="10069901" cy="1222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1.3.3 Guided Practice: Interpreting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1598188"/>
                <a:ext cx="10069901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population of grizzly bears at Yellowstone National Park has been threatened with local extinction since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1975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 Through many conservation efforts, grizzlies have made a remarkable recovery. The function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modeled below, where 𝑡 is the number of years since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2009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𝐺 is the number of grizzly bears. 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1598188"/>
                <a:ext cx="10069901" cy="2308324"/>
              </a:xfrm>
              <a:prstGeom prst="rect">
                <a:avLst/>
              </a:prstGeom>
              <a:blipFill>
                <a:blip r:embed="rId4"/>
                <a:stretch>
                  <a:fillRect l="-908" t="-1583" b="-55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71162AB1-D87B-FD4B-B2C6-873E0C13F1C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23" y="102483"/>
            <a:ext cx="747301" cy="74730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1A8F8D0-E8A4-9E7C-C0A2-CD641730DBDA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507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A79A0-14A1-FF4F-928B-36DE24990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3" y="497625"/>
            <a:ext cx="10192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 the 𝑥 and 𝑦 axes based on the context.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9BDC59A-7ED1-0440-B4CD-3132A07D12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629270"/>
              </p:ext>
            </p:extLst>
          </p:nvPr>
        </p:nvGraphicFramePr>
        <p:xfrm>
          <a:off x="1916850" y="1062322"/>
          <a:ext cx="54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3A0985-4A14-1A42-8C3D-49D5958A8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4913376"/>
                <a:ext cx="9913434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approximate value from the graph above.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(3)  ≈ _________</m:t>
                      </m:r>
                    </m:oMath>
                  </m:oMathPara>
                </a14:m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3A0985-4A14-1A42-8C3D-49D5958A8A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4913376"/>
                <a:ext cx="9913434" cy="1200329"/>
              </a:xfrm>
              <a:prstGeom prst="rect">
                <a:avLst/>
              </a:prstGeom>
              <a:blipFill>
                <a:blip r:embed="rId4"/>
                <a:stretch>
                  <a:fillRect t="-4061" b="-71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52CD6A1-F2D6-AFC5-FE59-DA24505BFB84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9D07A00-83B8-7F3C-A34B-3AF38F206D2B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8740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412273"/>
                <a:ext cx="9946887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context of this problem,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means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 after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2009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there were approximately ______ bears in Yellowstone.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approximate value from the graph.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𝐺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(8 ½)  ≈ 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 ½)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 in the context of this problem?</a:t>
                </a: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there is not a value of 𝑡, such that </a:t>
                </a:r>
              </a:p>
              <a:p>
                <a:pPr algn="ctr"/>
                <a:endParaRPr lang="en-US" sz="2000" i="1" dirty="0"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𝑡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= 710.5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412273"/>
                <a:ext cx="9946887" cy="5324535"/>
              </a:xfrm>
              <a:prstGeom prst="rect">
                <a:avLst/>
              </a:prstGeom>
              <a:blipFill>
                <a:blip r:embed="rId3"/>
                <a:stretch>
                  <a:fillRect t="-802" b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2F683143-EB05-6251-90EE-40468407B333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839FB754-8A8C-935D-5052-071CD55D408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8228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36341" y="398666"/>
                <a:ext cx="9857679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Matthew filled his bathtub, took a bath, and then drained the tub.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gives the depth of the water, in inches, 𝑚 minutes after he began to fill the bathtub.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the meaning of each statement in this context.</a:t>
                </a: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𝐵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(0)=0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𝐵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9.5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𝐵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the inequality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(1)&lt;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likely true in this context.</a:t>
                </a:r>
              </a:p>
              <a:p>
                <a:pPr marL="8969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398666"/>
                <a:ext cx="9857679" cy="5693866"/>
              </a:xfrm>
              <a:prstGeom prst="rect">
                <a:avLst/>
              </a:prstGeom>
              <a:blipFill>
                <a:blip r:embed="rId3"/>
                <a:stretch>
                  <a:fillRect l="-680" t="-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7AC0CD2-CB52-B600-0E2F-89B53B33AA25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450E1722-02DC-9CBA-2635-CFD55834C4F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3174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417317"/>
                <a:ext cx="952314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biologist is studying the relationship between a tree’s diameter and its height. She records the following data for seven different trees using the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𝐻 represents the height, in feet, and 𝑑 represents the diameter, in inches.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417317"/>
                <a:ext cx="9523141" cy="1323439"/>
              </a:xfrm>
              <a:prstGeom prst="rect">
                <a:avLst/>
              </a:prstGeom>
              <a:blipFill>
                <a:blip r:embed="rId3"/>
                <a:stretch>
                  <a:fillRect l="-704" t="-2752" r="-1536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A27B8A3-56A6-CC44-8C4D-4BC0097BD9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1032838"/>
                  </p:ext>
                </p:extLst>
              </p:nvPr>
            </p:nvGraphicFramePr>
            <p:xfrm>
              <a:off x="2639229" y="1841003"/>
              <a:ext cx="5400000" cy="14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54769401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71489628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5124447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0991367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891860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07081652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4372825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334468835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Diameter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759644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Height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(feet)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38838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A27B8A3-56A6-CC44-8C4D-4BC0097BD9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1032838"/>
                  </p:ext>
                </p:extLst>
              </p:nvPr>
            </p:nvGraphicFramePr>
            <p:xfrm>
              <a:off x="2639229" y="1841003"/>
              <a:ext cx="5400000" cy="14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54769401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71489628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5124447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0991367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891860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07081652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4372825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334468835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Diameter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361" r="-601124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3361" r="-501124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5682" t="-3361" r="-406818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8876" t="-3361" r="-302247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876" t="-3361" r="-202247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7955" t="-3361" r="-104545" b="-112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753" t="-3361" r="-3371" b="-112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759644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Height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(feet)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04237" r="-601124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04237" r="-501124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5682" t="-104237" r="-406818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8876" t="-104237" r="-302247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876" t="-104237" r="-202247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7955" t="-104237" r="-104545" b="-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753" t="-104237" r="-3371" b="-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8838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707666" y="3381251"/>
                <a:ext cx="986368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indent="-4429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Fill in the blanks in the following sentence to interpret the statement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(10) = 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this context. </a:t>
                </a:r>
              </a:p>
              <a:p>
                <a:pPr marL="900113" indent="-44291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142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tree with a diameter of _____ has a height of _____.</a:t>
                </a:r>
              </a:p>
              <a:p>
                <a:pPr marL="900113" indent="-44291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4291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4291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00113" indent="-44291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4291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indent="-44291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the given context.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6" y="3381251"/>
                <a:ext cx="9863689" cy="3170099"/>
              </a:xfrm>
              <a:prstGeom prst="rect">
                <a:avLst/>
              </a:prstGeom>
              <a:blipFill>
                <a:blip r:embed="rId5"/>
                <a:stretch>
                  <a:fillRect t="-1346" r="-136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852296C-947A-8596-A1CF-FEAFEB4AEBF0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6E25AE7B-9344-2A66-3911-2DB8225BA33A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2748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80094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8.png">
            <a:extLst>
              <a:ext uri="{FF2B5EF4-FFF2-40B4-BE49-F238E27FC236}">
                <a16:creationId xmlns:a16="http://schemas.microsoft.com/office/drawing/2014/main" id="{506D0EDA-9573-1745-9D7E-7D9D9383C26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87322" y="2846297"/>
            <a:ext cx="1165395" cy="116539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6EA7D43-1593-F0F3-C8FF-8D95884ED986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D73EA4B-0D7B-340B-4F27-5176CE79E59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836" y="180382"/>
            <a:ext cx="105171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1.3.4 Try It: Evaluating and Interpreting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58644" y="1394190"/>
                <a:ext cx="990752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groups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or more people, a charter bus company determines the rate per person according to the formula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)=8 –0.05(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–80)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𝑛 represents the number of people and 𝑅 represents the rate, in dollars, charged to each customer. 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1394190"/>
                <a:ext cx="9907520" cy="1323439"/>
              </a:xfrm>
              <a:prstGeom prst="rect">
                <a:avLst/>
              </a:prstGeom>
              <a:blipFill>
                <a:blip r:embed="rId3"/>
                <a:stretch>
                  <a:fillRect l="-677" t="-3226" r="-1231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8.png">
            <a:extLst>
              <a:ext uri="{FF2B5EF4-FFF2-40B4-BE49-F238E27FC236}">
                <a16:creationId xmlns:a16="http://schemas.microsoft.com/office/drawing/2014/main" id="{9C942A0C-CA37-FD4A-8436-711A636B73F6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1619" y="347709"/>
            <a:ext cx="750931" cy="75093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77E398-4C79-EE4A-9F9B-FD2C2C1659F1}"/>
                  </a:ext>
                </a:extLst>
              </p:cNvPr>
              <p:cNvSpPr txBox="1"/>
              <p:nvPr/>
            </p:nvSpPr>
            <p:spPr>
              <a:xfrm>
                <a:off x="858644" y="3152446"/>
                <a:ext cx="889432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value and interpret it in context.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𝑅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(75) = _________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69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𝑅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(85) = _________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(75)&gt;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this context?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77E398-4C79-EE4A-9F9B-FD2C2C165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3152446"/>
                <a:ext cx="8894328" cy="2862322"/>
              </a:xfrm>
              <a:prstGeom prst="rect">
                <a:avLst/>
              </a:prstGeom>
              <a:blipFill>
                <a:blip r:embed="rId5"/>
                <a:stretch>
                  <a:fillRect t="-1489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5EDD35DC-BFD6-2F74-85D1-936FA90ED2C9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B86FD07C-9F27-CC55-072F-3B5540D81F7C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504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9893" y="284992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CE623E4-B5D6-2A28-2C89-AC30845A4448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3711B8A-E76C-7E79-2AED-227E2696426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52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98897" y="44932"/>
            <a:ext cx="8306646" cy="99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1.3.5 Your Turn!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672" y="166644"/>
            <a:ext cx="747301" cy="747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960C59-B7AD-304D-AF82-41AC2063A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493" y="2872123"/>
                <a:ext cx="845818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the graph, approximate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values and interpret their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 in this context.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(3)= _________ 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(0)= _________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does the graph only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display 𝑦-values for the function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960C59-B7AD-304D-AF82-41AC2063A3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493" y="2872123"/>
                <a:ext cx="8458180" cy="3785652"/>
              </a:xfrm>
              <a:prstGeom prst="rect">
                <a:avLst/>
              </a:prstGeom>
              <a:blipFill>
                <a:blip r:embed="rId4"/>
                <a:stretch>
                  <a:fillRect t="-805" b="-19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AC64F3E3-1136-1D45-823F-A4E3DE1CAB1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813235"/>
            <a:ext cx="3320655" cy="3320655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1A2DCD8-0374-15C7-98D7-360F714445DF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C804960F-3CD0-410D-EC59-B8E4B7FFDB64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939BED-2844-AAEF-5FA5-EF64D222D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93" y="1035437"/>
            <a:ext cx="7028308" cy="171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95168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2684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FB73EE3-C3C7-9E58-BAF3-DF255580B4EF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6AF2C60-5390-F4EC-B3D4-4FF9B6F5D3F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5493" y="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93022" y="110830"/>
            <a:ext cx="8019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722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858644" y="1070882"/>
            <a:ext cx="982422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 a point in one of the quadrants below to indicate where you feel you are on today’s learning target: “I can evaluate a function for a specific input value of the domain and interpret it in a real-world context.”</a:t>
            </a:r>
          </a:p>
        </p:txBody>
      </p:sp>
      <p:pic>
        <p:nvPicPr>
          <p:cNvPr id="10" name="Picture 9" descr="A close up of a flower&#10;&#10;Description automatically generated">
            <a:extLst>
              <a:ext uri="{FF2B5EF4-FFF2-40B4-BE49-F238E27FC236}">
                <a16:creationId xmlns:a16="http://schemas.microsoft.com/office/drawing/2014/main" id="{E07E3B76-3373-9B4F-8BC0-568817AC6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2058" y="2517432"/>
            <a:ext cx="4861227" cy="4337191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54FAB11-DD3C-9184-378C-3FBA48A4A6CD}"/>
              </a:ext>
            </a:extLst>
          </p:cNvPr>
          <p:cNvSpPr txBox="1"/>
          <p:nvPr/>
        </p:nvSpPr>
        <p:spPr>
          <a:xfrm>
            <a:off x="88967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59D71F05-076B-7823-7D80-B99566E0594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71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</TotalTime>
  <Words>1363</Words>
  <Application>Microsoft Office PowerPoint</Application>
  <PresentationFormat>Widescreen</PresentationFormat>
  <Paragraphs>209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Century Gothic</vt:lpstr>
      <vt:lpstr>Wingdings</vt:lpstr>
      <vt:lpstr>Verdana</vt:lpstr>
      <vt:lpstr>Arial Black</vt:lpstr>
      <vt:lpstr>Calibri</vt:lpstr>
      <vt:lpstr>Arial</vt:lpstr>
      <vt:lpstr>Cambria Math</vt:lpstr>
      <vt:lpstr>1_Office Theme</vt:lpstr>
      <vt:lpstr>Algebra 1  Unit 1, Lesson 3  Interpreting Function Notation in the Real World  Volume 1, pg. 16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32</cp:revision>
  <dcterms:created xsi:type="dcterms:W3CDTF">2015-03-17T18:51:18Z</dcterms:created>
  <dcterms:modified xsi:type="dcterms:W3CDTF">2023-02-13T16:51:20Z</dcterms:modified>
</cp:coreProperties>
</file>