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345" r:id="rId4"/>
    <p:sldId id="286" r:id="rId5"/>
    <p:sldId id="261" r:id="rId6"/>
    <p:sldId id="287" r:id="rId7"/>
    <p:sldId id="288" r:id="rId8"/>
    <p:sldId id="314" r:id="rId9"/>
    <p:sldId id="315" r:id="rId10"/>
    <p:sldId id="363" r:id="rId11"/>
    <p:sldId id="364" r:id="rId12"/>
    <p:sldId id="361" r:id="rId13"/>
    <p:sldId id="362" r:id="rId14"/>
    <p:sldId id="365" r:id="rId15"/>
    <p:sldId id="354" r:id="rId16"/>
    <p:sldId id="355" r:id="rId17"/>
    <p:sldId id="356" r:id="rId18"/>
    <p:sldId id="306" r:id="rId19"/>
    <p:sldId id="307" r:id="rId20"/>
  </p:sldIdLst>
  <p:sldSz cx="12192000" cy="6858000"/>
  <p:notesSz cx="6858000" cy="9144000"/>
  <p:embeddedFontLst>
    <p:embeddedFont>
      <p:font typeface="Arial Black" panose="020B0A04020102020204" pitchFamily="34" charset="0"/>
      <p:bold r:id="rId22"/>
    </p:embeddedFont>
    <p:embeddedFont>
      <p:font typeface="Calibri" panose="020F0502020204030204" pitchFamily="34" charset="0"/>
      <p:regular r:id="rId23"/>
      <p:bold r:id="rId24"/>
      <p:italic r:id="rId25"/>
      <p:boldItalic r:id="rId26"/>
    </p:embeddedFont>
    <p:embeddedFont>
      <p:font typeface="Cambria Math" panose="02040503050406030204" pitchFamily="18" charset="0"/>
      <p:regular r:id="rId27"/>
    </p:embeddedFont>
    <p:embeddedFont>
      <p:font typeface="Century Gothic" panose="020B0502020202020204" pitchFamily="34" charset="0"/>
      <p:regular r:id="rId28"/>
      <p:bold r:id="rId29"/>
      <p:italic r:id="rId30"/>
      <p:boldItalic r:id="rId31"/>
    </p:embeddedFont>
    <p:embeddedFont>
      <p:font typeface="Verdana" panose="020B0604030504040204" pitchFamily="3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763"/>
    <a:srgbClr val="E24E5F"/>
    <a:srgbClr val="1765AD"/>
    <a:srgbClr val="1664AC"/>
    <a:srgbClr val="BFBFBF"/>
    <a:srgbClr val="C9DF6F"/>
    <a:srgbClr val="417DBF"/>
    <a:srgbClr val="3F2A67"/>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73" autoAdjust="0"/>
    <p:restoredTop sz="94591" autoAdjust="0"/>
  </p:normalViewPr>
  <p:slideViewPr>
    <p:cSldViewPr snapToGrid="0">
      <p:cViewPr varScale="1">
        <p:scale>
          <a:sx n="86" d="100"/>
          <a:sy n="86" d="100"/>
        </p:scale>
        <p:origin x="558"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font" Target="fonts/font13.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5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3219262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295997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2427877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18990877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0059248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94816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991907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6563403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494030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1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50.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60.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Algebra 1</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 Lesson 7</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Evaluating Exponential Expressions</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400" b="1" dirty="0">
                <a:solidFill>
                  <a:srgbClr val="417DBF"/>
                </a:solidFill>
                <a:latin typeface="Verdana"/>
                <a:ea typeface="Verdana"/>
                <a:cs typeface="Verdana"/>
                <a:sym typeface="Verdana"/>
              </a:rPr>
              <a:t>Volume 1, pg. 36</a:t>
            </a:r>
          </a:p>
          <a:p>
            <a:pPr algn="ctr">
              <a:lnSpc>
                <a:spcPct val="100000"/>
              </a:lnSpc>
              <a:buClr>
                <a:srgbClr val="000000"/>
              </a:buClr>
            </a:pPr>
            <a:endParaRPr lang="en-US" sz="3200" b="1" dirty="0">
              <a:solidFill>
                <a:srgbClr val="417DBF"/>
              </a:solidFill>
              <a:latin typeface="Verdana"/>
              <a:ea typeface="Verdana"/>
              <a:cs typeface="Verdana"/>
              <a:sym typeface="Verdana"/>
            </a:endParaRPr>
          </a:p>
          <a:p>
            <a:pPr algn="ctr">
              <a:lnSpc>
                <a:spcPct val="75000"/>
              </a:lnSpc>
            </a:pPr>
            <a:endParaRPr lang="en-US" sz="28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518526"/>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32156" y="136525"/>
            <a:ext cx="7758944"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847650" y="347807"/>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36</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847650" y="1462225"/>
            <a:ext cx="961219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800" dirty="0">
                <a:latin typeface="Verdana" panose="020B0604030504040204" pitchFamily="34" charset="0"/>
                <a:ea typeface="Verdana" panose="020B0604030504040204" pitchFamily="34" charset="0"/>
                <a:cs typeface="Verdana" panose="020B0604030504040204" pitchFamily="34" charset="0"/>
              </a:rPr>
              <a:t>MA.912.NSO.1.1</a:t>
            </a:r>
          </a:p>
          <a:p>
            <a:pPr marL="552450" lvl="1" indent="0">
              <a:buNone/>
            </a:pPr>
            <a:r>
              <a:rPr lang="en-US" sz="28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rational exponents. Apply the Laws of Exponents to evaluate numerical expressions and generate equivalent numerical expressions involving rational exponents.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11151"/>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848536" y="343425"/>
            <a:ext cx="747300" cy="747300"/>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595835" y="9621"/>
            <a:ext cx="904242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848535" y="1455367"/>
            <a:ext cx="9600157"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p:txBody>
      </p:sp>
      <p:sp>
        <p:nvSpPr>
          <p:cNvPr id="8" name="Google Shape;282;g104476d1465_1_17">
            <a:extLst>
              <a:ext uri="{FF2B5EF4-FFF2-40B4-BE49-F238E27FC236}">
                <a16:creationId xmlns:a16="http://schemas.microsoft.com/office/drawing/2014/main" id="{62209076-94E5-505A-5C7C-2AFFFAE5431E}"/>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36</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46F7C46C-30BF-98DB-1F0A-B9258CB7C9A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608272" y="30660"/>
            <a:ext cx="860252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860972" y="342162"/>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860973" y="1600200"/>
            <a:ext cx="1069423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720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evaluate numerical expressions involving rational exponents.</a:t>
            </a:r>
          </a:p>
          <a:p>
            <a:pPr marL="457200" indent="-457200">
              <a:buFont typeface="Wingdings" pitchFamily="2" charset="2"/>
              <a:buChar char="q"/>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generate equivalent numerical expressions involving rational exponents.</a:t>
            </a:r>
          </a:p>
        </p:txBody>
      </p:sp>
      <p:sp>
        <p:nvSpPr>
          <p:cNvPr id="8" name="Google Shape;282;g104476d1465_1_17">
            <a:extLst>
              <a:ext uri="{FF2B5EF4-FFF2-40B4-BE49-F238E27FC236}">
                <a16:creationId xmlns:a16="http://schemas.microsoft.com/office/drawing/2014/main" id="{C93D1A17-6AF7-F1C5-6DD4-9302B6C06E7A}"/>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36</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id="{20957463-4B76-679D-0632-63D8AC44C77A}"/>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402743" y="290895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044250" y="276197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2414BB71-366D-46C1-F3AB-5398CE657BF9}"/>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37</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07E98A68-8A5B-5DA9-7E5D-F2060FD8839D}"/>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251"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676401" y="35741"/>
            <a:ext cx="953057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1.7.1 Warm-Up: Perfect Squares Puzzle</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905550" y="196334"/>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905550" y="1361441"/>
            <a:ext cx="9810576" cy="830997"/>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 by finding the square of each whole number. </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F8EA1EA8-D6B0-0A44-BA3B-EDEDE021EE42}"/>
                  </a:ext>
                </a:extLst>
              </p:cNvPr>
              <p:cNvGraphicFramePr>
                <a:graphicFrameLocks noGrp="1"/>
              </p:cNvGraphicFramePr>
              <p:nvPr>
                <p:extLst>
                  <p:ext uri="{D42A27DB-BD31-4B8C-83A1-F6EECF244321}">
                    <p14:modId xmlns:p14="http://schemas.microsoft.com/office/powerpoint/2010/main" val="1946800074"/>
                  </p:ext>
                </p:extLst>
              </p:nvPr>
            </p:nvGraphicFramePr>
            <p:xfrm>
              <a:off x="2121876" y="2356057"/>
              <a:ext cx="8100000" cy="3744000"/>
            </p:xfrm>
            <a:graphic>
              <a:graphicData uri="http://schemas.openxmlformats.org/drawingml/2006/table">
                <a:tbl>
                  <a:tblPr firstRow="1" firstCol="1" bandRow="1">
                    <a:tableStyleId>{A91F0D33-8C57-4600-99A7-42BC86742BE1}</a:tableStyleId>
                  </a:tblPr>
                  <a:tblGrid>
                    <a:gridCol w="1440000">
                      <a:extLst>
                        <a:ext uri="{9D8B030D-6E8A-4147-A177-3AD203B41FA5}">
                          <a16:colId xmlns:a16="http://schemas.microsoft.com/office/drawing/2014/main" val="3906612016"/>
                        </a:ext>
                      </a:extLst>
                    </a:gridCol>
                    <a:gridCol w="1260000">
                      <a:extLst>
                        <a:ext uri="{9D8B030D-6E8A-4147-A177-3AD203B41FA5}">
                          <a16:colId xmlns:a16="http://schemas.microsoft.com/office/drawing/2014/main" val="2886142364"/>
                        </a:ext>
                      </a:extLst>
                    </a:gridCol>
                    <a:gridCol w="1440000">
                      <a:extLst>
                        <a:ext uri="{9D8B030D-6E8A-4147-A177-3AD203B41FA5}">
                          <a16:colId xmlns:a16="http://schemas.microsoft.com/office/drawing/2014/main" val="472741546"/>
                        </a:ext>
                      </a:extLst>
                    </a:gridCol>
                    <a:gridCol w="1260000">
                      <a:extLst>
                        <a:ext uri="{9D8B030D-6E8A-4147-A177-3AD203B41FA5}">
                          <a16:colId xmlns:a16="http://schemas.microsoft.com/office/drawing/2014/main" val="2442354971"/>
                        </a:ext>
                      </a:extLst>
                    </a:gridCol>
                    <a:gridCol w="1440000">
                      <a:extLst>
                        <a:ext uri="{9D8B030D-6E8A-4147-A177-3AD203B41FA5}">
                          <a16:colId xmlns:a16="http://schemas.microsoft.com/office/drawing/2014/main" val="3715591377"/>
                        </a:ext>
                      </a:extLst>
                    </a:gridCol>
                    <a:gridCol w="1260000">
                      <a:extLst>
                        <a:ext uri="{9D8B030D-6E8A-4147-A177-3AD203B41FA5}">
                          <a16:colId xmlns:a16="http://schemas.microsoft.com/office/drawing/2014/main" val="1689063324"/>
                        </a:ext>
                      </a:extLst>
                    </a:gridCol>
                  </a:tblGrid>
                  <a:tr h="72000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Whole Number</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Square</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Whole Number</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Square</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Whole Number</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Square</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19106006"/>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1</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=1</m:t>
                                </m:r>
                              </m:oMath>
                            </m:oMathPara>
                          </a14:m>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8</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15</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4373437"/>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2</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smtClean="0">
                                        <a:effectLst/>
                                        <a:latin typeface="Cambria Math" panose="02040503050406030204" pitchFamily="18"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2</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=4</m:t>
                                </m:r>
                              </m:oMath>
                            </m:oMathPara>
                          </a14:m>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9</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16</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192331"/>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3</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Cambria Math" panose="02040503050406030204" pitchFamily="18" charset="0"/>
                                      </a:rPr>
                                    </m:ctrlPr>
                                  </m:sSupPr>
                                  <m:e>
                                    <m:r>
                                      <a:rPr lang="en-US" sz="2000">
                                        <a:effectLst/>
                                        <a:latin typeface="Cambria Math" panose="02040503050406030204" pitchFamily="18" charset="0"/>
                                        <a:ea typeface="Cambria Math" panose="02040503050406030204" pitchFamily="18" charset="0"/>
                                      </a:rPr>
                                      <m:t>3</m:t>
                                    </m:r>
                                  </m:e>
                                  <m:sup>
                                    <m:r>
                                      <a:rPr lang="en-US" sz="2000">
                                        <a:effectLst/>
                                        <a:latin typeface="Cambria Math" panose="02040503050406030204" pitchFamily="18" charset="0"/>
                                        <a:ea typeface="Cambria Math" panose="02040503050406030204" pitchFamily="18" charset="0"/>
                                      </a:rPr>
                                      <m:t>2</m:t>
                                    </m:r>
                                  </m:sup>
                                </m:sSup>
                                <m:r>
                                  <a:rPr lang="en-US" sz="2000">
                                    <a:effectLst/>
                                    <a:latin typeface="Cambria Math" panose="02040503050406030204" pitchFamily="18" charset="0"/>
                                    <a:ea typeface="Cambria Math" panose="02040503050406030204" pitchFamily="18" charset="0"/>
                                  </a:rPr>
                                  <m:t>=9</m:t>
                                </m:r>
                              </m:oMath>
                            </m:oMathPara>
                          </a14:m>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10</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17</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5326921"/>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4</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11</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18</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0607222"/>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5</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12</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19</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959496"/>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6</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13</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20</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4654206"/>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7</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14</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21</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6621227"/>
                      </a:ext>
                    </a:extLst>
                  </a:tr>
                </a:tbl>
              </a:graphicData>
            </a:graphic>
          </p:graphicFrame>
        </mc:Choice>
        <mc:Fallback>
          <p:graphicFrame>
            <p:nvGraphicFramePr>
              <p:cNvPr id="4" name="Table 3">
                <a:extLst>
                  <a:ext uri="{FF2B5EF4-FFF2-40B4-BE49-F238E27FC236}">
                    <a16:creationId xmlns:a16="http://schemas.microsoft.com/office/drawing/2014/main" id="{F8EA1EA8-D6B0-0A44-BA3B-EDEDE021EE42}"/>
                  </a:ext>
                </a:extLst>
              </p:cNvPr>
              <p:cNvGraphicFramePr>
                <a:graphicFrameLocks noGrp="1"/>
              </p:cNvGraphicFramePr>
              <p:nvPr>
                <p:extLst>
                  <p:ext uri="{D42A27DB-BD31-4B8C-83A1-F6EECF244321}">
                    <p14:modId xmlns:p14="http://schemas.microsoft.com/office/powerpoint/2010/main" val="1946800074"/>
                  </p:ext>
                </p:extLst>
              </p:nvPr>
            </p:nvGraphicFramePr>
            <p:xfrm>
              <a:off x="2121876" y="2356057"/>
              <a:ext cx="8100000" cy="3744000"/>
            </p:xfrm>
            <a:graphic>
              <a:graphicData uri="http://schemas.openxmlformats.org/drawingml/2006/table">
                <a:tbl>
                  <a:tblPr firstRow="1" firstCol="1" bandRow="1">
                    <a:tableStyleId>{A91F0D33-8C57-4600-99A7-42BC86742BE1}</a:tableStyleId>
                  </a:tblPr>
                  <a:tblGrid>
                    <a:gridCol w="1440000">
                      <a:extLst>
                        <a:ext uri="{9D8B030D-6E8A-4147-A177-3AD203B41FA5}">
                          <a16:colId xmlns:a16="http://schemas.microsoft.com/office/drawing/2014/main" val="3906612016"/>
                        </a:ext>
                      </a:extLst>
                    </a:gridCol>
                    <a:gridCol w="1260000">
                      <a:extLst>
                        <a:ext uri="{9D8B030D-6E8A-4147-A177-3AD203B41FA5}">
                          <a16:colId xmlns:a16="http://schemas.microsoft.com/office/drawing/2014/main" val="2886142364"/>
                        </a:ext>
                      </a:extLst>
                    </a:gridCol>
                    <a:gridCol w="1440000">
                      <a:extLst>
                        <a:ext uri="{9D8B030D-6E8A-4147-A177-3AD203B41FA5}">
                          <a16:colId xmlns:a16="http://schemas.microsoft.com/office/drawing/2014/main" val="472741546"/>
                        </a:ext>
                      </a:extLst>
                    </a:gridCol>
                    <a:gridCol w="1260000">
                      <a:extLst>
                        <a:ext uri="{9D8B030D-6E8A-4147-A177-3AD203B41FA5}">
                          <a16:colId xmlns:a16="http://schemas.microsoft.com/office/drawing/2014/main" val="2442354971"/>
                        </a:ext>
                      </a:extLst>
                    </a:gridCol>
                    <a:gridCol w="1440000">
                      <a:extLst>
                        <a:ext uri="{9D8B030D-6E8A-4147-A177-3AD203B41FA5}">
                          <a16:colId xmlns:a16="http://schemas.microsoft.com/office/drawing/2014/main" val="3715591377"/>
                        </a:ext>
                      </a:extLst>
                    </a:gridCol>
                    <a:gridCol w="1260000">
                      <a:extLst>
                        <a:ext uri="{9D8B030D-6E8A-4147-A177-3AD203B41FA5}">
                          <a16:colId xmlns:a16="http://schemas.microsoft.com/office/drawing/2014/main" val="1689063324"/>
                        </a:ext>
                      </a:extLst>
                    </a:gridCol>
                  </a:tblGrid>
                  <a:tr h="72000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Whole Number</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Square</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Whole Number</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Square</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Whole Number</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Square</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2619106006"/>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14976" t="-174648" r="-429469" b="-619718"/>
                          </a:stretch>
                        </a:blip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8</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15</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04373437"/>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2</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14976" t="-274648" r="-429469" b="-519718"/>
                          </a:stretch>
                        </a:blipFill>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9</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16</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192331"/>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3</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14976" t="-374648" r="-429469" b="-419718"/>
                          </a:stretch>
                        </a:blipFill>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10</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17</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5326921"/>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4</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11</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18</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0607222"/>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5</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12</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19</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3959496"/>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6</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13</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20</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4654206"/>
                      </a:ext>
                    </a:extLst>
                  </a:tr>
                  <a:tr h="432000">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7</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14</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Cambria Math" panose="02040503050406030204" pitchFamily="18" charset="0"/>
                              <a:ea typeface="Cambria Math" panose="02040503050406030204" pitchFamily="18" charset="0"/>
                              <a:cs typeface="Verdana" panose="020B0604030504040204" pitchFamily="34" charset="0"/>
                            </a:rPr>
                            <a:t>21</a:t>
                          </a:r>
                          <a:endParaRPr lang="x-none" sz="2000" i="1">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endParaRPr lang="x-none" sz="2000" i="1" dirty="0">
                            <a:effectLst/>
                            <a:latin typeface="Cambria Math" panose="02040503050406030204" pitchFamily="18" charset="0"/>
                            <a:ea typeface="Cambria Math" panose="02040503050406030204" pitchFamily="18"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6621227"/>
                      </a:ext>
                    </a:extLst>
                  </a:tr>
                </a:tbl>
              </a:graphicData>
            </a:graphic>
          </p:graphicFrame>
        </mc:Fallback>
      </mc:AlternateContent>
      <p:sp>
        <p:nvSpPr>
          <p:cNvPr id="14" name="Google Shape;282;g104476d1465_1_17">
            <a:extLst>
              <a:ext uri="{FF2B5EF4-FFF2-40B4-BE49-F238E27FC236}">
                <a16:creationId xmlns:a16="http://schemas.microsoft.com/office/drawing/2014/main" id="{3310FF0A-B88C-DF9B-94AD-07A21733D46A}"/>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37</a:t>
            </a:r>
            <a:endParaRPr i="1" dirty="0">
              <a:latin typeface="Calibri"/>
              <a:ea typeface="Calibri"/>
              <a:cs typeface="Calibri"/>
              <a:sym typeface="Calibri"/>
            </a:endParaRPr>
          </a:p>
        </p:txBody>
      </p:sp>
      <p:pic>
        <p:nvPicPr>
          <p:cNvPr id="16" name="Google Shape;283;g104476d1465_1_17">
            <a:extLst>
              <a:ext uri="{FF2B5EF4-FFF2-40B4-BE49-F238E27FC236}">
                <a16:creationId xmlns:a16="http://schemas.microsoft.com/office/drawing/2014/main" id="{3FA9FA79-A970-C26B-5A16-C3CEA28EE9A7}"/>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3368"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9D68ACDC-63D1-5D4A-BA8A-7366CA8DB9BD}"/>
                  </a:ext>
                </a:extLst>
              </p:cNvPr>
              <p:cNvSpPr txBox="1"/>
              <p:nvPr/>
            </p:nvSpPr>
            <p:spPr>
              <a:xfrm>
                <a:off x="903249" y="392064"/>
                <a:ext cx="9828919" cy="2308324"/>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Place a digit in each blue box so that the principal square root is a whole number, and the expression is as close to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0</m:t>
                    </m:r>
                  </m:oMath>
                </a14:m>
                <a:r>
                  <a:rPr lang="en-US" sz="2400" dirty="0">
                    <a:latin typeface="Verdana" panose="020B0604030504040204" pitchFamily="34" charset="0"/>
                    <a:ea typeface="Verdana" panose="020B0604030504040204" pitchFamily="34" charset="0"/>
                    <a:cs typeface="Verdana" panose="020B0604030504040204" pitchFamily="34" charset="0"/>
                  </a:rPr>
                  <a:t> as possible. Use only the digits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to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9</m:t>
                    </m:r>
                  </m:oMath>
                </a14:m>
                <a:r>
                  <a:rPr lang="en-US" sz="2400" dirty="0">
                    <a:latin typeface="Verdana" panose="020B0604030504040204" pitchFamily="34" charset="0"/>
                    <a:ea typeface="Verdana" panose="020B0604030504040204" pitchFamily="34" charset="0"/>
                    <a:cs typeface="Verdana" panose="020B0604030504040204" pitchFamily="34" charset="0"/>
                  </a:rPr>
                  <a:t>, at most one time each. </a:t>
                </a:r>
              </a:p>
              <a:p>
                <a:pPr marL="450850"/>
                <a:r>
                  <a:rPr lang="en-US" sz="2400" dirty="0">
                    <a:latin typeface="Verdana" panose="020B0604030504040204" pitchFamily="34" charset="0"/>
                    <a:ea typeface="Verdana" panose="020B0604030504040204" pitchFamily="34" charset="0"/>
                    <a:cs typeface="Verdana" panose="020B0604030504040204" pitchFamily="34" charset="0"/>
                  </a:rPr>
                  <a:t>Reminder: The principal square root is the positive square root. </a:t>
                </a:r>
              </a:p>
            </p:txBody>
          </p:sp>
        </mc:Choice>
        <mc:Fallback>
          <p:sp>
            <p:nvSpPr>
              <p:cNvPr id="6" name="TextBox 5">
                <a:extLst>
                  <a:ext uri="{FF2B5EF4-FFF2-40B4-BE49-F238E27FC236}">
                    <a16:creationId xmlns:a16="http://schemas.microsoft.com/office/drawing/2014/main" id="{9D68ACDC-63D1-5D4A-BA8A-7366CA8DB9BD}"/>
                  </a:ext>
                </a:extLst>
              </p:cNvPr>
              <p:cNvSpPr txBox="1">
                <a:spLocks noRot="1" noChangeAspect="1" noMove="1" noResize="1" noEditPoints="1" noAdjustHandles="1" noChangeArrowheads="1" noChangeShapeType="1" noTextEdit="1"/>
              </p:cNvSpPr>
              <p:nvPr/>
            </p:nvSpPr>
            <p:spPr>
              <a:xfrm>
                <a:off x="903249" y="392064"/>
                <a:ext cx="9828919" cy="2308324"/>
              </a:xfrm>
              <a:prstGeom prst="rect">
                <a:avLst/>
              </a:prstGeom>
              <a:blipFill>
                <a:blip r:embed="rId4"/>
                <a:stretch>
                  <a:fillRect l="-930" t="-2111" b="-5013"/>
                </a:stretch>
              </a:blipFill>
            </p:spPr>
            <p:txBody>
              <a:bodyPr/>
              <a:lstStyle/>
              <a:p>
                <a:r>
                  <a:rPr lang="en-US">
                    <a:noFill/>
                  </a:rPr>
                  <a:t> </a:t>
                </a:r>
              </a:p>
            </p:txBody>
          </p:sp>
        </mc:Fallback>
      </mc:AlternateContent>
      <p:pic>
        <p:nvPicPr>
          <p:cNvPr id="4" name="Picture 3" descr="A picture containing shape&#10;&#10;Description automatically generated">
            <a:extLst>
              <a:ext uri="{FF2B5EF4-FFF2-40B4-BE49-F238E27FC236}">
                <a16:creationId xmlns:a16="http://schemas.microsoft.com/office/drawing/2014/main" id="{E2574A84-D827-204C-BD26-8F4F57D95399}"/>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187073" y="2941770"/>
            <a:ext cx="7624119" cy="974460"/>
          </a:xfrm>
          <a:prstGeom prst="rect">
            <a:avLst/>
          </a:prstGeom>
        </p:spPr>
      </p:pic>
      <p:sp>
        <p:nvSpPr>
          <p:cNvPr id="8" name="Google Shape;282;g104476d1465_1_17">
            <a:extLst>
              <a:ext uri="{FF2B5EF4-FFF2-40B4-BE49-F238E27FC236}">
                <a16:creationId xmlns:a16="http://schemas.microsoft.com/office/drawing/2014/main" id="{21477A28-4266-7FE0-5112-F730DFE60513}"/>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37</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050234" y="2766144"/>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4800" b="1" dirty="0">
                <a:solidFill>
                  <a:srgbClr val="33BEA6"/>
                </a:solidFill>
                <a:latin typeface="Verdana"/>
                <a:ea typeface="Verdana"/>
                <a:cs typeface="Verdana"/>
                <a:sym typeface="Verdana"/>
              </a:rPr>
              <a:t>Collaboration</a:t>
            </a:r>
            <a:endParaRPr sz="4400" b="1" dirty="0">
              <a:solidFill>
                <a:srgbClr val="33BEA6"/>
              </a:solidFill>
              <a:latin typeface="Verdana"/>
              <a:ea typeface="Verdana"/>
              <a:cs typeface="Verdana"/>
              <a:sym typeface="Verdana"/>
            </a:endParaRPr>
          </a:p>
        </p:txBody>
      </p:sp>
      <p:pic>
        <p:nvPicPr>
          <p:cNvPr id="8" name="image16.png">
            <a:extLst>
              <a:ext uri="{FF2B5EF4-FFF2-40B4-BE49-F238E27FC236}">
                <a16:creationId xmlns:a16="http://schemas.microsoft.com/office/drawing/2014/main" id="{FA3DC40B-4DD3-A643-95F8-B3547DEDC2CC}"/>
              </a:ext>
            </a:extLst>
          </p:cNvPr>
          <p:cNvPicPr/>
          <p:nvPr/>
        </p:nvPicPr>
        <p:blipFill>
          <a:blip r:embed="rId3"/>
          <a:srcRect/>
          <a:stretch>
            <a:fillRect/>
          </a:stretch>
        </p:blipFill>
        <p:spPr>
          <a:xfrm>
            <a:off x="3551776" y="2852922"/>
            <a:ext cx="1152145" cy="1152145"/>
          </a:xfrm>
          <a:prstGeom prst="rect">
            <a:avLst/>
          </a:prstGeom>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15E4AE92-E5B0-FCB2-77B6-2F931FBAD00E}"/>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37</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9329DAC4-A0FF-62B3-5E98-761C71CD6C12}"/>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0270"/>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804415" y="60325"/>
            <a:ext cx="948046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1.7.2 Collaboration: Simplifying Expressions with Exponents</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907115" y="1338431"/>
                <a:ext cx="9825053" cy="998991"/>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With a partner, write the expression </a:t>
                </a:r>
                <a14:m>
                  <m:oMath xmlns:m="http://schemas.openxmlformats.org/officeDocument/2006/math">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dirty="0">
                                <a:latin typeface="Cambria Math" panose="02040503050406030204" pitchFamily="18" charset="0"/>
                                <a:ea typeface="Verdana" panose="020B0604030504040204" pitchFamily="34" charset="0"/>
                                <a:cs typeface="Verdana" panose="020B0604030504040204" pitchFamily="34" charset="0"/>
                              </a:rPr>
                            </m:ctrlPr>
                          </m:dPr>
                          <m:e>
                            <m:r>
                              <a:rPr lang="es-ES" sz="2400" i="1" dirty="0">
                                <a:latin typeface="Cambria Math" panose="02040503050406030204" pitchFamily="18" charset="0"/>
                                <a:ea typeface="Verdana" panose="020B0604030504040204" pitchFamily="34" charset="0"/>
                                <a:cs typeface="Verdana" panose="020B0604030504040204" pitchFamily="34" charset="0"/>
                              </a:rPr>
                              <m:t>27</m:t>
                            </m:r>
                          </m:e>
                        </m:d>
                      </m:e>
                      <m:sup>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2</m:t>
                            </m:r>
                          </m:num>
                          <m:den>
                            <m:r>
                              <a:rPr lang="es-ES" sz="2400" i="1" dirty="0">
                                <a:latin typeface="Cambria Math" panose="02040503050406030204" pitchFamily="18" charset="0"/>
                                <a:ea typeface="Verdana" panose="020B0604030504040204" pitchFamily="34" charset="0"/>
                                <a:cs typeface="Verdana" panose="020B0604030504040204" pitchFamily="34" charset="0"/>
                              </a:rPr>
                              <m:t>3</m:t>
                            </m:r>
                          </m:den>
                        </m:f>
                      </m:sup>
                    </m:sSup>
                  </m:oMath>
                </a14:m>
                <a:r>
                  <a:rPr lang="en-US" sz="2400" dirty="0">
                    <a:latin typeface="Verdana" panose="020B0604030504040204" pitchFamily="34" charset="0"/>
                    <a:ea typeface="Verdana" panose="020B0604030504040204" pitchFamily="34" charset="0"/>
                    <a:cs typeface="Verdana" panose="020B0604030504040204" pitchFamily="34" charset="0"/>
                  </a:rPr>
                  <a:t> in three equivalent forms.</a:t>
                </a: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07115" y="1338431"/>
                <a:ext cx="9825053" cy="998991"/>
              </a:xfrm>
              <a:prstGeom prst="rect">
                <a:avLst/>
              </a:prstGeom>
              <a:blipFill>
                <a:blip r:embed="rId3"/>
                <a:stretch>
                  <a:fillRect l="-993" b="-10429"/>
                </a:stretch>
              </a:blipFill>
            </p:spPr>
            <p:txBody>
              <a:bodyPr/>
              <a:lstStyle/>
              <a:p>
                <a:r>
                  <a:rPr lang="en-US">
                    <a:noFill/>
                  </a:rPr>
                  <a:t> </a:t>
                </a:r>
              </a:p>
            </p:txBody>
          </p:sp>
        </mc:Fallback>
      </mc:AlternateContent>
      <p:pic>
        <p:nvPicPr>
          <p:cNvPr id="9" name="image16.png">
            <a:extLst>
              <a:ext uri="{FF2B5EF4-FFF2-40B4-BE49-F238E27FC236}">
                <a16:creationId xmlns:a16="http://schemas.microsoft.com/office/drawing/2014/main" id="{A638E07D-B4BF-DA4C-8C94-B7C6AF8EA28D}"/>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907115" y="281830"/>
            <a:ext cx="749810" cy="749810"/>
          </a:xfrm>
          <a:prstGeom prst="rect">
            <a:avLst/>
          </a:prstGeom>
          <a:ln/>
        </p:spPr>
      </p:pic>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644883AE-B850-6348-9068-9AA1CAF1FBA7}"/>
                  </a:ext>
                </a:extLst>
              </p:cNvPr>
              <p:cNvGraphicFramePr>
                <a:graphicFrameLocks noGrp="1"/>
              </p:cNvGraphicFramePr>
              <p:nvPr>
                <p:extLst>
                  <p:ext uri="{D42A27DB-BD31-4B8C-83A1-F6EECF244321}">
                    <p14:modId xmlns:p14="http://schemas.microsoft.com/office/powerpoint/2010/main" val="3235504602"/>
                  </p:ext>
                </p:extLst>
              </p:nvPr>
            </p:nvGraphicFramePr>
            <p:xfrm>
              <a:off x="2748750" y="2486513"/>
              <a:ext cx="7200000" cy="720000"/>
            </p:xfrm>
            <a:graphic>
              <a:graphicData uri="http://schemas.openxmlformats.org/drawingml/2006/table">
                <a:tbl>
                  <a:tblPr firstRow="1" firstCol="1" bandRow="1">
                    <a:tableStyleId>{A91F0D33-8C57-4600-99A7-42BC86742BE1}</a:tableStyleId>
                  </a:tblPr>
                  <a:tblGrid>
                    <a:gridCol w="1800000">
                      <a:extLst>
                        <a:ext uri="{9D8B030D-6E8A-4147-A177-3AD203B41FA5}">
                          <a16:colId xmlns:a16="http://schemas.microsoft.com/office/drawing/2014/main" val="3647455570"/>
                        </a:ext>
                      </a:extLst>
                    </a:gridCol>
                    <a:gridCol w="1800000">
                      <a:extLst>
                        <a:ext uri="{9D8B030D-6E8A-4147-A177-3AD203B41FA5}">
                          <a16:colId xmlns:a16="http://schemas.microsoft.com/office/drawing/2014/main" val="972631459"/>
                        </a:ext>
                      </a:extLst>
                    </a:gridCol>
                    <a:gridCol w="1800000">
                      <a:extLst>
                        <a:ext uri="{9D8B030D-6E8A-4147-A177-3AD203B41FA5}">
                          <a16:colId xmlns:a16="http://schemas.microsoft.com/office/drawing/2014/main" val="4008693472"/>
                        </a:ext>
                      </a:extLst>
                    </a:gridCol>
                    <a:gridCol w="1800000">
                      <a:extLst>
                        <a:ext uri="{9D8B030D-6E8A-4147-A177-3AD203B41FA5}">
                          <a16:colId xmlns:a16="http://schemas.microsoft.com/office/drawing/2014/main" val="3842376132"/>
                        </a:ext>
                      </a:extLst>
                    </a:gridCol>
                  </a:tblGrid>
                  <a:tr h="720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rPr>
                                    </m:ctrlPr>
                                  </m:sSupPr>
                                  <m:e>
                                    <m:d>
                                      <m:dPr>
                                        <m:ctrlPr>
                                          <a:rPr lang="x-none" sz="2000" i="1">
                                            <a:effectLst/>
                                            <a:latin typeface="Cambria Math" panose="02040503050406030204" pitchFamily="18" charset="0"/>
                                          </a:rPr>
                                        </m:ctrlPr>
                                      </m:dPr>
                                      <m:e>
                                        <m:r>
                                          <a:rPr lang="en-US" sz="2000">
                                            <a:effectLst/>
                                            <a:latin typeface="Cambria Math"/>
                                          </a:rPr>
                                          <m:t>𝟐𝟕</m:t>
                                        </m:r>
                                      </m:e>
                                    </m:d>
                                  </m:e>
                                  <m:sup>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𝟐</m:t>
                                            </m:r>
                                          </m:num>
                                          <m:den>
                                            <m:r>
                                              <a:rPr lang="en-US" sz="2000">
                                                <a:effectLst/>
                                                <a:latin typeface="Cambria Math"/>
                                              </a:rPr>
                                              <m:t>𝟑</m:t>
                                            </m:r>
                                          </m:den>
                                        </m:f>
                                      </m:e>
                                    </m:box>
                                  </m:sup>
                                </m:sSup>
                              </m:oMath>
                            </m:oMathPara>
                          </a14:m>
                          <a:endParaRPr lang="x-none" sz="1800"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nSpc>
                              <a:spcPct val="1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800" i="1"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800" i="1">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800" i="1"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0246174"/>
                      </a:ext>
                    </a:extLst>
                  </a:tr>
                </a:tbl>
              </a:graphicData>
            </a:graphic>
          </p:graphicFrame>
        </mc:Choice>
        <mc:Fallback>
          <p:graphicFrame>
            <p:nvGraphicFramePr>
              <p:cNvPr id="2" name="Table 1">
                <a:extLst>
                  <a:ext uri="{FF2B5EF4-FFF2-40B4-BE49-F238E27FC236}">
                    <a16:creationId xmlns:a16="http://schemas.microsoft.com/office/drawing/2014/main" id="{644883AE-B850-6348-9068-9AA1CAF1FBA7}"/>
                  </a:ext>
                </a:extLst>
              </p:cNvPr>
              <p:cNvGraphicFramePr>
                <a:graphicFrameLocks noGrp="1"/>
              </p:cNvGraphicFramePr>
              <p:nvPr>
                <p:extLst>
                  <p:ext uri="{D42A27DB-BD31-4B8C-83A1-F6EECF244321}">
                    <p14:modId xmlns:p14="http://schemas.microsoft.com/office/powerpoint/2010/main" val="3235504602"/>
                  </p:ext>
                </p:extLst>
              </p:nvPr>
            </p:nvGraphicFramePr>
            <p:xfrm>
              <a:off x="2748750" y="2486513"/>
              <a:ext cx="7200000" cy="720000"/>
            </p:xfrm>
            <a:graphic>
              <a:graphicData uri="http://schemas.openxmlformats.org/drawingml/2006/table">
                <a:tbl>
                  <a:tblPr firstRow="1" firstCol="1" bandRow="1">
                    <a:tableStyleId>{A91F0D33-8C57-4600-99A7-42BC86742BE1}</a:tableStyleId>
                  </a:tblPr>
                  <a:tblGrid>
                    <a:gridCol w="1800000">
                      <a:extLst>
                        <a:ext uri="{9D8B030D-6E8A-4147-A177-3AD203B41FA5}">
                          <a16:colId xmlns:a16="http://schemas.microsoft.com/office/drawing/2014/main" val="3647455570"/>
                        </a:ext>
                      </a:extLst>
                    </a:gridCol>
                    <a:gridCol w="1800000">
                      <a:extLst>
                        <a:ext uri="{9D8B030D-6E8A-4147-A177-3AD203B41FA5}">
                          <a16:colId xmlns:a16="http://schemas.microsoft.com/office/drawing/2014/main" val="972631459"/>
                        </a:ext>
                      </a:extLst>
                    </a:gridCol>
                    <a:gridCol w="1800000">
                      <a:extLst>
                        <a:ext uri="{9D8B030D-6E8A-4147-A177-3AD203B41FA5}">
                          <a16:colId xmlns:a16="http://schemas.microsoft.com/office/drawing/2014/main" val="4008693472"/>
                        </a:ext>
                      </a:extLst>
                    </a:gridCol>
                    <a:gridCol w="1800000">
                      <a:extLst>
                        <a:ext uri="{9D8B030D-6E8A-4147-A177-3AD203B41FA5}">
                          <a16:colId xmlns:a16="http://schemas.microsoft.com/office/drawing/2014/main" val="3842376132"/>
                        </a:ext>
                      </a:extLst>
                    </a:gridCol>
                  </a:tblGrid>
                  <a:tr h="720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38" t="-833" r="-300676" b="-2500"/>
                          </a:stretch>
                        </a:blipFill>
                      </a:tcPr>
                    </a:tc>
                    <a:tc>
                      <a:txBody>
                        <a:bodyPr/>
                        <a:lstStyle/>
                        <a:p>
                          <a:pPr marL="0" marR="0">
                            <a:lnSpc>
                              <a:spcPct val="1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800" i="1"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800" i="1">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nSpc>
                              <a:spcPct val="100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800" i="1"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50246174"/>
                      </a:ext>
                    </a:extLst>
                  </a:tr>
                </a:tbl>
              </a:graphicData>
            </a:graphic>
          </p:graphicFrame>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83B1ACC-D954-3A47-9A07-9D7E8B6573D5}"/>
                  </a:ext>
                </a:extLst>
              </p:cNvPr>
              <p:cNvSpPr txBox="1"/>
              <p:nvPr/>
            </p:nvSpPr>
            <p:spPr>
              <a:xfrm>
                <a:off x="907115" y="3633909"/>
                <a:ext cx="9825053" cy="96872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Explain which equivalent form makes it easiest to find the value of </a:t>
                </a:r>
                <a14:m>
                  <m:oMath xmlns:m="http://schemas.openxmlformats.org/officeDocument/2006/math">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dirty="0">
                                <a:latin typeface="Cambria Math" panose="02040503050406030204" pitchFamily="18" charset="0"/>
                                <a:ea typeface="Verdana" panose="020B0604030504040204" pitchFamily="34" charset="0"/>
                                <a:cs typeface="Verdana" panose="020B0604030504040204" pitchFamily="34" charset="0"/>
                              </a:rPr>
                            </m:ctrlPr>
                          </m:dPr>
                          <m:e>
                            <m:r>
                              <a:rPr lang="es-ES" sz="2400" i="1" dirty="0">
                                <a:latin typeface="Cambria Math" panose="02040503050406030204" pitchFamily="18" charset="0"/>
                                <a:ea typeface="Verdana" panose="020B0604030504040204" pitchFamily="34" charset="0"/>
                                <a:cs typeface="Verdana" panose="020B0604030504040204" pitchFamily="34" charset="0"/>
                              </a:rPr>
                              <m:t>27</m:t>
                            </m:r>
                          </m:e>
                        </m:d>
                      </m:e>
                      <m:sup>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2</m:t>
                            </m:r>
                          </m:num>
                          <m:den>
                            <m:r>
                              <a:rPr lang="es-ES" sz="2400" i="1" dirty="0">
                                <a:latin typeface="Cambria Math" panose="02040503050406030204" pitchFamily="18" charset="0"/>
                                <a:ea typeface="Verdana" panose="020B0604030504040204" pitchFamily="34" charset="0"/>
                                <a:cs typeface="Verdana" panose="020B0604030504040204" pitchFamily="34" charset="0"/>
                              </a:rPr>
                              <m:t>3</m:t>
                            </m:r>
                          </m:den>
                        </m:f>
                      </m:sup>
                    </m:sSup>
                  </m:oMath>
                </a14:m>
                <a:r>
                  <a:rPr lang="en-US" sz="2400" dirty="0">
                    <a:latin typeface="Verdana" panose="020B0604030504040204" pitchFamily="34" charset="0"/>
                    <a:ea typeface="Verdana" panose="020B0604030504040204" pitchFamily="34" charset="0"/>
                    <a:cs typeface="Verdana" panose="020B0604030504040204" pitchFamily="34" charset="0"/>
                  </a:rPr>
                  <a:t> without a calculator.</a:t>
                </a:r>
              </a:p>
            </p:txBody>
          </p:sp>
        </mc:Choice>
        <mc:Fallback>
          <p:sp>
            <p:nvSpPr>
              <p:cNvPr id="12" name="TextBox 11">
                <a:extLst>
                  <a:ext uri="{FF2B5EF4-FFF2-40B4-BE49-F238E27FC236}">
                    <a16:creationId xmlns:a16="http://schemas.microsoft.com/office/drawing/2014/main" id="{D83B1ACC-D954-3A47-9A07-9D7E8B6573D5}"/>
                  </a:ext>
                </a:extLst>
              </p:cNvPr>
              <p:cNvSpPr txBox="1">
                <a:spLocks noRot="1" noChangeAspect="1" noMove="1" noResize="1" noEditPoints="1" noAdjustHandles="1" noChangeArrowheads="1" noChangeShapeType="1" noTextEdit="1"/>
              </p:cNvSpPr>
              <p:nvPr/>
            </p:nvSpPr>
            <p:spPr>
              <a:xfrm>
                <a:off x="907115" y="3633909"/>
                <a:ext cx="9825053" cy="968727"/>
              </a:xfrm>
              <a:prstGeom prst="rect">
                <a:avLst/>
              </a:prstGeom>
              <a:blipFill>
                <a:blip r:embed="rId6"/>
                <a:stretch>
                  <a:fillRect l="-993" t="-5031" b="-12579"/>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327CDE48-9464-CDEA-BEF1-C554481F97AF}"/>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37</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419FCB7C-FEC3-54C0-D0C8-7DF90F72E6DC}"/>
              </a:ext>
            </a:extLst>
          </p:cNvPr>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880946" y="252652"/>
                <a:ext cx="9867265" cy="3322448"/>
              </a:xfrm>
              <a:prstGeom prst="rect">
                <a:avLst/>
              </a:prstGeom>
              <a:noFill/>
            </p:spPr>
            <p:txBody>
              <a:bodyPr wrap="square" rtlCol="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Find the value of </a:t>
                </a:r>
                <a14:m>
                  <m:oMath xmlns:m="http://schemas.openxmlformats.org/officeDocument/2006/math">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dirty="0">
                                <a:latin typeface="Cambria Math" panose="02040503050406030204" pitchFamily="18" charset="0"/>
                                <a:ea typeface="Verdana" panose="020B0604030504040204" pitchFamily="34" charset="0"/>
                                <a:cs typeface="Verdana" panose="020B0604030504040204" pitchFamily="34" charset="0"/>
                              </a:rPr>
                            </m:ctrlPr>
                          </m:dPr>
                          <m:e>
                            <m:r>
                              <a:rPr lang="es-ES" sz="2400" i="1" dirty="0">
                                <a:latin typeface="Cambria Math" panose="02040503050406030204" pitchFamily="18" charset="0"/>
                                <a:ea typeface="Verdana" panose="020B0604030504040204" pitchFamily="34" charset="0"/>
                                <a:cs typeface="Verdana" panose="020B0604030504040204" pitchFamily="34" charset="0"/>
                              </a:rPr>
                              <m:t>27</m:t>
                            </m:r>
                          </m:e>
                        </m:d>
                      </m:e>
                      <m:sup>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2</m:t>
                            </m:r>
                          </m:num>
                          <m:den>
                            <m:r>
                              <a:rPr lang="es-ES" sz="2400" i="1" dirty="0">
                                <a:latin typeface="Cambria Math" panose="02040503050406030204" pitchFamily="18" charset="0"/>
                                <a:ea typeface="Verdana" panose="020B0604030504040204" pitchFamily="34" charset="0"/>
                                <a:cs typeface="Verdana" panose="020B0604030504040204" pitchFamily="34" charset="0"/>
                              </a:rPr>
                              <m:t>3</m:t>
                            </m:r>
                          </m:den>
                        </m:f>
                      </m:sup>
                    </m:sSup>
                  </m:oMath>
                </a14:m>
                <a:r>
                  <a:rPr lang="en-US" sz="2400" dirty="0">
                    <a:latin typeface="Verdana" panose="020B0604030504040204" pitchFamily="34" charset="0"/>
                    <a:ea typeface="Verdana" panose="020B0604030504040204" pitchFamily="34" charset="0"/>
                    <a:cs typeface="Verdana" panose="020B0604030504040204" pitchFamily="34" charset="0"/>
                  </a:rPr>
                  <a:t> without a calculator.</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Verify the value of </a:t>
                </a:r>
                <a14:m>
                  <m:oMath xmlns:m="http://schemas.openxmlformats.org/officeDocument/2006/math">
                    <m:sSup>
                      <m:sSupPr>
                        <m:ctrlPr>
                          <a:rPr lang="en-US" sz="2400" i="1" dirty="0">
                            <a:latin typeface="Cambria Math" panose="02040503050406030204" pitchFamily="18" charset="0"/>
                            <a:ea typeface="Verdana" panose="020B0604030504040204" pitchFamily="34" charset="0"/>
                            <a:cs typeface="Verdana" panose="020B0604030504040204" pitchFamily="34" charset="0"/>
                          </a:rPr>
                        </m:ctrlPr>
                      </m:sSupPr>
                      <m:e>
                        <m:d>
                          <m:dPr>
                            <m:ctrlPr>
                              <a:rPr lang="en-US" sz="2400" i="1" dirty="0">
                                <a:latin typeface="Cambria Math" panose="02040503050406030204" pitchFamily="18" charset="0"/>
                                <a:ea typeface="Verdana" panose="020B0604030504040204" pitchFamily="34" charset="0"/>
                                <a:cs typeface="Verdana" panose="020B0604030504040204" pitchFamily="34" charset="0"/>
                              </a:rPr>
                            </m:ctrlPr>
                          </m:dPr>
                          <m:e>
                            <m:r>
                              <a:rPr lang="es-ES" sz="2400" i="1" dirty="0">
                                <a:latin typeface="Cambria Math" panose="02040503050406030204" pitchFamily="18" charset="0"/>
                                <a:ea typeface="Verdana" panose="020B0604030504040204" pitchFamily="34" charset="0"/>
                                <a:cs typeface="Verdana" panose="020B0604030504040204" pitchFamily="34" charset="0"/>
                              </a:rPr>
                              <m:t>27</m:t>
                            </m:r>
                          </m:e>
                        </m:d>
                      </m:e>
                      <m:sup>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2</m:t>
                            </m:r>
                          </m:num>
                          <m:den>
                            <m:r>
                              <a:rPr lang="es-ES" sz="2400" i="1" dirty="0">
                                <a:latin typeface="Cambria Math" panose="02040503050406030204" pitchFamily="18" charset="0"/>
                                <a:ea typeface="Verdana" panose="020B0604030504040204" pitchFamily="34" charset="0"/>
                                <a:cs typeface="Verdana" panose="020B0604030504040204" pitchFamily="34" charset="0"/>
                              </a:rPr>
                              <m:t>3</m:t>
                            </m:r>
                          </m:den>
                        </m:f>
                      </m:sup>
                    </m:sSup>
                  </m:oMath>
                </a14:m>
                <a:r>
                  <a:rPr lang="en-US" sz="2400" dirty="0">
                    <a:latin typeface="Verdana" panose="020B0604030504040204" pitchFamily="34" charset="0"/>
                    <a:ea typeface="Verdana" panose="020B0604030504040204" pitchFamily="34" charset="0"/>
                    <a:cs typeface="Verdana" panose="020B0604030504040204" pitchFamily="34" charset="0"/>
                  </a:rPr>
                  <a:t> using your calculator.</a:t>
                </a: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880946" y="252652"/>
                <a:ext cx="9867265" cy="3322448"/>
              </a:xfrm>
              <a:prstGeom prst="rect">
                <a:avLst/>
              </a:prstGeom>
              <a:blipFill>
                <a:blip r:embed="rId3"/>
                <a:stretch>
                  <a:fillRect l="-989" b="-3119"/>
                </a:stretch>
              </a:blipFill>
            </p:spPr>
            <p:txBody>
              <a:bodyPr/>
              <a:lstStyle/>
              <a:p>
                <a:r>
                  <a:rPr lang="en-US">
                    <a:noFill/>
                  </a:rPr>
                  <a:t> </a:t>
                </a:r>
              </a:p>
            </p:txBody>
          </p:sp>
        </mc:Fallback>
      </mc:AlternateContent>
      <p:sp>
        <p:nvSpPr>
          <p:cNvPr id="6" name="Google Shape;282;g104476d1465_1_17">
            <a:extLst>
              <a:ext uri="{FF2B5EF4-FFF2-40B4-BE49-F238E27FC236}">
                <a16:creationId xmlns:a16="http://schemas.microsoft.com/office/drawing/2014/main" id="{55CFCE8B-4189-5CE9-2CC8-3E857124C9D8}"/>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37</a:t>
            </a:r>
            <a:endParaRPr i="1" dirty="0">
              <a:latin typeface="Calibri"/>
              <a:ea typeface="Calibri"/>
              <a:cs typeface="Calibri"/>
              <a:sym typeface="Calibri"/>
            </a:endParaRPr>
          </a:p>
        </p:txBody>
      </p:sp>
      <p:pic>
        <p:nvPicPr>
          <p:cNvPr id="7" name="Google Shape;283;g104476d1465_1_17">
            <a:extLst>
              <a:ext uri="{FF2B5EF4-FFF2-40B4-BE49-F238E27FC236}">
                <a16:creationId xmlns:a16="http://schemas.microsoft.com/office/drawing/2014/main" id="{E13C818A-C9A2-4013-D267-925161986B5F}"/>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145193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3369"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a16="http://schemas.microsoft.com/office/drawing/2014/main" id="{E44DF7DE-9172-3E4E-B74A-7A51585FB6EA}"/>
              </a:ext>
            </a:extLst>
          </p:cNvPr>
          <p:cNvSpPr txBox="1"/>
          <p:nvPr/>
        </p:nvSpPr>
        <p:spPr>
          <a:xfrm>
            <a:off x="869795" y="377838"/>
            <a:ext cx="9862373" cy="830997"/>
          </a:xfrm>
          <a:prstGeom prst="rect">
            <a:avLst/>
          </a:prstGeom>
          <a:noFill/>
        </p:spPr>
        <p:txBody>
          <a:bodyPr wrap="square" rtlCol="0">
            <a:spAutoFit/>
          </a:bodyPr>
          <a:lstStyle/>
          <a:p>
            <a:pPr marL="457200" indent="-457200">
              <a:buFont typeface="+mj-lt"/>
              <a:buAutoNum type="arabicPeriod" startAt="5"/>
            </a:pPr>
            <a:r>
              <a:rPr lang="en-US" sz="2400" dirty="0">
                <a:latin typeface="Verdana" panose="020B0604030504040204" pitchFamily="34" charset="0"/>
                <a:ea typeface="Verdana" panose="020B0604030504040204" pitchFamily="34" charset="0"/>
                <a:cs typeface="Verdana" panose="020B0604030504040204" pitchFamily="34" charset="0"/>
              </a:rPr>
              <a:t>For each expression, write an equivalent radical expression. Then, evaluate the expression using your calculator.</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C960075-01A8-4345-B2CC-A5183FC9B88D}"/>
                  </a:ext>
                </a:extLst>
              </p:cNvPr>
              <p:cNvGraphicFramePr>
                <a:graphicFrameLocks noGrp="1"/>
              </p:cNvGraphicFramePr>
              <p:nvPr>
                <p:extLst>
                  <p:ext uri="{D42A27DB-BD31-4B8C-83A1-F6EECF244321}">
                    <p14:modId xmlns:p14="http://schemas.microsoft.com/office/powerpoint/2010/main" val="4115651080"/>
                  </p:ext>
                </p:extLst>
              </p:nvPr>
            </p:nvGraphicFramePr>
            <p:xfrm>
              <a:off x="2496000" y="1713702"/>
              <a:ext cx="7200000" cy="4680000"/>
            </p:xfrm>
            <a:graphic>
              <a:graphicData uri="http://schemas.openxmlformats.org/drawingml/2006/table">
                <a:tbl>
                  <a:tblPr firstRow="1" firstCol="1" bandRow="1">
                    <a:tableStyleId>{A91F0D33-8C57-4600-99A7-42BC86742BE1}</a:tableStyleId>
                  </a:tblPr>
                  <a:tblGrid>
                    <a:gridCol w="2160000">
                      <a:extLst>
                        <a:ext uri="{9D8B030D-6E8A-4147-A177-3AD203B41FA5}">
                          <a16:colId xmlns:a16="http://schemas.microsoft.com/office/drawing/2014/main" val="863478830"/>
                        </a:ext>
                      </a:extLst>
                    </a:gridCol>
                    <a:gridCol w="2880000">
                      <a:extLst>
                        <a:ext uri="{9D8B030D-6E8A-4147-A177-3AD203B41FA5}">
                          <a16:colId xmlns:a16="http://schemas.microsoft.com/office/drawing/2014/main" val="562421441"/>
                        </a:ext>
                      </a:extLst>
                    </a:gridCol>
                    <a:gridCol w="2160000">
                      <a:extLst>
                        <a:ext uri="{9D8B030D-6E8A-4147-A177-3AD203B41FA5}">
                          <a16:colId xmlns:a16="http://schemas.microsoft.com/office/drawing/2014/main" val="4111926484"/>
                        </a:ext>
                      </a:extLst>
                    </a:gridCol>
                  </a:tblGrid>
                  <a:tr h="720000">
                    <a:tc>
                      <a:txBody>
                        <a:bodyPr/>
                        <a:lstStyle/>
                        <a:p>
                          <a:pPr marL="0" marR="0" algn="ctr">
                            <a:lnSpc>
                              <a:spcPct val="107000"/>
                            </a:lnSpc>
                            <a:spcBef>
                              <a:spcPts val="0"/>
                            </a:spcBef>
                            <a:spcAft>
                              <a:spcPts val="0"/>
                            </a:spcAft>
                          </a:pPr>
                          <a:r>
                            <a:rPr lang="en-US" sz="2000" b="1" dirty="0">
                              <a:effectLst/>
                              <a:latin typeface="Verdana" pitchFamily="34" charset="0"/>
                              <a:ea typeface="Verdana" pitchFamily="34" charset="0"/>
                              <a:cs typeface="Verdana" panose="020B0604030504040204" pitchFamily="34" charset="0"/>
                            </a:rPr>
                            <a:t>Expression</a:t>
                          </a:r>
                          <a:endParaRPr lang="x-none" sz="2000" b="1" i="1" dirty="0">
                            <a:effectLst/>
                            <a:latin typeface="Verdana" pitchFamily="34" charset="0"/>
                            <a:ea typeface="Verdana"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Radical Expression</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of the Expression</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24104947"/>
                      </a:ext>
                    </a:extLst>
                  </a:tr>
                  <a:tr h="792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rPr>
                                    </m:ctrlPr>
                                  </m:sSupPr>
                                  <m:e>
                                    <m:d>
                                      <m:dPr>
                                        <m:ctrlPr>
                                          <a:rPr lang="x-none" sz="2000" i="1">
                                            <a:effectLst/>
                                            <a:latin typeface="Cambria Math" panose="02040503050406030204" pitchFamily="18" charset="0"/>
                                          </a:rPr>
                                        </m:ctrlPr>
                                      </m:dPr>
                                      <m:e>
                                        <m:r>
                                          <a:rPr lang="en-US" sz="2000">
                                            <a:effectLst/>
                                            <a:latin typeface="Cambria Math"/>
                                          </a:rPr>
                                          <m:t>144</m:t>
                                        </m:r>
                                      </m:e>
                                    </m:d>
                                  </m:e>
                                  <m:sup>
                                    <m:r>
                                      <a:rPr lang="en-US" sz="2000">
                                        <a:effectLst/>
                                        <a:latin typeface="Cambria Math"/>
                                      </a:rPr>
                                      <m:t>−</m:t>
                                    </m:r>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3</m:t>
                                            </m:r>
                                          </m:num>
                                          <m:den>
                                            <m:r>
                                              <a:rPr lang="en-US" sz="2000">
                                                <a:effectLst/>
                                                <a:latin typeface="Cambria Math"/>
                                              </a:rPr>
                                              <m:t>2</m:t>
                                            </m:r>
                                          </m:den>
                                        </m:f>
                                      </m:e>
                                    </m:box>
                                  </m:sup>
                                </m:sSup>
                              </m:oMath>
                            </m:oMathPara>
                          </a14:m>
                          <a:endParaRPr lang="x-none" sz="2000"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8448624"/>
                      </a:ext>
                    </a:extLst>
                  </a:tr>
                  <a:tr h="792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m:t>
                                </m:r>
                                <m:sSup>
                                  <m:sSupPr>
                                    <m:ctrlPr>
                                      <a:rPr lang="x-none" sz="2000" i="1">
                                        <a:effectLst/>
                                        <a:latin typeface="Cambria Math" panose="02040503050406030204" pitchFamily="18" charset="0"/>
                                      </a:rPr>
                                    </m:ctrlPr>
                                  </m:sSupPr>
                                  <m:e>
                                    <m:d>
                                      <m:dPr>
                                        <m:ctrlPr>
                                          <a:rPr lang="x-none" sz="2000" i="1">
                                            <a:effectLst/>
                                            <a:latin typeface="Cambria Math" panose="02040503050406030204" pitchFamily="18" charset="0"/>
                                          </a:rPr>
                                        </m:ctrlPr>
                                      </m:dPr>
                                      <m:e>
                                        <m:r>
                                          <a:rPr lang="en-US" sz="2000">
                                            <a:effectLst/>
                                            <a:latin typeface="Cambria Math"/>
                                          </a:rPr>
                                          <m:t>−64</m:t>
                                        </m:r>
                                      </m:e>
                                    </m:d>
                                  </m:e>
                                  <m:sup>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3</m:t>
                                            </m:r>
                                          </m:den>
                                        </m:f>
                                      </m:e>
                                    </m:box>
                                  </m:sup>
                                </m:sSup>
                              </m:oMath>
                            </m:oMathPara>
                          </a14:m>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1376884"/>
                      </a:ext>
                    </a:extLst>
                  </a:tr>
                  <a:tr h="792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rPr>
                                    </m:ctrlPr>
                                  </m:sSupPr>
                                  <m:e>
                                    <m:d>
                                      <m:dPr>
                                        <m:ctrlPr>
                                          <a:rPr lang="x-none" sz="2000" i="1">
                                            <a:effectLst/>
                                            <a:latin typeface="Cambria Math" panose="02040503050406030204" pitchFamily="18" charset="0"/>
                                          </a:rPr>
                                        </m:ctrlPr>
                                      </m:dPr>
                                      <m:e>
                                        <m:r>
                                          <a:rPr lang="en-US" sz="2000">
                                            <a:effectLst/>
                                            <a:latin typeface="Cambria Math"/>
                                          </a:rPr>
                                          <m:t>225</m:t>
                                        </m:r>
                                      </m:e>
                                    </m:d>
                                  </m:e>
                                  <m:sup>
                                    <m:r>
                                      <a:rPr lang="en-US" sz="2000">
                                        <a:effectLst/>
                                        <a:latin typeface="Cambria Math"/>
                                      </a:rPr>
                                      <m:t>−</m:t>
                                    </m:r>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2</m:t>
                                            </m:r>
                                          </m:den>
                                        </m:f>
                                      </m:e>
                                    </m:box>
                                  </m:sup>
                                </m:sSup>
                              </m:oMath>
                            </m:oMathPara>
                          </a14:m>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3172294"/>
                      </a:ext>
                    </a:extLst>
                  </a:tr>
                  <a:tr h="792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m:t>
                                </m:r>
                                <m:sSup>
                                  <m:sSupPr>
                                    <m:ctrlPr>
                                      <a:rPr lang="x-none" sz="2000" i="1">
                                        <a:effectLst/>
                                        <a:latin typeface="Cambria Math" panose="02040503050406030204" pitchFamily="18" charset="0"/>
                                      </a:rPr>
                                    </m:ctrlPr>
                                  </m:sSupPr>
                                  <m:e>
                                    <m:r>
                                      <a:rPr lang="en-US" sz="2000">
                                        <a:effectLst/>
                                        <a:latin typeface="Cambria Math"/>
                                      </a:rPr>
                                      <m:t>9</m:t>
                                    </m:r>
                                  </m:e>
                                  <m:sup>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5</m:t>
                                            </m:r>
                                          </m:num>
                                          <m:den>
                                            <m:r>
                                              <a:rPr lang="en-US" sz="2000">
                                                <a:effectLst/>
                                                <a:latin typeface="Cambria Math"/>
                                              </a:rPr>
                                              <m:t>2</m:t>
                                            </m:r>
                                          </m:den>
                                        </m:f>
                                      </m:e>
                                    </m:box>
                                  </m:sup>
                                </m:sSup>
                              </m:oMath>
                            </m:oMathPara>
                          </a14:m>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0146374"/>
                      </a:ext>
                    </a:extLst>
                  </a:tr>
                  <a:tr h="792000">
                    <a:tc>
                      <a:txBody>
                        <a:bodyPr/>
                        <a:lstStyle/>
                        <a:p>
                          <a:pPr marL="0" marR="0" algn="ctr">
                            <a:lnSpc>
                              <a:spcPct val="100000"/>
                            </a:lnSpc>
                            <a:spcBef>
                              <a:spcPts val="0"/>
                            </a:spcBef>
                            <a:spcAft>
                              <a:spcPts val="0"/>
                            </a:spcAft>
                          </a:pPr>
                          <a14:m>
                            <m:oMath xmlns:m="http://schemas.openxmlformats.org/officeDocument/2006/math">
                              <m:sSup>
                                <m:sSupPr>
                                  <m:ctrlPr>
                                    <a:rPr lang="x-none" sz="2000" i="1">
                                      <a:effectLst/>
                                      <a:latin typeface="Cambria Math" panose="02040503050406030204" pitchFamily="18" charset="0"/>
                                    </a:rPr>
                                  </m:ctrlPr>
                                </m:sSupPr>
                                <m:e>
                                  <m:d>
                                    <m:dPr>
                                      <m:ctrlPr>
                                        <a:rPr lang="x-none" sz="2000" i="1">
                                          <a:effectLst/>
                                          <a:latin typeface="Cambria Math" panose="02040503050406030204" pitchFamily="18" charset="0"/>
                                        </a:rPr>
                                      </m:ctrlPr>
                                    </m:dPr>
                                    <m:e>
                                      <m:f>
                                        <m:fPr>
                                          <m:ctrlPr>
                                            <a:rPr lang="x-none" sz="2000" i="1">
                                              <a:effectLst/>
                                              <a:latin typeface="Cambria Math" panose="02040503050406030204" pitchFamily="18" charset="0"/>
                                            </a:rPr>
                                          </m:ctrlPr>
                                        </m:fPr>
                                        <m:num>
                                          <m:r>
                                            <a:rPr lang="en-US" sz="2000">
                                              <a:effectLst/>
                                              <a:latin typeface="Cambria Math"/>
                                            </a:rPr>
                                            <m:t>81</m:t>
                                          </m:r>
                                        </m:num>
                                        <m:den>
                                          <m:r>
                                            <a:rPr lang="en-US" sz="2000">
                                              <a:effectLst/>
                                              <a:latin typeface="Cambria Math"/>
                                            </a:rPr>
                                            <m:t>256</m:t>
                                          </m:r>
                                        </m:den>
                                      </m:f>
                                    </m:e>
                                  </m:d>
                                </m:e>
                                <m:sup>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3</m:t>
                                          </m:r>
                                        </m:num>
                                        <m:den>
                                          <m:r>
                                            <a:rPr lang="en-US" sz="2000">
                                              <a:effectLst/>
                                              <a:latin typeface="Cambria Math"/>
                                            </a:rPr>
                                            <m:t>4</m:t>
                                          </m:r>
                                        </m:den>
                                      </m:f>
                                    </m:e>
                                  </m:box>
                                </m:sup>
                              </m:sSup>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46242"/>
                      </a:ext>
                    </a:extLst>
                  </a:tr>
                </a:tbl>
              </a:graphicData>
            </a:graphic>
          </p:graphicFrame>
        </mc:Choice>
        <mc:Fallback xmlns="">
          <p:graphicFrame>
            <p:nvGraphicFramePr>
              <p:cNvPr id="2" name="Table 1">
                <a:extLst>
                  <a:ext uri="{FF2B5EF4-FFF2-40B4-BE49-F238E27FC236}">
                    <a16:creationId xmlns:a16="http://schemas.microsoft.com/office/drawing/2014/main" id="{EC960075-01A8-4345-B2CC-A5183FC9B88D}"/>
                  </a:ext>
                </a:extLst>
              </p:cNvPr>
              <p:cNvGraphicFramePr>
                <a:graphicFrameLocks noGrp="1"/>
              </p:cNvGraphicFramePr>
              <p:nvPr>
                <p:extLst>
                  <p:ext uri="{D42A27DB-BD31-4B8C-83A1-F6EECF244321}">
                    <p14:modId xmlns:p14="http://schemas.microsoft.com/office/powerpoint/2010/main" val="4115651080"/>
                  </p:ext>
                </p:extLst>
              </p:nvPr>
            </p:nvGraphicFramePr>
            <p:xfrm>
              <a:off x="2496000" y="1713702"/>
              <a:ext cx="7200000" cy="4680000"/>
            </p:xfrm>
            <a:graphic>
              <a:graphicData uri="http://schemas.openxmlformats.org/drawingml/2006/table">
                <a:tbl>
                  <a:tblPr firstRow="1" firstCol="1" bandRow="1">
                    <a:tableStyleId>{A91F0D33-8C57-4600-99A7-42BC86742BE1}</a:tableStyleId>
                  </a:tblPr>
                  <a:tblGrid>
                    <a:gridCol w="2160000">
                      <a:extLst>
                        <a:ext uri="{9D8B030D-6E8A-4147-A177-3AD203B41FA5}">
                          <a16:colId xmlns:a16="http://schemas.microsoft.com/office/drawing/2014/main" val="863478830"/>
                        </a:ext>
                      </a:extLst>
                    </a:gridCol>
                    <a:gridCol w="2880000">
                      <a:extLst>
                        <a:ext uri="{9D8B030D-6E8A-4147-A177-3AD203B41FA5}">
                          <a16:colId xmlns:a16="http://schemas.microsoft.com/office/drawing/2014/main" val="562421441"/>
                        </a:ext>
                      </a:extLst>
                    </a:gridCol>
                    <a:gridCol w="2160000">
                      <a:extLst>
                        <a:ext uri="{9D8B030D-6E8A-4147-A177-3AD203B41FA5}">
                          <a16:colId xmlns:a16="http://schemas.microsoft.com/office/drawing/2014/main" val="4111926484"/>
                        </a:ext>
                      </a:extLst>
                    </a:gridCol>
                  </a:tblGrid>
                  <a:tr h="720000">
                    <a:tc>
                      <a:txBody>
                        <a:bodyPr/>
                        <a:lstStyle/>
                        <a:p>
                          <a:pPr marL="0" marR="0" algn="ctr">
                            <a:lnSpc>
                              <a:spcPct val="107000"/>
                            </a:lnSpc>
                            <a:spcBef>
                              <a:spcPts val="0"/>
                            </a:spcBef>
                            <a:spcAft>
                              <a:spcPts val="0"/>
                            </a:spcAft>
                          </a:pPr>
                          <a:r>
                            <a:rPr lang="en-US" sz="2000" b="1" dirty="0">
                              <a:effectLst/>
                              <a:latin typeface="Verdana" pitchFamily="34" charset="0"/>
                              <a:ea typeface="Verdana" pitchFamily="34" charset="0"/>
                              <a:cs typeface="Verdana" panose="020B0604030504040204" pitchFamily="34" charset="0"/>
                            </a:rPr>
                            <a:t>Expression</a:t>
                          </a:r>
                          <a:endParaRPr lang="x-none" sz="2000" b="1" i="1" dirty="0">
                            <a:effectLst/>
                            <a:latin typeface="Verdana" pitchFamily="34" charset="0"/>
                            <a:ea typeface="Verdana"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Radical Expression</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Value of the Expression</a:t>
                          </a:r>
                          <a:endParaRPr lang="x-none" sz="2000" b="1"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124104947"/>
                      </a:ext>
                    </a:extLst>
                  </a:tr>
                  <a:tr h="792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88" t="-95238" r="-235294" b="-398413"/>
                          </a:stretch>
                        </a:blipFill>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8448624"/>
                      </a:ext>
                    </a:extLst>
                  </a:tr>
                  <a:tr h="792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88" t="-198387" r="-235294" b="-304839"/>
                          </a:stretch>
                        </a:blipFill>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1376884"/>
                      </a:ext>
                    </a:extLst>
                  </a:tr>
                  <a:tr h="792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88" t="-293651" r="-235294" b="-200000"/>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3172294"/>
                      </a:ext>
                    </a:extLst>
                  </a:tr>
                  <a:tr h="792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88" t="-400000" r="-235294" b="-103226"/>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0146374"/>
                      </a:ext>
                    </a:extLst>
                  </a:tr>
                  <a:tr h="7920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588" t="-492063" r="-235294" b="-1587"/>
                          </a:stretch>
                        </a:blipFill>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i="1">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i="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46242"/>
                      </a:ext>
                    </a:extLst>
                  </a:tr>
                </a:tbl>
              </a:graphicData>
            </a:graphic>
          </p:graphicFrame>
        </mc:Fallback>
      </mc:AlternateContent>
      <p:sp>
        <p:nvSpPr>
          <p:cNvPr id="7" name="Google Shape;282;g104476d1465_1_17">
            <a:extLst>
              <a:ext uri="{FF2B5EF4-FFF2-40B4-BE49-F238E27FC236}">
                <a16:creationId xmlns:a16="http://schemas.microsoft.com/office/drawing/2014/main" id="{2B1744BC-D0C0-5359-7EC7-6CF536627BED}"/>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38</a:t>
            </a:r>
            <a:endParaRPr i="1" dirty="0">
              <a:latin typeface="Calibri"/>
              <a:ea typeface="Calibri"/>
              <a:cs typeface="Calibri"/>
              <a:sym typeface="Calibri"/>
            </a:endParaRPr>
          </a:p>
        </p:txBody>
      </p:sp>
    </p:spTree>
    <p:extLst>
      <p:ext uri="{BB962C8B-B14F-4D97-AF65-F5344CB8AC3E}">
        <p14:creationId xmlns:p14="http://schemas.microsoft.com/office/powerpoint/2010/main" val="594848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208017" y="2761974"/>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9" name="image12.png" descr="Icon&#10;&#10;Description automatically generated">
            <a:extLst>
              <a:ext uri="{FF2B5EF4-FFF2-40B4-BE49-F238E27FC236}">
                <a16:creationId xmlns:a16="http://schemas.microsoft.com/office/drawing/2014/main" id="{51555AC7-F08C-3A41-8AE5-C505B63C9DA6}"/>
              </a:ext>
            </a:extLst>
          </p:cNvPr>
          <p:cNvPicPr/>
          <p:nvPr/>
        </p:nvPicPr>
        <p:blipFill>
          <a:blip r:embed="rId3"/>
          <a:srcRect/>
          <a:stretch>
            <a:fillRect/>
          </a:stretch>
        </p:blipFill>
        <p:spPr>
          <a:xfrm>
            <a:off x="3541560" y="2848752"/>
            <a:ext cx="1152145" cy="1152145"/>
          </a:xfrm>
          <a:prstGeom prst="rect">
            <a:avLst/>
          </a:prstGeom>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54477CCE-3BED-632C-688E-BD381FFEE6E9}"/>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38</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611C30BE-62B8-6A80-1954-3EBEF839F363}"/>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2145178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16728" y="0"/>
            <a:ext cx="90323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1.7.3 Activity: Exponents Maze</a:t>
            </a:r>
          </a:p>
        </p:txBody>
      </p:sp>
      <p:sp>
        <p:nvSpPr>
          <p:cNvPr id="10" name="TextBox 9">
            <a:extLst>
              <a:ext uri="{FF2B5EF4-FFF2-40B4-BE49-F238E27FC236}">
                <a16:creationId xmlns:a16="http://schemas.microsoft.com/office/drawing/2014/main" id="{E44DF7DE-9172-3E4E-B74A-7A51585FB6EA}"/>
              </a:ext>
            </a:extLst>
          </p:cNvPr>
          <p:cNvSpPr txBox="1"/>
          <p:nvPr/>
        </p:nvSpPr>
        <p:spPr>
          <a:xfrm>
            <a:off x="869796" y="1146506"/>
            <a:ext cx="10659680" cy="101566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Work with a partner to complete the maze. Beginning at the “start” box, connect each expression to an equivalent expression to form one continuous path to the “end” of the maze. Move only horizontally or vertically. </a:t>
            </a:r>
          </a:p>
        </p:txBody>
      </p:sp>
      <p:pic>
        <p:nvPicPr>
          <p:cNvPr id="11" name="image12.png" descr="Icon&#10;&#10;Description automatically generated">
            <a:extLst>
              <a:ext uri="{FF2B5EF4-FFF2-40B4-BE49-F238E27FC236}">
                <a16:creationId xmlns:a16="http://schemas.microsoft.com/office/drawing/2014/main" id="{F65C75A6-6EF1-1D47-9FA4-4B40F0766CA6}"/>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766919" y="287904"/>
            <a:ext cx="749809" cy="749809"/>
          </a:xfrm>
          <a:prstGeom prst="rect">
            <a:avLst/>
          </a:prstGeom>
          <a:ln/>
        </p:spPr>
      </p:pic>
      <p:pic>
        <p:nvPicPr>
          <p:cNvPr id="9" name="Picture 8" descr="Diagram&#10;&#10;Description automatically generated">
            <a:extLst>
              <a:ext uri="{FF2B5EF4-FFF2-40B4-BE49-F238E27FC236}">
                <a16:creationId xmlns:a16="http://schemas.microsoft.com/office/drawing/2014/main" id="{63800821-45BC-5944-A73B-82D462D5DBF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348135" y="2162168"/>
            <a:ext cx="6079297" cy="4559473"/>
          </a:xfrm>
          <a:prstGeom prst="rect">
            <a:avLst/>
          </a:prstGeom>
        </p:spPr>
      </p:pic>
      <p:sp>
        <p:nvSpPr>
          <p:cNvPr id="12" name="Google Shape;282;g104476d1465_1_17">
            <a:extLst>
              <a:ext uri="{FF2B5EF4-FFF2-40B4-BE49-F238E27FC236}">
                <a16:creationId xmlns:a16="http://schemas.microsoft.com/office/drawing/2014/main" id="{944F37F7-E4EC-ECC5-4172-A308B31F7913}"/>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38</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226475EF-D49C-BB0C-1647-F898AE307607}"/>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527437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TextBox 9">
            <a:extLst>
              <a:ext uri="{FF2B5EF4-FFF2-40B4-BE49-F238E27FC236}">
                <a16:creationId xmlns:a16="http://schemas.microsoft.com/office/drawing/2014/main" id="{E44DF7DE-9172-3E4E-B74A-7A51585FB6EA}"/>
              </a:ext>
            </a:extLst>
          </p:cNvPr>
          <p:cNvSpPr txBox="1"/>
          <p:nvPr/>
        </p:nvSpPr>
        <p:spPr>
          <a:xfrm>
            <a:off x="880946" y="407789"/>
            <a:ext cx="10666094" cy="830997"/>
          </a:xfrm>
          <a:prstGeom prst="rect">
            <a:avLst/>
          </a:prstGeom>
          <a:noFill/>
        </p:spPr>
        <p:txBody>
          <a:bodyPr wrap="square" rtlCol="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What is the value of the expression in each box that created the path through the maze?</a:t>
            </a:r>
          </a:p>
        </p:txBody>
      </p:sp>
      <p:sp>
        <p:nvSpPr>
          <p:cNvPr id="6" name="Google Shape;282;g104476d1465_1_17">
            <a:extLst>
              <a:ext uri="{FF2B5EF4-FFF2-40B4-BE49-F238E27FC236}">
                <a16:creationId xmlns:a16="http://schemas.microsoft.com/office/drawing/2014/main" id="{8BFAE4FD-9A0C-40F2-02CA-123471FC9B47}"/>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38</a:t>
            </a:r>
            <a:endParaRPr i="1" dirty="0">
              <a:latin typeface="Calibri"/>
              <a:ea typeface="Calibri"/>
              <a:cs typeface="Calibri"/>
              <a:sym typeface="Calibri"/>
            </a:endParaRPr>
          </a:p>
        </p:txBody>
      </p:sp>
      <p:pic>
        <p:nvPicPr>
          <p:cNvPr id="7" name="Google Shape;283;g104476d1465_1_17">
            <a:extLst>
              <a:ext uri="{FF2B5EF4-FFF2-40B4-BE49-F238E27FC236}">
                <a16:creationId xmlns:a16="http://schemas.microsoft.com/office/drawing/2014/main" id="{7C042169-DDD6-2C45-5139-A5B43702B84F}"/>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74660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999041"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9" name="Picture 8" descr="Icon&#10;&#10;Description automatically generated">
            <a:extLst>
              <a:ext uri="{FF2B5EF4-FFF2-40B4-BE49-F238E27FC236}">
                <a16:creationId xmlns:a16="http://schemas.microsoft.com/office/drawing/2014/main" id="{758FF271-6581-5740-BCCD-706D33EA7E3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492357" y="2849920"/>
            <a:ext cx="1158150" cy="1158150"/>
          </a:xfrm>
          <a:prstGeom prst="rect">
            <a:avLst/>
          </a:prstGeom>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1BC6F1E9-4C49-76B7-A541-8599260B1569}"/>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39</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C49D4746-0B3E-2D73-82C7-44872E4ABE71}"/>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36341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63369" y="62003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617432" y="-109547"/>
            <a:ext cx="83066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400" b="1" dirty="0">
                <a:solidFill>
                  <a:srgbClr val="E24E5F"/>
                </a:solidFill>
                <a:latin typeface="Verdana"/>
                <a:ea typeface="Verdana"/>
                <a:cs typeface="Verdana"/>
                <a:sym typeface="Verdana"/>
              </a:rPr>
              <a:t>1.7.4 Your Turn!</a:t>
            </a: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869795" y="1216153"/>
            <a:ext cx="865441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Evaluate each expression without a calculator. </a:t>
            </a:r>
          </a:p>
        </p:txBody>
      </p:sp>
      <p:pic>
        <p:nvPicPr>
          <p:cNvPr id="15" name="Picture 14" descr="Icon&#10;&#10;Description automatically generated">
            <a:extLst>
              <a:ext uri="{FF2B5EF4-FFF2-40B4-BE49-F238E27FC236}">
                <a16:creationId xmlns:a16="http://schemas.microsoft.com/office/drawing/2014/main" id="{2B53F9A7-2434-5D4E-B654-257F5CF1B6B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77385" y="166644"/>
            <a:ext cx="747301" cy="747301"/>
          </a:xfrm>
          <a:prstGeom prst="rect">
            <a:avLst/>
          </a:prstGeom>
        </p:spPr>
      </p:pic>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787A65CC-75B5-7348-8909-56CA4AB792DF}"/>
                  </a:ext>
                </a:extLst>
              </p:cNvPr>
              <p:cNvGraphicFramePr>
                <a:graphicFrameLocks noGrp="1"/>
              </p:cNvGraphicFramePr>
              <p:nvPr>
                <p:extLst>
                  <p:ext uri="{D42A27DB-BD31-4B8C-83A1-F6EECF244321}">
                    <p14:modId xmlns:p14="http://schemas.microsoft.com/office/powerpoint/2010/main" val="2120941214"/>
                  </p:ext>
                </p:extLst>
              </p:nvPr>
            </p:nvGraphicFramePr>
            <p:xfrm>
              <a:off x="2745014" y="1877491"/>
              <a:ext cx="5760000" cy="3600000"/>
            </p:xfrm>
            <a:graphic>
              <a:graphicData uri="http://schemas.openxmlformats.org/drawingml/2006/table">
                <a:tbl>
                  <a:tblPr firstRow="1" firstCol="1" bandRow="1">
                    <a:tableStyleId>{A91F0D33-8C57-4600-99A7-42BC86742BE1}</a:tableStyleId>
                  </a:tblPr>
                  <a:tblGrid>
                    <a:gridCol w="2880000">
                      <a:extLst>
                        <a:ext uri="{9D8B030D-6E8A-4147-A177-3AD203B41FA5}">
                          <a16:colId xmlns:a16="http://schemas.microsoft.com/office/drawing/2014/main" val="4244118192"/>
                        </a:ext>
                      </a:extLst>
                    </a:gridCol>
                    <a:gridCol w="2880000">
                      <a:extLst>
                        <a:ext uri="{9D8B030D-6E8A-4147-A177-3AD203B41FA5}">
                          <a16:colId xmlns:a16="http://schemas.microsoft.com/office/drawing/2014/main" val="3787233026"/>
                        </a:ext>
                      </a:extLst>
                    </a:gridCol>
                  </a:tblGrid>
                  <a:tr h="1800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rPr>
                                    </m:ctrlPr>
                                  </m:sSupPr>
                                  <m:e>
                                    <m:d>
                                      <m:dPr>
                                        <m:ctrlPr>
                                          <a:rPr lang="x-none" sz="2000" i="1">
                                            <a:effectLst/>
                                            <a:latin typeface="Cambria Math" panose="02040503050406030204" pitchFamily="18" charset="0"/>
                                          </a:rPr>
                                        </m:ctrlPr>
                                      </m:dPr>
                                      <m:e>
                                        <m:r>
                                          <a:rPr lang="en-US" sz="2000">
                                            <a:effectLst/>
                                            <a:latin typeface="Cambria Math"/>
                                          </a:rPr>
                                          <m:t>100</m:t>
                                        </m:r>
                                      </m:e>
                                    </m:d>
                                  </m:e>
                                  <m:sup>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2</m:t>
                                            </m:r>
                                          </m:den>
                                        </m:f>
                                      </m:e>
                                    </m:box>
                                  </m:sup>
                                </m:sSup>
                                <m:r>
                                  <a:rPr lang="en-US" sz="2000">
                                    <a:effectLst/>
                                    <a:latin typeface="Cambria Math"/>
                                  </a:rPr>
                                  <m:t>⋅</m:t>
                                </m:r>
                                <m:d>
                                  <m:dPr>
                                    <m:ctrlPr>
                                      <a:rPr lang="x-none" sz="2000" i="1">
                                        <a:effectLst/>
                                        <a:latin typeface="Cambria Math" panose="02040503050406030204" pitchFamily="18" charset="0"/>
                                      </a:rPr>
                                    </m:ctrlPr>
                                  </m:dPr>
                                  <m:e>
                                    <m:sSup>
                                      <m:sSupPr>
                                        <m:ctrlPr>
                                          <a:rPr lang="x-none" sz="2000" i="1">
                                            <a:effectLst/>
                                            <a:latin typeface="Cambria Math" panose="02040503050406030204" pitchFamily="18" charset="0"/>
                                          </a:rPr>
                                        </m:ctrlPr>
                                      </m:sSupPr>
                                      <m:e>
                                        <m:r>
                                          <a:rPr lang="en-US" sz="2000">
                                            <a:effectLst/>
                                            <a:latin typeface="Cambria Math"/>
                                          </a:rPr>
                                          <m:t>2</m:t>
                                        </m:r>
                                      </m:e>
                                      <m:sup>
                                        <m:r>
                                          <a:rPr lang="en-US" sz="2000">
                                            <a:effectLst/>
                                            <a:latin typeface="Cambria Math"/>
                                          </a:rPr>
                                          <m:t>3</m:t>
                                        </m:r>
                                      </m:sup>
                                    </m:sSup>
                                  </m:e>
                                </m:d>
                              </m:oMath>
                            </m:oMathPara>
                          </a14:m>
                          <a:endParaRPr lang="x-none" sz="1800" i="1">
                            <a:effectLst/>
                            <a:latin typeface="Verdana" panose="020B0604030504040204" pitchFamily="34" charset="0"/>
                            <a:ea typeface="Verdana" panose="020B0604030504040204" pitchFamily="34" charset="0"/>
                            <a:cs typeface="Verdana" panose="020B0604030504040204"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panose="02040503050406030204" pitchFamily="18" charset="0"/>
                                      </a:rPr>
                                    </m:ctrlPr>
                                  </m:dPr>
                                  <m:e>
                                    <m:sSup>
                                      <m:sSupPr>
                                        <m:ctrlPr>
                                          <a:rPr lang="x-none" sz="2000" i="1">
                                            <a:effectLst/>
                                            <a:latin typeface="Cambria Math" panose="02040503050406030204" pitchFamily="18" charset="0"/>
                                          </a:rPr>
                                        </m:ctrlPr>
                                      </m:sSupPr>
                                      <m:e>
                                        <m:r>
                                          <a:rPr lang="en-US" sz="2000">
                                            <a:effectLst/>
                                            <a:latin typeface="Cambria Math"/>
                                          </a:rPr>
                                          <m:t>8</m:t>
                                        </m:r>
                                      </m:e>
                                      <m:sup>
                                        <m:r>
                                          <a:rPr lang="en-US" sz="2000">
                                            <a:effectLst/>
                                            <a:latin typeface="Cambria Math"/>
                                          </a:rPr>
                                          <m:t>−1</m:t>
                                        </m:r>
                                      </m:sup>
                                    </m:sSup>
                                  </m:e>
                                </m:d>
                                <m:d>
                                  <m:dPr>
                                    <m:ctrlPr>
                                      <a:rPr lang="x-none" sz="2000" i="1">
                                        <a:effectLst/>
                                        <a:latin typeface="Cambria Math" panose="02040503050406030204" pitchFamily="18" charset="0"/>
                                      </a:rPr>
                                    </m:ctrlPr>
                                  </m:dPr>
                                  <m:e>
                                    <m:sSup>
                                      <m:sSupPr>
                                        <m:ctrlPr>
                                          <a:rPr lang="x-none" sz="2000" i="1">
                                            <a:effectLst/>
                                            <a:latin typeface="Cambria Math" panose="02040503050406030204" pitchFamily="18" charset="0"/>
                                          </a:rPr>
                                        </m:ctrlPr>
                                      </m:sSupPr>
                                      <m:e>
                                        <m:r>
                                          <a:rPr lang="en-US" sz="2000">
                                            <a:effectLst/>
                                            <a:latin typeface="Cambria Math"/>
                                          </a:rPr>
                                          <m:t>4</m:t>
                                        </m:r>
                                      </m:e>
                                      <m:sup>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5</m:t>
                                                </m:r>
                                              </m:num>
                                              <m:den>
                                                <m:r>
                                                  <a:rPr lang="en-US" sz="2000">
                                                    <a:effectLst/>
                                                    <a:latin typeface="Cambria Math"/>
                                                  </a:rPr>
                                                  <m:t>2</m:t>
                                                </m:r>
                                              </m:den>
                                            </m:f>
                                          </m:e>
                                        </m:box>
                                      </m:sup>
                                    </m:sSup>
                                  </m:e>
                                </m:d>
                              </m:oMath>
                            </m:oMathPara>
                          </a14:m>
                          <a:endParaRPr lang="x-none" sz="1800" i="1">
                            <a:effectLst/>
                            <a:latin typeface="Verdana" panose="020B0604030504040204" pitchFamily="34" charset="0"/>
                            <a:ea typeface="Verdana" panose="020B0604030504040204" pitchFamily="34" charset="0"/>
                            <a:cs typeface="Verdana" panose="020B0604030504040204"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52484769"/>
                      </a:ext>
                    </a:extLst>
                  </a:tr>
                  <a:tr h="1800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rPr>
                                    </m:ctrlPr>
                                  </m:sSupPr>
                                  <m:e>
                                    <m:d>
                                      <m:dPr>
                                        <m:ctrlPr>
                                          <a:rPr lang="x-none" sz="2000" i="1">
                                            <a:effectLst/>
                                            <a:latin typeface="Cambria Math" panose="02040503050406030204" pitchFamily="18" charset="0"/>
                                          </a:rPr>
                                        </m:ctrlPr>
                                      </m:dPr>
                                      <m:e>
                                        <m:sSup>
                                          <m:sSupPr>
                                            <m:ctrlPr>
                                              <a:rPr lang="x-none" sz="2000" i="1">
                                                <a:effectLst/>
                                                <a:latin typeface="Cambria Math" panose="02040503050406030204" pitchFamily="18" charset="0"/>
                                              </a:rPr>
                                            </m:ctrlPr>
                                          </m:sSupPr>
                                          <m:e>
                                            <m:r>
                                              <a:rPr lang="en-US" sz="2000">
                                                <a:effectLst/>
                                                <a:latin typeface="Cambria Math"/>
                                              </a:rPr>
                                              <m:t>81</m:t>
                                            </m:r>
                                          </m:e>
                                          <m:sup>
                                            <m:r>
                                              <a:rPr lang="en-US" sz="2000">
                                                <a:effectLst/>
                                                <a:latin typeface="Cambria Math"/>
                                              </a:rPr>
                                              <m:t>6</m:t>
                                            </m:r>
                                          </m:sup>
                                        </m:sSup>
                                      </m:e>
                                    </m:d>
                                  </m:e>
                                  <m:sup>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24</m:t>
                                            </m:r>
                                          </m:den>
                                        </m:f>
                                      </m:e>
                                    </m:box>
                                  </m:sup>
                                </m:sSup>
                              </m:oMath>
                            </m:oMathPara>
                          </a14:m>
                          <a:endParaRPr lang="x-none" sz="1800" i="1">
                            <a:effectLst/>
                            <a:latin typeface="Verdana" panose="020B0604030504040204" pitchFamily="34" charset="0"/>
                            <a:ea typeface="Verdana" panose="020B0604030504040204" pitchFamily="34" charset="0"/>
                            <a:cs typeface="Verdana" panose="020B0604030504040204"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rPr>
                                    </m:ctrlPr>
                                  </m:sSupPr>
                                  <m:e>
                                    <m:d>
                                      <m:dPr>
                                        <m:ctrlPr>
                                          <a:rPr lang="x-none" sz="2000" i="1">
                                            <a:effectLst/>
                                            <a:latin typeface="Cambria Math" panose="02040503050406030204" pitchFamily="18" charset="0"/>
                                          </a:rPr>
                                        </m:ctrlPr>
                                      </m:dPr>
                                      <m:e>
                                        <m:r>
                                          <a:rPr lang="en-US" sz="2000">
                                            <a:effectLst/>
                                            <a:latin typeface="Cambria Math"/>
                                          </a:rPr>
                                          <m:t>125</m:t>
                                        </m:r>
                                      </m:e>
                                    </m:d>
                                  </m:e>
                                  <m:sup>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2</m:t>
                                            </m:r>
                                          </m:num>
                                          <m:den>
                                            <m:r>
                                              <a:rPr lang="en-US" sz="2000">
                                                <a:effectLst/>
                                                <a:latin typeface="Cambria Math"/>
                                              </a:rPr>
                                              <m:t>3</m:t>
                                            </m:r>
                                          </m:den>
                                        </m:f>
                                      </m:e>
                                    </m:box>
                                  </m:sup>
                                </m:sSup>
                              </m:oMath>
                            </m:oMathPara>
                          </a14:m>
                          <a:endParaRPr lang="x-none" sz="1800" i="1" dirty="0">
                            <a:effectLst/>
                            <a:latin typeface="Verdana" panose="020B0604030504040204" pitchFamily="34" charset="0"/>
                            <a:ea typeface="Verdana" panose="020B0604030504040204" pitchFamily="34" charset="0"/>
                            <a:cs typeface="Verdana" panose="020B0604030504040204"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4020278"/>
                      </a:ext>
                    </a:extLst>
                  </a:tr>
                </a:tbl>
              </a:graphicData>
            </a:graphic>
          </p:graphicFrame>
        </mc:Choice>
        <mc:Fallback xmlns="">
          <p:graphicFrame>
            <p:nvGraphicFramePr>
              <p:cNvPr id="2" name="Table 1">
                <a:extLst>
                  <a:ext uri="{FF2B5EF4-FFF2-40B4-BE49-F238E27FC236}">
                    <a16:creationId xmlns:a16="http://schemas.microsoft.com/office/drawing/2014/main" id="{787A65CC-75B5-7348-8909-56CA4AB792DF}"/>
                  </a:ext>
                </a:extLst>
              </p:cNvPr>
              <p:cNvGraphicFramePr>
                <a:graphicFrameLocks noGrp="1"/>
              </p:cNvGraphicFramePr>
              <p:nvPr>
                <p:extLst>
                  <p:ext uri="{D42A27DB-BD31-4B8C-83A1-F6EECF244321}">
                    <p14:modId xmlns:p14="http://schemas.microsoft.com/office/powerpoint/2010/main" val="2120941214"/>
                  </p:ext>
                </p:extLst>
              </p:nvPr>
            </p:nvGraphicFramePr>
            <p:xfrm>
              <a:off x="2745014" y="1877491"/>
              <a:ext cx="5760000" cy="3600000"/>
            </p:xfrm>
            <a:graphic>
              <a:graphicData uri="http://schemas.openxmlformats.org/drawingml/2006/table">
                <a:tbl>
                  <a:tblPr firstRow="1" firstCol="1" bandRow="1">
                    <a:tableStyleId>{A91F0D33-8C57-4600-99A7-42BC86742BE1}</a:tableStyleId>
                  </a:tblPr>
                  <a:tblGrid>
                    <a:gridCol w="2880000">
                      <a:extLst>
                        <a:ext uri="{9D8B030D-6E8A-4147-A177-3AD203B41FA5}">
                          <a16:colId xmlns:a16="http://schemas.microsoft.com/office/drawing/2014/main" val="4244118192"/>
                        </a:ext>
                      </a:extLst>
                    </a:gridCol>
                    <a:gridCol w="2880000">
                      <a:extLst>
                        <a:ext uri="{9D8B030D-6E8A-4147-A177-3AD203B41FA5}">
                          <a16:colId xmlns:a16="http://schemas.microsoft.com/office/drawing/2014/main" val="3787233026"/>
                        </a:ext>
                      </a:extLst>
                    </a:gridCol>
                  </a:tblGrid>
                  <a:tr h="180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441" t="-699" r="-100881" b="-100000"/>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441" t="-699" r="-881" b="-100000"/>
                          </a:stretch>
                        </a:blipFill>
                      </a:tcPr>
                    </a:tc>
                    <a:extLst>
                      <a:ext uri="{0D108BD9-81ED-4DB2-BD59-A6C34878D82A}">
                        <a16:rowId xmlns:a16="http://schemas.microsoft.com/office/drawing/2014/main" val="2852484769"/>
                      </a:ext>
                    </a:extLst>
                  </a:tr>
                  <a:tr h="180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441" t="-101408" r="-100881" b="-704"/>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441" t="-101408" r="-881" b="-704"/>
                          </a:stretch>
                        </a:blipFill>
                      </a:tcPr>
                    </a:tc>
                    <a:extLst>
                      <a:ext uri="{0D108BD9-81ED-4DB2-BD59-A6C34878D82A}">
                        <a16:rowId xmlns:a16="http://schemas.microsoft.com/office/drawing/2014/main" val="3374020278"/>
                      </a:ext>
                    </a:extLst>
                  </a:tr>
                </a:tbl>
              </a:graphicData>
            </a:graphic>
          </p:graphicFrame>
        </mc:Fallback>
      </mc:AlternateContent>
      <p:sp>
        <p:nvSpPr>
          <p:cNvPr id="10" name="Google Shape;282;g104476d1465_1_17">
            <a:extLst>
              <a:ext uri="{FF2B5EF4-FFF2-40B4-BE49-F238E27FC236}">
                <a16:creationId xmlns:a16="http://schemas.microsoft.com/office/drawing/2014/main" id="{3929FEBE-B7DA-D946-2BC4-8C07867627AD}"/>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39</a:t>
            </a:r>
            <a:endParaRPr i="1" dirty="0">
              <a:latin typeface="Calibri"/>
              <a:ea typeface="Calibri"/>
              <a:cs typeface="Calibri"/>
              <a:sym typeface="Calibri"/>
            </a:endParaRPr>
          </a:p>
        </p:txBody>
      </p:sp>
    </p:spTree>
    <p:extLst>
      <p:ext uri="{BB962C8B-B14F-4D97-AF65-F5344CB8AC3E}">
        <p14:creationId xmlns:p14="http://schemas.microsoft.com/office/powerpoint/2010/main" val="1948071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151"/>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196405FF-9336-A64F-B1BB-E7240A76F600}"/>
                  </a:ext>
                </a:extLst>
              </p:cNvPr>
              <p:cNvGraphicFramePr>
                <a:graphicFrameLocks noGrp="1"/>
              </p:cNvGraphicFramePr>
              <p:nvPr>
                <p:extLst>
                  <p:ext uri="{D42A27DB-BD31-4B8C-83A1-F6EECF244321}">
                    <p14:modId xmlns:p14="http://schemas.microsoft.com/office/powerpoint/2010/main" val="872870941"/>
                  </p:ext>
                </p:extLst>
              </p:nvPr>
            </p:nvGraphicFramePr>
            <p:xfrm>
              <a:off x="2743412" y="427235"/>
              <a:ext cx="5760000" cy="5400000"/>
            </p:xfrm>
            <a:graphic>
              <a:graphicData uri="http://schemas.openxmlformats.org/drawingml/2006/table">
                <a:tbl>
                  <a:tblPr firstRow="1" firstCol="1" bandRow="1">
                    <a:tableStyleId>{A91F0D33-8C57-4600-99A7-42BC86742BE1}</a:tableStyleId>
                  </a:tblPr>
                  <a:tblGrid>
                    <a:gridCol w="2880000">
                      <a:extLst>
                        <a:ext uri="{9D8B030D-6E8A-4147-A177-3AD203B41FA5}">
                          <a16:colId xmlns:a16="http://schemas.microsoft.com/office/drawing/2014/main" val="1231476327"/>
                        </a:ext>
                      </a:extLst>
                    </a:gridCol>
                    <a:gridCol w="2880000">
                      <a:extLst>
                        <a:ext uri="{9D8B030D-6E8A-4147-A177-3AD203B41FA5}">
                          <a16:colId xmlns:a16="http://schemas.microsoft.com/office/drawing/2014/main" val="4089816766"/>
                        </a:ext>
                      </a:extLst>
                    </a:gridCol>
                  </a:tblGrid>
                  <a:tr h="1800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panose="02040503050406030204" pitchFamily="18" charset="0"/>
                                      </a:rPr>
                                    </m:ctrlPr>
                                  </m:dPr>
                                  <m:e>
                                    <m:sSup>
                                      <m:sSupPr>
                                        <m:ctrlPr>
                                          <a:rPr lang="x-none" sz="2000" i="1">
                                            <a:effectLst/>
                                            <a:latin typeface="Cambria Math" panose="02040503050406030204" pitchFamily="18" charset="0"/>
                                          </a:rPr>
                                        </m:ctrlPr>
                                      </m:sSupPr>
                                      <m:e>
                                        <m:r>
                                          <a:rPr lang="en-US" sz="2000">
                                            <a:effectLst/>
                                            <a:latin typeface="Cambria Math"/>
                                          </a:rPr>
                                          <m:t>49</m:t>
                                        </m:r>
                                      </m:e>
                                      <m:sup>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2</m:t>
                                                </m:r>
                                              </m:den>
                                            </m:f>
                                          </m:e>
                                        </m:box>
                                      </m:sup>
                                    </m:sSup>
                                  </m:e>
                                </m:d>
                                <m:d>
                                  <m:dPr>
                                    <m:ctrlPr>
                                      <a:rPr lang="x-none" sz="2000" i="1">
                                        <a:effectLst/>
                                        <a:latin typeface="Cambria Math" panose="02040503050406030204" pitchFamily="18" charset="0"/>
                                      </a:rPr>
                                    </m:ctrlPr>
                                  </m:dPr>
                                  <m:e>
                                    <m:sSup>
                                      <m:sSupPr>
                                        <m:ctrlPr>
                                          <a:rPr lang="x-none" sz="2000" i="1">
                                            <a:effectLst/>
                                            <a:latin typeface="Cambria Math" panose="02040503050406030204" pitchFamily="18" charset="0"/>
                                          </a:rPr>
                                        </m:ctrlPr>
                                      </m:sSupPr>
                                      <m:e>
                                        <m:r>
                                          <a:rPr lang="en-US" sz="2000">
                                            <a:effectLst/>
                                            <a:latin typeface="Cambria Math"/>
                                          </a:rPr>
                                          <m:t>3</m:t>
                                        </m:r>
                                      </m:e>
                                      <m:sup>
                                        <m:r>
                                          <a:rPr lang="en-US" sz="2000">
                                            <a:effectLst/>
                                            <a:latin typeface="Cambria Math"/>
                                          </a:rPr>
                                          <m:t>−2</m:t>
                                        </m:r>
                                      </m:sup>
                                    </m:sSup>
                                  </m:e>
                                </m:d>
                              </m:oMath>
                            </m:oMathPara>
                          </a14:m>
                          <a:endParaRPr lang="x-none" sz="1800" i="1">
                            <a:effectLst/>
                            <a:latin typeface="Verdana" panose="020B0604030504040204" pitchFamily="34" charset="0"/>
                            <a:ea typeface="Verdana" panose="020B0604030504040204" pitchFamily="34" charset="0"/>
                            <a:cs typeface="Verdana" panose="020B0604030504040204"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rPr>
                                    </m:ctrlPr>
                                  </m:sSupPr>
                                  <m:e>
                                    <m:r>
                                      <a:rPr lang="en-US" sz="2000">
                                        <a:effectLst/>
                                        <a:latin typeface="Cambria Math"/>
                                      </a:rPr>
                                      <m:t>−</m:t>
                                    </m:r>
                                    <m:d>
                                      <m:dPr>
                                        <m:ctrlPr>
                                          <a:rPr lang="x-none" sz="2000" i="1">
                                            <a:effectLst/>
                                            <a:latin typeface="Cambria Math" panose="02040503050406030204" pitchFamily="18" charset="0"/>
                                          </a:rPr>
                                        </m:ctrlPr>
                                      </m:dPr>
                                      <m:e>
                                        <m:sSup>
                                          <m:sSupPr>
                                            <m:ctrlPr>
                                              <a:rPr lang="x-none" sz="2000" i="1">
                                                <a:effectLst/>
                                                <a:latin typeface="Cambria Math" panose="02040503050406030204" pitchFamily="18" charset="0"/>
                                              </a:rPr>
                                            </m:ctrlPr>
                                          </m:sSupPr>
                                          <m:e>
                                            <m:r>
                                              <a:rPr lang="en-US" sz="2000">
                                                <a:effectLst/>
                                                <a:latin typeface="Cambria Math"/>
                                              </a:rPr>
                                              <m:t>3</m:t>
                                            </m:r>
                                          </m:e>
                                          <m:sup>
                                            <m:r>
                                              <a:rPr lang="en-US" sz="2000">
                                                <a:effectLst/>
                                                <a:latin typeface="Cambria Math"/>
                                              </a:rPr>
                                              <m:t>12</m:t>
                                            </m:r>
                                          </m:sup>
                                        </m:sSup>
                                      </m:e>
                                    </m:d>
                                  </m:e>
                                  <m:sup>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4</m:t>
                                            </m:r>
                                          </m:den>
                                        </m:f>
                                      </m:e>
                                    </m:box>
                                  </m:sup>
                                </m:sSup>
                              </m:oMath>
                            </m:oMathPara>
                          </a14:m>
                          <a:endParaRPr lang="x-none" sz="1800" i="1">
                            <a:effectLst/>
                            <a:latin typeface="Verdana" panose="020B0604030504040204" pitchFamily="34" charset="0"/>
                            <a:ea typeface="Verdana" panose="020B0604030504040204" pitchFamily="34" charset="0"/>
                            <a:cs typeface="Verdana" panose="020B0604030504040204"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75354225"/>
                      </a:ext>
                    </a:extLst>
                  </a:tr>
                  <a:tr h="1800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2000" i="1">
                                        <a:effectLst/>
                                        <a:latin typeface="Cambria Math" panose="02040503050406030204" pitchFamily="18" charset="0"/>
                                      </a:rPr>
                                    </m:ctrlPr>
                                  </m:dPr>
                                  <m:e>
                                    <m:sSup>
                                      <m:sSupPr>
                                        <m:ctrlPr>
                                          <a:rPr lang="x-none" sz="2000" i="1">
                                            <a:effectLst/>
                                            <a:latin typeface="Cambria Math" panose="02040503050406030204" pitchFamily="18" charset="0"/>
                                          </a:rPr>
                                        </m:ctrlPr>
                                      </m:sSupPr>
                                      <m:e>
                                        <m:r>
                                          <a:rPr lang="en-US" sz="2000">
                                            <a:effectLst/>
                                            <a:latin typeface="Cambria Math"/>
                                          </a:rPr>
                                          <m:t>2</m:t>
                                        </m:r>
                                      </m:e>
                                      <m:sup>
                                        <m:r>
                                          <a:rPr lang="en-US" sz="2000">
                                            <a:effectLst/>
                                            <a:latin typeface="Cambria Math"/>
                                          </a:rPr>
                                          <m:t>4</m:t>
                                        </m:r>
                                      </m:sup>
                                    </m:sSup>
                                  </m:e>
                                </m:d>
                                <m:d>
                                  <m:dPr>
                                    <m:ctrlPr>
                                      <a:rPr lang="x-none" sz="2000" i="1">
                                        <a:effectLst/>
                                        <a:latin typeface="Cambria Math" panose="02040503050406030204" pitchFamily="18" charset="0"/>
                                      </a:rPr>
                                    </m:ctrlPr>
                                  </m:dPr>
                                  <m:e>
                                    <m:sSup>
                                      <m:sSupPr>
                                        <m:ctrlPr>
                                          <a:rPr lang="x-none" sz="2000" i="1">
                                            <a:effectLst/>
                                            <a:latin typeface="Cambria Math" panose="02040503050406030204" pitchFamily="18" charset="0"/>
                                          </a:rPr>
                                        </m:ctrlPr>
                                      </m:sSupPr>
                                      <m:e>
                                        <m:r>
                                          <a:rPr lang="en-US" sz="2000">
                                            <a:effectLst/>
                                            <a:latin typeface="Cambria Math"/>
                                          </a:rPr>
                                          <m:t>8</m:t>
                                        </m:r>
                                      </m:e>
                                      <m:sup>
                                        <m:r>
                                          <a:rPr lang="en-US" sz="2000">
                                            <a:effectLst/>
                                            <a:latin typeface="Cambria Math"/>
                                          </a:rPr>
                                          <m:t>−</m:t>
                                        </m:r>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2</m:t>
                                                </m:r>
                                              </m:num>
                                              <m:den>
                                                <m:r>
                                                  <a:rPr lang="en-US" sz="2000">
                                                    <a:effectLst/>
                                                    <a:latin typeface="Cambria Math"/>
                                                  </a:rPr>
                                                  <m:t>3</m:t>
                                                </m:r>
                                              </m:den>
                                            </m:f>
                                          </m:e>
                                        </m:box>
                                      </m:sup>
                                    </m:sSup>
                                  </m:e>
                                </m:d>
                              </m:oMath>
                            </m:oMathPara>
                          </a14:m>
                          <a:endParaRPr lang="x-none" sz="1800" i="1" dirty="0">
                            <a:effectLst/>
                            <a:latin typeface="Verdana" panose="020B0604030504040204" pitchFamily="34" charset="0"/>
                            <a:ea typeface="Verdana" panose="020B0604030504040204" pitchFamily="34" charset="0"/>
                            <a:cs typeface="Verdana" panose="020B0604030504040204"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rPr>
                                    </m:ctrlPr>
                                  </m:sSupPr>
                                  <m:e>
                                    <m:d>
                                      <m:dPr>
                                        <m:ctrlPr>
                                          <a:rPr lang="x-none" sz="2000" i="1">
                                            <a:effectLst/>
                                            <a:latin typeface="Cambria Math" panose="02040503050406030204" pitchFamily="18" charset="0"/>
                                          </a:rPr>
                                        </m:ctrlPr>
                                      </m:dPr>
                                      <m:e>
                                        <m:f>
                                          <m:fPr>
                                            <m:ctrlPr>
                                              <a:rPr lang="x-none" sz="2000" i="1">
                                                <a:effectLst/>
                                                <a:latin typeface="Cambria Math" panose="02040503050406030204" pitchFamily="18" charset="0"/>
                                              </a:rPr>
                                            </m:ctrlPr>
                                          </m:fPr>
                                          <m:num>
                                            <m:r>
                                              <a:rPr lang="en-US" sz="2000">
                                                <a:effectLst/>
                                                <a:latin typeface="Cambria Math"/>
                                              </a:rPr>
                                              <m:t>15</m:t>
                                            </m:r>
                                          </m:num>
                                          <m:den>
                                            <m:r>
                                              <a:rPr lang="en-US" sz="2000">
                                                <a:effectLst/>
                                                <a:latin typeface="Cambria Math"/>
                                              </a:rPr>
                                              <m:t>45</m:t>
                                            </m:r>
                                          </m:den>
                                        </m:f>
                                      </m:e>
                                    </m:d>
                                  </m:e>
                                  <m:sup>
                                    <m:r>
                                      <a:rPr lang="en-US" sz="2000">
                                        <a:effectLst/>
                                        <a:latin typeface="Cambria Math"/>
                                      </a:rPr>
                                      <m:t>−4</m:t>
                                    </m:r>
                                  </m:sup>
                                </m:sSup>
                              </m:oMath>
                            </m:oMathPara>
                          </a14:m>
                          <a:endParaRPr lang="x-none" sz="1800" i="1">
                            <a:effectLst/>
                            <a:latin typeface="Verdana" panose="020B0604030504040204" pitchFamily="34" charset="0"/>
                            <a:ea typeface="Verdana" panose="020B0604030504040204" pitchFamily="34" charset="0"/>
                            <a:cs typeface="Verdana" panose="020B0604030504040204"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445365"/>
                      </a:ext>
                    </a:extLst>
                  </a:tr>
                  <a:tr h="1800000">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rPr>
                                    </m:ctrlPr>
                                  </m:sSupPr>
                                  <m:e>
                                    <m:r>
                                      <a:rPr lang="en-US" sz="2000">
                                        <a:effectLst/>
                                        <a:latin typeface="Cambria Math"/>
                                      </a:rPr>
                                      <m:t>−</m:t>
                                    </m:r>
                                    <m:d>
                                      <m:dPr>
                                        <m:ctrlPr>
                                          <a:rPr lang="x-none" sz="2000" i="1">
                                            <a:effectLst/>
                                            <a:latin typeface="Cambria Math" panose="02040503050406030204" pitchFamily="18" charset="0"/>
                                          </a:rPr>
                                        </m:ctrlPr>
                                      </m:dPr>
                                      <m:e>
                                        <m:f>
                                          <m:fPr>
                                            <m:ctrlPr>
                                              <a:rPr lang="x-none" sz="2000" i="1">
                                                <a:effectLst/>
                                                <a:latin typeface="Cambria Math" panose="02040503050406030204" pitchFamily="18" charset="0"/>
                                              </a:rPr>
                                            </m:ctrlPr>
                                          </m:fPr>
                                          <m:num>
                                            <m:r>
                                              <a:rPr lang="en-US" sz="2000">
                                                <a:effectLst/>
                                                <a:latin typeface="Cambria Math"/>
                                              </a:rPr>
                                              <m:t>3</m:t>
                                            </m:r>
                                          </m:num>
                                          <m:den>
                                            <m:r>
                                              <a:rPr lang="en-US" sz="2000">
                                                <a:effectLst/>
                                                <a:latin typeface="Cambria Math"/>
                                              </a:rPr>
                                              <m:t>48</m:t>
                                            </m:r>
                                          </m:den>
                                        </m:f>
                                      </m:e>
                                    </m:d>
                                  </m:e>
                                  <m:sup>
                                    <m:box>
                                      <m:boxPr>
                                        <m:ctrlPr>
                                          <a:rPr lang="x-none" sz="2000" i="1">
                                            <a:effectLst/>
                                            <a:latin typeface="Cambria Math" panose="02040503050406030204" pitchFamily="18" charset="0"/>
                                          </a:rPr>
                                        </m:ctrlPr>
                                      </m:boxPr>
                                      <m:e>
                                        <m:argPr>
                                          <m:argSz m:val="-1"/>
                                        </m:argPr>
                                        <m:f>
                                          <m:fPr>
                                            <m:ctrlPr>
                                              <a:rPr lang="x-none" sz="2000" i="1">
                                                <a:effectLst/>
                                                <a:latin typeface="Cambria Math" panose="02040503050406030204" pitchFamily="18" charset="0"/>
                                              </a:rPr>
                                            </m:ctrlPr>
                                          </m:fPr>
                                          <m:num>
                                            <m:r>
                                              <a:rPr lang="en-US" sz="2000">
                                                <a:effectLst/>
                                                <a:latin typeface="Cambria Math"/>
                                              </a:rPr>
                                              <m:t>3</m:t>
                                            </m:r>
                                          </m:num>
                                          <m:den>
                                            <m:r>
                                              <a:rPr lang="en-US" sz="2000">
                                                <a:effectLst/>
                                                <a:latin typeface="Cambria Math"/>
                                              </a:rPr>
                                              <m:t>2</m:t>
                                            </m:r>
                                          </m:den>
                                        </m:f>
                                      </m:e>
                                    </m:box>
                                  </m:sup>
                                </m:sSup>
                              </m:oMath>
                            </m:oMathPara>
                          </a14:m>
                          <a:endParaRPr lang="x-none" sz="1800" i="1">
                            <a:effectLst/>
                            <a:latin typeface="Verdana" panose="020B0604030504040204" pitchFamily="34" charset="0"/>
                            <a:ea typeface="Verdana" panose="020B0604030504040204" pitchFamily="34" charset="0"/>
                            <a:cs typeface="Verdana" panose="020B0604030504040204"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lnSpc>
                              <a:spcPct val="100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rPr>
                                    </m:ctrlPr>
                                  </m:sSupPr>
                                  <m:e>
                                    <m:d>
                                      <m:dPr>
                                        <m:ctrlPr>
                                          <a:rPr lang="x-none" sz="2000" i="1">
                                            <a:effectLst/>
                                            <a:latin typeface="Cambria Math" panose="02040503050406030204" pitchFamily="18" charset="0"/>
                                          </a:rPr>
                                        </m:ctrlPr>
                                      </m:dPr>
                                      <m:e>
                                        <m:f>
                                          <m:fPr>
                                            <m:ctrlPr>
                                              <a:rPr lang="x-none" sz="2000" i="1">
                                                <a:effectLst/>
                                                <a:latin typeface="Cambria Math" panose="02040503050406030204" pitchFamily="18" charset="0"/>
                                              </a:rPr>
                                            </m:ctrlPr>
                                          </m:fPr>
                                          <m:num>
                                            <m:r>
                                              <a:rPr lang="en-US" sz="2000">
                                                <a:effectLst/>
                                                <a:latin typeface="Cambria Math"/>
                                              </a:rPr>
                                              <m:t>144</m:t>
                                            </m:r>
                                          </m:num>
                                          <m:den>
                                            <m:r>
                                              <a:rPr lang="en-US" sz="2000">
                                                <a:effectLst/>
                                                <a:latin typeface="Cambria Math"/>
                                              </a:rPr>
                                              <m:t>169</m:t>
                                            </m:r>
                                          </m:den>
                                        </m:f>
                                      </m:e>
                                    </m:d>
                                  </m:e>
                                  <m:sup>
                                    <m:box>
                                      <m:boxPr>
                                        <m:ctrlPr>
                                          <a:rPr lang="x-none" sz="2000" i="1">
                                            <a:effectLst/>
                                            <a:latin typeface="Cambria Math" panose="02040503050406030204" pitchFamily="18" charset="0"/>
                                          </a:rPr>
                                        </m:ctrlPr>
                                      </m:boxPr>
                                      <m:e>
                                        <m:argPr>
                                          <m:argSz m:val="-1"/>
                                        </m:argPr>
                                        <m:r>
                                          <a:rPr lang="en-US" sz="2000">
                                            <a:effectLst/>
                                            <a:latin typeface="Cambria Math"/>
                                          </a:rPr>
                                          <m:t>−</m:t>
                                        </m:r>
                                        <m:f>
                                          <m:fPr>
                                            <m:ctrlPr>
                                              <a:rPr lang="x-none" sz="2000" i="1">
                                                <a:effectLst/>
                                                <a:latin typeface="Cambria Math" panose="02040503050406030204" pitchFamily="18" charset="0"/>
                                              </a:rPr>
                                            </m:ctrlPr>
                                          </m:fPr>
                                          <m:num>
                                            <m:r>
                                              <a:rPr lang="en-US" sz="2000">
                                                <a:effectLst/>
                                                <a:latin typeface="Cambria Math"/>
                                              </a:rPr>
                                              <m:t>1</m:t>
                                            </m:r>
                                          </m:num>
                                          <m:den>
                                            <m:r>
                                              <a:rPr lang="en-US" sz="2000">
                                                <a:effectLst/>
                                                <a:latin typeface="Cambria Math"/>
                                              </a:rPr>
                                              <m:t>2</m:t>
                                            </m:r>
                                          </m:den>
                                        </m:f>
                                      </m:e>
                                    </m:box>
                                  </m:sup>
                                </m:sSup>
                              </m:oMath>
                            </m:oMathPara>
                          </a14:m>
                          <a:endParaRPr lang="x-none" sz="1800" i="1" dirty="0">
                            <a:effectLst/>
                            <a:latin typeface="Verdana" panose="020B0604030504040204" pitchFamily="34" charset="0"/>
                            <a:ea typeface="Verdana" panose="020B0604030504040204" pitchFamily="34" charset="0"/>
                            <a:cs typeface="Verdana" panose="020B0604030504040204" pitchFamily="34" charset="0"/>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47533372"/>
                      </a:ext>
                    </a:extLst>
                  </a:tr>
                </a:tbl>
              </a:graphicData>
            </a:graphic>
          </p:graphicFrame>
        </mc:Choice>
        <mc:Fallback xmlns="">
          <p:graphicFrame>
            <p:nvGraphicFramePr>
              <p:cNvPr id="2" name="Table 1">
                <a:extLst>
                  <a:ext uri="{FF2B5EF4-FFF2-40B4-BE49-F238E27FC236}">
                    <a16:creationId xmlns:a16="http://schemas.microsoft.com/office/drawing/2014/main" id="{196405FF-9336-A64F-B1BB-E7240A76F600}"/>
                  </a:ext>
                </a:extLst>
              </p:cNvPr>
              <p:cNvGraphicFramePr>
                <a:graphicFrameLocks noGrp="1"/>
              </p:cNvGraphicFramePr>
              <p:nvPr>
                <p:extLst>
                  <p:ext uri="{D42A27DB-BD31-4B8C-83A1-F6EECF244321}">
                    <p14:modId xmlns:p14="http://schemas.microsoft.com/office/powerpoint/2010/main" val="872870941"/>
                  </p:ext>
                </p:extLst>
              </p:nvPr>
            </p:nvGraphicFramePr>
            <p:xfrm>
              <a:off x="2743412" y="427235"/>
              <a:ext cx="5760000" cy="5400000"/>
            </p:xfrm>
            <a:graphic>
              <a:graphicData uri="http://schemas.openxmlformats.org/drawingml/2006/table">
                <a:tbl>
                  <a:tblPr firstRow="1" firstCol="1" bandRow="1">
                    <a:tableStyleId>{A91F0D33-8C57-4600-99A7-42BC86742BE1}</a:tableStyleId>
                  </a:tblPr>
                  <a:tblGrid>
                    <a:gridCol w="2880000">
                      <a:extLst>
                        <a:ext uri="{9D8B030D-6E8A-4147-A177-3AD203B41FA5}">
                          <a16:colId xmlns:a16="http://schemas.microsoft.com/office/drawing/2014/main" val="1231476327"/>
                        </a:ext>
                      </a:extLst>
                    </a:gridCol>
                    <a:gridCol w="2880000">
                      <a:extLst>
                        <a:ext uri="{9D8B030D-6E8A-4147-A177-3AD203B41FA5}">
                          <a16:colId xmlns:a16="http://schemas.microsoft.com/office/drawing/2014/main" val="4089816766"/>
                        </a:ext>
                      </a:extLst>
                    </a:gridCol>
                  </a:tblGrid>
                  <a:tr h="180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41" t="-704" r="-100881" b="-201408"/>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00441" t="-704" r="-881" b="-201408"/>
                          </a:stretch>
                        </a:blipFill>
                      </a:tcPr>
                    </a:tc>
                    <a:extLst>
                      <a:ext uri="{0D108BD9-81ED-4DB2-BD59-A6C34878D82A}">
                        <a16:rowId xmlns:a16="http://schemas.microsoft.com/office/drawing/2014/main" val="775354225"/>
                      </a:ext>
                    </a:extLst>
                  </a:tr>
                  <a:tr h="180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41" t="-100704" r="-100881" b="-101408"/>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00441" t="-100704" r="-881" b="-101408"/>
                          </a:stretch>
                        </a:blipFill>
                      </a:tcPr>
                    </a:tc>
                    <a:extLst>
                      <a:ext uri="{0D108BD9-81ED-4DB2-BD59-A6C34878D82A}">
                        <a16:rowId xmlns:a16="http://schemas.microsoft.com/office/drawing/2014/main" val="69445365"/>
                      </a:ext>
                    </a:extLst>
                  </a:tr>
                  <a:tr h="1800000">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41" t="-200704" r="-100881" b="-1408"/>
                          </a:stretch>
                        </a:blipFill>
                      </a:tcPr>
                    </a:tc>
                    <a:tc>
                      <a:txBody>
                        <a:bodyPr/>
                        <a:lstStyle/>
                        <a:p>
                          <a:endParaRPr lang="en-US"/>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00441" t="-200704" r="-881" b="-1408"/>
                          </a:stretch>
                        </a:blipFill>
                      </a:tcPr>
                    </a:tc>
                    <a:extLst>
                      <a:ext uri="{0D108BD9-81ED-4DB2-BD59-A6C34878D82A}">
                        <a16:rowId xmlns:a16="http://schemas.microsoft.com/office/drawing/2014/main" val="1547533372"/>
                      </a:ext>
                    </a:extLst>
                  </a:tr>
                </a:tbl>
              </a:graphicData>
            </a:graphic>
          </p:graphicFrame>
        </mc:Fallback>
      </mc:AlternateContent>
      <p:sp>
        <p:nvSpPr>
          <p:cNvPr id="7" name="Google Shape;282;g104476d1465_1_17">
            <a:extLst>
              <a:ext uri="{FF2B5EF4-FFF2-40B4-BE49-F238E27FC236}">
                <a16:creationId xmlns:a16="http://schemas.microsoft.com/office/drawing/2014/main" id="{DD5D60AF-B2FD-5BAB-ACD2-C6BFCFEBF4D0}"/>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39</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8EE18398-7D6E-A87F-BBF7-BCBB537053BB}"/>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91940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874781" y="2779099"/>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3670054" y="2933693"/>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AC51D43B-741D-3A52-30F9-655D67750AFA}"/>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39</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466D0E19-137C-B123-A3F2-B716ADDD2E9D}"/>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526595" y="83130"/>
            <a:ext cx="8322789" cy="701690"/>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3F2A67"/>
                </a:solidFill>
                <a:latin typeface="Verdana"/>
                <a:ea typeface="Verdana"/>
                <a:cs typeface="Verdana"/>
                <a:sym typeface="Verdana"/>
              </a:rPr>
              <a:t>1.7.5</a:t>
            </a:r>
            <a:r>
              <a:rPr lang="en-US" sz="4000" b="1" dirty="0">
                <a:solidFill>
                  <a:srgbClr val="3F2A67"/>
                </a:solidFill>
                <a:latin typeface="Verdana"/>
                <a:ea typeface="Verdana"/>
                <a:cs typeface="Verdana"/>
                <a:sym typeface="Verdana"/>
              </a:rPr>
              <a:t>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779295" y="104929"/>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779295" y="1056096"/>
            <a:ext cx="9952873" cy="3416320"/>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Complete the following statements about today’s lesson.</a:t>
            </a:r>
          </a:p>
          <a:p>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 Today I am still unsure about …</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To fill in this gap I intend to …</a:t>
            </a:r>
          </a:p>
        </p:txBody>
      </p:sp>
      <p:sp>
        <p:nvSpPr>
          <p:cNvPr id="10" name="Google Shape;282;g104476d1465_1_17">
            <a:extLst>
              <a:ext uri="{FF2B5EF4-FFF2-40B4-BE49-F238E27FC236}">
                <a16:creationId xmlns:a16="http://schemas.microsoft.com/office/drawing/2014/main" id="{88DEA9CF-8838-B8C4-F730-F15E87EEE4FC}"/>
              </a:ext>
            </a:extLst>
          </p:cNvPr>
          <p:cNvSpPr txBox="1"/>
          <p:nvPr/>
        </p:nvSpPr>
        <p:spPr>
          <a:xfrm>
            <a:off x="8929368"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39</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id="{ABD5F04D-447C-D751-FB5D-0B2F7E30171E}"/>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63368"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3965</TotalTime>
  <Words>635</Words>
  <Application>Microsoft Office PowerPoint</Application>
  <PresentationFormat>Widescreen</PresentationFormat>
  <Paragraphs>167</Paragraphs>
  <Slides>19</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Verdana</vt:lpstr>
      <vt:lpstr>Wingdings</vt:lpstr>
      <vt:lpstr>Century Gothic</vt:lpstr>
      <vt:lpstr>Calibri</vt:lpstr>
      <vt:lpstr>Arial Black</vt:lpstr>
      <vt:lpstr>Cambria Math</vt:lpstr>
      <vt:lpstr>Arial</vt:lpstr>
      <vt:lpstr>1_Office Theme</vt:lpstr>
      <vt:lpstr>Algebra 1  Unit 1, Lesson 7  Evaluating Exponential Expressions  Volume 1, pg. 36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PowerPoint Presentation</vt:lpstr>
      <vt:lpstr>Activity</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30</cp:revision>
  <dcterms:created xsi:type="dcterms:W3CDTF">2015-03-17T18:51:18Z</dcterms:created>
  <dcterms:modified xsi:type="dcterms:W3CDTF">2022-06-22T13:04:43Z</dcterms:modified>
</cp:coreProperties>
</file>