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85" r:id="rId4"/>
    <p:sldId id="286" r:id="rId5"/>
    <p:sldId id="261" r:id="rId6"/>
    <p:sldId id="287" r:id="rId7"/>
    <p:sldId id="288" r:id="rId8"/>
    <p:sldId id="344" r:id="rId9"/>
    <p:sldId id="345" r:id="rId10"/>
    <p:sldId id="314" r:id="rId11"/>
    <p:sldId id="315" r:id="rId12"/>
    <p:sldId id="316" r:id="rId13"/>
    <p:sldId id="346" r:id="rId14"/>
    <p:sldId id="347" r:id="rId15"/>
    <p:sldId id="348" r:id="rId16"/>
    <p:sldId id="349" r:id="rId17"/>
    <p:sldId id="350" r:id="rId18"/>
    <p:sldId id="289" r:id="rId19"/>
    <p:sldId id="290" r:id="rId20"/>
    <p:sldId id="308" r:id="rId21"/>
    <p:sldId id="337" r:id="rId22"/>
    <p:sldId id="336" r:id="rId23"/>
    <p:sldId id="335" r:id="rId24"/>
    <p:sldId id="351" r:id="rId25"/>
    <p:sldId id="320" r:id="rId26"/>
    <p:sldId id="321" r:id="rId27"/>
    <p:sldId id="343" r:id="rId28"/>
    <p:sldId id="322" r:id="rId29"/>
    <p:sldId id="306" r:id="rId30"/>
    <p:sldId id="307" r:id="rId31"/>
  </p:sldIdLst>
  <p:sldSz cx="12192000" cy="6858000"/>
  <p:notesSz cx="6858000" cy="9144000"/>
  <p:embeddedFontLst>
    <p:embeddedFont>
      <p:font typeface="Century Gothic" pitchFamily="34" charset="0"/>
      <p:regular r:id="rId33"/>
      <p:bold r:id="rId34"/>
      <p:italic r:id="rId35"/>
      <p:boldItalic r:id="rId36"/>
    </p:embeddedFont>
    <p:embeddedFont>
      <p:font typeface="Cambria Math" pitchFamily="18" charset="0"/>
      <p:regular r:id="rId37"/>
    </p:embeddedFont>
    <p:embeddedFont>
      <p:font typeface="Cambria" pitchFamily="18" charset="0"/>
      <p:regular r:id="rId38"/>
      <p:bold r:id="rId39"/>
      <p:italic r:id="rId40"/>
      <p:boldItalic r:id="rId41"/>
    </p:embeddedFont>
    <p:embeddedFont>
      <p:font typeface="Arial Black" pitchFamily="34" charset="0"/>
      <p:bold r:id="rId42"/>
    </p:embeddedFont>
    <p:embeddedFont>
      <p:font typeface="Verdana" pitchFamily="34" charset="0"/>
      <p:regular r:id="rId43"/>
      <p:bold r:id="rId44"/>
      <p:italic r:id="rId45"/>
      <p:boldItalic r:id="rId46"/>
    </p:embeddedFont>
    <p:embeddedFont>
      <p:font typeface="Calibri"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E5F"/>
    <a:srgbClr val="BFBFBF"/>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9122"/>
    <p:restoredTop sz="94694"/>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9.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473861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555740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7486036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968626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850303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1337706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535157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1142230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40209190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81272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41662008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2970083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3637508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3.jpe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hyperlink" Target="https://commons.wikimedia.org/wiki/File:BGBBFJ_Charles_R._Drew.jp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10.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10.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36.png"/><Relationship Id="rId3" Type="http://schemas.openxmlformats.org/officeDocument/2006/relationships/image" Target="../media/image37.png"/><Relationship Id="rId7" Type="http://schemas.openxmlformats.org/officeDocument/2006/relationships/image" Target="../media/image36.svg"/><Relationship Id="rId12"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11" Type="http://schemas.openxmlformats.org/officeDocument/2006/relationships/image" Target="../media/image40.svg"/><Relationship Id="rId10" Type="http://schemas.openxmlformats.org/officeDocument/2006/relationships/image" Target="../media/image40.png"/><Relationship Id="rId4" Type="http://schemas.openxmlformats.org/officeDocument/2006/relationships/image" Target="../media/image38.png"/><Relationship Id="rId9" Type="http://schemas.openxmlformats.org/officeDocument/2006/relationships/image" Target="../media/image3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6" name="Google Shape;309;g104476d1465_1_39">
            <a:extLst>
              <a:ext uri="{FF2B5EF4-FFF2-40B4-BE49-F238E27FC236}">
                <a16:creationId xmlns="" xmlns:a16="http://schemas.microsoft.com/office/drawing/2014/main" id="{566F1422-A32C-7745-9E85-5AF7B9DBC697}"/>
              </a:ext>
            </a:extLst>
          </p:cNvPr>
          <p:cNvSpPr/>
          <p:nvPr/>
        </p:nvSpPr>
        <p:spPr>
          <a:xfrm>
            <a:off x="0" y="-810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7" name="Google Shape;261;g104476d1465_0_0"/>
          <p:cNvSpPr txBox="1">
            <a:spLocks/>
          </p:cNvSpPr>
          <p:nvPr/>
        </p:nvSpPr>
        <p:spPr>
          <a:xfrm>
            <a:off x="5604721" y="2054275"/>
            <a:ext cx="5201391"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Algebra 1</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4, Lesson 8</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Comparing Linear Functions</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1, pg. 201</a:t>
            </a:r>
          </a:p>
          <a:p>
            <a:pPr algn="ctr">
              <a:lnSpc>
                <a:spcPct val="100000"/>
              </a:lnSpc>
              <a:buClr>
                <a:srgbClr val="000000"/>
              </a:buClr>
            </a:pPr>
            <a:endParaRPr lang="en-US" sz="3600" b="1" dirty="0">
              <a:solidFill>
                <a:srgbClr val="417DBF"/>
              </a:solidFill>
              <a:latin typeface="Verdana"/>
              <a:ea typeface="Verdana"/>
              <a:cs typeface="Verdana"/>
              <a:sym typeface="Verdana"/>
            </a:endParaRPr>
          </a:p>
        </p:txBody>
      </p:sp>
      <p:pic>
        <p:nvPicPr>
          <p:cNvPr id="8" name="Picture 7"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2" name="Google Shape;280;g104476d1465_1_17">
            <a:extLst>
              <a:ext uri="{FF2B5EF4-FFF2-40B4-BE49-F238E27FC236}">
                <a16:creationId xmlns:mc="http://schemas.openxmlformats.org/markup-compatibility/2006" xmlns:a14="http://schemas.microsoft.com/office/drawing/2010/main" xmlns:a16="http://schemas.microsoft.com/office/drawing/2014/main" xmlns=""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600" dirty="0">
                <a:latin typeface="Verdana" panose="020B0604030504040204" pitchFamily="34" charset="0"/>
                <a:ea typeface="Verdana" panose="020B0604030504040204" pitchFamily="34" charset="0"/>
                <a:cs typeface="Verdana" panose="020B0604030504040204" pitchFamily="34" charset="0"/>
              </a:rPr>
              <a:t>MA.912.F.1.5 </a:t>
            </a:r>
          </a:p>
          <a:p>
            <a:pPr marL="579438" indent="0">
              <a:buNone/>
            </a:pPr>
            <a:r>
              <a:rPr lang="en-US" sz="3600" dirty="0">
                <a:latin typeface="Verdana" panose="020B0604030504040204" pitchFamily="34" charset="0"/>
                <a:ea typeface="Verdana" panose="020B0604030504040204" pitchFamily="34" charset="0"/>
                <a:cs typeface="Verdana" panose="020B0604030504040204" pitchFamily="34" charset="0"/>
              </a:rPr>
              <a:t>Compare key features of linear functions each represented algebraically, graphically, in tables, or written descriptions.</a:t>
            </a:r>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201</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201</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4"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5"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201</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a:t>
            </a:r>
            <a:endParaRPr lang="en-US" sz="4700" b="1" dirty="0">
              <a:solidFill>
                <a:srgbClr val="52BDA6"/>
              </a:solidFill>
              <a:latin typeface="Verdana"/>
              <a:ea typeface="Verdana"/>
              <a:cs typeface="Verdana"/>
              <a:sym typeface="Verdana"/>
            </a:endParaRPr>
          </a:p>
        </p:txBody>
      </p:sp>
      <p:pic>
        <p:nvPicPr>
          <p:cNvPr id="15"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6"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compare key features of linear functions.</a:t>
            </a:r>
            <a:endParaRPr lang="en-US" sz="36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202</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0"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11"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7771"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4" name="Picture 23">
            <a:extLst>
              <a:ext uri="{FF2B5EF4-FFF2-40B4-BE49-F238E27FC236}">
                <a16:creationId xmlns:a16="http://schemas.microsoft.com/office/drawing/2014/main" xmlns="" id="{4B1A99F6-C54D-724D-8E18-466F025DEB33}"/>
              </a:ext>
            </a:extLst>
          </p:cNvPr>
          <p:cNvPicPr>
            <a:picLocks noChangeAspect="1"/>
          </p:cNvPicPr>
          <p:nvPr/>
        </p:nvPicPr>
        <p:blipFill>
          <a:blip r:embed="rId3" cstate="screen">
            <a:extLst>
              <a:ext uri="{28A0092B-C50C-407E-A947-70E740481C1C}">
                <a14:useLocalDpi xmlns:a14="http://schemas.microsoft.com/office/drawing/2010/main"/>
              </a:ext>
              <a:ext uri="{837473B0-CC2E-450A-ABE3-18F120FF3D39}">
                <a1611:picAttrSrcUrl xmlns:a1611="http://schemas.microsoft.com/office/drawing/2016/11/main" xmlns="" r:id="rId6"/>
              </a:ext>
            </a:extLst>
          </a:blip>
          <a:stretch>
            <a:fillRect/>
          </a:stretch>
        </p:blipFill>
        <p:spPr>
          <a:xfrm>
            <a:off x="7500239" y="1497535"/>
            <a:ext cx="4030345" cy="3206750"/>
          </a:xfrm>
          <a:prstGeom prst="rect">
            <a:avLst/>
          </a:prstGeom>
        </p:spPr>
      </p:pic>
      <p:sp>
        <p:nvSpPr>
          <p:cNvPr id="14"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202</a:t>
            </a:r>
            <a:endParaRPr i="1" dirty="0">
              <a:latin typeface="Calibri"/>
              <a:ea typeface="Calibri"/>
              <a:cs typeface="Calibri"/>
              <a:sym typeface="Calibri"/>
            </a:endParaRPr>
          </a:p>
        </p:txBody>
      </p:sp>
      <p:pic>
        <p:nvPicPr>
          <p:cNvPr id="16"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7"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4.8.1 Warm-Up: Blood Donation</a:t>
            </a:r>
            <a:endParaRPr lang="en-US" sz="3600" b="1" dirty="0">
              <a:solidFill>
                <a:srgbClr val="3F2A67"/>
              </a:solidFill>
              <a:latin typeface="Verdana"/>
              <a:ea typeface="Verdana"/>
              <a:cs typeface="Verdana"/>
              <a:sym typeface="Verdana"/>
            </a:endParaRPr>
          </a:p>
        </p:txBody>
      </p:sp>
      <p:pic>
        <p:nvPicPr>
          <p:cNvPr id="18"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8">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
        <p:nvSpPr>
          <p:cNvPr id="23" name="TextBox 22">
            <a:extLst>
              <a:ext uri="{FF2B5EF4-FFF2-40B4-BE49-F238E27FC236}">
                <a16:creationId xmlns:a16="http://schemas.microsoft.com/office/drawing/2014/main" xmlns="" id="{E1D7562E-134F-D14B-AF1A-DF40E11EF758}"/>
              </a:ext>
            </a:extLst>
          </p:cNvPr>
          <p:cNvSpPr txBox="1"/>
          <p:nvPr/>
        </p:nvSpPr>
        <p:spPr>
          <a:xfrm>
            <a:off x="479008" y="1497535"/>
            <a:ext cx="6731417" cy="347451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Dr. Charles Drew, a pioneering African American medical researcher, discovered a way to store and process blood for transfusions. Dr. Drew managed two of the largest blood banks in the world during World War II as the medical director of the Red Cross National Blood Donor Service, collecting tens of thousands of pints of blood for U.S. soldiers. It has been said that Dr. Drew’s research and work saved the world against Nazism, as battlefield blood storage and transfusions did not exist before. </a:t>
            </a:r>
            <a:endParaRPr lang="en-US" sz="36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202</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TextBox 7">
            <a:extLst>
              <a:ext uri="{FF2B5EF4-FFF2-40B4-BE49-F238E27FC236}">
                <a16:creationId xmlns="" xmlns:a16="http://schemas.microsoft.com/office/drawing/2014/main" id="{2FA392D8-3ED3-7940-83A8-1451AA8A08D4}"/>
              </a:ext>
            </a:extLst>
          </p:cNvPr>
          <p:cNvSpPr txBox="1"/>
          <p:nvPr/>
        </p:nvSpPr>
        <p:spPr>
          <a:xfrm>
            <a:off x="644956" y="479475"/>
            <a:ext cx="10723497" cy="1938992"/>
          </a:xfrm>
          <a:prstGeom prst="rect">
            <a:avLst/>
          </a:prstGeom>
          <a:noFill/>
        </p:spPr>
        <p:txBody>
          <a:bodyPr wrap="square" rtlCol="0">
            <a:spAutoFit/>
          </a:bodyPr>
          <a:lstStyle/>
          <a:p>
            <a:pPr marL="60325"/>
            <a:r>
              <a:rPr lang="en-US" sz="2400" dirty="0">
                <a:latin typeface="Verdana" panose="020B0604030504040204" pitchFamily="34" charset="0"/>
                <a:ea typeface="Verdana" panose="020B0604030504040204" pitchFamily="34" charset="0"/>
                <a:cs typeface="Verdana" panose="020B0604030504040204" pitchFamily="34" charset="0"/>
              </a:rPr>
              <a:t>After a ruling stated that the blood from African-Americans could not be transfused to white soldiers, Dr. Drew resigned from the Red Cross and became a professor at Howard University’s medical school (an HBCU), training a generation of black physicians on the research of storing and collecting blood.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2" name="Group 1"/>
          <p:cNvGrpSpPr/>
          <p:nvPr/>
        </p:nvGrpSpPr>
        <p:grpSpPr>
          <a:xfrm>
            <a:off x="3685705" y="2007398"/>
            <a:ext cx="4641998" cy="4520872"/>
            <a:chOff x="3643746" y="2081176"/>
            <a:chExt cx="4641998" cy="4520872"/>
          </a:xfrm>
        </p:grpSpPr>
        <p:pic>
          <p:nvPicPr>
            <p:cNvPr id="6" name="Picture 5" descr="Chart, line chart&#10;&#10;Description automatically generated">
              <a:extLst>
                <a:ext uri="{FF2B5EF4-FFF2-40B4-BE49-F238E27FC236}">
                  <a16:creationId xmlns:a16="http://schemas.microsoft.com/office/drawing/2014/main" xmlns="" id="{59DC8A80-C1C4-E549-AA10-3EDEBB42628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07139" y="2081176"/>
              <a:ext cx="4078605" cy="3883660"/>
            </a:xfrm>
            <a:prstGeom prst="rect">
              <a:avLst/>
            </a:prstGeom>
          </p:spPr>
        </p:pic>
        <p:sp>
          <p:nvSpPr>
            <p:cNvPr id="7" name="Text Box 13">
              <a:extLst>
                <a:ext uri="{FF2B5EF4-FFF2-40B4-BE49-F238E27FC236}">
                  <a16:creationId xmlns:a16="http://schemas.microsoft.com/office/drawing/2014/main" xmlns="" id="{B3AD0BBA-22CB-954B-B725-A8B9B946BC5B}"/>
                </a:ext>
              </a:extLst>
            </p:cNvPr>
            <p:cNvSpPr txBox="1"/>
            <p:nvPr/>
          </p:nvSpPr>
          <p:spPr>
            <a:xfrm rot="16200000">
              <a:off x="2188644" y="3807422"/>
              <a:ext cx="3341370" cy="4311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dirty="0">
                  <a:latin typeface="Verdana" panose="020B0604030504040204" pitchFamily="34" charset="0"/>
                  <a:ea typeface="Times New Roman" panose="02020603050405020304" pitchFamily="18" charset="0"/>
                  <a:cs typeface="Times New Roman" panose="02020603050405020304" pitchFamily="18" charset="0"/>
                </a:rPr>
                <a:t>Pints of Blood Donated</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Text Box 7">
              <a:extLst>
                <a:ext uri="{FF2B5EF4-FFF2-40B4-BE49-F238E27FC236}">
                  <a16:creationId xmlns:a16="http://schemas.microsoft.com/office/drawing/2014/main" xmlns="" id="{738A8DDF-11AB-B441-A330-079EECD85BD4}"/>
                </a:ext>
              </a:extLst>
            </p:cNvPr>
            <p:cNvSpPr txBox="1"/>
            <p:nvPr/>
          </p:nvSpPr>
          <p:spPr>
            <a:xfrm>
              <a:off x="4869761" y="6170883"/>
              <a:ext cx="2753360" cy="4311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dirty="0">
                  <a:latin typeface="Verdana" panose="020B0604030504040204" pitchFamily="34" charset="0"/>
                  <a:ea typeface="Times New Roman" panose="02020603050405020304" pitchFamily="18" charset="0"/>
                  <a:cs typeface="Times New Roman" panose="02020603050405020304" pitchFamily="18" charset="0"/>
                </a:rPr>
                <a:t>Number of Donors</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TextBox 10">
            <a:extLst>
              <a:ext uri="{FF2B5EF4-FFF2-40B4-BE49-F238E27FC236}">
                <a16:creationId xmlns="" xmlns:a16="http://schemas.microsoft.com/office/drawing/2014/main" id="{2FA392D8-3ED3-7940-83A8-1451AA8A08D4}"/>
              </a:ext>
            </a:extLst>
          </p:cNvPr>
          <p:cNvSpPr txBox="1"/>
          <p:nvPr/>
        </p:nvSpPr>
        <p:spPr>
          <a:xfrm>
            <a:off x="644956" y="479475"/>
            <a:ext cx="10723497"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graph shows the relationship between pints of blood collected and the number of donors according to the Red Cross in the U.S. today.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901309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8514"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202</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8" name="TextBox 7">
                <a:extLst>
                  <a:ext uri="{FF2B5EF4-FFF2-40B4-BE49-F238E27FC236}">
                    <a16:creationId xmlns="" xmlns:a16="http://schemas.microsoft.com/office/drawing/2014/main" id="{2FA392D8-3ED3-7940-83A8-1451AA8A08D4}"/>
                  </a:ext>
                </a:extLst>
              </p:cNvPr>
              <p:cNvSpPr txBox="1"/>
              <p:nvPr/>
            </p:nvSpPr>
            <p:spPr>
              <a:xfrm>
                <a:off x="644956" y="479475"/>
                <a:ext cx="10723497" cy="4401205"/>
              </a:xfrm>
              <a:prstGeom prst="rect">
                <a:avLst/>
              </a:prstGeom>
              <a:noFill/>
            </p:spPr>
            <p:txBody>
              <a:bodyPr wrap="square" rtlCol="0">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slope of the line?</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does the slope represent?</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Write an equation to represent the linear relationship between the number of donors, 𝑑, and the pints of blood collected, 𝑏.</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Use the equation to find the number of pints of blood collected if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dirty="0" smtClean="0">
                        <a:latin typeface="Cambria Math"/>
                        <a:ea typeface="Verdana" panose="020B0604030504040204" pitchFamily="34" charset="0"/>
                        <a:cs typeface="Verdana" panose="020B0604030504040204" pitchFamily="34" charset="0"/>
                      </a:rPr>
                      <m:t>12,000</m:t>
                    </m:r>
                  </m:oMath>
                </a14:m>
                <a:r>
                  <a:rPr lang="en-US" sz="2000" dirty="0">
                    <a:latin typeface="Verdana" panose="020B0604030504040204" pitchFamily="34" charset="0"/>
                    <a:ea typeface="Verdana" panose="020B0604030504040204" pitchFamily="34" charset="0"/>
                    <a:cs typeface="Verdana" panose="020B0604030504040204" pitchFamily="34" charset="0"/>
                  </a:rPr>
                  <a:t> people donate blood</a:t>
                </a:r>
                <a:r>
                  <a:rPr lang="en-US" sz="2000" dirty="0" smtClean="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8" name="TextBox 7">
                <a:extLst>
                  <a:ext uri="{FF2B5EF4-FFF2-40B4-BE49-F238E27FC236}">
                    <a16:creationId xmlns=""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44956" y="479475"/>
                <a:ext cx="10723497" cy="4401205"/>
              </a:xfrm>
              <a:prstGeom prst="rect">
                <a:avLst/>
              </a:prstGeom>
              <a:blipFill rotWithShape="1">
                <a:blip r:embed="rId4"/>
                <a:stretch>
                  <a:fillRect t="-831" r="-625" b="-1524"/>
                </a:stretch>
              </a:blipFill>
            </p:spPr>
            <p:txBody>
              <a:bodyPr/>
              <a:lstStyle/>
              <a:p>
                <a:r>
                  <a:rPr lang="en-US">
                    <a:noFill/>
                  </a:rPr>
                  <a:t> </a:t>
                </a:r>
              </a:p>
            </p:txBody>
          </p:sp>
        </mc:Fallback>
      </mc:AlternateContent>
    </p:spTree>
    <p:extLst>
      <p:ext uri="{BB962C8B-B14F-4D97-AF65-F5344CB8AC3E}">
        <p14:creationId xmlns:p14="http://schemas.microsoft.com/office/powerpoint/2010/main" val="2952099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203</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13;g104476d1465_1_39"/>
          <p:cNvSpPr txBox="1">
            <a:spLocks/>
          </p:cNvSpPr>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3BEA6"/>
                </a:solidFill>
                <a:latin typeface="Verdana"/>
                <a:ea typeface="Verdana"/>
                <a:cs typeface="Verdana"/>
                <a:sym typeface="Verdana"/>
              </a:rPr>
              <a:t>Collaboration</a:t>
            </a:r>
            <a:endParaRPr lang="en-US" sz="5100" b="1" dirty="0">
              <a:solidFill>
                <a:srgbClr val="33BEA6"/>
              </a:solidFill>
              <a:latin typeface="Verdana"/>
              <a:ea typeface="Verdana"/>
              <a:cs typeface="Verdana"/>
              <a:sym typeface="Verdana"/>
            </a:endParaRPr>
          </a:p>
        </p:txBody>
      </p:sp>
      <p:pic>
        <p:nvPicPr>
          <p:cNvPr id="11"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7" name="TextBox 16">
            <a:extLst>
              <a:ext uri="{FF2B5EF4-FFF2-40B4-BE49-F238E27FC236}">
                <a16:creationId xmlns:a16="http://schemas.microsoft.com/office/drawing/2014/main" xmlns="" xmlns:a14="http://schemas.microsoft.com/office/drawing/2010/main" xmlns:mc="http://schemas.openxmlformats.org/markup-compatibility/2006" id="{E44DF7DE-9172-3E4E-B74A-7A51585FB6EA}"/>
              </a:ext>
            </a:extLst>
          </p:cNvPr>
          <p:cNvSpPr txBox="1"/>
          <p:nvPr/>
        </p:nvSpPr>
        <p:spPr>
          <a:xfrm>
            <a:off x="529070" y="1386024"/>
            <a:ext cx="11002042" cy="400110"/>
          </a:xfrm>
          <a:prstGeom prst="rect">
            <a:avLst/>
          </a:prstGeom>
          <a:noFill/>
        </p:spPr>
        <p:txBody>
          <a:bodyPr wrap="square" rtlCol="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Two linear functions are shown on the coordinate grid.</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1" name="Picture 10">
            <a:extLst>
              <a:ext uri="{FF2B5EF4-FFF2-40B4-BE49-F238E27FC236}">
                <a16:creationId xmlns:a16="http://schemas.microsoft.com/office/drawing/2014/main" xmlns="" id="{7814A7E7-8F89-1C48-A653-BCAE41DA719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341841" y="2018157"/>
            <a:ext cx="4181475" cy="4181475"/>
          </a:xfrm>
          <a:prstGeom prst="rect">
            <a:avLst/>
          </a:prstGeom>
        </p:spPr>
      </p:pic>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203</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49" y="156766"/>
            <a:ext cx="1075986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4.8.2 Collaboration: </a:t>
            </a:r>
            <a:r>
              <a:rPr lang="en-US" sz="3200" b="1" dirty="0" smtClean="0">
                <a:solidFill>
                  <a:srgbClr val="33BEA6"/>
                </a:solidFill>
                <a:latin typeface="Verdana"/>
                <a:ea typeface="Verdana"/>
                <a:cs typeface="Verdana"/>
                <a:sym typeface="Verdana"/>
              </a:rPr>
              <a:t>Comparing </a:t>
            </a:r>
            <a:r>
              <a:rPr lang="en-US" sz="3200" b="1" dirty="0">
                <a:solidFill>
                  <a:srgbClr val="33BEA6"/>
                </a:solidFill>
                <a:latin typeface="Verdana"/>
                <a:ea typeface="Verdana"/>
                <a:cs typeface="Verdana"/>
                <a:sym typeface="Verdana"/>
              </a:rPr>
              <a:t>Representations of Linear Functions</a:t>
            </a:r>
            <a:endParaRPr lang="en-US" sz="3200" b="1" dirty="0">
              <a:solidFill>
                <a:srgbClr val="33BEA6"/>
              </a:solidFill>
              <a:latin typeface="Verdana"/>
              <a:ea typeface="Verdana"/>
              <a:cs typeface="Verdana"/>
              <a:sym typeface="Verdana"/>
            </a:endParaRPr>
          </a:p>
        </p:txBody>
      </p:sp>
      <p:pic>
        <p:nvPicPr>
          <p:cNvPr id="16"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2842" y="27120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437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203</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TextBox 7">
            <a:extLst>
              <a:ext uri="{FF2B5EF4-FFF2-40B4-BE49-F238E27FC236}">
                <a16:creationId xmlns="" xmlns:a16="http://schemas.microsoft.com/office/drawing/2014/main" id="{2FA392D8-3ED3-7940-83A8-1451AA8A08D4}"/>
              </a:ext>
            </a:extLst>
          </p:cNvPr>
          <p:cNvSpPr txBox="1"/>
          <p:nvPr/>
        </p:nvSpPr>
        <p:spPr>
          <a:xfrm>
            <a:off x="644956" y="479475"/>
            <a:ext cx="10723497" cy="4401205"/>
          </a:xfrm>
          <a:prstGeom prst="rect">
            <a:avLst/>
          </a:prstGeom>
          <a:noFill/>
        </p:spPr>
        <p:txBody>
          <a:bodyPr wrap="square" rtlCol="0">
            <a:spAutoFit/>
          </a:bodyPr>
          <a:lstStyle/>
          <a:p>
            <a:pPr marL="917575"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Which line has the larger 𝑥-intercept?</a:t>
            </a: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Which line has the smaller 𝑦-intercept?</a:t>
            </a: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Which line has the larger slope?</a:t>
            </a: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For which line does 𝑦 decrease as 𝑥 increases?</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1846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158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5CF139EE-FACB-0747-83BB-D8954991A99D}"/>
                  </a:ext>
                </a:extLst>
              </p:cNvPr>
              <p:cNvGraphicFramePr>
                <a:graphicFrameLocks noGrp="1"/>
              </p:cNvGraphicFramePr>
              <p:nvPr>
                <p:extLst>
                  <p:ext uri="{D42A27DB-BD31-4B8C-83A1-F6EECF244321}">
                    <p14:modId xmlns:p14="http://schemas.microsoft.com/office/powerpoint/2010/main" val="1647664687"/>
                  </p:ext>
                </p:extLst>
              </p:nvPr>
            </p:nvGraphicFramePr>
            <p:xfrm>
              <a:off x="1296391" y="1175040"/>
              <a:ext cx="7600721" cy="4763800"/>
            </p:xfrm>
            <a:graphic>
              <a:graphicData uri="http://schemas.openxmlformats.org/drawingml/2006/table">
                <a:tbl>
                  <a:tblPr firstRow="1" firstCol="1" bandRow="1">
                    <a:tableStyleId>{A91F0D33-8C57-4600-99A7-42BC86742BE1}</a:tableStyleId>
                  </a:tblPr>
                  <a:tblGrid>
                    <a:gridCol w="1150226">
                      <a:extLst>
                        <a:ext uri="{9D8B030D-6E8A-4147-A177-3AD203B41FA5}">
                          <a16:colId xmlns:a16="http://schemas.microsoft.com/office/drawing/2014/main" xmlns="" val="234288820"/>
                        </a:ext>
                      </a:extLst>
                    </a:gridCol>
                    <a:gridCol w="2619958">
                      <a:extLst>
                        <a:ext uri="{9D8B030D-6E8A-4147-A177-3AD203B41FA5}">
                          <a16:colId xmlns:a16="http://schemas.microsoft.com/office/drawing/2014/main" xmlns="" val="2391033417"/>
                        </a:ext>
                      </a:extLst>
                    </a:gridCol>
                    <a:gridCol w="1907813">
                      <a:extLst>
                        <a:ext uri="{9D8B030D-6E8A-4147-A177-3AD203B41FA5}">
                          <a16:colId xmlns:a16="http://schemas.microsoft.com/office/drawing/2014/main" xmlns="" val="2974887572"/>
                        </a:ext>
                      </a:extLst>
                    </a:gridCol>
                    <a:gridCol w="1922724">
                      <a:extLst>
                        <a:ext uri="{9D8B030D-6E8A-4147-A177-3AD203B41FA5}">
                          <a16:colId xmlns:a16="http://schemas.microsoft.com/office/drawing/2014/main" xmlns="" val="3544481679"/>
                        </a:ext>
                      </a:extLst>
                    </a:gridCol>
                  </a:tblGrid>
                  <a:tr h="731921">
                    <a:tc>
                      <a:txBody>
                        <a:bodyPr/>
                        <a:lstStyle/>
                        <a:p>
                          <a:pPr marL="0" marR="0" algn="ctr">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Function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Table of Values</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xmlns="" val="3547932559"/>
                      </a:ext>
                    </a:extLst>
                  </a:tr>
                  <a:tr h="2033556">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Green Line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𝑓</m:t>
                                </m:r>
                                <m:d>
                                  <m:dPr>
                                    <m:ctrlPr>
                                      <a:rPr lang="x-none" sz="1700" i="1">
                                        <a:effectLst/>
                                        <a:latin typeface="Cambria Math"/>
                                      </a:rPr>
                                    </m:ctrlPr>
                                  </m:dPr>
                                  <m:e>
                                    <m:r>
                                      <a:rPr lang="en-US" sz="1700">
                                        <a:effectLst/>
                                        <a:latin typeface="Cambria Math" panose="02040503050406030204" pitchFamily="18" charset="0"/>
                                      </a:rPr>
                                      <m:t>𝑥</m:t>
                                    </m:r>
                                  </m:e>
                                </m:d>
                                <m:r>
                                  <a:rPr lang="en-US" sz="1700">
                                    <a:effectLst/>
                                    <a:latin typeface="Cambria Math" panose="02040503050406030204" pitchFamily="18" charset="0"/>
                                  </a:rPr>
                                  <m:t>=1−5(</m:t>
                                </m:r>
                                <m:r>
                                  <a:rPr lang="en-US" sz="1700">
                                    <a:effectLst/>
                                    <a:latin typeface="Cambria Math" panose="02040503050406030204" pitchFamily="18" charset="0"/>
                                  </a:rPr>
                                  <m:t>𝑥</m:t>
                                </m:r>
                                <m:r>
                                  <a:rPr lang="en-US" sz="1700">
                                    <a:effectLst/>
                                    <a:latin typeface="Cambria Math" panose="02040503050406030204" pitchFamily="18" charset="0"/>
                                  </a:rPr>
                                  <m:t>−1)</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A line with a slope of </a:t>
                          </a:r>
                          <a14:m>
                            <m:oMath xmlns:m="http://schemas.openxmlformats.org/officeDocument/2006/math">
                              <m:r>
                                <a:rPr lang="en-US" sz="1700">
                                  <a:effectLst/>
                                  <a:latin typeface="Cambria Math" panose="02040503050406030204" pitchFamily="18" charset="0"/>
                                </a:rPr>
                                <m:t>−5</m:t>
                              </m:r>
                            </m:oMath>
                          </a14:m>
                          <a:r>
                            <a:rPr lang="en-US" sz="1700" dirty="0">
                              <a:effectLst/>
                              <a:latin typeface="Verdana" panose="020B0604030504040204" pitchFamily="34" charset="0"/>
                              <a:ea typeface="Verdana" panose="020B0604030504040204" pitchFamily="34" charset="0"/>
                              <a:cs typeface="Verdana" panose="020B0604030504040204" pitchFamily="34" charset="0"/>
                            </a:rPr>
                            <a:t> that passes through the point </a:t>
                          </a:r>
                          <a14:m>
                            <m:oMath xmlns:m="http://schemas.openxmlformats.org/officeDocument/2006/math">
                              <m:r>
                                <a:rPr lang="en-US" sz="1700">
                                  <a:effectLst/>
                                  <a:latin typeface="Cambria Math" panose="02040503050406030204" pitchFamily="18" charset="0"/>
                                </a:rPr>
                                <m:t>(1, 1)</m:t>
                              </m:r>
                            </m:oMath>
                          </a14:m>
                          <a:r>
                            <a:rPr lang="en-US" sz="1700" dirty="0">
                              <a:effectLst/>
                              <a:latin typeface="Verdana" panose="020B0604030504040204" pitchFamily="34" charset="0"/>
                              <a:ea typeface="Verdana" panose="020B0604030504040204" pitchFamily="34" charset="0"/>
                              <a:cs typeface="Verdana" panose="020B0604030504040204" pitchFamily="34" charset="0"/>
                            </a:rPr>
                            <a:t>.</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59572859"/>
                      </a:ext>
                    </a:extLst>
                  </a:tr>
                  <a:tr h="1998323">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Blue Line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𝑔</m:t>
                                </m:r>
                                <m:d>
                                  <m:dPr>
                                    <m:ctrlPr>
                                      <a:rPr lang="x-none" sz="1700" i="1">
                                        <a:effectLst/>
                                        <a:latin typeface="Cambria Math"/>
                                      </a:rPr>
                                    </m:ctrlPr>
                                  </m:dPr>
                                  <m:e>
                                    <m:r>
                                      <a:rPr lang="en-US" sz="1700">
                                        <a:effectLst/>
                                        <a:latin typeface="Cambria Math" panose="02040503050406030204" pitchFamily="18" charset="0"/>
                                      </a:rPr>
                                      <m:t>𝑥</m:t>
                                    </m:r>
                                  </m:e>
                                </m:d>
                                <m:r>
                                  <a:rPr lang="en-US" sz="1700">
                                    <a:effectLst/>
                                    <a:latin typeface="Cambria Math" panose="02040503050406030204" pitchFamily="18" charset="0"/>
                                  </a:rPr>
                                  <m:t>=</m:t>
                                </m:r>
                                <m:f>
                                  <m:fPr>
                                    <m:ctrlPr>
                                      <a:rPr lang="x-none" sz="1700" i="1">
                                        <a:effectLst/>
                                        <a:latin typeface="Cambria Math"/>
                                      </a:rPr>
                                    </m:ctrlPr>
                                  </m:fPr>
                                  <m:num>
                                    <m:r>
                                      <a:rPr lang="en-US" sz="1700">
                                        <a:effectLst/>
                                        <a:latin typeface="Cambria Math" panose="02040503050406030204" pitchFamily="18" charset="0"/>
                                      </a:rPr>
                                      <m:t>3</m:t>
                                    </m:r>
                                  </m:num>
                                  <m:den>
                                    <m:r>
                                      <a:rPr lang="en-US" sz="1700">
                                        <a:effectLst/>
                                        <a:latin typeface="Cambria Math" panose="02040503050406030204" pitchFamily="18" charset="0"/>
                                      </a:rPr>
                                      <m:t>5</m:t>
                                    </m:r>
                                  </m:den>
                                </m:f>
                                <m:r>
                                  <a:rPr lang="en-US" sz="1700">
                                    <a:effectLst/>
                                    <a:latin typeface="Cambria Math" panose="02040503050406030204" pitchFamily="18" charset="0"/>
                                  </a:rPr>
                                  <m:t>𝑥</m:t>
                                </m:r>
                                <m:r>
                                  <a:rPr lang="en-US" sz="1700">
                                    <a:effectLst/>
                                    <a:latin typeface="Cambria Math" panose="02040503050406030204" pitchFamily="18" charset="0"/>
                                  </a:rPr>
                                  <m:t>−4</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A line that passes through the points </a:t>
                          </a:r>
                          <a14:m>
                            <m:oMath xmlns:m="http://schemas.openxmlformats.org/officeDocument/2006/math">
                              <m:d>
                                <m:dPr>
                                  <m:ctrlPr>
                                    <a:rPr lang="x-none" sz="1700" i="1">
                                      <a:effectLst/>
                                      <a:latin typeface="Cambria Math"/>
                                    </a:rPr>
                                  </m:ctrlPr>
                                </m:dPr>
                                <m:e>
                                  <m:r>
                                    <a:rPr lang="en-US" sz="1700">
                                      <a:effectLst/>
                                      <a:latin typeface="Cambria Math" panose="02040503050406030204" pitchFamily="18" charset="0"/>
                                    </a:rPr>
                                    <m:t>0, −4</m:t>
                                  </m:r>
                                </m:e>
                              </m:d>
                            </m:oMath>
                          </a14:m>
                          <a:r>
                            <a:rPr lang="en-US" sz="17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d>
                                <m:dPr>
                                  <m:ctrlPr>
                                    <a:rPr lang="x-none" sz="1700" i="1">
                                      <a:effectLst/>
                                      <a:latin typeface="Cambria Math"/>
                                    </a:rPr>
                                  </m:ctrlPr>
                                </m:dPr>
                                <m:e>
                                  <m:r>
                                    <a:rPr lang="en-US" sz="1700">
                                      <a:effectLst/>
                                      <a:latin typeface="Cambria Math" panose="02040503050406030204" pitchFamily="18" charset="0"/>
                                    </a:rPr>
                                    <m:t>6</m:t>
                                  </m:r>
                                  <m:f>
                                    <m:fPr>
                                      <m:ctrlPr>
                                        <a:rPr lang="x-none" sz="1700" i="1">
                                          <a:effectLst/>
                                          <a:latin typeface="Cambria Math"/>
                                        </a:rPr>
                                      </m:ctrlPr>
                                    </m:fPr>
                                    <m:num>
                                      <m:r>
                                        <a:rPr lang="en-US" sz="1700">
                                          <a:effectLst/>
                                          <a:latin typeface="Cambria Math" panose="02040503050406030204" pitchFamily="18" charset="0"/>
                                        </a:rPr>
                                        <m:t>2</m:t>
                                      </m:r>
                                    </m:num>
                                    <m:den>
                                      <m:r>
                                        <a:rPr lang="en-US" sz="1700">
                                          <a:effectLst/>
                                          <a:latin typeface="Cambria Math" panose="02040503050406030204" pitchFamily="18" charset="0"/>
                                        </a:rPr>
                                        <m:t>3</m:t>
                                      </m:r>
                                    </m:den>
                                  </m:f>
                                  <m:r>
                                    <a:rPr lang="en-US" sz="1700">
                                      <a:effectLst/>
                                      <a:latin typeface="Cambria Math" panose="02040503050406030204" pitchFamily="18" charset="0"/>
                                    </a:rPr>
                                    <m:t>, 0</m:t>
                                  </m:r>
                                </m:e>
                              </m:d>
                            </m:oMath>
                          </a14:m>
                          <a:r>
                            <a:rPr lang="en-US" sz="1700" dirty="0">
                              <a:effectLst/>
                              <a:latin typeface="Verdana" panose="020B0604030504040204" pitchFamily="34" charset="0"/>
                              <a:ea typeface="Verdana" panose="020B0604030504040204" pitchFamily="34" charset="0"/>
                              <a:cs typeface="Verdana" panose="020B0604030504040204" pitchFamily="34" charset="0"/>
                            </a:rPr>
                            <a:t>.</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597145974"/>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5CF139EE-FACB-0747-83BB-D8954991A99D}"/>
                  </a:ext>
                </a:extLst>
              </p:cNvPr>
              <p:cNvGraphicFramePr>
                <a:graphicFrameLocks noGrp="1"/>
              </p:cNvGraphicFramePr>
              <p:nvPr>
                <p:extLst>
                  <p:ext uri="{D42A27DB-BD31-4B8C-83A1-F6EECF244321}">
                    <p14:modId xmlns:p14="http://schemas.microsoft.com/office/powerpoint/2010/main" val="1647664687"/>
                  </p:ext>
                </p:extLst>
              </p:nvPr>
            </p:nvGraphicFramePr>
            <p:xfrm>
              <a:off x="1296391" y="1175040"/>
              <a:ext cx="7600721" cy="4763800"/>
            </p:xfrm>
            <a:graphic>
              <a:graphicData uri="http://schemas.openxmlformats.org/drawingml/2006/table">
                <a:tbl>
                  <a:tblPr firstRow="1" firstCol="1" bandRow="1">
                    <a:tableStyleId>{A91F0D33-8C57-4600-99A7-42BC86742BE1}</a:tableStyleId>
                  </a:tblPr>
                  <a:tblGrid>
                    <a:gridCol w="1150226">
                      <a:extLst>
                        <a:ext uri="{9D8B030D-6E8A-4147-A177-3AD203B41FA5}">
                          <a16:colId xmlns:a16="http://schemas.microsoft.com/office/drawing/2014/main" xmlns:a14="http://schemas.microsoft.com/office/drawing/2010/main" xmlns="" val="234288820"/>
                        </a:ext>
                      </a:extLst>
                    </a:gridCol>
                    <a:gridCol w="2619958">
                      <a:extLst>
                        <a:ext uri="{9D8B030D-6E8A-4147-A177-3AD203B41FA5}">
                          <a16:colId xmlns:a16="http://schemas.microsoft.com/office/drawing/2014/main" xmlns:a14="http://schemas.microsoft.com/office/drawing/2010/main" xmlns="" val="2391033417"/>
                        </a:ext>
                      </a:extLst>
                    </a:gridCol>
                    <a:gridCol w="1907813">
                      <a:extLst>
                        <a:ext uri="{9D8B030D-6E8A-4147-A177-3AD203B41FA5}">
                          <a16:colId xmlns:a16="http://schemas.microsoft.com/office/drawing/2014/main" xmlns:a14="http://schemas.microsoft.com/office/drawing/2010/main" xmlns="" val="2974887572"/>
                        </a:ext>
                      </a:extLst>
                    </a:gridCol>
                    <a:gridCol w="1922724">
                      <a:extLst>
                        <a:ext uri="{9D8B030D-6E8A-4147-A177-3AD203B41FA5}">
                          <a16:colId xmlns:a16="http://schemas.microsoft.com/office/drawing/2014/main" xmlns:a14="http://schemas.microsoft.com/office/drawing/2010/main" xmlns="" val="3544481679"/>
                        </a:ext>
                      </a:extLst>
                    </a:gridCol>
                  </a:tblGrid>
                  <a:tr h="731921">
                    <a:tc>
                      <a:txBody>
                        <a:bodyPr/>
                        <a:lstStyle/>
                        <a:p>
                          <a:pPr marL="0" marR="0" algn="ctr">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Function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Table of Values</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xmlns:a14="http://schemas.microsoft.com/office/drawing/2010/main" xmlns="" val="3547932559"/>
                      </a:ext>
                    </a:extLst>
                  </a:tr>
                  <a:tr h="2033556">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Green Line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en-US"/>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4186" t="-36336" r="-146047" b="-98799"/>
                          </a:stretch>
                        </a:blipFill>
                      </a:tcPr>
                    </a:tc>
                    <a:tc>
                      <a:txBody>
                        <a:bodyPr/>
                        <a:lstStyle/>
                        <a:p>
                          <a:pPr marL="0" marR="0" algn="ctr">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96190" t="-36336" b="-98799"/>
                          </a:stretch>
                        </a:blipFill>
                      </a:tcPr>
                    </a:tc>
                    <a:extLst>
                      <a:ext uri="{0D108BD9-81ED-4DB2-BD59-A6C34878D82A}">
                        <a16:rowId xmlns:a16="http://schemas.microsoft.com/office/drawing/2014/main" xmlns:a14="http://schemas.microsoft.com/office/drawing/2010/main" xmlns="" val="59572859"/>
                      </a:ext>
                    </a:extLst>
                  </a:tr>
                  <a:tr h="1998323">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Blue Line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en-US"/>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44186" t="-138415" r="-146047" b="-305"/>
                          </a:stretch>
                        </a:blipFill>
                      </a:tcPr>
                    </a:tc>
                    <a:tc>
                      <a:txBody>
                        <a:bodyPr/>
                        <a:lstStyle/>
                        <a:p>
                          <a:pPr marL="0" marR="0" algn="ctr">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5580" marR="65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96190" t="-138415" b="-305"/>
                          </a:stretch>
                        </a:blipFill>
                      </a:tcPr>
                    </a:tc>
                    <a:extLst>
                      <a:ext uri="{0D108BD9-81ED-4DB2-BD59-A6C34878D82A}">
                        <a16:rowId xmlns:a16="http://schemas.microsoft.com/office/drawing/2014/main" xmlns:a14="http://schemas.microsoft.com/office/drawing/2010/main" xmlns="" val="597145974"/>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xmlns="" id="{6A5E7ABD-1416-1844-B106-35F4B2CBC454}"/>
                  </a:ext>
                </a:extLst>
              </p:cNvPr>
              <p:cNvGraphicFramePr>
                <a:graphicFrameLocks noGrp="1"/>
              </p:cNvGraphicFramePr>
              <p:nvPr>
                <p:extLst>
                  <p:ext uri="{D42A27DB-BD31-4B8C-83A1-F6EECF244321}">
                    <p14:modId xmlns:p14="http://schemas.microsoft.com/office/powerpoint/2010/main" val="3386185398"/>
                  </p:ext>
                </p:extLst>
              </p:nvPr>
            </p:nvGraphicFramePr>
            <p:xfrm>
              <a:off x="5323965" y="2082584"/>
              <a:ext cx="1449070" cy="1698625"/>
            </p:xfrm>
            <a:graphic>
              <a:graphicData uri="http://schemas.openxmlformats.org/drawingml/2006/table">
                <a:tbl>
                  <a:tblPr firstRow="1" firstCol="1" bandRow="1">
                    <a:tableStyleId>{A91F0D33-8C57-4600-99A7-42BC86742BE1}</a:tableStyleId>
                  </a:tblPr>
                  <a:tblGrid>
                    <a:gridCol w="708025">
                      <a:extLst>
                        <a:ext uri="{9D8B030D-6E8A-4147-A177-3AD203B41FA5}">
                          <a16:colId xmlns:a16="http://schemas.microsoft.com/office/drawing/2014/main" xmlns="" val="3549666516"/>
                        </a:ext>
                      </a:extLst>
                    </a:gridCol>
                    <a:gridCol w="741045">
                      <a:extLst>
                        <a:ext uri="{9D8B030D-6E8A-4147-A177-3AD203B41FA5}">
                          <a16:colId xmlns:a16="http://schemas.microsoft.com/office/drawing/2014/main" xmlns="" val="3194680706"/>
                        </a:ext>
                      </a:extLst>
                    </a:gridCol>
                  </a:tblGrid>
                  <a:tr h="3397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𝒙</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𝒚</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4032231528"/>
                      </a:ext>
                    </a:extLst>
                  </a:tr>
                  <a:tr h="3397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16</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88665057"/>
                      </a:ext>
                    </a:extLst>
                  </a:tr>
                  <a:tr h="3397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1.2</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0</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1347647"/>
                      </a:ext>
                    </a:extLst>
                  </a:tr>
                  <a:tr h="3397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59220661"/>
                      </a:ext>
                    </a:extLst>
                  </a:tr>
                  <a:tr h="3397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7</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−29</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24730503"/>
                      </a:ext>
                    </a:extLst>
                  </a:tr>
                </a:tbl>
              </a:graphicData>
            </a:graphic>
          </p:graphicFrame>
        </mc:Choice>
        <mc:Fallback>
          <p:graphicFrame>
            <p:nvGraphicFramePr>
              <p:cNvPr id="7" name="Table 6">
                <a:extLst>
                  <a:ext uri="{FF2B5EF4-FFF2-40B4-BE49-F238E27FC236}">
                    <a16:creationId xmlns:a16="http://schemas.microsoft.com/office/drawing/2014/main" xmlns:a14="http://schemas.microsoft.com/office/drawing/2010/main" xmlns="" id="{6A5E7ABD-1416-1844-B106-35F4B2CBC454}"/>
                  </a:ext>
                </a:extLst>
              </p:cNvPr>
              <p:cNvGraphicFramePr>
                <a:graphicFrameLocks noGrp="1"/>
              </p:cNvGraphicFramePr>
              <p:nvPr>
                <p:extLst>
                  <p:ext uri="{D42A27DB-BD31-4B8C-83A1-F6EECF244321}">
                    <p14:modId xmlns:p14="http://schemas.microsoft.com/office/powerpoint/2010/main" val="3386185398"/>
                  </p:ext>
                </p:extLst>
              </p:nvPr>
            </p:nvGraphicFramePr>
            <p:xfrm>
              <a:off x="5323965" y="2082584"/>
              <a:ext cx="1449070" cy="1698625"/>
            </p:xfrm>
            <a:graphic>
              <a:graphicData uri="http://schemas.openxmlformats.org/drawingml/2006/table">
                <a:tbl>
                  <a:tblPr firstRow="1" firstCol="1" bandRow="1">
                    <a:tableStyleId>{A91F0D33-8C57-4600-99A7-42BC86742BE1}</a:tableStyleId>
                  </a:tblPr>
                  <a:tblGrid>
                    <a:gridCol w="708025">
                      <a:extLst>
                        <a:ext uri="{9D8B030D-6E8A-4147-A177-3AD203B41FA5}">
                          <a16:colId xmlns:a16="http://schemas.microsoft.com/office/drawing/2014/main" xmlns:a14="http://schemas.microsoft.com/office/drawing/2010/main" xmlns="" val="3549666516"/>
                        </a:ext>
                      </a:extLst>
                    </a:gridCol>
                    <a:gridCol w="741045">
                      <a:extLst>
                        <a:ext uri="{9D8B030D-6E8A-4147-A177-3AD203B41FA5}">
                          <a16:colId xmlns:a16="http://schemas.microsoft.com/office/drawing/2014/main" xmlns:a14="http://schemas.microsoft.com/office/drawing/2010/main" xmlns="" val="3194680706"/>
                        </a:ext>
                      </a:extLst>
                    </a:gridCol>
                  </a:tblGrid>
                  <a:tr h="33972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786" r="-106034" b="-398214"/>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5082" t="-1786" r="-820" b="-398214"/>
                          </a:stretch>
                        </a:blipFill>
                      </a:tcPr>
                    </a:tc>
                    <a:extLst>
                      <a:ext uri="{0D108BD9-81ED-4DB2-BD59-A6C34878D82A}">
                        <a16:rowId xmlns:a16="http://schemas.microsoft.com/office/drawing/2014/main" xmlns:a14="http://schemas.microsoft.com/office/drawing/2010/main" xmlns="" val="4032231528"/>
                      </a:ext>
                    </a:extLst>
                  </a:tr>
                  <a:tr h="33972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03636" r="-106034" b="-30545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5082" t="-103636" r="-820" b="-305455"/>
                          </a:stretch>
                        </a:blipFill>
                      </a:tcPr>
                    </a:tc>
                    <a:extLst>
                      <a:ext uri="{0D108BD9-81ED-4DB2-BD59-A6C34878D82A}">
                        <a16:rowId xmlns:a16="http://schemas.microsoft.com/office/drawing/2014/main" xmlns:a14="http://schemas.microsoft.com/office/drawing/2010/main" xmlns="" val="2588665057"/>
                      </a:ext>
                    </a:extLst>
                  </a:tr>
                  <a:tr h="33972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00000" r="-106034" b="-2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5082" t="-200000" r="-820" b="-200000"/>
                          </a:stretch>
                        </a:blipFill>
                      </a:tcPr>
                    </a:tc>
                    <a:extLst>
                      <a:ext uri="{0D108BD9-81ED-4DB2-BD59-A6C34878D82A}">
                        <a16:rowId xmlns:a16="http://schemas.microsoft.com/office/drawing/2014/main" xmlns:a14="http://schemas.microsoft.com/office/drawing/2010/main" xmlns="" val="1861347647"/>
                      </a:ext>
                    </a:extLst>
                  </a:tr>
                  <a:tr h="33972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305455" r="-106034" b="-103636"/>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5082" t="-305455" r="-820" b="-103636"/>
                          </a:stretch>
                        </a:blipFill>
                      </a:tcPr>
                    </a:tc>
                    <a:extLst>
                      <a:ext uri="{0D108BD9-81ED-4DB2-BD59-A6C34878D82A}">
                        <a16:rowId xmlns:a16="http://schemas.microsoft.com/office/drawing/2014/main" xmlns:a14="http://schemas.microsoft.com/office/drawing/2010/main" xmlns="" val="1859220661"/>
                      </a:ext>
                    </a:extLst>
                  </a:tr>
                  <a:tr h="33972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398214" r="-106034" b="-1786"/>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5082" t="-398214" r="-820" b="-1786"/>
                          </a:stretch>
                        </a:blipFill>
                      </a:tcPr>
                    </a:tc>
                    <a:extLst>
                      <a:ext uri="{0D108BD9-81ED-4DB2-BD59-A6C34878D82A}">
                        <a16:rowId xmlns:a16="http://schemas.microsoft.com/office/drawing/2014/main" xmlns:a14="http://schemas.microsoft.com/office/drawing/2010/main" xmlns="" val="824730503"/>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8" name="Table 7">
                <a:extLst>
                  <a:ext uri="{FF2B5EF4-FFF2-40B4-BE49-F238E27FC236}">
                    <a16:creationId xmlns:a16="http://schemas.microsoft.com/office/drawing/2014/main" xmlns="" id="{60BE8908-4A0E-FC47-AA37-0929F0F1F36C}"/>
                  </a:ext>
                </a:extLst>
              </p:cNvPr>
              <p:cNvGraphicFramePr>
                <a:graphicFrameLocks noGrp="1"/>
              </p:cNvGraphicFramePr>
              <p:nvPr>
                <p:extLst>
                  <p:ext uri="{D42A27DB-BD31-4B8C-83A1-F6EECF244321}">
                    <p14:modId xmlns:p14="http://schemas.microsoft.com/office/powerpoint/2010/main" val="3429144421"/>
                  </p:ext>
                </p:extLst>
              </p:nvPr>
            </p:nvGraphicFramePr>
            <p:xfrm>
              <a:off x="5300355" y="4061919"/>
              <a:ext cx="1449070" cy="1698625"/>
            </p:xfrm>
            <a:graphic>
              <a:graphicData uri="http://schemas.openxmlformats.org/drawingml/2006/table">
                <a:tbl>
                  <a:tblPr firstRow="1" firstCol="1" bandRow="1">
                    <a:tableStyleId>{A91F0D33-8C57-4600-99A7-42BC86742BE1}</a:tableStyleId>
                  </a:tblPr>
                  <a:tblGrid>
                    <a:gridCol w="699135">
                      <a:extLst>
                        <a:ext uri="{9D8B030D-6E8A-4147-A177-3AD203B41FA5}">
                          <a16:colId xmlns:a16="http://schemas.microsoft.com/office/drawing/2014/main" xmlns="" val="2016592668"/>
                        </a:ext>
                      </a:extLst>
                    </a:gridCol>
                    <a:gridCol w="749935">
                      <a:extLst>
                        <a:ext uri="{9D8B030D-6E8A-4147-A177-3AD203B41FA5}">
                          <a16:colId xmlns:a16="http://schemas.microsoft.com/office/drawing/2014/main" xmlns="" val="3094418733"/>
                        </a:ext>
                      </a:extLst>
                    </a:gridCol>
                  </a:tblGrid>
                  <a:tr h="3397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𝒙</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𝒚</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620720454"/>
                      </a:ext>
                    </a:extLst>
                  </a:tr>
                  <a:tr h="3397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−7</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9515190"/>
                      </a:ext>
                    </a:extLst>
                  </a:tr>
                  <a:tr h="3397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−4.6</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11151985"/>
                      </a:ext>
                    </a:extLst>
                  </a:tr>
                  <a:tr h="3397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0</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74114130"/>
                      </a:ext>
                    </a:extLst>
                  </a:tr>
                  <a:tr h="3397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−2.2</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39399569"/>
                      </a:ext>
                    </a:extLst>
                  </a:tr>
                </a:tbl>
              </a:graphicData>
            </a:graphic>
          </p:graphicFrame>
        </mc:Choice>
        <mc:Fallback>
          <p:graphicFrame>
            <p:nvGraphicFramePr>
              <p:cNvPr id="8" name="Table 7">
                <a:extLst>
                  <a:ext uri="{FF2B5EF4-FFF2-40B4-BE49-F238E27FC236}">
                    <a16:creationId xmlns:a16="http://schemas.microsoft.com/office/drawing/2014/main" xmlns:a14="http://schemas.microsoft.com/office/drawing/2010/main" xmlns="" id="{60BE8908-4A0E-FC47-AA37-0929F0F1F36C}"/>
                  </a:ext>
                </a:extLst>
              </p:cNvPr>
              <p:cNvGraphicFramePr>
                <a:graphicFrameLocks noGrp="1"/>
              </p:cNvGraphicFramePr>
              <p:nvPr>
                <p:extLst>
                  <p:ext uri="{D42A27DB-BD31-4B8C-83A1-F6EECF244321}">
                    <p14:modId xmlns:p14="http://schemas.microsoft.com/office/powerpoint/2010/main" val="3429144421"/>
                  </p:ext>
                </p:extLst>
              </p:nvPr>
            </p:nvGraphicFramePr>
            <p:xfrm>
              <a:off x="5300355" y="4061919"/>
              <a:ext cx="1449070" cy="1698625"/>
            </p:xfrm>
            <a:graphic>
              <a:graphicData uri="http://schemas.openxmlformats.org/drawingml/2006/table">
                <a:tbl>
                  <a:tblPr firstRow="1" firstCol="1" bandRow="1">
                    <a:tableStyleId>{A91F0D33-8C57-4600-99A7-42BC86742BE1}</a:tableStyleId>
                  </a:tblPr>
                  <a:tblGrid>
                    <a:gridCol w="699135">
                      <a:extLst>
                        <a:ext uri="{9D8B030D-6E8A-4147-A177-3AD203B41FA5}">
                          <a16:colId xmlns:a16="http://schemas.microsoft.com/office/drawing/2014/main" xmlns:a14="http://schemas.microsoft.com/office/drawing/2010/main" xmlns="" val="2016592668"/>
                        </a:ext>
                      </a:extLst>
                    </a:gridCol>
                    <a:gridCol w="749935">
                      <a:extLst>
                        <a:ext uri="{9D8B030D-6E8A-4147-A177-3AD203B41FA5}">
                          <a16:colId xmlns:a16="http://schemas.microsoft.com/office/drawing/2014/main" xmlns:a14="http://schemas.microsoft.com/office/drawing/2010/main" xmlns="" val="3094418733"/>
                        </a:ext>
                      </a:extLst>
                    </a:gridCol>
                  </a:tblGrid>
                  <a:tr h="33972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r="-107826" b="-398214"/>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3496" r="-813" b="-398214"/>
                          </a:stretch>
                        </a:blipFill>
                      </a:tcPr>
                    </a:tc>
                    <a:extLst>
                      <a:ext uri="{0D108BD9-81ED-4DB2-BD59-A6C34878D82A}">
                        <a16:rowId xmlns:a16="http://schemas.microsoft.com/office/drawing/2014/main" xmlns:a14="http://schemas.microsoft.com/office/drawing/2010/main" xmlns="" val="620720454"/>
                      </a:ext>
                    </a:extLst>
                  </a:tr>
                  <a:tr h="33972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00000" r="-107826" b="-298214"/>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3496" t="-100000" r="-813" b="-298214"/>
                          </a:stretch>
                        </a:blipFill>
                      </a:tcPr>
                    </a:tc>
                    <a:extLst>
                      <a:ext uri="{0D108BD9-81ED-4DB2-BD59-A6C34878D82A}">
                        <a16:rowId xmlns:a16="http://schemas.microsoft.com/office/drawing/2014/main" xmlns:a14="http://schemas.microsoft.com/office/drawing/2010/main" xmlns="" val="469515190"/>
                      </a:ext>
                    </a:extLst>
                  </a:tr>
                  <a:tr h="33972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03636" r="-107826" b="-203636"/>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3496" t="-203636" r="-813" b="-203636"/>
                          </a:stretch>
                        </a:blipFill>
                      </a:tcPr>
                    </a:tc>
                    <a:extLst>
                      <a:ext uri="{0D108BD9-81ED-4DB2-BD59-A6C34878D82A}">
                        <a16:rowId xmlns:a16="http://schemas.microsoft.com/office/drawing/2014/main" xmlns:a14="http://schemas.microsoft.com/office/drawing/2010/main" xmlns="" val="3211151985"/>
                      </a:ext>
                    </a:extLst>
                  </a:tr>
                  <a:tr h="33972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98214" r="-107826" b="-1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3496" t="-298214" r="-813" b="-100000"/>
                          </a:stretch>
                        </a:blipFill>
                      </a:tcPr>
                    </a:tc>
                    <a:extLst>
                      <a:ext uri="{0D108BD9-81ED-4DB2-BD59-A6C34878D82A}">
                        <a16:rowId xmlns:a16="http://schemas.microsoft.com/office/drawing/2014/main" xmlns:a14="http://schemas.microsoft.com/office/drawing/2010/main" xmlns="" val="674114130"/>
                      </a:ext>
                    </a:extLst>
                  </a:tr>
                  <a:tr h="33972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398214" r="-107826"/>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3496" t="-398214" r="-813"/>
                          </a:stretch>
                        </a:blipFill>
                      </a:tcPr>
                    </a:tc>
                    <a:extLst>
                      <a:ext uri="{0D108BD9-81ED-4DB2-BD59-A6C34878D82A}">
                        <a16:rowId xmlns:a16="http://schemas.microsoft.com/office/drawing/2014/main" xmlns:a14="http://schemas.microsoft.com/office/drawing/2010/main" xmlns="" val="3139399569"/>
                      </a:ext>
                    </a:extLst>
                  </a:tr>
                </a:tbl>
              </a:graphicData>
            </a:graphic>
          </p:graphicFrame>
        </mc:Fallback>
      </mc:AlternateContent>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203</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TextBox 10">
            <a:extLst>
              <a:ext uri="{FF2B5EF4-FFF2-40B4-BE49-F238E27FC236}">
                <a16:creationId xmlns="" xmlns:a16="http://schemas.microsoft.com/office/drawing/2014/main" id="{2FA392D8-3ED3-7940-83A8-1451AA8A08D4}"/>
              </a:ext>
            </a:extLst>
          </p:cNvPr>
          <p:cNvSpPr txBox="1"/>
          <p:nvPr/>
        </p:nvSpPr>
        <p:spPr>
          <a:xfrm>
            <a:off x="644956" y="479475"/>
            <a:ext cx="10723497" cy="400110"/>
          </a:xfrm>
          <a:prstGeom prst="rect">
            <a:avLst/>
          </a:prstGeom>
          <a:noFill/>
        </p:spPr>
        <p:txBody>
          <a:bodyPr wrap="square" rtlCol="0">
            <a:spAutoFit/>
          </a:bodyPr>
          <a:lstStyle/>
          <a:p>
            <a:pPr marL="517525" indent="-457200">
              <a:buFont typeface="+mj-lt"/>
              <a:buAutoNum type="arabicPeriod" startAt="2"/>
              <a:tabLst>
                <a:tab pos="914400" algn="l"/>
              </a:tabLst>
            </a:pPr>
            <a:r>
              <a:rPr lang="en-US" sz="2000" dirty="0">
                <a:latin typeface="Verdana" panose="020B0604030504040204" pitchFamily="34" charset="0"/>
                <a:ea typeface="Times New Roman" panose="02020603050405020304" pitchFamily="18" charset="0"/>
                <a:cs typeface="Times New Roman" panose="02020603050405020304" pitchFamily="18" charset="0"/>
              </a:rPr>
              <a:t>The table shows other ways the linear relationships could be represented. </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9468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203</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TextBox 7">
            <a:extLst>
              <a:ext uri="{FF2B5EF4-FFF2-40B4-BE49-F238E27FC236}">
                <a16:creationId xmlns="" xmlns:a16="http://schemas.microsoft.com/office/drawing/2014/main" id="{2FA392D8-3ED3-7940-83A8-1451AA8A08D4}"/>
              </a:ext>
            </a:extLst>
          </p:cNvPr>
          <p:cNvSpPr txBox="1"/>
          <p:nvPr/>
        </p:nvSpPr>
        <p:spPr>
          <a:xfrm>
            <a:off x="644956" y="479475"/>
            <a:ext cx="10723497" cy="2862322"/>
          </a:xfrm>
          <a:prstGeom prst="rect">
            <a:avLst/>
          </a:prstGeom>
          <a:noFill/>
        </p:spPr>
        <p:txBody>
          <a:bodyPr wrap="square" rtlCol="0">
            <a:spAutoFit/>
          </a:bodyPr>
          <a:lstStyle/>
          <a:p>
            <a:pPr marL="917575"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With your partner, discuss which representation(s) of the green line can be used to determine the 𝑥‑intercept.</a:t>
            </a: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With your partner, discuss which representation(s) of the blue line can be used to determine the 𝑦‑intercept.</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0282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xmlns="" id="{64CB99AB-D7CE-0E43-91D5-AAFCE821B56A}"/>
                  </a:ext>
                </a:extLst>
              </p:cNvPr>
              <p:cNvGraphicFramePr>
                <a:graphicFrameLocks noGrp="1"/>
              </p:cNvGraphicFramePr>
              <p:nvPr>
                <p:extLst>
                  <p:ext uri="{D42A27DB-BD31-4B8C-83A1-F6EECF244321}">
                    <p14:modId xmlns:p14="http://schemas.microsoft.com/office/powerpoint/2010/main" val="1365718699"/>
                  </p:ext>
                </p:extLst>
              </p:nvPr>
            </p:nvGraphicFramePr>
            <p:xfrm>
              <a:off x="2453005" y="1499798"/>
              <a:ext cx="6855460" cy="3317812"/>
            </p:xfrm>
            <a:graphic>
              <a:graphicData uri="http://schemas.openxmlformats.org/drawingml/2006/table">
                <a:tbl>
                  <a:tblPr firstRow="1" firstCol="1" bandRow="1">
                    <a:tableStyleId>{A91F0D33-8C57-4600-99A7-42BC86742BE1}</a:tableStyleId>
                  </a:tblPr>
                  <a:tblGrid>
                    <a:gridCol w="3431540">
                      <a:extLst>
                        <a:ext uri="{9D8B030D-6E8A-4147-A177-3AD203B41FA5}">
                          <a16:colId xmlns:a16="http://schemas.microsoft.com/office/drawing/2014/main" xmlns="" val="2033172571"/>
                        </a:ext>
                      </a:extLst>
                    </a:gridCol>
                    <a:gridCol w="3423920">
                      <a:extLst>
                        <a:ext uri="{9D8B030D-6E8A-4147-A177-3AD203B41FA5}">
                          <a16:colId xmlns:a16="http://schemas.microsoft.com/office/drawing/2014/main" xmlns="" val="3165531795"/>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Brenda</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Austin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20545697"/>
                      </a:ext>
                    </a:extLst>
                  </a:tr>
                  <a:tr h="457200">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can determine whether the linear relationship is increasing or decreasing as </a:t>
                          </a:r>
                          <a14:m>
                            <m:oMath xmlns:m="http://schemas.openxmlformats.org/officeDocument/2006/math">
                              <m:r>
                                <a:rPr lang="en-US" sz="2000">
                                  <a:effectLst/>
                                  <a:latin typeface="Cambria Math" panose="02040503050406030204" pitchFamily="18" charset="0"/>
                                </a:rPr>
                                <m:t>𝑥</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increases using the slope of the line. If the representation does not have the slope, I have to graph the relationship.</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can determine whether the linear relationship is increasing or decreasing as </a:t>
                          </a:r>
                          <a14:m>
                            <m:oMath xmlns:m="http://schemas.openxmlformats.org/officeDocument/2006/math">
                              <m:r>
                                <a:rPr lang="en-US" sz="2000">
                                  <a:effectLst/>
                                  <a:latin typeface="Cambria Math" panose="02040503050406030204" pitchFamily="18" charset="0"/>
                                </a:rPr>
                                <m:t>𝑥</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increases using the graph, slope-intercept form, point-slope form, or the table.</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25611387"/>
                      </a:ext>
                    </a:extLst>
                  </a:tr>
                </a:tbl>
              </a:graphicData>
            </a:graphic>
          </p:graphicFrame>
        </mc:Choice>
        <mc:Fallback>
          <p:graphicFrame>
            <p:nvGraphicFramePr>
              <p:cNvPr id="2" name="Table 1">
                <a:extLst>
                  <a:ext uri="{FF2B5EF4-FFF2-40B4-BE49-F238E27FC236}">
                    <a16:creationId xmlns:a16="http://schemas.microsoft.com/office/drawing/2014/main" xmlns:a14="http://schemas.microsoft.com/office/drawing/2010/main" xmlns="" id="{64CB99AB-D7CE-0E43-91D5-AAFCE821B56A}"/>
                  </a:ext>
                </a:extLst>
              </p:cNvPr>
              <p:cNvGraphicFramePr>
                <a:graphicFrameLocks noGrp="1"/>
              </p:cNvGraphicFramePr>
              <p:nvPr>
                <p:extLst>
                  <p:ext uri="{D42A27DB-BD31-4B8C-83A1-F6EECF244321}">
                    <p14:modId xmlns:p14="http://schemas.microsoft.com/office/powerpoint/2010/main" val="1365718699"/>
                  </p:ext>
                </p:extLst>
              </p:nvPr>
            </p:nvGraphicFramePr>
            <p:xfrm>
              <a:off x="2453005" y="1499798"/>
              <a:ext cx="6855460" cy="3317812"/>
            </p:xfrm>
            <a:graphic>
              <a:graphicData uri="http://schemas.openxmlformats.org/drawingml/2006/table">
                <a:tbl>
                  <a:tblPr firstRow="1" firstCol="1" bandRow="1">
                    <a:tableStyleId>{A91F0D33-8C57-4600-99A7-42BC86742BE1}</a:tableStyleId>
                  </a:tblPr>
                  <a:tblGrid>
                    <a:gridCol w="3431540">
                      <a:extLst>
                        <a:ext uri="{9D8B030D-6E8A-4147-A177-3AD203B41FA5}">
                          <a16:colId xmlns:a16="http://schemas.microsoft.com/office/drawing/2014/main" xmlns:a14="http://schemas.microsoft.com/office/drawing/2010/main" xmlns="" val="2033172571"/>
                        </a:ext>
                      </a:extLst>
                    </a:gridCol>
                    <a:gridCol w="3423920">
                      <a:extLst>
                        <a:ext uri="{9D8B030D-6E8A-4147-A177-3AD203B41FA5}">
                          <a16:colId xmlns:a16="http://schemas.microsoft.com/office/drawing/2014/main" xmlns:a14="http://schemas.microsoft.com/office/drawing/2010/main" xmlns="" val="3165531795"/>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Brenda</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Austin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20545697"/>
                      </a:ext>
                    </a:extLst>
                  </a:tr>
                  <a:tr h="2860612">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5991" r="-99822" b="-4051"/>
                          </a:stretch>
                        </a:blipFill>
                      </a:tcPr>
                    </a:tc>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178" t="-15991" b="-4051"/>
                          </a:stretch>
                        </a:blipFill>
                      </a:tcPr>
                    </a:tc>
                    <a:extLst>
                      <a:ext uri="{0D108BD9-81ED-4DB2-BD59-A6C34878D82A}">
                        <a16:rowId xmlns:a16="http://schemas.microsoft.com/office/drawing/2014/main" xmlns:a14="http://schemas.microsoft.com/office/drawing/2010/main" xmlns="" val="3725611387"/>
                      </a:ext>
                    </a:extLst>
                  </a:tr>
                </a:tbl>
              </a:graphicData>
            </a:graphic>
          </p:graphicFrame>
        </mc:Fallback>
      </mc:AlternateContent>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204</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 xmlns:a16="http://schemas.microsoft.com/office/drawing/2014/main" id="{2FA392D8-3ED3-7940-83A8-1451AA8A08D4}"/>
              </a:ext>
            </a:extLst>
          </p:cNvPr>
          <p:cNvSpPr txBox="1"/>
          <p:nvPr/>
        </p:nvSpPr>
        <p:spPr>
          <a:xfrm>
            <a:off x="644956" y="479475"/>
            <a:ext cx="10723497" cy="707886"/>
          </a:xfrm>
          <a:prstGeom prst="rect">
            <a:avLst/>
          </a:prstGeom>
          <a:noFill/>
        </p:spPr>
        <p:txBody>
          <a:bodyPr wrap="square" rtlCol="0">
            <a:spAutoFit/>
          </a:bodyPr>
          <a:lstStyle/>
          <a:p>
            <a:pPr marL="460375"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Brenda and Austin were discussing the representations of the blue and </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000" dirty="0" smtClean="0">
                <a:latin typeface="Verdana" panose="020B0604030504040204" pitchFamily="34" charset="0"/>
                <a:ea typeface="Times New Roman" panose="02020603050405020304" pitchFamily="18" charset="0"/>
                <a:cs typeface="Times New Roman" panose="02020603050405020304" pitchFamily="18" charset="0"/>
              </a:rPr>
            </a:br>
            <a:r>
              <a:rPr lang="en-US" sz="2000" dirty="0" smtClean="0">
                <a:latin typeface="Verdana" panose="020B0604030504040204" pitchFamily="34" charset="0"/>
                <a:ea typeface="Times New Roman" panose="02020603050405020304" pitchFamily="18" charset="0"/>
                <a:cs typeface="Times New Roman" panose="02020603050405020304" pitchFamily="18" charset="0"/>
              </a:rPr>
              <a:t>green </a:t>
            </a:r>
            <a:r>
              <a:rPr lang="en-US" sz="2000" dirty="0">
                <a:latin typeface="Verdana" panose="020B0604030504040204" pitchFamily="34" charset="0"/>
                <a:ea typeface="Times New Roman" panose="02020603050405020304" pitchFamily="18" charset="0"/>
                <a:cs typeface="Times New Roman" panose="02020603050405020304" pitchFamily="18" charset="0"/>
              </a:rPr>
              <a:t>line. </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0779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Rectangle 8">
            <a:extLst>
              <a:ext uri="{FF2B5EF4-FFF2-40B4-BE49-F238E27FC236}">
                <a16:creationId xmlns:a16="http://schemas.microsoft.com/office/drawing/2014/main" xmlns="" id="{951235A6-B82D-1D4C-95B0-169CA5712323}"/>
              </a:ext>
            </a:extLst>
          </p:cNvPr>
          <p:cNvSpPr/>
          <p:nvPr/>
        </p:nvSpPr>
        <p:spPr>
          <a:xfrm>
            <a:off x="676221" y="467176"/>
            <a:ext cx="10862636" cy="3785652"/>
          </a:xfrm>
          <a:prstGeom prst="rect">
            <a:avLst/>
          </a:prstGeom>
        </p:spPr>
        <p:txBody>
          <a:bodyPr wrap="square">
            <a:spAutoFit/>
          </a:bodyPr>
          <a:lstStyle/>
          <a:p>
            <a:pPr marL="917575"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With your partner, discuss how Brenda can determine if a linear relationship is increasing or decreasing using only the slope of the line. Write a summary of your discussion.</a:t>
            </a:r>
          </a:p>
          <a:p>
            <a:pPr marL="917575"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With your partner, discuss how Austin could use a table to determine if a linear relationship is increasing or decreasing. Write a summary of your discussion.</a:t>
            </a: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204</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88923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204</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8" name="Rectangle 7">
                <a:extLst>
                  <a:ext uri="{FF2B5EF4-FFF2-40B4-BE49-F238E27FC236}">
                    <a16:creationId xmlns:a16="http://schemas.microsoft.com/office/drawing/2014/main" xmlns="" id="{951235A6-B82D-1D4C-95B0-169CA5712323}"/>
                  </a:ext>
                </a:extLst>
              </p:cNvPr>
              <p:cNvSpPr/>
              <p:nvPr/>
            </p:nvSpPr>
            <p:spPr>
              <a:xfrm>
                <a:off x="676221" y="467176"/>
                <a:ext cx="10862636" cy="4524315"/>
              </a:xfrm>
              <a:prstGeom prst="rect">
                <a:avLst/>
              </a:prstGeom>
            </p:spPr>
            <p:txBody>
              <a:bodyPr wrap="square">
                <a:spAutoFit/>
              </a:bodyPr>
              <a:lstStyle/>
              <a:p>
                <a:pPr marL="917575" indent="-457200">
                  <a:buFont typeface="+mj-lt"/>
                  <a:buAutoNum type="alphaLcPeriod" startAt="3"/>
                  <a:tabLst>
                    <a:tab pos="914400" algn="l"/>
                  </a:tabLst>
                </a:pPr>
                <a:r>
                  <a:rPr lang="en-US" sz="2400" dirty="0">
                    <a:latin typeface="Verdana" panose="020B0604030504040204" pitchFamily="34" charset="0"/>
                    <a:ea typeface="Times New Roman" panose="02020603050405020304" pitchFamily="18" charset="0"/>
                    <a:cs typeface="Times New Roman" panose="02020603050405020304" pitchFamily="18" charset="0"/>
                  </a:rPr>
                  <a:t>Brenda told her teacher that she could not determine if the blue line is increasing or decreasing from its written description because it did not include the slope. Explain to Brenda how she could use the written description to find the slope.</a:t>
                </a:r>
              </a:p>
              <a:p>
                <a:pPr marL="917575" indent="-457200">
                  <a:buFont typeface="+mj-lt"/>
                  <a:buAutoNum type="alphaLcPeriod" startAt="3"/>
                  <a:tabLst>
                    <a:tab pos="914400" algn="l"/>
                  </a:tabLst>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3"/>
                  <a:tabLst>
                    <a:tab pos="914400" algn="l"/>
                  </a:tabLst>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3"/>
                  <a:tabLst>
                    <a:tab pos="914400" algn="l"/>
                  </a:tabLst>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Work with your partner to help Brenda and Austin understand how to use an equation in standard form, such as the equation that represents the blue line,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−5</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𝑦</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=20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to determine if the relationship is increasing or decreasing.</a:t>
                </a:r>
              </a:p>
            </p:txBody>
          </p:sp>
        </mc:Choice>
        <mc:Fallback>
          <p:sp>
            <p:nvSpPr>
              <p:cNvPr id="8" name="Rectangle 7">
                <a:extLst>
                  <a:ext uri="{FF2B5EF4-FFF2-40B4-BE49-F238E27FC236}">
                    <a16:creationId xmlns:a16="http://schemas.microsoft.com/office/drawing/2014/main" xmlns="" id="{951235A6-B82D-1D4C-95B0-169CA5712323}"/>
                  </a:ext>
                </a:extLst>
              </p:cNvPr>
              <p:cNvSpPr>
                <a:spLocks noRot="1" noChangeAspect="1" noMove="1" noResize="1" noEditPoints="1" noAdjustHandles="1" noChangeArrowheads="1" noChangeShapeType="1" noTextEdit="1"/>
              </p:cNvSpPr>
              <p:nvPr/>
            </p:nvSpPr>
            <p:spPr>
              <a:xfrm>
                <a:off x="676221" y="467176"/>
                <a:ext cx="10862636" cy="4524315"/>
              </a:xfrm>
              <a:prstGeom prst="rect">
                <a:avLst/>
              </a:prstGeom>
              <a:blipFill rotWithShape="1">
                <a:blip r:embed="rId4"/>
                <a:stretch>
                  <a:fillRect t="-1078" r="-1235" b="-2156"/>
                </a:stretch>
              </a:blipFill>
            </p:spPr>
            <p:txBody>
              <a:bodyPr/>
              <a:lstStyle/>
              <a:p>
                <a:r>
                  <a:rPr lang="en-US">
                    <a:noFill/>
                  </a:rPr>
                  <a:t> </a:t>
                </a:r>
              </a:p>
            </p:txBody>
          </p:sp>
        </mc:Fallback>
      </mc:AlternateContent>
    </p:spTree>
    <p:extLst>
      <p:ext uri="{BB962C8B-B14F-4D97-AF65-F5344CB8AC3E}">
        <p14:creationId xmlns:p14="http://schemas.microsoft.com/office/powerpoint/2010/main" val="1681892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205</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dirty="0" smtClean="0">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2" name="image2.png" descr="Icon&#10;&#10;Description automatically generated">
            <a:extLst>
              <a:ext uri="{FF2B5EF4-FFF2-40B4-BE49-F238E27FC236}">
                <a16:creationId xmlns:a16="http://schemas.microsoft.com/office/drawing/2014/main" xmlns="" id="{B8663E50-D763-C343-96E8-FEAEDD7FA21B}"/>
              </a:ext>
            </a:extLst>
          </p:cNvPr>
          <p:cNvPicPr/>
          <p:nvPr/>
        </p:nvPicPr>
        <p:blipFill>
          <a:blip r:embed="rId4"/>
          <a:srcRect/>
          <a:stretch>
            <a:fillRect/>
          </a:stretch>
        </p:blipFill>
        <p:spPr>
          <a:xfrm>
            <a:off x="4506717"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xmlns="" id="{6ACBF36B-3D96-9442-8322-5AEC2CCCB842}"/>
                  </a:ext>
                </a:extLst>
              </p:cNvPr>
              <p:cNvGraphicFramePr>
                <a:graphicFrameLocks noGrp="1"/>
              </p:cNvGraphicFramePr>
              <p:nvPr>
                <p:extLst>
                  <p:ext uri="{D42A27DB-BD31-4B8C-83A1-F6EECF244321}">
                    <p14:modId xmlns:p14="http://schemas.microsoft.com/office/powerpoint/2010/main" val="2401253975"/>
                  </p:ext>
                </p:extLst>
              </p:nvPr>
            </p:nvGraphicFramePr>
            <p:xfrm>
              <a:off x="679000" y="2034810"/>
              <a:ext cx="6804025" cy="3251565"/>
            </p:xfrm>
            <a:graphic>
              <a:graphicData uri="http://schemas.openxmlformats.org/drawingml/2006/table">
                <a:tbl>
                  <a:tblPr firstRow="1" firstCol="1" bandRow="1">
                    <a:tableStyleId>{A91F0D33-8C57-4600-99A7-42BC86742BE1}</a:tableStyleId>
                  </a:tblPr>
                  <a:tblGrid>
                    <a:gridCol w="2828290">
                      <a:extLst>
                        <a:ext uri="{9D8B030D-6E8A-4147-A177-3AD203B41FA5}">
                          <a16:colId xmlns:a16="http://schemas.microsoft.com/office/drawing/2014/main" xmlns="" val="247981053"/>
                        </a:ext>
                      </a:extLst>
                    </a:gridCol>
                    <a:gridCol w="3975735">
                      <a:extLst>
                        <a:ext uri="{9D8B030D-6E8A-4147-A177-3AD203B41FA5}">
                          <a16:colId xmlns:a16="http://schemas.microsoft.com/office/drawing/2014/main" xmlns="" val="2617753030"/>
                        </a:ext>
                      </a:extLst>
                    </a:gridCol>
                  </a:tblGrid>
                  <a:tr h="428364">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A</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B</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xmlns="" val="2098834121"/>
                      </a:ext>
                    </a:extLst>
                  </a:tr>
                  <a:tr h="2823201">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𝑓</m:t>
                                </m:r>
                                <m:d>
                                  <m:dPr>
                                    <m:ctrlPr>
                                      <a:rPr lang="x-none" sz="2000" i="1">
                                        <a:effectLst/>
                                        <a:latin typeface="Cambria Math"/>
                                      </a:rPr>
                                    </m:ctrlPr>
                                  </m:dPr>
                                  <m:e>
                                    <m:r>
                                      <a:rPr lang="en-US" sz="2000">
                                        <a:effectLst/>
                                        <a:latin typeface="Cambria Math" panose="02040503050406030204" pitchFamily="18" charset="0"/>
                                      </a:rPr>
                                      <m:t>𝑥</m:t>
                                    </m:r>
                                  </m:e>
                                </m:d>
                                <m:r>
                                  <a:rPr lang="en-US" sz="2000">
                                    <a:effectLst/>
                                    <a:latin typeface="Cambria Math" panose="02040503050406030204" pitchFamily="18" charset="0"/>
                                  </a:rPr>
                                  <m:t>=−</m:t>
                                </m:r>
                                <m:f>
                                  <m:fPr>
                                    <m:ctrlPr>
                                      <a:rPr lang="x-none" sz="2000" i="1">
                                        <a:effectLst/>
                                        <a:latin typeface="Cambria Math"/>
                                      </a:rPr>
                                    </m:ctrlPr>
                                  </m:fPr>
                                  <m:num>
                                    <m:r>
                                      <a:rPr lang="en-US" sz="2000">
                                        <a:effectLst/>
                                        <a:latin typeface="Cambria Math" panose="02040503050406030204" pitchFamily="18" charset="0"/>
                                      </a:rPr>
                                      <m:t>4</m:t>
                                    </m:r>
                                  </m:num>
                                  <m:den>
                                    <m:r>
                                      <a:rPr lang="en-US" sz="2000">
                                        <a:effectLst/>
                                        <a:latin typeface="Cambria Math" panose="02040503050406030204" pitchFamily="18" charset="0"/>
                                      </a:rPr>
                                      <m:t>9</m:t>
                                    </m:r>
                                  </m:den>
                                </m:f>
                                <m:r>
                                  <a:rPr lang="en-US" sz="2000">
                                    <a:effectLst/>
                                    <a:latin typeface="Cambria Math" panose="02040503050406030204" pitchFamily="18" charset="0"/>
                                  </a:rPr>
                                  <m:t>𝑥</m:t>
                                </m:r>
                                <m:r>
                                  <a:rPr lang="en-US" sz="2000">
                                    <a:effectLst/>
                                    <a:latin typeface="Cambria Math" panose="02040503050406030204" pitchFamily="18" charset="0"/>
                                  </a:rPr>
                                  <m:t>+2</m:t>
                                </m:r>
                              </m:oMath>
                            </m:oMathPara>
                          </a14:m>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47879022"/>
                      </a:ext>
                    </a:extLst>
                  </a:tr>
                </a:tbl>
              </a:graphicData>
            </a:graphic>
          </p:graphicFrame>
        </mc:Choice>
        <mc:Fallback>
          <p:graphicFrame>
            <p:nvGraphicFramePr>
              <p:cNvPr id="2" name="Table 1">
                <a:extLst>
                  <a:ext uri="{FF2B5EF4-FFF2-40B4-BE49-F238E27FC236}">
                    <a16:creationId xmlns:a16="http://schemas.microsoft.com/office/drawing/2014/main" xmlns:a14="http://schemas.microsoft.com/office/drawing/2010/main" xmlns="" id="{6ACBF36B-3D96-9442-8322-5AEC2CCCB842}"/>
                  </a:ext>
                </a:extLst>
              </p:cNvPr>
              <p:cNvGraphicFramePr>
                <a:graphicFrameLocks noGrp="1"/>
              </p:cNvGraphicFramePr>
              <p:nvPr>
                <p:extLst>
                  <p:ext uri="{D42A27DB-BD31-4B8C-83A1-F6EECF244321}">
                    <p14:modId xmlns:p14="http://schemas.microsoft.com/office/powerpoint/2010/main" val="2401253975"/>
                  </p:ext>
                </p:extLst>
              </p:nvPr>
            </p:nvGraphicFramePr>
            <p:xfrm>
              <a:off x="679000" y="2034810"/>
              <a:ext cx="6804025" cy="3251565"/>
            </p:xfrm>
            <a:graphic>
              <a:graphicData uri="http://schemas.openxmlformats.org/drawingml/2006/table">
                <a:tbl>
                  <a:tblPr firstRow="1" firstCol="1" bandRow="1">
                    <a:tableStyleId>{A91F0D33-8C57-4600-99A7-42BC86742BE1}</a:tableStyleId>
                  </a:tblPr>
                  <a:tblGrid>
                    <a:gridCol w="2828290">
                      <a:extLst>
                        <a:ext uri="{9D8B030D-6E8A-4147-A177-3AD203B41FA5}">
                          <a16:colId xmlns:a16="http://schemas.microsoft.com/office/drawing/2014/main" xmlns:a14="http://schemas.microsoft.com/office/drawing/2010/main" xmlns="" val="247981053"/>
                        </a:ext>
                      </a:extLst>
                    </a:gridCol>
                    <a:gridCol w="3975735">
                      <a:extLst>
                        <a:ext uri="{9D8B030D-6E8A-4147-A177-3AD203B41FA5}">
                          <a16:colId xmlns:a16="http://schemas.microsoft.com/office/drawing/2014/main" xmlns:a14="http://schemas.microsoft.com/office/drawing/2010/main" xmlns="" val="2617753030"/>
                        </a:ext>
                      </a:extLst>
                    </a:gridCol>
                  </a:tblGrid>
                  <a:tr h="428364">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A</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B</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xmlns:a14="http://schemas.microsoft.com/office/drawing/2010/main" xmlns="" val="2098834121"/>
                      </a:ext>
                    </a:extLst>
                  </a:tr>
                  <a:tr h="2823201">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71057" t="-15767" b="-216"/>
                          </a:stretch>
                        </a:blipFill>
                      </a:tcPr>
                    </a:tc>
                    <a:extLst>
                      <a:ext uri="{0D108BD9-81ED-4DB2-BD59-A6C34878D82A}">
                        <a16:rowId xmlns:a16="http://schemas.microsoft.com/office/drawing/2014/main" xmlns:a14="http://schemas.microsoft.com/office/drawing/2010/main" xmlns="" val="647879022"/>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xmlns="" id="{C71C4C2C-D3D6-E343-B3BE-AB556ED1A4BE}"/>
                  </a:ext>
                </a:extLst>
              </p:cNvPr>
              <p:cNvGraphicFramePr>
                <a:graphicFrameLocks noGrp="1"/>
              </p:cNvGraphicFramePr>
              <p:nvPr>
                <p:extLst>
                  <p:ext uri="{D42A27DB-BD31-4B8C-83A1-F6EECF244321}">
                    <p14:modId xmlns:p14="http://schemas.microsoft.com/office/powerpoint/2010/main" val="2072035665"/>
                  </p:ext>
                </p:extLst>
              </p:nvPr>
            </p:nvGraphicFramePr>
            <p:xfrm>
              <a:off x="1277187" y="2781719"/>
              <a:ext cx="1626235" cy="2235835"/>
            </p:xfrm>
            <a:graphic>
              <a:graphicData uri="http://schemas.openxmlformats.org/drawingml/2006/table">
                <a:tbl>
                  <a:tblPr firstRow="1" firstCol="1" bandRow="1">
                    <a:tableStyleId>{A91F0D33-8C57-4600-99A7-42BC86742BE1}</a:tableStyleId>
                  </a:tblPr>
                  <a:tblGrid>
                    <a:gridCol w="812800">
                      <a:extLst>
                        <a:ext uri="{9D8B030D-6E8A-4147-A177-3AD203B41FA5}">
                          <a16:colId xmlns:a16="http://schemas.microsoft.com/office/drawing/2014/main" xmlns="" val="2406224343"/>
                        </a:ext>
                      </a:extLst>
                    </a:gridCol>
                    <a:gridCol w="813435">
                      <a:extLst>
                        <a:ext uri="{9D8B030D-6E8A-4147-A177-3AD203B41FA5}">
                          <a16:colId xmlns:a16="http://schemas.microsoft.com/office/drawing/2014/main" xmlns="" val="3905313743"/>
                        </a:ext>
                      </a:extLst>
                    </a:gridCol>
                  </a:tblGrid>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𝒙</m:t>
                                </m:r>
                              </m:oMath>
                            </m:oMathPara>
                          </a14:m>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𝒚</m:t>
                                </m:r>
                              </m:oMath>
                            </m:oMathPara>
                          </a14:m>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xmlns="" val="2170935533"/>
                      </a:ext>
                    </a:extLst>
                  </a:tr>
                  <a:tr h="3657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84761712"/>
                      </a:ext>
                    </a:extLst>
                  </a:tr>
                  <a:tr h="46799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−12</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x-none" sz="2000" i="1" smtClean="0">
                                      <a:effectLst/>
                                      <a:latin typeface="Cambria Math"/>
                                    </a:rPr>
                                  </m:ctrlPr>
                                </m:fPr>
                                <m:num>
                                  <m:r>
                                    <a:rPr lang="en-US" sz="2000">
                                      <a:effectLst/>
                                      <a:latin typeface="Cambria Math" panose="02040503050406030204" pitchFamily="18" charset="0"/>
                                    </a:rPr>
                                    <m:t>4</m:t>
                                  </m:r>
                                </m:num>
                                <m:den>
                                  <m:r>
                                    <a:rPr lang="en-US" sz="2000">
                                      <a:effectLst/>
                                      <a:latin typeface="Cambria Math" panose="02040503050406030204" pitchFamily="18" charset="0"/>
                                    </a:rPr>
                                    <m:t>3</m:t>
                                  </m:r>
                                </m:den>
                              </m:f>
                            </m:oMath>
                          </a14:m>
                          <a:r>
                            <a:rPr lang="en-PH" sz="2000" dirty="0" smtClean="0">
                              <a:effectLst/>
                              <a:latin typeface="Cambria" panose="02040503050406030204" pitchFamily="18"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64300822"/>
                      </a:ext>
                    </a:extLst>
                  </a:tr>
                  <a:tr h="3657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8016160"/>
                      </a:ext>
                    </a:extLst>
                  </a:tr>
                  <a:tr h="3657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2.25</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08713203"/>
                      </a:ext>
                    </a:extLst>
                  </a:tr>
                  <a:tr h="3657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−12</m:t>
                                </m:r>
                              </m:oMath>
                            </m:oMathPara>
                          </a14:m>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51711041"/>
                      </a:ext>
                    </a:extLst>
                  </a:tr>
                </a:tbl>
              </a:graphicData>
            </a:graphic>
          </p:graphicFrame>
        </mc:Choice>
        <mc:Fallback>
          <p:graphicFrame>
            <p:nvGraphicFramePr>
              <p:cNvPr id="5" name="Table 4">
                <a:extLst>
                  <a:ext uri="{FF2B5EF4-FFF2-40B4-BE49-F238E27FC236}">
                    <a16:creationId xmlns:a16="http://schemas.microsoft.com/office/drawing/2014/main" xmlns:a14="http://schemas.microsoft.com/office/drawing/2010/main" xmlns="" id="{C71C4C2C-D3D6-E343-B3BE-AB556ED1A4BE}"/>
                  </a:ext>
                </a:extLst>
              </p:cNvPr>
              <p:cNvGraphicFramePr>
                <a:graphicFrameLocks noGrp="1"/>
              </p:cNvGraphicFramePr>
              <p:nvPr>
                <p:extLst>
                  <p:ext uri="{D42A27DB-BD31-4B8C-83A1-F6EECF244321}">
                    <p14:modId xmlns:p14="http://schemas.microsoft.com/office/powerpoint/2010/main" val="2072035665"/>
                  </p:ext>
                </p:extLst>
              </p:nvPr>
            </p:nvGraphicFramePr>
            <p:xfrm>
              <a:off x="1277187" y="2781719"/>
              <a:ext cx="1626235" cy="2235835"/>
            </p:xfrm>
            <a:graphic>
              <a:graphicData uri="http://schemas.openxmlformats.org/drawingml/2006/table">
                <a:tbl>
                  <a:tblPr firstRow="1" firstCol="1" bandRow="1">
                    <a:tableStyleId>{A91F0D33-8C57-4600-99A7-42BC86742BE1}</a:tableStyleId>
                  </a:tblPr>
                  <a:tblGrid>
                    <a:gridCol w="812800">
                      <a:extLst>
                        <a:ext uri="{9D8B030D-6E8A-4147-A177-3AD203B41FA5}">
                          <a16:colId xmlns:a16="http://schemas.microsoft.com/office/drawing/2014/main" xmlns:a14="http://schemas.microsoft.com/office/drawing/2010/main" xmlns="" val="2406224343"/>
                        </a:ext>
                      </a:extLst>
                    </a:gridCol>
                    <a:gridCol w="813435">
                      <a:extLst>
                        <a:ext uri="{9D8B030D-6E8A-4147-A177-3AD203B41FA5}">
                          <a16:colId xmlns:a16="http://schemas.microsoft.com/office/drawing/2014/main" xmlns:a14="http://schemas.microsoft.com/office/drawing/2010/main" xmlns="" val="3905313743"/>
                        </a:ext>
                      </a:extLst>
                    </a:gridCol>
                  </a:tblGrid>
                  <a:tr h="3048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52" r="-100752" b="-636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752" r="-752" b="-636000"/>
                          </a:stretch>
                        </a:blipFill>
                      </a:tcPr>
                    </a:tc>
                    <a:extLst>
                      <a:ext uri="{0D108BD9-81ED-4DB2-BD59-A6C34878D82A}">
                        <a16:rowId xmlns:a16="http://schemas.microsoft.com/office/drawing/2014/main" xmlns:a14="http://schemas.microsoft.com/office/drawing/2010/main" xmlns="" val="2170935533"/>
                      </a:ext>
                    </a:extLst>
                  </a:tr>
                  <a:tr h="36576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52" t="-83333" r="-100752" b="-43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752" t="-83333" r="-752" b="-430000"/>
                          </a:stretch>
                        </a:blipFill>
                      </a:tcPr>
                    </a:tc>
                    <a:extLst>
                      <a:ext uri="{0D108BD9-81ED-4DB2-BD59-A6C34878D82A}">
                        <a16:rowId xmlns:a16="http://schemas.microsoft.com/office/drawing/2014/main" xmlns:a14="http://schemas.microsoft.com/office/drawing/2010/main" xmlns="" val="1484761712"/>
                      </a:ext>
                    </a:extLst>
                  </a:tr>
                  <a:tr h="46799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52" t="-142857" r="-100752" b="-23506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752" t="-142857" r="-752" b="-235065"/>
                          </a:stretch>
                        </a:blipFill>
                      </a:tcPr>
                    </a:tc>
                    <a:extLst>
                      <a:ext uri="{0D108BD9-81ED-4DB2-BD59-A6C34878D82A}">
                        <a16:rowId xmlns:a16="http://schemas.microsoft.com/office/drawing/2014/main" xmlns:a14="http://schemas.microsoft.com/office/drawing/2010/main" xmlns="" val="3364300822"/>
                      </a:ext>
                    </a:extLst>
                  </a:tr>
                  <a:tr h="36576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52" t="-311667" r="-100752" b="-20166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752" t="-311667" r="-752" b="-201667"/>
                          </a:stretch>
                        </a:blipFill>
                      </a:tcPr>
                    </a:tc>
                    <a:extLst>
                      <a:ext uri="{0D108BD9-81ED-4DB2-BD59-A6C34878D82A}">
                        <a16:rowId xmlns:a16="http://schemas.microsoft.com/office/drawing/2014/main" xmlns:a14="http://schemas.microsoft.com/office/drawing/2010/main" xmlns="" val="378016160"/>
                      </a:ext>
                    </a:extLst>
                  </a:tr>
                  <a:tr h="36576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52" t="-411667" r="-100752" b="-10166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752" t="-411667" r="-752" b="-101667"/>
                          </a:stretch>
                        </a:blipFill>
                      </a:tcPr>
                    </a:tc>
                    <a:extLst>
                      <a:ext uri="{0D108BD9-81ED-4DB2-BD59-A6C34878D82A}">
                        <a16:rowId xmlns:a16="http://schemas.microsoft.com/office/drawing/2014/main" xmlns:a14="http://schemas.microsoft.com/office/drawing/2010/main" xmlns="" val="3208713203"/>
                      </a:ext>
                    </a:extLst>
                  </a:tr>
                  <a:tr h="36576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52" t="-511667" r="-100752" b="-166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752" t="-511667" r="-752" b="-1667"/>
                          </a:stretch>
                        </a:blipFill>
                      </a:tcPr>
                    </a:tc>
                    <a:extLst>
                      <a:ext uri="{0D108BD9-81ED-4DB2-BD59-A6C34878D82A}">
                        <a16:rowId xmlns:a16="http://schemas.microsoft.com/office/drawing/2014/main" xmlns:a14="http://schemas.microsoft.com/office/drawing/2010/main" xmlns="" val="1251711041"/>
                      </a:ext>
                    </a:extLst>
                  </a:tr>
                </a:tbl>
              </a:graphicData>
            </a:graphic>
          </p:graphicFrame>
        </mc:Fallback>
      </mc:AlternateContent>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205</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50" y="62866"/>
            <a:ext cx="1095738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4.8.3 Guided Instruction: </a:t>
            </a:r>
            <a:r>
              <a:rPr lang="en-US" sz="3200" b="1" dirty="0" smtClean="0">
                <a:solidFill>
                  <a:srgbClr val="54B5D1"/>
                </a:solidFill>
                <a:latin typeface="Verdana"/>
                <a:ea typeface="Verdana"/>
                <a:cs typeface="Verdana"/>
                <a:sym typeface="Verdana"/>
              </a:rPr>
              <a:t/>
            </a:r>
            <a:br>
              <a:rPr lang="en-US" sz="3200" b="1" dirty="0" smtClean="0">
                <a:solidFill>
                  <a:srgbClr val="54B5D1"/>
                </a:solidFill>
                <a:latin typeface="Verdana"/>
                <a:ea typeface="Verdana"/>
                <a:cs typeface="Verdana"/>
                <a:sym typeface="Verdana"/>
              </a:rPr>
            </a:br>
            <a:r>
              <a:rPr lang="en-US" sz="3200" b="1" dirty="0" smtClean="0">
                <a:solidFill>
                  <a:srgbClr val="54B5D1"/>
                </a:solidFill>
                <a:latin typeface="Verdana"/>
                <a:ea typeface="Verdana"/>
                <a:cs typeface="Verdana"/>
                <a:sym typeface="Verdana"/>
              </a:rPr>
              <a:t>Comparing </a:t>
            </a:r>
            <a:r>
              <a:rPr lang="en-US" sz="3200" b="1" dirty="0">
                <a:solidFill>
                  <a:srgbClr val="54B5D1"/>
                </a:solidFill>
                <a:latin typeface="Verdana"/>
                <a:ea typeface="Verdana"/>
                <a:cs typeface="Verdana"/>
                <a:sym typeface="Verdana"/>
              </a:rPr>
              <a:t>End Behavior</a:t>
            </a:r>
            <a:endParaRPr lang="en-US" sz="3200" b="1" dirty="0">
              <a:solidFill>
                <a:srgbClr val="54B5D1"/>
              </a:solidFill>
              <a:latin typeface="Verdana"/>
              <a:ea typeface="Verdana"/>
              <a:cs typeface="Verdana"/>
              <a:sym typeface="Verdana"/>
            </a:endParaRPr>
          </a:p>
        </p:txBody>
      </p:sp>
      <p:pic>
        <p:nvPicPr>
          <p:cNvPr id="14"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6">
            <a:alphaModFix/>
          </a:blip>
          <a:srcRect/>
          <a:stretch/>
        </p:blipFill>
        <p:spPr>
          <a:xfrm>
            <a:off x="305350" y="178560"/>
            <a:ext cx="747300" cy="747300"/>
          </a:xfrm>
          <a:prstGeom prst="rect">
            <a:avLst/>
          </a:prstGeom>
          <a:noFill/>
          <a:ln>
            <a:noFill/>
          </a:ln>
          <a:effectLst>
            <a:outerShdw blurRad="50800" dist="38100" dir="2700000" algn="tl" rotWithShape="0">
              <a:prstClr val="black">
                <a:alpha val="40000"/>
              </a:prstClr>
            </a:outerShdw>
          </a:effectLst>
        </p:spPr>
      </p:pic>
      <p:sp>
        <p:nvSpPr>
          <p:cNvPr id="15" name="TextBox 14">
            <a:extLst>
              <a:ext uri="{FF2B5EF4-FFF2-40B4-BE49-F238E27FC236}">
                <a16:creationId xmlns="" xmlns:a16="http://schemas.microsoft.com/office/drawing/2014/main" xmlns:a14="http://schemas.microsoft.com/office/drawing/2010/main" xmlns:mc="http://schemas.openxmlformats.org/markup-compatibility/2006" id="{C01B13E8-EC8D-E443-A329-C5E3593DD13A}"/>
              </a:ext>
            </a:extLst>
          </p:cNvPr>
          <p:cNvSpPr txBox="1"/>
          <p:nvPr/>
        </p:nvSpPr>
        <p:spPr>
          <a:xfrm>
            <a:off x="545130" y="1386025"/>
            <a:ext cx="10985454" cy="400110"/>
          </a:xfrm>
          <a:prstGeom prst="rect">
            <a:avLst/>
          </a:prstGeom>
          <a:noFill/>
        </p:spPr>
        <p:txBody>
          <a:bodyPr wrap="square" rtlCol="0">
            <a:spAutoFit/>
          </a:bodyPr>
          <a:lstStyle/>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Two different linear functions are shown.</a:t>
            </a: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2457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205</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Rectangle 7">
            <a:extLst>
              <a:ext uri="{FF2B5EF4-FFF2-40B4-BE49-F238E27FC236}">
                <a16:creationId xmlns:a16="http://schemas.microsoft.com/office/drawing/2014/main" xmlns="" id="{951235A6-B82D-1D4C-95B0-169CA5712323}"/>
              </a:ext>
            </a:extLst>
          </p:cNvPr>
          <p:cNvSpPr/>
          <p:nvPr/>
        </p:nvSpPr>
        <p:spPr>
          <a:xfrm>
            <a:off x="676221" y="467176"/>
            <a:ext cx="10862636" cy="3046988"/>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Which linear relationship has the smaller 𝑦‑intercept?</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Compare the domains of the two linear relationships.</a:t>
            </a: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3813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205</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Rectangle 7">
            <a:extLst>
              <a:ext uri="{FF2B5EF4-FFF2-40B4-BE49-F238E27FC236}">
                <a16:creationId xmlns:a16="http://schemas.microsoft.com/office/drawing/2014/main" xmlns="" id="{951235A6-B82D-1D4C-95B0-169CA5712323}"/>
              </a:ext>
            </a:extLst>
          </p:cNvPr>
          <p:cNvSpPr/>
          <p:nvPr/>
        </p:nvSpPr>
        <p:spPr>
          <a:xfrm>
            <a:off x="676221" y="467176"/>
            <a:ext cx="10862636" cy="4154984"/>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Determine which linear relationship has the larger slope.</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Determine if line A is increasing or decreasing as 𝑥 increases. Show your work or explain your thinking.</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Determine if line B is increasing or decreasing as 𝑥 increases. Show your work or explain your thinking.</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051942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Picture 9">
            <a:extLst>
              <a:ext uri="{FF2B5EF4-FFF2-40B4-BE49-F238E27FC236}">
                <a16:creationId xmlns:a16="http://schemas.microsoft.com/office/drawing/2014/main" xmlns="" id="{4B7AB524-460F-7B44-864D-A723177F13C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510560" y="1139994"/>
            <a:ext cx="5193957" cy="5193957"/>
          </a:xfrm>
          <a:prstGeom prst="rect">
            <a:avLst/>
          </a:prstGeom>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205</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Rectangle 8">
            <a:extLst>
              <a:ext uri="{FF2B5EF4-FFF2-40B4-BE49-F238E27FC236}">
                <a16:creationId xmlns:a16="http://schemas.microsoft.com/office/drawing/2014/main" xmlns="" id="{951235A6-B82D-1D4C-95B0-169CA5712323}"/>
              </a:ext>
            </a:extLst>
          </p:cNvPr>
          <p:cNvSpPr/>
          <p:nvPr/>
        </p:nvSpPr>
        <p:spPr>
          <a:xfrm>
            <a:off x="676221" y="467176"/>
            <a:ext cx="10862636" cy="400110"/>
          </a:xfrm>
          <a:prstGeom prst="rect">
            <a:avLst/>
          </a:prstGeom>
        </p:spPr>
        <p:txBody>
          <a:bodyPr wrap="square">
            <a:spAutoFit/>
          </a:bodyPr>
          <a:lstStyle/>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Sketch and label the graph of each linear relationship on the coordinate grid.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084506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2" name="Rectangle 21">
            <a:extLst>
              <a:ext uri="{FF2B5EF4-FFF2-40B4-BE49-F238E27FC236}">
                <a16:creationId xmlns:a16="http://schemas.microsoft.com/office/drawing/2014/main" xmlns="" id="{951235A6-B82D-1D4C-95B0-169CA5712323}"/>
              </a:ext>
            </a:extLst>
          </p:cNvPr>
          <p:cNvSpPr/>
          <p:nvPr/>
        </p:nvSpPr>
        <p:spPr>
          <a:xfrm>
            <a:off x="676221" y="467176"/>
            <a:ext cx="10854363" cy="5940088"/>
          </a:xfrm>
          <a:prstGeom prst="rect">
            <a:avLst/>
          </a:prstGeom>
        </p:spPr>
        <p:txBody>
          <a:bodyPr wrap="square">
            <a:spAutoFit/>
          </a:bodyPr>
          <a:lstStyle/>
          <a:p>
            <a:pPr marL="457200" indent="-457200">
              <a:buFont typeface="+mj-lt"/>
              <a:buAutoNum type="arabicPeriod" startAt="7"/>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r>
              <a:rPr lang="en-US" sz="2000" dirty="0" smtClean="0">
                <a:latin typeface="Verdana" panose="020B0604030504040204" pitchFamily="34" charset="0"/>
                <a:ea typeface="Verdana" panose="020B0604030504040204" pitchFamily="34" charset="0"/>
                <a:cs typeface="Verdana" panose="020B0604030504040204" pitchFamily="34" charset="0"/>
              </a:rPr>
              <a:t>Use </a:t>
            </a:r>
            <a:r>
              <a:rPr lang="en-US" sz="2000" dirty="0">
                <a:latin typeface="Verdana" panose="020B0604030504040204" pitchFamily="34" charset="0"/>
                <a:ea typeface="Verdana" panose="020B0604030504040204" pitchFamily="34" charset="0"/>
                <a:cs typeface="Verdana" panose="020B0604030504040204" pitchFamily="34" charset="0"/>
              </a:rPr>
              <a:t>the definition of end behavior to complete the sentences.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smtClean="0">
                <a:latin typeface="Verdana" panose="020B0604030504040204" pitchFamily="34" charset="0"/>
                <a:ea typeface="Verdana" panose="020B0604030504040204" pitchFamily="34" charset="0"/>
                <a:cs typeface="Verdana" panose="020B0604030504040204" pitchFamily="34" charset="0"/>
              </a:rPr>
              <a:t>For </a:t>
            </a:r>
            <a:r>
              <a:rPr lang="en-US" sz="2000" dirty="0">
                <a:latin typeface="Verdana" panose="020B0604030504040204" pitchFamily="34" charset="0"/>
                <a:ea typeface="Verdana" panose="020B0604030504040204" pitchFamily="34" charset="0"/>
                <a:cs typeface="Verdana" panose="020B0604030504040204" pitchFamily="34" charset="0"/>
              </a:rPr>
              <a:t>line A, as the 𝑥-values get smaller, the </a:t>
            </a:r>
            <a:r>
              <a:rPr lang="en-US" sz="2000" dirty="0" smtClean="0">
                <a:latin typeface="Verdana" panose="020B0604030504040204" pitchFamily="34" charset="0"/>
                <a:ea typeface="Verdana" panose="020B0604030504040204" pitchFamily="34" charset="0"/>
                <a:cs typeface="Verdana" panose="020B0604030504040204" pitchFamily="34" charset="0"/>
              </a:rPr>
              <a:t>appearance </a:t>
            </a:r>
            <a:r>
              <a:rPr lang="en-US" sz="2000" dirty="0">
                <a:latin typeface="Verdana" panose="020B0604030504040204" pitchFamily="34" charset="0"/>
                <a:ea typeface="Verdana" panose="020B0604030504040204" pitchFamily="34" charset="0"/>
                <a:cs typeface="Verdana" panose="020B0604030504040204" pitchFamily="34" charset="0"/>
              </a:rPr>
              <a:t>of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the </a:t>
            </a:r>
            <a:r>
              <a:rPr lang="en-US" sz="2000" dirty="0">
                <a:latin typeface="Verdana" panose="020B0604030504040204" pitchFamily="34" charset="0"/>
                <a:ea typeface="Verdana" panose="020B0604030504040204" pitchFamily="34" charset="0"/>
                <a:cs typeface="Verdana" panose="020B0604030504040204" pitchFamily="34" charset="0"/>
              </a:rPr>
              <a:t>graph of A approaches</a:t>
            </a:r>
          </a:p>
          <a:p>
            <a:pPr marL="457200"/>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smtClean="0">
                <a:latin typeface="Verdana" panose="020B0604030504040204" pitchFamily="34" charset="0"/>
                <a:ea typeface="Verdana" panose="020B0604030504040204" pitchFamily="34" charset="0"/>
                <a:cs typeface="Verdana" panose="020B0604030504040204" pitchFamily="34" charset="0"/>
              </a:rPr>
              <a:t>For </a:t>
            </a:r>
            <a:r>
              <a:rPr lang="en-US" sz="2000" dirty="0">
                <a:latin typeface="Verdana" panose="020B0604030504040204" pitchFamily="34" charset="0"/>
                <a:ea typeface="Verdana" panose="020B0604030504040204" pitchFamily="34" charset="0"/>
                <a:cs typeface="Verdana" panose="020B0604030504040204" pitchFamily="34" charset="0"/>
              </a:rPr>
              <a:t>line A, as the 𝑥-values get larger, the </a:t>
            </a:r>
            <a:r>
              <a:rPr lang="en-US" sz="2000" dirty="0" smtClean="0">
                <a:latin typeface="Verdana" panose="020B0604030504040204" pitchFamily="34" charset="0"/>
                <a:ea typeface="Verdana" panose="020B0604030504040204" pitchFamily="34" charset="0"/>
                <a:cs typeface="Verdana" panose="020B0604030504040204" pitchFamily="34" charset="0"/>
              </a:rPr>
              <a:t>appearance </a:t>
            </a:r>
            <a:r>
              <a:rPr lang="en-US" sz="2000" dirty="0">
                <a:latin typeface="Verdana" panose="020B0604030504040204" pitchFamily="34" charset="0"/>
                <a:ea typeface="Verdana" panose="020B0604030504040204" pitchFamily="34" charset="0"/>
                <a:cs typeface="Verdana" panose="020B0604030504040204" pitchFamily="34" charset="0"/>
              </a:rPr>
              <a:t>of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the </a:t>
            </a:r>
            <a:r>
              <a:rPr lang="en-US" sz="2000" dirty="0">
                <a:latin typeface="Verdana" panose="020B0604030504040204" pitchFamily="34" charset="0"/>
                <a:ea typeface="Verdana" panose="020B0604030504040204" pitchFamily="34" charset="0"/>
                <a:cs typeface="Verdana" panose="020B0604030504040204" pitchFamily="34" charset="0"/>
              </a:rPr>
              <a:t>graph of A </a:t>
            </a:r>
            <a:r>
              <a:rPr lang="en-US" sz="2000" dirty="0" smtClean="0">
                <a:latin typeface="Verdana" panose="020B0604030504040204" pitchFamily="34" charset="0"/>
                <a:ea typeface="Verdana" panose="020B0604030504040204" pitchFamily="34" charset="0"/>
                <a:cs typeface="Verdana" panose="020B0604030504040204" pitchFamily="34" charset="0"/>
              </a:rPr>
              <a:t>approaches</a:t>
            </a:r>
          </a:p>
        </p:txBody>
      </p:sp>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1" name="Picture 20" descr="Shape&#10;&#10;Description automatically generated">
            <a:extLst>
              <a:ext uri="{FF2B5EF4-FFF2-40B4-BE49-F238E27FC236}">
                <a16:creationId xmlns:a16="http://schemas.microsoft.com/office/drawing/2014/main" xmlns="" id="{D7DA7540-2834-664F-9C44-A40455F7969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99293" y="3883737"/>
            <a:ext cx="1235905" cy="930564"/>
          </a:xfrm>
          <a:prstGeom prst="rect">
            <a:avLst/>
          </a:prstGeom>
        </p:spPr>
      </p:pic>
      <p:sp>
        <p:nvSpPr>
          <p:cNvPr id="1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206</a:t>
            </a:r>
            <a:endParaRPr i="1" dirty="0">
              <a:latin typeface="Calibri"/>
              <a:ea typeface="Calibri"/>
              <a:cs typeface="Calibri"/>
              <a:sym typeface="Calibri"/>
            </a:endParaRPr>
          </a:p>
        </p:txBody>
      </p:sp>
      <p:pic>
        <p:nvPicPr>
          <p:cNvPr id="2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3" name="Rounded Rectangle 22">
                <a:extLst>
                  <a:ext uri="{FF2B5EF4-FFF2-40B4-BE49-F238E27FC236}">
                    <a16:creationId xmlns:a16="http://schemas.microsoft.com/office/drawing/2014/main" xmlns="" id="{6607E150-A2F2-8143-9450-D9C71A506E94}"/>
                  </a:ext>
                </a:extLst>
              </p:cNvPr>
              <p:cNvSpPr/>
              <p:nvPr/>
            </p:nvSpPr>
            <p:spPr>
              <a:xfrm>
                <a:off x="2678539" y="467176"/>
                <a:ext cx="6858000" cy="170826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91440" anchor="ctr" anchorCtr="0">
                <a:spAutoFit/>
              </a:bodyPr>
              <a:lstStyle/>
              <a:p>
                <a:pPr marL="11430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end behavior</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of a function refers to the appearance of the function’s graph at the “ends,” in other words, as the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𝑥</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-values get infinitely smaller or as the values get infinitely larger</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23" name="Rounded Rectangle 22">
                <a:extLst>
                  <a:ext uri="{FF2B5EF4-FFF2-40B4-BE49-F238E27FC236}">
                    <a16:creationId xmlns:a16="http://schemas.microsoft.com/office/drawing/2014/main" xmlns="" xmlns:a14="http://schemas.microsoft.com/office/drawing/2010/main" id="{6607E150-A2F2-8143-9450-D9C71A506E94}"/>
                  </a:ext>
                </a:extLst>
              </p:cNvPr>
              <p:cNvSpPr>
                <a:spLocks noRot="1" noChangeAspect="1" noMove="1" noResize="1" noEditPoints="1" noAdjustHandles="1" noChangeArrowheads="1" noChangeShapeType="1" noTextEdit="1"/>
              </p:cNvSpPr>
              <p:nvPr/>
            </p:nvSpPr>
            <p:spPr>
              <a:xfrm>
                <a:off x="2678539" y="467176"/>
                <a:ext cx="6858000" cy="1708269"/>
              </a:xfrm>
              <a:prstGeom prst="roundRect">
                <a:avLst>
                  <a:gd name="adj" fmla="val 16667"/>
                </a:avLst>
              </a:prstGeom>
              <a:blipFill rotWithShape="1">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25" name="Picture 24" descr="Shape&#10;&#10;Description automatically generated">
            <a:extLst>
              <a:ext uri="{FF2B5EF4-FFF2-40B4-BE49-F238E27FC236}">
                <a16:creationId xmlns:a16="http://schemas.microsoft.com/office/drawing/2014/main" xmlns="" id="{D7DA7540-2834-664F-9C44-A40455F7969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99293" y="5706150"/>
            <a:ext cx="1235905" cy="930564"/>
          </a:xfrm>
          <a:prstGeom prst="rect">
            <a:avLst/>
          </a:prstGeom>
        </p:spPr>
      </p:pic>
    </p:spTree>
    <p:extLst>
      <p:ext uri="{BB962C8B-B14F-4D97-AF65-F5344CB8AC3E}">
        <p14:creationId xmlns:p14="http://schemas.microsoft.com/office/powerpoint/2010/main" val="2118988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8" name="Group 7">
            <a:extLst>
              <a:ext uri="{FF2B5EF4-FFF2-40B4-BE49-F238E27FC236}">
                <a16:creationId xmlns:a16="http://schemas.microsoft.com/office/drawing/2014/main" xmlns="" id="{05226BB3-C67E-CB40-AE80-C3177D1E16D8}"/>
              </a:ext>
            </a:extLst>
          </p:cNvPr>
          <p:cNvGrpSpPr/>
          <p:nvPr/>
        </p:nvGrpSpPr>
        <p:grpSpPr>
          <a:xfrm>
            <a:off x="2064328" y="459797"/>
            <a:ext cx="8146473" cy="1504928"/>
            <a:chOff x="2031300" y="3027292"/>
            <a:chExt cx="6629400" cy="1505393"/>
          </a:xfrm>
        </p:grpSpPr>
        <p:grpSp>
          <p:nvGrpSpPr>
            <p:cNvPr id="9" name="Group 8">
              <a:extLst>
                <a:ext uri="{FF2B5EF4-FFF2-40B4-BE49-F238E27FC236}">
                  <a16:creationId xmlns:a16="http://schemas.microsoft.com/office/drawing/2014/main" xmlns="" id="{3DB6740A-4BD6-364E-87F7-6AA3CA2A2B31}"/>
                </a:ext>
              </a:extLst>
            </p:cNvPr>
            <p:cNvGrpSpPr/>
            <p:nvPr/>
          </p:nvGrpSpPr>
          <p:grpSpPr>
            <a:xfrm>
              <a:off x="2031300" y="3027292"/>
              <a:ext cx="6629400" cy="1505393"/>
              <a:chOff x="2031300" y="3373600"/>
              <a:chExt cx="6629400" cy="1106100"/>
            </a:xfrm>
          </p:grpSpPr>
          <p:sp>
            <p:nvSpPr>
              <p:cNvPr id="10" name="Rectangle 9">
                <a:extLst>
                  <a:ext uri="{FF2B5EF4-FFF2-40B4-BE49-F238E27FC236}">
                    <a16:creationId xmlns:a16="http://schemas.microsoft.com/office/drawing/2014/main" xmlns="" id="{120EFB17-E934-7A46-8575-06F3AAEF586C}"/>
                  </a:ext>
                </a:extLst>
              </p:cNvPr>
              <p:cNvSpPr/>
              <p:nvPr/>
            </p:nvSpPr>
            <p:spPr>
              <a:xfrm>
                <a:off x="2031300" y="3373600"/>
                <a:ext cx="6629400" cy="1106100"/>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xmlns="" id="{D89ACAB6-8748-7E43-9DBE-B103CFFE7BA3}"/>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xmlns="" id="{DCDE7355-3906-014D-BAB3-8DA36BB78CB8}"/>
                  </a:ext>
                </a:extLst>
              </p:cNvPr>
              <p:cNvGrpSpPr/>
              <p:nvPr/>
            </p:nvGrpSpPr>
            <p:grpSpPr>
              <a:xfrm>
                <a:off x="2031300" y="3373600"/>
                <a:ext cx="6629400" cy="812800"/>
                <a:chOff x="2031300" y="3373600"/>
                <a:chExt cx="6629400" cy="812800"/>
              </a:xfrm>
            </p:grpSpPr>
            <p:sp>
              <p:nvSpPr>
                <p:cNvPr id="14" name="Rectangle 13">
                  <a:extLst>
                    <a:ext uri="{FF2B5EF4-FFF2-40B4-BE49-F238E27FC236}">
                      <a16:creationId xmlns:a16="http://schemas.microsoft.com/office/drawing/2014/main" xmlns="" id="{6C9CAA14-4EFA-4641-8E3D-DFF24554FC7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xmlns="" id="{694449A7-C6F4-1041-B996-60EC997558F5}"/>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grpSp>
      </p:gr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52764F74-7159-D346-A501-DDF3ADDC0AA3}"/>
                  </a:ext>
                </a:extLst>
              </p:cNvPr>
              <p:cNvGraphicFramePr>
                <a:graphicFrameLocks noGrp="1"/>
              </p:cNvGraphicFramePr>
              <p:nvPr>
                <p:extLst>
                  <p:ext uri="{D42A27DB-BD31-4B8C-83A1-F6EECF244321}">
                    <p14:modId xmlns:p14="http://schemas.microsoft.com/office/powerpoint/2010/main" val="1933228168"/>
                  </p:ext>
                </p:extLst>
              </p:nvPr>
            </p:nvGraphicFramePr>
            <p:xfrm>
              <a:off x="1199515" y="3848540"/>
              <a:ext cx="7253810" cy="422910"/>
            </p:xfrm>
            <a:graphic>
              <a:graphicData uri="http://schemas.openxmlformats.org/drawingml/2006/table">
                <a:tbl>
                  <a:tblPr firstRow="1" firstCol="1" bandRow="1">
                    <a:tableStyleId>{A91F0D33-8C57-4600-99A7-42BC86742BE1}</a:tableStyleId>
                  </a:tblPr>
                  <a:tblGrid>
                    <a:gridCol w="3626905">
                      <a:extLst>
                        <a:ext uri="{9D8B030D-6E8A-4147-A177-3AD203B41FA5}">
                          <a16:colId xmlns:a16="http://schemas.microsoft.com/office/drawing/2014/main" xmlns="" val="124005954"/>
                        </a:ext>
                      </a:extLst>
                    </a:gridCol>
                    <a:gridCol w="3626905">
                      <a:extLst>
                        <a:ext uri="{9D8B030D-6E8A-4147-A177-3AD203B41FA5}">
                          <a16:colId xmlns:a16="http://schemas.microsoft.com/office/drawing/2014/main" xmlns="" val="1878158004"/>
                        </a:ext>
                      </a:extLst>
                    </a:gridCol>
                  </a:tblGrid>
                  <a:tr h="42291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As </a:t>
                          </a:r>
                          <a14:m>
                            <m:oMath xmlns:m="http://schemas.openxmlformats.org/officeDocument/2006/math">
                              <m:r>
                                <a:rPr lang="en-US" sz="2000">
                                  <a:effectLst/>
                                  <a:latin typeface="Cambria Math" panose="02040503050406030204" pitchFamily="18" charset="0"/>
                                </a:rPr>
                                <m:t>𝑥</m:t>
                              </m:r>
                              <m:r>
                                <a:rPr lang="en-US" sz="2000">
                                  <a:effectLst/>
                                  <a:latin typeface="Cambria Math" panose="02040503050406030204" pitchFamily="18" charset="0"/>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rPr>
                                <m:t>𝑦</m:t>
                              </m:r>
                              <m:r>
                                <a:rPr lang="en-US" sz="2000">
                                  <a:effectLst/>
                                  <a:latin typeface="Cambria Math" panose="02040503050406030204" pitchFamily="18" charset="0"/>
                                </a:rPr>
                                <m:t>→_______</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As </a:t>
                          </a:r>
                          <a14:m>
                            <m:oMath xmlns:m="http://schemas.openxmlformats.org/officeDocument/2006/math">
                              <m:r>
                                <a:rPr lang="en-US" sz="2000">
                                  <a:effectLst/>
                                  <a:latin typeface="Cambria Math" panose="02040503050406030204" pitchFamily="18" charset="0"/>
                                </a:rPr>
                                <m:t>𝑥</m:t>
                              </m:r>
                              <m:r>
                                <a:rPr lang="en-US" sz="2000">
                                  <a:effectLst/>
                                  <a:latin typeface="Cambria Math" panose="02040503050406030204" pitchFamily="18" charset="0"/>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rPr>
                                <m:t>𝑦</m:t>
                              </m:r>
                              <m:r>
                                <a:rPr lang="en-US" sz="2000">
                                  <a:effectLst/>
                                  <a:latin typeface="Cambria Math" panose="02040503050406030204" pitchFamily="18" charset="0"/>
                                </a:rPr>
                                <m:t>→_______</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3572344145"/>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52764F74-7159-D346-A501-DDF3ADDC0AA3}"/>
                  </a:ext>
                </a:extLst>
              </p:cNvPr>
              <p:cNvGraphicFramePr>
                <a:graphicFrameLocks noGrp="1"/>
              </p:cNvGraphicFramePr>
              <p:nvPr>
                <p:extLst>
                  <p:ext uri="{D42A27DB-BD31-4B8C-83A1-F6EECF244321}">
                    <p14:modId xmlns:p14="http://schemas.microsoft.com/office/powerpoint/2010/main" val="1933228168"/>
                  </p:ext>
                </p:extLst>
              </p:nvPr>
            </p:nvGraphicFramePr>
            <p:xfrm>
              <a:off x="1199515" y="3848540"/>
              <a:ext cx="7253810" cy="422910"/>
            </p:xfrm>
            <a:graphic>
              <a:graphicData uri="http://schemas.openxmlformats.org/drawingml/2006/table">
                <a:tbl>
                  <a:tblPr firstRow="1" firstCol="1" bandRow="1">
                    <a:tableStyleId>{A91F0D33-8C57-4600-99A7-42BC86742BE1}</a:tableStyleId>
                  </a:tblPr>
                  <a:tblGrid>
                    <a:gridCol w="3626905">
                      <a:extLst>
                        <a:ext uri="{9D8B030D-6E8A-4147-A177-3AD203B41FA5}">
                          <a16:colId xmlns:a16="http://schemas.microsoft.com/office/drawing/2014/main" xmlns:a14="http://schemas.microsoft.com/office/drawing/2010/main" xmlns="" val="124005954"/>
                        </a:ext>
                      </a:extLst>
                    </a:gridCol>
                    <a:gridCol w="3626905">
                      <a:extLst>
                        <a:ext uri="{9D8B030D-6E8A-4147-A177-3AD203B41FA5}">
                          <a16:colId xmlns:a16="http://schemas.microsoft.com/office/drawing/2014/main" xmlns:a14="http://schemas.microsoft.com/office/drawing/2010/main" xmlns="" val="1878158004"/>
                        </a:ext>
                      </a:extLst>
                    </a:gridCol>
                  </a:tblGrid>
                  <a:tr h="422910">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rotWithShape="1">
                          <a:blip r:embed="rId3"/>
                          <a:stretch>
                            <a:fillRect l="-168" t="-17143" r="-100000" b="-8571"/>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rotWithShape="1">
                          <a:blip r:embed="rId3"/>
                          <a:stretch>
                            <a:fillRect l="-100168" t="-17143" b="-8571"/>
                          </a:stretch>
                        </a:blipFill>
                      </a:tcPr>
                    </a:tc>
                    <a:extLst>
                      <a:ext uri="{0D108BD9-81ED-4DB2-BD59-A6C34878D82A}">
                        <a16:rowId xmlns:a16="http://schemas.microsoft.com/office/drawing/2014/main" xmlns:a14="http://schemas.microsoft.com/office/drawing/2010/main" xmlns="" val="3572344145"/>
                      </a:ext>
                    </a:extLst>
                  </a:tr>
                </a:tbl>
              </a:graphicData>
            </a:graphic>
          </p:graphicFrame>
        </mc:Fallback>
      </mc:AlternateContent>
      <p:sp>
        <p:nvSpPr>
          <p:cNvPr id="1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206</a:t>
            </a:r>
            <a:endParaRPr i="1" dirty="0">
              <a:latin typeface="Calibri"/>
              <a:ea typeface="Calibri"/>
              <a:cs typeface="Calibri"/>
              <a:sym typeface="Calibri"/>
            </a:endParaRPr>
          </a:p>
        </p:txBody>
      </p:sp>
      <p:pic>
        <p:nvPicPr>
          <p:cNvPr id="2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1" name="Rectangle 20">
            <a:extLst>
              <a:ext uri="{FF2B5EF4-FFF2-40B4-BE49-F238E27FC236}">
                <a16:creationId xmlns:a16="http://schemas.microsoft.com/office/drawing/2014/main" xmlns="" id="{951235A6-B82D-1D4C-95B0-169CA5712323}"/>
              </a:ext>
            </a:extLst>
          </p:cNvPr>
          <p:cNvSpPr/>
          <p:nvPr/>
        </p:nvSpPr>
        <p:spPr>
          <a:xfrm>
            <a:off x="676221" y="467176"/>
            <a:ext cx="10862636" cy="3170099"/>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Another way to represent end behavior is to use mathematical notation.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Two </a:t>
            </a:r>
            <a:r>
              <a:rPr lang="en-US" sz="2000" dirty="0">
                <a:latin typeface="Verdana" panose="020B0604030504040204" pitchFamily="34" charset="0"/>
                <a:ea typeface="Verdana" panose="020B0604030504040204" pitchFamily="34" charset="0"/>
                <a:cs typeface="Verdana" panose="020B0604030504040204" pitchFamily="34" charset="0"/>
              </a:rPr>
              <a:t>examples are shown in the table</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endParaRPr lang="en-PH" sz="2000" dirty="0" smtClean="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smtClean="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smtClean="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r>
              <a:rPr lang="en-US" sz="2000" dirty="0" smtClean="0">
                <a:latin typeface="Verdana" panose="020B0604030504040204" pitchFamily="34" charset="0"/>
                <a:ea typeface="Verdana" panose="020B0604030504040204" pitchFamily="34" charset="0"/>
                <a:cs typeface="Verdana" panose="020B0604030504040204" pitchFamily="34" charset="0"/>
              </a:rPr>
              <a:t>Complete </a:t>
            </a:r>
            <a:r>
              <a:rPr lang="en-US" sz="2000" dirty="0">
                <a:latin typeface="Verdana" panose="020B0604030504040204" pitchFamily="34" charset="0"/>
                <a:ea typeface="Verdana" panose="020B0604030504040204" pitchFamily="34" charset="0"/>
                <a:cs typeface="Verdana" panose="020B0604030504040204" pitchFamily="34" charset="0"/>
              </a:rPr>
              <a:t>the mathematical notation for end behavior for line B</a:t>
            </a:r>
            <a:r>
              <a:rPr lang="en-US" sz="2000" dirty="0" smtClean="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mc:Choice xmlns:a14="http://schemas.microsoft.com/office/drawing/2010/main" Requires="a14">
          <p:graphicFrame>
            <p:nvGraphicFramePr>
              <p:cNvPr id="22" name="Table 21">
                <a:extLst>
                  <a:ext uri="{FF2B5EF4-FFF2-40B4-BE49-F238E27FC236}">
                    <a16:creationId xmlns:a16="http://schemas.microsoft.com/office/drawing/2014/main" xmlns="" id="{0B95530B-9E8B-E94A-99D1-AB936C411D08}"/>
                  </a:ext>
                </a:extLst>
              </p:cNvPr>
              <p:cNvGraphicFramePr>
                <a:graphicFrameLocks noGrp="1"/>
              </p:cNvGraphicFramePr>
              <p:nvPr>
                <p:extLst>
                  <p:ext uri="{D42A27DB-BD31-4B8C-83A1-F6EECF244321}">
                    <p14:modId xmlns:p14="http://schemas.microsoft.com/office/powerpoint/2010/main" val="3836334202"/>
                  </p:ext>
                </p:extLst>
              </p:nvPr>
            </p:nvGraphicFramePr>
            <p:xfrm>
              <a:off x="808990" y="1393225"/>
              <a:ext cx="6802120" cy="1518920"/>
            </p:xfrm>
            <a:graphic>
              <a:graphicData uri="http://schemas.openxmlformats.org/drawingml/2006/table">
                <a:tbl>
                  <a:tblPr firstRow="1" firstCol="1" bandRow="1">
                    <a:tableStyleId>{A91F0D33-8C57-4600-99A7-42BC86742BE1}</a:tableStyleId>
                  </a:tblPr>
                  <a:tblGrid>
                    <a:gridCol w="3402330">
                      <a:extLst>
                        <a:ext uri="{9D8B030D-6E8A-4147-A177-3AD203B41FA5}">
                          <a16:colId xmlns:a16="http://schemas.microsoft.com/office/drawing/2014/main" xmlns="" val="3761312778"/>
                        </a:ext>
                      </a:extLst>
                    </a:gridCol>
                    <a:gridCol w="3399790">
                      <a:extLst>
                        <a:ext uri="{9D8B030D-6E8A-4147-A177-3AD203B41FA5}">
                          <a16:colId xmlns:a16="http://schemas.microsoft.com/office/drawing/2014/main" xmlns="" val="1197710136"/>
                        </a:ext>
                      </a:extLst>
                    </a:gridCol>
                  </a:tblGrid>
                  <a:tr h="46291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Notation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Meaning</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944923467"/>
                      </a:ext>
                    </a:extLst>
                  </a:tr>
                  <a:tr h="46291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𝑥</m:t>
                                </m:r>
                                <m:r>
                                  <a:rPr lang="en-US" sz="2000">
                                    <a:effectLst/>
                                    <a:latin typeface="Cambria Math" panose="02040503050406030204" pitchFamily="18" charset="0"/>
                                  </a:rPr>
                                  <m:t>→−∞</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t>
                          </a:r>
                          <a14:m>
                            <m:oMath xmlns:m="http://schemas.openxmlformats.org/officeDocument/2006/math">
                              <m:r>
                                <a:rPr lang="en-US" sz="2000">
                                  <a:effectLst/>
                                  <a:latin typeface="Cambria Math" panose="02040503050406030204" pitchFamily="18" charset="0"/>
                                </a:rPr>
                                <m:t>𝑥</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goes to negative infinity”</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88648456"/>
                      </a:ext>
                    </a:extLst>
                  </a:tr>
                  <a:tr h="44640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𝑦</m:t>
                                </m:r>
                                <m:r>
                                  <a:rPr lang="en-US" sz="2000">
                                    <a:effectLst/>
                                    <a:latin typeface="Cambria Math" panose="02040503050406030204" pitchFamily="18" charset="0"/>
                                  </a:rPr>
                                  <m:t>→∞</m:t>
                                </m:r>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t>
                          </a:r>
                          <a14:m>
                            <m:oMath xmlns:m="http://schemas.openxmlformats.org/officeDocument/2006/math">
                              <m:r>
                                <a:rPr lang="en-US" sz="2000">
                                  <a:effectLst/>
                                  <a:latin typeface="Cambria Math" panose="02040503050406030204" pitchFamily="18" charset="0"/>
                                </a:rPr>
                                <m:t>𝑦</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goes to infinity”</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82123718"/>
                      </a:ext>
                    </a:extLst>
                  </a:tr>
                </a:tbl>
              </a:graphicData>
            </a:graphic>
          </p:graphicFrame>
        </mc:Choice>
        <mc:Fallback>
          <p:graphicFrame>
            <p:nvGraphicFramePr>
              <p:cNvPr id="22" name="Table 21">
                <a:extLst>
                  <a:ext uri="{FF2B5EF4-FFF2-40B4-BE49-F238E27FC236}">
                    <a16:creationId xmlns:a16="http://schemas.microsoft.com/office/drawing/2014/main" xmlns:a14="http://schemas.microsoft.com/office/drawing/2010/main" xmlns="" id="{0B95530B-9E8B-E94A-99D1-AB936C411D08}"/>
                  </a:ext>
                </a:extLst>
              </p:cNvPr>
              <p:cNvGraphicFramePr>
                <a:graphicFrameLocks noGrp="1"/>
              </p:cNvGraphicFramePr>
              <p:nvPr>
                <p:extLst>
                  <p:ext uri="{D42A27DB-BD31-4B8C-83A1-F6EECF244321}">
                    <p14:modId xmlns:p14="http://schemas.microsoft.com/office/powerpoint/2010/main" val="3836334202"/>
                  </p:ext>
                </p:extLst>
              </p:nvPr>
            </p:nvGraphicFramePr>
            <p:xfrm>
              <a:off x="808990" y="1393225"/>
              <a:ext cx="6802120" cy="1518920"/>
            </p:xfrm>
            <a:graphic>
              <a:graphicData uri="http://schemas.openxmlformats.org/drawingml/2006/table">
                <a:tbl>
                  <a:tblPr firstRow="1" firstCol="1" bandRow="1">
                    <a:tableStyleId>{A91F0D33-8C57-4600-99A7-42BC86742BE1}</a:tableStyleId>
                  </a:tblPr>
                  <a:tblGrid>
                    <a:gridCol w="3402330">
                      <a:extLst>
                        <a:ext uri="{9D8B030D-6E8A-4147-A177-3AD203B41FA5}">
                          <a16:colId xmlns:a16="http://schemas.microsoft.com/office/drawing/2014/main" xmlns:a14="http://schemas.microsoft.com/office/drawing/2010/main" xmlns="" val="3761312778"/>
                        </a:ext>
                      </a:extLst>
                    </a:gridCol>
                    <a:gridCol w="3399790">
                      <a:extLst>
                        <a:ext uri="{9D8B030D-6E8A-4147-A177-3AD203B41FA5}">
                          <a16:colId xmlns:a16="http://schemas.microsoft.com/office/drawing/2014/main" xmlns:a14="http://schemas.microsoft.com/office/drawing/2010/main" xmlns="" val="1197710136"/>
                        </a:ext>
                      </a:extLst>
                    </a:gridCol>
                  </a:tblGrid>
                  <a:tr h="46291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Notation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Meaning</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944923467"/>
                      </a:ext>
                    </a:extLst>
                  </a:tr>
                  <a:tr h="6096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79" t="-77000" r="-100000" b="-87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179" t="-77000" b="-87000"/>
                          </a:stretch>
                        </a:blipFill>
                      </a:tcPr>
                    </a:tc>
                    <a:extLst>
                      <a:ext uri="{0D108BD9-81ED-4DB2-BD59-A6C34878D82A}">
                        <a16:rowId xmlns:a16="http://schemas.microsoft.com/office/drawing/2014/main" xmlns:a14="http://schemas.microsoft.com/office/drawing/2010/main" xmlns="" val="2688648456"/>
                      </a:ext>
                    </a:extLst>
                  </a:tr>
                  <a:tr h="44640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79" t="-242466" r="-100000" b="-19178"/>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179" t="-242466" b="-19178"/>
                          </a:stretch>
                        </a:blipFill>
                      </a:tcPr>
                    </a:tc>
                    <a:extLst>
                      <a:ext uri="{0D108BD9-81ED-4DB2-BD59-A6C34878D82A}">
                        <a16:rowId xmlns:a16="http://schemas.microsoft.com/office/drawing/2014/main" xmlns:a14="http://schemas.microsoft.com/office/drawing/2010/main" xmlns="" val="2182123718"/>
                      </a:ext>
                    </a:extLst>
                  </a:tr>
                </a:tbl>
              </a:graphicData>
            </a:graphic>
          </p:graphicFrame>
        </mc:Fallback>
      </mc:AlternateContent>
    </p:spTree>
    <p:extLst>
      <p:ext uri="{BB962C8B-B14F-4D97-AF65-F5344CB8AC3E}">
        <p14:creationId xmlns:p14="http://schemas.microsoft.com/office/powerpoint/2010/main" val="1850371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206</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E24E5F"/>
                </a:solidFill>
                <a:latin typeface="Verdana"/>
                <a:ea typeface="Verdana"/>
                <a:cs typeface="Verdana"/>
                <a:sym typeface="Verdana"/>
              </a:rPr>
              <a:t>Your Turn</a:t>
            </a:r>
            <a:endParaRPr lang="en-US" sz="5100" b="1" dirty="0">
              <a:solidFill>
                <a:srgbClr val="E24E5F"/>
              </a:solidFill>
              <a:latin typeface="Verdana"/>
              <a:ea typeface="Verdana"/>
              <a:cs typeface="Verdana"/>
              <a:sym typeface="Verdana"/>
            </a:endParaRPr>
          </a:p>
        </p:txBody>
      </p:sp>
      <p:pic>
        <p:nvPicPr>
          <p:cNvPr id="12"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06858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8" name="TextBox 17">
            <a:extLst>
              <a:ext uri="{FF2B5EF4-FFF2-40B4-BE49-F238E27FC236}">
                <a16:creationId xmlns:mc="http://schemas.openxmlformats.org/markup-compatibility/2006" xmlns:a14="http://schemas.microsoft.com/office/drawing/2010/main" xmlns:a16="http://schemas.microsoft.com/office/drawing/2014/main" xmlns="" id="{759C3E41-93EC-B84D-963F-86A3B15AC1C6}"/>
              </a:ext>
            </a:extLst>
          </p:cNvPr>
          <p:cNvSpPr txBox="1"/>
          <p:nvPr/>
        </p:nvSpPr>
        <p:spPr>
          <a:xfrm>
            <a:off x="730266" y="1408886"/>
            <a:ext cx="10800318"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Two different linear functions are shown.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278" name="Google Shape;278;g104476d1465_1_17"/>
          <p:cNvSpPr/>
          <p:nvPr/>
        </p:nvSpPr>
        <p:spPr>
          <a:xfrm>
            <a:off x="11225"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xmlns="" id="{AB6A0D21-B771-B94B-A0F1-465D127867B7}"/>
                  </a:ext>
                </a:extLst>
              </p:cNvPr>
              <p:cNvGraphicFramePr>
                <a:graphicFrameLocks noGrp="1"/>
              </p:cNvGraphicFramePr>
              <p:nvPr>
                <p:extLst>
                  <p:ext uri="{D42A27DB-BD31-4B8C-83A1-F6EECF244321}">
                    <p14:modId xmlns:p14="http://schemas.microsoft.com/office/powerpoint/2010/main" val="3953032960"/>
                  </p:ext>
                </p:extLst>
              </p:nvPr>
            </p:nvGraphicFramePr>
            <p:xfrm>
              <a:off x="1319080" y="1980849"/>
              <a:ext cx="6524891" cy="4547421"/>
            </p:xfrm>
            <a:graphic>
              <a:graphicData uri="http://schemas.openxmlformats.org/drawingml/2006/table">
                <a:tbl>
                  <a:tblPr firstRow="1" firstCol="1" bandRow="1">
                    <a:tableStyleId>{A91F0D33-8C57-4600-99A7-42BC86742BE1}</a:tableStyleId>
                  </a:tblPr>
                  <a:tblGrid>
                    <a:gridCol w="3938508">
                      <a:extLst>
                        <a:ext uri="{9D8B030D-6E8A-4147-A177-3AD203B41FA5}">
                          <a16:colId xmlns:a16="http://schemas.microsoft.com/office/drawing/2014/main" xmlns="" val="2783687973"/>
                        </a:ext>
                      </a:extLst>
                    </a:gridCol>
                    <a:gridCol w="2586383">
                      <a:extLst>
                        <a:ext uri="{9D8B030D-6E8A-4147-A177-3AD203B41FA5}">
                          <a16:colId xmlns:a16="http://schemas.microsoft.com/office/drawing/2014/main" xmlns="" val="796202480"/>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A</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5279" marR="6527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B</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5279" marR="6527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229025372"/>
                      </a:ext>
                    </a:extLst>
                  </a:tr>
                  <a:tr h="4090221">
                    <a:tc>
                      <a:txBody>
                        <a:bodyPr/>
                        <a:lstStyle/>
                        <a:p>
                          <a:pPr marL="0" marR="0" algn="ctr">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5279" marR="6527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𝑏</m:t>
                                </m:r>
                                <m:d>
                                  <m:dPr>
                                    <m:ctrlPr>
                                      <a:rPr lang="x-none" sz="2000" i="1">
                                        <a:effectLst/>
                                        <a:latin typeface="Cambria Math"/>
                                      </a:rPr>
                                    </m:ctrlPr>
                                  </m:dPr>
                                  <m:e>
                                    <m:r>
                                      <a:rPr lang="en-US" sz="2000">
                                        <a:effectLst/>
                                        <a:latin typeface="Cambria Math" panose="02040503050406030204" pitchFamily="18" charset="0"/>
                                      </a:rPr>
                                      <m:t>𝑥</m:t>
                                    </m:r>
                                  </m:e>
                                </m:d>
                                <m:r>
                                  <a:rPr lang="en-US" sz="2000">
                                    <a:effectLst/>
                                    <a:latin typeface="Cambria Math" panose="02040503050406030204" pitchFamily="18" charset="0"/>
                                  </a:rPr>
                                  <m:t>=−7</m:t>
                                </m:r>
                                <m:r>
                                  <a:rPr lang="en-US" sz="2000">
                                    <a:effectLst/>
                                    <a:latin typeface="Cambria Math" panose="02040503050406030204" pitchFamily="18" charset="0"/>
                                  </a:rPr>
                                  <m:t>𝑥</m:t>
                                </m:r>
                                <m:r>
                                  <a:rPr lang="en-US" sz="2000">
                                    <a:effectLst/>
                                    <a:latin typeface="Cambria Math" panose="02040503050406030204" pitchFamily="18" charset="0"/>
                                  </a:rPr>
                                  <m:t>+3</m:t>
                                </m:r>
                              </m:oMath>
                            </m:oMathPara>
                          </a14:m>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5279" marR="6527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990030114"/>
                      </a:ext>
                    </a:extLst>
                  </a:tr>
                </a:tbl>
              </a:graphicData>
            </a:graphic>
          </p:graphicFrame>
        </mc:Choice>
        <mc:Fallback>
          <p:graphicFrame>
            <p:nvGraphicFramePr>
              <p:cNvPr id="2" name="Table 1">
                <a:extLst>
                  <a:ext uri="{FF2B5EF4-FFF2-40B4-BE49-F238E27FC236}">
                    <a16:creationId xmlns:a16="http://schemas.microsoft.com/office/drawing/2014/main" xmlns:a14="http://schemas.microsoft.com/office/drawing/2010/main" xmlns="" id="{AB6A0D21-B771-B94B-A0F1-465D127867B7}"/>
                  </a:ext>
                </a:extLst>
              </p:cNvPr>
              <p:cNvGraphicFramePr>
                <a:graphicFrameLocks noGrp="1"/>
              </p:cNvGraphicFramePr>
              <p:nvPr>
                <p:extLst>
                  <p:ext uri="{D42A27DB-BD31-4B8C-83A1-F6EECF244321}">
                    <p14:modId xmlns:p14="http://schemas.microsoft.com/office/powerpoint/2010/main" val="3953032960"/>
                  </p:ext>
                </p:extLst>
              </p:nvPr>
            </p:nvGraphicFramePr>
            <p:xfrm>
              <a:off x="1319080" y="1980849"/>
              <a:ext cx="6524891" cy="4547421"/>
            </p:xfrm>
            <a:graphic>
              <a:graphicData uri="http://schemas.openxmlformats.org/drawingml/2006/table">
                <a:tbl>
                  <a:tblPr firstRow="1" firstCol="1" bandRow="1">
                    <a:tableStyleId>{A91F0D33-8C57-4600-99A7-42BC86742BE1}</a:tableStyleId>
                  </a:tblPr>
                  <a:tblGrid>
                    <a:gridCol w="3938508">
                      <a:extLst>
                        <a:ext uri="{9D8B030D-6E8A-4147-A177-3AD203B41FA5}">
                          <a16:colId xmlns:a16="http://schemas.microsoft.com/office/drawing/2014/main" xmlns:a14="http://schemas.microsoft.com/office/drawing/2010/main" xmlns="" val="2783687973"/>
                        </a:ext>
                      </a:extLst>
                    </a:gridCol>
                    <a:gridCol w="2586383">
                      <a:extLst>
                        <a:ext uri="{9D8B030D-6E8A-4147-A177-3AD203B41FA5}">
                          <a16:colId xmlns:a16="http://schemas.microsoft.com/office/drawing/2014/main" xmlns:a14="http://schemas.microsoft.com/office/drawing/2010/main" xmlns="" val="796202480"/>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A</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5279" marR="6527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B</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5279" marR="6527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229025372"/>
                      </a:ext>
                    </a:extLst>
                  </a:tr>
                  <a:tr h="4090221">
                    <a:tc>
                      <a:txBody>
                        <a:bodyPr/>
                        <a:lstStyle/>
                        <a:p>
                          <a:pPr marL="0" marR="0" algn="ctr">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5279" marR="6527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5279" marR="6527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52000" t="-11326"/>
                          </a:stretch>
                        </a:blipFill>
                      </a:tcPr>
                    </a:tc>
                    <a:extLst>
                      <a:ext uri="{0D108BD9-81ED-4DB2-BD59-A6C34878D82A}">
                        <a16:rowId xmlns:a16="http://schemas.microsoft.com/office/drawing/2014/main" xmlns:a14="http://schemas.microsoft.com/office/drawing/2010/main" xmlns="" val="990030114"/>
                      </a:ext>
                    </a:extLst>
                  </a:tr>
                </a:tbl>
              </a:graphicData>
            </a:graphic>
          </p:graphicFrame>
        </mc:Fallback>
      </mc:AlternateContent>
      <p:pic>
        <p:nvPicPr>
          <p:cNvPr id="12" name="Picture 11">
            <a:extLst>
              <a:ext uri="{FF2B5EF4-FFF2-40B4-BE49-F238E27FC236}">
                <a16:creationId xmlns:a16="http://schemas.microsoft.com/office/drawing/2014/main" xmlns="" id="{B7B868D0-2C40-684E-A6DE-1E74D60A994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05064" y="2681570"/>
            <a:ext cx="3583336" cy="3583336"/>
          </a:xfrm>
          <a:prstGeom prst="rect">
            <a:avLst/>
          </a:prstGeom>
        </p:spPr>
      </p:pic>
      <p:sp>
        <p:nvSpPr>
          <p:cNvPr id="13"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206</a:t>
            </a:r>
            <a:endParaRPr i="1" dirty="0">
              <a:latin typeface="Calibri"/>
              <a:ea typeface="Calibri"/>
              <a:cs typeface="Calibri"/>
              <a:sym typeface="Calibri"/>
            </a:endParaRP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6"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4.8.4 Your Turn!</a:t>
            </a:r>
            <a:endParaRPr lang="en-US" sz="4400" b="1" dirty="0">
              <a:solidFill>
                <a:srgbClr val="E24E5F"/>
              </a:solidFill>
              <a:latin typeface="Verdana"/>
              <a:ea typeface="Verdana"/>
              <a:cs typeface="Verdana"/>
              <a:sym typeface="Verdana"/>
            </a:endParaRPr>
          </a:p>
        </p:txBody>
      </p:sp>
      <p:pic>
        <p:nvPicPr>
          <p:cNvPr id="17" name="Google Shape;430;g103996e1364_0_428">
            <a:extLst>
              <a:ext uri="{FF2B5EF4-FFF2-40B4-BE49-F238E27FC236}">
                <a16:creationId xmlns="" xmlns:a16="http://schemas.microsoft.com/office/drawing/2014/main" id="{032D5487-B5A9-DE4B-AE87-33198BE16145}"/>
              </a:ext>
            </a:extLst>
          </p:cNvPr>
          <p:cNvPicPr preferRelativeResize="0"/>
          <p:nvPr/>
        </p:nvPicPr>
        <p:blipFill rotWithShape="1">
          <a:blip r:embed="rId6">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40359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206</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Rectangle 7">
            <a:extLst>
              <a:ext uri="{FF2B5EF4-FFF2-40B4-BE49-F238E27FC236}">
                <a16:creationId xmlns:a16="http://schemas.microsoft.com/office/drawing/2014/main" xmlns="" id="{951235A6-B82D-1D4C-95B0-169CA5712323}"/>
              </a:ext>
            </a:extLst>
          </p:cNvPr>
          <p:cNvSpPr/>
          <p:nvPr/>
        </p:nvSpPr>
        <p:spPr>
          <a:xfrm>
            <a:off x="676221" y="467176"/>
            <a:ext cx="10862636" cy="3416320"/>
          </a:xfrm>
          <a:prstGeom prst="rect">
            <a:avLst/>
          </a:prstGeom>
        </p:spPr>
        <p:txBody>
          <a:bodyPr wrap="square">
            <a:spAutoFit/>
          </a:bodyPr>
          <a:lstStyle/>
          <a:p>
            <a:pPr marL="914400" indent="-457200">
              <a:buFont typeface="Verdana" panose="020B0604030504040204" pitchFamily="34" charset="0"/>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Name the key feature(s) that are the same for both linear functions.</a:t>
            </a:r>
          </a:p>
          <a:p>
            <a:pPr marL="914400" indent="-457200">
              <a:buFont typeface="Verdana" panose="020B0604030504040204" pitchFamily="34" charset="0"/>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Verdana" panose="020B0604030504040204" pitchFamily="34" charset="0"/>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Verdana" panose="020B0604030504040204" pitchFamily="34" charset="0"/>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Verdana" panose="020B0604030504040204" pitchFamily="34" charset="0"/>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Verdana" panose="020B0604030504040204" pitchFamily="34" charset="0"/>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Verdana" panose="020B0604030504040204" pitchFamily="34" charset="0"/>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Verdana" panose="020B0604030504040204" pitchFamily="34" charset="0"/>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Give the key feature(s) that are different for the functions.</a:t>
            </a: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52283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207</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Rectangle 7">
            <a:extLst>
              <a:ext uri="{FF2B5EF4-FFF2-40B4-BE49-F238E27FC236}">
                <a16:creationId xmlns:a16="http://schemas.microsoft.com/office/drawing/2014/main" xmlns="" id="{951235A6-B82D-1D4C-95B0-169CA5712323}"/>
              </a:ext>
            </a:extLst>
          </p:cNvPr>
          <p:cNvSpPr/>
          <p:nvPr/>
        </p:nvSpPr>
        <p:spPr>
          <a:xfrm>
            <a:off x="676221" y="467176"/>
            <a:ext cx="10862636" cy="3416320"/>
          </a:xfrm>
          <a:prstGeom prst="rect">
            <a:avLst/>
          </a:prstGeom>
        </p:spPr>
        <p:txBody>
          <a:bodyPr wrap="square">
            <a:spAutoFit/>
          </a:bodyPr>
          <a:lstStyle/>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Which linear function has the smaller slope?</a:t>
            </a: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Which linear function has the larger 𝑥-intercept?</a:t>
            </a: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14666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11"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079" y="-405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73E9709B-ADB4-F645-84F9-156097F196E6}"/>
                  </a:ext>
                </a:extLst>
              </p:cNvPr>
              <p:cNvGraphicFramePr>
                <a:graphicFrameLocks noGrp="1"/>
              </p:cNvGraphicFramePr>
              <p:nvPr>
                <p:extLst>
                  <p:ext uri="{D42A27DB-BD31-4B8C-83A1-F6EECF244321}">
                    <p14:modId xmlns:p14="http://schemas.microsoft.com/office/powerpoint/2010/main" val="2693464338"/>
                  </p:ext>
                </p:extLst>
              </p:nvPr>
            </p:nvGraphicFramePr>
            <p:xfrm>
              <a:off x="1312817" y="1774702"/>
              <a:ext cx="7676605" cy="4526280"/>
            </p:xfrm>
            <a:graphic>
              <a:graphicData uri="http://schemas.openxmlformats.org/drawingml/2006/table">
                <a:tbl>
                  <a:tblPr firstRow="1" firstCol="1" bandRow="1">
                    <a:tableStyleId>{A91F0D33-8C57-4600-99A7-42BC86742BE1}</a:tableStyleId>
                  </a:tblPr>
                  <a:tblGrid>
                    <a:gridCol w="3923481">
                      <a:extLst>
                        <a:ext uri="{9D8B030D-6E8A-4147-A177-3AD203B41FA5}">
                          <a16:colId xmlns:a16="http://schemas.microsoft.com/office/drawing/2014/main" xmlns="" val="2030529615"/>
                        </a:ext>
                      </a:extLst>
                    </a:gridCol>
                    <a:gridCol w="3753124">
                      <a:extLst>
                        <a:ext uri="{9D8B030D-6E8A-4147-A177-3AD203B41FA5}">
                          <a16:colId xmlns:a16="http://schemas.microsoft.com/office/drawing/2014/main" xmlns="" val="1800973173"/>
                        </a:ext>
                      </a:extLst>
                    </a:gridCol>
                  </a:tblGrid>
                  <a:tr h="3657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Domain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Range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59321582"/>
                      </a:ext>
                    </a:extLst>
                  </a:tr>
                  <a:tr h="457200">
                    <a:tc>
                      <a:txBody>
                        <a:bodyPr/>
                        <a:lstStyle/>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need help.</a:t>
                          </a:r>
                          <a:endParaRPr lang="en-US"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got it.</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could help</a:t>
                          </a:r>
                          <a:r>
                            <a:rPr lang="x-none" sz="1000" dirty="0">
                              <a:effectLst/>
                              <a:latin typeface="Verdana" panose="020B0604030504040204" pitchFamily="34" charset="0"/>
                              <a:ea typeface="Verdana" panose="020B0604030504040204" pitchFamily="34" charset="0"/>
                              <a:cs typeface="Verdana" panose="020B0604030504040204" pitchFamily="34" charset="0"/>
                            </a:rPr>
                            <a:t> </a:t>
                          </a:r>
                          <a:r>
                            <a:rPr lang="en-US" sz="1600" dirty="0">
                              <a:effectLst/>
                              <a:latin typeface="Verdana" panose="020B0604030504040204" pitchFamily="34" charset="0"/>
                              <a:ea typeface="Verdana" panose="020B0604030504040204" pitchFamily="34" charset="0"/>
                              <a:cs typeface="Verdana" panose="020B0604030504040204" pitchFamily="34" charset="0"/>
                            </a:rPr>
                            <a:t>someone.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need help.</a:t>
                          </a:r>
                          <a:endParaRPr lang="en-US"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got it.</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could help someone.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80585003"/>
                      </a:ext>
                    </a:extLst>
                  </a:tr>
                  <a:tr h="3657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Slope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 xmlns:m="http://schemas.openxmlformats.org/officeDocument/2006/math">
                              <m:r>
                                <a:rPr lang="en-US" sz="2000" b="1" i="1">
                                  <a:effectLst/>
                                  <a:latin typeface="Cambria Math" panose="02040503050406030204" pitchFamily="18" charset="0"/>
                                </a:rPr>
                                <m:t>𝒙</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-intercept</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2206747673"/>
                      </a:ext>
                    </a:extLst>
                  </a:tr>
                  <a:tr h="457200">
                    <a:tc>
                      <a:txBody>
                        <a:bodyPr/>
                        <a:lstStyle/>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need help.</a:t>
                          </a:r>
                          <a:endParaRPr lang="en-US"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got it.</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could help</a:t>
                          </a:r>
                          <a:r>
                            <a:rPr lang="x-none" sz="1000" dirty="0">
                              <a:effectLst/>
                              <a:latin typeface="Verdana" panose="020B0604030504040204" pitchFamily="34" charset="0"/>
                              <a:ea typeface="Verdana" panose="020B0604030504040204" pitchFamily="34" charset="0"/>
                              <a:cs typeface="Verdana" panose="020B0604030504040204" pitchFamily="34" charset="0"/>
                            </a:rPr>
                            <a:t> </a:t>
                          </a:r>
                          <a:r>
                            <a:rPr lang="en-US" sz="1600" dirty="0">
                              <a:effectLst/>
                              <a:latin typeface="Verdana" panose="020B0604030504040204" pitchFamily="34" charset="0"/>
                              <a:ea typeface="Verdana" panose="020B0604030504040204" pitchFamily="34" charset="0"/>
                              <a:cs typeface="Verdana" panose="020B0604030504040204" pitchFamily="34" charset="0"/>
                            </a:rPr>
                            <a:t>someone.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need help.</a:t>
                          </a:r>
                          <a:endParaRPr lang="en-US"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got it.</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could help</a:t>
                          </a:r>
                          <a:r>
                            <a:rPr lang="x-none" sz="1000" dirty="0">
                              <a:effectLst/>
                              <a:latin typeface="Verdana" panose="020B0604030504040204" pitchFamily="34" charset="0"/>
                              <a:ea typeface="Verdana" panose="020B0604030504040204" pitchFamily="34" charset="0"/>
                              <a:cs typeface="Verdana" panose="020B0604030504040204" pitchFamily="34" charset="0"/>
                            </a:rPr>
                            <a:t> </a:t>
                          </a:r>
                          <a:r>
                            <a:rPr lang="en-US" sz="1600" dirty="0">
                              <a:effectLst/>
                              <a:latin typeface="Verdana" panose="020B0604030504040204" pitchFamily="34" charset="0"/>
                              <a:ea typeface="Verdana" panose="020B0604030504040204" pitchFamily="34" charset="0"/>
                              <a:cs typeface="Verdana" panose="020B0604030504040204" pitchFamily="34" charset="0"/>
                            </a:rPr>
                            <a:t>someone.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59977345"/>
                      </a:ext>
                    </a:extLst>
                  </a:tr>
                  <a:tr h="3657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End Behavior</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a:spcBef>
                              <a:spcPts val="0"/>
                            </a:spcBef>
                            <a:spcAft>
                              <a:spcPts val="0"/>
                            </a:spcAft>
                          </a:pPr>
                          <a14:m>
                            <m:oMath xmlns:m="http://schemas.openxmlformats.org/officeDocument/2006/math">
                              <m:r>
                                <a:rPr lang="en-US" sz="2000" b="1" i="1">
                                  <a:effectLst/>
                                  <a:latin typeface="Cambria Math" panose="02040503050406030204" pitchFamily="18" charset="0"/>
                                </a:rPr>
                                <m:t>𝒚</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-intercept</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4273767445"/>
                      </a:ext>
                    </a:extLst>
                  </a:tr>
                  <a:tr h="457200">
                    <a:tc>
                      <a:txBody>
                        <a:bodyPr/>
                        <a:lstStyle/>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need help.</a:t>
                          </a:r>
                          <a:endParaRPr lang="en-US"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got it.</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could help</a:t>
                          </a:r>
                          <a:r>
                            <a:rPr lang="x-none" sz="1000" dirty="0">
                              <a:effectLst/>
                              <a:latin typeface="Verdana" panose="020B0604030504040204" pitchFamily="34" charset="0"/>
                              <a:ea typeface="Verdana" panose="020B0604030504040204" pitchFamily="34" charset="0"/>
                              <a:cs typeface="Verdana" panose="020B0604030504040204" pitchFamily="34" charset="0"/>
                            </a:rPr>
                            <a:t> </a:t>
                          </a:r>
                          <a:r>
                            <a:rPr lang="en-US" sz="1600" dirty="0">
                              <a:effectLst/>
                              <a:latin typeface="Verdana" panose="020B0604030504040204" pitchFamily="34" charset="0"/>
                              <a:ea typeface="Verdana" panose="020B0604030504040204" pitchFamily="34" charset="0"/>
                              <a:cs typeface="Verdana" panose="020B0604030504040204" pitchFamily="34" charset="0"/>
                            </a:rPr>
                            <a:t>someone.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need help.</a:t>
                          </a:r>
                          <a:endParaRPr lang="en-US"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got it.</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could help</a:t>
                          </a:r>
                          <a:r>
                            <a:rPr lang="x-none" sz="1000" dirty="0">
                              <a:effectLst/>
                              <a:latin typeface="Verdana" panose="020B0604030504040204" pitchFamily="34" charset="0"/>
                              <a:ea typeface="Verdana" panose="020B0604030504040204" pitchFamily="34" charset="0"/>
                              <a:cs typeface="Verdana" panose="020B0604030504040204" pitchFamily="34" charset="0"/>
                            </a:rPr>
                            <a:t> </a:t>
                          </a:r>
                          <a:r>
                            <a:rPr lang="en-US" sz="1600" dirty="0">
                              <a:effectLst/>
                              <a:latin typeface="Verdana" panose="020B0604030504040204" pitchFamily="34" charset="0"/>
                              <a:ea typeface="Verdana" panose="020B0604030504040204" pitchFamily="34" charset="0"/>
                              <a:cs typeface="Verdana" panose="020B0604030504040204" pitchFamily="34" charset="0"/>
                            </a:rPr>
                            <a:t>someone.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75586306"/>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73E9709B-ADB4-F645-84F9-156097F196E6}"/>
                  </a:ext>
                </a:extLst>
              </p:cNvPr>
              <p:cNvGraphicFramePr>
                <a:graphicFrameLocks noGrp="1"/>
              </p:cNvGraphicFramePr>
              <p:nvPr>
                <p:extLst>
                  <p:ext uri="{D42A27DB-BD31-4B8C-83A1-F6EECF244321}">
                    <p14:modId xmlns:p14="http://schemas.microsoft.com/office/powerpoint/2010/main" val="2693464338"/>
                  </p:ext>
                </p:extLst>
              </p:nvPr>
            </p:nvGraphicFramePr>
            <p:xfrm>
              <a:off x="1312817" y="1774702"/>
              <a:ext cx="7676605" cy="4526280"/>
            </p:xfrm>
            <a:graphic>
              <a:graphicData uri="http://schemas.openxmlformats.org/drawingml/2006/table">
                <a:tbl>
                  <a:tblPr firstRow="1" firstCol="1" bandRow="1">
                    <a:tableStyleId>{A91F0D33-8C57-4600-99A7-42BC86742BE1}</a:tableStyleId>
                  </a:tblPr>
                  <a:tblGrid>
                    <a:gridCol w="3923481">
                      <a:extLst>
                        <a:ext uri="{9D8B030D-6E8A-4147-A177-3AD203B41FA5}">
                          <a16:colId xmlns:a16="http://schemas.microsoft.com/office/drawing/2014/main" xmlns:a14="http://schemas.microsoft.com/office/drawing/2010/main" xmlns="" val="2030529615"/>
                        </a:ext>
                      </a:extLst>
                    </a:gridCol>
                    <a:gridCol w="3753124">
                      <a:extLst>
                        <a:ext uri="{9D8B030D-6E8A-4147-A177-3AD203B41FA5}">
                          <a16:colId xmlns:a16="http://schemas.microsoft.com/office/drawing/2014/main" xmlns:a14="http://schemas.microsoft.com/office/drawing/2010/main" xmlns="" val="1800973173"/>
                        </a:ext>
                      </a:extLst>
                    </a:gridCol>
                  </a:tblGrid>
                  <a:tr h="3657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Domain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Range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59321582"/>
                      </a:ext>
                    </a:extLst>
                  </a:tr>
                  <a:tr h="1143000">
                    <a:tc>
                      <a:txBody>
                        <a:bodyPr/>
                        <a:lstStyle/>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need help.</a:t>
                          </a:r>
                          <a:endParaRPr lang="en-US"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got it.</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could help</a:t>
                          </a:r>
                          <a:r>
                            <a:rPr lang="x-none" sz="1000" dirty="0">
                              <a:effectLst/>
                              <a:latin typeface="Verdana" panose="020B0604030504040204" pitchFamily="34" charset="0"/>
                              <a:ea typeface="Verdana" panose="020B0604030504040204" pitchFamily="34" charset="0"/>
                              <a:cs typeface="Verdana" panose="020B0604030504040204" pitchFamily="34" charset="0"/>
                            </a:rPr>
                            <a:t> </a:t>
                          </a:r>
                          <a:r>
                            <a:rPr lang="en-US" sz="1600" dirty="0">
                              <a:effectLst/>
                              <a:latin typeface="Verdana" panose="020B0604030504040204" pitchFamily="34" charset="0"/>
                              <a:ea typeface="Verdana" panose="020B0604030504040204" pitchFamily="34" charset="0"/>
                              <a:cs typeface="Verdana" panose="020B0604030504040204" pitchFamily="34" charset="0"/>
                            </a:rPr>
                            <a:t>someone.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need help.</a:t>
                          </a:r>
                          <a:endParaRPr lang="en-US"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got it.</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could help someone.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380585003"/>
                      </a:ext>
                    </a:extLst>
                  </a:tr>
                  <a:tr h="3657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Slope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41573" marR="4157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4545" t="-425000" b="-733333"/>
                          </a:stretch>
                        </a:blipFill>
                      </a:tcPr>
                    </a:tc>
                    <a:extLst>
                      <a:ext uri="{0D108BD9-81ED-4DB2-BD59-A6C34878D82A}">
                        <a16:rowId xmlns:a16="http://schemas.microsoft.com/office/drawing/2014/main" xmlns:a14="http://schemas.microsoft.com/office/drawing/2010/main" xmlns="" val="2206747673"/>
                      </a:ext>
                    </a:extLst>
                  </a:tr>
                  <a:tr h="1143000">
                    <a:tc>
                      <a:txBody>
                        <a:bodyPr/>
                        <a:lstStyle/>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need help.</a:t>
                          </a:r>
                          <a:endParaRPr lang="en-US"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got it.</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could help</a:t>
                          </a:r>
                          <a:r>
                            <a:rPr lang="x-none" sz="1000" dirty="0">
                              <a:effectLst/>
                              <a:latin typeface="Verdana" panose="020B0604030504040204" pitchFamily="34" charset="0"/>
                              <a:ea typeface="Verdana" panose="020B0604030504040204" pitchFamily="34" charset="0"/>
                              <a:cs typeface="Verdana" panose="020B0604030504040204" pitchFamily="34" charset="0"/>
                            </a:rPr>
                            <a:t> </a:t>
                          </a:r>
                          <a:r>
                            <a:rPr lang="en-US" sz="1600" dirty="0">
                              <a:effectLst/>
                              <a:latin typeface="Verdana" panose="020B0604030504040204" pitchFamily="34" charset="0"/>
                              <a:ea typeface="Verdana" panose="020B0604030504040204" pitchFamily="34" charset="0"/>
                              <a:cs typeface="Verdana" panose="020B0604030504040204" pitchFamily="34" charset="0"/>
                            </a:rPr>
                            <a:t>someone.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need help.</a:t>
                          </a:r>
                          <a:endParaRPr lang="en-US"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got it.</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could help</a:t>
                          </a:r>
                          <a:r>
                            <a:rPr lang="x-none" sz="1000" dirty="0">
                              <a:effectLst/>
                              <a:latin typeface="Verdana" panose="020B0604030504040204" pitchFamily="34" charset="0"/>
                              <a:ea typeface="Verdana" panose="020B0604030504040204" pitchFamily="34" charset="0"/>
                              <a:cs typeface="Verdana" panose="020B0604030504040204" pitchFamily="34" charset="0"/>
                            </a:rPr>
                            <a:t> </a:t>
                          </a:r>
                          <a:r>
                            <a:rPr lang="en-US" sz="1600" dirty="0">
                              <a:effectLst/>
                              <a:latin typeface="Verdana" panose="020B0604030504040204" pitchFamily="34" charset="0"/>
                              <a:ea typeface="Verdana" panose="020B0604030504040204" pitchFamily="34" charset="0"/>
                              <a:cs typeface="Verdana" panose="020B0604030504040204" pitchFamily="34" charset="0"/>
                            </a:rPr>
                            <a:t>someone.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359977345"/>
                      </a:ext>
                    </a:extLst>
                  </a:tr>
                  <a:tr h="3657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End Behavior</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41573" marR="4157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4545" t="-836667" b="-321667"/>
                          </a:stretch>
                        </a:blipFill>
                      </a:tcPr>
                    </a:tc>
                    <a:extLst>
                      <a:ext uri="{0D108BD9-81ED-4DB2-BD59-A6C34878D82A}">
                        <a16:rowId xmlns:a16="http://schemas.microsoft.com/office/drawing/2014/main" xmlns:a14="http://schemas.microsoft.com/office/drawing/2010/main" xmlns="" val="4273767445"/>
                      </a:ext>
                    </a:extLst>
                  </a:tr>
                  <a:tr h="1143000">
                    <a:tc>
                      <a:txBody>
                        <a:bodyPr/>
                        <a:lstStyle/>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need help.</a:t>
                          </a:r>
                          <a:endParaRPr lang="en-US"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got it.</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could help</a:t>
                          </a:r>
                          <a:r>
                            <a:rPr lang="x-none" sz="1000" dirty="0">
                              <a:effectLst/>
                              <a:latin typeface="Verdana" panose="020B0604030504040204" pitchFamily="34" charset="0"/>
                              <a:ea typeface="Verdana" panose="020B0604030504040204" pitchFamily="34" charset="0"/>
                              <a:cs typeface="Verdana" panose="020B0604030504040204" pitchFamily="34" charset="0"/>
                            </a:rPr>
                            <a:t> </a:t>
                          </a:r>
                          <a:r>
                            <a:rPr lang="en-US" sz="1600" dirty="0">
                              <a:effectLst/>
                              <a:latin typeface="Verdana" panose="020B0604030504040204" pitchFamily="34" charset="0"/>
                              <a:ea typeface="Verdana" panose="020B0604030504040204" pitchFamily="34" charset="0"/>
                              <a:cs typeface="Verdana" panose="020B0604030504040204" pitchFamily="34" charset="0"/>
                            </a:rPr>
                            <a:t>someone.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need help.</a:t>
                          </a:r>
                          <a:endParaRPr lang="en-US"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got it.</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nSpc>
                              <a:spcPct val="150000"/>
                            </a:lnSpc>
                            <a:spcBef>
                              <a:spcPts val="0"/>
                            </a:spcBef>
                            <a:spcAft>
                              <a:spcPts val="0"/>
                            </a:spcAft>
                            <a:buFont typeface="Wingdings" pitchFamily="2" charset="2"/>
                            <a:buChar char=""/>
                          </a:pPr>
                          <a:r>
                            <a:rPr lang="en-US" sz="1600" dirty="0">
                              <a:effectLst/>
                              <a:latin typeface="Verdana" panose="020B0604030504040204" pitchFamily="34" charset="0"/>
                              <a:ea typeface="Verdana" panose="020B0604030504040204" pitchFamily="34" charset="0"/>
                              <a:cs typeface="Verdana" panose="020B0604030504040204" pitchFamily="34" charset="0"/>
                            </a:rPr>
                            <a:t>     I could help</a:t>
                          </a:r>
                          <a:r>
                            <a:rPr lang="x-none" sz="1000" dirty="0">
                              <a:effectLst/>
                              <a:latin typeface="Verdana" panose="020B0604030504040204" pitchFamily="34" charset="0"/>
                              <a:ea typeface="Verdana" panose="020B0604030504040204" pitchFamily="34" charset="0"/>
                              <a:cs typeface="Verdana" panose="020B0604030504040204" pitchFamily="34" charset="0"/>
                            </a:rPr>
                            <a:t> </a:t>
                          </a:r>
                          <a:r>
                            <a:rPr lang="en-US" sz="1600" dirty="0">
                              <a:effectLst/>
                              <a:latin typeface="Verdana" panose="020B0604030504040204" pitchFamily="34" charset="0"/>
                              <a:ea typeface="Verdana" panose="020B0604030504040204" pitchFamily="34" charset="0"/>
                              <a:cs typeface="Verdana" panose="020B0604030504040204" pitchFamily="34" charset="0"/>
                            </a:rPr>
                            <a:t>someone.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1573" marR="41573" marT="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775586306"/>
                      </a:ext>
                    </a:extLst>
                  </a:tr>
                </a:tbl>
              </a:graphicData>
            </a:graphic>
          </p:graphicFrame>
        </mc:Fallback>
      </mc:AlternateContent>
      <p:pic>
        <p:nvPicPr>
          <p:cNvPr id="25" name="Graphic 45" descr="Marketing">
            <a:extLst>
              <a:ext uri="{FF2B5EF4-FFF2-40B4-BE49-F238E27FC236}">
                <a16:creationId xmlns:a16="http://schemas.microsoft.com/office/drawing/2014/main" xmlns="" id="{0779AEAE-4DDF-1B4B-9AF1-265CF3586E0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1721227" y="2202964"/>
            <a:ext cx="318525" cy="318525"/>
          </a:xfrm>
          <a:prstGeom prst="rect">
            <a:avLst/>
          </a:prstGeom>
        </p:spPr>
      </p:pic>
      <p:pic>
        <p:nvPicPr>
          <p:cNvPr id="26" name="Graphic 46" descr="Thumbs up sign">
            <a:extLst>
              <a:ext uri="{FF2B5EF4-FFF2-40B4-BE49-F238E27FC236}">
                <a16:creationId xmlns:a16="http://schemas.microsoft.com/office/drawing/2014/main" xmlns="" id="{444B362F-6422-934F-90A8-95A9622C0F8D}"/>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xmlns="" r:embed="rId9"/>
              </a:ext>
            </a:extLst>
          </a:blip>
          <a:stretch>
            <a:fillRect/>
          </a:stretch>
        </p:blipFill>
        <p:spPr>
          <a:xfrm>
            <a:off x="1721227" y="2548265"/>
            <a:ext cx="318525" cy="318525"/>
          </a:xfrm>
          <a:prstGeom prst="rect">
            <a:avLst/>
          </a:prstGeom>
        </p:spPr>
      </p:pic>
      <p:pic>
        <p:nvPicPr>
          <p:cNvPr id="27" name="Graphic 47" descr="Shooting star">
            <a:extLst>
              <a:ext uri="{FF2B5EF4-FFF2-40B4-BE49-F238E27FC236}">
                <a16:creationId xmlns:a16="http://schemas.microsoft.com/office/drawing/2014/main" xmlns="" id="{42567320-BA43-AA4F-AE2E-140ECE79710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xmlns="" r:embed="rId11"/>
              </a:ext>
            </a:extLst>
          </a:blip>
          <a:stretch>
            <a:fillRect/>
          </a:stretch>
        </p:blipFill>
        <p:spPr>
          <a:xfrm>
            <a:off x="1721227" y="2911753"/>
            <a:ext cx="318525" cy="318525"/>
          </a:xfrm>
          <a:prstGeom prst="rect">
            <a:avLst/>
          </a:prstGeom>
        </p:spPr>
      </p:pic>
      <p:sp>
        <p:nvSpPr>
          <p:cNvPr id="43"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207</a:t>
            </a:r>
            <a:endParaRPr i="1" dirty="0">
              <a:latin typeface="Calibri"/>
              <a:ea typeface="Calibri"/>
              <a:cs typeface="Calibri"/>
              <a:sym typeface="Calibri"/>
            </a:endParaRPr>
          </a:p>
        </p:txBody>
      </p:sp>
      <p:pic>
        <p:nvPicPr>
          <p:cNvPr id="44" name="Google Shape;283;g104476d1465_1_17"/>
          <p:cNvPicPr preferRelativeResize="0"/>
          <p:nvPr/>
        </p:nvPicPr>
        <p:blipFill>
          <a:blip r:embed="rId12"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45"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4.8.5 Wrap-Up: Reflection</a:t>
            </a:r>
            <a:endParaRPr lang="en-US" sz="3600" b="1" dirty="0">
              <a:solidFill>
                <a:srgbClr val="3F2A67"/>
              </a:solidFill>
              <a:latin typeface="Verdana"/>
              <a:ea typeface="Verdana"/>
              <a:cs typeface="Verdana"/>
              <a:sym typeface="Verdana"/>
            </a:endParaRPr>
          </a:p>
        </p:txBody>
      </p:sp>
      <p:pic>
        <p:nvPicPr>
          <p:cNvPr id="46" name="Google Shape;469;p34"/>
          <p:cNvPicPr preferRelativeResize="0"/>
          <p:nvPr/>
        </p:nvPicPr>
        <p:blipFill rotWithShape="1">
          <a:blip r:embed="rId13">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47" name="TextBox 46">
            <a:extLst>
              <a:ext uri="{FF2B5EF4-FFF2-40B4-BE49-F238E27FC236}">
                <a16:creationId xmlns:a16="http://schemas.microsoft.com/office/drawing/2014/main" xmlns="" xmlns:a14="http://schemas.microsoft.com/office/drawing/2010/main" xmlns:mc="http://schemas.openxmlformats.org/markup-compatibility/2006" id="{0370EDB7-6994-3D43-ABF9-E04CBAFB9CD9}"/>
              </a:ext>
            </a:extLst>
          </p:cNvPr>
          <p:cNvSpPr txBox="1"/>
          <p:nvPr/>
        </p:nvSpPr>
        <p:spPr>
          <a:xfrm>
            <a:off x="730266" y="1211249"/>
            <a:ext cx="10800318"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to describe your understanding of each key feature.</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pic>
        <p:nvPicPr>
          <p:cNvPr id="48" name="Graphic 45" descr="Marketing">
            <a:extLst>
              <a:ext uri="{FF2B5EF4-FFF2-40B4-BE49-F238E27FC236}">
                <a16:creationId xmlns:a16="http://schemas.microsoft.com/office/drawing/2014/main" xmlns="" id="{0779AEAE-4DDF-1B4B-9AF1-265CF3586E0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1721227" y="3719344"/>
            <a:ext cx="318525" cy="318525"/>
          </a:xfrm>
          <a:prstGeom prst="rect">
            <a:avLst/>
          </a:prstGeom>
        </p:spPr>
      </p:pic>
      <p:pic>
        <p:nvPicPr>
          <p:cNvPr id="49" name="Graphic 46" descr="Thumbs up sign">
            <a:extLst>
              <a:ext uri="{FF2B5EF4-FFF2-40B4-BE49-F238E27FC236}">
                <a16:creationId xmlns:a16="http://schemas.microsoft.com/office/drawing/2014/main" xmlns="" id="{444B362F-6422-934F-90A8-95A9622C0F8D}"/>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xmlns="" r:embed="rId9"/>
              </a:ext>
            </a:extLst>
          </a:blip>
          <a:stretch>
            <a:fillRect/>
          </a:stretch>
        </p:blipFill>
        <p:spPr>
          <a:xfrm>
            <a:off x="1721227" y="4064645"/>
            <a:ext cx="318525" cy="318525"/>
          </a:xfrm>
          <a:prstGeom prst="rect">
            <a:avLst/>
          </a:prstGeom>
        </p:spPr>
      </p:pic>
      <p:pic>
        <p:nvPicPr>
          <p:cNvPr id="50" name="Graphic 47" descr="Shooting star">
            <a:extLst>
              <a:ext uri="{FF2B5EF4-FFF2-40B4-BE49-F238E27FC236}">
                <a16:creationId xmlns:a16="http://schemas.microsoft.com/office/drawing/2014/main" xmlns="" id="{42567320-BA43-AA4F-AE2E-140ECE79710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xmlns="" r:embed="rId11"/>
              </a:ext>
            </a:extLst>
          </a:blip>
          <a:stretch>
            <a:fillRect/>
          </a:stretch>
        </p:blipFill>
        <p:spPr>
          <a:xfrm>
            <a:off x="1721227" y="4428133"/>
            <a:ext cx="318525" cy="318525"/>
          </a:xfrm>
          <a:prstGeom prst="rect">
            <a:avLst/>
          </a:prstGeom>
        </p:spPr>
      </p:pic>
      <p:pic>
        <p:nvPicPr>
          <p:cNvPr id="51" name="Graphic 45" descr="Marketing">
            <a:extLst>
              <a:ext uri="{FF2B5EF4-FFF2-40B4-BE49-F238E27FC236}">
                <a16:creationId xmlns:a16="http://schemas.microsoft.com/office/drawing/2014/main" xmlns="" id="{0779AEAE-4DDF-1B4B-9AF1-265CF3586E0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1721227" y="5202824"/>
            <a:ext cx="318525" cy="318525"/>
          </a:xfrm>
          <a:prstGeom prst="rect">
            <a:avLst/>
          </a:prstGeom>
        </p:spPr>
      </p:pic>
      <p:pic>
        <p:nvPicPr>
          <p:cNvPr id="52" name="Graphic 46" descr="Thumbs up sign">
            <a:extLst>
              <a:ext uri="{FF2B5EF4-FFF2-40B4-BE49-F238E27FC236}">
                <a16:creationId xmlns:a16="http://schemas.microsoft.com/office/drawing/2014/main" xmlns="" id="{444B362F-6422-934F-90A8-95A9622C0F8D}"/>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xmlns="" r:embed="rId9"/>
              </a:ext>
            </a:extLst>
          </a:blip>
          <a:stretch>
            <a:fillRect/>
          </a:stretch>
        </p:blipFill>
        <p:spPr>
          <a:xfrm>
            <a:off x="1721227" y="5548125"/>
            <a:ext cx="318525" cy="318525"/>
          </a:xfrm>
          <a:prstGeom prst="rect">
            <a:avLst/>
          </a:prstGeom>
        </p:spPr>
      </p:pic>
      <p:pic>
        <p:nvPicPr>
          <p:cNvPr id="53" name="Graphic 47" descr="Shooting star">
            <a:extLst>
              <a:ext uri="{FF2B5EF4-FFF2-40B4-BE49-F238E27FC236}">
                <a16:creationId xmlns:a16="http://schemas.microsoft.com/office/drawing/2014/main" xmlns="" id="{42567320-BA43-AA4F-AE2E-140ECE79710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xmlns="" r:embed="rId11"/>
              </a:ext>
            </a:extLst>
          </a:blip>
          <a:stretch>
            <a:fillRect/>
          </a:stretch>
        </p:blipFill>
        <p:spPr>
          <a:xfrm>
            <a:off x="1721227" y="5911613"/>
            <a:ext cx="318525" cy="318525"/>
          </a:xfrm>
          <a:prstGeom prst="rect">
            <a:avLst/>
          </a:prstGeom>
        </p:spPr>
      </p:pic>
      <p:pic>
        <p:nvPicPr>
          <p:cNvPr id="54" name="Graphic 45" descr="Marketing">
            <a:extLst>
              <a:ext uri="{FF2B5EF4-FFF2-40B4-BE49-F238E27FC236}">
                <a16:creationId xmlns:a16="http://schemas.microsoft.com/office/drawing/2014/main" xmlns="" id="{0779AEAE-4DDF-1B4B-9AF1-265CF3586E0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584567" y="5202824"/>
            <a:ext cx="318525" cy="318525"/>
          </a:xfrm>
          <a:prstGeom prst="rect">
            <a:avLst/>
          </a:prstGeom>
        </p:spPr>
      </p:pic>
      <p:pic>
        <p:nvPicPr>
          <p:cNvPr id="55" name="Graphic 46" descr="Thumbs up sign">
            <a:extLst>
              <a:ext uri="{FF2B5EF4-FFF2-40B4-BE49-F238E27FC236}">
                <a16:creationId xmlns:a16="http://schemas.microsoft.com/office/drawing/2014/main" xmlns="" id="{444B362F-6422-934F-90A8-95A9622C0F8D}"/>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xmlns="" r:embed="rId9"/>
              </a:ext>
            </a:extLst>
          </a:blip>
          <a:stretch>
            <a:fillRect/>
          </a:stretch>
        </p:blipFill>
        <p:spPr>
          <a:xfrm>
            <a:off x="5584567" y="5548125"/>
            <a:ext cx="318525" cy="318525"/>
          </a:xfrm>
          <a:prstGeom prst="rect">
            <a:avLst/>
          </a:prstGeom>
        </p:spPr>
      </p:pic>
      <p:pic>
        <p:nvPicPr>
          <p:cNvPr id="56" name="Graphic 47" descr="Shooting star">
            <a:extLst>
              <a:ext uri="{FF2B5EF4-FFF2-40B4-BE49-F238E27FC236}">
                <a16:creationId xmlns:a16="http://schemas.microsoft.com/office/drawing/2014/main" xmlns="" id="{42567320-BA43-AA4F-AE2E-140ECE79710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xmlns="" r:embed="rId11"/>
              </a:ext>
            </a:extLst>
          </a:blip>
          <a:stretch>
            <a:fillRect/>
          </a:stretch>
        </p:blipFill>
        <p:spPr>
          <a:xfrm>
            <a:off x="5584567" y="5911613"/>
            <a:ext cx="318525" cy="318525"/>
          </a:xfrm>
          <a:prstGeom prst="rect">
            <a:avLst/>
          </a:prstGeom>
        </p:spPr>
      </p:pic>
      <p:pic>
        <p:nvPicPr>
          <p:cNvPr id="57" name="Graphic 45" descr="Marketing">
            <a:extLst>
              <a:ext uri="{FF2B5EF4-FFF2-40B4-BE49-F238E27FC236}">
                <a16:creationId xmlns:a16="http://schemas.microsoft.com/office/drawing/2014/main" xmlns="" id="{0779AEAE-4DDF-1B4B-9AF1-265CF3586E0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584567" y="3719344"/>
            <a:ext cx="318525" cy="318525"/>
          </a:xfrm>
          <a:prstGeom prst="rect">
            <a:avLst/>
          </a:prstGeom>
        </p:spPr>
      </p:pic>
      <p:pic>
        <p:nvPicPr>
          <p:cNvPr id="58" name="Graphic 46" descr="Thumbs up sign">
            <a:extLst>
              <a:ext uri="{FF2B5EF4-FFF2-40B4-BE49-F238E27FC236}">
                <a16:creationId xmlns:a16="http://schemas.microsoft.com/office/drawing/2014/main" xmlns="" id="{444B362F-6422-934F-90A8-95A9622C0F8D}"/>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xmlns="" r:embed="rId9"/>
              </a:ext>
            </a:extLst>
          </a:blip>
          <a:stretch>
            <a:fillRect/>
          </a:stretch>
        </p:blipFill>
        <p:spPr>
          <a:xfrm>
            <a:off x="5584567" y="4064645"/>
            <a:ext cx="318525" cy="318525"/>
          </a:xfrm>
          <a:prstGeom prst="rect">
            <a:avLst/>
          </a:prstGeom>
        </p:spPr>
      </p:pic>
      <p:pic>
        <p:nvPicPr>
          <p:cNvPr id="59" name="Graphic 47" descr="Shooting star">
            <a:extLst>
              <a:ext uri="{FF2B5EF4-FFF2-40B4-BE49-F238E27FC236}">
                <a16:creationId xmlns:a16="http://schemas.microsoft.com/office/drawing/2014/main" xmlns="" id="{42567320-BA43-AA4F-AE2E-140ECE79710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xmlns="" r:embed="rId11"/>
              </a:ext>
            </a:extLst>
          </a:blip>
          <a:stretch>
            <a:fillRect/>
          </a:stretch>
        </p:blipFill>
        <p:spPr>
          <a:xfrm>
            <a:off x="5584567" y="4428133"/>
            <a:ext cx="318525" cy="318525"/>
          </a:xfrm>
          <a:prstGeom prst="rect">
            <a:avLst/>
          </a:prstGeom>
        </p:spPr>
      </p:pic>
      <p:pic>
        <p:nvPicPr>
          <p:cNvPr id="60" name="Graphic 45" descr="Marketing">
            <a:extLst>
              <a:ext uri="{FF2B5EF4-FFF2-40B4-BE49-F238E27FC236}">
                <a16:creationId xmlns:a16="http://schemas.microsoft.com/office/drawing/2014/main" xmlns="" id="{0779AEAE-4DDF-1B4B-9AF1-265CF3586E0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584567" y="2202964"/>
            <a:ext cx="318525" cy="318525"/>
          </a:xfrm>
          <a:prstGeom prst="rect">
            <a:avLst/>
          </a:prstGeom>
        </p:spPr>
      </p:pic>
      <p:pic>
        <p:nvPicPr>
          <p:cNvPr id="61" name="Graphic 46" descr="Thumbs up sign">
            <a:extLst>
              <a:ext uri="{FF2B5EF4-FFF2-40B4-BE49-F238E27FC236}">
                <a16:creationId xmlns:a16="http://schemas.microsoft.com/office/drawing/2014/main" xmlns="" id="{444B362F-6422-934F-90A8-95A9622C0F8D}"/>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xmlns="" r:embed="rId9"/>
              </a:ext>
            </a:extLst>
          </a:blip>
          <a:stretch>
            <a:fillRect/>
          </a:stretch>
        </p:blipFill>
        <p:spPr>
          <a:xfrm>
            <a:off x="5584567" y="2548265"/>
            <a:ext cx="318525" cy="318525"/>
          </a:xfrm>
          <a:prstGeom prst="rect">
            <a:avLst/>
          </a:prstGeom>
        </p:spPr>
      </p:pic>
      <p:pic>
        <p:nvPicPr>
          <p:cNvPr id="62" name="Graphic 47" descr="Shooting star">
            <a:extLst>
              <a:ext uri="{FF2B5EF4-FFF2-40B4-BE49-F238E27FC236}">
                <a16:creationId xmlns:a16="http://schemas.microsoft.com/office/drawing/2014/main" xmlns="" id="{42567320-BA43-AA4F-AE2E-140ECE79710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xmlns="" r:embed="rId11"/>
              </a:ext>
            </a:extLst>
          </a:blip>
          <a:stretch>
            <a:fillRect/>
          </a:stretch>
        </p:blipFill>
        <p:spPr>
          <a:xfrm>
            <a:off x="5584567" y="2911753"/>
            <a:ext cx="318525" cy="318525"/>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2924</TotalTime>
  <Words>1372</Words>
  <Application>Microsoft Office PowerPoint</Application>
  <PresentationFormat>Custom</PresentationFormat>
  <Paragraphs>291</Paragraphs>
  <Slides>30</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Century Gothic</vt:lpstr>
      <vt:lpstr>Wingdings</vt:lpstr>
      <vt:lpstr>Cambria Math</vt:lpstr>
      <vt:lpstr>Cambria</vt:lpstr>
      <vt:lpstr>Arial Black</vt:lpstr>
      <vt:lpstr>Verdana</vt:lpstr>
      <vt:lpstr>Calibri</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26</cp:revision>
  <dcterms:created xsi:type="dcterms:W3CDTF">2015-03-17T18:51:18Z</dcterms:created>
  <dcterms:modified xsi:type="dcterms:W3CDTF">2022-06-24T10:08:27Z</dcterms:modified>
</cp:coreProperties>
</file>