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59" r:id="rId4"/>
    <p:sldId id="286" r:id="rId5"/>
    <p:sldId id="261" r:id="rId6"/>
    <p:sldId id="287" r:id="rId7"/>
    <p:sldId id="288" r:id="rId8"/>
    <p:sldId id="344" r:id="rId9"/>
    <p:sldId id="345" r:id="rId10"/>
    <p:sldId id="289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60" r:id="rId20"/>
    <p:sldId id="356" r:id="rId21"/>
    <p:sldId id="357" r:id="rId22"/>
    <p:sldId id="358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6040202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BEA6"/>
    <a:srgbClr val="BFBFBF"/>
    <a:srgbClr val="C9DF6F"/>
    <a:srgbClr val="417DBF"/>
    <a:srgbClr val="3F2A67"/>
    <a:srgbClr val="E24E5F"/>
    <a:srgbClr val="26B7D4"/>
    <a:srgbClr val="54B5D1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/>
    <p:restoredTop sz="94694"/>
  </p:normalViewPr>
  <p:slideViewPr>
    <p:cSldViewPr snapToGrid="0">
      <p:cViewPr varScale="1">
        <p:scale>
          <a:sx n="117" d="100"/>
          <a:sy n="117" d="100"/>
        </p:scale>
        <p:origin x="78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9648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6551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5377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1302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383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8015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9234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3610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7537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9185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4019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5444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4901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77177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7421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633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40097" y="2212773"/>
            <a:ext cx="5327904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Identifying Key Features of Lines From Graphs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169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57215" y="242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0850" y="1466737"/>
            <a:ext cx="109051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MA.912.AR.2.4 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table, equation, or written description of a linear function, graph that function, and determine and interpret its key features. </a:t>
            </a: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15" y="2916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B7C52269-1899-3541-AAC0-9B5DE73964AA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82C20BDC-5206-5849-B1CA-48843373ECBC}"/>
              </a:ext>
            </a:extLst>
          </p:cNvPr>
          <p:cNvSpPr txBox="1">
            <a:spLocks/>
          </p:cNvSpPr>
          <p:nvPr/>
        </p:nvSpPr>
        <p:spPr>
          <a:xfrm>
            <a:off x="1249775" y="2428"/>
            <a:ext cx="101632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37F7C3B7-CA09-9244-9C82-E3FAF9111EE5}"/>
              </a:ext>
            </a:extLst>
          </p:cNvPr>
          <p:cNvSpPr txBox="1">
            <a:spLocks/>
          </p:cNvSpPr>
          <p:nvPr/>
        </p:nvSpPr>
        <p:spPr>
          <a:xfrm>
            <a:off x="532672" y="1462451"/>
            <a:ext cx="10654777" cy="473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15" y="2916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217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54857" y="278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715" y="2919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1195" y="1468485"/>
            <a:ext cx="105547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key features of a linear function from a graph. 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528" y="287110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5792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171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3147" y="2428"/>
            <a:ext cx="105770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4.2.1 Warm-Up: What Do You Notice?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23" y="2916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33222" y="1461852"/>
                <a:ext cx="10533639" cy="4471480"/>
              </a:xfrm>
              <a:prstGeom prst="rect">
                <a:avLst/>
              </a:prstGeom>
              <a:noFill/>
            </p:spPr>
            <p:txBody>
              <a:bodyPr wrap="square" lIns="90000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+7=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function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444500" indent="-4445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 indent="-4445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 indent="-4445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 indent="-4445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 indent="-4445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 indent="-4445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4500" indent="-4445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you substitute the same 𝑥-value, or input, into the equation and function, do you think that the equation and function will give the same outputs given the same input?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22" y="1461852"/>
                <a:ext cx="10533639" cy="4471480"/>
              </a:xfrm>
              <a:prstGeom prst="rect">
                <a:avLst/>
              </a:prstGeom>
              <a:blipFill rotWithShape="1">
                <a:blip r:embed="rId4"/>
                <a:stretch>
                  <a:fillRect l="-868" b="-218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5334" y="379003"/>
                <a:ext cx="10903544" cy="3793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9438" indent="-519113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equation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−3=</m:t>
                    </m:r>
                    <m:sPre>
                      <m:sPrePr>
                        <m:ctrlPr>
                          <a:rPr lang="x-none" sz="2400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sPre>
                    <m:d>
                      <m:dPr>
                        <m:ctrlPr>
                          <a:rPr lang="x-non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function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)=−6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51752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79438" indent="-519113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 you think the equation and function will give the same outputs given the same input?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34" y="379003"/>
                <a:ext cx="10903544" cy="3793795"/>
              </a:xfrm>
              <a:prstGeom prst="rect">
                <a:avLst/>
              </a:prstGeom>
              <a:blipFill rotWithShape="1">
                <a:blip r:embed="rId3"/>
                <a:stretch>
                  <a:fillRect l="-336" t="-1445" b="-24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2510" y="381804"/>
            <a:ext cx="10928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9438" indent="-519113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Substitute the 𝑥-value in the equation and the function to determine if the output is the same.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9B6F1B2-5C7E-BF43-BFC9-E4E13BB0AD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9995433"/>
                  </p:ext>
                </p:extLst>
              </p:nvPr>
            </p:nvGraphicFramePr>
            <p:xfrm>
              <a:off x="1284467" y="1344144"/>
              <a:ext cx="7696617" cy="4644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65539">
                      <a:extLst>
                        <a:ext uri="{9D8B030D-6E8A-4147-A177-3AD203B41FA5}">
                          <a16:colId xmlns:a16="http://schemas.microsoft.com/office/drawing/2014/main" val="4190358902"/>
                        </a:ext>
                      </a:extLst>
                    </a:gridCol>
                    <a:gridCol w="2565539">
                      <a:extLst>
                        <a:ext uri="{9D8B030D-6E8A-4147-A177-3AD203B41FA5}">
                          <a16:colId xmlns:a16="http://schemas.microsoft.com/office/drawing/2014/main" val="566622759"/>
                        </a:ext>
                      </a:extLst>
                    </a:gridCol>
                    <a:gridCol w="2565539">
                      <a:extLst>
                        <a:ext uri="{9D8B030D-6E8A-4147-A177-3AD203B41FA5}">
                          <a16:colId xmlns:a16="http://schemas.microsoft.com/office/drawing/2014/main" val="1809121439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dirty="0" smtClean="0">
                                  <a:effectLst/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-value</a:t>
                          </a:r>
                          <a:endParaRPr lang="x-none" sz="105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05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Function</a:t>
                          </a:r>
                          <a:endParaRPr lang="x-none" sz="105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144510"/>
                      </a:ext>
                    </a:extLst>
                  </a:tr>
                  <a:tr h="64800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+7=</m:t>
                                </m:r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05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105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34350010"/>
                      </a:ext>
                    </a:extLst>
                  </a:tr>
                  <a:tr h="1440000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318705"/>
                      </a:ext>
                    </a:extLst>
                  </a:tr>
                  <a:tr h="64800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−3=</m:t>
                                </m:r>
                                <m:sPre>
                                  <m:sPre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=−6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−27</m:t>
                                </m:r>
                              </m:oMath>
                            </m:oMathPara>
                          </a14:m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0221649"/>
                      </a:ext>
                    </a:extLst>
                  </a:tr>
                  <a:tr h="1440000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05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74883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B6F1B2-5C7E-BF43-BFC9-E4E13BB0AD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9995433"/>
                  </p:ext>
                </p:extLst>
              </p:nvPr>
            </p:nvGraphicFramePr>
            <p:xfrm>
              <a:off x="1284467" y="1344144"/>
              <a:ext cx="7696617" cy="4644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6553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190358902"/>
                        </a:ext>
                      </a:extLst>
                    </a:gridCol>
                    <a:gridCol w="256553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66622759"/>
                        </a:ext>
                      </a:extLst>
                    </a:gridCol>
                    <a:gridCol w="256553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09121439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38" r="-200000" b="-89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05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Function</a:t>
                          </a:r>
                          <a:endParaRPr lang="x-none" sz="105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46144510"/>
                      </a:ext>
                    </a:extLst>
                  </a:tr>
                  <a:tr h="64800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38" t="-22515" r="-200000" b="-100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0476" t="-72642" r="-100476" b="-547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000" t="-72642" r="-238" b="-547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34350010"/>
                      </a:ext>
                    </a:extLst>
                  </a:tr>
                  <a:tr h="1440000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318705"/>
                      </a:ext>
                    </a:extLst>
                  </a:tr>
                  <a:tr h="64800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38" t="-122157" r="-200000" b="-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0476" t="-391589" r="-100476" b="-221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000" t="-391589" r="-238" b="-221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50221649"/>
                      </a:ext>
                    </a:extLst>
                  </a:tr>
                  <a:tr h="1440000">
                    <a:tc v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05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05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154" marR="541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748832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326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2359" y="381803"/>
            <a:ext cx="108519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9438" indent="-519113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one observation you have about the equation and function that do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same output?</a:t>
            </a:r>
          </a:p>
          <a:p>
            <a:pPr marL="579438" indent="-519113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9438" indent="-519113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9438" indent="-519113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9438" indent="-519113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9438" indent="-519113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9438" indent="-519113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one observation you have about the equation and function that do have the same output?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7191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7019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FCCC8479-1433-7240-82DF-A0A6CECFCC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1768" y="285397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1043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4547" y="1174"/>
            <a:ext cx="1046427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4.2.2 Exploration: Key Features From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 Graph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31892" y="1469826"/>
            <a:ext cx="11051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line segment is shown on the coordinate plane. The line segment represents a function. 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C5D5C43B-017E-8843-AEA6-96B2656C89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715" y="289120"/>
            <a:ext cx="749808" cy="7498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EEA9D564-C7AA-BD44-97B1-C35DA723003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5271" y="2320109"/>
            <a:ext cx="4422830" cy="4391057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884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39979" y="381916"/>
            <a:ext cx="107061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 vertical line from the left endpoint of the line segment to the 𝑥-axis. What is the 𝑥-value?</a:t>
            </a:r>
          </a:p>
          <a:p>
            <a:pPr marL="90011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0113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 vertical line from the right endpoint of the line segment to the 𝑥-axis. What is the 𝑥-value?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0841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1101" y="382570"/>
                <a:ext cx="10945609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0113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finding the 𝑥-values of the left endpoint and the right endpoint of the line segment helps to determine the domain of the function the line segment represents.</a:t>
                </a:r>
              </a:p>
              <a:p>
                <a:pPr marL="900113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𝑥-values of the left endpoint and the right endpoint of the line segment to write the domain as an inequality. </a:t>
                </a:r>
              </a:p>
              <a:p>
                <a:pPr marL="900113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       __________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≤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01" y="382570"/>
                <a:ext cx="10945609" cy="5262979"/>
              </a:xfrm>
              <a:prstGeom prst="rect">
                <a:avLst/>
              </a:prstGeom>
              <a:blipFill rotWithShape="1">
                <a:blip r:embed="rId3"/>
                <a:stretch>
                  <a:fillRect t="-1043" b="-162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1174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1101" y="382570"/>
                <a:ext cx="1094560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0113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determine the range of the function that is represented by the line segment.</a:t>
                </a: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00113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𝑦-values of the left endpoint and the right endpoint of the line segment to write the range as an inequality.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       __________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≤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01" y="382570"/>
                <a:ext cx="10945609" cy="4893647"/>
              </a:xfrm>
              <a:prstGeom prst="rect">
                <a:avLst/>
              </a:prstGeom>
              <a:blipFill rotWithShape="1">
                <a:blip r:embed="rId3"/>
                <a:stretch>
                  <a:fillRect t="-996" b="-174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3976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31100" y="381916"/>
            <a:ext cx="1099051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6938" indent="-442913">
              <a:buFont typeface="+mj-lt"/>
              <a:buAutoNum type="alphaLcPeriod" startAt="7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find the other key features of the line segment.</a:t>
            </a:r>
          </a:p>
          <a:p>
            <a:pPr marL="719138" lvl="0" indent="-2651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1163638" indent="-2651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slope of the line segment is __________.</a:t>
            </a:r>
          </a:p>
          <a:p>
            <a:pPr marL="1163638" indent="-2651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the 𝑥-values are increasing, the 𝑦-values are _________________. </a:t>
            </a:r>
          </a:p>
          <a:p>
            <a:pPr marL="1163638" indent="-2651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coordinates of the point where the line crosses the 𝑦-axis are _________. The 𝑦-value of the point is ________.  </a:t>
            </a:r>
          </a:p>
          <a:p>
            <a:pPr marL="1163638" indent="-265113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coordinates of the point where the line crosses the 𝑥-axis are _________. The 𝑥-value of the point is ________.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CD9233-E088-414F-8298-CA771042989C}"/>
              </a:ext>
            </a:extLst>
          </p:cNvPr>
          <p:cNvGrpSpPr/>
          <p:nvPr/>
        </p:nvGrpSpPr>
        <p:grpSpPr>
          <a:xfrm>
            <a:off x="2166276" y="4316283"/>
            <a:ext cx="7886700" cy="1190660"/>
            <a:chOff x="-449375" y="480375"/>
            <a:chExt cx="7886700" cy="11908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8">
                  <a:extLst>
                    <a:ext uri="{FF2B5EF4-FFF2-40B4-BE49-F238E27FC236}">
                      <a16:creationId xmlns:a16="http://schemas.microsoft.com/office/drawing/2014/main" id="{B057DC59-A4F7-6446-B077-7D224E33587C}"/>
                    </a:ext>
                  </a:extLst>
                </p:cNvPr>
                <p:cNvSpPr txBox="1"/>
                <p:nvPr/>
              </p:nvSpPr>
              <p:spPr>
                <a:xfrm>
                  <a:off x="-449375" y="480375"/>
                  <a:ext cx="7886700" cy="1190866"/>
                </a:xfrm>
                <a:prstGeom prst="roundRect">
                  <a:avLst/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720725"/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The </a:t>
                  </a:r>
                  <a:r>
                    <a:rPr lang="en-US" sz="18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intercept</a:t>
                  </a:r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is the value of a variable when all other variables in the equation equal </a:t>
                  </a:r>
                  <a14:m>
                    <m:oMath xmlns:m="http://schemas.openxmlformats.org/officeDocument/2006/math">
                      <m:r>
                        <a:rPr lang="en-US" sz="1800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. On a graph, the intercept is the value where a function crosses an axis.</a:t>
                  </a:r>
                  <a:endParaRPr lang="x-none" sz="1200" dirty="0"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 Box 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B057DC59-A4F7-6446-B077-7D224E335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49375" y="480375"/>
                  <a:ext cx="7886700" cy="1190866"/>
                </a:xfrm>
                <a:prstGeom prst="round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76640F65-7FFF-2D46-8251-F174B3B6D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298995" y="636555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6798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31101" y="382570"/>
            <a:ext cx="10814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457200">
              <a:buFont typeface="+mj-lt"/>
              <a:buAutoNum type="alphaLcPeriod" startAt="8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use the definition of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intercept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determine the intercepts.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4B6BC8A-D92A-F04A-BABB-F0F903D97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2119737"/>
                  </p:ext>
                </p:extLst>
              </p:nvPr>
            </p:nvGraphicFramePr>
            <p:xfrm>
              <a:off x="3007968" y="1324675"/>
              <a:ext cx="5861246" cy="10909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30623">
                      <a:extLst>
                        <a:ext uri="{9D8B030D-6E8A-4147-A177-3AD203B41FA5}">
                          <a16:colId xmlns:a16="http://schemas.microsoft.com/office/drawing/2014/main" val="3816881833"/>
                        </a:ext>
                      </a:extLst>
                    </a:gridCol>
                    <a:gridCol w="2930623">
                      <a:extLst>
                        <a:ext uri="{9D8B030D-6E8A-4147-A177-3AD203B41FA5}">
                          <a16:colId xmlns:a16="http://schemas.microsoft.com/office/drawing/2014/main" val="3365370736"/>
                        </a:ext>
                      </a:extLst>
                    </a:gridCol>
                  </a:tblGrid>
                  <a:tr h="5454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-intercept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-intercept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8407641"/>
                      </a:ext>
                    </a:extLst>
                  </a:tr>
                  <a:tr h="54546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0706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4B6BC8A-D92A-F04A-BABB-F0F903D97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2119737"/>
                  </p:ext>
                </p:extLst>
              </p:nvPr>
            </p:nvGraphicFramePr>
            <p:xfrm>
              <a:off x="3007968" y="1324675"/>
              <a:ext cx="5861246" cy="10909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3062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16881833"/>
                        </a:ext>
                      </a:extLst>
                    </a:gridCol>
                    <a:gridCol w="293062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365370736"/>
                        </a:ext>
                      </a:extLst>
                    </a:gridCol>
                  </a:tblGrid>
                  <a:tr h="5454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68407641"/>
                      </a:ext>
                    </a:extLst>
                  </a:tr>
                  <a:tr h="54546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307062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067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35808" y="379011"/>
            <a:ext cx="10694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line that represents a function is shown on the coordinate plane. The line is similar to the line segment represented in the previous problem except it does not have endpoints.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B0A47AC1-1462-9C4C-BEF8-453E9AEEA63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9706" y="1710739"/>
            <a:ext cx="4892587" cy="4659923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4912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004345" y="378990"/>
            <a:ext cx="1015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find the key features of the line.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FD3F34A-5714-A94A-963A-6841C1DAAE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226245"/>
                  </p:ext>
                </p:extLst>
              </p:nvPr>
            </p:nvGraphicFramePr>
            <p:xfrm>
              <a:off x="1158244" y="979976"/>
              <a:ext cx="8640000" cy="360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545439364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85638263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0287538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Domain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Range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-values increase, 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-values …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798704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868579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886966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67067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D3F34A-5714-A94A-963A-6841C1DAAE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226245"/>
                  </p:ext>
                </p:extLst>
              </p:nvPr>
            </p:nvGraphicFramePr>
            <p:xfrm>
              <a:off x="1158244" y="979976"/>
              <a:ext cx="8640000" cy="360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45439364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5638263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0287538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Domain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Range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0169" t="-3390" r="-169" b="-40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9798704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6868579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758" t="-253390" r="-142754" b="-15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0169" t="-253390" r="-169" b="-15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1886966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467067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53B5056-5183-1940-868D-41C55D49681B}"/>
              </a:ext>
            </a:extLst>
          </p:cNvPr>
          <p:cNvSpPr txBox="1"/>
          <p:nvPr/>
        </p:nvSpPr>
        <p:spPr>
          <a:xfrm>
            <a:off x="537068" y="4715718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  <a:tabLst>
                <a:tab pos="444500" algn="l"/>
              </a:tabLs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key features were different for the line and line segment?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327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19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FCCC8479-1433-7240-82DF-A0A6CECFCC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1768" y="2845745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6199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7714" y="3682"/>
            <a:ext cx="1021406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4.2.3 Exploration: Horizontal and Vertical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31102" y="1461707"/>
            <a:ext cx="10673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shows a vertical line in blue and a horizontal line segment in red. 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C5D5C43B-017E-8843-AEA6-96B2656C89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715" y="291628"/>
            <a:ext cx="749808" cy="7498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79892669-08D4-DF44-A249-28DC7557D47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0506" y="2518376"/>
            <a:ext cx="4414657" cy="3975473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2752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001318" y="380218"/>
            <a:ext cx="1053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find the key features for each.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B42D392-4484-1F46-8937-62AD09D2A6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331351"/>
                  </p:ext>
                </p:extLst>
              </p:nvPr>
            </p:nvGraphicFramePr>
            <p:xfrm>
              <a:off x="1172680" y="931546"/>
              <a:ext cx="8640000" cy="405640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421400206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37237833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1559545227"/>
                        </a:ext>
                      </a:extLst>
                    </a:gridCol>
                  </a:tblGrid>
                  <a:tr h="456409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C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Red Line Segment</a:t>
                          </a:r>
                          <a:endParaRPr lang="x-none" sz="1200" b="1" dirty="0">
                            <a:solidFill>
                              <a:srgbClr val="C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955186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Domain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Range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dirty="0" smtClean="0">
                                  <a:effectLst/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-values increase, </a:t>
                          </a:r>
                          <a:b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effectLst/>
                                  <a:latin typeface="Cambria Math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-values …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6769584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9119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effectLst/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effectLst/>
                                  <a:latin typeface="Cambria Math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02935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5747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B42D392-4484-1F46-8937-62AD09D2A6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331351"/>
                  </p:ext>
                </p:extLst>
              </p:nvPr>
            </p:nvGraphicFramePr>
            <p:xfrm>
              <a:off x="1172680" y="931546"/>
              <a:ext cx="8640000" cy="405640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421400206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7237833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59545227"/>
                        </a:ext>
                      </a:extLst>
                    </a:gridCol>
                  </a:tblGrid>
                  <a:tr h="456409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 smtClean="0">
                              <a:solidFill>
                                <a:srgbClr val="C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Red Line Segment</a:t>
                          </a:r>
                          <a:endParaRPr lang="x-none" sz="1200" b="1" dirty="0">
                            <a:solidFill>
                              <a:srgbClr val="C0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8955186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Domain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Range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39932" t="-64407" b="-40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26769584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749119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242" t="-314407" r="-143099" b="-15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39932" t="-314407" b="-15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802935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457472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185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33189" y="4587269"/>
            <a:ext cx="108748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does the range of a horizontal line relate to its 𝑦‑intercept?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does the domain of a vertical line relate to its 𝑥‑intercept?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B42D392-4484-1F46-8937-62AD09D2A6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849935"/>
                  </p:ext>
                </p:extLst>
              </p:nvPr>
            </p:nvGraphicFramePr>
            <p:xfrm>
              <a:off x="1172680" y="372252"/>
              <a:ext cx="8640000" cy="405640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421400206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37237833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1559545227"/>
                        </a:ext>
                      </a:extLst>
                    </a:gridCol>
                  </a:tblGrid>
                  <a:tr h="456409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Blue Line</a:t>
                          </a:r>
                          <a:endParaRPr lang="x-none" sz="12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955186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Domain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Range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dirty="0" smtClean="0">
                                  <a:effectLst/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-values increase, </a:t>
                          </a:r>
                          <a:b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effectLst/>
                                  <a:latin typeface="Cambria Math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-values …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6769584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9119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effectLst/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effectLst/>
                                  <a:latin typeface="Cambria Math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02935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5747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B42D392-4484-1F46-8937-62AD09D2A6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849935"/>
                  </p:ext>
                </p:extLst>
              </p:nvPr>
            </p:nvGraphicFramePr>
            <p:xfrm>
              <a:off x="1172680" y="372252"/>
              <a:ext cx="8640000" cy="405640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421400206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7237833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59545227"/>
                        </a:ext>
                      </a:extLst>
                    </a:gridCol>
                  </a:tblGrid>
                  <a:tr h="456409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Blue Line</a:t>
                          </a:r>
                          <a:endParaRPr lang="x-none" sz="1200" b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8955186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Domain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Range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9932" t="-63559" b="-40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26769584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749119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Slope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242" t="-313559" r="-143099" b="-15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9932" t="-313559" b="-15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802935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457472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5792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12825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1819" y="292074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4547" y="242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4.2.4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223" y="2916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530308" y="1466649"/>
            <a:ext cx="1044586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each statement as you reflect on today’s learning.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concept that made the most sense to me today is…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concept that I still do not understand from today is…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5534" y="65110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2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2952</TotalTime>
  <Words>1137</Words>
  <Application>Microsoft Macintosh PowerPoint</Application>
  <PresentationFormat>Widescreen</PresentationFormat>
  <Paragraphs>213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Calibri</vt:lpstr>
      <vt:lpstr>Arial Black</vt:lpstr>
      <vt:lpstr>Cambria Math</vt:lpstr>
      <vt:lpstr>Arial</vt:lpstr>
      <vt:lpstr>Wingdings</vt:lpstr>
      <vt:lpstr>Verdana</vt:lpstr>
      <vt:lpstr>Century Gothic</vt:lpstr>
      <vt:lpstr>Cambria</vt:lpstr>
      <vt:lpstr>1_Office Theme</vt:lpstr>
      <vt:lpstr>Algebra 1  Unit 4, Lesson 2  Identifying Key Features of Lines From Graphs  Volume 1, pg. 169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Akarshna Iyer</cp:lastModifiedBy>
  <cp:revision>27</cp:revision>
  <dcterms:created xsi:type="dcterms:W3CDTF">2015-03-17T18:51:18Z</dcterms:created>
  <dcterms:modified xsi:type="dcterms:W3CDTF">2022-07-26T00:30:40Z</dcterms:modified>
</cp:coreProperties>
</file>