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345" r:id="rId4"/>
    <p:sldId id="286" r:id="rId5"/>
    <p:sldId id="261" r:id="rId6"/>
    <p:sldId id="287" r:id="rId7"/>
    <p:sldId id="288" r:id="rId8"/>
    <p:sldId id="338" r:id="rId9"/>
    <p:sldId id="314" r:id="rId10"/>
    <p:sldId id="315" r:id="rId11"/>
    <p:sldId id="316" r:id="rId12"/>
    <p:sldId id="339" r:id="rId13"/>
    <p:sldId id="340" r:id="rId14"/>
    <p:sldId id="341" r:id="rId15"/>
    <p:sldId id="342" r:id="rId16"/>
    <p:sldId id="289" r:id="rId17"/>
    <p:sldId id="290" r:id="rId18"/>
    <p:sldId id="308" r:id="rId19"/>
    <p:sldId id="337" r:id="rId20"/>
    <p:sldId id="336" r:id="rId21"/>
    <p:sldId id="335" r:id="rId22"/>
    <p:sldId id="343" r:id="rId23"/>
    <p:sldId id="344" r:id="rId24"/>
    <p:sldId id="306" r:id="rId25"/>
    <p:sldId id="307" r:id="rId26"/>
  </p:sldIdLst>
  <p:sldSz cx="12192000" cy="6858000"/>
  <p:notesSz cx="6858000" cy="9144000"/>
  <p:embeddedFontLst>
    <p:embeddedFont>
      <p:font typeface="Calibri" pitchFamily="34" charset="0"/>
      <p:regular r:id="rId28"/>
      <p:bold r:id="rId29"/>
      <p:italic r:id="rId30"/>
      <p:boldItalic r:id="rId31"/>
    </p:embeddedFont>
    <p:embeddedFont>
      <p:font typeface="Century Gothic" pitchFamily="34" charset="0"/>
      <p:regular r:id="rId32"/>
      <p:bold r:id="rId33"/>
      <p:italic r:id="rId34"/>
      <p:boldItalic r:id="rId35"/>
    </p:embeddedFont>
    <p:embeddedFont>
      <p:font typeface="Cambria Math" pitchFamily="18" charset="0"/>
      <p:regular r:id="rId36"/>
    </p:embeddedFont>
    <p:embeddedFont>
      <p:font typeface="Cambria" pitchFamily="18" charset="0"/>
      <p:regular r:id="rId37"/>
      <p:bold r:id="rId38"/>
      <p:italic r:id="rId39"/>
      <p:boldItalic r:id="rId40"/>
    </p:embeddedFont>
    <p:embeddedFont>
      <p:font typeface="Arial Black" pitchFamily="34" charset="0"/>
      <p:bold r:id="rId41"/>
    </p:embeddedFont>
    <p:embeddedFont>
      <p:font typeface="Verdana"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6740"/>
    <p:restoredTop sz="94694"/>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646534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883332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73816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3683785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781513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020919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81272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4166200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9771052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370905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hyperlink" Target="https://greatcharacterswiki.miraheze.org/wiki/Buzz_Lightyear_(Toy_Story)" TargetMode="Externa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9.png"/><Relationship Id="rId11" Type="http://schemas.openxmlformats.org/officeDocument/2006/relationships/image" Target="../media/image32.png"/><Relationship Id="rId10" Type="http://schemas.openxmlformats.org/officeDocument/2006/relationships/image" Target="../media/image10.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7" name="Google Shape;261;g104476d1465_0_0"/>
          <p:cNvSpPr txBox="1">
            <a:spLocks/>
          </p:cNvSpPr>
          <p:nvPr/>
        </p:nvSpPr>
        <p:spPr>
          <a:xfrm>
            <a:off x="5604721" y="2054275"/>
            <a:ext cx="5201391"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Algebra 1</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4, Lesson 1</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Understanding Set-Builder Notation</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1, pg. 163</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mc="http://schemas.openxmlformats.org/markup-compatibility/2006" xmlns:a14="http://schemas.microsoft.com/office/drawing/2010/main" xmlns:a16="http://schemas.microsoft.com/office/drawing/2014/main" xmlns=""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600" dirty="0">
                <a:latin typeface="Verdana" panose="020B0604030504040204" pitchFamily="34" charset="0"/>
                <a:ea typeface="Verdana" panose="020B0604030504040204" pitchFamily="34" charset="0"/>
                <a:cs typeface="Verdana" panose="020B0604030504040204" pitchFamily="34" charset="0"/>
              </a:rPr>
              <a:t>MA.912.F.1.5</a:t>
            </a:r>
          </a:p>
          <a:p>
            <a:pPr marL="552450" lvl="1" indent="0">
              <a:buNone/>
            </a:pPr>
            <a:r>
              <a:rPr lang="en-US" sz="3600" dirty="0">
                <a:latin typeface="Verdana" panose="020B0604030504040204" pitchFamily="34" charset="0"/>
                <a:ea typeface="Verdana" panose="020B0604030504040204" pitchFamily="34" charset="0"/>
                <a:cs typeface="Verdana" panose="020B0604030504040204" pitchFamily="34" charset="0"/>
              </a:rPr>
              <a:t>Compare key features of linear functions each represented algebraically, graphically, in tables or written descriptions.</a:t>
            </a:r>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xmlns="" id="{78632872-3F42-3447-924A-20A16C6976F7}"/>
              </a:ext>
            </a:extLst>
          </p:cNvPr>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pic>
        <p:nvPicPr>
          <p:cNvPr id="9" name="Google Shape;283;g104476d1465_1_17"/>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0"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Targets</a:t>
            </a:r>
            <a:endParaRPr lang="en-US" sz="4700" b="1" dirty="0">
              <a:solidFill>
                <a:srgbClr val="52BDA6"/>
              </a:solidFill>
              <a:latin typeface="Verdana"/>
              <a:ea typeface="Verdana"/>
              <a:cs typeface="Verdana"/>
              <a:sym typeface="Verdana"/>
            </a:endParaRPr>
          </a:p>
        </p:txBody>
      </p:sp>
      <p:pic>
        <p:nvPicPr>
          <p:cNvPr id="15"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understand the domain and range of a linear relationship.</a:t>
            </a:r>
          </a:p>
          <a:p>
            <a:pPr marL="685800" indent="-685800">
              <a:buFont typeface="Wingdings" pitchFamily="2" charset="2"/>
              <a:buChar char="q"/>
            </a:pPr>
            <a:endParaRPr lang="en-US" sz="3600" dirty="0">
              <a:latin typeface="Verdana" panose="020B0604030504040204" pitchFamily="34" charset="0"/>
              <a:ea typeface="Verdana" panose="020B0604030504040204" pitchFamily="34" charset="0"/>
              <a:cs typeface="Verdana" panose="020B0604030504040204" pitchFamily="34" charset="0"/>
            </a:endParaRPr>
          </a:p>
          <a:p>
            <a:pPr marL="685800" indent="-685800">
              <a:buFont typeface="Wingdings"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write inequalities using set-builder notation.</a:t>
            </a:r>
            <a:endParaRPr lang="en-US" sz="36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0"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11"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351" y="6200724"/>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78412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163</a:t>
            </a:r>
            <a:endParaRPr i="1" dirty="0">
              <a:latin typeface="Calibri"/>
              <a:ea typeface="Calibri"/>
              <a:cs typeface="Calibri"/>
              <a:sym typeface="Calibri"/>
            </a:endParaRPr>
          </a:p>
        </p:txBody>
      </p:sp>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6" name="Picture 15" descr="Buzz Lightyear (Toy Story) - Great Characters Wiki">
            <a:extLst>
              <a:ext uri="{FF2B5EF4-FFF2-40B4-BE49-F238E27FC236}">
                <a16:creationId xmlns:a16="http://schemas.microsoft.com/office/drawing/2014/main" xmlns="" id="{064FBC03-E428-A640-B4A0-520E01838988}"/>
              </a:ext>
            </a:extLst>
          </p:cNvPr>
          <p:cNvPicPr>
            <a:picLocks noChangeAspect="1"/>
          </p:cNvPicPr>
          <p:nvPr/>
        </p:nvPicPr>
        <p:blipFill>
          <a:blip r:embed="rId4">
            <a:extLst>
              <a:ext uri="{28A0092B-C50C-407E-A947-70E740481C1C}">
                <a14:useLocalDpi xmlns:a14="http://schemas.microsoft.com/office/drawing/2010/main"/>
              </a:ext>
              <a:ext uri="{837473B0-CC2E-450A-ABE3-18F120FF3D39}">
                <a1611:picAttrSrcUrl xmlns:a1611="http://schemas.microsoft.com/office/drawing/2016/11/main" xmlns="" r:id="rId6"/>
              </a:ext>
            </a:extLst>
          </a:blip>
          <a:stretch>
            <a:fillRect/>
          </a:stretch>
        </p:blipFill>
        <p:spPr>
          <a:xfrm>
            <a:off x="9147451" y="1497535"/>
            <a:ext cx="2374900" cy="3213100"/>
          </a:xfrm>
          <a:prstGeom prst="rect">
            <a:avLst/>
          </a:prstGeom>
        </p:spPr>
      </p:pic>
      <p:sp>
        <p:nvSpPr>
          <p:cNvPr id="14"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4.1.1 Warm-Up: What is Infinity?</a:t>
            </a:r>
            <a:endParaRPr lang="en-US" sz="3600" b="1" dirty="0">
              <a:solidFill>
                <a:srgbClr val="3F2A67"/>
              </a:solidFill>
              <a:latin typeface="Verdana"/>
              <a:ea typeface="Verdana"/>
              <a:cs typeface="Verdana"/>
              <a:sym typeface="Verdana"/>
            </a:endParaRPr>
          </a:p>
        </p:txBody>
      </p:sp>
      <p:pic>
        <p:nvPicPr>
          <p:cNvPr id="17"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7">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xmlns="" id="{E1D7562E-134F-D14B-AF1A-DF40E11EF758}"/>
              </a:ext>
            </a:extLst>
          </p:cNvPr>
          <p:cNvSpPr txBox="1"/>
          <p:nvPr/>
        </p:nvSpPr>
        <p:spPr>
          <a:xfrm>
            <a:off x="479009" y="1497535"/>
            <a:ext cx="8779292" cy="317009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 </a:t>
            </a:r>
            <a:r>
              <a:rPr lang="en-US" sz="2000" i="1" dirty="0">
                <a:latin typeface="Verdana" panose="020B0604030504040204" pitchFamily="34" charset="0"/>
                <a:ea typeface="Verdana" panose="020B0604030504040204" pitchFamily="34" charset="0"/>
                <a:cs typeface="Verdana" panose="020B0604030504040204" pitchFamily="34" charset="0"/>
              </a:rPr>
              <a:t>Toy Story</a:t>
            </a:r>
            <a:r>
              <a:rPr lang="en-US" sz="2000" dirty="0">
                <a:latin typeface="Verdana" panose="020B0604030504040204" pitchFamily="34" charset="0"/>
                <a:ea typeface="Verdana" panose="020B0604030504040204" pitchFamily="34" charset="0"/>
                <a:cs typeface="Verdana" panose="020B0604030504040204" pitchFamily="34" charset="0"/>
              </a:rPr>
              <a:t>, Buzz </a:t>
            </a:r>
            <a:r>
              <a:rPr lang="en-US" sz="2000" dirty="0" err="1">
                <a:latin typeface="Verdana" panose="020B0604030504040204" pitchFamily="34" charset="0"/>
                <a:ea typeface="Verdana" panose="020B0604030504040204" pitchFamily="34" charset="0"/>
                <a:cs typeface="Verdana" panose="020B0604030504040204" pitchFamily="34" charset="0"/>
              </a:rPr>
              <a:t>Lightyear</a:t>
            </a:r>
            <a:r>
              <a:rPr lang="en-US" sz="2000" dirty="0">
                <a:latin typeface="Verdana" panose="020B0604030504040204" pitchFamily="34" charset="0"/>
                <a:ea typeface="Verdana" panose="020B0604030504040204" pitchFamily="34" charset="0"/>
                <a:cs typeface="Verdana" panose="020B0604030504040204" pitchFamily="34" charset="0"/>
              </a:rPr>
              <a:t> uses the phrase “To infinity and beyond.” But what does it mean to go beyond infinity? Infinity is an elusive concept that can often be difficult to comprehend. Eugenia Cheng, a mathematician, explains infinity as “not a normal kind of number.” Eugenia uses set theory to explain infinity. She uses the idea of a bag as a set. By placing a bag in a bag, there is a bag with one thing. Infinity can be illustrated by adding more and more bags and each bag contains other bags. Because you can keep adding bags with no end, the set contains an infinite number of bags.</a:t>
            </a:r>
            <a:endParaRPr lang="x-none"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TextBox 7">
            <a:extLst>
              <a:ext uri="{FF2B5EF4-FFF2-40B4-BE49-F238E27FC236}">
                <a16:creationId xmlns="" xmlns:a16="http://schemas.microsoft.com/office/drawing/2014/main" id="{2FA392D8-3ED3-7940-83A8-1451AA8A08D4}"/>
              </a:ext>
            </a:extLst>
          </p:cNvPr>
          <p:cNvSpPr txBox="1"/>
          <p:nvPr/>
        </p:nvSpPr>
        <p:spPr>
          <a:xfrm>
            <a:off x="644956" y="479475"/>
            <a:ext cx="10723497" cy="4401205"/>
          </a:xfrm>
          <a:prstGeom prst="rect">
            <a:avLst/>
          </a:prstGeom>
          <a:noFill/>
        </p:spPr>
        <p:txBody>
          <a:bodyPr wrap="square" rtlCol="0">
            <a:spAutoFit/>
          </a:bodyPr>
          <a:lstStyle/>
          <a:p>
            <a:pPr marL="517525"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briefly your understanding of infinity.</a:t>
            </a:r>
          </a:p>
          <a:p>
            <a:pPr marL="517525"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In the video, Eugenia Cheng uses the word paradox. A paradox is a seemingly absurd or self-contradictory statement that when investigated may prove to be well‑founded, or true. Why do you think the idea of infinity can create a paradox?</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164</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8" name="TextBox 7">
                <a:extLst>
                  <a:ext uri="{FF2B5EF4-FFF2-40B4-BE49-F238E27FC236}">
                    <a16:creationId xmlns="" xmlns:a16="http://schemas.microsoft.com/office/drawing/2014/main" id="{2FA392D8-3ED3-7940-83A8-1451AA8A08D4}"/>
                  </a:ext>
                </a:extLst>
              </p:cNvPr>
              <p:cNvSpPr txBox="1"/>
              <p:nvPr/>
            </p:nvSpPr>
            <p:spPr>
              <a:xfrm>
                <a:off x="644956" y="479475"/>
                <a:ext cx="10723497" cy="3785652"/>
              </a:xfrm>
              <a:prstGeom prst="rect">
                <a:avLst/>
              </a:prstGeom>
              <a:noFill/>
            </p:spPr>
            <p:txBody>
              <a:bodyPr wrap="square" rtlCol="0">
                <a:spAutoFit/>
              </a:bodyPr>
              <a:lstStyle/>
              <a:p>
                <a:pPr marL="517525"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The symbol for infinity is </a:t>
                </a:r>
                <a14:m>
                  <m:oMath xmlns:m="http://schemas.openxmlformats.org/officeDocument/2006/math">
                    <m:r>
                      <a:rPr lang="en-US" sz="2000" i="1" dirty="0">
                        <a:latin typeface="Cambria Math" panose="02040503050406030204" pitchFamily="18" charset="0"/>
                        <a:ea typeface="Cambria Math" panose="02040503050406030204" pitchFamily="18"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The infinity symbol was first used by John Wallis in 1655. Draw an infinity symbol without picking your writing utensil up from the paper.</a:t>
                </a:r>
              </a:p>
              <a:p>
                <a:pPr marL="517525"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17525"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How many times can you trace over the infinity symbol without picking up your writing utensil from the paper?</a:t>
                </a:r>
              </a:p>
            </p:txBody>
          </p:sp>
        </mc:Choice>
        <mc:Fallback>
          <p:sp>
            <p:nvSpPr>
              <p:cNvPr id="8" name="TextBox 7">
                <a:extLst>
                  <a:ext uri="{FF2B5EF4-FFF2-40B4-BE49-F238E27FC236}">
                    <a16:creationId xmlns=""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44956" y="479475"/>
                <a:ext cx="10723497" cy="3785652"/>
              </a:xfrm>
              <a:prstGeom prst="rect">
                <a:avLst/>
              </a:prstGeom>
              <a:blipFill rotWithShape="1">
                <a:blip r:embed="rId4"/>
                <a:stretch>
                  <a:fillRect l="-57" t="-966" b="-1932"/>
                </a:stretch>
              </a:blipFill>
            </p:spPr>
            <p:txBody>
              <a:bodyPr/>
              <a:lstStyle/>
              <a:p>
                <a:r>
                  <a:rPr lang="en-US">
                    <a:noFill/>
                  </a:rPr>
                  <a:t> </a:t>
                </a:r>
              </a:p>
            </p:txBody>
          </p:sp>
        </mc:Fallback>
      </mc:AlternateContent>
    </p:spTree>
    <p:extLst>
      <p:ext uri="{BB962C8B-B14F-4D97-AF65-F5344CB8AC3E}">
        <p14:creationId xmlns:p14="http://schemas.microsoft.com/office/powerpoint/2010/main" val="3977706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164</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13;g104476d1465_1_39"/>
          <p:cNvSpPr txBox="1">
            <a:spLocks/>
          </p:cNvSpPr>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3BEA6"/>
                </a:solidFill>
                <a:latin typeface="Verdana"/>
                <a:ea typeface="Verdana"/>
                <a:cs typeface="Verdana"/>
                <a:sym typeface="Verdana"/>
              </a:rPr>
              <a:t>Collaboration</a:t>
            </a:r>
            <a:endParaRPr lang="en-US" sz="5100" b="1" dirty="0">
              <a:solidFill>
                <a:srgbClr val="33BEA6"/>
              </a:solidFill>
              <a:latin typeface="Verdana"/>
              <a:ea typeface="Verdana"/>
              <a:cs typeface="Verdana"/>
              <a:sym typeface="Verdana"/>
            </a:endParaRPr>
          </a:p>
        </p:txBody>
      </p:sp>
      <p:pic>
        <p:nvPicPr>
          <p:cNvPr id="11"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xmlns="" id="{E44DF7DE-9172-3E4E-B74A-7A51585FB6EA}"/>
                  </a:ext>
                </a:extLst>
              </p:cNvPr>
              <p:cNvSpPr txBox="1"/>
              <p:nvPr/>
            </p:nvSpPr>
            <p:spPr>
              <a:xfrm>
                <a:off x="529070" y="1386024"/>
                <a:ext cx="5405005" cy="3170099"/>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The graphs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𝑦</m:t>
                    </m:r>
                    <m:r>
                      <a:rPr lang="en-US" sz="2000" i="1" dirty="0">
                        <a:latin typeface="Cambria Math" panose="02040503050406030204" pitchFamily="18" charset="0"/>
                        <a:ea typeface="Verdana" panose="020B0604030504040204" pitchFamily="34" charset="0"/>
                        <a:cs typeface="Verdana" panose="020B0604030504040204" pitchFamily="34" charset="0"/>
                      </a:rPr>
                      <m:t>=−4</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+7 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8</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−5</m:t>
                    </m:r>
                    <m:r>
                      <a:rPr lang="en-US" sz="2000" i="1" dirty="0">
                        <a:latin typeface="Cambria Math" panose="02040503050406030204" pitchFamily="18" charset="0"/>
                        <a:ea typeface="Verdana" panose="020B0604030504040204" pitchFamily="34" charset="0"/>
                        <a:cs typeface="Verdana" panose="020B0604030504040204" pitchFamily="34" charset="0"/>
                      </a:rPr>
                      <m:t>𝑦</m:t>
                    </m:r>
                    <m:r>
                      <a:rPr lang="en-US" sz="2000" i="1" dirty="0">
                        <a:latin typeface="Cambria Math" panose="02040503050406030204" pitchFamily="18" charset="0"/>
                        <a:ea typeface="Verdana" panose="020B0604030504040204" pitchFamily="34" charset="0"/>
                        <a:cs typeface="Verdana" panose="020B0604030504040204" pitchFamily="34" charset="0"/>
                      </a:rPr>
                      <m:t>=15 </m:t>
                    </m:r>
                  </m:oMath>
                </a14:m>
                <a:r>
                  <a:rPr lang="en-US" sz="2000" dirty="0">
                    <a:latin typeface="Verdana" panose="020B0604030504040204" pitchFamily="34" charset="0"/>
                    <a:ea typeface="Verdana" panose="020B0604030504040204" pitchFamily="34" charset="0"/>
                    <a:cs typeface="Verdana" panose="020B0604030504040204" pitchFamily="34" charset="0"/>
                  </a:rPr>
                  <a:t>are shown</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pPr lvl="0"/>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r>
                  <a:rPr lang="en-US" sz="2000" dirty="0" smtClean="0">
                    <a:latin typeface="Verdana" panose="020B0604030504040204" pitchFamily="34" charset="0"/>
                    <a:ea typeface="Times New Roman" panose="02020603050405020304" pitchFamily="18" charset="0"/>
                    <a:cs typeface="Times New Roman" panose="02020603050405020304" pitchFamily="18" charset="0"/>
                  </a:rPr>
                  <a:t>The </a:t>
                </a:r>
                <a:r>
                  <a:rPr lang="en-US" sz="2000" dirty="0">
                    <a:latin typeface="Verdana" panose="020B0604030504040204" pitchFamily="34" charset="0"/>
                    <a:ea typeface="Times New Roman" panose="02020603050405020304" pitchFamily="18" charset="0"/>
                    <a:cs typeface="Times New Roman" panose="02020603050405020304" pitchFamily="18" charset="0"/>
                  </a:rPr>
                  <a:t>graphs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+7 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and </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000" dirty="0" smtClean="0">
                    <a:latin typeface="Verdana" panose="020B0604030504040204" pitchFamily="34" charset="0"/>
                    <a:ea typeface="Times New Roman" panose="02020603050405020304" pitchFamily="18" charset="0"/>
                    <a:cs typeface="Times New Roman" panose="02020603050405020304" pitchFamily="18" charset="0"/>
                  </a:rPr>
                </a:b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=15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are lines</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20" name="TextBox 19">
                <a:extLst>
                  <a:ext uri="{FF2B5EF4-FFF2-40B4-BE49-F238E27FC236}">
                    <a16:creationId xmlns:a16="http://schemas.microsoft.com/office/drawing/2014/main" xmlns="" xmlns:a14="http://schemas.microsoft.com/office/drawing/2010/main" id="{E44DF7DE-9172-3E4E-B74A-7A51585FB6EA}"/>
                  </a:ext>
                </a:extLst>
              </p:cNvPr>
              <p:cNvSpPr txBox="1">
                <a:spLocks noRot="1" noChangeAspect="1" noMove="1" noResize="1" noEditPoints="1" noAdjustHandles="1" noChangeArrowheads="1" noChangeShapeType="1" noTextEdit="1"/>
              </p:cNvSpPr>
              <p:nvPr/>
            </p:nvSpPr>
            <p:spPr>
              <a:xfrm>
                <a:off x="529070" y="1386024"/>
                <a:ext cx="5405005" cy="3170099"/>
              </a:xfrm>
              <a:prstGeom prst="rect">
                <a:avLst/>
              </a:prstGeom>
              <a:blipFill rotWithShape="1">
                <a:blip r:embed="rId3"/>
                <a:stretch>
                  <a:fillRect l="-1242" t="-962" b="-2500"/>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Chart, line chart&#10;&#10;Description automatically generated">
            <a:extLst>
              <a:ext uri="{FF2B5EF4-FFF2-40B4-BE49-F238E27FC236}">
                <a16:creationId xmlns:a16="http://schemas.microsoft.com/office/drawing/2014/main" xmlns="" id="{BCD4096D-EF94-4F4A-BCB6-4D3CD3CDD03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162277" y="1386025"/>
            <a:ext cx="5368835" cy="2860196"/>
          </a:xfrm>
          <a:prstGeom prst="rect">
            <a:avLst/>
          </a:prstGeom>
        </p:spPr>
      </p:pic>
      <p:grpSp>
        <p:nvGrpSpPr>
          <p:cNvPr id="12" name="Group 11">
            <a:extLst>
              <a:ext uri="{FF2B5EF4-FFF2-40B4-BE49-F238E27FC236}">
                <a16:creationId xmlns:a16="http://schemas.microsoft.com/office/drawing/2014/main" xmlns="" id="{7C368F61-F2E2-E140-AC0E-F9C2AC4D1972}"/>
              </a:ext>
            </a:extLst>
          </p:cNvPr>
          <p:cNvGrpSpPr/>
          <p:nvPr/>
        </p:nvGrpSpPr>
        <p:grpSpPr>
          <a:xfrm>
            <a:off x="529070" y="2397707"/>
            <a:ext cx="5252605" cy="1123712"/>
            <a:chOff x="-1" y="-244421"/>
            <a:chExt cx="5252605" cy="1083832"/>
          </a:xfrm>
        </p:grpSpPr>
        <p:sp>
          <p:nvSpPr>
            <p:cNvPr id="13" name="Text Box 33">
              <a:extLst>
                <a:ext uri="{FF2B5EF4-FFF2-40B4-BE49-F238E27FC236}">
                  <a16:creationId xmlns:a16="http://schemas.microsoft.com/office/drawing/2014/main" xmlns="" id="{A2B0C729-80EC-B94E-93F3-04C36C7241E9}"/>
                </a:ext>
              </a:extLst>
            </p:cNvPr>
            <p:cNvSpPr txBox="1"/>
            <p:nvPr/>
          </p:nvSpPr>
          <p:spPr>
            <a:xfrm>
              <a:off x="-1" y="-244421"/>
              <a:ext cx="5252605" cy="1083832"/>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628650">
                <a:spcAft>
                  <a:spcPts val="1000"/>
                </a:spcAft>
              </a:pP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A </a:t>
              </a:r>
              <a:r>
                <a:rPr lang="en-US" sz="20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line</a:t>
              </a: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is a straight path that extends infinitely in both directions</a:t>
              </a:r>
              <a:r>
                <a:rPr lang="en-US" sz="2000" dirty="0" smtClean="0">
                  <a:solidFill>
                    <a:srgbClr val="6C993D"/>
                  </a:solidFill>
                  <a:latin typeface="Verdana" panose="020B0604030504040204" pitchFamily="34" charset="0"/>
                  <a:ea typeface="Times New Roman" panose="02020603050405020304" pitchFamily="18" charset="0"/>
                  <a:cs typeface="Times New Roman" panose="02020603050405020304" pitchFamily="18" charset="0"/>
                </a:rPr>
                <a:t>.</a:t>
              </a:r>
              <a:r>
                <a:rPr lang="es-ES" sz="2000" b="1" dirty="0">
                  <a:solidFill>
                    <a:srgbClr val="000000"/>
                  </a:solidFill>
                  <a:ea typeface="Times New Roman" panose="02020603050405020304" pitchFamily="18" charset="0"/>
                  <a:cs typeface="Times New Roman" panose="02020603050405020304" pitchFamily="18" charset="0"/>
                </a:rPr>
                <a:t> </a:t>
              </a:r>
              <a:endParaRPr lang="x-none" sz="2000" dirty="0">
                <a:ea typeface="Times New Roman" panose="02020603050405020304" pitchFamily="18" charset="0"/>
                <a:cs typeface="Times New Roman" panose="02020603050405020304" pitchFamily="18" charset="0"/>
              </a:endParaRPr>
            </a:p>
          </p:txBody>
        </p:sp>
        <p:pic>
          <p:nvPicPr>
            <p:cNvPr id="14" name="Picture 13" descr="Icon&#10;&#10;Description automatically generated">
              <a:extLst>
                <a:ext uri="{FF2B5EF4-FFF2-40B4-BE49-F238E27FC236}">
                  <a16:creationId xmlns:a16="http://schemas.microsoft.com/office/drawing/2014/main" xmlns="" id="{AB6C7606-6046-2548-AD48-BD678236FA8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2955" y="24333"/>
              <a:ext cx="539750" cy="539750"/>
            </a:xfrm>
            <a:prstGeom prst="rect">
              <a:avLst/>
            </a:prstGeom>
            <a:effectLst>
              <a:outerShdw blurRad="50800" dist="38100" dir="2700000" algn="tl" rotWithShape="0">
                <a:prstClr val="black">
                  <a:alpha val="40000"/>
                </a:prstClr>
              </a:outerShdw>
            </a:effectLst>
          </p:spPr>
        </p:pic>
      </p:grpSp>
      <p:sp>
        <p:nvSpPr>
          <p:cNvPr id="1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164</a:t>
            </a:r>
            <a:endParaRPr i="1" dirty="0">
              <a:latin typeface="Calibri"/>
              <a:ea typeface="Calibri"/>
              <a:cs typeface="Calibri"/>
              <a:sym typeface="Calibri"/>
            </a:endParaRPr>
          </a:p>
        </p:txBody>
      </p:sp>
      <p:pic>
        <p:nvPicPr>
          <p:cNvPr id="17"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49" y="156765"/>
            <a:ext cx="10478463"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4.1.2 Collaboration: Domain and Range of Linear Relationships </a:t>
            </a:r>
            <a:endParaRPr lang="en-US" sz="3200" b="1" dirty="0">
              <a:solidFill>
                <a:srgbClr val="33BEA6"/>
              </a:solidFill>
              <a:latin typeface="Verdana"/>
              <a:ea typeface="Verdana"/>
              <a:cs typeface="Verdana"/>
              <a:sym typeface="Verdana"/>
            </a:endParaRPr>
          </a:p>
        </p:txBody>
      </p:sp>
      <p:pic>
        <p:nvPicPr>
          <p:cNvPr id="1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02842" y="27120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437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C8F82859-BA98-3646-BF3B-9E17E52A2E35}"/>
                  </a:ext>
                </a:extLst>
              </p:cNvPr>
              <p:cNvSpPr txBox="1"/>
              <p:nvPr/>
            </p:nvSpPr>
            <p:spPr>
              <a:xfrm>
                <a:off x="511205" y="533066"/>
                <a:ext cx="10953207" cy="532453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Two students were discussing how to determine if there is an 𝑥-value(s) not included in the graph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Their explanations are shown</a:t>
                </a:r>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pPr marL="457200" indent="-457200">
                  <a:buFont typeface="+mj-lt"/>
                  <a:buAutoNum type="arabicPeriod"/>
                </a:pPr>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the two different explanations. Then, use the definition of a line to justify whether there is an 𝑥-value(s) not included in the graph of the line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10" name="TextBox 9">
                <a:extLst>
                  <a:ext uri="{FF2B5EF4-FFF2-40B4-BE49-F238E27FC236}">
                    <a16:creationId xmlns:a14="http://schemas.microsoft.com/office/drawing/2010/main" xmlns:a16="http://schemas.microsoft.com/office/drawing/2014/main" xmlns="" id="{C8F82859-BA98-3646-BF3B-9E17E52A2E35}"/>
                  </a:ext>
                </a:extLst>
              </p:cNvPr>
              <p:cNvSpPr txBox="1">
                <a:spLocks noRot="1" noChangeAspect="1" noMove="1" noResize="1" noEditPoints="1" noAdjustHandles="1" noChangeArrowheads="1" noChangeShapeType="1" noTextEdit="1"/>
              </p:cNvSpPr>
              <p:nvPr/>
            </p:nvSpPr>
            <p:spPr>
              <a:xfrm>
                <a:off x="511205" y="533066"/>
                <a:ext cx="10953207" cy="5324535"/>
              </a:xfrm>
              <a:prstGeom prst="rect">
                <a:avLst/>
              </a:prstGeom>
              <a:blipFill rotWithShape="1">
                <a:blip r:embed="rId3"/>
                <a:stretch>
                  <a:fillRect l="-612" t="-686" b="-1030"/>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xmlns="" id="{D53880D5-97E9-7840-832C-9358476C2CB5}"/>
                  </a:ext>
                </a:extLst>
              </p:cNvPr>
              <p:cNvGraphicFramePr>
                <a:graphicFrameLocks noGrp="1"/>
              </p:cNvGraphicFramePr>
              <p:nvPr>
                <p:extLst>
                  <p:ext uri="{D42A27DB-BD31-4B8C-83A1-F6EECF244321}">
                    <p14:modId xmlns:p14="http://schemas.microsoft.com/office/powerpoint/2010/main" val="282414233"/>
                  </p:ext>
                </p:extLst>
              </p:nvPr>
            </p:nvGraphicFramePr>
            <p:xfrm>
              <a:off x="2665413" y="1546202"/>
              <a:ext cx="6861175" cy="2987040"/>
            </p:xfrm>
            <a:graphic>
              <a:graphicData uri="http://schemas.openxmlformats.org/drawingml/2006/table">
                <a:tbl>
                  <a:tblPr firstRow="1" firstCol="1" bandRow="1">
                    <a:tableStyleId>{A91F0D33-8C57-4600-99A7-42BC86742BE1}</a:tableStyleId>
                  </a:tblPr>
                  <a:tblGrid>
                    <a:gridCol w="3486150">
                      <a:extLst>
                        <a:ext uri="{9D8B030D-6E8A-4147-A177-3AD203B41FA5}">
                          <a16:colId xmlns:a16="http://schemas.microsoft.com/office/drawing/2014/main" xmlns="" val="355962736"/>
                        </a:ext>
                      </a:extLst>
                    </a:gridCol>
                    <a:gridCol w="3375025">
                      <a:extLst>
                        <a:ext uri="{9D8B030D-6E8A-4147-A177-3AD203B41FA5}">
                          <a16:colId xmlns:a16="http://schemas.microsoft.com/office/drawing/2014/main" xmlns="" val="1618200298"/>
                        </a:ext>
                      </a:extLst>
                    </a:gridCol>
                  </a:tblGrid>
                  <a:tr h="457200">
                    <a:tc>
                      <a:txBody>
                        <a:bodyPr/>
                        <a:lstStyle/>
                        <a:p>
                          <a:pPr marL="0" marR="0" algn="ctr">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Quanasia</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Lysha</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687172004"/>
                      </a:ext>
                    </a:extLst>
                  </a:tr>
                  <a:tr h="4572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graph of </a:t>
                          </a:r>
                          <a14:m>
                            <m:oMath xmlns:m="http://schemas.openxmlformats.org/officeDocument/2006/math">
                              <m:r>
                                <a:rPr lang="en-US" sz="2000">
                                  <a:effectLst/>
                                  <a:latin typeface="Cambria Math" panose="02040503050406030204" pitchFamily="18" charset="0"/>
                                </a:rPr>
                                <m:t>𝑦</m:t>
                              </m:r>
                              <m:r>
                                <a:rPr lang="en-US" sz="2000">
                                  <a:effectLst/>
                                  <a:latin typeface="Cambria Math" panose="02040503050406030204" pitchFamily="18" charset="0"/>
                                </a:rPr>
                                <m:t>=−4</m:t>
                              </m:r>
                              <m:r>
                                <a:rPr lang="en-US" sz="2000">
                                  <a:effectLst/>
                                  <a:latin typeface="Cambria Math" panose="02040503050406030204" pitchFamily="18" charset="0"/>
                                </a:rPr>
                                <m:t>𝑥</m:t>
                              </m:r>
                              <m:r>
                                <a:rPr lang="en-US" sz="2000">
                                  <a:effectLst/>
                                  <a:latin typeface="Cambria Math" panose="02040503050406030204" pitchFamily="18" charset="0"/>
                                </a:rPr>
                                <m:t>+7</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is steep so it will never reach values such as </a:t>
                          </a:r>
                          <a14:m>
                            <m:oMath xmlns:m="http://schemas.openxmlformats.org/officeDocument/2006/math">
                              <m:r>
                                <a:rPr lang="en-US" sz="2000">
                                  <a:effectLst/>
                                  <a:latin typeface="Cambria Math" panose="02040503050406030204" pitchFamily="18" charset="0"/>
                                </a:rPr>
                                <m:t>𝑥</m:t>
                              </m:r>
                              <m:r>
                                <a:rPr lang="en-US" sz="2000">
                                  <a:effectLst/>
                                  <a:latin typeface="Cambria Math" panose="02040503050406030204" pitchFamily="18" charset="0"/>
                                </a:rPr>
                                <m:t>=10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 think it eventually reaches </a:t>
                          </a:r>
                          <a14:m>
                            <m:oMath xmlns:m="http://schemas.openxmlformats.org/officeDocument/2006/math">
                              <m:r>
                                <a:rPr lang="en-US" sz="2000">
                                  <a:effectLst/>
                                  <a:latin typeface="Cambria Math" panose="02040503050406030204" pitchFamily="18" charset="0"/>
                                </a:rPr>
                                <m:t>𝑥</m:t>
                              </m:r>
                              <m:r>
                                <a:rPr lang="en-US" sz="2000">
                                  <a:effectLst/>
                                  <a:latin typeface="Cambria Math" panose="02040503050406030204" pitchFamily="18" charset="0"/>
                                </a:rPr>
                                <m:t>=5</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but I don’t think it reaches many </a:t>
                          </a:r>
                          <a14:m>
                            <m:oMath xmlns:m="http://schemas.openxmlformats.org/officeDocument/2006/math">
                              <m:r>
                                <a:rPr lang="en-US" sz="2000">
                                  <a:effectLst/>
                                  <a:latin typeface="Cambria Math" panose="02040503050406030204" pitchFamily="18" charset="0"/>
                                </a:rPr>
                                <m:t>𝑥</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-values after that.</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graph cannot show the entire line. If I input any value in for </a:t>
                          </a:r>
                          <a14:m>
                            <m:oMath xmlns:m="http://schemas.openxmlformats.org/officeDocument/2006/math">
                              <m:r>
                                <a:rPr lang="en-US" sz="2000">
                                  <a:effectLst/>
                                  <a:latin typeface="Cambria Math" panose="02040503050406030204" pitchFamily="18" charset="0"/>
                                </a:rPr>
                                <m:t>𝑥</m:t>
                              </m:r>
                              <m:r>
                                <a:rPr lang="en-US" sz="2000">
                                  <a:effectLst/>
                                  <a:latin typeface="Cambria Math" panose="02040503050406030204" pitchFamily="18" charset="0"/>
                                </a:rPr>
                                <m:t>, </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the output, </a:t>
                          </a:r>
                          <a14:m>
                            <m:oMath xmlns:m="http://schemas.openxmlformats.org/officeDocument/2006/math">
                              <m:r>
                                <a:rPr lang="en-US" sz="2000">
                                  <a:effectLst/>
                                  <a:latin typeface="Cambria Math" panose="02040503050406030204" pitchFamily="18" charset="0"/>
                                </a:rPr>
                                <m:t>𝑦</m:t>
                              </m:r>
                              <m:r>
                                <a:rPr lang="en-US" sz="2000">
                                  <a:effectLst/>
                                  <a:latin typeface="Cambria Math" panose="02040503050406030204" pitchFamily="18"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will always be a number.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8387970"/>
                      </a:ext>
                    </a:extLst>
                  </a:tr>
                </a:tbl>
              </a:graphicData>
            </a:graphic>
          </p:graphicFrame>
        </mc:Choice>
        <mc:Fallback>
          <p:graphicFrame>
            <p:nvGraphicFramePr>
              <p:cNvPr id="5" name="Table 4">
                <a:extLst>
                  <a:ext uri="{FF2B5EF4-FFF2-40B4-BE49-F238E27FC236}">
                    <a16:creationId xmlns:a16="http://schemas.microsoft.com/office/drawing/2014/main" xmlns:a14="http://schemas.microsoft.com/office/drawing/2010/main" xmlns="" id="{D53880D5-97E9-7840-832C-9358476C2CB5}"/>
                  </a:ext>
                </a:extLst>
              </p:cNvPr>
              <p:cNvGraphicFramePr>
                <a:graphicFrameLocks noGrp="1"/>
              </p:cNvGraphicFramePr>
              <p:nvPr>
                <p:extLst>
                  <p:ext uri="{D42A27DB-BD31-4B8C-83A1-F6EECF244321}">
                    <p14:modId xmlns:p14="http://schemas.microsoft.com/office/powerpoint/2010/main" val="282414233"/>
                  </p:ext>
                </p:extLst>
              </p:nvPr>
            </p:nvGraphicFramePr>
            <p:xfrm>
              <a:off x="2665413" y="1546202"/>
              <a:ext cx="6861175" cy="2987040"/>
            </p:xfrm>
            <a:graphic>
              <a:graphicData uri="http://schemas.openxmlformats.org/drawingml/2006/table">
                <a:tbl>
                  <a:tblPr firstRow="1" firstCol="1" bandRow="1">
                    <a:tableStyleId>{A91F0D33-8C57-4600-99A7-42BC86742BE1}</a:tableStyleId>
                  </a:tblPr>
                  <a:tblGrid>
                    <a:gridCol w="3486150">
                      <a:extLst>
                        <a:ext uri="{9D8B030D-6E8A-4147-A177-3AD203B41FA5}">
                          <a16:colId xmlns:a16="http://schemas.microsoft.com/office/drawing/2014/main" xmlns:a14="http://schemas.microsoft.com/office/drawing/2010/main" xmlns="" val="355962736"/>
                        </a:ext>
                      </a:extLst>
                    </a:gridCol>
                    <a:gridCol w="3375025">
                      <a:extLst>
                        <a:ext uri="{9D8B030D-6E8A-4147-A177-3AD203B41FA5}">
                          <a16:colId xmlns:a16="http://schemas.microsoft.com/office/drawing/2014/main" xmlns:a14="http://schemas.microsoft.com/office/drawing/2010/main" xmlns="" val="1618200298"/>
                        </a:ext>
                      </a:extLst>
                    </a:gridCol>
                  </a:tblGrid>
                  <a:tr h="457200">
                    <a:tc>
                      <a:txBody>
                        <a:bodyPr/>
                        <a:lstStyle/>
                        <a:p>
                          <a:pPr marL="0" marR="0" algn="ctr">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Quanasia</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Lysha</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687172004"/>
                      </a:ext>
                    </a:extLst>
                  </a:tr>
                  <a:tr h="2529840">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8313" r="-96853" b="-4337"/>
                          </a:stretch>
                        </a:blipFill>
                      </a:tcPr>
                    </a:tc>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3249" t="-18313" b="-4337"/>
                          </a:stretch>
                        </a:blipFill>
                      </a:tcPr>
                    </a:tc>
                    <a:extLst>
                      <a:ext uri="{0D108BD9-81ED-4DB2-BD59-A6C34878D82A}">
                        <a16:rowId xmlns:a16="http://schemas.microsoft.com/office/drawing/2014/main" xmlns:a14="http://schemas.microsoft.com/office/drawing/2010/main" xmlns="" val="338387970"/>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165</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165</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xmlns="" id="{C8F82859-BA98-3646-BF3B-9E17E52A2E35}"/>
                  </a:ext>
                </a:extLst>
              </p:cNvPr>
              <p:cNvSpPr txBox="1"/>
              <p:nvPr/>
            </p:nvSpPr>
            <p:spPr>
              <a:xfrm>
                <a:off x="511205" y="533066"/>
                <a:ext cx="10953207" cy="4093428"/>
              </a:xfrm>
              <a:prstGeom prst="rect">
                <a:avLst/>
              </a:prstGeom>
              <a:noFill/>
            </p:spPr>
            <p:txBody>
              <a:bodyPr wrap="square" rtlCol="0">
                <a:spAutoFit/>
              </a:bodyPr>
              <a:lstStyle/>
              <a:p>
                <a:pPr marL="457200" indent="-457200">
                  <a:buFont typeface="+mj-lt"/>
                  <a:buAutoNum type="arabicPeriod" startAt="2"/>
                </a:pPr>
                <a:endParaRPr lang="en-US"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smtClean="0">
                    <a:latin typeface="Verdana" panose="020B0604030504040204" pitchFamily="34" charset="0"/>
                    <a:ea typeface="Times New Roman" panose="02020603050405020304" pitchFamily="18" charset="0"/>
                    <a:cs typeface="Times New Roman" panose="02020603050405020304" pitchFamily="18" charset="0"/>
                  </a:rPr>
                  <a:t>Based </a:t>
                </a:r>
                <a:r>
                  <a:rPr lang="en-US" sz="2000" dirty="0">
                    <a:latin typeface="Verdana" panose="020B0604030504040204" pitchFamily="34" charset="0"/>
                    <a:ea typeface="Times New Roman" panose="02020603050405020304" pitchFamily="18" charset="0"/>
                    <a:cs typeface="Times New Roman" panose="02020603050405020304" pitchFamily="18" charset="0"/>
                  </a:rPr>
                  <a:t>on the definition of domain, what values can be used as an input for 𝑥 if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all values greater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less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all values greater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−20 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and less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20</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it cannot be determined</a:t>
                </a:r>
              </a:p>
              <a:p>
                <a:pPr marL="914400" indent="-457200">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any value</a:t>
                </a:r>
              </a:p>
            </p:txBody>
          </p:sp>
        </mc:Choice>
        <mc:Fallback>
          <p:sp>
            <p:nvSpPr>
              <p:cNvPr id="13" name="TextBox 12">
                <a:extLst>
                  <a:ext uri="{FF2B5EF4-FFF2-40B4-BE49-F238E27FC236}">
                    <a16:creationId xmlns:a14="http://schemas.microsoft.com/office/drawing/2010/main" xmlns:a16="http://schemas.microsoft.com/office/drawing/2014/main" xmlns="" id="{C8F82859-BA98-3646-BF3B-9E17E52A2E35}"/>
                  </a:ext>
                </a:extLst>
              </p:cNvPr>
              <p:cNvSpPr txBox="1">
                <a:spLocks noRot="1" noChangeAspect="1" noMove="1" noResize="1" noEditPoints="1" noAdjustHandles="1" noChangeArrowheads="1" noChangeShapeType="1" noTextEdit="1"/>
              </p:cNvSpPr>
              <p:nvPr/>
            </p:nvSpPr>
            <p:spPr>
              <a:xfrm>
                <a:off x="511205" y="533066"/>
                <a:ext cx="10953207" cy="4093428"/>
              </a:xfrm>
              <a:prstGeom prst="rect">
                <a:avLst/>
              </a:prstGeom>
              <a:blipFill rotWithShape="1">
                <a:blip r:embed="rId4"/>
                <a:stretch>
                  <a:fillRect l="-612" b="-1637"/>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xmlns="" id="{7C368F61-F2E2-E140-AC0E-F9C2AC4D1972}"/>
              </a:ext>
            </a:extLst>
          </p:cNvPr>
          <p:cNvGrpSpPr/>
          <p:nvPr/>
        </p:nvGrpSpPr>
        <p:grpSpPr>
          <a:xfrm>
            <a:off x="2673108" y="529118"/>
            <a:ext cx="6629400" cy="1464231"/>
            <a:chOff x="-1" y="-408638"/>
            <a:chExt cx="6629400" cy="1412267"/>
          </a:xfrm>
        </p:grpSpPr>
        <p:sp>
          <p:nvSpPr>
            <p:cNvPr id="15" name="Text Box 33">
              <a:extLst>
                <a:ext uri="{FF2B5EF4-FFF2-40B4-BE49-F238E27FC236}">
                  <a16:creationId xmlns:a16="http://schemas.microsoft.com/office/drawing/2014/main" xmlns="" id="{A2B0C729-80EC-B94E-93F3-04C36C7241E9}"/>
                </a:ext>
              </a:extLst>
            </p:cNvPr>
            <p:cNvSpPr txBox="1"/>
            <p:nvPr/>
          </p:nvSpPr>
          <p:spPr>
            <a:xfrm>
              <a:off x="-1" y="-408638"/>
              <a:ext cx="6629400" cy="1412267"/>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628650"/>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The </a:t>
              </a:r>
              <a:r>
                <a:rPr lang="en-US" sz="20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domain</a:t>
              </a: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is the complete set of possible values of the input of a function or relation. The domain may vary depending on the context.</a:t>
              </a:r>
              <a:endParaRPr lang="x-none" sz="2000" dirty="0">
                <a:ea typeface="Times New Roman" panose="02020603050405020304" pitchFamily="18" charset="0"/>
                <a:cs typeface="Times New Roman" panose="02020603050405020304" pitchFamily="18" charset="0"/>
              </a:endParaRPr>
            </a:p>
          </p:txBody>
        </p:sp>
        <p:pic>
          <p:nvPicPr>
            <p:cNvPr id="16" name="Picture 15" descr="Icon&#10;&#10;Description automatically generated">
              <a:extLst>
                <a:ext uri="{FF2B5EF4-FFF2-40B4-BE49-F238E27FC236}">
                  <a16:creationId xmlns:a16="http://schemas.microsoft.com/office/drawing/2014/main" xmlns="" id="{AB6C7606-6046-2548-AD48-BD678236FA8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41332" y="-14864"/>
              <a:ext cx="539750" cy="539750"/>
            </a:xfrm>
            <a:prstGeom prst="rect">
              <a:avLst/>
            </a:prstGeom>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2381553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165</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xmlns="" id="{C8F82859-BA98-3646-BF3B-9E17E52A2E35}"/>
                  </a:ext>
                </a:extLst>
              </p:cNvPr>
              <p:cNvSpPr txBox="1"/>
              <p:nvPr/>
            </p:nvSpPr>
            <p:spPr>
              <a:xfrm>
                <a:off x="511205" y="533066"/>
                <a:ext cx="10953207" cy="4093428"/>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Based on the definition of domain, what values can be used as an input for 𝑥 if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all values greater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and less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all values greater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−20 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and less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20</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it cannot be determined</a:t>
                </a: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any value</a:t>
                </a:r>
              </a:p>
              <a:p>
                <a:pPr marL="457200" indent="-457200">
                  <a:buFont typeface="+mj-lt"/>
                  <a:buAutoNum type="alphaU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U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List any 𝑦-value(s) not included in the graph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If none, then explain why</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8" name="TextBox 7">
                <a:extLst>
                  <a:ext uri="{FF2B5EF4-FFF2-40B4-BE49-F238E27FC236}">
                    <a16:creationId xmlns:a14="http://schemas.microsoft.com/office/drawing/2010/main" xmlns:a16="http://schemas.microsoft.com/office/drawing/2014/main" xmlns="" id="{C8F82859-BA98-3646-BF3B-9E17E52A2E35}"/>
                  </a:ext>
                </a:extLst>
              </p:cNvPr>
              <p:cNvSpPr txBox="1">
                <a:spLocks noRot="1" noChangeAspect="1" noMove="1" noResize="1" noEditPoints="1" noAdjustHandles="1" noChangeArrowheads="1" noChangeShapeType="1" noTextEdit="1"/>
              </p:cNvSpPr>
              <p:nvPr/>
            </p:nvSpPr>
            <p:spPr>
              <a:xfrm>
                <a:off x="511205" y="533066"/>
                <a:ext cx="10953207" cy="4093428"/>
              </a:xfrm>
              <a:prstGeom prst="rect">
                <a:avLst/>
              </a:prstGeom>
              <a:blipFill rotWithShape="1">
                <a:blip r:embed="rId4"/>
                <a:stretch>
                  <a:fillRect l="-612" t="-893" b="-1637"/>
                </a:stretch>
              </a:blipFill>
            </p:spPr>
            <p:txBody>
              <a:bodyPr/>
              <a:lstStyle/>
              <a:p>
                <a:r>
                  <a:rPr lang="en-US">
                    <a:noFill/>
                  </a:rPr>
                  <a:t> </a:t>
                </a:r>
              </a:p>
            </p:txBody>
          </p:sp>
        </mc:Fallback>
      </mc:AlternateContent>
    </p:spTree>
    <p:extLst>
      <p:ext uri="{BB962C8B-B14F-4D97-AF65-F5344CB8AC3E}">
        <p14:creationId xmlns:p14="http://schemas.microsoft.com/office/powerpoint/2010/main" val="2042787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492"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165</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xmlns="" id="{C8F82859-BA98-3646-BF3B-9E17E52A2E35}"/>
                  </a:ext>
                </a:extLst>
              </p:cNvPr>
              <p:cNvSpPr txBox="1"/>
              <p:nvPr/>
            </p:nvSpPr>
            <p:spPr>
              <a:xfrm>
                <a:off x="511205" y="533066"/>
                <a:ext cx="10953207" cy="707886"/>
              </a:xfrm>
              <a:prstGeom prst="rect">
                <a:avLst/>
              </a:prstGeom>
              <a:noFill/>
            </p:spPr>
            <p:txBody>
              <a:bodyPr wrap="square" rtlCol="0">
                <a:spAutoFit/>
              </a:bodyPr>
              <a:lstStyle/>
              <a:p>
                <a:pPr marL="457200" indent="-4572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List any 𝑦-value(s) not included in the graph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If none, then explain why</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11" name="TextBox 10">
                <a:extLst>
                  <a:ext uri="{FF2B5EF4-FFF2-40B4-BE49-F238E27FC236}">
                    <a16:creationId xmlns:a14="http://schemas.microsoft.com/office/drawing/2010/main" xmlns:a16="http://schemas.microsoft.com/office/drawing/2014/main" xmlns="" id="{C8F82859-BA98-3646-BF3B-9E17E52A2E35}"/>
                  </a:ext>
                </a:extLst>
              </p:cNvPr>
              <p:cNvSpPr txBox="1">
                <a:spLocks noRot="1" noChangeAspect="1" noMove="1" noResize="1" noEditPoints="1" noAdjustHandles="1" noChangeArrowheads="1" noChangeShapeType="1" noTextEdit="1"/>
              </p:cNvSpPr>
              <p:nvPr/>
            </p:nvSpPr>
            <p:spPr>
              <a:xfrm>
                <a:off x="511205" y="533066"/>
                <a:ext cx="10953207" cy="707886"/>
              </a:xfrm>
              <a:prstGeom prst="rect">
                <a:avLst/>
              </a:prstGeom>
              <a:blipFill rotWithShape="1">
                <a:blip r:embed="rId4"/>
                <a:stretch>
                  <a:fillRect l="-612" t="-5128" b="-13675"/>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xmlns="" id="{7C368F61-F2E2-E140-AC0E-F9C2AC4D1972}"/>
              </a:ext>
            </a:extLst>
          </p:cNvPr>
          <p:cNvGrpSpPr/>
          <p:nvPr/>
        </p:nvGrpSpPr>
        <p:grpSpPr>
          <a:xfrm>
            <a:off x="2673108" y="4722738"/>
            <a:ext cx="6629400" cy="1123712"/>
            <a:chOff x="-1" y="-244420"/>
            <a:chExt cx="6629400" cy="1083832"/>
          </a:xfrm>
        </p:grpSpPr>
        <p:sp>
          <p:nvSpPr>
            <p:cNvPr id="14" name="Text Box 33">
              <a:extLst>
                <a:ext uri="{FF2B5EF4-FFF2-40B4-BE49-F238E27FC236}">
                  <a16:creationId xmlns:a16="http://schemas.microsoft.com/office/drawing/2014/main" xmlns="" id="{A2B0C729-80EC-B94E-93F3-04C36C7241E9}"/>
                </a:ext>
              </a:extLst>
            </p:cNvPr>
            <p:cNvSpPr txBox="1"/>
            <p:nvPr/>
          </p:nvSpPr>
          <p:spPr>
            <a:xfrm>
              <a:off x="-1" y="-244420"/>
              <a:ext cx="6629400" cy="1083832"/>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742950"/>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The </a:t>
              </a:r>
              <a:r>
                <a:rPr lang="en-US" sz="20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range</a:t>
              </a: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is the complete set of possible values of the output of a relation or function.</a:t>
              </a:r>
              <a:endParaRPr lang="x-none" sz="2000">
                <a:ea typeface="Times New Roman" panose="02020603050405020304" pitchFamily="18" charset="0"/>
                <a:cs typeface="Times New Roman" panose="02020603050405020304" pitchFamily="18" charset="0"/>
              </a:endParaRPr>
            </a:p>
          </p:txBody>
        </p:sp>
        <p:pic>
          <p:nvPicPr>
            <p:cNvPr id="15" name="Picture 14" descr="Icon&#10;&#10;Description automatically generated">
              <a:extLst>
                <a:ext uri="{FF2B5EF4-FFF2-40B4-BE49-F238E27FC236}">
                  <a16:creationId xmlns:a16="http://schemas.microsoft.com/office/drawing/2014/main" xmlns="" id="{AB6C7606-6046-2548-AD48-BD678236FA8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41332" y="-14864"/>
              <a:ext cx="539750" cy="539750"/>
            </a:xfrm>
            <a:prstGeom prst="rect">
              <a:avLst/>
            </a:prstGeom>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252903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166</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xmlns="" id="{C8F82859-BA98-3646-BF3B-9E17E52A2E35}"/>
                  </a:ext>
                </a:extLst>
              </p:cNvPr>
              <p:cNvSpPr txBox="1"/>
              <p:nvPr/>
            </p:nvSpPr>
            <p:spPr>
              <a:xfrm>
                <a:off x="511205" y="533066"/>
                <a:ext cx="10953207" cy="5324535"/>
              </a:xfrm>
              <a:prstGeom prst="rect">
                <a:avLst/>
              </a:prstGeom>
              <a:noFill/>
            </p:spPr>
            <p:txBody>
              <a:bodyPr wrap="square" rtlCol="0">
                <a:spAutoFit/>
              </a:bodyPr>
              <a:lstStyle/>
              <a:p>
                <a:pPr marL="457200" indent="-457200">
                  <a:buFont typeface="+mj-lt"/>
                  <a:buAutoNum type="arabicPeriod" startAt="6"/>
                </a:pPr>
                <a:r>
                  <a:rPr lang="en-US" sz="2000" dirty="0">
                    <a:latin typeface="Verdana" panose="020B0604030504040204" pitchFamily="34" charset="0"/>
                    <a:ea typeface="Times New Roman" panose="02020603050405020304" pitchFamily="18" charset="0"/>
                    <a:cs typeface="Times New Roman" panose="02020603050405020304" pitchFamily="18" charset="0"/>
                  </a:rPr>
                  <a:t>Based on the definition of range, for the linear relationship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000" dirty="0" smtClean="0">
                    <a:latin typeface="Verdana" panose="020B0604030504040204" pitchFamily="34" charset="0"/>
                    <a:ea typeface="Times New Roman" panose="02020603050405020304" pitchFamily="18" charset="0"/>
                    <a:cs typeface="Times New Roman" panose="02020603050405020304" pitchFamily="18" charset="0"/>
                  </a:rPr>
                </a:br>
                <a:r>
                  <a:rPr lang="en-US" sz="2000" dirty="0" smtClean="0">
                    <a:latin typeface="Verdana" panose="020B0604030504040204" pitchFamily="34" charset="0"/>
                    <a:ea typeface="Times New Roman" panose="02020603050405020304" pitchFamily="18" charset="0"/>
                    <a:cs typeface="Times New Roman" panose="02020603050405020304" pitchFamily="18" charset="0"/>
                  </a:rPr>
                  <a:t>what </a:t>
                </a:r>
                <a:r>
                  <a:rPr lang="en-US" sz="2000" dirty="0">
                    <a:latin typeface="Verdana" panose="020B0604030504040204" pitchFamily="34" charset="0"/>
                    <a:ea typeface="Times New Roman" panose="02020603050405020304" pitchFamily="18" charset="0"/>
                    <a:cs typeface="Times New Roman" panose="02020603050405020304" pitchFamily="18" charset="0"/>
                  </a:rPr>
                  <a:t>values are outputs for 𝑦?</a:t>
                </a:r>
              </a:p>
              <a:p>
                <a:pPr marL="457200" indent="-457200">
                  <a:buFont typeface="+mj-lt"/>
                  <a:buAutoNum type="alphaUcPeriod" startAt="6"/>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all values greater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−10 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and less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15</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all values greater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−20 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and less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20</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it cannot be determined</a:t>
                </a: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any value</a:t>
                </a:r>
              </a:p>
              <a:p>
                <a:pPr marL="457200" indent="-457200">
                  <a:buFont typeface="+mj-lt"/>
                  <a:buAutoNum type="alphaU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7"/>
                </a:pPr>
                <a:r>
                  <a:rPr lang="en-US" sz="2000" dirty="0">
                    <a:latin typeface="Verdana" panose="020B0604030504040204" pitchFamily="34" charset="0"/>
                    <a:ea typeface="Times New Roman" panose="02020603050405020304" pitchFamily="18" charset="0"/>
                    <a:cs typeface="Times New Roman" panose="02020603050405020304" pitchFamily="18" charset="0"/>
                  </a:rPr>
                  <a:t>Based on the definition of range, for the linear relationship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000" dirty="0" smtClean="0">
                    <a:latin typeface="Verdana" panose="020B0604030504040204" pitchFamily="34" charset="0"/>
                    <a:ea typeface="Times New Roman" panose="02020603050405020304" pitchFamily="18" charset="0"/>
                    <a:cs typeface="Times New Roman" panose="02020603050405020304" pitchFamily="18" charset="0"/>
                  </a:rPr>
                </a:br>
                <a:r>
                  <a:rPr lang="en-US" sz="2000" dirty="0" smtClean="0">
                    <a:latin typeface="Verdana" panose="020B0604030504040204" pitchFamily="34" charset="0"/>
                    <a:ea typeface="Times New Roman" panose="02020603050405020304" pitchFamily="18" charset="0"/>
                    <a:cs typeface="Times New Roman" panose="02020603050405020304" pitchFamily="18" charset="0"/>
                  </a:rPr>
                  <a:t>what </a:t>
                </a:r>
                <a:r>
                  <a:rPr lang="en-US" sz="2000" dirty="0">
                    <a:latin typeface="Verdana" panose="020B0604030504040204" pitchFamily="34" charset="0"/>
                    <a:ea typeface="Times New Roman" panose="02020603050405020304" pitchFamily="18" charset="0"/>
                    <a:cs typeface="Times New Roman" panose="02020603050405020304" pitchFamily="18" charset="0"/>
                  </a:rPr>
                  <a:t>values are outputs for 𝑦?</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all values greater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−10 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and less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10</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all values greater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−20 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and less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20</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it cannot be determined</a:t>
                </a:r>
              </a:p>
              <a:p>
                <a:pPr marL="922338" indent="-455613">
                  <a:buFont typeface="+mj-lt"/>
                  <a:buAutoNum type="alphaU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any value</a:t>
                </a:r>
              </a:p>
              <a:p>
                <a:pPr marL="457200" indent="-457200">
                  <a:buFont typeface="+mj-lt"/>
                  <a:buAutoNum type="alphaU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8" name="TextBox 7">
                <a:extLst>
                  <a:ext uri="{FF2B5EF4-FFF2-40B4-BE49-F238E27FC236}">
                    <a16:creationId xmlns:a14="http://schemas.microsoft.com/office/drawing/2010/main" xmlns:a16="http://schemas.microsoft.com/office/drawing/2014/main" xmlns="" id="{C8F82859-BA98-3646-BF3B-9E17E52A2E35}"/>
                  </a:ext>
                </a:extLst>
              </p:cNvPr>
              <p:cNvSpPr txBox="1">
                <a:spLocks noRot="1" noChangeAspect="1" noMove="1" noResize="1" noEditPoints="1" noAdjustHandles="1" noChangeArrowheads="1" noChangeShapeType="1" noTextEdit="1"/>
              </p:cNvSpPr>
              <p:nvPr/>
            </p:nvSpPr>
            <p:spPr>
              <a:xfrm>
                <a:off x="511205" y="533066"/>
                <a:ext cx="10953207" cy="5324535"/>
              </a:xfrm>
              <a:prstGeom prst="rect">
                <a:avLst/>
              </a:prstGeom>
              <a:blipFill rotWithShape="1">
                <a:blip r:embed="rId4"/>
                <a:stretch>
                  <a:fillRect l="-612" t="-686"/>
                </a:stretch>
              </a:blipFill>
            </p:spPr>
            <p:txBody>
              <a:bodyPr/>
              <a:lstStyle/>
              <a:p>
                <a:r>
                  <a:rPr lang="en-US">
                    <a:noFill/>
                  </a:rPr>
                  <a:t> </a:t>
                </a:r>
              </a:p>
            </p:txBody>
          </p:sp>
        </mc:Fallback>
      </mc:AlternateContent>
    </p:spTree>
    <p:extLst>
      <p:ext uri="{BB962C8B-B14F-4D97-AF65-F5344CB8AC3E}">
        <p14:creationId xmlns:p14="http://schemas.microsoft.com/office/powerpoint/2010/main" val="3237090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166</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2" name="image2.png" descr="Icon&#10;&#10;Description automatically generated">
            <a:extLst>
              <a:ext uri="{FF2B5EF4-FFF2-40B4-BE49-F238E27FC236}">
                <a16:creationId xmlns="" xmlns:a16="http://schemas.microsoft.com/office/drawing/2014/main" id="{B8663E50-D763-C343-96E8-FEAEDD7FA21B}"/>
              </a:ext>
            </a:extLst>
          </p:cNvPr>
          <p:cNvPicPr/>
          <p:nvPr/>
        </p:nvPicPr>
        <p:blipFill>
          <a:blip r:embed="rId4"/>
          <a:srcRect/>
          <a:stretch>
            <a:fillRect/>
          </a:stretch>
        </p:blipFill>
        <p:spPr>
          <a:xfrm>
            <a:off x="4506717"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xmlns="" id="{C01B13E8-EC8D-E443-A329-C5E3593DD13A}"/>
                  </a:ext>
                </a:extLst>
              </p:cNvPr>
              <p:cNvSpPr txBox="1"/>
              <p:nvPr/>
            </p:nvSpPr>
            <p:spPr>
              <a:xfrm>
                <a:off x="545131" y="1216747"/>
                <a:ext cx="3874470" cy="5016758"/>
              </a:xfrm>
              <a:prstGeom prst="rect">
                <a:avLst/>
              </a:prstGeom>
              <a:noFill/>
            </p:spPr>
            <p:txBody>
              <a:bodyPr wrap="square" rtlCol="0">
                <a:spAutoFit/>
              </a:bodyPr>
              <a:lstStyle/>
              <a:p>
                <a:pPr lvl="0" eaLnBrk="0" fontAlgn="base" hangingPunct="0">
                  <a:spcBef>
                    <a:spcPct val="0"/>
                  </a:spcBef>
                  <a:spcAft>
                    <a:spcPct val="0"/>
                  </a:spcAft>
                  <a:buClrTx/>
                </a:pPr>
                <a:r>
                  <a:rPr lang="en-US"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graphs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𝑦</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𝑥</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+7 </m:t>
                    </m:r>
                  </m:oMath>
                </a14:m>
                <a:r>
                  <a:rPr lang="en-US"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br>
                  <a:rPr lang="en-US"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and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8</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𝑥</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−5</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𝑦</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=15 </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are shown where the graph has been zoomed out</a:t>
                </a:r>
                <a:r>
                  <a:rPr lang="en-US"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r>
                  <a:rPr lang="en-US" sz="2000" dirty="0" smtClean="0">
                    <a:latin typeface="Verdana" panose="020B0604030504040204" pitchFamily="34" charset="0"/>
                    <a:ea typeface="Verdana" panose="020B0604030504040204" pitchFamily="34" charset="0"/>
                    <a:cs typeface="Verdana" panose="020B0604030504040204" pitchFamily="34" charset="0"/>
                  </a:rPr>
                  <a:t>By </a:t>
                </a:r>
                <a:r>
                  <a:rPr lang="en-US" sz="2000" dirty="0">
                    <a:latin typeface="Verdana" panose="020B0604030504040204" pitchFamily="34" charset="0"/>
                    <a:ea typeface="Verdana" panose="020B0604030504040204" pitchFamily="34" charset="0"/>
                    <a:cs typeface="Verdana" panose="020B0604030504040204" pitchFamily="34" charset="0"/>
                  </a:rPr>
                  <a:t>zooming out, it is clearer that the domain and range of </a:t>
                </a:r>
                <a14:m>
                  <m:oMath xmlns:m="http://schemas.openxmlformats.org/officeDocument/2006/math">
                    <m:r>
                      <a:rPr lang="en-US" sz="2000" i="1">
                        <a:latin typeface="Cambria Math" panose="02040503050406030204" pitchFamily="18" charset="0"/>
                      </a:rPr>
                      <m:t>𝑦</m:t>
                    </m:r>
                    <m:r>
                      <a:rPr lang="en-US" sz="2000" i="1">
                        <a:latin typeface="Cambria Math" panose="02040503050406030204" pitchFamily="18" charset="0"/>
                      </a:rPr>
                      <m:t>=−4</m:t>
                    </m:r>
                    <m:r>
                      <a:rPr lang="en-US" sz="2000" i="1">
                        <a:latin typeface="Cambria Math" panose="02040503050406030204" pitchFamily="18" charset="0"/>
                      </a:rPr>
                      <m:t>𝑥</m:t>
                    </m:r>
                    <m:r>
                      <a:rPr lang="en-US" sz="2000" i="1">
                        <a:latin typeface="Cambria Math" panose="02040503050406030204" pitchFamily="18" charset="0"/>
                      </a:rPr>
                      <m:t>+7</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p>
              <a:p>
                <a14:m>
                  <m:oMath xmlns:m="http://schemas.openxmlformats.org/officeDocument/2006/math">
                    <m:r>
                      <a:rPr lang="en-US" sz="2000" i="1">
                        <a:latin typeface="Cambria Math" panose="02040503050406030204" pitchFamily="18" charset="0"/>
                      </a:rPr>
                      <m:t>8</m:t>
                    </m:r>
                    <m:r>
                      <a:rPr lang="en-US" sz="2000" i="1">
                        <a:latin typeface="Cambria Math" panose="02040503050406030204" pitchFamily="18" charset="0"/>
                      </a:rPr>
                      <m:t>𝑥</m:t>
                    </m:r>
                    <m:r>
                      <a:rPr lang="en-US" sz="2000" i="1">
                        <a:latin typeface="Cambria Math" panose="02040503050406030204" pitchFamily="18" charset="0"/>
                      </a:rPr>
                      <m:t>−5</m:t>
                    </m:r>
                    <m:r>
                      <a:rPr lang="en-US" sz="2000" i="1">
                        <a:latin typeface="Cambria Math" panose="02040503050406030204" pitchFamily="18" charset="0"/>
                      </a:rPr>
                      <m:t>𝑦</m:t>
                    </m:r>
                    <m:r>
                      <a:rPr lang="en-US" sz="2000" i="1">
                        <a:latin typeface="Cambria Math" panose="02040503050406030204" pitchFamily="18"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is all real numbers</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x-none"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2" name="TextBox 21">
                <a:extLst>
                  <a:ext uri="{FF2B5EF4-FFF2-40B4-BE49-F238E27FC236}">
                    <a16:creationId xmlns:a16="http://schemas.microsoft.com/office/drawing/2014/main" xmlns="" xmlns:a14="http://schemas.microsoft.com/office/drawing/2010/main" id="{C01B13E8-EC8D-E443-A329-C5E3593DD13A}"/>
                  </a:ext>
                </a:extLst>
              </p:cNvPr>
              <p:cNvSpPr txBox="1">
                <a:spLocks noRot="1" noChangeAspect="1" noMove="1" noResize="1" noEditPoints="1" noAdjustHandles="1" noChangeArrowheads="1" noChangeShapeType="1" noTextEdit="1"/>
              </p:cNvSpPr>
              <p:nvPr/>
            </p:nvSpPr>
            <p:spPr>
              <a:xfrm>
                <a:off x="545131" y="1216747"/>
                <a:ext cx="3874470" cy="5016758"/>
              </a:xfrm>
              <a:prstGeom prst="rect">
                <a:avLst/>
              </a:prstGeom>
              <a:blipFill rotWithShape="1">
                <a:blip r:embed="rId3"/>
                <a:stretch>
                  <a:fillRect l="-1572" t="-608" r="-1572" b="-1215"/>
                </a:stretch>
              </a:blipFill>
            </p:spPr>
            <p:txBody>
              <a:bodyPr/>
              <a:lstStyle/>
              <a:p>
                <a:r>
                  <a:rPr lang="en-US">
                    <a:noFill/>
                  </a:rPr>
                  <a:t> </a:t>
                </a:r>
              </a:p>
            </p:txBody>
          </p:sp>
        </mc:Fallback>
      </mc:AlternateContent>
      <p:sp>
        <p:nvSpPr>
          <p:cNvPr id="278" name="Google Shape;278;g104476d1465_1_17"/>
          <p:cNvSpPr/>
          <p:nvPr/>
        </p:nvSpPr>
        <p:spPr>
          <a:xfrm>
            <a:off x="5199"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p:cNvGrpSpPr/>
          <p:nvPr/>
        </p:nvGrpSpPr>
        <p:grpSpPr>
          <a:xfrm>
            <a:off x="4618333" y="1192984"/>
            <a:ext cx="7194176" cy="3489536"/>
            <a:chOff x="2693970" y="1660635"/>
            <a:chExt cx="7194176" cy="3489536"/>
          </a:xfrm>
        </p:grpSpPr>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xmlns="" id="{A743A753-EF8E-A14B-B03D-FA2A2C632820}"/>
                    </a:ext>
                  </a:extLst>
                </p:cNvPr>
                <p:cNvSpPr/>
                <p:nvPr/>
              </p:nvSpPr>
              <p:spPr>
                <a:xfrm>
                  <a:off x="3592122" y="1660635"/>
                  <a:ext cx="151971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800" i="1" dirty="0">
                            <a:latin typeface="Cambria Math" panose="02040503050406030204" pitchFamily="18" charset="0"/>
                          </a:rPr>
                          <m:t>𝑦</m:t>
                        </m:r>
                        <m:r>
                          <a:rPr lang="en-US" sz="1800" i="1" dirty="0">
                            <a:latin typeface="Cambria Math" panose="02040503050406030204" pitchFamily="18" charset="0"/>
                          </a:rPr>
                          <m:t>=−4</m:t>
                        </m:r>
                        <m:r>
                          <a:rPr lang="en-US" sz="1800" i="1" dirty="0">
                            <a:latin typeface="Cambria Math" panose="02040503050406030204" pitchFamily="18" charset="0"/>
                          </a:rPr>
                          <m:t>𝑥</m:t>
                        </m:r>
                        <m:r>
                          <a:rPr lang="en-US" sz="1800" i="1" dirty="0">
                            <a:latin typeface="Cambria Math" panose="02040503050406030204" pitchFamily="18" charset="0"/>
                          </a:rPr>
                          <m:t>+7</m:t>
                        </m:r>
                      </m:oMath>
                    </m:oMathPara>
                  </a14:m>
                  <a:endParaRPr lang="en-US" sz="1800" dirty="0"/>
                </a:p>
              </p:txBody>
            </p:sp>
          </mc:Choice>
          <mc:Fallback xmlns="">
            <p:sp>
              <p:nvSpPr>
                <p:cNvPr id="6" name="Rectangle 5">
                  <a:extLst>
                    <a:ext uri="{FF2B5EF4-FFF2-40B4-BE49-F238E27FC236}">
                      <a16:creationId xmlns:a16="http://schemas.microsoft.com/office/drawing/2014/main" id="{A743A753-EF8E-A14B-B03D-FA2A2C632820}"/>
                    </a:ext>
                  </a:extLst>
                </p:cNvPr>
                <p:cNvSpPr>
                  <a:spLocks noRot="1" noChangeAspect="1" noMove="1" noResize="1" noEditPoints="1" noAdjustHandles="1" noChangeArrowheads="1" noChangeShapeType="1" noTextEdit="1"/>
                </p:cNvSpPr>
                <p:nvPr/>
              </p:nvSpPr>
              <p:spPr>
                <a:xfrm>
                  <a:off x="3592122" y="1660635"/>
                  <a:ext cx="1519711" cy="369332"/>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xmlns="" id="{F66AAC39-89B4-5146-AC59-C73DBAD15218}"/>
                    </a:ext>
                  </a:extLst>
                </p:cNvPr>
                <p:cNvSpPr/>
                <p:nvPr/>
              </p:nvSpPr>
              <p:spPr>
                <a:xfrm>
                  <a:off x="7408879" y="1660635"/>
                  <a:ext cx="16030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800" i="1">
                            <a:latin typeface="Cambria Math" panose="02040503050406030204" pitchFamily="18" charset="0"/>
                          </a:rPr>
                          <m:t>8</m:t>
                        </m:r>
                        <m:r>
                          <a:rPr lang="en-US" sz="1800" i="1">
                            <a:latin typeface="Cambria Math" panose="02040503050406030204" pitchFamily="18" charset="0"/>
                          </a:rPr>
                          <m:t>𝑥</m:t>
                        </m:r>
                        <m:r>
                          <a:rPr lang="es-ES" sz="1800">
                            <a:latin typeface="Cambria Math" panose="02040503050406030204" pitchFamily="18" charset="0"/>
                          </a:rPr>
                          <m:t>−5</m:t>
                        </m:r>
                        <m:r>
                          <a:rPr lang="en-US" sz="1800" i="1">
                            <a:latin typeface="Cambria Math" panose="02040503050406030204" pitchFamily="18" charset="0"/>
                          </a:rPr>
                          <m:t>𝑦</m:t>
                        </m:r>
                        <m:r>
                          <a:rPr lang="en-US" sz="1800">
                            <a:latin typeface="Cambria Math" panose="02040503050406030204" pitchFamily="18" charset="0"/>
                          </a:rPr>
                          <m:t>=</m:t>
                        </m:r>
                        <m:r>
                          <a:rPr lang="es-ES" sz="1800" i="1">
                            <a:latin typeface="Cambria Math" panose="02040503050406030204" pitchFamily="18" charset="0"/>
                          </a:rPr>
                          <m:t>15</m:t>
                        </m:r>
                      </m:oMath>
                    </m:oMathPara>
                  </a14:m>
                  <a:endParaRPr lang="en-US" sz="1800" dirty="0"/>
                </a:p>
              </p:txBody>
            </p:sp>
          </mc:Choice>
          <mc:Fallback xmlns="">
            <p:sp>
              <p:nvSpPr>
                <p:cNvPr id="14" name="Rectangle 13">
                  <a:extLst>
                    <a:ext uri="{FF2B5EF4-FFF2-40B4-BE49-F238E27FC236}">
                      <a16:creationId xmlns:a16="http://schemas.microsoft.com/office/drawing/2014/main" id="{F66AAC39-89B4-5146-AC59-C73DBAD15218}"/>
                    </a:ext>
                  </a:extLst>
                </p:cNvPr>
                <p:cNvSpPr>
                  <a:spLocks noRot="1" noChangeAspect="1" noMove="1" noResize="1" noEditPoints="1" noAdjustHandles="1" noChangeArrowheads="1" noChangeShapeType="1" noTextEdit="1"/>
                </p:cNvSpPr>
                <p:nvPr/>
              </p:nvSpPr>
              <p:spPr>
                <a:xfrm>
                  <a:off x="7408879" y="1660635"/>
                  <a:ext cx="1603068" cy="369332"/>
                </a:xfrm>
                <a:prstGeom prst="rect">
                  <a:avLst/>
                </a:prstGeom>
                <a:blipFill>
                  <a:blip r:embed="rId7"/>
                  <a:stretch>
                    <a:fillRect b="-13333"/>
                  </a:stretch>
                </a:blipFill>
              </p:spPr>
              <p:txBody>
                <a:bodyPr/>
                <a:lstStyle/>
                <a:p>
                  <a:r>
                    <a:rPr lang="en-US">
                      <a:noFill/>
                    </a:rPr>
                    <a:t> </a:t>
                  </a:r>
                </a:p>
              </p:txBody>
            </p:sp>
          </mc:Fallback>
        </mc:AlternateContent>
        <p:pic>
          <p:nvPicPr>
            <p:cNvPr id="8" name="Picture 7" descr="Chart, line chart&#10;&#10;Description automatically generated">
              <a:extLst>
                <a:ext uri="{FF2B5EF4-FFF2-40B4-BE49-F238E27FC236}">
                  <a16:creationId xmlns:a16="http://schemas.microsoft.com/office/drawing/2014/main" xmlns="" id="{F86360E0-1BD7-6445-96E4-110CF5AD5E37}"/>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693970" y="2018716"/>
              <a:ext cx="7194176" cy="3131455"/>
            </a:xfrm>
            <a:prstGeom prst="rect">
              <a:avLst/>
            </a:prstGeom>
          </p:spPr>
        </p:pic>
      </p:grpSp>
      <p:grpSp>
        <p:nvGrpSpPr>
          <p:cNvPr id="3" name="Group 2"/>
          <p:cNvGrpSpPr/>
          <p:nvPr/>
        </p:nvGrpSpPr>
        <p:grpSpPr>
          <a:xfrm>
            <a:off x="545132" y="2794309"/>
            <a:ext cx="3874470" cy="1464231"/>
            <a:chOff x="545132" y="2794309"/>
            <a:chExt cx="3874470" cy="1464231"/>
          </a:xfrm>
        </p:grpSpPr>
        <p:sp>
          <p:nvSpPr>
            <p:cNvPr id="16" name="Text Box 40">
              <a:extLst>
                <a:ext uri="{FF2B5EF4-FFF2-40B4-BE49-F238E27FC236}">
                  <a16:creationId xmlns:a16="http://schemas.microsoft.com/office/drawing/2014/main" xmlns="" id="{2D4DCE87-8A07-1E42-A921-69D4C8ED01F6}"/>
                </a:ext>
              </a:extLst>
            </p:cNvPr>
            <p:cNvSpPr txBox="1"/>
            <p:nvPr/>
          </p:nvSpPr>
          <p:spPr>
            <a:xfrm>
              <a:off x="545132" y="2794309"/>
              <a:ext cx="3874470" cy="1464231"/>
            </a:xfrm>
            <a:prstGeom prst="roundRect">
              <a:avLst/>
            </a:prstGeom>
            <a:solidFill>
              <a:srgbClr val="B8E6F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742950"/>
              <a:r>
                <a:rPr lang="en-US" sz="2000"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The domain and range of a linear relationship are all </a:t>
              </a:r>
              <a:r>
                <a:rPr lang="en-US" sz="2000" b="1"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real numbers</a:t>
              </a:r>
              <a:r>
                <a:rPr lang="en-US" sz="2000" dirty="0" smtClean="0">
                  <a:solidFill>
                    <a:srgbClr val="0075BF"/>
                  </a:solidFill>
                  <a:latin typeface="Verdana" panose="020B0604030504040204" pitchFamily="34" charset="0"/>
                  <a:ea typeface="Times New Roman" panose="02020603050405020304" pitchFamily="18" charset="0"/>
                  <a:cs typeface="Times New Roman" panose="02020603050405020304" pitchFamily="18" charset="0"/>
                </a:rPr>
                <a:t>.</a:t>
              </a:r>
              <a:r>
                <a:rPr lang="es-ES" sz="2000" b="1" dirty="0">
                  <a:solidFill>
                    <a:srgbClr val="000000"/>
                  </a:solidFill>
                  <a:ea typeface="Times New Roman" panose="02020603050405020304" pitchFamily="18" charset="0"/>
                  <a:cs typeface="Times New Roman" panose="02020603050405020304" pitchFamily="18" charset="0"/>
                </a:rPr>
                <a:t> </a:t>
              </a:r>
              <a:endParaRPr lang="x-none" sz="2000" dirty="0">
                <a:ea typeface="Times New Roman" panose="02020603050405020304" pitchFamily="18" charset="0"/>
                <a:cs typeface="Times New Roman" panose="02020603050405020304" pitchFamily="18" charset="0"/>
              </a:endParaRPr>
            </a:p>
          </p:txBody>
        </p:sp>
        <p:pic>
          <p:nvPicPr>
            <p:cNvPr id="17" name="Picture 16" descr="Icon&#10;&#10;Description automatically generated">
              <a:extLst>
                <a:ext uri="{FF2B5EF4-FFF2-40B4-BE49-F238E27FC236}">
                  <a16:creationId xmlns:a16="http://schemas.microsoft.com/office/drawing/2014/main" xmlns="" id="{46FA1AFF-E952-0F4C-8527-F7E6CC6F621C}"/>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762156" y="3296890"/>
              <a:ext cx="459068" cy="459068"/>
            </a:xfrm>
            <a:prstGeom prst="rect">
              <a:avLst/>
            </a:prstGeom>
            <a:effectLst>
              <a:outerShdw blurRad="50800" dist="38100" dir="2700000" algn="tl" rotWithShape="0">
                <a:prstClr val="black">
                  <a:alpha val="40000"/>
                </a:prstClr>
              </a:outerShdw>
            </a:effectLst>
          </p:spPr>
        </p:pic>
      </p:grpSp>
      <p:sp>
        <p:nvSpPr>
          <p:cNvPr id="15"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 </a:t>
            </a:r>
            <a:r>
              <a:rPr lang="en-US" i="1" dirty="0" smtClean="0">
                <a:latin typeface="Calibri"/>
                <a:ea typeface="Calibri"/>
                <a:cs typeface="Calibri"/>
                <a:sym typeface="Calibri"/>
              </a:rPr>
              <a:t>166</a:t>
            </a:r>
            <a:endParaRPr i="1" dirty="0">
              <a:latin typeface="Calibri"/>
              <a:ea typeface="Calibri"/>
              <a:cs typeface="Calibri"/>
              <a:sym typeface="Calibri"/>
            </a:endParaRPr>
          </a:p>
        </p:txBody>
      </p:sp>
      <p:pic>
        <p:nvPicPr>
          <p:cNvPr id="18" name="Google Shape;283;g104476d1465_1_17"/>
          <p:cNvPicPr preferRelativeResize="0"/>
          <p:nvPr/>
        </p:nvPicPr>
        <p:blipFill>
          <a:blip r:embed="rId10"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9"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052650" y="284465"/>
            <a:ext cx="10957380"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4.1.3 Guided Instruction: Set-Builder Notation </a:t>
            </a:r>
            <a:endParaRPr lang="en-US" sz="3200" b="1" dirty="0">
              <a:solidFill>
                <a:srgbClr val="54B5D1"/>
              </a:solidFill>
              <a:latin typeface="Verdana"/>
              <a:ea typeface="Verdana"/>
              <a:cs typeface="Verdana"/>
              <a:sym typeface="Verdana"/>
            </a:endParaRPr>
          </a:p>
        </p:txBody>
      </p:sp>
      <p:pic>
        <p:nvPicPr>
          <p:cNvPr id="21"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11">
            <a:alphaModFix/>
          </a:blip>
          <a:srcRect/>
          <a:stretch/>
        </p:blipFill>
        <p:spPr>
          <a:xfrm>
            <a:off x="305350" y="178560"/>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02457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1" name="TextBox 10">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4401205"/>
          </a:xfrm>
          <a:prstGeom prst="rect">
            <a:avLst/>
          </a:prstGeom>
          <a:noFill/>
        </p:spPr>
        <p:txBody>
          <a:bodyPr wrap="square" rtlCol="0">
            <a:spAutoFit/>
          </a:bodyPr>
          <a:lstStyle/>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There are several ways to mathematically represent the domain and range of all real numbers</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a:t>
            </a:r>
          </a:p>
          <a:p>
            <a:pPr lvl="0"/>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lvl="0"/>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lvl="0"/>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lvl="0"/>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lvl="0"/>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lvl="0"/>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The representation of the domain using inequalities is read as, “negative infinity is less than 𝑥, which is less than infinity</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xmlns="" id="{20518F8D-ED59-564D-A5BE-4247C98DFDCB}"/>
                  </a:ext>
                </a:extLst>
              </p:cNvPr>
              <p:cNvGraphicFramePr>
                <a:graphicFrameLocks noGrp="1"/>
              </p:cNvGraphicFramePr>
              <p:nvPr>
                <p:extLst>
                  <p:ext uri="{D42A27DB-BD31-4B8C-83A1-F6EECF244321}">
                    <p14:modId xmlns:p14="http://schemas.microsoft.com/office/powerpoint/2010/main" val="541065446"/>
                  </p:ext>
                </p:extLst>
              </p:nvPr>
            </p:nvGraphicFramePr>
            <p:xfrm>
              <a:off x="2459252" y="1509710"/>
              <a:ext cx="7253175" cy="2427596"/>
            </p:xfrm>
            <a:graphic>
              <a:graphicData uri="http://schemas.openxmlformats.org/drawingml/2006/table">
                <a:tbl>
                  <a:tblPr firstRow="1" firstCol="1" bandRow="1">
                    <a:tableStyleId>{A91F0D33-8C57-4600-99A7-42BC86742BE1}</a:tableStyleId>
                  </a:tblPr>
                  <a:tblGrid>
                    <a:gridCol w="1446691">
                      <a:extLst>
                        <a:ext uri="{9D8B030D-6E8A-4147-A177-3AD203B41FA5}">
                          <a16:colId xmlns:a16="http://schemas.microsoft.com/office/drawing/2014/main" xmlns="" val="228079952"/>
                        </a:ext>
                      </a:extLst>
                    </a:gridCol>
                    <a:gridCol w="1770170">
                      <a:extLst>
                        <a:ext uri="{9D8B030D-6E8A-4147-A177-3AD203B41FA5}">
                          <a16:colId xmlns:a16="http://schemas.microsoft.com/office/drawing/2014/main" xmlns="" val="3263041801"/>
                        </a:ext>
                      </a:extLst>
                    </a:gridCol>
                    <a:gridCol w="1952465">
                      <a:extLst>
                        <a:ext uri="{9D8B030D-6E8A-4147-A177-3AD203B41FA5}">
                          <a16:colId xmlns:a16="http://schemas.microsoft.com/office/drawing/2014/main" xmlns="" val="332106850"/>
                        </a:ext>
                      </a:extLst>
                    </a:gridCol>
                    <a:gridCol w="2083849">
                      <a:extLst>
                        <a:ext uri="{9D8B030D-6E8A-4147-A177-3AD203B41FA5}">
                          <a16:colId xmlns:a16="http://schemas.microsoft.com/office/drawing/2014/main" xmlns="" val="2535128746"/>
                        </a:ext>
                      </a:extLst>
                    </a:gridCol>
                  </a:tblGrid>
                  <a:tr h="94275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Inequalities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Set-Builder Notation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95363879"/>
                      </a:ext>
                    </a:extLst>
                  </a:tr>
                  <a:tr h="748967">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Domain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All real numbers</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−∞&lt;</m:t>
                                </m:r>
                                <m:r>
                                  <a:rPr lang="en-US" sz="2000">
                                    <a:effectLst/>
                                    <a:latin typeface="Cambria Math" panose="02040503050406030204" pitchFamily="18" charset="0"/>
                                  </a:rPr>
                                  <m:t>𝑥</m:t>
                                </m:r>
                                <m:r>
                                  <a:rPr lang="en-US" sz="2000">
                                    <a:effectLst/>
                                    <a:latin typeface="Cambria Math" panose="02040503050406030204" pitchFamily="18" charset="0"/>
                                  </a:rPr>
                                  <m:t>&lt;∞</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d>
                                <m:dPr>
                                  <m:begChr m:val="{"/>
                                  <m:endChr m:val="}"/>
                                  <m:ctrlPr>
                                    <a:rPr lang="x-none" sz="2000" i="1">
                                      <a:effectLst/>
                                      <a:latin typeface="Cambria Math"/>
                                    </a:rPr>
                                  </m:ctrlPr>
                                </m:dPr>
                                <m:e>
                                  <m:r>
                                    <a:rPr lang="en-US" sz="2000">
                                      <a:effectLst/>
                                      <a:latin typeface="Cambria Math" panose="02040503050406030204" pitchFamily="18" charset="0"/>
                                    </a:rPr>
                                    <m:t>𝑥</m:t>
                                  </m:r>
                                  <m:r>
                                    <a:rPr lang="en-US" sz="2000">
                                      <a:effectLst/>
                                      <a:latin typeface="Cambria Math" panose="02040503050406030204" pitchFamily="18" charset="0"/>
                                    </a:rPr>
                                    <m:t>:</m:t>
                                  </m:r>
                                  <m:r>
                                    <a:rPr lang="en-US" sz="2000">
                                      <a:effectLst/>
                                      <a:latin typeface="Cambria Math" panose="02040503050406030204" pitchFamily="18" charset="0"/>
                                    </a:rPr>
                                    <m:t>𝑥</m:t>
                                  </m:r>
                                  <m:r>
                                    <a:rPr lang="en-US" sz="2000">
                                      <a:effectLst/>
                                      <a:latin typeface="Cambria Math" panose="02040503050406030204" pitchFamily="18" charset="0"/>
                                    </a:rPr>
                                    <m:t>∈</m:t>
                                  </m:r>
                                  <m:r>
                                    <a:rPr lang="en-US" sz="2000">
                                      <a:effectLst/>
                                      <a:latin typeface="Cambria Math" panose="02040503050406030204" pitchFamily="18" charset="0"/>
                                    </a:rPr>
                                    <m:t>ℝ</m:t>
                                  </m:r>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d>
                                <m:dPr>
                                  <m:begChr m:val="{"/>
                                  <m:endChr m:val="}"/>
                                  <m:ctrlPr>
                                    <a:rPr lang="x-none" sz="2000" i="1">
                                      <a:effectLst/>
                                      <a:latin typeface="Cambria Math"/>
                                    </a:rPr>
                                  </m:ctrlPr>
                                </m:dPr>
                                <m:e>
                                  <m:r>
                                    <a:rPr lang="en-US" sz="2000">
                                      <a:effectLst/>
                                      <a:latin typeface="Cambria Math" panose="02040503050406030204" pitchFamily="18" charset="0"/>
                                    </a:rPr>
                                    <m:t>𝑥</m:t>
                                  </m:r>
                                  <m:r>
                                    <m:rPr>
                                      <m:lit/>
                                    </m:rPr>
                                    <a:rPr lang="en-US" sz="2000">
                                      <a:effectLst/>
                                      <a:latin typeface="Cambria Math" panose="02040503050406030204" pitchFamily="18" charset="0"/>
                                    </a:rPr>
                                    <m:t>|</m:t>
                                  </m:r>
                                  <m:r>
                                    <a:rPr lang="en-US" sz="2000">
                                      <a:effectLst/>
                                      <a:latin typeface="Cambria Math" panose="02040503050406030204" pitchFamily="18" charset="0"/>
                                    </a:rPr>
                                    <m:t>𝑥</m:t>
                                  </m:r>
                                  <m:r>
                                    <a:rPr lang="en-US" sz="2000">
                                      <a:effectLst/>
                                      <a:latin typeface="Cambria Math" panose="02040503050406030204" pitchFamily="18" charset="0"/>
                                    </a:rPr>
                                    <m:t>∈</m:t>
                                  </m:r>
                                  <m:r>
                                    <a:rPr lang="en-US" sz="2000">
                                      <a:effectLst/>
                                      <a:latin typeface="Cambria Math" panose="02040503050406030204" pitchFamily="18" charset="0"/>
                                    </a:rPr>
                                    <m:t>ℝ</m:t>
                                  </m:r>
                                </m:e>
                              </m:d>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6033936"/>
                      </a:ext>
                    </a:extLst>
                  </a:tr>
                  <a:tr h="7358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Range</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All real numbers</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−∞&lt;</m:t>
                                </m:r>
                                <m:r>
                                  <a:rPr lang="en-US" sz="2000">
                                    <a:effectLst/>
                                    <a:latin typeface="Cambria Math" panose="02040503050406030204" pitchFamily="18" charset="0"/>
                                  </a:rPr>
                                  <m:t>𝑦</m:t>
                                </m:r>
                                <m:r>
                                  <a:rPr lang="en-US" sz="2000">
                                    <a:effectLst/>
                                    <a:latin typeface="Cambria Math" panose="02040503050406030204" pitchFamily="18" charset="0"/>
                                  </a:rPr>
                                  <m:t>&lt;∞</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d>
                                <m:dPr>
                                  <m:begChr m:val="{"/>
                                  <m:endChr m:val="}"/>
                                  <m:ctrlPr>
                                    <a:rPr lang="x-none" sz="2000" i="1">
                                      <a:effectLst/>
                                      <a:latin typeface="Cambria Math"/>
                                    </a:rPr>
                                  </m:ctrlPr>
                                </m:dPr>
                                <m:e>
                                  <m:r>
                                    <a:rPr lang="en-US" sz="2000">
                                      <a:effectLst/>
                                      <a:latin typeface="Cambria Math" panose="02040503050406030204" pitchFamily="18" charset="0"/>
                                    </a:rPr>
                                    <m:t>𝑦</m:t>
                                  </m:r>
                                  <m:r>
                                    <a:rPr lang="en-US" sz="2000">
                                      <a:effectLst/>
                                      <a:latin typeface="Cambria Math" panose="02040503050406030204" pitchFamily="18" charset="0"/>
                                    </a:rPr>
                                    <m:t>:</m:t>
                                  </m:r>
                                  <m:r>
                                    <a:rPr lang="en-US" sz="2000">
                                      <a:effectLst/>
                                      <a:latin typeface="Cambria Math" panose="02040503050406030204" pitchFamily="18" charset="0"/>
                                    </a:rPr>
                                    <m:t>𝑦</m:t>
                                  </m:r>
                                  <m:r>
                                    <a:rPr lang="en-US" sz="2000">
                                      <a:effectLst/>
                                      <a:latin typeface="Cambria Math" panose="02040503050406030204" pitchFamily="18" charset="0"/>
                                    </a:rPr>
                                    <m:t>∈</m:t>
                                  </m:r>
                                  <m:r>
                                    <a:rPr lang="en-US" sz="2000">
                                      <a:effectLst/>
                                      <a:latin typeface="Cambria Math" panose="02040503050406030204" pitchFamily="18" charset="0"/>
                                    </a:rPr>
                                    <m:t>ℝ</m:t>
                                  </m:r>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d>
                                <m:dPr>
                                  <m:begChr m:val="{"/>
                                  <m:endChr m:val="}"/>
                                  <m:ctrlPr>
                                    <a:rPr lang="x-none" sz="2000" i="1">
                                      <a:effectLst/>
                                      <a:latin typeface="Cambria Math"/>
                                    </a:rPr>
                                  </m:ctrlPr>
                                </m:dPr>
                                <m:e>
                                  <m:r>
                                    <a:rPr lang="en-US" sz="2000">
                                      <a:effectLst/>
                                      <a:latin typeface="Cambria Math" panose="02040503050406030204" pitchFamily="18" charset="0"/>
                                    </a:rPr>
                                    <m:t>𝑦</m:t>
                                  </m:r>
                                  <m:r>
                                    <m:rPr>
                                      <m:lit/>
                                    </m:rPr>
                                    <a:rPr lang="en-US" sz="2000">
                                      <a:effectLst/>
                                      <a:latin typeface="Cambria Math" panose="02040503050406030204" pitchFamily="18" charset="0"/>
                                    </a:rPr>
                                    <m:t>|</m:t>
                                  </m:r>
                                  <m:r>
                                    <a:rPr lang="en-US" sz="2000">
                                      <a:effectLst/>
                                      <a:latin typeface="Cambria Math" panose="02040503050406030204" pitchFamily="18" charset="0"/>
                                    </a:rPr>
                                    <m:t>𝑦</m:t>
                                  </m:r>
                                  <m:r>
                                    <a:rPr lang="en-US" sz="2000">
                                      <a:effectLst/>
                                      <a:latin typeface="Cambria Math" panose="02040503050406030204" pitchFamily="18" charset="0"/>
                                    </a:rPr>
                                    <m:t>∈</m:t>
                                  </m:r>
                                  <m:r>
                                    <a:rPr lang="en-US" sz="2000">
                                      <a:effectLst/>
                                      <a:latin typeface="Cambria Math" panose="02040503050406030204" pitchFamily="18" charset="0"/>
                                    </a:rPr>
                                    <m:t>ℝ</m:t>
                                  </m:r>
                                </m:e>
                              </m:d>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85826739"/>
                      </a:ext>
                    </a:extLst>
                  </a:tr>
                </a:tbl>
              </a:graphicData>
            </a:graphic>
          </p:graphicFrame>
        </mc:Choice>
        <mc:Fallback>
          <p:graphicFrame>
            <p:nvGraphicFramePr>
              <p:cNvPr id="2" name="Table 1">
                <a:extLst>
                  <a:ext uri="{FF2B5EF4-FFF2-40B4-BE49-F238E27FC236}">
                    <a16:creationId xmlns:a16="http://schemas.microsoft.com/office/drawing/2014/main" xmlns:a14="http://schemas.microsoft.com/office/drawing/2010/main" xmlns="" id="{20518F8D-ED59-564D-A5BE-4247C98DFDCB}"/>
                  </a:ext>
                </a:extLst>
              </p:cNvPr>
              <p:cNvGraphicFramePr>
                <a:graphicFrameLocks noGrp="1"/>
              </p:cNvGraphicFramePr>
              <p:nvPr>
                <p:extLst>
                  <p:ext uri="{D42A27DB-BD31-4B8C-83A1-F6EECF244321}">
                    <p14:modId xmlns:p14="http://schemas.microsoft.com/office/powerpoint/2010/main" val="541065446"/>
                  </p:ext>
                </p:extLst>
              </p:nvPr>
            </p:nvGraphicFramePr>
            <p:xfrm>
              <a:off x="2459252" y="1509710"/>
              <a:ext cx="7253175" cy="2427596"/>
            </p:xfrm>
            <a:graphic>
              <a:graphicData uri="http://schemas.openxmlformats.org/drawingml/2006/table">
                <a:tbl>
                  <a:tblPr firstRow="1" firstCol="1" bandRow="1">
                    <a:tableStyleId>{A91F0D33-8C57-4600-99A7-42BC86742BE1}</a:tableStyleId>
                  </a:tblPr>
                  <a:tblGrid>
                    <a:gridCol w="1446691">
                      <a:extLst>
                        <a:ext uri="{9D8B030D-6E8A-4147-A177-3AD203B41FA5}">
                          <a16:colId xmlns:a16="http://schemas.microsoft.com/office/drawing/2014/main" xmlns:a14="http://schemas.microsoft.com/office/drawing/2010/main" xmlns="" val="228079952"/>
                        </a:ext>
                      </a:extLst>
                    </a:gridCol>
                    <a:gridCol w="1770170">
                      <a:extLst>
                        <a:ext uri="{9D8B030D-6E8A-4147-A177-3AD203B41FA5}">
                          <a16:colId xmlns:a16="http://schemas.microsoft.com/office/drawing/2014/main" xmlns:a14="http://schemas.microsoft.com/office/drawing/2010/main" xmlns="" val="3263041801"/>
                        </a:ext>
                      </a:extLst>
                    </a:gridCol>
                    <a:gridCol w="1952465">
                      <a:extLst>
                        <a:ext uri="{9D8B030D-6E8A-4147-A177-3AD203B41FA5}">
                          <a16:colId xmlns:a16="http://schemas.microsoft.com/office/drawing/2014/main" xmlns:a14="http://schemas.microsoft.com/office/drawing/2010/main" xmlns="" val="332106850"/>
                        </a:ext>
                      </a:extLst>
                    </a:gridCol>
                    <a:gridCol w="2083849">
                      <a:extLst>
                        <a:ext uri="{9D8B030D-6E8A-4147-A177-3AD203B41FA5}">
                          <a16:colId xmlns:a16="http://schemas.microsoft.com/office/drawing/2014/main" xmlns:a14="http://schemas.microsoft.com/office/drawing/2010/main" xmlns="" val="2535128746"/>
                        </a:ext>
                      </a:extLst>
                    </a:gridCol>
                  </a:tblGrid>
                  <a:tr h="94275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Inequalities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Set-Builder Notation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395363879"/>
                      </a:ext>
                    </a:extLst>
                  </a:tr>
                  <a:tr h="748967">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Domain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All real numbers</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65000" t="-127869" r="-107187" b="-11147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47953" t="-127869" r="-292" b="-111475"/>
                          </a:stretch>
                        </a:blipFill>
                      </a:tcPr>
                    </a:tc>
                    <a:extLst>
                      <a:ext uri="{0D108BD9-81ED-4DB2-BD59-A6C34878D82A}">
                        <a16:rowId xmlns:a16="http://schemas.microsoft.com/office/drawing/2014/main" xmlns:a14="http://schemas.microsoft.com/office/drawing/2010/main" xmlns="" val="246033936"/>
                      </a:ext>
                    </a:extLst>
                  </a:tr>
                  <a:tr h="7358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Range</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All real numbers</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65000" t="-229752" r="-107187" b="-1239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47953" t="-229752" r="-292" b="-12397"/>
                          </a:stretch>
                        </a:blipFill>
                      </a:tcPr>
                    </a:tc>
                    <a:extLst>
                      <a:ext uri="{0D108BD9-81ED-4DB2-BD59-A6C34878D82A}">
                        <a16:rowId xmlns:a16="http://schemas.microsoft.com/office/drawing/2014/main" xmlns:a14="http://schemas.microsoft.com/office/drawing/2010/main" xmlns="" val="3785826739"/>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167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167</a:t>
            </a:r>
            <a:endParaRPr i="1" dirty="0">
              <a:latin typeface="Calibri"/>
              <a:ea typeface="Calibri"/>
              <a:cs typeface="Calibri"/>
              <a:sym typeface="Calibri"/>
            </a:endParaRPr>
          </a:p>
        </p:txBody>
      </p:sp>
      <p:pic>
        <p:nvPicPr>
          <p:cNvPr id="1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xmlns="" id="{C8F82859-BA98-3646-BF3B-9E17E52A2E35}"/>
                  </a:ext>
                </a:extLst>
              </p:cNvPr>
              <p:cNvSpPr txBox="1"/>
              <p:nvPr/>
            </p:nvSpPr>
            <p:spPr>
              <a:xfrm>
                <a:off x="511205" y="533066"/>
                <a:ext cx="10953207" cy="132343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Notice that the inequality sign used with infinity does not include an equal sign. </a:t>
                </a:r>
                <a:endParaRPr lang="x-none"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x-none"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the domain  </a:t>
                </a:r>
                <a14:m>
                  <m:oMath xmlns:m="http://schemas.openxmlformats.org/officeDocument/2006/math">
                    <m:r>
                      <a:rPr lang="en-US" sz="2000" i="1">
                        <a:latin typeface="Cambria Math" panose="02040503050406030204" pitchFamily="18" charset="0"/>
                      </a:rPr>
                      <m:t>−∞&lt;</m:t>
                    </m:r>
                    <m:r>
                      <a:rPr lang="en-US" sz="2000" i="1">
                        <a:latin typeface="Cambria Math" panose="02040503050406030204" pitchFamily="18" charset="0"/>
                      </a:rPr>
                      <m:t>𝑥</m:t>
                    </m:r>
                    <m:r>
                      <a:rPr lang="en-US" sz="2000" i="1">
                        <a:latin typeface="Cambria Math" panose="02040503050406030204" pitchFamily="18" charset="0"/>
                      </a:rPr>
                      <m:t>&lt;∞</m:t>
                    </m:r>
                  </m:oMath>
                </a14:m>
                <a:r>
                  <a:rPr lang="en-US" sz="2000" dirty="0">
                    <a:latin typeface="Verdana" panose="020B0604030504040204" pitchFamily="34" charset="0"/>
                    <a:ea typeface="Verdana" panose="020B0604030504040204" pitchFamily="34" charset="0"/>
                    <a:cs typeface="Verdana" panose="020B0604030504040204" pitchFamily="34" charset="0"/>
                  </a:rPr>
                  <a:t> cannot be written as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endParaRPr lang="x-none"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5" name="TextBox 14">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1323439"/>
              </a:xfrm>
              <a:prstGeom prst="rect">
                <a:avLst/>
              </a:prstGeom>
              <a:blipFill rotWithShape="1">
                <a:blip r:embed="rId4"/>
                <a:stretch>
                  <a:fillRect l="-612" t="-2294" b="-6881"/>
                </a:stretch>
              </a:blipFill>
            </p:spPr>
            <p:txBody>
              <a:bodyPr/>
              <a:lstStyle/>
              <a:p>
                <a:r>
                  <a:rPr lang="en-US">
                    <a:noFill/>
                  </a:rPr>
                  <a:t> </a:t>
                </a:r>
              </a:p>
            </p:txBody>
          </p:sp>
        </mc:Fallback>
      </mc:AlternateContent>
      <p:grpSp>
        <p:nvGrpSpPr>
          <p:cNvPr id="16" name="Group 15">
            <a:extLst>
              <a:ext uri="{FF2B5EF4-FFF2-40B4-BE49-F238E27FC236}">
                <a16:creationId xmlns:a16="http://schemas.microsoft.com/office/drawing/2014/main" xmlns="" id="{7C368F61-F2E2-E140-AC0E-F9C2AC4D1972}"/>
              </a:ext>
            </a:extLst>
          </p:cNvPr>
          <p:cNvGrpSpPr/>
          <p:nvPr/>
        </p:nvGrpSpPr>
        <p:grpSpPr>
          <a:xfrm>
            <a:off x="2673108" y="3713845"/>
            <a:ext cx="6629400" cy="2485787"/>
            <a:chOff x="-1" y="-901287"/>
            <a:chExt cx="6629400" cy="2397568"/>
          </a:xfrm>
        </p:grpSpPr>
        <mc:AlternateContent xmlns:mc="http://schemas.openxmlformats.org/markup-compatibility/2006">
          <mc:Choice xmlns:a14="http://schemas.microsoft.com/office/drawing/2010/main" Requires="a14">
            <p:sp>
              <p:nvSpPr>
                <p:cNvPr id="17" name="Text Box 33">
                  <a:extLst>
                    <a:ext uri="{FF2B5EF4-FFF2-40B4-BE49-F238E27FC236}">
                      <a16:creationId xmlns:a16="http://schemas.microsoft.com/office/drawing/2014/main" xmlns="" id="{A2B0C729-80EC-B94E-93F3-04C36C7241E9}"/>
                    </a:ext>
                  </a:extLst>
                </p:cNvPr>
                <p:cNvSpPr txBox="1"/>
                <p:nvPr/>
              </p:nvSpPr>
              <p:spPr>
                <a:xfrm>
                  <a:off x="-1" y="-901287"/>
                  <a:ext cx="6629400" cy="2397568"/>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631190"/>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Set-builder notation</a:t>
                  </a:r>
                  <a:r>
                    <a:rPr lang="en-US" sz="2000" i="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a shorthand used to write sets, often sets with an infinite number of elements. The set </a:t>
                  </a:r>
                  <a14:m>
                    <m:oMath xmlns:m="http://schemas.openxmlformats.org/officeDocument/2006/math">
                      <m:r>
                        <a:rPr lang="en-US" sz="2000" i="1" dirty="0">
                          <a:solidFill>
                            <a:srgbClr val="6C993D"/>
                          </a:solidFill>
                          <a:latin typeface="Cambria Math" panose="02040503050406030204" pitchFamily="18" charset="0"/>
                          <a:ea typeface="Cambria Math" panose="02040503050406030204" pitchFamily="18" charset="0"/>
                          <a:cs typeface="Cambria Math" panose="02040503050406030204" pitchFamily="18" charset="0"/>
                        </a:rPr>
                        <m:t>{</m:t>
                      </m:r>
                      <m:r>
                        <a:rPr lang="en-US" sz="2000" i="1" dirty="0">
                          <a:solidFill>
                            <a:srgbClr val="6C993D"/>
                          </a:solidFill>
                          <a:latin typeface="Cambria Math" panose="02040503050406030204" pitchFamily="18" charset="0"/>
                          <a:ea typeface="Cambria Math" panose="02040503050406030204" pitchFamily="18" charset="0"/>
                          <a:cs typeface="Cambria Math" panose="02040503050406030204" pitchFamily="18" charset="0"/>
                        </a:rPr>
                        <m:t>𝑥</m:t>
                      </m:r>
                      <m:r>
                        <a:rPr lang="en-US" sz="2000" i="1" dirty="0">
                          <a:solidFill>
                            <a:srgbClr val="6C993D"/>
                          </a:solidFill>
                          <a:latin typeface="Cambria Math" panose="02040503050406030204" pitchFamily="18" charset="0"/>
                          <a:ea typeface="Cambria Math" panose="02040503050406030204" pitchFamily="18" charset="0"/>
                          <a:cs typeface="Cambria Math" panose="02040503050406030204" pitchFamily="18" charset="0"/>
                        </a:rPr>
                        <m:t>: </m:t>
                      </m:r>
                      <m:r>
                        <a:rPr lang="en-US" sz="2000" i="1" dirty="0">
                          <a:solidFill>
                            <a:srgbClr val="6C993D"/>
                          </a:solidFill>
                          <a:latin typeface="Cambria Math" panose="02040503050406030204" pitchFamily="18" charset="0"/>
                          <a:ea typeface="Cambria Math" panose="02040503050406030204" pitchFamily="18" charset="0"/>
                          <a:cs typeface="Cambria Math" panose="02040503050406030204" pitchFamily="18" charset="0"/>
                        </a:rPr>
                        <m:t>𝑥</m:t>
                      </m:r>
                      <m:r>
                        <a:rPr lang="en-US" sz="2000" i="1" dirty="0">
                          <a:solidFill>
                            <a:srgbClr val="6C993D"/>
                          </a:solidFill>
                          <a:latin typeface="Cambria Math" panose="02040503050406030204" pitchFamily="18" charset="0"/>
                          <a:ea typeface="Cambria Math" panose="02040503050406030204" pitchFamily="18" charset="0"/>
                          <a:cs typeface="Cambria Math" panose="02040503050406030204" pitchFamily="18" charset="0"/>
                        </a:rPr>
                        <m:t> &gt; 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read aloud, "the set of all </a:t>
                  </a:r>
                  <a:r>
                    <a:rPr lang="en-US" sz="2000" dirty="0">
                      <a:solidFill>
                        <a:srgbClr val="6C993D"/>
                      </a:solidFill>
                      <a:latin typeface="Cambria Math" panose="02040503050406030204" pitchFamily="18" charset="0"/>
                      <a:ea typeface="Cambria Math" panose="02040503050406030204" pitchFamily="18" charset="0"/>
                      <a:cs typeface="Cambria Math" panose="02040503050406030204" pitchFamily="18" charset="0"/>
                    </a:rPr>
                    <a:t>𝑥,</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such that </a:t>
                  </a:r>
                  <a:r>
                    <a:rPr lang="en-US" sz="2000" dirty="0">
                      <a:solidFill>
                        <a:srgbClr val="6C993D"/>
                      </a:solidFill>
                      <a:latin typeface="Cambria Math" panose="02040503050406030204" pitchFamily="18" charset="0"/>
                      <a:ea typeface="Cambria Math" panose="02040503050406030204" pitchFamily="18" charset="0"/>
                      <a:cs typeface="Cambria Math" panose="02040503050406030204" pitchFamily="18" charset="0"/>
                    </a:rPr>
                    <a:t>𝑥</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greater than </a:t>
                  </a:r>
                  <a:r>
                    <a:rPr lang="en-US" sz="2000" dirty="0">
                      <a:solidFill>
                        <a:srgbClr val="6C993D"/>
                      </a:solidFill>
                      <a:latin typeface="Cambria Math" panose="02040503050406030204" pitchFamily="18" charset="0"/>
                      <a:ea typeface="Cambria Math" panose="02040503050406030204" pitchFamily="18" charset="0"/>
                      <a:cs typeface="Cambria Math" panose="02040503050406030204" pitchFamily="18" charset="0"/>
                    </a:rPr>
                    <a:t>0</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It is read aloud exactly the same way when the colon (:) is replaced by the vertical line (|) as in </a:t>
                  </a:r>
                  <a:r>
                    <a:rPr lang="en-US" sz="2000" dirty="0">
                      <a:solidFill>
                        <a:srgbClr val="6C993D"/>
                      </a:solidFill>
                      <a:latin typeface="Cambria Math" panose="02040503050406030204" pitchFamily="18" charset="0"/>
                      <a:ea typeface="Cambria Math" panose="02040503050406030204" pitchFamily="18" charset="0"/>
                      <a:cs typeface="Cambria Math" panose="02040503050406030204" pitchFamily="18" charset="0"/>
                    </a:rPr>
                    <a:t>{𝑥|𝑥 &gt; 0</a:t>
                  </a:r>
                  <a:r>
                    <a:rPr lang="en-US" sz="2000" dirty="0">
                      <a:solidFill>
                        <a:srgbClr val="6C993D"/>
                      </a:solidFill>
                      <a:latin typeface="Cambria Math" panose="02040503050406030204" pitchFamily="18" charset="0"/>
                      <a:ea typeface="Cambria Math" panose="02040503050406030204" pitchFamily="18" charset="0"/>
                      <a:cs typeface="Cambria Math" panose="02040503050406030204" pitchFamily="18" charset="0"/>
                    </a:rPr>
                    <a:t>}.</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7" name="Text Box 33">
                  <a:extLst>
                    <a:ext uri="{FF2B5EF4-FFF2-40B4-BE49-F238E27FC236}">
                      <a16:creationId xmlns:a16="http://schemas.microsoft.com/office/drawing/2014/main" xmlns="" id="{A2B0C729-80EC-B94E-93F3-04C36C7241E9}"/>
                    </a:ext>
                  </a:extLst>
                </p:cNvPr>
                <p:cNvSpPr txBox="1">
                  <a:spLocks noRot="1" noChangeAspect="1" noMove="1" noResize="1" noEditPoints="1" noAdjustHandles="1" noChangeArrowheads="1" noChangeShapeType="1" noTextEdit="1"/>
                </p:cNvSpPr>
                <p:nvPr/>
              </p:nvSpPr>
              <p:spPr>
                <a:xfrm>
                  <a:off x="-1" y="-901287"/>
                  <a:ext cx="6629400" cy="2397568"/>
                </a:xfrm>
                <a:prstGeom prst="roundRect">
                  <a:avLst/>
                </a:prstGeom>
                <a:blipFill rotWithShape="1">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8" name="Picture 17" descr="Icon&#10;&#10;Description automatically generated">
              <a:extLst>
                <a:ext uri="{FF2B5EF4-FFF2-40B4-BE49-F238E27FC236}">
                  <a16:creationId xmlns:a16="http://schemas.microsoft.com/office/drawing/2014/main" xmlns="" id="{AB6C7606-6046-2548-AD48-BD678236FA8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1972" y="-700825"/>
              <a:ext cx="539750" cy="539750"/>
            </a:xfrm>
            <a:prstGeom prst="rect">
              <a:avLst/>
            </a:prstGeom>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051942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xmlns="" id="{C6745BFE-45F7-4A4B-8752-EA70E7587789}"/>
                  </a:ext>
                </a:extLst>
              </p:cNvPr>
              <p:cNvGraphicFramePr>
                <a:graphicFrameLocks noGrp="1"/>
              </p:cNvGraphicFramePr>
              <p:nvPr>
                <p:extLst>
                  <p:ext uri="{D42A27DB-BD31-4B8C-83A1-F6EECF244321}">
                    <p14:modId xmlns:p14="http://schemas.microsoft.com/office/powerpoint/2010/main" val="2053622103"/>
                  </p:ext>
                </p:extLst>
              </p:nvPr>
            </p:nvGraphicFramePr>
            <p:xfrm>
              <a:off x="2243250" y="1726372"/>
              <a:ext cx="7792738" cy="4351340"/>
            </p:xfrm>
            <a:graphic>
              <a:graphicData uri="http://schemas.openxmlformats.org/drawingml/2006/table">
                <a:tbl>
                  <a:tblPr firstRow="1" firstCol="1" bandRow="1">
                    <a:tableStyleId>{A91F0D33-8C57-4600-99A7-42BC86742BE1}</a:tableStyleId>
                  </a:tblPr>
                  <a:tblGrid>
                    <a:gridCol w="1566750">
                      <a:extLst>
                        <a:ext uri="{9D8B030D-6E8A-4147-A177-3AD203B41FA5}">
                          <a16:colId xmlns:a16="http://schemas.microsoft.com/office/drawing/2014/main" xmlns="" val="365019224"/>
                        </a:ext>
                      </a:extLst>
                    </a:gridCol>
                    <a:gridCol w="4928179">
                      <a:extLst>
                        <a:ext uri="{9D8B030D-6E8A-4147-A177-3AD203B41FA5}">
                          <a16:colId xmlns:a16="http://schemas.microsoft.com/office/drawing/2014/main" xmlns="" val="155631169"/>
                        </a:ext>
                      </a:extLst>
                    </a:gridCol>
                    <a:gridCol w="1297809">
                      <a:extLst>
                        <a:ext uri="{9D8B030D-6E8A-4147-A177-3AD203B41FA5}">
                          <a16:colId xmlns:a16="http://schemas.microsoft.com/office/drawing/2014/main" xmlns="" val="511243950"/>
                        </a:ext>
                      </a:extLst>
                    </a:gridCol>
                  </a:tblGrid>
                  <a:tr h="45608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Examples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Symbol</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202499300"/>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Natural numbers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 2, 3, 4,…</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ℕ</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26177948"/>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Whole numbers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0,1, 2, 3, …</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No symbol</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41912431"/>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Integers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 −3, −2, −1, 0,1, 2, 3, 4,…</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rPr>
                                <m:t>ℤ</m:t>
                              </m:r>
                            </m:oMath>
                          </a14:m>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7510361"/>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Rational numbers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−20</m:t>
                                </m:r>
                                <m:f>
                                  <m:fPr>
                                    <m:ctrlPr>
                                      <a:rPr lang="x-none" sz="2000" i="1">
                                        <a:effectLst/>
                                        <a:latin typeface="Cambria Math"/>
                                      </a:rPr>
                                    </m:ctrlPr>
                                  </m:fPr>
                                  <m:num>
                                    <m:r>
                                      <a:rPr lang="en-US" sz="2000">
                                        <a:effectLst/>
                                        <a:latin typeface="Cambria Math" panose="02040503050406030204" pitchFamily="18" charset="0"/>
                                      </a:rPr>
                                      <m:t>7</m:t>
                                    </m:r>
                                  </m:num>
                                  <m:den>
                                    <m:r>
                                      <a:rPr lang="en-US" sz="2000">
                                        <a:effectLst/>
                                        <a:latin typeface="Cambria Math" panose="02040503050406030204" pitchFamily="18" charset="0"/>
                                      </a:rPr>
                                      <m:t>8</m:t>
                                    </m:r>
                                  </m:den>
                                </m:f>
                                <m:r>
                                  <a:rPr lang="en-US" sz="2000">
                                    <a:effectLst/>
                                    <a:latin typeface="Cambria Math" panose="02040503050406030204" pitchFamily="18" charset="0"/>
                                  </a:rPr>
                                  <m:t>,−</m:t>
                                </m:r>
                                <m:f>
                                  <m:fPr>
                                    <m:ctrlPr>
                                      <a:rPr lang="x-none" sz="2000" i="1">
                                        <a:effectLst/>
                                        <a:latin typeface="Cambria Math"/>
                                      </a:rPr>
                                    </m:ctrlPr>
                                  </m:fPr>
                                  <m:num>
                                    <m:r>
                                      <a:rPr lang="en-US" sz="2000">
                                        <a:effectLst/>
                                        <a:latin typeface="Cambria Math" panose="02040503050406030204" pitchFamily="18" charset="0"/>
                                      </a:rPr>
                                      <m:t>2</m:t>
                                    </m:r>
                                  </m:num>
                                  <m:den>
                                    <m:r>
                                      <a:rPr lang="en-US" sz="2000">
                                        <a:effectLst/>
                                        <a:latin typeface="Cambria Math" panose="02040503050406030204" pitchFamily="18" charset="0"/>
                                      </a:rPr>
                                      <m:t>7</m:t>
                                    </m:r>
                                  </m:den>
                                </m:f>
                                <m:r>
                                  <a:rPr lang="en-US" sz="2000">
                                    <a:effectLst/>
                                    <a:latin typeface="Cambria Math" panose="02040503050406030204" pitchFamily="18" charset="0"/>
                                  </a:rPr>
                                  <m:t>, −0.25,</m:t>
                                </m:r>
                                <m:rad>
                                  <m:radPr>
                                    <m:degHide m:val="on"/>
                                    <m:ctrlPr>
                                      <a:rPr lang="x-none" sz="2000" i="1">
                                        <a:effectLst/>
                                        <a:latin typeface="Cambria Math"/>
                                      </a:rPr>
                                    </m:ctrlPr>
                                  </m:radPr>
                                  <m:deg/>
                                  <m:e>
                                    <m:r>
                                      <a:rPr lang="en-US" sz="2000">
                                        <a:effectLst/>
                                        <a:latin typeface="Cambria Math" panose="02040503050406030204" pitchFamily="18" charset="0"/>
                                      </a:rPr>
                                      <m:t>9</m:t>
                                    </m:r>
                                  </m:e>
                                </m:rad>
                                <m:r>
                                  <a:rPr lang="en-US" sz="2000">
                                    <a:effectLst/>
                                    <a:latin typeface="Cambria Math" panose="02040503050406030204" pitchFamily="18" charset="0"/>
                                  </a:rPr>
                                  <m:t>,4.01,</m:t>
                                </m:r>
                                <m:rad>
                                  <m:radPr>
                                    <m:ctrlPr>
                                      <a:rPr lang="x-none" sz="2000" i="1">
                                        <a:effectLst/>
                                        <a:latin typeface="Cambria Math"/>
                                      </a:rPr>
                                    </m:ctrlPr>
                                  </m:radPr>
                                  <m:deg>
                                    <m:r>
                                      <a:rPr lang="en-US" sz="2000">
                                        <a:effectLst/>
                                        <a:latin typeface="Cambria Math" panose="02040503050406030204" pitchFamily="18" charset="0"/>
                                      </a:rPr>
                                      <m:t>3</m:t>
                                    </m:r>
                                  </m:deg>
                                  <m:e>
                                    <m:r>
                                      <a:rPr lang="en-US" sz="2000">
                                        <a:effectLst/>
                                        <a:latin typeface="Cambria Math" panose="02040503050406030204" pitchFamily="18" charset="0"/>
                                      </a:rPr>
                                      <m:t>125</m:t>
                                    </m:r>
                                  </m:e>
                                </m:rad>
                                <m:r>
                                  <a:rPr lang="en-US" sz="2000">
                                    <a:effectLst/>
                                    <a:latin typeface="Cambria Math" panose="02040503050406030204" pitchFamily="18" charset="0"/>
                                  </a:rPr>
                                  <m:t> ,14</m:t>
                                </m:r>
                                <m:f>
                                  <m:fPr>
                                    <m:ctrlPr>
                                      <a:rPr lang="x-none" sz="2000" i="1">
                                        <a:effectLst/>
                                        <a:latin typeface="Cambria Math"/>
                                      </a:rPr>
                                    </m:ctrlPr>
                                  </m:fPr>
                                  <m:num>
                                    <m:r>
                                      <a:rPr lang="en-US" sz="2000">
                                        <a:effectLst/>
                                        <a:latin typeface="Cambria Math" panose="02040503050406030204" pitchFamily="18" charset="0"/>
                                      </a:rPr>
                                      <m:t>5</m:t>
                                    </m:r>
                                  </m:num>
                                  <m:den>
                                    <m:r>
                                      <a:rPr lang="en-US" sz="2000">
                                        <a:effectLst/>
                                        <a:latin typeface="Cambria Math" panose="02040503050406030204" pitchFamily="18" charset="0"/>
                                      </a:rPr>
                                      <m:t>9</m:t>
                                    </m:r>
                                  </m:den>
                                </m:f>
                                <m:r>
                                  <a:rPr lang="en-US" sz="2000">
                                    <a:effectLst/>
                                    <a:latin typeface="Cambria Math" panose="02040503050406030204" pitchFamily="18" charset="0"/>
                                  </a:rPr>
                                  <m:t>,89</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ℚ</m:t>
                                </m:r>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84021479"/>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Irrational numbers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m:t>
                                </m:r>
                                <m:rad>
                                  <m:radPr>
                                    <m:degHide m:val="on"/>
                                    <m:ctrlPr>
                                      <a:rPr lang="x-none" sz="2000" i="1">
                                        <a:effectLst/>
                                        <a:latin typeface="Cambria Math"/>
                                      </a:rPr>
                                    </m:ctrlPr>
                                  </m:radPr>
                                  <m:deg/>
                                  <m:e>
                                    <m:r>
                                      <a:rPr lang="en-US" sz="2000">
                                        <a:effectLst/>
                                        <a:latin typeface="Cambria Math" panose="02040503050406030204" pitchFamily="18" charset="0"/>
                                      </a:rPr>
                                      <m:t>17</m:t>
                                    </m:r>
                                  </m:e>
                                </m:rad>
                                <m:r>
                                  <a:rPr lang="en-US" sz="2000">
                                    <a:effectLst/>
                                    <a:latin typeface="Cambria Math" panose="02040503050406030204" pitchFamily="18" charset="0"/>
                                  </a:rPr>
                                  <m:t>, </m:t>
                                </m:r>
                                <m:r>
                                  <a:rPr lang="en-US" sz="2000">
                                    <a:effectLst/>
                                    <a:latin typeface="Cambria Math" panose="02040503050406030204" pitchFamily="18" charset="0"/>
                                  </a:rPr>
                                  <m:t>𝜋</m:t>
                                </m:r>
                                <m:r>
                                  <a:rPr lang="en-US" sz="2000">
                                    <a:effectLst/>
                                    <a:latin typeface="Cambria Math" panose="02040503050406030204" pitchFamily="18" charset="0"/>
                                  </a:rPr>
                                  <m:t>, </m:t>
                                </m:r>
                                <m:f>
                                  <m:fPr>
                                    <m:ctrlPr>
                                      <a:rPr lang="x-none" sz="2000" i="1">
                                        <a:effectLst/>
                                        <a:latin typeface="Cambria Math"/>
                                      </a:rPr>
                                    </m:ctrlPr>
                                  </m:fPr>
                                  <m:num>
                                    <m:rad>
                                      <m:radPr>
                                        <m:degHide m:val="on"/>
                                        <m:ctrlPr>
                                          <a:rPr lang="x-none" sz="2000" i="1">
                                            <a:effectLst/>
                                            <a:latin typeface="Cambria Math"/>
                                          </a:rPr>
                                        </m:ctrlPr>
                                      </m:radPr>
                                      <m:deg/>
                                      <m:e>
                                        <m:r>
                                          <a:rPr lang="en-US" sz="2000">
                                            <a:effectLst/>
                                            <a:latin typeface="Cambria Math" panose="02040503050406030204" pitchFamily="18" charset="0"/>
                                          </a:rPr>
                                          <m:t>6</m:t>
                                        </m:r>
                                      </m:e>
                                    </m:rad>
                                  </m:num>
                                  <m:den>
                                    <m:r>
                                      <a:rPr lang="en-US" sz="2000">
                                        <a:effectLst/>
                                        <a:latin typeface="Cambria Math" panose="02040503050406030204" pitchFamily="18" charset="0"/>
                                      </a:rPr>
                                      <m:t>2</m:t>
                                    </m:r>
                                  </m:den>
                                </m:f>
                                <m:r>
                                  <a:rPr lang="en-US" sz="2000">
                                    <a:effectLst/>
                                    <a:latin typeface="Cambria Math" panose="02040503050406030204" pitchFamily="18" charset="0"/>
                                  </a:rPr>
                                  <m:t>,</m:t>
                                </m:r>
                                <m:rad>
                                  <m:radPr>
                                    <m:ctrlPr>
                                      <a:rPr lang="x-none" sz="2000" i="1">
                                        <a:effectLst/>
                                        <a:latin typeface="Cambria Math"/>
                                      </a:rPr>
                                    </m:ctrlPr>
                                  </m:radPr>
                                  <m:deg>
                                    <m:r>
                                      <a:rPr lang="en-US" sz="2000">
                                        <a:effectLst/>
                                        <a:latin typeface="Cambria Math" panose="02040503050406030204" pitchFamily="18" charset="0"/>
                                      </a:rPr>
                                      <m:t>3</m:t>
                                    </m:r>
                                  </m:deg>
                                  <m:e>
                                    <m:r>
                                      <a:rPr lang="en-US" sz="2000">
                                        <a:effectLst/>
                                        <a:latin typeface="Cambria Math" panose="02040503050406030204" pitchFamily="18" charset="0"/>
                                      </a:rPr>
                                      <m:t>28</m:t>
                                    </m:r>
                                  </m:e>
                                </m:rad>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No symbol</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98731089"/>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Real numbers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 rational and irrational numbers</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ℝ</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52667111"/>
                      </a:ext>
                    </a:extLst>
                  </a:tr>
                </a:tbl>
              </a:graphicData>
            </a:graphic>
          </p:graphicFrame>
        </mc:Choice>
        <mc:Fallback>
          <p:graphicFrame>
            <p:nvGraphicFramePr>
              <p:cNvPr id="4" name="Table 3">
                <a:extLst>
                  <a:ext uri="{FF2B5EF4-FFF2-40B4-BE49-F238E27FC236}">
                    <a16:creationId xmlns:a16="http://schemas.microsoft.com/office/drawing/2014/main" xmlns:a14="http://schemas.microsoft.com/office/drawing/2010/main" xmlns="" id="{C6745BFE-45F7-4A4B-8752-EA70E7587789}"/>
                  </a:ext>
                </a:extLst>
              </p:cNvPr>
              <p:cNvGraphicFramePr>
                <a:graphicFrameLocks noGrp="1"/>
              </p:cNvGraphicFramePr>
              <p:nvPr>
                <p:extLst>
                  <p:ext uri="{D42A27DB-BD31-4B8C-83A1-F6EECF244321}">
                    <p14:modId xmlns:p14="http://schemas.microsoft.com/office/powerpoint/2010/main" val="2053622103"/>
                  </p:ext>
                </p:extLst>
              </p:nvPr>
            </p:nvGraphicFramePr>
            <p:xfrm>
              <a:off x="2243250" y="1726372"/>
              <a:ext cx="7792738" cy="4351340"/>
            </p:xfrm>
            <a:graphic>
              <a:graphicData uri="http://schemas.openxmlformats.org/drawingml/2006/table">
                <a:tbl>
                  <a:tblPr firstRow="1" firstCol="1" bandRow="1">
                    <a:tableStyleId>{A91F0D33-8C57-4600-99A7-42BC86742BE1}</a:tableStyleId>
                  </a:tblPr>
                  <a:tblGrid>
                    <a:gridCol w="1566750">
                      <a:extLst>
                        <a:ext uri="{9D8B030D-6E8A-4147-A177-3AD203B41FA5}">
                          <a16:colId xmlns:a16="http://schemas.microsoft.com/office/drawing/2014/main" xmlns:a14="http://schemas.microsoft.com/office/drawing/2010/main" xmlns="" val="365019224"/>
                        </a:ext>
                      </a:extLst>
                    </a:gridCol>
                    <a:gridCol w="4928179">
                      <a:extLst>
                        <a:ext uri="{9D8B030D-6E8A-4147-A177-3AD203B41FA5}">
                          <a16:colId xmlns:a16="http://schemas.microsoft.com/office/drawing/2014/main" xmlns:a14="http://schemas.microsoft.com/office/drawing/2010/main" xmlns="" val="155631169"/>
                        </a:ext>
                      </a:extLst>
                    </a:gridCol>
                    <a:gridCol w="1297809">
                      <a:extLst>
                        <a:ext uri="{9D8B030D-6E8A-4147-A177-3AD203B41FA5}">
                          <a16:colId xmlns:a16="http://schemas.microsoft.com/office/drawing/2014/main" xmlns:a14="http://schemas.microsoft.com/office/drawing/2010/main" xmlns="" val="511243950"/>
                        </a:ext>
                      </a:extLst>
                    </a:gridCol>
                  </a:tblGrid>
                  <a:tr h="45608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Examples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Symbol</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202499300"/>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Natural numbers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1931" t="-70755" r="-26485" b="-523585"/>
                          </a:stretch>
                        </a:blipFill>
                      </a:tcPr>
                    </a:tc>
                    <a:tc>
                      <a:txBody>
                        <a:bodyPr/>
                        <a:lstStyle/>
                        <a:p>
                          <a:endParaRPr lang="en-US"/>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500469" t="-70755" r="-469" b="-523585"/>
                          </a:stretch>
                        </a:blipFill>
                      </a:tcPr>
                    </a:tc>
                    <a:extLst>
                      <a:ext uri="{0D108BD9-81ED-4DB2-BD59-A6C34878D82A}">
                        <a16:rowId xmlns:a16="http://schemas.microsoft.com/office/drawing/2014/main" xmlns:a14="http://schemas.microsoft.com/office/drawing/2010/main" xmlns="" val="1626177948"/>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Whole numbers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1931" t="-169159" r="-26485" b="-418692"/>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No symbol</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741912431"/>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Integers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1931" t="-271698" r="-26485" b="-322642"/>
                          </a:stretch>
                        </a:blipFill>
                      </a:tcPr>
                    </a:tc>
                    <a:tc>
                      <a:txBody>
                        <a:bodyPr/>
                        <a:lstStyle/>
                        <a:p>
                          <a:endParaRPr lang="en-US"/>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500469" t="-271698" r="-469" b="-322642"/>
                          </a:stretch>
                        </a:blipFill>
                      </a:tcPr>
                    </a:tc>
                    <a:extLst>
                      <a:ext uri="{0D108BD9-81ED-4DB2-BD59-A6C34878D82A}">
                        <a16:rowId xmlns:a16="http://schemas.microsoft.com/office/drawing/2014/main" xmlns:a14="http://schemas.microsoft.com/office/drawing/2010/main" xmlns="" val="207510361"/>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Rational numbers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1931" t="-368224" r="-26485" b="-219626"/>
                          </a:stretch>
                        </a:blipFill>
                      </a:tcPr>
                    </a:tc>
                    <a:tc>
                      <a:txBody>
                        <a:bodyPr/>
                        <a:lstStyle/>
                        <a:p>
                          <a:endParaRPr lang="en-US"/>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500469" t="-368224" r="-469" b="-219626"/>
                          </a:stretch>
                        </a:blipFill>
                      </a:tcPr>
                    </a:tc>
                    <a:extLst>
                      <a:ext uri="{0D108BD9-81ED-4DB2-BD59-A6C34878D82A}">
                        <a16:rowId xmlns:a16="http://schemas.microsoft.com/office/drawing/2014/main" xmlns:a14="http://schemas.microsoft.com/office/drawing/2010/main" xmlns="" val="2184021479"/>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Irrational numbers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1931" t="-472642" r="-26485" b="-121698"/>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No symbol</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98731089"/>
                      </a:ext>
                    </a:extLst>
                  </a:tr>
                  <a:tr h="6492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Real numbers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 rational and irrational numbers</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5589" marR="6558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500469" t="-567290" r="-469" b="-20561"/>
                          </a:stretch>
                        </a:blipFill>
                      </a:tcPr>
                    </a:tc>
                    <a:extLst>
                      <a:ext uri="{0D108BD9-81ED-4DB2-BD59-A6C34878D82A}">
                        <a16:rowId xmlns:a16="http://schemas.microsoft.com/office/drawing/2014/main" xmlns:a14="http://schemas.microsoft.com/office/drawing/2010/main" xmlns="" val="2352667111"/>
                      </a:ext>
                    </a:extLst>
                  </a:tr>
                </a:tbl>
              </a:graphicData>
            </a:graphic>
          </p:graphicFrame>
        </mc:Fallback>
      </mc:AlternateContent>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167</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101566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table shows number sets within the number system, examples of the types of numbers included in each set, and the symbol used in set-builder notation, if there is one.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084506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167</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83099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 most cases, set-builder notation is similar to an inequality, except when referring to a number system or a specific pattern of numbers.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118988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xmlns="" id="{6CA412B6-EB27-F54C-9216-D8C6D4994DF1}"/>
                  </a:ext>
                </a:extLst>
              </p:cNvPr>
              <p:cNvGraphicFramePr>
                <a:graphicFrameLocks noGrp="1"/>
              </p:cNvGraphicFramePr>
              <p:nvPr>
                <p:extLst>
                  <p:ext uri="{D42A27DB-BD31-4B8C-83A1-F6EECF244321}">
                    <p14:modId xmlns:p14="http://schemas.microsoft.com/office/powerpoint/2010/main" val="2863748965"/>
                  </p:ext>
                </p:extLst>
              </p:nvPr>
            </p:nvGraphicFramePr>
            <p:xfrm>
              <a:off x="1101852" y="1450833"/>
              <a:ext cx="9077591" cy="4652475"/>
            </p:xfrm>
            <a:graphic>
              <a:graphicData uri="http://schemas.openxmlformats.org/drawingml/2006/table">
                <a:tbl>
                  <a:tblPr firstRow="1" firstCol="1" bandRow="1">
                    <a:tableStyleId>{A91F0D33-8C57-4600-99A7-42BC86742BE1}</a:tableStyleId>
                  </a:tblPr>
                  <a:tblGrid>
                    <a:gridCol w="4297680">
                      <a:extLst>
                        <a:ext uri="{9D8B030D-6E8A-4147-A177-3AD203B41FA5}">
                          <a16:colId xmlns:a16="http://schemas.microsoft.com/office/drawing/2014/main" xmlns="" val="2573086292"/>
                        </a:ext>
                      </a:extLst>
                    </a:gridCol>
                    <a:gridCol w="2033196">
                      <a:extLst>
                        <a:ext uri="{9D8B030D-6E8A-4147-A177-3AD203B41FA5}">
                          <a16:colId xmlns:a16="http://schemas.microsoft.com/office/drawing/2014/main" xmlns="" val="2821286376"/>
                        </a:ext>
                      </a:extLst>
                    </a:gridCol>
                    <a:gridCol w="2746715">
                      <a:extLst>
                        <a:ext uri="{9D8B030D-6E8A-4147-A177-3AD203B41FA5}">
                          <a16:colId xmlns:a16="http://schemas.microsoft.com/office/drawing/2014/main" xmlns="" val="386975"/>
                        </a:ext>
                      </a:extLst>
                    </a:gridCol>
                  </a:tblGrid>
                  <a:tr h="45108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Written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Inequalities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Set-Builder Notation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264775483"/>
                      </a:ext>
                    </a:extLst>
                  </a:tr>
                  <a:tr h="67545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 numbers greater than or equal to negative three</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𝑥</m:t>
                                </m:r>
                                <m:r>
                                  <a:rPr lang="en-US" sz="2000">
                                    <a:effectLst/>
                                    <a:latin typeface="Cambria Math" panose="02040503050406030204" pitchFamily="18" charset="0"/>
                                  </a:rPr>
                                  <m:t>≥−3</m:t>
                                </m:r>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d>
                                <m:dPr>
                                  <m:begChr m:val="{"/>
                                  <m:endChr m:val="}"/>
                                  <m:ctrlPr>
                                    <a:rPr lang="x-none" sz="2000" i="1">
                                      <a:effectLst/>
                                      <a:latin typeface="Cambria Math"/>
                                    </a:rPr>
                                  </m:ctrlPr>
                                </m:dPr>
                                <m:e>
                                  <m:r>
                                    <a:rPr lang="en-US" sz="2000">
                                      <a:effectLst/>
                                      <a:latin typeface="Cambria Math" panose="02040503050406030204" pitchFamily="18" charset="0"/>
                                    </a:rPr>
                                    <m:t>𝑥</m:t>
                                  </m:r>
                                  <m:r>
                                    <a:rPr lang="en-US" sz="2000">
                                      <a:effectLst/>
                                      <a:latin typeface="Cambria Math" panose="02040503050406030204" pitchFamily="18" charset="0"/>
                                    </a:rPr>
                                    <m:t>:</m:t>
                                  </m:r>
                                  <m:r>
                                    <a:rPr lang="en-US" sz="2000">
                                      <a:effectLst/>
                                      <a:latin typeface="Cambria Math" panose="02040503050406030204" pitchFamily="18" charset="0"/>
                                    </a:rPr>
                                    <m:t>𝑥</m:t>
                                  </m:r>
                                  <m:r>
                                    <a:rPr lang="en-US" sz="2000">
                                      <a:effectLst/>
                                      <a:latin typeface="Cambria Math" panose="02040503050406030204" pitchFamily="18" charset="0"/>
                                    </a:rPr>
                                    <m:t>≥−3</m:t>
                                  </m:r>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or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x-none" sz="2000" i="1">
                                        <a:effectLst/>
                                        <a:latin typeface="Cambria Math"/>
                                      </a:rPr>
                                    </m:ctrlPr>
                                  </m:dPr>
                                  <m:e>
                                    <m:r>
                                      <a:rPr lang="en-US" sz="2000">
                                        <a:effectLst/>
                                        <a:latin typeface="Cambria Math" panose="02040503050406030204" pitchFamily="18" charset="0"/>
                                      </a:rPr>
                                      <m:t>𝑥</m:t>
                                    </m:r>
                                    <m:r>
                                      <a:rPr lang="en-US" sz="2000">
                                        <a:effectLst/>
                                        <a:latin typeface="Cambria Math" panose="02040503050406030204" pitchFamily="18" charset="0"/>
                                      </a:rPr>
                                      <m:t>|</m:t>
                                    </m:r>
                                    <m:r>
                                      <a:rPr lang="en-US" sz="2000">
                                        <a:effectLst/>
                                        <a:latin typeface="Cambria Math" panose="02040503050406030204" pitchFamily="18" charset="0"/>
                                      </a:rPr>
                                      <m:t>𝑥</m:t>
                                    </m:r>
                                    <m:r>
                                      <a:rPr lang="en-US" sz="2000">
                                        <a:effectLst/>
                                        <a:latin typeface="Cambria Math" panose="02040503050406030204" pitchFamily="18" charset="0"/>
                                      </a:rPr>
                                      <m:t>≥−3</m:t>
                                    </m:r>
                                  </m:e>
                                </m:d>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19425221"/>
                      </a:ext>
                    </a:extLst>
                  </a:tr>
                  <a:tr h="55193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 numbers less than seven</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22521092"/>
                      </a:ext>
                    </a:extLst>
                  </a:tr>
                  <a:tr h="1013175">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 numbers greater than or equal to negative two and less than or equal to eleven</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48533954"/>
                      </a:ext>
                    </a:extLst>
                  </a:tr>
                  <a:tr h="67545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 numbers greater than zero and less than or equal to twenty</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0383724"/>
                      </a:ext>
                    </a:extLst>
                  </a:tr>
                  <a:tr h="463981">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set of integers</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59343294"/>
                      </a:ext>
                    </a:extLst>
                  </a:tr>
                  <a:tr h="520269">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set of rational numbers</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9910499"/>
                      </a:ext>
                    </a:extLst>
                  </a:tr>
                </a:tbl>
              </a:graphicData>
            </a:graphic>
          </p:graphicFrame>
        </mc:Choice>
        <mc:Fallback>
          <p:graphicFrame>
            <p:nvGraphicFramePr>
              <p:cNvPr id="2" name="Table 1">
                <a:extLst>
                  <a:ext uri="{FF2B5EF4-FFF2-40B4-BE49-F238E27FC236}">
                    <a16:creationId xmlns:a16="http://schemas.microsoft.com/office/drawing/2014/main" xmlns:a14="http://schemas.microsoft.com/office/drawing/2010/main" xmlns="" id="{6CA412B6-EB27-F54C-9216-D8C6D4994DF1}"/>
                  </a:ext>
                </a:extLst>
              </p:cNvPr>
              <p:cNvGraphicFramePr>
                <a:graphicFrameLocks noGrp="1"/>
              </p:cNvGraphicFramePr>
              <p:nvPr>
                <p:extLst>
                  <p:ext uri="{D42A27DB-BD31-4B8C-83A1-F6EECF244321}">
                    <p14:modId xmlns:p14="http://schemas.microsoft.com/office/powerpoint/2010/main" val="2863748965"/>
                  </p:ext>
                </p:extLst>
              </p:nvPr>
            </p:nvGraphicFramePr>
            <p:xfrm>
              <a:off x="1101852" y="1450833"/>
              <a:ext cx="9077591" cy="4652475"/>
            </p:xfrm>
            <a:graphic>
              <a:graphicData uri="http://schemas.openxmlformats.org/drawingml/2006/table">
                <a:tbl>
                  <a:tblPr firstRow="1" firstCol="1" bandRow="1">
                    <a:tableStyleId>{A91F0D33-8C57-4600-99A7-42BC86742BE1}</a:tableStyleId>
                  </a:tblPr>
                  <a:tblGrid>
                    <a:gridCol w="4297680">
                      <a:extLst>
                        <a:ext uri="{9D8B030D-6E8A-4147-A177-3AD203B41FA5}">
                          <a16:colId xmlns:a16="http://schemas.microsoft.com/office/drawing/2014/main" xmlns:a14="http://schemas.microsoft.com/office/drawing/2010/main" xmlns="" val="2573086292"/>
                        </a:ext>
                      </a:extLst>
                    </a:gridCol>
                    <a:gridCol w="2033196">
                      <a:extLst>
                        <a:ext uri="{9D8B030D-6E8A-4147-A177-3AD203B41FA5}">
                          <a16:colId xmlns:a16="http://schemas.microsoft.com/office/drawing/2014/main" xmlns:a14="http://schemas.microsoft.com/office/drawing/2010/main" xmlns="" val="2821286376"/>
                        </a:ext>
                      </a:extLst>
                    </a:gridCol>
                    <a:gridCol w="2746715">
                      <a:extLst>
                        <a:ext uri="{9D8B030D-6E8A-4147-A177-3AD203B41FA5}">
                          <a16:colId xmlns:a16="http://schemas.microsoft.com/office/drawing/2014/main" xmlns:a14="http://schemas.microsoft.com/office/drawing/2010/main" xmlns="" val="386975"/>
                        </a:ext>
                      </a:extLst>
                    </a:gridCol>
                  </a:tblGrid>
                  <a:tr h="70104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Written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Inequalities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Set-Builder Notation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264775483"/>
                      </a:ext>
                    </a:extLst>
                  </a:tr>
                  <a:tr h="70104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 numbers greater than or equal to negative three</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12012" t="-104348" r="-135435" b="-470435"/>
                          </a:stretch>
                        </a:blipFill>
                      </a:tcPr>
                    </a:tc>
                    <a:tc>
                      <a:txBody>
                        <a:bodyPr/>
                        <a:lstStyle/>
                        <a:p>
                          <a:endParaRPr lang="en-US"/>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30377" t="-104348" b="-470435"/>
                          </a:stretch>
                        </a:blipFill>
                      </a:tcPr>
                    </a:tc>
                    <a:extLst>
                      <a:ext uri="{0D108BD9-81ED-4DB2-BD59-A6C34878D82A}">
                        <a16:rowId xmlns:a16="http://schemas.microsoft.com/office/drawing/2014/main" xmlns:a14="http://schemas.microsoft.com/office/drawing/2010/main" xmlns="" val="3519425221"/>
                      </a:ext>
                    </a:extLst>
                  </a:tr>
                  <a:tr h="55193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 numbers less than seven</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422521092"/>
                      </a:ext>
                    </a:extLst>
                  </a:tr>
                  <a:tr h="1013175">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 numbers greater than or equal to negative two and less than or equal to eleven</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248533954"/>
                      </a:ext>
                    </a:extLst>
                  </a:tr>
                  <a:tr h="70104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 numbers greater than zero and less than or equal to twenty</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00383724"/>
                      </a:ext>
                    </a:extLst>
                  </a:tr>
                  <a:tr h="463981">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set of integers</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859343294"/>
                      </a:ext>
                    </a:extLst>
                  </a:tr>
                  <a:tr h="520269">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set of rational numbers</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2216" marR="4221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209910499"/>
                      </a:ext>
                    </a:extLst>
                  </a:tr>
                </a:tbl>
              </a:graphicData>
            </a:graphic>
          </p:graphicFrame>
        </mc:Fallback>
      </mc:AlternateContent>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168</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table. The first row has been completed.</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9691925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168</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830997"/>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Explain why writing the set of integers and the set of rational numbers using inequalities is not possible.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760884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168</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1"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6" name="TextBox 15">
            <a:extLst>
              <a:ext uri="{FF2B5EF4-FFF2-40B4-BE49-F238E27FC236}">
                <a16:creationId xmlns:a16="http://schemas.microsoft.com/office/drawing/2014/main" xmlns="" xmlns:a14="http://schemas.microsoft.com/office/drawing/2010/main" xmlns:mc="http://schemas.openxmlformats.org/markup-compatibility/2006" id="{0370EDB7-6994-3D43-ABF9-E04CBAFB9CD9}"/>
              </a:ext>
            </a:extLst>
          </p:cNvPr>
          <p:cNvSpPr txBox="1"/>
          <p:nvPr/>
        </p:nvSpPr>
        <p:spPr>
          <a:xfrm>
            <a:off x="730266" y="1376212"/>
            <a:ext cx="10800318" cy="317009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Use the </a:t>
            </a:r>
            <a:r>
              <a:rPr lang="en-US" sz="2000" dirty="0" err="1">
                <a:latin typeface="Verdana" panose="020B0604030504040204" pitchFamily="34" charset="0"/>
                <a:ea typeface="Times New Roman" panose="02020603050405020304" pitchFamily="18" charset="0"/>
                <a:cs typeface="Times New Roman" panose="02020603050405020304" pitchFamily="18" charset="0"/>
              </a:rPr>
              <a:t>emoji</a:t>
            </a:r>
            <a:r>
              <a:rPr lang="en-US" sz="2000" dirty="0">
                <a:latin typeface="Verdana" panose="020B0604030504040204" pitchFamily="34" charset="0"/>
                <a:ea typeface="Times New Roman" panose="02020603050405020304" pitchFamily="18" charset="0"/>
                <a:cs typeface="Times New Roman" panose="02020603050405020304" pitchFamily="18" charset="0"/>
              </a:rPr>
              <a:t> scale to describe how well you understand the domain and range of a linear relationship</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a:t>
            </a:r>
          </a:p>
          <a:p>
            <a:pPr marL="457200" indent="-457200">
              <a:buFont typeface="+mj-lt"/>
              <a:buAutoNum type="arabi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PH"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Use the </a:t>
            </a:r>
            <a:r>
              <a:rPr lang="en-US" sz="2000" dirty="0" err="1">
                <a:latin typeface="Verdana" panose="020B0604030504040204" pitchFamily="34" charset="0"/>
                <a:ea typeface="Times New Roman" panose="02020603050405020304" pitchFamily="18" charset="0"/>
                <a:cs typeface="Times New Roman" panose="02020603050405020304" pitchFamily="18" charset="0"/>
              </a:rPr>
              <a:t>emoji</a:t>
            </a:r>
            <a:r>
              <a:rPr lang="en-US" sz="2000" dirty="0">
                <a:latin typeface="Verdana" panose="020B0604030504040204" pitchFamily="34" charset="0"/>
                <a:ea typeface="Times New Roman" panose="02020603050405020304" pitchFamily="18" charset="0"/>
                <a:cs typeface="Times New Roman" panose="02020603050405020304" pitchFamily="18" charset="0"/>
              </a:rPr>
              <a:t> scale to describe how well you understand set-builder notation</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descr="A picture containing clipart&#10;&#10;Description automatically generated">
            <a:extLst>
              <a:ext uri="{FF2B5EF4-FFF2-40B4-BE49-F238E27FC236}">
                <a16:creationId xmlns:a16="http://schemas.microsoft.com/office/drawing/2014/main" xmlns="" id="{34A887C4-A510-FA4B-A336-5D1AA415308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09047" y="2267308"/>
            <a:ext cx="6373906" cy="1561536"/>
          </a:xfrm>
          <a:prstGeom prst="rect">
            <a:avLst/>
          </a:prstGeom>
        </p:spPr>
      </p:pic>
      <p:pic>
        <p:nvPicPr>
          <p:cNvPr id="11" name="Picture 10" descr="A picture containing clipart&#10;&#10;Description automatically generated">
            <a:extLst>
              <a:ext uri="{FF2B5EF4-FFF2-40B4-BE49-F238E27FC236}">
                <a16:creationId xmlns:a16="http://schemas.microsoft.com/office/drawing/2014/main" xmlns="" id="{526E48B8-1F03-AF40-A6D9-75AD4E96286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09047" y="4780336"/>
            <a:ext cx="6373906" cy="1561536"/>
          </a:xfrm>
          <a:prstGeom prst="rect">
            <a:avLst/>
          </a:prstGeom>
        </p:spPr>
      </p:pic>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1,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168</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4.1.4 Wrap-Up: Reflection</a:t>
            </a:r>
            <a:endParaRPr lang="en-US" sz="3600" b="1" dirty="0">
              <a:solidFill>
                <a:srgbClr val="3F2A67"/>
              </a:solidFill>
              <a:latin typeface="Verdana"/>
              <a:ea typeface="Verdana"/>
              <a:cs typeface="Verdana"/>
              <a:sym typeface="Verdana"/>
            </a:endParaRPr>
          </a:p>
        </p:txBody>
      </p:sp>
      <p:pic>
        <p:nvPicPr>
          <p:cNvPr id="15" name="Google Shape;469;p34"/>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2970</TotalTime>
  <Words>1377</Words>
  <Application>Microsoft Office PowerPoint</Application>
  <PresentationFormat>Custom</PresentationFormat>
  <Paragraphs>259</Paragraphs>
  <Slides>25</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Calibri</vt:lpstr>
      <vt:lpstr>Times New Roman</vt:lpstr>
      <vt:lpstr>Century Gothic</vt:lpstr>
      <vt:lpstr>Wingdings</vt:lpstr>
      <vt:lpstr>Cambria Math</vt:lpstr>
      <vt:lpstr>Cambria</vt:lpstr>
      <vt:lpstr>Arial Black</vt:lpstr>
      <vt:lpstr>Verdana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27</cp:revision>
  <dcterms:created xsi:type="dcterms:W3CDTF">2015-03-17T18:51:18Z</dcterms:created>
  <dcterms:modified xsi:type="dcterms:W3CDTF">2022-06-23T09:28:11Z</dcterms:modified>
</cp:coreProperties>
</file>