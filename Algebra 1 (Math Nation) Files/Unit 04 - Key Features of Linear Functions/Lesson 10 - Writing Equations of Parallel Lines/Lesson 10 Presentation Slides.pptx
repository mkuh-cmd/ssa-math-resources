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44" r:id="rId12"/>
    <p:sldId id="345" r:id="rId13"/>
    <p:sldId id="346" r:id="rId14"/>
    <p:sldId id="347" r:id="rId15"/>
    <p:sldId id="289" r:id="rId16"/>
    <p:sldId id="290" r:id="rId17"/>
    <p:sldId id="308" r:id="rId18"/>
    <p:sldId id="337" r:id="rId19"/>
    <p:sldId id="336" r:id="rId20"/>
    <p:sldId id="335" r:id="rId21"/>
    <p:sldId id="320" r:id="rId22"/>
    <p:sldId id="321" r:id="rId23"/>
    <p:sldId id="306" r:id="rId24"/>
    <p:sldId id="307" r:id="rId25"/>
  </p:sldIdLst>
  <p:sldSz cx="12192000" cy="6858000"/>
  <p:notesSz cx="6858000" cy="9144000"/>
  <p:embeddedFontLst>
    <p:embeddedFont>
      <p:font typeface="Verdana" pitchFamily="34" charset="0"/>
      <p:regular r:id="rId27"/>
      <p:bold r:id="rId28"/>
      <p:italic r:id="rId29"/>
      <p:boldItalic r:id="rId30"/>
    </p:embeddedFon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Century Gothic" pitchFamily="34" charset="0"/>
      <p:regular r:id="rId35"/>
      <p:bold r:id="rId36"/>
      <p:italic r:id="rId37"/>
      <p:boldItalic r:id="rId38"/>
    </p:embeddedFont>
    <p:embeddedFont>
      <p:font typeface="Cambria Math" pitchFamily="18" charset="0"/>
      <p:regular r:id="rId39"/>
    </p:embeddedFont>
    <p:embeddedFont>
      <p:font typeface="Arial Black" pitchFamily="34" charset="0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BFBFBF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821"/>
    <p:restoredTop sz="94694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5327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730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526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234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1197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919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27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62008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61;g104476d1465_0_0"/>
          <p:cNvSpPr txBox="1">
            <a:spLocks/>
          </p:cNvSpPr>
          <p:nvPr/>
        </p:nvSpPr>
        <p:spPr>
          <a:xfrm>
            <a:off x="5604721" y="2054275"/>
            <a:ext cx="520139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10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Equations of Parallel Lines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214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2608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MA.912.AR.2.3 </a:t>
            </a:r>
          </a:p>
          <a:p>
            <a:pPr marL="552450" lvl="1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linear two-variable equation for a line that is parallel or perpendicular to a given line and goes through a given point.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 that is parallel to a given line through a given point.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 that is parallel to a given line when given two points.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 that is parallel to a given line when given a point and the slope.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8CCFC73F-2E74-0F4E-A63C-6D6EAD1CF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9363" y="1434143"/>
            <a:ext cx="5270865" cy="2110106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4.10.1 Warm-Up: Lego Pattern</a:t>
            </a:r>
          </a:p>
        </p:txBody>
      </p:sp>
      <p:pic>
        <p:nvPicPr>
          <p:cNvPr id="18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479008" y="1497535"/>
            <a:ext cx="110515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you notice about the pattern?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the next set of blocks in the pattern.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01011792-3344-694F-A261-64787E7D0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1911048"/>
                  </p:ext>
                </p:extLst>
              </p:nvPr>
            </p:nvGraphicFramePr>
            <p:xfrm>
              <a:off x="2335794" y="1242073"/>
              <a:ext cx="7065818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23428">
                      <a:extLst>
                        <a:ext uri="{9D8B030D-6E8A-4147-A177-3AD203B41FA5}">
                          <a16:colId xmlns:a16="http://schemas.microsoft.com/office/drawing/2014/main" xmlns="" val="749910066"/>
                        </a:ext>
                      </a:extLst>
                    </a:gridCol>
                    <a:gridCol w="3942390">
                      <a:extLst>
                        <a:ext uri="{9D8B030D-6E8A-4147-A177-3AD203B41FA5}">
                          <a16:colId xmlns:a16="http://schemas.microsoft.com/office/drawing/2014/main" xmlns="" val="168466892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Blocks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2, 7, 14, ______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9394134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Circles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8, 28, 56, ______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1129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1011792-3344-694F-A261-64787E7D0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1911048"/>
                  </p:ext>
                </p:extLst>
              </p:nvPr>
            </p:nvGraphicFramePr>
            <p:xfrm>
              <a:off x="2335794" y="1242073"/>
              <a:ext cx="7065818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2342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749910066"/>
                        </a:ext>
                      </a:extLst>
                    </a:gridCol>
                    <a:gridCol w="394239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68466892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Blocks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134" t="-885" r="-155" b="-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9394134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Circles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134" t="-101786" r="-1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211294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9438" indent="-519113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two different ways of writing the pattern.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883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CB7E2D5B-C3F1-5441-B943-FD4A126D8B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2576" y="1386024"/>
            <a:ext cx="3730336" cy="3730336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3"/>
                <a:ext cx="6614680" cy="835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the linear relationship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−11=−</m:t>
                    </m:r>
                    <m:f>
                      <m:fPr>
                        <m:ctrlPr>
                          <a:rPr lang="x-none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3"/>
                <a:ext cx="6614680" cy="835357"/>
              </a:xfrm>
              <a:prstGeom prst="rect">
                <a:avLst/>
              </a:prstGeom>
              <a:blipFill rotWithShape="1">
                <a:blip r:embed="rId5"/>
                <a:stretch>
                  <a:fillRect l="-1014" t="-4380" b="-3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5"/>
            <a:ext cx="1075986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4.10.2 Collaboration: Parallel Lines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991690" y="2572715"/>
            <a:ext cx="5440889" cy="783193"/>
            <a:chOff x="545132" y="3134827"/>
            <a:chExt cx="5440889" cy="783193"/>
          </a:xfrm>
        </p:grpSpPr>
        <p:sp>
          <p:nvSpPr>
            <p:cNvPr id="20" name="Text Box 40">
              <a:extLst>
                <a:ext uri="{FF2B5EF4-FFF2-40B4-BE49-F238E27FC236}">
                  <a16:creationId xmlns:a16="http://schemas.microsoft.com/office/drawing/2014/main" xmlns="" id="{2D4DCE87-8A07-1E42-A921-69D4C8ED01F6}"/>
                </a:ext>
              </a:extLst>
            </p:cNvPr>
            <p:cNvSpPr txBox="1"/>
            <p:nvPr/>
          </p:nvSpPr>
          <p:spPr>
            <a:xfrm>
              <a:off x="545132" y="3134827"/>
              <a:ext cx="5440889" cy="783193"/>
            </a:xfrm>
            <a:prstGeom prst="roundRect">
              <a:avLst/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Lines are</a:t>
              </a:r>
              <a:r>
                <a:rPr lang="en-US" sz="2000" b="1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parallel </a:t>
              </a:r>
              <a:r>
                <a:rPr lang="en-US" sz="20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if the slopes of the lines are the same.</a:t>
              </a:r>
              <a:endParaRPr lang="en-PH" sz="2000" dirty="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" name="Picture 20" descr="Icon&#10;&#10;Description automatically generated">
              <a:extLst>
                <a:ext uri="{FF2B5EF4-FFF2-40B4-BE49-F238E27FC236}">
                  <a16:creationId xmlns:a16="http://schemas.microsoft.com/office/drawing/2014/main" xmlns="" id="{46FA1AFF-E952-0F4C-8527-F7E6CC6F6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2156" y="3296890"/>
              <a:ext cx="459068" cy="45906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723497" cy="4040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7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Plot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Then draw the line that passes through the point that is parallel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−11=−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17575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7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7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75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slope of the line that passes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7575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7575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75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75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to write the equation of the line that is parallel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−11=−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+8)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passes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7575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723497" cy="4040593"/>
              </a:xfrm>
              <a:prstGeom prst="rect">
                <a:avLst/>
              </a:prstGeom>
              <a:blipFill rotWithShape="1">
                <a:blip r:embed="rId4"/>
                <a:stretch>
                  <a:fillRect t="-906" r="-1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/>
          <p:cNvSpPr/>
          <p:nvPr/>
        </p:nvSpPr>
        <p:spPr>
          <a:xfrm>
            <a:off x="4883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626066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  <a:tabLst>
                    <a:tab pos="914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linear relationship is shown on the coordinate grid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  <a:tabLst>
                    <a:tab pos="914400" algn="l"/>
                  </a:tabLst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equation of the line that is parallel to the line and passes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 −6)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3975">
                  <a:tabLst>
                    <a:tab pos="914400" algn="l"/>
                  </a:tabLst>
                </a:pPr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3975">
                  <a:tabLst>
                    <a:tab pos="914400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3975">
                  <a:tabLst>
                    <a:tab pos="9144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+6=_____(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−4)</m:t>
                      </m:r>
                    </m:oMath>
                  </m:oMathPara>
                </a14:m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6260669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1071" t="-1279" b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E065F77-495C-B541-ACE0-3DA15049F04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6645" y="479475"/>
            <a:ext cx="4071808" cy="4071808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758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615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why the point-slope form of a line is the easiest form of a line to use when writing the equation of a parallel line.  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in slope-intercept form.</a:t>
                </a: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=__________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+__________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in standard form.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__________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+__________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=___________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6156" cy="5016758"/>
              </a:xfrm>
              <a:prstGeom prst="rect">
                <a:avLst/>
              </a:prstGeom>
              <a:blipFill rotWithShape="1">
                <a:blip r:embed="rId4"/>
                <a:stretch>
                  <a:fillRect t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61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EC562F1-5611-CD40-A34A-AC854D074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9330" y="479475"/>
            <a:ext cx="4211782" cy="4211782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614636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Plot the two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(1, 4)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coordinate grid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of the line that is parallel to the line that passes through the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(1, 4)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 −3)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6146369" cy="2246769"/>
              </a:xfrm>
              <a:prstGeom prst="rect">
                <a:avLst/>
              </a:prstGeom>
              <a:blipFill rotWithShape="1">
                <a:blip r:embed="rId5"/>
                <a:stretch>
                  <a:fillRect l="-1091" t="-1630" r="-893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643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6156" cy="567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following about the equation of the line.</a:t>
                </a:r>
              </a:p>
              <a:p>
                <a:pPr marL="53975">
                  <a:tabLst>
                    <a:tab pos="914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/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reason I wrote the equation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</a:p>
              <a:p>
                <a:pPr marL="457200"/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/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because ________________________________________.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method did you use to find the slope of the line?</a:t>
                </a:r>
              </a:p>
              <a:p>
                <a:pPr marL="53975">
                  <a:tabLst>
                    <a:tab pos="914400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5713" indent="-341313"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 used the two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(1, 4)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subtraction to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𝑐h𝑎𝑛𝑔𝑒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𝑐h𝑎𝑛𝑔𝑒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255713" indent="-341313"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5713" indent="-341313"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 used the graph and counted to find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𝑐h𝑎𝑛𝑔𝑒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𝑐h𝑎𝑛𝑔𝑒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3975">
                  <a:tabLst>
                    <a:tab pos="914400" algn="l"/>
                  </a:tabLst>
                </a:pP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6156" cy="5674759"/>
              </a:xfrm>
              <a:prstGeom prst="rect">
                <a:avLst/>
              </a:prstGeom>
              <a:blipFill rotWithShape="1">
                <a:blip r:embed="rId3"/>
                <a:stretch>
                  <a:fillRect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xmlns="" id="{1526C1D5-4ABA-CB46-A97F-6B66B9AB96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1166" y="1061030"/>
            <a:ext cx="2435328" cy="107681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4358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4.10.3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Parallel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Lines</a:t>
            </a:r>
          </a:p>
        </p:txBody>
      </p:sp>
      <p:pic>
        <p:nvPicPr>
          <p:cNvPr id="13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5"/>
                <a:ext cx="109854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the line, in all three forms, that is parallel to the line that passes through the points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(−5, −2)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 2)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goes through the point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 −1)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5"/>
                <a:ext cx="10985454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555" t="-5172" r="-38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314265"/>
              </p:ext>
            </p:extLst>
          </p:nvPr>
        </p:nvGraphicFramePr>
        <p:xfrm>
          <a:off x="1246837" y="4529725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xmlns="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19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615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the line that passes through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 −7)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is parallel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to remember that the slope of a horizontal line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6156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896" t="-1449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615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passes through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(4, −7)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is parallel to the line that passes through the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(−1, 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−1, 6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discuss how to remember that the slope of a vertical line is undefined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x-none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6156" cy="4154984"/>
              </a:xfrm>
              <a:prstGeom prst="rect">
                <a:avLst/>
              </a:prstGeom>
              <a:blipFill rotWithShape="1">
                <a:blip r:embed="rId4"/>
                <a:stretch>
                  <a:fillRect l="-896" t="-1322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942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ECDF0AA-EFC6-6041-BDE3-ADBBA71CA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33895"/>
              </p:ext>
            </p:extLst>
          </p:nvPr>
        </p:nvGraphicFramePr>
        <p:xfrm>
          <a:off x="1252833" y="1155355"/>
          <a:ext cx="8333785" cy="25298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160323">
                  <a:extLst>
                    <a:ext uri="{9D8B030D-6E8A-4147-A177-3AD203B41FA5}">
                      <a16:colId xmlns:a16="http://schemas.microsoft.com/office/drawing/2014/main" xmlns="" val="2831118435"/>
                    </a:ext>
                  </a:extLst>
                </a:gridCol>
                <a:gridCol w="2083252">
                  <a:extLst>
                    <a:ext uri="{9D8B030D-6E8A-4147-A177-3AD203B41FA5}">
                      <a16:colId xmlns:a16="http://schemas.microsoft.com/office/drawing/2014/main" xmlns="" val="3033428155"/>
                    </a:ext>
                  </a:extLst>
                </a:gridCol>
                <a:gridCol w="1416081">
                  <a:extLst>
                    <a:ext uri="{9D8B030D-6E8A-4147-A177-3AD203B41FA5}">
                      <a16:colId xmlns:a16="http://schemas.microsoft.com/office/drawing/2014/main" xmlns="" val="4076705811"/>
                    </a:ext>
                  </a:extLst>
                </a:gridCol>
                <a:gridCol w="2674129">
                  <a:extLst>
                    <a:ext uri="{9D8B030D-6E8A-4147-A177-3AD203B41FA5}">
                      <a16:colId xmlns:a16="http://schemas.microsoft.com/office/drawing/2014/main" xmlns="" val="377470979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Sketch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Equations of Parallel Lines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722433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Horizontal Line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452902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Vertical Line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84189887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44956" y="479475"/>
            <a:ext cx="10886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1084506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956" y="479475"/>
                <a:ext cx="108861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line, in all three forms, that is parallel to the line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goes through the 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(−9, 14)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6" y="479475"/>
                <a:ext cx="10886156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896" t="-5882" r="-1400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323794"/>
              </p:ext>
            </p:extLst>
          </p:nvPr>
        </p:nvGraphicFramePr>
        <p:xfrm>
          <a:off x="1246837" y="4024900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xmlns="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19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988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08886"/>
                <a:ext cx="1080031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passes through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(−3, 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is parallel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the line, in all three forms, that is parallel to the line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=51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(3, −11)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08886"/>
                <a:ext cx="10800318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621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4.10.4 Your Turn!</a:t>
            </a: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301875"/>
              </p:ext>
            </p:extLst>
          </p:nvPr>
        </p:nvGraphicFramePr>
        <p:xfrm>
          <a:off x="1246837" y="4529725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xmlns="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19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4.10.5 Wrap-Up: 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211249"/>
                <a:ext cx="1080031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the line, in all three forms, that is parallel to the line that passes through the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 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 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11249"/>
                <a:ext cx="10800318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621" t="-3614" r="-84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1A76B16F-14D3-C646-AE57-33DF0437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314265"/>
              </p:ext>
            </p:extLst>
          </p:nvPr>
        </p:nvGraphicFramePr>
        <p:xfrm>
          <a:off x="1246837" y="4529725"/>
          <a:ext cx="1014984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xmlns="" val="1469210379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13126311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xmlns="" val="373542603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Point-Slope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Slope-Intercept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933154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19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2909</TotalTime>
  <Words>906</Words>
  <Application>Microsoft Office PowerPoint</Application>
  <PresentationFormat>Custom</PresentationFormat>
  <Paragraphs>197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Verdana</vt:lpstr>
      <vt:lpstr>Calibri</vt:lpstr>
      <vt:lpstr>Courier New</vt:lpstr>
      <vt:lpstr>Times New Roman</vt:lpstr>
      <vt:lpstr>Century Gothic</vt:lpstr>
      <vt:lpstr>Wingdings</vt:lpstr>
      <vt:lpstr>Cambria Math</vt:lpstr>
      <vt:lpstr>Arial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27</cp:revision>
  <dcterms:created xsi:type="dcterms:W3CDTF">2015-03-17T18:51:18Z</dcterms:created>
  <dcterms:modified xsi:type="dcterms:W3CDTF">2022-06-24T14:27:44Z</dcterms:modified>
</cp:coreProperties>
</file>