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314" r:id="rId8"/>
    <p:sldId id="315" r:id="rId9"/>
    <p:sldId id="316" r:id="rId10"/>
    <p:sldId id="344" r:id="rId11"/>
    <p:sldId id="345" r:id="rId12"/>
    <p:sldId id="320" r:id="rId13"/>
    <p:sldId id="321" r:id="rId14"/>
    <p:sldId id="343" r:id="rId15"/>
    <p:sldId id="322" r:id="rId16"/>
    <p:sldId id="346" r:id="rId17"/>
    <p:sldId id="306" r:id="rId18"/>
    <p:sldId id="307" r:id="rId19"/>
    <p:sldId id="347" r:id="rId20"/>
  </p:sldIdLst>
  <p:sldSz cx="12192000" cy="6858000"/>
  <p:notesSz cx="6858000" cy="9144000"/>
  <p:embeddedFontLst>
    <p:embeddedFont>
      <p:font typeface="Century Gothic" pitchFamily="34" charset="0"/>
      <p:regular r:id="rId22"/>
      <p:bold r:id="rId23"/>
      <p:italic r:id="rId24"/>
      <p:boldItalic r:id="rId25"/>
    </p:embeddedFont>
    <p:embeddedFont>
      <p:font typeface="Cambria Math" pitchFamily="18" charset="0"/>
      <p:regular r:id="rId26"/>
    </p:embeddedFont>
    <p:embeddedFont>
      <p:font typeface="Arial Black" pitchFamily="34" charset="0"/>
      <p:bold r:id="rId27"/>
    </p:embeddedFont>
    <p:embeddedFont>
      <p:font typeface="Verdana" pitchFamily="34" charset="0"/>
      <p:regular r:id="rId28"/>
      <p:bold r:id="rId29"/>
      <p:italic r:id="rId30"/>
      <p:boldItalic r:id="rId31"/>
    </p:embeddedFont>
    <p:embeddedFont>
      <p:font typeface="Calibri"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22"/>
    <p:restoredTop sz="94609"/>
  </p:normalViewPr>
  <p:slideViewPr>
    <p:cSldViewPr snapToGrid="0">
      <p:cViewPr varScale="1">
        <p:scale>
          <a:sx n="104" d="100"/>
          <a:sy n="104" d="100"/>
        </p:scale>
        <p:origin x="-58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35928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62039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9942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363750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278321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899600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3.jpe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72110" y="2240068"/>
            <a:ext cx="5095891"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Algebra 1</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Writing Equations of Parallel and Perpendicular Lines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224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2031743"/>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1290" y="-755"/>
            <a:ext cx="104136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2966" y="28844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35988" y="1467390"/>
            <a:ext cx="11049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MA.912.AR.2.3 </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Write a linear two-variable equation for a line that is parallel or perpendicular to a given line and goes through a given point.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1340" y="0"/>
            <a:ext cx="10388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224</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529711" y="1464246"/>
            <a:ext cx="10960100" cy="48612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pic>
        <p:nvPicPr>
          <p:cNvPr id="9" name="Google Shape;281;g104476d1465_1_17"/>
          <p:cNvPicPr preferRelativeResize="0"/>
          <p:nvPr/>
        </p:nvPicPr>
        <p:blipFill>
          <a:blip r:embed="rId4">
            <a:alphaModFix/>
          </a:blip>
          <a:stretch>
            <a:fillRect/>
          </a:stretch>
        </p:blipFill>
        <p:spPr>
          <a:xfrm>
            <a:off x="432966" y="288445"/>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2780" y="-755"/>
            <a:ext cx="93394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432966" y="28844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224</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622300" y="1467035"/>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an equation for a line parallel to a given line through a given point.</a:t>
            </a:r>
          </a:p>
          <a:p>
            <a:pPr marL="571500" indent="-5715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an equation for a line perpendicular to a given line through a given point.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17520" y="2916936"/>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49270" y="2766150"/>
            <a:ext cx="420479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5568" y="0"/>
            <a:ext cx="92835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4.12.1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32966" y="28844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xmlns="" id="{E1D7562E-134F-D14B-AF1A-DF40E11EF758}"/>
                  </a:ext>
                </a:extLst>
              </p:cNvPr>
              <p:cNvSpPr txBox="1"/>
              <p:nvPr/>
            </p:nvSpPr>
            <p:spPr>
              <a:xfrm>
                <a:off x="538576" y="1462014"/>
                <a:ext cx="10998200" cy="336733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the equation of the line that goes through the point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(−27, 10)</m:t>
                    </m:r>
                  </m:oMath>
                </a14:m>
                <a:r>
                  <a:rPr lang="en-US" sz="2400" dirty="0">
                    <a:latin typeface="Verdana" panose="020B0604030504040204" pitchFamily="34" charset="0"/>
                    <a:ea typeface="Verdana" panose="020B0604030504040204" pitchFamily="34" charset="0"/>
                    <a:cs typeface="Verdana" panose="020B0604030504040204" pitchFamily="34" charset="0"/>
                  </a:rPr>
                  <a:t> and is parallel to the line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𝑦</m:t>
                    </m:r>
                    <m:r>
                      <a:rPr lang="en-US" sz="2400" i="1" dirty="0">
                        <a:latin typeface="Cambria Math" panose="02040503050406030204" pitchFamily="18" charset="0"/>
                        <a:ea typeface="Verdana" panose="020B0604030504040204" pitchFamily="34" charset="0"/>
                        <a:cs typeface="Verdana" panose="020B0604030504040204" pitchFamily="34" charset="0"/>
                      </a:rPr>
                      <m:t>+5=</m:t>
                    </m:r>
                    <m:f>
                      <m:fPr>
                        <m:ctrlPr>
                          <a:rPr lang="en-US" sz="2400" i="1" dirty="0">
                            <a:latin typeface="Cambria Math"/>
                            <a:ea typeface="Verdana" panose="020B0604030504040204" pitchFamily="34" charset="0"/>
                            <a:cs typeface="Verdana" panose="020B0604030504040204" pitchFamily="34" charset="0"/>
                          </a:rPr>
                        </m:ctrlPr>
                      </m:fPr>
                      <m:num>
                        <m:r>
                          <a:rPr lang="en-US" sz="2400" i="1" dirty="0">
                            <a:latin typeface="Cambria Math" panose="02040503050406030204" pitchFamily="18" charset="0"/>
                            <a:ea typeface="Verdana" panose="020B0604030504040204" pitchFamily="34" charset="0"/>
                            <a:cs typeface="Verdana" panose="020B0604030504040204" pitchFamily="34" charset="0"/>
                          </a:rPr>
                          <m:t>5</m:t>
                        </m:r>
                      </m:num>
                      <m:den>
                        <m:r>
                          <a:rPr lang="en-US" sz="2400" i="1" dirty="0">
                            <a:latin typeface="Cambria Math" panose="02040503050406030204" pitchFamily="18" charset="0"/>
                            <a:ea typeface="Verdana" panose="020B0604030504040204" pitchFamily="34" charset="0"/>
                            <a:cs typeface="Verdana" panose="020B0604030504040204" pitchFamily="34" charset="0"/>
                          </a:rPr>
                          <m:t>9</m:t>
                        </m:r>
                      </m:den>
                    </m:f>
                    <m:r>
                      <a:rPr lang="en-US" sz="2400" i="1" dirty="0">
                        <a:latin typeface="Cambria Math" panose="02040503050406030204" pitchFamily="18" charset="0"/>
                        <a:ea typeface="Verdana" panose="020B0604030504040204" pitchFamily="34" charset="0"/>
                        <a:cs typeface="Verdana" panose="020B0604030504040204" pitchFamily="34" charset="0"/>
                      </a:rPr>
                      <m:t> (</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the equation of the line that goes through the point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(−27, 10)</m:t>
                    </m:r>
                  </m:oMath>
                </a14:m>
                <a:r>
                  <a:rPr lang="en-US" sz="2400" dirty="0">
                    <a:latin typeface="Verdana" panose="020B0604030504040204" pitchFamily="34" charset="0"/>
                    <a:ea typeface="Verdana" panose="020B0604030504040204" pitchFamily="34" charset="0"/>
                    <a:cs typeface="Verdana" panose="020B0604030504040204" pitchFamily="34" charset="0"/>
                  </a:rPr>
                  <a:t> and is perpendicular to the line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𝑦</m:t>
                    </m:r>
                    <m:r>
                      <a:rPr lang="en-US" sz="2400" i="1" dirty="0">
                        <a:latin typeface="Cambria Math" panose="02040503050406030204" pitchFamily="18" charset="0"/>
                        <a:ea typeface="Verdana" panose="020B0604030504040204" pitchFamily="34" charset="0"/>
                        <a:cs typeface="Verdana" panose="020B0604030504040204" pitchFamily="34" charset="0"/>
                      </a:rPr>
                      <m:t>+5=</m:t>
                    </m:r>
                    <m:f>
                      <m:fPr>
                        <m:ctrlPr>
                          <a:rPr lang="en-US" sz="2400" i="1" dirty="0">
                            <a:latin typeface="Cambria Math"/>
                            <a:ea typeface="Verdana" panose="020B0604030504040204" pitchFamily="34" charset="0"/>
                            <a:cs typeface="Verdana" panose="020B0604030504040204" pitchFamily="34" charset="0"/>
                          </a:rPr>
                        </m:ctrlPr>
                      </m:fPr>
                      <m:num>
                        <m:r>
                          <a:rPr lang="en-US" sz="2400" i="1" dirty="0">
                            <a:latin typeface="Cambria Math" panose="02040503050406030204" pitchFamily="18" charset="0"/>
                            <a:ea typeface="Verdana" panose="020B0604030504040204" pitchFamily="34" charset="0"/>
                            <a:cs typeface="Verdana" panose="020B0604030504040204" pitchFamily="34" charset="0"/>
                          </a:rPr>
                          <m:t>5</m:t>
                        </m:r>
                      </m:num>
                      <m:den>
                        <m:r>
                          <a:rPr lang="en-US" sz="2400" i="1" dirty="0">
                            <a:latin typeface="Cambria Math" panose="02040503050406030204" pitchFamily="18" charset="0"/>
                            <a:ea typeface="Verdana" panose="020B0604030504040204" pitchFamily="34" charset="0"/>
                            <a:cs typeface="Verdana" panose="020B0604030504040204" pitchFamily="34" charset="0"/>
                          </a:rPr>
                          <m:t>9</m:t>
                        </m:r>
                      </m:den>
                    </m:f>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8576" y="1462014"/>
                <a:ext cx="10998200" cy="3367332"/>
              </a:xfrm>
              <a:prstGeom prst="rect">
                <a:avLst/>
              </a:prstGeom>
              <a:blipFill rotWithShape="1">
                <a:blip r:embed="rId5"/>
                <a:stretch>
                  <a:fillRect l="-831" t="-1630" b="-543"/>
                </a:stretch>
              </a:blipFill>
            </p:spPr>
            <p:txBody>
              <a:bodyPr/>
              <a:lstStyle/>
              <a:p>
                <a:r>
                  <a:rPr lang="en-PH">
                    <a:noFill/>
                  </a:rPr>
                  <a:t> </a:t>
                </a:r>
              </a:p>
            </p:txBody>
          </p:sp>
        </mc:Fallback>
      </mc:AlternateContent>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830158"/>
            <a:ext cx="496824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225</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3403" y="0"/>
            <a:ext cx="109673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4.12.2 Collaboration: Sorting Equations</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225</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32966" y="28844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534768" y="1457047"/>
            <a:ext cx="10960100"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sort the equations into pairs that have the given characteristic. Find three different sets of pairs of equations for each characteristic. Lines may be used more than once.</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xmlns="" id="{4A26B4D7-FEF2-9B43-8BAE-E7454D276404}"/>
                  </a:ext>
                </a:extLst>
              </p:cNvPr>
              <p:cNvGraphicFramePr>
                <a:graphicFrameLocks noGrp="1"/>
              </p:cNvGraphicFramePr>
              <p:nvPr>
                <p:extLst>
                  <p:ext uri="{D42A27DB-BD31-4B8C-83A1-F6EECF244321}">
                    <p14:modId xmlns:p14="http://schemas.microsoft.com/office/powerpoint/2010/main" val="111897294"/>
                  </p:ext>
                </p:extLst>
              </p:nvPr>
            </p:nvGraphicFramePr>
            <p:xfrm>
              <a:off x="1156140" y="2593909"/>
              <a:ext cx="9180000" cy="3420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xmlns="" val="3313691151"/>
                        </a:ext>
                      </a:extLst>
                    </a:gridCol>
                    <a:gridCol w="3060000">
                      <a:extLst>
                        <a:ext uri="{9D8B030D-6E8A-4147-A177-3AD203B41FA5}">
                          <a16:colId xmlns:a16="http://schemas.microsoft.com/office/drawing/2014/main" xmlns="" val="3145000736"/>
                        </a:ext>
                      </a:extLst>
                    </a:gridCol>
                    <a:gridCol w="3240000">
                      <a:extLst>
                        <a:ext uri="{9D8B030D-6E8A-4147-A177-3AD203B41FA5}">
                          <a16:colId xmlns:a16="http://schemas.microsoft.com/office/drawing/2014/main" xmlns="" val="3667968768"/>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Pairs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Parallel </a:t>
                          </a:r>
                          <a:r>
                            <a:rPr lang="en-US" sz="2000" b="1" dirty="0">
                              <a:effectLst/>
                              <a:latin typeface="Verdana" panose="020B0604030504040204" pitchFamily="34" charset="0"/>
                              <a:ea typeface="Verdana" panose="020B0604030504040204" pitchFamily="34" charset="0"/>
                              <a:cs typeface="Verdana" panose="020B0604030504040204" pitchFamily="34" charset="0"/>
                            </a:rPr>
                            <a:t>Lines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Pairs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Perpendicular </a:t>
                          </a:r>
                          <a:r>
                            <a:rPr lang="en-US" sz="2000" b="1" dirty="0">
                              <a:effectLst/>
                              <a:latin typeface="Verdana" panose="020B0604030504040204" pitchFamily="34" charset="0"/>
                              <a:ea typeface="Verdana" panose="020B0604030504040204" pitchFamily="34" charset="0"/>
                              <a:cs typeface="Verdana" panose="020B0604030504040204" pitchFamily="34" charset="0"/>
                            </a:rPr>
                            <a:t>Lines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Pairs of Lines with the Same </a:t>
                          </a:r>
                          <a14:m>
                            <m:oMath xmlns:m="http://schemas.openxmlformats.org/officeDocument/2006/math">
                              <m:r>
                                <a:rPr lang="en-US" sz="2000" b="1" i="1" smtClean="0">
                                  <a:effectLst/>
                                  <a:latin typeface="Cambria Math"/>
                                </a:rPr>
                                <m:t>𝒚</m:t>
                              </m:r>
                            </m:oMath>
                          </a14:m>
                          <a:r>
                            <a:rPr lang="en-US" sz="2000" b="1" dirty="0" smtClean="0">
                              <a:effectLst/>
                              <a:latin typeface="Verdana" panose="020B0604030504040204" pitchFamily="34" charset="0"/>
                              <a:ea typeface="Verdana" panose="020B0604030504040204" pitchFamily="34" charset="0"/>
                              <a:cs typeface="Verdana" panose="020B0604030504040204" pitchFamily="34" charset="0"/>
                            </a:rPr>
                            <a:t>-intercept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3504120253"/>
                      </a:ext>
                    </a:extLst>
                  </a:tr>
                  <a:tr h="900000">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472275854"/>
                      </a:ext>
                    </a:extLst>
                  </a:tr>
                  <a:tr h="900000">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2283490081"/>
                      </a:ext>
                    </a:extLst>
                  </a:tr>
                  <a:tr h="900000">
                    <a:tc>
                      <a:txBody>
                        <a:bodyPr/>
                        <a:lstStyle/>
                        <a:p>
                          <a:pPr marL="0" marR="0" algn="ctr">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370962335"/>
                      </a:ext>
                    </a:extLst>
                  </a:tr>
                </a:tbl>
              </a:graphicData>
            </a:graphic>
          </p:graphicFrame>
        </mc:Choice>
        <mc:Fallback>
          <p:graphicFrame>
            <p:nvGraphicFramePr>
              <p:cNvPr id="2" name="Table 1">
                <a:extLst>
                  <a:ext uri="{FF2B5EF4-FFF2-40B4-BE49-F238E27FC236}">
                    <a16:creationId xmlns:a16="http://schemas.microsoft.com/office/drawing/2014/main" xmlns:a14="http://schemas.microsoft.com/office/drawing/2010/main" xmlns="" id="{4A26B4D7-FEF2-9B43-8BAE-E7454D276404}"/>
                  </a:ext>
                </a:extLst>
              </p:cNvPr>
              <p:cNvGraphicFramePr>
                <a:graphicFrameLocks noGrp="1"/>
              </p:cNvGraphicFramePr>
              <p:nvPr>
                <p:extLst>
                  <p:ext uri="{D42A27DB-BD31-4B8C-83A1-F6EECF244321}">
                    <p14:modId xmlns:p14="http://schemas.microsoft.com/office/powerpoint/2010/main" val="111897294"/>
                  </p:ext>
                </p:extLst>
              </p:nvPr>
            </p:nvGraphicFramePr>
            <p:xfrm>
              <a:off x="1156140" y="2593909"/>
              <a:ext cx="9180000" cy="3420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xmlns:a14="http://schemas.microsoft.com/office/drawing/2010/main" xmlns="" val="3313691151"/>
                        </a:ext>
                      </a:extLst>
                    </a:gridCol>
                    <a:gridCol w="3060000">
                      <a:extLst>
                        <a:ext uri="{9D8B030D-6E8A-4147-A177-3AD203B41FA5}">
                          <a16:colId xmlns:a16="http://schemas.microsoft.com/office/drawing/2014/main" xmlns:a14="http://schemas.microsoft.com/office/drawing/2010/main" xmlns="" val="3145000736"/>
                        </a:ext>
                      </a:extLst>
                    </a:gridCol>
                    <a:gridCol w="3240000">
                      <a:extLst>
                        <a:ext uri="{9D8B030D-6E8A-4147-A177-3AD203B41FA5}">
                          <a16:colId xmlns:a16="http://schemas.microsoft.com/office/drawing/2014/main" xmlns:a14="http://schemas.microsoft.com/office/drawing/2010/main" xmlns="" val="3667968768"/>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Pairs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Parallel </a:t>
                          </a:r>
                          <a:r>
                            <a:rPr lang="en-US" sz="2000" b="1" dirty="0">
                              <a:effectLst/>
                              <a:latin typeface="Verdana" panose="020B0604030504040204" pitchFamily="34" charset="0"/>
                              <a:ea typeface="Verdana" panose="020B0604030504040204" pitchFamily="34" charset="0"/>
                              <a:cs typeface="Verdana" panose="020B0604030504040204" pitchFamily="34" charset="0"/>
                            </a:rPr>
                            <a:t>Lines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Pairs of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Perpendicular </a:t>
                          </a:r>
                          <a:r>
                            <a:rPr lang="en-US" sz="2000" b="1" dirty="0">
                              <a:effectLst/>
                              <a:latin typeface="Verdana" panose="020B0604030504040204" pitchFamily="34" charset="0"/>
                              <a:ea typeface="Verdana" panose="020B0604030504040204" pitchFamily="34" charset="0"/>
                              <a:cs typeface="Verdana" panose="020B0604030504040204" pitchFamily="34" charset="0"/>
                            </a:rPr>
                            <a:t>Lines</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183271" t="-3390" b="-375424"/>
                          </a:stretch>
                        </a:blipFill>
                      </a:tcPr>
                    </a:tc>
                    <a:extLst>
                      <a:ext uri="{0D108BD9-81ED-4DB2-BD59-A6C34878D82A}">
                        <a16:rowId xmlns:a16="http://schemas.microsoft.com/office/drawing/2014/main" xmlns:a14="http://schemas.microsoft.com/office/drawing/2010/main" xmlns="" val="3504120253"/>
                      </a:ext>
                    </a:extLst>
                  </a:tr>
                  <a:tr h="900000">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472275854"/>
                      </a:ext>
                    </a:extLst>
                  </a:tr>
                  <a:tr h="900000">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2283490081"/>
                      </a:ext>
                    </a:extLst>
                  </a:tr>
                  <a:tr h="900000">
                    <a:tc>
                      <a:txBody>
                        <a:bodyPr/>
                        <a:lstStyle/>
                        <a:p>
                          <a:pPr marL="0" marR="0" algn="ctr">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370962335"/>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26039EF9-20E0-7242-BD50-2BD1A60E8CED}"/>
                  </a:ext>
                </a:extLst>
              </p:cNvPr>
              <p:cNvGraphicFramePr>
                <a:graphicFrameLocks noGrp="1"/>
              </p:cNvGraphicFramePr>
              <p:nvPr>
                <p:extLst>
                  <p:ext uri="{D42A27DB-BD31-4B8C-83A1-F6EECF244321}">
                    <p14:modId xmlns:p14="http://schemas.microsoft.com/office/powerpoint/2010/main" val="3006026901"/>
                  </p:ext>
                </p:extLst>
              </p:nvPr>
            </p:nvGraphicFramePr>
            <p:xfrm>
              <a:off x="1765300" y="371893"/>
              <a:ext cx="8661400" cy="3888000"/>
            </p:xfrm>
            <a:graphic>
              <a:graphicData uri="http://schemas.openxmlformats.org/drawingml/2006/table">
                <a:tbl>
                  <a:tblPr firstRow="1" firstCol="1" bandRow="1">
                    <a:tableStyleId>{A91F0D33-8C57-4600-99A7-42BC86742BE1}</a:tableStyleId>
                  </a:tblPr>
                  <a:tblGrid>
                    <a:gridCol w="725062">
                      <a:extLst>
                        <a:ext uri="{9D8B030D-6E8A-4147-A177-3AD203B41FA5}">
                          <a16:colId xmlns:a16="http://schemas.microsoft.com/office/drawing/2014/main" xmlns="" val="2435182479"/>
                        </a:ext>
                      </a:extLst>
                    </a:gridCol>
                    <a:gridCol w="3189104">
                      <a:extLst>
                        <a:ext uri="{9D8B030D-6E8A-4147-A177-3AD203B41FA5}">
                          <a16:colId xmlns:a16="http://schemas.microsoft.com/office/drawing/2014/main" xmlns="" val="1551635111"/>
                        </a:ext>
                      </a:extLst>
                    </a:gridCol>
                    <a:gridCol w="753529">
                      <a:extLst>
                        <a:ext uri="{9D8B030D-6E8A-4147-A177-3AD203B41FA5}">
                          <a16:colId xmlns:a16="http://schemas.microsoft.com/office/drawing/2014/main" xmlns="" val="1089522957"/>
                        </a:ext>
                      </a:extLst>
                    </a:gridCol>
                    <a:gridCol w="3993705">
                      <a:extLst>
                        <a:ext uri="{9D8B030D-6E8A-4147-A177-3AD203B41FA5}">
                          <a16:colId xmlns:a16="http://schemas.microsoft.com/office/drawing/2014/main" xmlns="" val="863165269"/>
                        </a:ext>
                      </a:extLst>
                    </a:gridCol>
                  </a:tblGrid>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5</m:t>
                                </m:r>
                                <m:r>
                                  <a:rPr lang="en-US" sz="1800">
                                    <a:effectLst/>
                                    <a:latin typeface="Cambria Math" panose="02040503050406030204" pitchFamily="18" charset="0"/>
                                  </a:rPr>
                                  <m:t>𝑥</m:t>
                                </m:r>
                                <m:r>
                                  <a:rPr lang="en-US" sz="1800">
                                    <a:effectLst/>
                                    <a:latin typeface="Cambria Math" panose="02040503050406030204" pitchFamily="18" charset="0"/>
                                  </a:rPr>
                                  <m:t>+4</m:t>
                                </m:r>
                                <m:r>
                                  <a:rPr lang="en-US" sz="1800">
                                    <a:effectLst/>
                                    <a:latin typeface="Cambria Math" panose="02040503050406030204" pitchFamily="18" charset="0"/>
                                  </a:rPr>
                                  <m:t>𝑦</m:t>
                                </m:r>
                                <m:r>
                                  <a:rPr lang="en-US" sz="1800">
                                    <a:effectLst/>
                                    <a:latin typeface="Cambria Math" panose="02040503050406030204" pitchFamily="18" charset="0"/>
                                  </a:rPr>
                                  <m:t>=40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G</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+25=−</m:t>
                                </m:r>
                                <m:f>
                                  <m:fPr>
                                    <m:ctrlPr>
                                      <a:rPr lang="x-none" sz="1800" i="1">
                                        <a:effectLst/>
                                        <a:latin typeface="Cambria Math"/>
                                      </a:rPr>
                                    </m:ctrlPr>
                                  </m:fPr>
                                  <m:num>
                                    <m:r>
                                      <a:rPr lang="en-US" sz="1800">
                                        <a:effectLst/>
                                        <a:latin typeface="Cambria Math" panose="02040503050406030204" pitchFamily="18" charset="0"/>
                                      </a:rPr>
                                      <m:t>5</m:t>
                                    </m:r>
                                  </m:num>
                                  <m:den>
                                    <m:r>
                                      <a:rPr lang="en-US" sz="1800">
                                        <a:effectLst/>
                                        <a:latin typeface="Cambria Math" panose="02040503050406030204" pitchFamily="18" charset="0"/>
                                      </a:rPr>
                                      <m:t>6</m:t>
                                    </m:r>
                                  </m:den>
                                </m:f>
                                <m:d>
                                  <m:dPr>
                                    <m:ctrlPr>
                                      <a:rPr lang="x-none" sz="1800" i="1">
                                        <a:effectLst/>
                                        <a:latin typeface="Cambria Math"/>
                                      </a:rPr>
                                    </m:ctrlPr>
                                  </m:dPr>
                                  <m:e>
                                    <m:r>
                                      <a:rPr lang="en-US" sz="1800">
                                        <a:effectLst/>
                                        <a:latin typeface="Cambria Math" panose="02040503050406030204" pitchFamily="18" charset="0"/>
                                      </a:rPr>
                                      <m:t>𝑥</m:t>
                                    </m:r>
                                    <m:r>
                                      <a:rPr lang="en-US" sz="1800">
                                        <a:effectLst/>
                                        <a:latin typeface="Cambria Math" panose="02040503050406030204" pitchFamily="18" charset="0"/>
                                      </a:rPr>
                                      <m:t>−60</m:t>
                                    </m:r>
                                  </m:e>
                                </m:d>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7026795"/>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=6</m:t>
                                </m:r>
                                <m:r>
                                  <a:rPr lang="en-US" sz="1800">
                                    <a:effectLst/>
                                    <a:latin typeface="Cambria Math" panose="02040503050406030204" pitchFamily="18" charset="0"/>
                                  </a:rPr>
                                  <m:t>𝑥</m:t>
                                </m:r>
                                <m:r>
                                  <a:rPr lang="en-US" sz="1800">
                                    <a:effectLst/>
                                    <a:latin typeface="Cambria Math" panose="02040503050406030204" pitchFamily="18" charset="0"/>
                                  </a:rPr>
                                  <m:t>+1</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r>
                                  <a:rPr lang="en-US" sz="1800">
                                    <a:effectLst/>
                                    <a:latin typeface="Cambria Math" panose="02040503050406030204" pitchFamily="18" charset="0"/>
                                  </a:rPr>
                                  <m:t>𝑥</m:t>
                                </m:r>
                                <m:r>
                                  <a:rPr lang="en-US" sz="1800">
                                    <a:effectLst/>
                                    <a:latin typeface="Cambria Math" panose="02040503050406030204" pitchFamily="18" charset="0"/>
                                  </a:rPr>
                                  <m:t>−</m:t>
                                </m:r>
                                <m:r>
                                  <a:rPr lang="en-US" sz="1800">
                                    <a:effectLst/>
                                    <a:latin typeface="Cambria Math" panose="02040503050406030204" pitchFamily="18" charset="0"/>
                                  </a:rPr>
                                  <m:t>𝑦</m:t>
                                </m:r>
                                <m:r>
                                  <a:rPr lang="en-US" sz="1800">
                                    <a:effectLst/>
                                    <a:latin typeface="Cambria Math" panose="02040503050406030204" pitchFamily="18" charset="0"/>
                                  </a:rPr>
                                  <m:t>=</m:t>
                                </m:r>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1</m:t>
                                    </m:r>
                                  </m:e>
                                </m:sPre>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70537341"/>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−11=3</m:t>
                                </m:r>
                                <m:d>
                                  <m:dPr>
                                    <m:ctrlPr>
                                      <a:rPr lang="x-none" sz="1800" i="1">
                                        <a:effectLst/>
                                        <a:latin typeface="Cambria Math"/>
                                      </a:rPr>
                                    </m:ctrlPr>
                                  </m:dPr>
                                  <m:e>
                                    <m:r>
                                      <a:rPr lang="en-US" sz="1800">
                                        <a:effectLst/>
                                        <a:latin typeface="Cambria Math" panose="02040503050406030204" pitchFamily="18" charset="0"/>
                                      </a:rPr>
                                      <m:t>𝑥</m:t>
                                    </m:r>
                                    <m:r>
                                      <a:rPr lang="en-US" sz="1800">
                                        <a:effectLst/>
                                        <a:latin typeface="Cambria Math" panose="02040503050406030204" pitchFamily="18" charset="0"/>
                                      </a:rPr>
                                      <m:t>−2</m:t>
                                    </m:r>
                                  </m:e>
                                </m:d>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5</m:t>
                                    </m:r>
                                  </m:num>
                                  <m:den>
                                    <m:r>
                                      <a:rPr lang="en-US" sz="1800">
                                        <a:effectLst/>
                                        <a:latin typeface="Cambria Math" panose="02040503050406030204" pitchFamily="18" charset="0"/>
                                      </a:rPr>
                                      <m:t>6</m:t>
                                    </m:r>
                                  </m:den>
                                </m:f>
                                <m:r>
                                  <a:rPr lang="en-US" sz="1800">
                                    <a:effectLst/>
                                    <a:latin typeface="Cambria Math" panose="02040503050406030204" pitchFamily="18" charset="0"/>
                                  </a:rPr>
                                  <m:t>𝑥</m:t>
                                </m:r>
                                <m:r>
                                  <a:rPr lang="en-US" sz="1800">
                                    <a:effectLst/>
                                    <a:latin typeface="Cambria Math" panose="02040503050406030204" pitchFamily="18" charset="0"/>
                                  </a:rPr>
                                  <m:t>+24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48826517"/>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r>
                                  <a:rPr lang="en-US" sz="1800">
                                    <a:effectLst/>
                                    <a:latin typeface="Cambria Math" panose="02040503050406030204" pitchFamily="18" charset="0"/>
                                  </a:rPr>
                                  <m:t>𝑥</m:t>
                                </m:r>
                                <m:r>
                                  <a:rPr lang="en-US" sz="1800">
                                    <a:effectLst/>
                                    <a:latin typeface="Cambria Math" panose="02040503050406030204" pitchFamily="18" charset="0"/>
                                  </a:rPr>
                                  <m:t>+2</m:t>
                                </m:r>
                                <m:r>
                                  <a:rPr lang="en-US" sz="1800">
                                    <a:effectLst/>
                                    <a:latin typeface="Cambria Math" panose="02040503050406030204" pitchFamily="18" charset="0"/>
                                  </a:rPr>
                                  <m:t>𝑦</m:t>
                                </m:r>
                                <m:r>
                                  <a:rPr lang="en-US" sz="1800">
                                    <a:effectLst/>
                                    <a:latin typeface="Cambria Math" panose="02040503050406030204" pitchFamily="18" charset="0"/>
                                  </a:rPr>
                                  <m:t>=−12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5</m:t>
                                    </m:r>
                                  </m:num>
                                  <m:den>
                                    <m:r>
                                      <a:rPr lang="en-US" sz="1800">
                                        <a:effectLst/>
                                        <a:latin typeface="Cambria Math" panose="02040503050406030204" pitchFamily="18" charset="0"/>
                                      </a:rPr>
                                      <m:t>4</m:t>
                                    </m:r>
                                  </m:den>
                                </m:f>
                                <m:d>
                                  <m:dPr>
                                    <m:ctrlPr>
                                      <a:rPr lang="x-none" sz="1800" i="1">
                                        <a:effectLst/>
                                        <a:latin typeface="Cambria Math"/>
                                      </a:rPr>
                                    </m:ctrlPr>
                                  </m:dPr>
                                  <m:e>
                                    <m:r>
                                      <a:rPr lang="en-US" sz="1800">
                                        <a:effectLst/>
                                        <a:latin typeface="Cambria Math" panose="02040503050406030204" pitchFamily="18" charset="0"/>
                                      </a:rPr>
                                      <m:t>𝑥</m:t>
                                    </m:r>
                                    <m:r>
                                      <a:rPr lang="en-US" sz="1800">
                                        <a:effectLst/>
                                        <a:latin typeface="Cambria Math" panose="02040503050406030204" pitchFamily="18" charset="0"/>
                                      </a:rPr>
                                      <m:t>−16</m:t>
                                    </m:r>
                                  </m:e>
                                </m:d>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04587508"/>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5</m:t>
                                    </m:r>
                                  </m:num>
                                  <m:den>
                                    <m:r>
                                      <a:rPr lang="en-US" sz="1800">
                                        <a:effectLst/>
                                        <a:latin typeface="Cambria Math" panose="02040503050406030204" pitchFamily="18" charset="0"/>
                                      </a:rPr>
                                      <m:t>4</m:t>
                                    </m:r>
                                  </m:den>
                                </m:f>
                                <m:r>
                                  <a:rPr lang="en-US" sz="1800">
                                    <a:effectLst/>
                                    <a:latin typeface="Cambria Math" panose="02040503050406030204" pitchFamily="18" charset="0"/>
                                  </a:rPr>
                                  <m:t>𝑥</m:t>
                                </m:r>
                                <m:r>
                                  <a:rPr lang="en-US" sz="1800">
                                    <a:effectLst/>
                                    <a:latin typeface="Cambria Math" panose="02040503050406030204" pitchFamily="18" charset="0"/>
                                  </a:rPr>
                                  <m:t>−2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K</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𝑥</m:t>
                                </m:r>
                                <m:r>
                                  <a:rPr lang="en-US" sz="1800">
                                    <a:effectLst/>
                                    <a:latin typeface="Cambria Math" panose="02040503050406030204" pitchFamily="18" charset="0"/>
                                  </a:rPr>
                                  <m:t>+6</m:t>
                                </m:r>
                                <m:r>
                                  <a:rPr lang="en-US" sz="1800">
                                    <a:effectLst/>
                                    <a:latin typeface="Cambria Math" panose="02040503050406030204" pitchFamily="18" charset="0"/>
                                  </a:rPr>
                                  <m:t>𝑦</m:t>
                                </m:r>
                                <m:r>
                                  <a:rPr lang="en-US" sz="1800">
                                    <a:effectLst/>
                                    <a:latin typeface="Cambria Math" panose="02040503050406030204" pitchFamily="18" charset="0"/>
                                  </a:rPr>
                                  <m:t>=</m:t>
                                </m:r>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12</m:t>
                                    </m:r>
                                  </m:e>
                                </m:sPre>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25343448"/>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m:t>
                                </m:r>
                                <m:r>
                                  <a:rPr lang="en-US" sz="1800">
                                    <a:effectLst/>
                                    <a:latin typeface="Cambria Math" panose="02040503050406030204" pitchFamily="18" charset="0"/>
                                  </a:rPr>
                                  <m:t>𝑥</m:t>
                                </m:r>
                                <m:r>
                                  <a:rPr lang="en-US" sz="1800">
                                    <a:effectLst/>
                                    <a:latin typeface="Cambria Math" panose="02040503050406030204" pitchFamily="18" charset="0"/>
                                  </a:rPr>
                                  <m:t>+5</m:t>
                                </m:r>
                                <m:r>
                                  <a:rPr lang="en-US" sz="1800">
                                    <a:effectLst/>
                                    <a:latin typeface="Cambria Math" panose="02040503050406030204" pitchFamily="18" charset="0"/>
                                  </a:rPr>
                                  <m:t>𝑦</m:t>
                                </m:r>
                                <m:r>
                                  <a:rPr lang="en-US" sz="1800">
                                    <a:effectLst/>
                                    <a:latin typeface="Cambria Math" panose="02040503050406030204" pitchFamily="18" charset="0"/>
                                  </a:rPr>
                                  <m:t>=120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𝑦</m:t>
                                </m:r>
                                <m:r>
                                  <a:rPr lang="en-US" sz="1800">
                                    <a:effectLst/>
                                    <a:latin typeface="Cambria Math" panose="02040503050406030204" pitchFamily="18" charset="0"/>
                                  </a:rPr>
                                  <m:t>=−</m:t>
                                </m:r>
                                <m:f>
                                  <m:fPr>
                                    <m:ctrlPr>
                                      <a:rPr lang="x-none" sz="1800" i="1">
                                        <a:effectLst/>
                                        <a:latin typeface="Cambria Math"/>
                                      </a:rPr>
                                    </m:ctrlPr>
                                  </m:fPr>
                                  <m:num>
                                    <m:r>
                                      <a:rPr lang="en-US" sz="1800">
                                        <a:effectLst/>
                                        <a:latin typeface="Cambria Math" panose="02040503050406030204" pitchFamily="18" charset="0"/>
                                      </a:rPr>
                                      <m:t>2</m:t>
                                    </m:r>
                                  </m:num>
                                  <m:den>
                                    <m:r>
                                      <a:rPr lang="en-US" sz="1800">
                                        <a:effectLst/>
                                        <a:latin typeface="Cambria Math" panose="02040503050406030204" pitchFamily="18" charset="0"/>
                                      </a:rPr>
                                      <m:t>3</m:t>
                                    </m:r>
                                  </m:den>
                                </m:f>
                                <m:r>
                                  <a:rPr lang="en-US" sz="1800">
                                    <a:effectLst/>
                                    <a:latin typeface="Cambria Math" panose="02040503050406030204" pitchFamily="18" charset="0"/>
                                  </a:rPr>
                                  <m:t>𝑥</m:t>
                                </m:r>
                                <m:r>
                                  <a:rPr lang="en-US" sz="1800">
                                    <a:effectLst/>
                                    <a:latin typeface="Cambria Math" panose="02040503050406030204" pitchFamily="18" charset="0"/>
                                  </a:rPr>
                                  <m:t>+5</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52235977"/>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26039EF9-20E0-7242-BD50-2BD1A60E8CED}"/>
                  </a:ext>
                </a:extLst>
              </p:cNvPr>
              <p:cNvGraphicFramePr>
                <a:graphicFrameLocks noGrp="1"/>
              </p:cNvGraphicFramePr>
              <p:nvPr>
                <p:extLst>
                  <p:ext uri="{D42A27DB-BD31-4B8C-83A1-F6EECF244321}">
                    <p14:modId xmlns:p14="http://schemas.microsoft.com/office/powerpoint/2010/main" val="3006026901"/>
                  </p:ext>
                </p:extLst>
              </p:nvPr>
            </p:nvGraphicFramePr>
            <p:xfrm>
              <a:off x="1765300" y="371893"/>
              <a:ext cx="8661400" cy="3888000"/>
            </p:xfrm>
            <a:graphic>
              <a:graphicData uri="http://schemas.openxmlformats.org/drawingml/2006/table">
                <a:tbl>
                  <a:tblPr firstRow="1" firstCol="1" bandRow="1">
                    <a:tableStyleId>{A91F0D33-8C57-4600-99A7-42BC86742BE1}</a:tableStyleId>
                  </a:tblPr>
                  <a:tblGrid>
                    <a:gridCol w="725062">
                      <a:extLst>
                        <a:ext uri="{9D8B030D-6E8A-4147-A177-3AD203B41FA5}">
                          <a16:colId xmlns:a16="http://schemas.microsoft.com/office/drawing/2014/main" xmlns:a14="http://schemas.microsoft.com/office/drawing/2010/main" xmlns="" val="2435182479"/>
                        </a:ext>
                      </a:extLst>
                    </a:gridCol>
                    <a:gridCol w="3189104">
                      <a:extLst>
                        <a:ext uri="{9D8B030D-6E8A-4147-A177-3AD203B41FA5}">
                          <a16:colId xmlns:a16="http://schemas.microsoft.com/office/drawing/2014/main" xmlns:a14="http://schemas.microsoft.com/office/drawing/2010/main" xmlns="" val="1551635111"/>
                        </a:ext>
                      </a:extLst>
                    </a:gridCol>
                    <a:gridCol w="753529">
                      <a:extLst>
                        <a:ext uri="{9D8B030D-6E8A-4147-A177-3AD203B41FA5}">
                          <a16:colId xmlns:a16="http://schemas.microsoft.com/office/drawing/2014/main" xmlns:a14="http://schemas.microsoft.com/office/drawing/2010/main" xmlns="" val="1089522957"/>
                        </a:ext>
                      </a:extLst>
                    </a:gridCol>
                    <a:gridCol w="3993705">
                      <a:extLst>
                        <a:ext uri="{9D8B030D-6E8A-4147-A177-3AD203B41FA5}">
                          <a16:colId xmlns:a16="http://schemas.microsoft.com/office/drawing/2014/main" xmlns:a14="http://schemas.microsoft.com/office/drawing/2010/main" xmlns="" val="863165269"/>
                        </a:ext>
                      </a:extLst>
                    </a:gridCol>
                  </a:tblGrid>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A</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945" r="-148948" b="-501887"/>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G</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6947" r="-153" b="-501887"/>
                          </a:stretch>
                        </a:blipFill>
                      </a:tcPr>
                    </a:tc>
                    <a:extLst>
                      <a:ext uri="{0D108BD9-81ED-4DB2-BD59-A6C34878D82A}">
                        <a16:rowId xmlns:a16="http://schemas.microsoft.com/office/drawing/2014/main" xmlns:a14="http://schemas.microsoft.com/office/drawing/2010/main" xmlns="" val="347026795"/>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B</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945" t="-99065" r="-148948" b="-397196"/>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H</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6947" t="-99065" r="-153" b="-397196"/>
                          </a:stretch>
                        </a:blipFill>
                      </a:tcPr>
                    </a:tc>
                    <a:extLst>
                      <a:ext uri="{0D108BD9-81ED-4DB2-BD59-A6C34878D82A}">
                        <a16:rowId xmlns:a16="http://schemas.microsoft.com/office/drawing/2014/main" xmlns:a14="http://schemas.microsoft.com/office/drawing/2010/main" xmlns="" val="4170537341"/>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945" t="-200943" r="-148948" b="-300943"/>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6947" t="-200943" r="-153" b="-300943"/>
                          </a:stretch>
                        </a:blipFill>
                      </a:tcPr>
                    </a:tc>
                    <a:extLst>
                      <a:ext uri="{0D108BD9-81ED-4DB2-BD59-A6C34878D82A}">
                        <a16:rowId xmlns:a16="http://schemas.microsoft.com/office/drawing/2014/main" xmlns:a14="http://schemas.microsoft.com/office/drawing/2010/main" xmlns="" val="4048826517"/>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945" t="-300943" r="-148948" b="-200943"/>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J</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6947" t="-300943" r="-153" b="-200943"/>
                          </a:stretch>
                        </a:blipFill>
                      </a:tcPr>
                    </a:tc>
                    <a:extLst>
                      <a:ext uri="{0D108BD9-81ED-4DB2-BD59-A6C34878D82A}">
                        <a16:rowId xmlns:a16="http://schemas.microsoft.com/office/drawing/2014/main" xmlns:a14="http://schemas.microsoft.com/office/drawing/2010/main" xmlns="" val="1404587508"/>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945" t="-397196" r="-148948" b="-99065"/>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K</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6947" t="-397196" r="-153" b="-99065"/>
                          </a:stretch>
                        </a:blipFill>
                      </a:tcPr>
                    </a:tc>
                    <a:extLst>
                      <a:ext uri="{0D108BD9-81ED-4DB2-BD59-A6C34878D82A}">
                        <a16:rowId xmlns:a16="http://schemas.microsoft.com/office/drawing/2014/main" xmlns:a14="http://schemas.microsoft.com/office/drawing/2010/main" xmlns="" val="3325343448"/>
                      </a:ext>
                    </a:extLst>
                  </a:tr>
                  <a:tr h="64800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945" t="-501887" r="-148948"/>
                          </a:stretch>
                        </a:blip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L</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6947" t="-501887" r="-153"/>
                          </a:stretch>
                        </a:blipFill>
                      </a:tcPr>
                    </a:tc>
                    <a:extLst>
                      <a:ext uri="{0D108BD9-81ED-4DB2-BD59-A6C34878D82A}">
                        <a16:rowId xmlns:a16="http://schemas.microsoft.com/office/drawing/2014/main" xmlns:a14="http://schemas.microsoft.com/office/drawing/2010/main" xmlns="" val="3452235977"/>
                      </a:ext>
                    </a:extLst>
                  </a:tr>
                </a:tbl>
              </a:graphicData>
            </a:graphic>
          </p:graphicFrame>
        </mc:Fallback>
      </mc:AlternateContent>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BC574304-E1DF-A745-92CE-0AF55527C01E}"/>
                  </a:ext>
                </a:extLst>
              </p:cNvPr>
              <p:cNvSpPr txBox="1"/>
              <p:nvPr/>
            </p:nvSpPr>
            <p:spPr>
              <a:xfrm>
                <a:off x="534754" y="382183"/>
                <a:ext cx="10985500" cy="632480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determine which pair of lines have the same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-intercept.</a:t>
                </a:r>
                <a:endParaRPr lang="x-none"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20737" indent="-457200">
                  <a:spcAft>
                    <a:spcPts val="600"/>
                  </a:spcAft>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A and G</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20737" indent="-457200">
                  <a:spcAft>
                    <a:spcPts val="600"/>
                  </a:spcAft>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B and J</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20737" indent="-457200">
                  <a:spcAft>
                    <a:spcPts val="600"/>
                  </a:spcAft>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D and K</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20737" indent="-457200">
                  <a:buFont typeface="+mj-lt"/>
                  <a:buAutoNum type="alphaUcPeriod"/>
                </a:pPr>
                <a:r>
                  <a:rPr lang="en-US" sz="2000" dirty="0">
                    <a:latin typeface="Verdana" panose="020B0604030504040204" pitchFamily="34" charset="0"/>
                    <a:ea typeface="Verdana" panose="020B0604030504040204" pitchFamily="34" charset="0"/>
                    <a:cs typeface="Verdana" panose="020B0604030504040204" pitchFamily="34" charset="0"/>
                  </a:rPr>
                  <a:t>F and G</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key features will be the same for any pair of parallel lines.</a:t>
                </a:r>
                <a:endParaRPr lang="x-none" sz="2000" dirty="0">
                  <a:latin typeface="Verdana" panose="020B0604030504040204" pitchFamily="34" charset="0"/>
                  <a:ea typeface="Verdana" panose="020B0604030504040204" pitchFamily="34" charset="0"/>
                  <a:cs typeface="Verdana" panose="020B0604030504040204" pitchFamily="34" charset="0"/>
                </a:endParaRPr>
              </a:p>
              <a:p>
                <a:pPr>
                  <a:spcAft>
                    <a:spcPts val="600"/>
                  </a:spcAft>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50900" indent="-446088">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decreasing/increasing</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50900" indent="-446088">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domain</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50900" indent="-446088">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range</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50900" indent="-446088">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slope</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50900" indent="-446088">
                  <a:spcAft>
                    <a:spcPts val="600"/>
                  </a:spcAft>
                  <a:buFont typeface="Wingdings" pitchFamily="2" charset="2"/>
                  <a:buChar char="q"/>
                </a:pP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-intercept</a:t>
                </a:r>
                <a:endParaRPr lang="x-none" sz="2000" dirty="0">
                  <a:latin typeface="Verdana" panose="020B0604030504040204" pitchFamily="34" charset="0"/>
                  <a:ea typeface="Verdana" panose="020B0604030504040204" pitchFamily="34" charset="0"/>
                  <a:cs typeface="Verdana" panose="020B0604030504040204" pitchFamily="34" charset="0"/>
                </a:endParaRPr>
              </a:p>
              <a:p>
                <a:pPr marL="850900" indent="-446088">
                  <a:buFont typeface="Wingdings" pitchFamily="2" charset="2"/>
                  <a:buChar char="q"/>
                </a:pPr>
                <a14:m>
                  <m:oMath xmlns:m="http://schemas.openxmlformats.org/officeDocument/2006/math">
                    <m:r>
                      <a:rPr lang="en-US" sz="2000" i="1">
                        <a:latin typeface="Cambria Math" panose="02040503050406030204" pitchFamily="18" charset="0"/>
                      </a:rPr>
                      <m:t>𝑦</m:t>
                    </m:r>
                  </m:oMath>
                </a14:m>
                <a:r>
                  <a:rPr lang="en-US" sz="2000" dirty="0">
                    <a:latin typeface="Verdana" panose="020B0604030504040204" pitchFamily="34" charset="0"/>
                    <a:ea typeface="Verdana" panose="020B0604030504040204" pitchFamily="34" charset="0"/>
                    <a:cs typeface="Verdana" panose="020B0604030504040204" pitchFamily="34" charset="0"/>
                  </a:rPr>
                  <a:t>-intercept</a:t>
                </a:r>
              </a:p>
            </p:txBody>
          </p:sp>
        </mc:Choice>
        <mc:Fallback>
          <p:sp>
            <p:nvSpPr>
              <p:cNvPr id="6" name="TextBox 5">
                <a:extLst>
                  <a:ext uri="{FF2B5EF4-FFF2-40B4-BE49-F238E27FC236}">
                    <a16:creationId xmlns:a16="http://schemas.microsoft.com/office/drawing/2014/main" xmlns:a14="http://schemas.microsoft.com/office/drawing/2010/main" xmlns="" id="{BC574304-E1DF-A745-92CE-0AF55527C01E}"/>
                  </a:ext>
                </a:extLst>
              </p:cNvPr>
              <p:cNvSpPr txBox="1">
                <a:spLocks noRot="1" noChangeAspect="1" noMove="1" noResize="1" noEditPoints="1" noAdjustHandles="1" noChangeArrowheads="1" noChangeShapeType="1" noTextEdit="1"/>
              </p:cNvSpPr>
              <p:nvPr/>
            </p:nvSpPr>
            <p:spPr>
              <a:xfrm>
                <a:off x="534754" y="382183"/>
                <a:ext cx="10985500" cy="6324808"/>
              </a:xfrm>
              <a:prstGeom prst="rect">
                <a:avLst/>
              </a:prstGeom>
              <a:blipFill rotWithShape="1">
                <a:blip r:embed="rId4"/>
                <a:stretch>
                  <a:fillRect l="-610" t="-579" b="-771"/>
                </a:stretch>
              </a:blipFill>
            </p:spPr>
            <p:txBody>
              <a:bodyPr/>
              <a:lstStyle/>
              <a:p>
                <a:r>
                  <a:rPr lang="en-PH">
                    <a:noFill/>
                  </a:rPr>
                  <a:t> </a:t>
                </a:r>
              </a:p>
            </p:txBody>
          </p:sp>
        </mc:Fallback>
      </mc:AlternateContent>
    </p:spTree>
    <p:extLst>
      <p:ext uri="{BB962C8B-B14F-4D97-AF65-F5344CB8AC3E}">
        <p14:creationId xmlns:p14="http://schemas.microsoft.com/office/powerpoint/2010/main" val="41510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BC574304-E1DF-A745-92CE-0AF55527C01E}"/>
              </a:ext>
            </a:extLst>
          </p:cNvPr>
          <p:cNvSpPr txBox="1"/>
          <p:nvPr/>
        </p:nvSpPr>
        <p:spPr>
          <a:xfrm>
            <a:off x="532286" y="382187"/>
            <a:ext cx="10934700" cy="3247043"/>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key features will be the same for any pair of perpendicular lines.</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marL="809625" indent="-365125">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decreasing/increasing</a:t>
            </a:r>
          </a:p>
          <a:p>
            <a:pPr marL="809625" indent="-365125">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domain</a:t>
            </a:r>
          </a:p>
          <a:p>
            <a:pPr marL="809625" indent="-365125">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range</a:t>
            </a:r>
          </a:p>
          <a:p>
            <a:pPr marL="809625" indent="-365125">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slope</a:t>
            </a:r>
          </a:p>
          <a:p>
            <a:pPr marL="809625" indent="-365125">
              <a:spcAft>
                <a:spcPts val="600"/>
              </a:spcAft>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𝑥-intercept</a:t>
            </a:r>
          </a:p>
          <a:p>
            <a:pPr marL="809625" indent="-36512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𝑦-intercept</a:t>
            </a:r>
          </a:p>
        </p:txBody>
      </p:sp>
    </p:spTree>
    <p:extLst>
      <p:ext uri="{BB962C8B-B14F-4D97-AF65-F5344CB8AC3E}">
        <p14:creationId xmlns:p14="http://schemas.microsoft.com/office/powerpoint/2010/main" val="28127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69664" y="2830158"/>
            <a:ext cx="40921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226</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D78288F3-C3C0-8F40-93A0-8C516288346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17520" y="2916936"/>
            <a:ext cx="1152144" cy="115214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3890" y="0"/>
            <a:ext cx="93296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4.12.3 Your Turn!</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0AB6A3A1-5A0D-C84F-AC89-57E6782F43E5}"/>
                  </a:ext>
                </a:extLst>
              </p:cNvPr>
              <p:cNvSpPr txBox="1"/>
              <p:nvPr/>
            </p:nvSpPr>
            <p:spPr>
              <a:xfrm>
                <a:off x="530082" y="1465925"/>
                <a:ext cx="10972800" cy="1200329"/>
              </a:xfrm>
              <a:prstGeom prst="rect">
                <a:avLst/>
              </a:prstGeom>
              <a:noFill/>
            </p:spPr>
            <p:txBody>
              <a:bodyPr wrap="square" rtlCol="0">
                <a:spAutoFit/>
              </a:bodyPr>
              <a:lstStyle/>
              <a:p>
                <a:pPr marL="458788" indent="-458788">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the equation of the line, in all three forms, that is perpendicular to the line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−3</m:t>
                    </m:r>
                    <m:r>
                      <a:rPr lang="en-US" sz="2400" i="1" dirty="0">
                        <a:latin typeface="Cambria Math" panose="02040503050406030204" pitchFamily="18" charset="0"/>
                        <a:ea typeface="Verdana" panose="020B0604030504040204" pitchFamily="34" charset="0"/>
                        <a:cs typeface="Verdana" panose="020B0604030504040204" pitchFamily="34" charset="0"/>
                      </a:rPr>
                      <m:t>𝑦</m:t>
                    </m:r>
                    <m:r>
                      <a:rPr lang="en-US" sz="2400" i="1" dirty="0">
                        <a:latin typeface="Cambria Math" panose="02040503050406030204" pitchFamily="18" charset="0"/>
                        <a:ea typeface="Verdana" panose="020B0604030504040204" pitchFamily="34" charset="0"/>
                        <a:cs typeface="Verdana" panose="020B0604030504040204" pitchFamily="34"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and passes through the point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 −5)</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530082" y="1465925"/>
                <a:ext cx="10972800" cy="1200329"/>
              </a:xfrm>
              <a:prstGeom prst="rect">
                <a:avLst/>
              </a:prstGeom>
              <a:blipFill rotWithShape="1">
                <a:blip r:embed="rId4"/>
                <a:stretch>
                  <a:fillRect l="-889" t="-4061" r="-1167" b="-10152"/>
                </a:stretch>
              </a:blipFill>
            </p:spPr>
            <p:txBody>
              <a:bodyPr/>
              <a:lstStyle/>
              <a:p>
                <a:r>
                  <a:rPr lang="en-PH">
                    <a:noFill/>
                  </a:rPr>
                  <a:t> </a:t>
                </a:r>
              </a:p>
            </p:txBody>
          </p:sp>
        </mc:Fallback>
      </mc:AlternateContent>
      <p:pic>
        <p:nvPicPr>
          <p:cNvPr id="11" name="Picture 10" descr="Icon&#10;&#10;Description automatically generated">
            <a:extLst>
              <a:ext uri="{FF2B5EF4-FFF2-40B4-BE49-F238E27FC236}">
                <a16:creationId xmlns:a16="http://schemas.microsoft.com/office/drawing/2014/main" xmlns="" id="{AE0BE19E-CEA8-AE4C-B16E-F5A7ED5089F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0458" y="288445"/>
            <a:ext cx="749808" cy="749808"/>
          </a:xfrm>
          <a:prstGeom prst="rect">
            <a:avLst/>
          </a:prstGeom>
          <a:effectLst>
            <a:outerShdw blurRad="50800" dist="38100" dir="2700000" algn="tl" rotWithShape="0">
              <a:prstClr val="black">
                <a:alpha val="40000"/>
              </a:prstClr>
            </a:outerShdw>
          </a:effectLst>
        </p:spPr>
      </p:pic>
      <p:graphicFrame>
        <p:nvGraphicFramePr>
          <p:cNvPr id="2" name="Table 1">
            <a:extLst>
              <a:ext uri="{FF2B5EF4-FFF2-40B4-BE49-F238E27FC236}">
                <a16:creationId xmlns:a16="http://schemas.microsoft.com/office/drawing/2014/main" xmlns="" id="{7AE39D89-2C45-844A-A45F-2FE81FF20F36}"/>
              </a:ext>
            </a:extLst>
          </p:cNvPr>
          <p:cNvGraphicFramePr>
            <a:graphicFrameLocks noGrp="1"/>
          </p:cNvGraphicFramePr>
          <p:nvPr>
            <p:extLst>
              <p:ext uri="{D42A27DB-BD31-4B8C-83A1-F6EECF244321}">
                <p14:modId xmlns:p14="http://schemas.microsoft.com/office/powerpoint/2010/main" val="1835653005"/>
              </p:ext>
            </p:extLst>
          </p:nvPr>
        </p:nvGraphicFramePr>
        <p:xfrm>
          <a:off x="1180266" y="2830504"/>
          <a:ext cx="9329648" cy="1611526"/>
        </p:xfrm>
        <a:graphic>
          <a:graphicData uri="http://schemas.openxmlformats.org/drawingml/2006/table">
            <a:tbl>
              <a:tblPr firstRow="1" firstCol="1" bandRow="1">
                <a:tableStyleId>{A91F0D33-8C57-4600-99A7-42BC86742BE1}</a:tableStyleId>
              </a:tblPr>
              <a:tblGrid>
                <a:gridCol w="3066327">
                  <a:extLst>
                    <a:ext uri="{9D8B030D-6E8A-4147-A177-3AD203B41FA5}">
                      <a16:colId xmlns:a16="http://schemas.microsoft.com/office/drawing/2014/main" xmlns="" val="2339277210"/>
                    </a:ext>
                  </a:extLst>
                </a:gridCol>
                <a:gridCol w="3575929">
                  <a:extLst>
                    <a:ext uri="{9D8B030D-6E8A-4147-A177-3AD203B41FA5}">
                      <a16:colId xmlns:a16="http://schemas.microsoft.com/office/drawing/2014/main" xmlns="" val="3195372822"/>
                    </a:ext>
                  </a:extLst>
                </a:gridCol>
                <a:gridCol w="2687392">
                  <a:extLst>
                    <a:ext uri="{9D8B030D-6E8A-4147-A177-3AD203B41FA5}">
                      <a16:colId xmlns:a16="http://schemas.microsoft.com/office/drawing/2014/main" xmlns="" val="1693935294"/>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Point-Slope Form</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Slope-Intercept Form</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Standard Form</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345733342"/>
                  </a:ext>
                </a:extLst>
              </a:tr>
              <a:tr h="1071526">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81863139"/>
                  </a:ext>
                </a:extLst>
              </a:tr>
            </a:tbl>
          </a:graphicData>
        </a:graphic>
      </p:graphicFrame>
    </p:spTree>
    <p:extLst>
      <p:ext uri="{BB962C8B-B14F-4D97-AF65-F5344CB8AC3E}">
        <p14:creationId xmlns:p14="http://schemas.microsoft.com/office/powerpoint/2010/main" val="3840359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xmlns="" id="{9A31F944-40B2-AC43-9ACD-372D70A84898}"/>
                  </a:ext>
                </a:extLst>
              </p:cNvPr>
              <p:cNvSpPr/>
              <p:nvPr/>
            </p:nvSpPr>
            <p:spPr>
              <a:xfrm>
                <a:off x="528464" y="377795"/>
                <a:ext cx="10934700" cy="707886"/>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Write the equation of the line, in all three forms, that is parallel to the line shown on the coordinate grid and that passes through the point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 −7)</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2" name="Rectangle 1">
                <a:extLst>
                  <a:ext uri="{FF2B5EF4-FFF2-40B4-BE49-F238E27FC236}">
                    <a16:creationId xmlns:a16="http://schemas.microsoft.com/office/drawing/2014/main" xmlns:a14="http://schemas.microsoft.com/office/drawing/2010/main" xmlns="" id="{9A31F944-40B2-AC43-9ACD-372D70A84898}"/>
                  </a:ext>
                </a:extLst>
              </p:cNvPr>
              <p:cNvSpPr>
                <a:spLocks noRot="1" noChangeAspect="1" noMove="1" noResize="1" noEditPoints="1" noAdjustHandles="1" noChangeArrowheads="1" noChangeShapeType="1" noTextEdit="1"/>
              </p:cNvSpPr>
              <p:nvPr/>
            </p:nvSpPr>
            <p:spPr>
              <a:xfrm>
                <a:off x="528464" y="377795"/>
                <a:ext cx="10934700" cy="707886"/>
              </a:xfrm>
              <a:prstGeom prst="rect">
                <a:avLst/>
              </a:prstGeom>
              <a:blipFill rotWithShape="1">
                <a:blip r:embed="rId4"/>
                <a:stretch>
                  <a:fillRect l="-613" t="-5172" b="-14655"/>
                </a:stretch>
              </a:blipFill>
            </p:spPr>
            <p:txBody>
              <a:bodyPr/>
              <a:lstStyle/>
              <a:p>
                <a:r>
                  <a:rPr lang="en-PH">
                    <a:noFill/>
                  </a:rPr>
                  <a:t> </a:t>
                </a:r>
              </a:p>
            </p:txBody>
          </p:sp>
        </mc:Fallback>
      </mc:AlternateContent>
      <p:pic>
        <p:nvPicPr>
          <p:cNvPr id="4" name="Picture 3">
            <a:extLst>
              <a:ext uri="{FF2B5EF4-FFF2-40B4-BE49-F238E27FC236}">
                <a16:creationId xmlns:a16="http://schemas.microsoft.com/office/drawing/2014/main" xmlns="" id="{FBE3B563-48C1-0B46-9EEE-754F04C90E7C}"/>
              </a:ext>
            </a:extLst>
          </p:cNvPr>
          <p:cNvPicPr>
            <a:picLocks noChangeAspect="1"/>
          </p:cNvPicPr>
          <p:nvPr/>
        </p:nvPicPr>
        <p:blipFill>
          <a:blip r:embed="rId5"/>
          <a:stretch>
            <a:fillRect/>
          </a:stretch>
        </p:blipFill>
        <p:spPr>
          <a:xfrm>
            <a:off x="3585444" y="1242215"/>
            <a:ext cx="4820739" cy="4820739"/>
          </a:xfrm>
          <a:prstGeom prst="rect">
            <a:avLst/>
          </a:prstGeom>
        </p:spPr>
      </p:pic>
    </p:spTree>
    <p:extLst>
      <p:ext uri="{BB962C8B-B14F-4D97-AF65-F5344CB8AC3E}">
        <p14:creationId xmlns:p14="http://schemas.microsoft.com/office/powerpoint/2010/main" val="2805228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xmlns="" id="{EF5C2542-2CFB-234A-B1A4-087C7C51D80E}"/>
                  </a:ext>
                </a:extLst>
              </p:cNvPr>
              <p:cNvSpPr/>
              <p:nvPr/>
            </p:nvSpPr>
            <p:spPr>
              <a:xfrm>
                <a:off x="534754" y="2241680"/>
                <a:ext cx="10998200" cy="1200329"/>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Write the equation of the line that passes through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(5, 9)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is parallel to the line that passes through the points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p:sp>
            <p:nvSpPr>
              <p:cNvPr id="2" name="Rectangle 1">
                <a:extLst>
                  <a:ext uri="{FF2B5EF4-FFF2-40B4-BE49-F238E27FC236}">
                    <a16:creationId xmlns:a16="http://schemas.microsoft.com/office/drawing/2014/main" xmlns:a14="http://schemas.microsoft.com/office/drawing/2010/main" xmlns="" id="{EF5C2542-2CFB-234A-B1A4-087C7C51D80E}"/>
                  </a:ext>
                </a:extLst>
              </p:cNvPr>
              <p:cNvSpPr>
                <a:spLocks noRot="1" noChangeAspect="1" noMove="1" noResize="1" noEditPoints="1" noAdjustHandles="1" noChangeArrowheads="1" noChangeShapeType="1" noTextEdit="1"/>
              </p:cNvSpPr>
              <p:nvPr/>
            </p:nvSpPr>
            <p:spPr>
              <a:xfrm>
                <a:off x="534754" y="2241680"/>
                <a:ext cx="10998200" cy="1200329"/>
              </a:xfrm>
              <a:prstGeom prst="rect">
                <a:avLst/>
              </a:prstGeom>
              <a:blipFill rotWithShape="1">
                <a:blip r:embed="rId4"/>
                <a:stretch>
                  <a:fillRect l="-887" t="-4569" b="-10152"/>
                </a:stretch>
              </a:blipFill>
            </p:spPr>
            <p:txBody>
              <a:bodyPr/>
              <a:lstStyle/>
              <a:p>
                <a:r>
                  <a:rPr lang="en-PH">
                    <a:noFill/>
                  </a:rPr>
                  <a:t> </a:t>
                </a:r>
              </a:p>
            </p:txBody>
          </p:sp>
        </mc:Fallback>
      </mc:AlternateContent>
      <p:graphicFrame>
        <p:nvGraphicFramePr>
          <p:cNvPr id="7" name="Table 6">
            <a:extLst>
              <a:ext uri="{FF2B5EF4-FFF2-40B4-BE49-F238E27FC236}">
                <a16:creationId xmlns:a16="http://schemas.microsoft.com/office/drawing/2014/main" xmlns="" id="{7AE39D89-2C45-844A-A45F-2FE81FF20F36}"/>
              </a:ext>
            </a:extLst>
          </p:cNvPr>
          <p:cNvGraphicFramePr>
            <a:graphicFrameLocks noGrp="1"/>
          </p:cNvGraphicFramePr>
          <p:nvPr>
            <p:extLst>
              <p:ext uri="{D42A27DB-BD31-4B8C-83A1-F6EECF244321}">
                <p14:modId xmlns:p14="http://schemas.microsoft.com/office/powerpoint/2010/main" val="2610813305"/>
              </p:ext>
            </p:extLst>
          </p:nvPr>
        </p:nvGraphicFramePr>
        <p:xfrm>
          <a:off x="1180266" y="362510"/>
          <a:ext cx="9329648" cy="1611526"/>
        </p:xfrm>
        <a:graphic>
          <a:graphicData uri="http://schemas.openxmlformats.org/drawingml/2006/table">
            <a:tbl>
              <a:tblPr firstRow="1" firstCol="1" bandRow="1">
                <a:tableStyleId>{A91F0D33-8C57-4600-99A7-42BC86742BE1}</a:tableStyleId>
              </a:tblPr>
              <a:tblGrid>
                <a:gridCol w="3066327">
                  <a:extLst>
                    <a:ext uri="{9D8B030D-6E8A-4147-A177-3AD203B41FA5}">
                      <a16:colId xmlns:a16="http://schemas.microsoft.com/office/drawing/2014/main" xmlns="" val="2339277210"/>
                    </a:ext>
                  </a:extLst>
                </a:gridCol>
                <a:gridCol w="3575929">
                  <a:extLst>
                    <a:ext uri="{9D8B030D-6E8A-4147-A177-3AD203B41FA5}">
                      <a16:colId xmlns:a16="http://schemas.microsoft.com/office/drawing/2014/main" xmlns="" val="3195372822"/>
                    </a:ext>
                  </a:extLst>
                </a:gridCol>
                <a:gridCol w="2687392">
                  <a:extLst>
                    <a:ext uri="{9D8B030D-6E8A-4147-A177-3AD203B41FA5}">
                      <a16:colId xmlns:a16="http://schemas.microsoft.com/office/drawing/2014/main" xmlns="" val="1693935294"/>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Point-Slope Form</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Slope-Intercept Form</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Standard Form</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3345733342"/>
                  </a:ext>
                </a:extLst>
              </a:tr>
              <a:tr h="1071526">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81863139"/>
                  </a:ext>
                </a:extLst>
              </a:tr>
            </a:tbl>
          </a:graphicData>
        </a:graphic>
      </p:graphicFrame>
    </p:spTree>
    <p:extLst>
      <p:ext uri="{BB962C8B-B14F-4D97-AF65-F5344CB8AC3E}">
        <p14:creationId xmlns:p14="http://schemas.microsoft.com/office/powerpoint/2010/main" val="2161466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xmlns="" id="{EF5C2542-2CFB-234A-B1A4-087C7C51D80E}"/>
                  </a:ext>
                </a:extLst>
              </p:cNvPr>
              <p:cNvSpPr/>
              <p:nvPr/>
            </p:nvSpPr>
            <p:spPr>
              <a:xfrm>
                <a:off x="532142" y="379252"/>
                <a:ext cx="10934700" cy="1200329"/>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Write the equation of the line that passes through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 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is perpendicular to the line that passes through the points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 −4)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(3, 6)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p:sp>
            <p:nvSpPr>
              <p:cNvPr id="2" name="Rectangle 1">
                <a:extLst>
                  <a:ext uri="{FF2B5EF4-FFF2-40B4-BE49-F238E27FC236}">
                    <a16:creationId xmlns:a16="http://schemas.microsoft.com/office/drawing/2014/main" xmlns:a14="http://schemas.microsoft.com/office/drawing/2010/main" xmlns="" id="{EF5C2542-2CFB-234A-B1A4-087C7C51D80E}"/>
                  </a:ext>
                </a:extLst>
              </p:cNvPr>
              <p:cNvSpPr>
                <a:spLocks noRot="1" noChangeAspect="1" noMove="1" noResize="1" noEditPoints="1" noAdjustHandles="1" noChangeArrowheads="1" noChangeShapeType="1" noTextEdit="1"/>
              </p:cNvSpPr>
              <p:nvPr/>
            </p:nvSpPr>
            <p:spPr>
              <a:xfrm>
                <a:off x="532142" y="379252"/>
                <a:ext cx="10934700" cy="1200329"/>
              </a:xfrm>
              <a:prstGeom prst="rect">
                <a:avLst/>
              </a:prstGeom>
              <a:blipFill rotWithShape="1">
                <a:blip r:embed="rId4"/>
                <a:stretch>
                  <a:fillRect l="-836" t="-4569" r="-56" b="-10152"/>
                </a:stretch>
              </a:blipFill>
            </p:spPr>
            <p:txBody>
              <a:bodyPr/>
              <a:lstStyle/>
              <a:p>
                <a:r>
                  <a:rPr lang="en-PH">
                    <a:noFill/>
                  </a:rPr>
                  <a:t> </a:t>
                </a:r>
              </a:p>
            </p:txBody>
          </p:sp>
        </mc:Fallback>
      </mc:AlternateContent>
    </p:spTree>
    <p:extLst>
      <p:ext uri="{BB962C8B-B14F-4D97-AF65-F5344CB8AC3E}">
        <p14:creationId xmlns:p14="http://schemas.microsoft.com/office/powerpoint/2010/main" val="3732858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228</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25819" y="2762342"/>
            <a:ext cx="3757009"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17520" y="2916936"/>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51311" y="-755"/>
            <a:ext cx="94365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4.12.4 Wrap-Up: Error Analysis</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430458" y="28844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xmlns="" id="{AE281112-0763-C941-9DB7-9B28C4EA4745}"/>
                  </a:ext>
                </a:extLst>
              </p:cNvPr>
              <p:cNvSpPr/>
              <p:nvPr/>
            </p:nvSpPr>
            <p:spPr>
              <a:xfrm>
                <a:off x="530083" y="1468520"/>
                <a:ext cx="10800000"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The work of two students is shown in the table. The students were asked to write the equation of the line that passes through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 −9)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is perpendicular to the line that passes through the points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 −4)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(0, 5)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Find each person’s error and correct it.</a:t>
                </a:r>
              </a:p>
            </p:txBody>
          </p:sp>
        </mc:Choice>
        <mc:Fallback>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530083" y="1468520"/>
                <a:ext cx="10800000" cy="1569660"/>
              </a:xfrm>
              <a:prstGeom prst="rect">
                <a:avLst/>
              </a:prstGeom>
              <a:blipFill rotWithShape="1">
                <a:blip r:embed="rId5"/>
                <a:stretch>
                  <a:fillRect l="-903" t="-3113" b="-7782"/>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B16E6AD0-E9BB-0049-844C-25F888C102B8}"/>
                  </a:ext>
                </a:extLst>
              </p:cNvPr>
              <p:cNvGraphicFramePr>
                <a:graphicFrameLocks noGrp="1"/>
              </p:cNvGraphicFramePr>
              <p:nvPr>
                <p:extLst>
                  <p:ext uri="{D42A27DB-BD31-4B8C-83A1-F6EECF244321}">
                    <p14:modId xmlns:p14="http://schemas.microsoft.com/office/powerpoint/2010/main" val="227032719"/>
                  </p:ext>
                </p:extLst>
              </p:nvPr>
            </p:nvGraphicFramePr>
            <p:xfrm>
              <a:off x="1115614" y="3228072"/>
              <a:ext cx="8343900" cy="2056765"/>
            </p:xfrm>
            <a:graphic>
              <a:graphicData uri="http://schemas.openxmlformats.org/drawingml/2006/table">
                <a:tbl>
                  <a:tblPr firstRow="1" firstCol="1" bandRow="1">
                    <a:tableStyleId>{A91F0D33-8C57-4600-99A7-42BC86742BE1}</a:tableStyleId>
                  </a:tblPr>
                  <a:tblGrid>
                    <a:gridCol w="4191427">
                      <a:extLst>
                        <a:ext uri="{9D8B030D-6E8A-4147-A177-3AD203B41FA5}">
                          <a16:colId xmlns:a16="http://schemas.microsoft.com/office/drawing/2014/main" xmlns="" val="209006522"/>
                        </a:ext>
                      </a:extLst>
                    </a:gridCol>
                    <a:gridCol w="4152473">
                      <a:extLst>
                        <a:ext uri="{9D8B030D-6E8A-4147-A177-3AD203B41FA5}">
                          <a16:colId xmlns:a16="http://schemas.microsoft.com/office/drawing/2014/main" xmlns="" val="816025675"/>
                        </a:ext>
                      </a:extLst>
                    </a:gridCol>
                  </a:tblGrid>
                  <a:tr h="50228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Sandip</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Jiang</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581138068"/>
                      </a:ext>
                    </a:extLst>
                  </a:tr>
                  <a:tr h="155448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Slope = </a:t>
                          </a:r>
                          <a14:m>
                            <m:oMath xmlns:m="http://schemas.openxmlformats.org/officeDocument/2006/math">
                              <m:f>
                                <m:fPr>
                                  <m:ctrlPr>
                                    <a:rPr lang="x-none" sz="2000" i="1">
                                      <a:effectLst/>
                                      <a:latin typeface="Cambria Math"/>
                                    </a:rPr>
                                  </m:ctrlPr>
                                </m:fPr>
                                <m:num>
                                  <m:r>
                                    <a:rPr lang="en-US" sz="2000">
                                      <a:effectLst/>
                                      <a:latin typeface="Cambria Math" panose="02040503050406030204" pitchFamily="18" charset="0"/>
                                    </a:rPr>
                                    <m:t>𝑐h𝑎𝑛𝑔𝑒</m:t>
                                  </m:r>
                                  <m:r>
                                    <a:rPr lang="en-US" sz="2000">
                                      <a:effectLst/>
                                      <a:latin typeface="Cambria Math" panose="02040503050406030204" pitchFamily="18" charset="0"/>
                                    </a:rPr>
                                    <m:t> </m:t>
                                  </m:r>
                                  <m:r>
                                    <a:rPr lang="en-US" sz="2000">
                                      <a:effectLst/>
                                      <a:latin typeface="Cambria Math" panose="02040503050406030204" pitchFamily="18" charset="0"/>
                                    </a:rPr>
                                    <m:t>𝑖𝑛</m:t>
                                  </m:r>
                                  <m:r>
                                    <a:rPr lang="en-US" sz="2000">
                                      <a:effectLst/>
                                      <a:latin typeface="Cambria Math" panose="02040503050406030204" pitchFamily="18" charset="0"/>
                                    </a:rPr>
                                    <m:t> </m:t>
                                  </m:r>
                                  <m:r>
                                    <a:rPr lang="en-US" sz="2000">
                                      <a:effectLst/>
                                      <a:latin typeface="Cambria Math" panose="02040503050406030204" pitchFamily="18" charset="0"/>
                                    </a:rPr>
                                    <m:t>𝑦</m:t>
                                  </m:r>
                                </m:num>
                                <m:den>
                                  <m:r>
                                    <a:rPr lang="en-US" sz="2000">
                                      <a:effectLst/>
                                      <a:latin typeface="Cambria Math" panose="02040503050406030204" pitchFamily="18" charset="0"/>
                                    </a:rPr>
                                    <m:t>𝑐h𝑎𝑛𝑔𝑒</m:t>
                                  </m:r>
                                  <m:r>
                                    <a:rPr lang="en-US" sz="2000">
                                      <a:effectLst/>
                                      <a:latin typeface="Cambria Math" panose="02040503050406030204" pitchFamily="18" charset="0"/>
                                    </a:rPr>
                                    <m:t> </m:t>
                                  </m:r>
                                  <m:r>
                                    <a:rPr lang="en-US" sz="2000">
                                      <a:effectLst/>
                                      <a:latin typeface="Cambria Math" panose="02040503050406030204" pitchFamily="18" charset="0"/>
                                    </a:rPr>
                                    <m:t>𝑖𝑛</m:t>
                                  </m:r>
                                  <m:r>
                                    <a:rPr lang="en-US" sz="2000">
                                      <a:effectLst/>
                                      <a:latin typeface="Cambria Math" panose="02040503050406030204" pitchFamily="18" charset="0"/>
                                    </a:rPr>
                                    <m:t> </m:t>
                                  </m:r>
                                  <m:r>
                                    <a:rPr lang="en-US" sz="2000">
                                      <a:effectLst/>
                                      <a:latin typeface="Cambria Math" panose="02040503050406030204" pitchFamily="18" charset="0"/>
                                    </a:rPr>
                                    <m:t>𝑥</m:t>
                                  </m:r>
                                </m:den>
                              </m:f>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−4−5</m:t>
                                  </m:r>
                                </m:num>
                                <m:den>
                                  <m:r>
                                    <a:rPr lang="en-US" sz="2000">
                                      <a:effectLst/>
                                      <a:latin typeface="Cambria Math" panose="02040503050406030204" pitchFamily="18" charset="0"/>
                                    </a:rPr>
                                    <m:t>3−0</m:t>
                                  </m:r>
                                </m:den>
                              </m:f>
                              <m:r>
                                <a:rPr lang="en-US" sz="2000">
                                  <a:effectLst/>
                                  <a:latin typeface="Cambria Math" panose="02040503050406030204" pitchFamily="18" charset="0"/>
                                </a:rPr>
                                <m:t>=−3</m:t>
                              </m:r>
                            </m:oMath>
                          </a14:m>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Equation: </a:t>
                          </a:r>
                          <a14:m>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+9=−3(</m:t>
                              </m:r>
                              <m:r>
                                <a:rPr lang="en-US" sz="2000">
                                  <a:effectLst/>
                                  <a:latin typeface="Cambria Math" panose="02040503050406030204" pitchFamily="18" charset="0"/>
                                </a:rPr>
                                <m:t>𝑥</m:t>
                              </m:r>
                              <m:r>
                                <a:rPr lang="en-US" sz="2000">
                                  <a:effectLst/>
                                  <a:latin typeface="Cambria Math" panose="02040503050406030204" pitchFamily="18" charset="0"/>
                                </a:rPr>
                                <m:t>+5)</m:t>
                              </m:r>
                            </m:oMath>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Slope = </a:t>
                          </a:r>
                          <a14:m>
                            <m:oMath xmlns:m="http://schemas.openxmlformats.org/officeDocument/2006/math">
                              <m:f>
                                <m:fPr>
                                  <m:ctrlPr>
                                    <a:rPr lang="x-none" sz="2000" i="1">
                                      <a:effectLst/>
                                      <a:latin typeface="Cambria Math"/>
                                    </a:rPr>
                                  </m:ctrlPr>
                                </m:fPr>
                                <m:num>
                                  <m:r>
                                    <a:rPr lang="en-US" sz="2000">
                                      <a:effectLst/>
                                      <a:latin typeface="Cambria Math" panose="02040503050406030204" pitchFamily="18" charset="0"/>
                                    </a:rPr>
                                    <m:t>𝑐h𝑎𝑛𝑔𝑒</m:t>
                                  </m:r>
                                  <m:r>
                                    <a:rPr lang="en-US" sz="2000">
                                      <a:effectLst/>
                                      <a:latin typeface="Cambria Math" panose="02040503050406030204" pitchFamily="18" charset="0"/>
                                    </a:rPr>
                                    <m:t> </m:t>
                                  </m:r>
                                  <m:r>
                                    <a:rPr lang="en-US" sz="2000">
                                      <a:effectLst/>
                                      <a:latin typeface="Cambria Math" panose="02040503050406030204" pitchFamily="18" charset="0"/>
                                    </a:rPr>
                                    <m:t>𝑖𝑛</m:t>
                                  </m:r>
                                  <m:r>
                                    <a:rPr lang="en-US" sz="2000">
                                      <a:effectLst/>
                                      <a:latin typeface="Cambria Math" panose="02040503050406030204" pitchFamily="18" charset="0"/>
                                    </a:rPr>
                                    <m:t> </m:t>
                                  </m:r>
                                  <m:r>
                                    <a:rPr lang="en-US" sz="2000">
                                      <a:effectLst/>
                                      <a:latin typeface="Cambria Math" panose="02040503050406030204" pitchFamily="18" charset="0"/>
                                    </a:rPr>
                                    <m:t>𝑦</m:t>
                                  </m:r>
                                </m:num>
                                <m:den>
                                  <m:r>
                                    <a:rPr lang="en-US" sz="2000">
                                      <a:effectLst/>
                                      <a:latin typeface="Cambria Math" panose="02040503050406030204" pitchFamily="18" charset="0"/>
                                    </a:rPr>
                                    <m:t>𝑐h𝑎𝑛𝑔𝑒</m:t>
                                  </m:r>
                                  <m:r>
                                    <a:rPr lang="en-US" sz="2000">
                                      <a:effectLst/>
                                      <a:latin typeface="Cambria Math" panose="02040503050406030204" pitchFamily="18" charset="0"/>
                                    </a:rPr>
                                    <m:t> </m:t>
                                  </m:r>
                                  <m:r>
                                    <a:rPr lang="en-US" sz="2000">
                                      <a:effectLst/>
                                      <a:latin typeface="Cambria Math" panose="02040503050406030204" pitchFamily="18" charset="0"/>
                                    </a:rPr>
                                    <m:t>𝑖𝑛</m:t>
                                  </m:r>
                                  <m:r>
                                    <a:rPr lang="en-US" sz="2000">
                                      <a:effectLst/>
                                      <a:latin typeface="Cambria Math" panose="02040503050406030204" pitchFamily="18" charset="0"/>
                                    </a:rPr>
                                    <m:t> </m:t>
                                  </m:r>
                                  <m:r>
                                    <a:rPr lang="en-US" sz="2000">
                                      <a:effectLst/>
                                      <a:latin typeface="Cambria Math" panose="02040503050406030204" pitchFamily="18" charset="0"/>
                                    </a:rPr>
                                    <m:t>𝑥</m:t>
                                  </m:r>
                                </m:den>
                              </m:f>
                              <m:r>
                                <a:rPr lang="en-US" sz="2000">
                                  <a:effectLst/>
                                  <a:latin typeface="Cambria Math" panose="02040503050406030204" pitchFamily="18" charset="0"/>
                                </a:rPr>
                                <m:t>=</m:t>
                              </m:r>
                              <m:f>
                                <m:fPr>
                                  <m:ctrlPr>
                                    <a:rPr lang="x-none" sz="2000" i="1">
                                      <a:effectLst/>
                                      <a:latin typeface="Cambria Math"/>
                                    </a:rPr>
                                  </m:ctrlPr>
                                </m:fPr>
                                <m:num>
                                  <m:r>
                                    <a:rPr lang="en-US" sz="2000">
                                      <a:effectLst/>
                                      <a:latin typeface="Cambria Math" panose="02040503050406030204" pitchFamily="18" charset="0"/>
                                    </a:rPr>
                                    <m:t>−4−5</m:t>
                                  </m:r>
                                </m:num>
                                <m:den>
                                  <m:r>
                                    <a:rPr lang="en-US" sz="2000">
                                      <a:effectLst/>
                                      <a:latin typeface="Cambria Math" panose="02040503050406030204" pitchFamily="18" charset="0"/>
                                    </a:rPr>
                                    <m:t>0−3</m:t>
                                  </m:r>
                                </m:den>
                              </m:f>
                              <m:r>
                                <a:rPr lang="en-US" sz="2000">
                                  <a:effectLst/>
                                  <a:latin typeface="Cambria Math" panose="02040503050406030204" pitchFamily="18" charset="0"/>
                                </a:rPr>
                                <m:t>=3</m:t>
                              </m:r>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Equation: </a:t>
                          </a:r>
                          <a14:m>
                            <m:oMath xmlns:m="http://schemas.openxmlformats.org/officeDocument/2006/math">
                              <m:r>
                                <a:rPr lang="en-US" sz="2000">
                                  <a:effectLst/>
                                  <a:latin typeface="Cambria Math" panose="02040503050406030204" pitchFamily="18" charset="0"/>
                                </a:rPr>
                                <m:t>𝑦</m:t>
                              </m:r>
                              <m:r>
                                <a:rPr lang="en-US" sz="2000">
                                  <a:effectLst/>
                                  <a:latin typeface="Cambria Math" panose="02040503050406030204" pitchFamily="18" charset="0"/>
                                </a:rPr>
                                <m:t>+9=−</m:t>
                              </m:r>
                              <m:f>
                                <m:fPr>
                                  <m:ctrlPr>
                                    <a:rPr lang="x-none" sz="2000" i="1">
                                      <a:effectLst/>
                                      <a:latin typeface="Cambria Math"/>
                                    </a:rPr>
                                  </m:ctrlPr>
                                </m:fPr>
                                <m:num>
                                  <m:r>
                                    <a:rPr lang="en-US" sz="2000">
                                      <a:effectLst/>
                                      <a:latin typeface="Cambria Math" panose="02040503050406030204" pitchFamily="18" charset="0"/>
                                    </a:rPr>
                                    <m:t>1</m:t>
                                  </m:r>
                                </m:num>
                                <m:den>
                                  <m:r>
                                    <a:rPr lang="en-US" sz="2000">
                                      <a:effectLst/>
                                      <a:latin typeface="Cambria Math" panose="02040503050406030204" pitchFamily="18" charset="0"/>
                                    </a:rPr>
                                    <m:t>3</m:t>
                                  </m:r>
                                </m:den>
                              </m:f>
                              <m:r>
                                <a:rPr lang="en-US" sz="2000">
                                  <a:effectLst/>
                                  <a:latin typeface="Cambria Math" panose="02040503050406030204" pitchFamily="18" charset="0"/>
                                </a:rPr>
                                <m:t>(</m:t>
                              </m:r>
                              <m:r>
                                <a:rPr lang="en-US" sz="2000">
                                  <a:effectLst/>
                                  <a:latin typeface="Cambria Math" panose="02040503050406030204" pitchFamily="18" charset="0"/>
                                </a:rPr>
                                <m:t>𝑥</m:t>
                              </m:r>
                              <m:r>
                                <a:rPr lang="en-US" sz="2000">
                                  <a:effectLst/>
                                  <a:latin typeface="Cambria Math" panose="02040503050406030204" pitchFamily="18" charset="0"/>
                                </a:rPr>
                                <m:t>+5)</m:t>
                              </m:r>
                            </m:oMath>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95763402"/>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B16E6AD0-E9BB-0049-844C-25F888C102B8}"/>
                  </a:ext>
                </a:extLst>
              </p:cNvPr>
              <p:cNvGraphicFramePr>
                <a:graphicFrameLocks noGrp="1"/>
              </p:cNvGraphicFramePr>
              <p:nvPr>
                <p:extLst>
                  <p:ext uri="{D42A27DB-BD31-4B8C-83A1-F6EECF244321}">
                    <p14:modId xmlns:p14="http://schemas.microsoft.com/office/powerpoint/2010/main" val="227032719"/>
                  </p:ext>
                </p:extLst>
              </p:nvPr>
            </p:nvGraphicFramePr>
            <p:xfrm>
              <a:off x="1115614" y="3228072"/>
              <a:ext cx="8343900" cy="2056765"/>
            </p:xfrm>
            <a:graphic>
              <a:graphicData uri="http://schemas.openxmlformats.org/drawingml/2006/table">
                <a:tbl>
                  <a:tblPr firstRow="1" firstCol="1" bandRow="1">
                    <a:tableStyleId>{A91F0D33-8C57-4600-99A7-42BC86742BE1}</a:tableStyleId>
                  </a:tblPr>
                  <a:tblGrid>
                    <a:gridCol w="4191427">
                      <a:extLst>
                        <a:ext uri="{9D8B030D-6E8A-4147-A177-3AD203B41FA5}">
                          <a16:colId xmlns:a16="http://schemas.microsoft.com/office/drawing/2014/main" xmlns:a14="http://schemas.microsoft.com/office/drawing/2010/main" xmlns="" val="209006522"/>
                        </a:ext>
                      </a:extLst>
                    </a:gridCol>
                    <a:gridCol w="4152473">
                      <a:extLst>
                        <a:ext uri="{9D8B030D-6E8A-4147-A177-3AD203B41FA5}">
                          <a16:colId xmlns:a16="http://schemas.microsoft.com/office/drawing/2014/main" xmlns:a14="http://schemas.microsoft.com/office/drawing/2010/main" xmlns="" val="816025675"/>
                        </a:ext>
                      </a:extLst>
                    </a:gridCol>
                  </a:tblGrid>
                  <a:tr h="50228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Sandip</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Jiang</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581138068"/>
                      </a:ext>
                    </a:extLst>
                  </a:tr>
                  <a:tr h="155448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32549" r="-9898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1028" t="-32549"/>
                          </a:stretch>
                        </a:blipFill>
                      </a:tcPr>
                    </a:tc>
                    <a:extLst>
                      <a:ext uri="{0D108BD9-81ED-4DB2-BD59-A6C34878D82A}">
                        <a16:rowId xmlns:a16="http://schemas.microsoft.com/office/drawing/2014/main" xmlns:a14="http://schemas.microsoft.com/office/drawing/2010/main" xmlns="" val="695763402"/>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xmlns="" id="{AE281112-0763-C941-9DB7-9B28C4EA4745}"/>
                  </a:ext>
                </a:extLst>
              </p:cNvPr>
              <p:cNvSpPr/>
              <p:nvPr/>
            </p:nvSpPr>
            <p:spPr>
              <a:xfrm>
                <a:off x="533520" y="385446"/>
                <a:ext cx="10800000"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equation of the line that passes through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 −9)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is perpendicular to the line that passes through the points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 −4)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(0, 5)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533520" y="385446"/>
                <a:ext cx="10800000" cy="1200329"/>
              </a:xfrm>
              <a:prstGeom prst="rect">
                <a:avLst/>
              </a:prstGeom>
              <a:blipFill rotWithShape="1">
                <a:blip r:embed="rId4"/>
                <a:stretch>
                  <a:fillRect l="-903" t="-4569" r="-113" b="-10152"/>
                </a:stretch>
              </a:blipFill>
            </p:spPr>
            <p:txBody>
              <a:bodyPr/>
              <a:lstStyle/>
              <a:p>
                <a:r>
                  <a:rPr lang="en-PH">
                    <a:noFill/>
                  </a:rPr>
                  <a:t> </a:t>
                </a:r>
              </a:p>
            </p:txBody>
          </p:sp>
        </mc:Fallback>
      </mc:AlternateContent>
    </p:spTree>
    <p:extLst>
      <p:ext uri="{BB962C8B-B14F-4D97-AF65-F5344CB8AC3E}">
        <p14:creationId xmlns:p14="http://schemas.microsoft.com/office/powerpoint/2010/main" val="371152813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9257</TotalTime>
  <Words>841</Words>
  <Application>Microsoft Office PowerPoint</Application>
  <PresentationFormat>Custom</PresentationFormat>
  <Paragraphs>146</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Century Gothic</vt:lpstr>
      <vt:lpstr>Wingdings</vt:lpstr>
      <vt:lpstr>Cambria Math</vt:lpstr>
      <vt:lpstr>Arial Black</vt:lpstr>
      <vt:lpstr>Verdana</vt:lpstr>
      <vt:lpstr>Calibri</vt:lpstr>
      <vt:lpstr>Times New Roman</vt:lpstr>
      <vt:lpstr>1_Office Theme</vt:lpstr>
      <vt:lpstr>Algebra 1  Unit 4, Lesson 12  Writing Equations of Parallel and Perpendicular Lines  Volume 1, pg. 224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20</cp:revision>
  <dcterms:created xsi:type="dcterms:W3CDTF">2015-03-17T18:51:18Z</dcterms:created>
  <dcterms:modified xsi:type="dcterms:W3CDTF">2022-06-25T02:35:52Z</dcterms:modified>
</cp:coreProperties>
</file>