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85" r:id="rId4"/>
    <p:sldId id="286" r:id="rId5"/>
    <p:sldId id="261" r:id="rId6"/>
    <p:sldId id="287" r:id="rId7"/>
    <p:sldId id="314" r:id="rId8"/>
    <p:sldId id="315" r:id="rId9"/>
    <p:sldId id="316" r:id="rId10"/>
    <p:sldId id="344" r:id="rId11"/>
    <p:sldId id="345" r:id="rId12"/>
    <p:sldId id="346" r:id="rId13"/>
    <p:sldId id="347" r:id="rId14"/>
    <p:sldId id="348" r:id="rId15"/>
    <p:sldId id="349" r:id="rId16"/>
    <p:sldId id="320" r:id="rId17"/>
    <p:sldId id="321" r:id="rId18"/>
    <p:sldId id="343" r:id="rId19"/>
    <p:sldId id="322" r:id="rId20"/>
    <p:sldId id="350" r:id="rId21"/>
    <p:sldId id="351" r:id="rId22"/>
    <p:sldId id="352" r:id="rId23"/>
    <p:sldId id="353" r:id="rId24"/>
    <p:sldId id="354" r:id="rId25"/>
    <p:sldId id="355" r:id="rId26"/>
    <p:sldId id="356" r:id="rId27"/>
    <p:sldId id="306" r:id="rId28"/>
    <p:sldId id="307" r:id="rId29"/>
    <p:sldId id="357" r:id="rId30"/>
    <p:sldId id="358" r:id="rId31"/>
  </p:sldIdLst>
  <p:sldSz cx="12192000" cy="6858000"/>
  <p:notesSz cx="6858000" cy="9144000"/>
  <p:embeddedFontLst>
    <p:embeddedFont>
      <p:font typeface="Verdana" pitchFamily="34" charset="0"/>
      <p:regular r:id="rId33"/>
      <p:bold r:id="rId34"/>
      <p:italic r:id="rId35"/>
      <p:boldItalic r:id="rId36"/>
    </p:embeddedFont>
    <p:embeddedFont>
      <p:font typeface="Calibri" pitchFamily="34" charset="0"/>
      <p:regular r:id="rId37"/>
      <p:bold r:id="rId38"/>
      <p:italic r:id="rId39"/>
      <p:boldItalic r:id="rId40"/>
    </p:embeddedFont>
    <p:embeddedFont>
      <p:font typeface="Century Gothic" pitchFamily="34" charset="0"/>
      <p:regular r:id="rId41"/>
      <p:bold r:id="rId42"/>
      <p:italic r:id="rId43"/>
      <p:boldItalic r:id="rId44"/>
    </p:embeddedFont>
    <p:embeddedFont>
      <p:font typeface="Cambria Math" pitchFamily="18" charset="0"/>
      <p:regular r:id="rId45"/>
    </p:embeddedFont>
    <p:embeddedFont>
      <p:font typeface="Arial Black" pitchFamily="34" charset="0"/>
      <p:bold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3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7691"/>
    <p:restoredTop sz="94694"/>
  </p:normalViewPr>
  <p:slideViewPr>
    <p:cSldViewPr snapToGrid="0">
      <p:cViewPr>
        <p:scale>
          <a:sx n="80" d="100"/>
          <a:sy n="80" d="100"/>
        </p:scale>
        <p:origin x="-1397" y="-1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9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3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56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076109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3542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39787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52281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88336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13386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5029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37508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67688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6333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83927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19357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36037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05031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9201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7285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70418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1063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0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7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0.png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=""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61;g104476d1465_0_0"/>
          <p:cNvSpPr txBox="1">
            <a:spLocks/>
          </p:cNvSpPr>
          <p:nvPr/>
        </p:nvSpPr>
        <p:spPr>
          <a:xfrm>
            <a:off x="5604721" y="2054275"/>
            <a:ext cx="5201391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4, Lesson 9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Discovering Relationships of Parallel and Perpendicular Lines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208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Picture 6" descr="A blue sign with white text&#10;&#10;Description automatically generated with medium confidence">
            <a:extLst>
              <a:ext uri="{FF2B5EF4-FFF2-40B4-BE49-F238E27FC236}">
                <a16:creationId xmlns=""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22608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0;g104476d1465_1_17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MA.912.AR.2.3 </a:t>
            </a:r>
          </a:p>
          <a:p>
            <a:pPr marL="552450" lvl="1" indent="0">
              <a:buNone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 linear two-variable equation for a line that is parallel or perpendicular to a given line and goes through a given point.</a:t>
            </a:r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3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296;g103996e1364_0_10">
            <a:extLst>
              <a:ext uri="{FF2B5EF4-FFF2-40B4-BE49-F238E27FC236}">
                <a16:creationId xmlns=""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15" name="Google Shape;295;g103996e1364_0_10">
            <a:extLst>
              <a:ext uri="{FF2B5EF4-FFF2-40B4-BE49-F238E27FC236}">
                <a16:creationId xmlns=""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</a:t>
            </a:r>
            <a:r>
              <a:rPr lang="en-US" sz="4700" b="1" dirty="0" smtClean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Targets</a:t>
            </a:r>
            <a:endParaRPr lang="en-US" sz="47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85800">
              <a:buFont typeface="Wingdings" pitchFamily="2" charset="2"/>
              <a:buChar char="q"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discover the relationship between parallel lines.  </a:t>
            </a:r>
          </a:p>
          <a:p>
            <a:pPr marL="685800" indent="-685800">
              <a:buFont typeface="Wingdings" pitchFamily="2" charset="2"/>
              <a:buChar char="q"/>
            </a:pPr>
            <a:endParaRPr lang="en-US" sz="3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85800" indent="-685800">
              <a:buFont typeface="Wingdings" pitchFamily="2" charset="2"/>
              <a:buChar char="q"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discover the relationship between perpendicular lines.  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0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313;g104476d1465_1_39"/>
          <p:cNvSpPr txBox="1">
            <a:spLocks/>
          </p:cNvSpPr>
          <p:nvPr/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E1D7562E-134F-D14B-AF1A-DF40E11EF758}"/>
              </a:ext>
            </a:extLst>
          </p:cNvPr>
          <p:cNvSpPr txBox="1"/>
          <p:nvPr/>
        </p:nvSpPr>
        <p:spPr>
          <a:xfrm>
            <a:off x="479008" y="1497535"/>
            <a:ext cx="723205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notice?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wonder?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 question about the picture for the class.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9" name="Rectangle 13">
            <a:extLst>
              <a:ext uri="{FF2B5EF4-FFF2-40B4-BE49-F238E27FC236}">
                <a16:creationId xmlns="" xmlns:a16="http://schemas.microsoft.com/office/drawing/2014/main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=""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=""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="" xmlns:a16="http://schemas.microsoft.com/office/drawing/2014/main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D7475AA9-3242-EA46-B82D-8BE9B24423A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11059" y="1497535"/>
            <a:ext cx="3819525" cy="2879725"/>
          </a:xfrm>
          <a:prstGeom prst="rect">
            <a:avLst/>
          </a:prstGeom>
        </p:spPr>
      </p:pic>
      <p:sp>
        <p:nvSpPr>
          <p:cNvPr id="14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689"/>
            <a:ext cx="108340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4.9.1 Warm-Up: Notice and Wonder</a:t>
            </a:r>
          </a:p>
        </p:txBody>
      </p:sp>
      <p:pic>
        <p:nvPicPr>
          <p:cNvPr id="2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313;g104476d1465_1_39"/>
          <p:cNvSpPr txBox="1">
            <a:spLocks/>
          </p:cNvSpPr>
          <p:nvPr/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="" xmlns:a16="http://schemas.microsoft.com/office/drawing/2014/main" id="{CC510B5C-3BA5-6744-B05A-7DCBF728A9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104838"/>
              </p:ext>
            </p:extLst>
          </p:nvPr>
        </p:nvGraphicFramePr>
        <p:xfrm>
          <a:off x="1168365" y="2720803"/>
          <a:ext cx="7407402" cy="3583375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524236">
                  <a:extLst>
                    <a:ext uri="{9D8B030D-6E8A-4147-A177-3AD203B41FA5}">
                      <a16:colId xmlns="" xmlns:a16="http://schemas.microsoft.com/office/drawing/2014/main" val="3376536795"/>
                    </a:ext>
                  </a:extLst>
                </a:gridCol>
                <a:gridCol w="2446814">
                  <a:extLst>
                    <a:ext uri="{9D8B030D-6E8A-4147-A177-3AD203B41FA5}">
                      <a16:colId xmlns="" xmlns:a16="http://schemas.microsoft.com/office/drawing/2014/main" val="3589020552"/>
                    </a:ext>
                  </a:extLst>
                </a:gridCol>
                <a:gridCol w="2436352">
                  <a:extLst>
                    <a:ext uri="{9D8B030D-6E8A-4147-A177-3AD203B41FA5}">
                      <a16:colId xmlns="" xmlns:a16="http://schemas.microsoft.com/office/drawing/2014/main" val="3369648773"/>
                    </a:ext>
                  </a:extLst>
                </a:gridCol>
              </a:tblGrid>
              <a:tr h="67677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Parallel Lines Set A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Parallel Lines Set B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Parallel Lines Set C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631933904"/>
                  </a:ext>
                </a:extLst>
              </a:tr>
              <a:tr h="290660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811962090"/>
                  </a:ext>
                </a:extLst>
              </a:tr>
            </a:tbl>
          </a:graphicData>
        </a:graphic>
      </p:graphicFrame>
      <p:pic>
        <p:nvPicPr>
          <p:cNvPr id="12" name="Picture 11" descr="Chart, line chart&#10;&#10;Description automatically generated">
            <a:extLst>
              <a:ext uri="{FF2B5EF4-FFF2-40B4-BE49-F238E27FC236}">
                <a16:creationId xmlns="" xmlns:a16="http://schemas.microsoft.com/office/drawing/2014/main" id="{7F26E69E-4D4C-C04D-9B42-2AA9733B399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5918" y="3710069"/>
            <a:ext cx="2238713" cy="2238713"/>
          </a:xfrm>
          <a:prstGeom prst="rect">
            <a:avLst/>
          </a:prstGeom>
        </p:spPr>
      </p:pic>
      <p:pic>
        <p:nvPicPr>
          <p:cNvPr id="13" name="Picture 12" descr="Chart, line chart&#10;&#10;Description automatically generated">
            <a:extLst>
              <a:ext uri="{FF2B5EF4-FFF2-40B4-BE49-F238E27FC236}">
                <a16:creationId xmlns="" xmlns:a16="http://schemas.microsoft.com/office/drawing/2014/main" id="{FB25C72E-F3FF-E445-88A3-936048A39EF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98202" y="3710069"/>
            <a:ext cx="2238713" cy="2238713"/>
          </a:xfrm>
          <a:prstGeom prst="rect">
            <a:avLst/>
          </a:prstGeom>
        </p:spPr>
      </p:pic>
      <p:pic>
        <p:nvPicPr>
          <p:cNvPr id="14" name="Picture 13" descr="Chart, bar chart&#10;&#10;Description automatically generated">
            <a:extLst>
              <a:ext uri="{FF2B5EF4-FFF2-40B4-BE49-F238E27FC236}">
                <a16:creationId xmlns="" xmlns:a16="http://schemas.microsoft.com/office/drawing/2014/main" id="{01A4F986-0D90-DF4C-9E05-79C5A431B9D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32477" y="3710069"/>
            <a:ext cx="2238713" cy="2238713"/>
          </a:xfrm>
          <a:prstGeom prst="rect">
            <a:avLst/>
          </a:prstGeom>
        </p:spPr>
      </p:pic>
      <p:sp>
        <p:nvSpPr>
          <p:cNvPr id="1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xmlns="" xmlns:a14="http://schemas.microsoft.com/office/drawing/2010/main" xmlns:mc="http://schemas.openxmlformats.org/markup-compatibility/2006" id="{152D1D4D-DCB8-A246-B186-D40316579D77}"/>
              </a:ext>
            </a:extLst>
          </p:cNvPr>
          <p:cNvSpPr txBox="1"/>
          <p:nvPr/>
        </p:nvSpPr>
        <p:spPr>
          <a:xfrm>
            <a:off x="601762" y="1460161"/>
            <a:ext cx="109288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Examine the pairs of parallel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lines.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down your observations and questions.</a:t>
            </a:r>
          </a:p>
        </p:txBody>
      </p:sp>
      <p:sp>
        <p:nvSpPr>
          <p:cNvPr id="22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416831"/>
            <a:ext cx="9033046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4.9.2 Exploration: Parallel Lines</a:t>
            </a:r>
          </a:p>
        </p:txBody>
      </p:sp>
      <p:pic>
        <p:nvPicPr>
          <p:cNvPr id="23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352" y="30845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8DE79159-1793-A44D-89AC-C14EB27FB3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928954"/>
              </p:ext>
            </p:extLst>
          </p:nvPr>
        </p:nvGraphicFramePr>
        <p:xfrm>
          <a:off x="2695575" y="410666"/>
          <a:ext cx="6800850" cy="50292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453765">
                  <a:extLst>
                    <a:ext uri="{9D8B030D-6E8A-4147-A177-3AD203B41FA5}">
                      <a16:colId xmlns="" xmlns:a16="http://schemas.microsoft.com/office/drawing/2014/main" val="3709041046"/>
                    </a:ext>
                  </a:extLst>
                </a:gridCol>
                <a:gridCol w="3347085">
                  <a:extLst>
                    <a:ext uri="{9D8B030D-6E8A-4147-A177-3AD203B41FA5}">
                      <a16:colId xmlns="" xmlns:a16="http://schemas.microsoft.com/office/drawing/2014/main" val="256386882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Observations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Questions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22755706"/>
                  </a:ext>
                </a:extLst>
              </a:tr>
              <a:tr h="45720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337605234"/>
                  </a:ext>
                </a:extLst>
              </a:tr>
            </a:tbl>
          </a:graphicData>
        </a:graphic>
      </p:graphicFrame>
      <p:sp>
        <p:nvSpPr>
          <p:cNvPr id="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 descr="Chart, line chart&#10;&#10;Description automatically generated">
            <a:extLst>
              <a:ext uri="{FF2B5EF4-FFF2-40B4-BE49-F238E27FC236}">
                <a16:creationId xmlns="" xmlns:a16="http://schemas.microsoft.com/office/drawing/2014/main" id="{C5288D5F-237B-A74B-AE16-198ED334C4E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8458" y="1291830"/>
            <a:ext cx="4282440" cy="4282440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527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The graph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f>
                      <m:f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den>
                    </m:f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 on the coordinate grid.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527580"/>
              </a:xfrm>
              <a:prstGeom prst="rect">
                <a:avLst/>
              </a:prstGeom>
              <a:blipFill rotWithShape="1">
                <a:blip r:embed="rId5"/>
                <a:stretch>
                  <a:fillRect l="-609" b="-5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4295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="" xmlns:a16="http://schemas.microsoft.com/office/drawing/2014/main" id="{A481E484-8C24-4C4D-9226-AE1B958542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840183"/>
              </p:ext>
            </p:extLst>
          </p:nvPr>
        </p:nvGraphicFramePr>
        <p:xfrm>
          <a:off x="1656105" y="3424825"/>
          <a:ext cx="7739646" cy="1391285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869045">
                  <a:extLst>
                    <a:ext uri="{9D8B030D-6E8A-4147-A177-3AD203B41FA5}">
                      <a16:colId xmlns="" xmlns:a16="http://schemas.microsoft.com/office/drawing/2014/main" val="3259996711"/>
                    </a:ext>
                  </a:extLst>
                </a:gridCol>
                <a:gridCol w="3870601">
                  <a:extLst>
                    <a:ext uri="{9D8B030D-6E8A-4147-A177-3AD203B41FA5}">
                      <a16:colId xmlns="" xmlns:a16="http://schemas.microsoft.com/office/drawing/2014/main" val="3160668210"/>
                    </a:ext>
                  </a:extLst>
                </a:gridCol>
              </a:tblGrid>
              <a:tr h="47180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Classmate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Equation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6210862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643733855"/>
                  </a:ext>
                </a:extLst>
              </a:tr>
              <a:tr h="47180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47492835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28094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a line that is parallel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f>
                      <m:f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den>
                    </m:f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slope and the 𝑦-intercept of the line you drew to write the equation of a line that is parallel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f>
                      <m:f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den>
                    </m:f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Write the equations of the lines that two other classmates wrote.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2809487"/>
              </a:xfrm>
              <a:prstGeom prst="rect">
                <a:avLst/>
              </a:prstGeom>
              <a:blipFill rotWithShape="1">
                <a:blip r:embed="rId4"/>
                <a:stretch>
                  <a:fillRect b="-30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7669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 descr="Chart, line chart&#10;&#10;Description automatically generated">
            <a:extLst>
              <a:ext uri="{FF2B5EF4-FFF2-40B4-BE49-F238E27FC236}">
                <a16:creationId xmlns="" xmlns:a16="http://schemas.microsoft.com/office/drawing/2014/main" id="{59B32773-D9A0-2C40-8E4B-3DDAA5224E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3407" y="1209806"/>
            <a:ext cx="4872542" cy="4872542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526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graph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=−</m:t>
                    </m:r>
                    <m:f>
                      <m:f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den>
                    </m:f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−3</m:t>
                    </m:r>
                  </m:oMath>
                </a14:m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shown on the coordinate grid.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526939"/>
              </a:xfrm>
              <a:prstGeom prst="rect">
                <a:avLst/>
              </a:prstGeom>
              <a:blipFill rotWithShape="1">
                <a:blip r:embed="rId5"/>
                <a:stretch>
                  <a:fillRect l="-609" b="-5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8064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2460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Sketch a line that is parallel to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=−</m:t>
                    </m:r>
                    <m:f>
                      <m:fPr>
                        <m:ctrlPr>
                          <a:rPr lang="en-US" sz="24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passes through the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point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(3, 4)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equation of the line in point-slope form.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2460545"/>
              </a:xfrm>
              <a:prstGeom prst="rect">
                <a:avLst/>
              </a:prstGeom>
              <a:blipFill rotWithShape="1">
                <a:blip r:embed="rId4"/>
                <a:stretch>
                  <a:fillRect r="-166" b="-4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0657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 descr="Chart&#10;&#10;Description automatically generated">
            <a:extLst>
              <a:ext uri="{FF2B5EF4-FFF2-40B4-BE49-F238E27FC236}">
                <a16:creationId xmlns="" xmlns:a16="http://schemas.microsoft.com/office/drawing/2014/main" id="{5E243789-F74B-E94A-82D6-46B0118FF1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8301" y="1122660"/>
            <a:ext cx="4982753" cy="4982753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graph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=6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shown on the coordinate grid.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400110"/>
              </a:xfrm>
              <a:prstGeom prst="rect">
                <a:avLst/>
              </a:prstGeom>
              <a:blipFill rotWithShape="1">
                <a:blip r:embed="rId5"/>
                <a:stretch>
                  <a:fillRect l="-609" t="-9091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3029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Sketch a line that is parallel to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passes through the point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(−2,− 4)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marL="457200" indent="-9525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9525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66725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equation of the line.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 conjecture about the slopes of parallel lines.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3785652"/>
              </a:xfrm>
              <a:prstGeom prst="rect">
                <a:avLst/>
              </a:prstGeom>
              <a:blipFill rotWithShape="1">
                <a:blip r:embed="rId4"/>
                <a:stretch>
                  <a:fillRect l="-885" t="-1449" b="-2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2635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13;g104476d1465_1_39"/>
          <p:cNvSpPr txBox="1">
            <a:spLocks/>
          </p:cNvSpPr>
          <p:nvPr/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="" xmlns:a16="http://schemas.microsoft.com/office/drawing/2014/main" id="{82400900-356A-4F45-9AAD-FD56FE7A8D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508103"/>
              </p:ext>
            </p:extLst>
          </p:nvPr>
        </p:nvGraphicFramePr>
        <p:xfrm>
          <a:off x="1147327" y="2095221"/>
          <a:ext cx="7878046" cy="343579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644561">
                  <a:extLst>
                    <a:ext uri="{9D8B030D-6E8A-4147-A177-3AD203B41FA5}">
                      <a16:colId xmlns="" xmlns:a16="http://schemas.microsoft.com/office/drawing/2014/main" val="2010044551"/>
                    </a:ext>
                  </a:extLst>
                </a:gridCol>
                <a:gridCol w="2657913">
                  <a:extLst>
                    <a:ext uri="{9D8B030D-6E8A-4147-A177-3AD203B41FA5}">
                      <a16:colId xmlns="" xmlns:a16="http://schemas.microsoft.com/office/drawing/2014/main" val="3317975757"/>
                    </a:ext>
                  </a:extLst>
                </a:gridCol>
                <a:gridCol w="2575572">
                  <a:extLst>
                    <a:ext uri="{9D8B030D-6E8A-4147-A177-3AD203B41FA5}">
                      <a16:colId xmlns="" xmlns:a16="http://schemas.microsoft.com/office/drawing/2014/main" val="958427628"/>
                    </a:ext>
                  </a:extLst>
                </a:gridCol>
              </a:tblGrid>
              <a:tr h="68624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Perpendicular Lines Set A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Perpendicular Lines Set B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Perpendicular Lines Set C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80613971"/>
                  </a:ext>
                </a:extLst>
              </a:tr>
              <a:tr h="274954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225101236"/>
                  </a:ext>
                </a:extLst>
              </a:tr>
            </a:tbl>
          </a:graphicData>
        </a:graphic>
      </p:graphicFrame>
      <p:pic>
        <p:nvPicPr>
          <p:cNvPr id="12" name="Picture 11" descr="Chart, line chart&#10;&#10;Description automatically generated">
            <a:extLst>
              <a:ext uri="{FF2B5EF4-FFF2-40B4-BE49-F238E27FC236}">
                <a16:creationId xmlns="" xmlns:a16="http://schemas.microsoft.com/office/drawing/2014/main" id="{CD91D5E9-A34F-3447-8760-837AD1D8328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14455" y="3012595"/>
            <a:ext cx="2298585" cy="22985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E20469B1-5B58-794D-BE1E-C1278BA2D75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9957" y="3012594"/>
            <a:ext cx="2298585" cy="2298585"/>
          </a:xfrm>
          <a:prstGeom prst="rect">
            <a:avLst/>
          </a:prstGeom>
        </p:spPr>
      </p:pic>
      <p:pic>
        <p:nvPicPr>
          <p:cNvPr id="14" name="Picture 13" descr="Chart, line chart&#10;&#10;Description automatically generated">
            <a:extLst>
              <a:ext uri="{FF2B5EF4-FFF2-40B4-BE49-F238E27FC236}">
                <a16:creationId xmlns="" xmlns:a16="http://schemas.microsoft.com/office/drawing/2014/main" id="{37FA5ADA-72CD-F04D-B27F-0D76B2D9269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77558" y="3008830"/>
            <a:ext cx="2298585" cy="2298585"/>
          </a:xfrm>
          <a:prstGeom prst="rect">
            <a:avLst/>
          </a:prstGeom>
        </p:spPr>
      </p:pic>
      <p:sp>
        <p:nvSpPr>
          <p:cNvPr id="1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mc="http://schemas.openxmlformats.org/markup-compatibility/2006" xmlns:a14="http://schemas.microsoft.com/office/drawing/2010/main" xmlns="" xmlns:a16="http://schemas.microsoft.com/office/drawing/2014/main" id="{152D1D4D-DCB8-A246-B186-D40316579D77}"/>
              </a:ext>
            </a:extLst>
          </p:cNvPr>
          <p:cNvSpPr txBox="1"/>
          <p:nvPr/>
        </p:nvSpPr>
        <p:spPr>
          <a:xfrm>
            <a:off x="601762" y="1460161"/>
            <a:ext cx="109288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Examine the pairs of perpendicular lines. 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416831"/>
            <a:ext cx="9033046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4.9.3 Exploration: Perpendicular Lines</a:t>
            </a:r>
            <a:endParaRPr lang="en-US" sz="32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9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352" y="30845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down your observations and questions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914400" indent="-457200">
              <a:buFont typeface="+mj-lt"/>
              <a:buAutoNum type="alphaLcPeriod"/>
            </a:pPr>
            <a:endParaRPr lang="en-PH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Record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your partner’s observations and questions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74AF0A4F-11B1-F541-AF83-BD831CEB8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906704"/>
              </p:ext>
            </p:extLst>
          </p:nvPr>
        </p:nvGraphicFramePr>
        <p:xfrm>
          <a:off x="1581912" y="986629"/>
          <a:ext cx="7315200" cy="18288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657600">
                  <a:extLst>
                    <a:ext uri="{9D8B030D-6E8A-4147-A177-3AD203B41FA5}">
                      <a16:colId xmlns="" xmlns:a16="http://schemas.microsoft.com/office/drawing/2014/main" val="3761027619"/>
                    </a:ext>
                  </a:extLst>
                </a:gridCol>
                <a:gridCol w="3657600">
                  <a:extLst>
                    <a:ext uri="{9D8B030D-6E8A-4147-A177-3AD203B41FA5}">
                      <a16:colId xmlns="" xmlns:a16="http://schemas.microsoft.com/office/drawing/2014/main" val="299650279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Observations</a:t>
                      </a:r>
                      <a:endParaRPr lang="x-none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Questions</a:t>
                      </a:r>
                      <a:endParaRPr lang="x-none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27837646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71431965"/>
                  </a:ext>
                </a:extLst>
              </a:tr>
            </a:tbl>
          </a:graphicData>
        </a:graphic>
      </p:graphicFrame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aphicFrame>
        <p:nvGraphicFramePr>
          <p:cNvPr id="13" name="Table 12">
            <a:extLst>
              <a:ext uri="{FF2B5EF4-FFF2-40B4-BE49-F238E27FC236}">
                <a16:creationId xmlns="" xmlns:a16="http://schemas.microsoft.com/office/drawing/2014/main" id="{74AF0A4F-11B1-F541-AF83-BD831CEB8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906704"/>
              </p:ext>
            </p:extLst>
          </p:nvPr>
        </p:nvGraphicFramePr>
        <p:xfrm>
          <a:off x="1581912" y="3729829"/>
          <a:ext cx="7315200" cy="18288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657600">
                  <a:extLst>
                    <a:ext uri="{9D8B030D-6E8A-4147-A177-3AD203B41FA5}">
                      <a16:colId xmlns="" xmlns:a16="http://schemas.microsoft.com/office/drawing/2014/main" val="3761027619"/>
                    </a:ext>
                  </a:extLst>
                </a:gridCol>
                <a:gridCol w="3657600">
                  <a:extLst>
                    <a:ext uri="{9D8B030D-6E8A-4147-A177-3AD203B41FA5}">
                      <a16:colId xmlns="" xmlns:a16="http://schemas.microsoft.com/office/drawing/2014/main" val="299650279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Observations</a:t>
                      </a:r>
                      <a:endParaRPr lang="x-none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Questions</a:t>
                      </a:r>
                      <a:endParaRPr lang="x-none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27837646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x-none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71431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5228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3114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155C7B72-275F-774C-9FE1-C0B241B192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95755" y="1207030"/>
            <a:ext cx="4907845" cy="4907845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529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graph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</m:t>
                    </m:r>
                    <m:f>
                      <m:fPr>
                        <m:ctrlP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−2 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is shown on the coordinate grid. 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529504"/>
              </a:xfrm>
              <a:prstGeom prst="rect">
                <a:avLst/>
              </a:prstGeom>
              <a:blipFill rotWithShape="1">
                <a:blip r:embed="rId5"/>
                <a:stretch>
                  <a:fillRect l="-609" b="-5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14666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3736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Draw a line that is perpendicular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</m:t>
                    </m:r>
                    <m:f>
                      <m:fPr>
                        <m:ctrlP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−2 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and goes through the point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(5,−4)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by using the corner of a sheet of paper for a right angle.</a:t>
                </a:r>
              </a:p>
              <a:p>
                <a:pPr marL="514350" indent="-51435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Use your observations and the line you drew to determine the slope that completes the equation of the line that is perpendicular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</m:t>
                    </m:r>
                    <m:f>
                      <m:fPr>
                        <m:ctrlPr>
                          <a:rPr lang="en-US" sz="2000" i="1" dirty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den>
                    </m:f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−2 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and passes through the point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(5,−4)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514350" indent="-51435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+4=_______(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−5)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3736664"/>
              </a:xfrm>
              <a:prstGeom prst="rect">
                <a:avLst/>
              </a:prstGeom>
              <a:blipFill rotWithShape="1">
                <a:blip r:embed="rId4"/>
                <a:stretch>
                  <a:fillRect b="-9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06566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="" xmlns:a16="http://schemas.microsoft.com/office/drawing/2014/main" id="{4704F5CE-DFD5-B84B-BC6D-2EF3B9847C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70114" y="1040505"/>
            <a:ext cx="5159127" cy="5159127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graph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−5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=−20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is shown on the coordinate grid. 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400110"/>
              </a:xfrm>
              <a:prstGeom prst="rect">
                <a:avLst/>
              </a:prstGeom>
              <a:blipFill rotWithShape="1">
                <a:blip r:embed="rId5"/>
                <a:stretch>
                  <a:fillRect l="-609" t="-9091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62579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Draw a line that is perpendicular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−5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=−20 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and goes through the point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(2, 2)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by using the corner of a sheet of paper for a right angle.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Use your observations and the line you drew to determine the slope that completes the equation of the line that is perpendicular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−5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=−20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and passes through the point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(2, 2)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−2=_______(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−2)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3477875"/>
              </a:xfrm>
              <a:prstGeom prst="rect">
                <a:avLst/>
              </a:prstGeom>
              <a:blipFill rotWithShape="1">
                <a:blip r:embed="rId4"/>
                <a:stretch>
                  <a:fillRect t="-1051" r="-885" b="-1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80680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hart, line chart&#10;&#10;Description automatically generated">
            <a:extLst>
              <a:ext uri="{FF2B5EF4-FFF2-40B4-BE49-F238E27FC236}">
                <a16:creationId xmlns="" xmlns:a16="http://schemas.microsoft.com/office/drawing/2014/main" id="{EB9E3130-1E17-EA4E-ADA0-257A05F90C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2796" y="1102061"/>
            <a:ext cx="4993764" cy="4993764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graph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−5=2(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−1)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is shown on the coordinate grid.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400110"/>
              </a:xfrm>
              <a:prstGeom prst="rect">
                <a:avLst/>
              </a:prstGeom>
              <a:blipFill rotWithShape="1">
                <a:blip r:embed="rId5"/>
                <a:stretch>
                  <a:fillRect l="-609" t="-9091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1821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Draw a line that is perpendicular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−5=2(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−1) </m:t>
                    </m:r>
                  </m:oMath>
                </a14:m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goes through the point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(−5, 4)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by using the </a:t>
                </a:r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corner </a:t>
                </a: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of a sheet of paper for a right angle.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Write the equation of the line that is perpendicular </a:t>
                </a:r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−5=2(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−1) 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at the point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(−5, 4)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2246769"/>
              </a:xfrm>
              <a:prstGeom prst="rect">
                <a:avLst/>
              </a:prstGeom>
              <a:blipFill rotWithShape="1">
                <a:blip r:embed="rId4"/>
                <a:stretch>
                  <a:fillRect t="-1626" b="-3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06778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Chart&#10;&#10;Description automatically generated">
            <a:extLst>
              <a:ext uri="{FF2B5EF4-FFF2-40B4-BE49-F238E27FC236}">
                <a16:creationId xmlns="" xmlns:a16="http://schemas.microsoft.com/office/drawing/2014/main" id="{ACB540C2-6A00-D045-A917-5F9C87F8CF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33583" y="1102150"/>
            <a:ext cx="5098167" cy="5098167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The graph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=4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shown on the coordinate grid. </a:t>
                </a:r>
                <a:endParaRPr lang="x-none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400110"/>
              </a:xfrm>
              <a:prstGeom prst="rect">
                <a:avLst/>
              </a:prstGeom>
              <a:blipFill rotWithShape="1">
                <a:blip r:embed="rId5"/>
                <a:stretch>
                  <a:fillRect l="-609" t="-9091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85047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4291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a line that is perpendicular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goes through the point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(−3, −2)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 </a:t>
                </a:r>
              </a:p>
              <a:p>
                <a:pPr marL="914400" indent="-44291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291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equation of the line that is perpendicular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that passes through the point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(−3, −2)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 conjecture about the slopes of perpendicular lines.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3477875"/>
              </a:xfrm>
              <a:prstGeom prst="rect">
                <a:avLst/>
              </a:prstGeom>
              <a:blipFill rotWithShape="1">
                <a:blip r:embed="rId4"/>
                <a:stretch>
                  <a:fillRect l="-609" t="-1051" b="-2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8982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13;g104476d1465_1_39"/>
          <p:cNvSpPr txBox="1">
            <a:spLocks/>
          </p:cNvSpPr>
          <p:nvPr/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Google Shape;450;g103996e1364_0_457">
            <a:extLst>
              <a:ext uri="{FF2B5EF4-FFF2-40B4-BE49-F238E27FC236}">
                <a16:creationId xmlns=""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839AB25B-4EAC-9E43-ABB1-E9FBE43F3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242205"/>
              </p:ext>
            </p:extLst>
          </p:nvPr>
        </p:nvGraphicFramePr>
        <p:xfrm>
          <a:off x="1299920" y="2305987"/>
          <a:ext cx="7800556" cy="20574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796687">
                  <a:extLst>
                    <a:ext uri="{9D8B030D-6E8A-4147-A177-3AD203B41FA5}">
                      <a16:colId xmlns="" xmlns:a16="http://schemas.microsoft.com/office/drawing/2014/main" val="1805689610"/>
                    </a:ext>
                  </a:extLst>
                </a:gridCol>
                <a:gridCol w="2505942">
                  <a:extLst>
                    <a:ext uri="{9D8B030D-6E8A-4147-A177-3AD203B41FA5}">
                      <a16:colId xmlns="" xmlns:a16="http://schemas.microsoft.com/office/drawing/2014/main" val="858623567"/>
                    </a:ext>
                  </a:extLst>
                </a:gridCol>
                <a:gridCol w="2497927">
                  <a:extLst>
                    <a:ext uri="{9D8B030D-6E8A-4147-A177-3AD203B41FA5}">
                      <a16:colId xmlns="" xmlns:a16="http://schemas.microsoft.com/office/drawing/2014/main" val="35887375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Lines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Equations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27695918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Parallel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24387776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Perpendicular</a:t>
                      </a:r>
                      <a:endParaRPr lang="x-none" sz="14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85630593"/>
                  </a:ext>
                </a:extLst>
              </a:tr>
            </a:tbl>
          </a:graphicData>
        </a:graphic>
      </p:graphicFrame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0370EDB7-6994-3D43-ABF9-E04CBAFB9CD9}"/>
              </a:ext>
            </a:extLst>
          </p:cNvPr>
          <p:cNvSpPr txBox="1"/>
          <p:nvPr/>
        </p:nvSpPr>
        <p:spPr>
          <a:xfrm>
            <a:off x="730266" y="1376212"/>
            <a:ext cx="108003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Match the two lines that are parallel and the two lines that are perpendicular. Then, match the equations.</a:t>
            </a: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4.9.4 Wrap-Up: Ticket Out the Door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" name="Google Shape;46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3117544" y="847446"/>
            <a:ext cx="5979840" cy="5605168"/>
            <a:chOff x="3222319" y="951677"/>
            <a:chExt cx="5979840" cy="5605168"/>
          </a:xfrm>
        </p:grpSpPr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50A5D6D8-2781-4E43-A4AB-1A79A660F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22319" y="951677"/>
              <a:ext cx="2501723" cy="250172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="" xmlns:a16="http://schemas.microsoft.com/office/drawing/2014/main" id="{FE420DE0-E6BA-D54C-AFF0-AAD6362C8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00436" y="951677"/>
              <a:ext cx="2501723" cy="250172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="" xmlns:a16="http://schemas.microsoft.com/office/drawing/2014/main" id="{CBC33B74-7A71-0841-8D42-144F453B40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30067" y="4070620"/>
              <a:ext cx="2486225" cy="248622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="" xmlns:a16="http://schemas.microsoft.com/office/drawing/2014/main" id="{2DF4EE43-B9A5-754F-90F3-3D5F2C4200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08184" y="4070619"/>
              <a:ext cx="2486225" cy="2486225"/>
            </a:xfrm>
            <a:prstGeom prst="rect">
              <a:avLst/>
            </a:prstGeom>
          </p:spPr>
        </p:pic>
      </p:grp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F1EA65A7-5590-A045-962C-C693B3A8F1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951346"/>
              </p:ext>
            </p:extLst>
          </p:nvPr>
        </p:nvGraphicFramePr>
        <p:xfrm>
          <a:off x="2649816" y="310350"/>
          <a:ext cx="6949440" cy="621792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474720">
                  <a:extLst>
                    <a:ext uri="{9D8B030D-6E8A-4147-A177-3AD203B41FA5}">
                      <a16:colId xmlns="" xmlns:a16="http://schemas.microsoft.com/office/drawing/2014/main" val="2040615460"/>
                    </a:ext>
                  </a:extLst>
                </a:gridCol>
                <a:gridCol w="3474720">
                  <a:extLst>
                    <a:ext uri="{9D8B030D-6E8A-4147-A177-3AD203B41FA5}">
                      <a16:colId xmlns="" xmlns:a16="http://schemas.microsoft.com/office/drawing/2014/main" val="283300095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Line A</a:t>
                      </a:r>
                      <a:endParaRPr lang="x-none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9178" marR="49178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Line B</a:t>
                      </a:r>
                      <a:endParaRPr lang="x-none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9178" marR="49178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72989546"/>
                  </a:ext>
                </a:extLst>
              </a:tr>
              <a:tr h="26517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9178" marR="49178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9178" marR="49178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6413189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Line C</a:t>
                      </a:r>
                      <a:endParaRPr lang="x-none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9178" marR="49178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Line D</a:t>
                      </a:r>
                      <a:endParaRPr lang="x-none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9178" marR="49178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320771549"/>
                  </a:ext>
                </a:extLst>
              </a:tr>
              <a:tr h="26517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9178" marR="49178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9178" marR="49178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874752580"/>
                  </a:ext>
                </a:extLst>
              </a:tr>
            </a:tbl>
          </a:graphicData>
        </a:graphic>
      </p:graphicFrame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681164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1,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>
                <a:extLst>
                  <a:ext uri="{FF2B5EF4-FFF2-40B4-BE49-F238E27FC236}">
                    <a16:creationId xmlns="" xmlns:a16="http://schemas.microsoft.com/office/drawing/2014/main" id="{FFC1287C-6451-E844-9271-9603170B3B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6609453"/>
                  </p:ext>
                </p:extLst>
              </p:nvPr>
            </p:nvGraphicFramePr>
            <p:xfrm>
              <a:off x="2644721" y="309412"/>
              <a:ext cx="6949440" cy="36576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474720">
                      <a:extLst>
                        <a:ext uri="{9D8B030D-6E8A-4147-A177-3AD203B41FA5}">
                          <a16:colId xmlns="" xmlns:a16="http://schemas.microsoft.com/office/drawing/2014/main" val="3440942815"/>
                        </a:ext>
                      </a:extLst>
                    </a:gridCol>
                    <a:gridCol w="3474720">
                      <a:extLst>
                        <a:ext uri="{9D8B030D-6E8A-4147-A177-3AD203B41FA5}">
                          <a16:colId xmlns="" xmlns:a16="http://schemas.microsoft.com/office/drawing/2014/main" val="297522385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E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F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745166711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+2=</m:t>
                                </m:r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+9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=−21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221896325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G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H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935338969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=−6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+5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423124884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FFC1287C-6451-E844-9271-9603170B3B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6609453"/>
                  </p:ext>
                </p:extLst>
              </p:nvPr>
            </p:nvGraphicFramePr>
            <p:xfrm>
              <a:off x="2644721" y="309412"/>
              <a:ext cx="6949440" cy="36576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47472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3440942815"/>
                        </a:ext>
                      </a:extLst>
                    </a:gridCol>
                    <a:gridCol w="347472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97522385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E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F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745166711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75" t="-33778" r="-100000" b="-1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175" t="-33778" b="-1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221896325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G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Equation H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935338969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75" t="-167111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175" t="-167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423124884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402886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2946</TotalTime>
  <Words>984</Words>
  <Application>Microsoft Office PowerPoint</Application>
  <PresentationFormat>Custom</PresentationFormat>
  <Paragraphs>217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Arial</vt:lpstr>
      <vt:lpstr>Verdana</vt:lpstr>
      <vt:lpstr>Calibri</vt:lpstr>
      <vt:lpstr>Times New Roman</vt:lpstr>
      <vt:lpstr>Century Gothic</vt:lpstr>
      <vt:lpstr>Wingdings</vt:lpstr>
      <vt:lpstr>Cambria Math</vt:lpstr>
      <vt:lpstr>Arial Black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29</cp:revision>
  <dcterms:created xsi:type="dcterms:W3CDTF">2015-03-17T18:51:18Z</dcterms:created>
  <dcterms:modified xsi:type="dcterms:W3CDTF">2022-06-24T13:17:27Z</dcterms:modified>
</cp:coreProperties>
</file>