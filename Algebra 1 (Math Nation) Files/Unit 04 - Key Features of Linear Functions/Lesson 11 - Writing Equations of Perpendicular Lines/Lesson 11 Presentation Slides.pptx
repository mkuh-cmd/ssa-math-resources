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4" r:id="rId9"/>
    <p:sldId id="345" r:id="rId10"/>
    <p:sldId id="289" r:id="rId11"/>
    <p:sldId id="290" r:id="rId12"/>
    <p:sldId id="308" r:id="rId13"/>
    <p:sldId id="337" r:id="rId14"/>
    <p:sldId id="336" r:id="rId15"/>
    <p:sldId id="332" r:id="rId16"/>
    <p:sldId id="333" r:id="rId17"/>
    <p:sldId id="334" r:id="rId18"/>
    <p:sldId id="340" r:id="rId19"/>
    <p:sldId id="339" r:id="rId20"/>
    <p:sldId id="320" r:id="rId21"/>
    <p:sldId id="321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6040202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BFBFBF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743"/>
    <p:restoredTop sz="94694"/>
  </p:normalViewPr>
  <p:slideViewPr>
    <p:cSldViewPr snapToGrid="0">
      <p:cViewPr varScale="1">
        <p:scale>
          <a:sx n="124" d="100"/>
          <a:sy n="124" d="100"/>
        </p:scale>
        <p:origin x="15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5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96056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075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686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7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9632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031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3811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0838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1437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604721" y="2054275"/>
            <a:ext cx="520139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11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Equations of Perpendicular Lines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220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749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MA.912.AR.2.3 </a:t>
            </a:r>
          </a:p>
          <a:p>
            <a:pPr marL="552450" lvl="1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linear two-variable equation for a line that is parallel or perpendicular to a given line and goes through a given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perpendicular to a given line through a given point.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perpendicular to a given line when given two points.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perpendicular to a given line when given a point and the slope.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B02B8B-3F83-FE4A-8805-A9DDA162BC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6029" y="2090558"/>
            <a:ext cx="4367241" cy="4367241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3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4.11.1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Horizontal and Vertical Lines</a:t>
            </a:r>
          </a:p>
        </p:txBody>
      </p:sp>
      <p:pic>
        <p:nvPicPr>
          <p:cNvPr id="24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497535"/>
                <a:ext cx="110515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lines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 on the coordinate grid.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497535"/>
                <a:ext cx="11051576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607" t="-769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3DA57C9-ECB0-5D4F-8F9A-2994290DDA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397137"/>
                  </p:ext>
                </p:extLst>
              </p:nvPr>
            </p:nvGraphicFramePr>
            <p:xfrm>
              <a:off x="2057708" y="1128180"/>
              <a:ext cx="7983940" cy="30509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08710">
                      <a:extLst>
                        <a:ext uri="{9D8B030D-6E8A-4147-A177-3AD203B41FA5}">
                          <a16:colId xmlns:a16="http://schemas.microsoft.com/office/drawing/2014/main" val="2270981839"/>
                        </a:ext>
                      </a:extLst>
                    </a:gridCol>
                    <a:gridCol w="1747302">
                      <a:extLst>
                        <a:ext uri="{9D8B030D-6E8A-4147-A177-3AD203B41FA5}">
                          <a16:colId xmlns:a16="http://schemas.microsoft.com/office/drawing/2014/main" val="1125268456"/>
                        </a:ext>
                      </a:extLst>
                    </a:gridCol>
                    <a:gridCol w="4627928">
                      <a:extLst>
                        <a:ext uri="{9D8B030D-6E8A-4147-A177-3AD203B41FA5}">
                          <a16:colId xmlns:a16="http://schemas.microsoft.com/office/drawing/2014/main" val="24762165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9395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If I start at the point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−5, 0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 can go up 2 and still be on the line. In terms of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𝑟𝑖𝑠𝑒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 rise 2 and run 0.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89035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If I start at the point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0, 3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 can go up 0 and over 2 and still be on the line. In terms of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𝑟𝑖𝑠𝑒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 rise 0 and run 2.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2905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3DA57C9-ECB0-5D4F-8F9A-2994290DDA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397137"/>
                  </p:ext>
                </p:extLst>
              </p:nvPr>
            </p:nvGraphicFramePr>
            <p:xfrm>
              <a:off x="2057708" y="1128180"/>
              <a:ext cx="7983940" cy="30509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0871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70981839"/>
                        </a:ext>
                      </a:extLst>
                    </a:gridCol>
                    <a:gridCol w="174730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25268456"/>
                        </a:ext>
                      </a:extLst>
                    </a:gridCol>
                    <a:gridCol w="46279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762165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69395748"/>
                      </a:ext>
                    </a:extLst>
                  </a:tr>
                  <a:tr h="11444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9" t="-39894" r="-396212" b="-136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2657" t="-39894" r="-265734" b="-136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2596" t="-39894" r="-132" b="-1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8903525"/>
                      </a:ext>
                    </a:extLst>
                  </a:tr>
                  <a:tr h="14492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9" t="-110504" r="-396212" b="-7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2657" t="-110504" r="-265734" b="-7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2596" t="-110504" r="-132" b="-7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52905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032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Rodrigo completed the table for the lines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33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7525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 another slope Rodrigo could have used for each line.</a:t>
                </a: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  <a:tabLst>
                    <a:tab pos="102298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passes through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(2, 1)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parallel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524315"/>
              </a:xfrm>
              <a:prstGeom prst="rect">
                <a:avLst/>
              </a:prstGeom>
              <a:blipFill rotWithShape="1">
                <a:blip r:embed="rId3"/>
                <a:stretch>
                  <a:fillRect l="-332" t="-1077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2310848-E3DB-474E-B3F3-AE59CEEF60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157683"/>
                  </p:ext>
                </p:extLst>
              </p:nvPr>
            </p:nvGraphicFramePr>
            <p:xfrm>
              <a:off x="4280164" y="1218697"/>
              <a:ext cx="3189605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31620">
                      <a:extLst>
                        <a:ext uri="{9D8B030D-6E8A-4147-A177-3AD203B41FA5}">
                          <a16:colId xmlns:a16="http://schemas.microsoft.com/office/drawing/2014/main" val="2878731002"/>
                        </a:ext>
                      </a:extLst>
                    </a:gridCol>
                    <a:gridCol w="1657985">
                      <a:extLst>
                        <a:ext uri="{9D8B030D-6E8A-4147-A177-3AD203B41FA5}">
                          <a16:colId xmlns:a16="http://schemas.microsoft.com/office/drawing/2014/main" val="180631237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245760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175174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407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310848-E3DB-474E-B3F3-AE59CEEF60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157683"/>
                  </p:ext>
                </p:extLst>
              </p:nvPr>
            </p:nvGraphicFramePr>
            <p:xfrm>
              <a:off x="4280164" y="1218697"/>
              <a:ext cx="3189605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316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78731002"/>
                        </a:ext>
                      </a:extLst>
                    </a:gridCol>
                    <a:gridCol w="16579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0631237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4245760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0667" r="-10876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9175174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50667" r="-10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407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066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0375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passes through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(2, 1)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parallel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point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30" t="-1449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946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4.11.2 Guided Instruction: Writing Equations of Perpendicular Lines Through a Point</a:t>
            </a: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4"/>
                <a:ext cx="67510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Warm-Up, what is the relationship between the lines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=−5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Two lines are graphed on the coordinate grid. The lines are perpendicular to each other.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4"/>
                <a:ext cx="6751020" cy="1938992"/>
              </a:xfrm>
              <a:prstGeom prst="rect">
                <a:avLst/>
              </a:prstGeom>
              <a:blipFill rotWithShape="1">
                <a:blip r:embed="rId6"/>
                <a:stretch>
                  <a:fillRect l="-903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B221DE9-8950-2748-6420-DBB6BB149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964" y="1149549"/>
            <a:ext cx="4507291" cy="455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140703-ADB5-D44A-9B7D-71CB564AE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99270"/>
              </p:ext>
            </p:extLst>
          </p:nvPr>
        </p:nvGraphicFramePr>
        <p:xfrm>
          <a:off x="1668463" y="1243600"/>
          <a:ext cx="5026025" cy="2286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537075901"/>
                    </a:ext>
                  </a:extLst>
                </a:gridCol>
                <a:gridCol w="3368675">
                  <a:extLst>
                    <a:ext uri="{9D8B030D-6E8A-4147-A177-3AD203B41FA5}">
                      <a16:colId xmlns:a16="http://schemas.microsoft.com/office/drawing/2014/main" val="38761276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Slope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538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Purple</a:t>
                      </a:r>
                      <a:endParaRPr lang="x-none" sz="1400" dirty="0">
                        <a:solidFill>
                          <a:srgbClr val="7030A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29111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Blue</a:t>
                      </a:r>
                      <a:endParaRPr lang="x-none" sz="14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05170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44956" y="479475"/>
            <a:ext cx="10886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slope of each line.</a:t>
            </a:r>
          </a:p>
        </p:txBody>
      </p:sp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44956" y="479475"/>
            <a:ext cx="108861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 of the </a:t>
            </a:r>
            <a:r>
              <a:rPr lang="en-US" sz="2400" dirty="0">
                <a:solidFill>
                  <a:srgbClr val="7030A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purple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line.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 of the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blue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line.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to write the equation of a line that is perpendicular to another line. Write notes from the discussion.</a:t>
            </a:r>
          </a:p>
        </p:txBody>
      </p:sp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line, in all three forms, that is perpendicular to the line that passes through the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(−5, 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(3, 2)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(4, 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616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356514" y="479475"/>
            <a:ext cx="7751929" cy="885349"/>
            <a:chOff x="2356514" y="479475"/>
            <a:chExt cx="7751929" cy="885349"/>
          </a:xfrm>
        </p:grpSpPr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3DDA4CFF-C191-BC41-A861-8CF10A87DDB6}"/>
                </a:ext>
              </a:extLst>
            </p:cNvPr>
            <p:cNvSpPr txBox="1"/>
            <p:nvPr/>
          </p:nvSpPr>
          <p:spPr>
            <a:xfrm>
              <a:off x="2356514" y="479475"/>
              <a:ext cx="7751929" cy="885349"/>
            </a:xfrm>
            <a:prstGeom prst="roundRect">
              <a:avLst/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Lines are</a:t>
              </a:r>
              <a:r>
                <a:rPr lang="en-US" sz="2000" b="1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perpendicular </a:t>
              </a:r>
              <a:r>
                <a:rPr lang="en-US" sz="20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if the slopes are opposites and reciprocals. </a:t>
              </a:r>
              <a:endParaRPr lang="x-none" dirty="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564EF1D7-0DCB-C94F-B36E-732C431A6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31612" y="633608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47465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50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54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5588D22E-D380-E944-BE2D-E6F88BC377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3532" y="2059495"/>
            <a:ext cx="4396169" cy="439616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4.11.3 Guided Practice: Writing Equations of Perpendicular Lines Through a Point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19" y="1491419"/>
            <a:ext cx="10758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following graph.</a:t>
            </a:r>
          </a:p>
        </p:txBody>
      </p:sp>
    </p:spTree>
    <p:extLst>
      <p:ext uri="{BB962C8B-B14F-4D97-AF65-F5344CB8AC3E}">
        <p14:creationId xmlns:p14="http://schemas.microsoft.com/office/powerpoint/2010/main" val="2378724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5628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is perpendicular to the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line shown on the coordinate grid and passes through the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(5, 2)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point where the two lines intersect?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5628" cy="3785652"/>
              </a:xfrm>
              <a:prstGeom prst="rect">
                <a:avLst/>
              </a:prstGeom>
              <a:blipFill rotWithShape="1">
                <a:blip r:embed="rId4"/>
                <a:stretch>
                  <a:fillRect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034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562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line, in all three forms, that is perpendicular to the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goes through the 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(0, 7)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5628" cy="1200329"/>
              </a:xfrm>
              <a:prstGeom prst="rect">
                <a:avLst/>
              </a:prstGeom>
              <a:blipFill rotWithShape="1">
                <a:blip r:embed="rId4"/>
                <a:stretch>
                  <a:fillRect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46857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642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46857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54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5628" cy="136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line, in all three forms, that is perpendicular to the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−8=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goes through the point,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(−10, 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5628" cy="1360885"/>
              </a:xfrm>
              <a:prstGeom prst="rect">
                <a:avLst/>
              </a:prstGeom>
              <a:blipFill rotWithShape="1">
                <a:blip r:embed="rId4"/>
                <a:stretch>
                  <a:fillRect l="-896" t="-3587" b="-8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802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4.11.4 Your Turn!</a:t>
            </a:r>
          </a:p>
        </p:txBody>
      </p:sp>
      <p:pic>
        <p:nvPicPr>
          <p:cNvPr id="14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(6, −8)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perpendicular to the line that passes through the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(−7, −12)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(−7, 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perpendicular to the line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=−48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2862322"/>
              </a:xfrm>
              <a:prstGeom prst="rect">
                <a:avLst/>
              </a:prstGeom>
              <a:blipFill rotWithShape="1">
                <a:blip r:embed="rId5"/>
                <a:stretch>
                  <a:fillRect l="-621"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3" name="Group 2"/>
          <p:cNvGrpSpPr/>
          <p:nvPr/>
        </p:nvGrpSpPr>
        <p:grpSpPr>
          <a:xfrm>
            <a:off x="1367925" y="2121074"/>
            <a:ext cx="9144000" cy="3997255"/>
            <a:chOff x="1905754" y="2111135"/>
            <a:chExt cx="9144000" cy="3997255"/>
          </a:xfrm>
        </p:grpSpPr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F5D50D6E-F2CA-D54C-8757-BC2EB92CC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754" y="2111135"/>
              <a:ext cx="4572000" cy="13390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One question I would like to have answered …</a:t>
              </a:r>
              <a:endParaRPr lang="x-none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C594B21F-34D4-894D-88BA-DFC62544E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754" y="3442807"/>
              <a:ext cx="4572000" cy="13390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One mistake I learned from </a:t>
              </a:r>
              <a:b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today …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FFE1F159-5416-6045-A8A4-D15B484E1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754" y="3442537"/>
              <a:ext cx="4572000" cy="13390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One thing I am not sure about … YET!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DEFCB9E0-7906-3B45-A145-371E9FC01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754" y="4769300"/>
              <a:ext cx="9144000" cy="13390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One thing I am confident I know is …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4.11.5 Wrap-Up: Reflection</a:t>
            </a: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learning pyramid.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1020</Words>
  <Application>Microsoft Macintosh PowerPoint</Application>
  <PresentationFormat>Widescreen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Century Gothic</vt:lpstr>
      <vt:lpstr>Cambria</vt:lpstr>
      <vt:lpstr>Calibri</vt:lpstr>
      <vt:lpstr>Arial Black</vt:lpstr>
      <vt:lpstr>Cambria Math</vt:lpstr>
      <vt:lpstr>Arial</vt:lpstr>
      <vt:lpstr>Wingdings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22</cp:revision>
  <dcterms:created xsi:type="dcterms:W3CDTF">2015-03-17T18:51:18Z</dcterms:created>
  <dcterms:modified xsi:type="dcterms:W3CDTF">2022-07-29T21:03:52Z</dcterms:modified>
</cp:coreProperties>
</file>