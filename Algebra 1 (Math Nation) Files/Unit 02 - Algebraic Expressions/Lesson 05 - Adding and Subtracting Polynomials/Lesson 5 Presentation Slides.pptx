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345" r:id="rId4"/>
    <p:sldId id="286" r:id="rId5"/>
    <p:sldId id="261" r:id="rId6"/>
    <p:sldId id="287" r:id="rId7"/>
    <p:sldId id="346" r:id="rId8"/>
    <p:sldId id="347" r:id="rId9"/>
    <p:sldId id="348" r:id="rId10"/>
    <p:sldId id="349" r:id="rId11"/>
    <p:sldId id="388" r:id="rId12"/>
    <p:sldId id="385" r:id="rId13"/>
    <p:sldId id="314" r:id="rId14"/>
    <p:sldId id="315" r:id="rId15"/>
    <p:sldId id="316" r:id="rId16"/>
    <p:sldId id="383" r:id="rId17"/>
    <p:sldId id="376" r:id="rId18"/>
    <p:sldId id="377" r:id="rId19"/>
    <p:sldId id="378" r:id="rId20"/>
    <p:sldId id="354" r:id="rId21"/>
    <p:sldId id="355" r:id="rId22"/>
    <p:sldId id="387" r:id="rId23"/>
    <p:sldId id="306" r:id="rId24"/>
    <p:sldId id="307" r:id="rId25"/>
    <p:sldId id="384" r:id="rId26"/>
  </p:sldIdLst>
  <p:sldSz cx="12192000" cy="6858000"/>
  <p:notesSz cx="6858000" cy="9144000"/>
  <p:embeddedFontLst>
    <p:embeddedFont>
      <p:font typeface="Arial Black" panose="020B0604020202020204" pitchFamily="34" charset="0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" panose="02040503050406030204" pitchFamily="18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Century Gothic" panose="020B0502020202020204" pitchFamily="34" charset="0"/>
      <p:regular r:id="rId38"/>
      <p:bold r:id="rId39"/>
      <p:italic r:id="rId40"/>
      <p:boldItalic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B59"/>
    <a:srgbClr val="F26763"/>
    <a:srgbClr val="E24E5F"/>
    <a:srgbClr val="1765AD"/>
    <a:srgbClr val="1664AC"/>
    <a:srgbClr val="BFBFBF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20452"/>
    <p:restoredTop sz="94694"/>
  </p:normalViewPr>
  <p:slideViewPr>
    <p:cSldViewPr snapToGrid="0">
      <p:cViewPr varScale="1">
        <p:scale>
          <a:sx n="67" d="100"/>
          <a:sy n="67" d="100"/>
        </p:scale>
        <p:origin x="176" y="19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163282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/>
              <a:t>/medias/fi4fidi5y8</a:t>
            </a: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8512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4441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2265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49622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9113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64813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9076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3403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42099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6788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1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5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Adding and Subtracting Polynomials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79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MA.912.AR.1.3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Add, subtract and multiply polynomial expressions with rational number coefficients.</a:t>
            </a: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id="{983DCB5F-2CE8-A74F-A579-F39E2E9337FB}"/>
              </a:ext>
            </a:extLst>
          </p:cNvPr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7CC83FF-5C83-CD42-A75D-B443F14E1C1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1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1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add and subtract polynomials. 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3D2F04D-C861-A149-B5F8-A913FBED75A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479008" y="1497537"/>
            <a:ext cx="1143049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classified advertisement shown is an example of a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math fail.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advertisement that makes it a math fail?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766" y="411777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0CD40667-98C3-7A43-A8EC-50FA988E094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Picture 13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38B92BF0-A18D-5E48-B6D3-5785BFC553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4955" y="2134107"/>
            <a:ext cx="5418600" cy="2820288"/>
          </a:xfrm>
          <a:prstGeom prst="rect">
            <a:avLst/>
          </a:prstGeom>
        </p:spPr>
      </p:pic>
      <p:sp>
        <p:nvSpPr>
          <p:cNvPr id="17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2.5.1 Warm-Up: Math Fail</a:t>
            </a:r>
          </a:p>
        </p:txBody>
      </p:sp>
      <p:pic>
        <p:nvPicPr>
          <p:cNvPr id="18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80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image2.png" descr="Icon&#10;&#10;Description automatically generated">
            <a:extLst>
              <a:ext uri="{FF2B5EF4-FFF2-40B4-BE49-F238E27FC236}">
                <a16:creationId xmlns:a16="http://schemas.microsoft.com/office/drawing/2014/main" id="{B8663E50-D763-C343-96E8-FEAEDD7FA21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06717" y="2849920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45130" y="1386025"/>
                <a:ext cx="10985454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following are examples of like terms.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PH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Discuss with your partner why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sSup>
                      <m:sSup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altLang="en-US" sz="200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sSup>
                      <m:sSup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en-US" sz="200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not like terms. Summarize your discussion.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30" y="1386025"/>
                <a:ext cx="10985454" cy="4093428"/>
              </a:xfrm>
              <a:prstGeom prst="rect">
                <a:avLst/>
              </a:prstGeom>
              <a:blipFill rotWithShape="1">
                <a:blip r:embed="rId3"/>
                <a:stretch>
                  <a:fillRect l="-555" r="-1331" b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80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9622397-070C-784E-9D56-0D275AB5F79D}"/>
              </a:ext>
            </a:extLst>
          </p:cNvPr>
          <p:cNvGrpSpPr/>
          <p:nvPr/>
        </p:nvGrpSpPr>
        <p:grpSpPr>
          <a:xfrm>
            <a:off x="2200192" y="1372767"/>
            <a:ext cx="7748558" cy="925076"/>
            <a:chOff x="0" y="-162010"/>
            <a:chExt cx="7748558" cy="92522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5C4C83C-4432-0040-B16B-9B68A235A801}"/>
                </a:ext>
              </a:extLst>
            </p:cNvPr>
            <p:cNvGrpSpPr/>
            <p:nvPr/>
          </p:nvGrpSpPr>
          <p:grpSpPr>
            <a:xfrm>
              <a:off x="0" y="-162010"/>
              <a:ext cx="7748558" cy="925227"/>
              <a:chOff x="2031300" y="3178996"/>
              <a:chExt cx="7748558" cy="1186784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00048E1-62B8-2846-A240-A84CAC530EA2}"/>
                  </a:ext>
                </a:extLst>
              </p:cNvPr>
              <p:cNvGrpSpPr/>
              <p:nvPr/>
            </p:nvGrpSpPr>
            <p:grpSpPr>
              <a:xfrm>
                <a:off x="2031300" y="3178996"/>
                <a:ext cx="7748558" cy="1186784"/>
                <a:chOff x="0" y="-207812"/>
                <a:chExt cx="7748558" cy="1186784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84C813D8-1F0B-A144-90B6-FDFD2CE04ED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95FFAF6-7A0F-3243-BACF-72E07A8EE76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1FED3130-042C-154A-9E60-ACC7CEAA29C2}"/>
                    </a:ext>
                  </a:extLst>
                </p:cNvPr>
                <p:cNvSpPr/>
                <p:nvPr/>
              </p:nvSpPr>
              <p:spPr>
                <a:xfrm>
                  <a:off x="0" y="-207812"/>
                  <a:ext cx="7748558" cy="118678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91440" rIns="91425" bIns="0" anchor="ctr" anchorCtr="0">
                  <a:spAutoFit/>
                </a:bodyPr>
                <a:lstStyle/>
                <a:p>
                  <a:pPr marL="742950">
                    <a:spcAft>
                      <a:spcPts val="1000"/>
                    </a:spcAft>
                  </a:pPr>
                  <a:r>
                    <a:rPr lang="en-US" sz="2000" b="1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Like terms</a:t>
                  </a:r>
                  <a:r>
                    <a:rPr lang="en-US" sz="200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are those whose variable(s) and their corresponding exponents are the same.</a:t>
                  </a:r>
                  <a:endParaRPr lang="x-none" sz="20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pic>
          <p:nvPicPr>
            <p:cNvPr id="13" name="image15.png" descr="Icon&#10;&#10;Description automatically generated">
              <a:extLst>
                <a:ext uri="{FF2B5EF4-FFF2-40B4-BE49-F238E27FC236}">
                  <a16:creationId xmlns:a16="http://schemas.microsoft.com/office/drawing/2014/main" id="{3CF82D8A-A298-0347-9945-109C2C312549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07817" y="7631"/>
              <a:ext cx="539750" cy="53975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18503FE-42DA-C24E-8E40-6F662E642E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2258579"/>
                  </p:ext>
                </p:extLst>
              </p:nvPr>
            </p:nvGraphicFramePr>
            <p:xfrm>
              <a:off x="2261064" y="3326099"/>
              <a:ext cx="7784173" cy="112699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03966">
                      <a:extLst>
                        <a:ext uri="{9D8B030D-6E8A-4147-A177-3AD203B41FA5}">
                          <a16:colId xmlns:a16="http://schemas.microsoft.com/office/drawing/2014/main" val="912697721"/>
                        </a:ext>
                      </a:extLst>
                    </a:gridCol>
                    <a:gridCol w="4580207">
                      <a:extLst>
                        <a:ext uri="{9D8B030D-6E8A-4147-A177-3AD203B41FA5}">
                          <a16:colId xmlns:a16="http://schemas.microsoft.com/office/drawing/2014/main" val="1945165834"/>
                        </a:ext>
                      </a:extLst>
                    </a:gridCol>
                  </a:tblGrid>
                  <a:tr h="5137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Example 1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Example 2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980779"/>
                      </a:ext>
                    </a:extLst>
                  </a:tr>
                  <a:tr h="5137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3.7</m:t>
                              </m:r>
                              <m:r>
                                <a:rPr lang="en-US" sz="2000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x-none" sz="2000" i="1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−12</m:t>
                              </m:r>
                              <m:r>
                                <a:rPr lang="en-US" sz="2000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x-none" sz="2000" i="1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sSup>
                                <m:sSupPr>
                                  <m:ctrlPr>
                                    <a:rPr lang="x-none" sz="2000" i="1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x-none" sz="2000" i="1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81</m:t>
                              </m:r>
                              <m:sSup>
                                <m:sSupPr>
                                  <m:ctrlPr>
                                    <a:rPr lang="x-none" sz="2000" i="1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sSup>
                                <m:sSupPr>
                                  <m:ctrlPr>
                                    <a:rPr lang="x-none" sz="2000" i="1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>
                              <a:solidFill>
                                <a:srgbClr val="7030A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and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x-none" sz="2000" i="1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x-none" sz="2000" i="1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oMath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884555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18503FE-42DA-C24E-8E40-6F662E642E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2258579"/>
                  </p:ext>
                </p:extLst>
              </p:nvPr>
            </p:nvGraphicFramePr>
            <p:xfrm>
              <a:off x="2261064" y="3326099"/>
              <a:ext cx="7784173" cy="112699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0396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912697721"/>
                        </a:ext>
                      </a:extLst>
                    </a:gridCol>
                    <a:gridCol w="458020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945165834"/>
                        </a:ext>
                      </a:extLst>
                    </a:gridCol>
                  </a:tblGrid>
                  <a:tr h="5137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Example 1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Example 2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77980779"/>
                      </a:ext>
                    </a:extLst>
                  </a:tr>
                  <a:tr h="6132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90" t="-85000" r="-142776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70173" t="-85000" b="-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0884555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284465"/>
            <a:ext cx="1095738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2.5.2 Guided Instruction: Adding Polynomials</a:t>
            </a:r>
          </a:p>
        </p:txBody>
      </p:sp>
      <p:pic>
        <p:nvPicPr>
          <p:cNvPr id="1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5350" y="178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80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C5BDF10-9E0A-164B-802B-62375C18A9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033735"/>
                  </p:ext>
                </p:extLst>
              </p:nvPr>
            </p:nvGraphicFramePr>
            <p:xfrm>
              <a:off x="3473208" y="1473242"/>
              <a:ext cx="5029200" cy="499395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1032624226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3328379362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60224551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Column A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Column B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8085883"/>
                      </a:ext>
                    </a:extLst>
                  </a:tr>
                  <a:tr h="74980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9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𝑦𝑥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50150619"/>
                      </a:ext>
                    </a:extLst>
                  </a:tr>
                  <a:tr h="74980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𝑥𝑦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2065348"/>
                      </a:ext>
                    </a:extLst>
                  </a:tr>
                  <a:tr h="74980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0.2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03663964"/>
                      </a:ext>
                    </a:extLst>
                  </a:tr>
                  <a:tr h="74980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−2.9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77115361"/>
                      </a:ext>
                    </a:extLst>
                  </a:tr>
                  <a:tr h="74980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−1.6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−7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22522953"/>
                      </a:ext>
                    </a:extLst>
                  </a:tr>
                  <a:tr h="74980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−6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−3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622365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C5BDF10-9E0A-164B-802B-62375C18A9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033735"/>
                  </p:ext>
                </p:extLst>
              </p:nvPr>
            </p:nvGraphicFramePr>
            <p:xfrm>
              <a:off x="3473208" y="1473242"/>
              <a:ext cx="5029200" cy="499395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032624226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328379362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602245517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Column A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Column B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68085883"/>
                      </a:ext>
                    </a:extLst>
                  </a:tr>
                  <a:tr h="749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33" t="-65854" r="-175000" b="-5008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75333" t="-65854" b="-5008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550150619"/>
                      </a:ext>
                    </a:extLst>
                  </a:tr>
                  <a:tr h="749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33" t="-165854" r="-175000" b="-4008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75333" t="-165854" b="-4008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872065348"/>
                      </a:ext>
                    </a:extLst>
                  </a:tr>
                  <a:tr h="7534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33" t="-265854" r="-175000" b="-3008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75333" t="-265854" b="-3008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103663964"/>
                      </a:ext>
                    </a:extLst>
                  </a:tr>
                  <a:tr h="749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33" t="-365854" r="-175000" b="-2008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75333" t="-365854" b="-2008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777115361"/>
                      </a:ext>
                    </a:extLst>
                  </a:tr>
                  <a:tr h="749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33" t="-465854" r="-175000" b="-1008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75333" t="-465854" b="-1008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122522953"/>
                      </a:ext>
                    </a:extLst>
                  </a:tr>
                  <a:tr h="7535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33" t="-561290" r="-1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75333" t="-56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06223653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2"/>
            </a:pPr>
            <a:r>
              <a:rPr lang="en-US" altLang="en-US" sz="200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Draw an arrow to match the like terms between column A to column B. Then, check your matches with your partner.</a:t>
            </a:r>
          </a:p>
        </p:txBody>
      </p:sp>
    </p:spTree>
    <p:extLst>
      <p:ext uri="{BB962C8B-B14F-4D97-AF65-F5344CB8AC3E}">
        <p14:creationId xmlns:p14="http://schemas.microsoft.com/office/powerpoint/2010/main" val="202851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81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529507"/>
                  </p:ext>
                </p:extLst>
              </p:nvPr>
            </p:nvGraphicFramePr>
            <p:xfrm>
              <a:off x="2688415" y="3187700"/>
              <a:ext cx="7260336" cy="27432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157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157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b="1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𝟐</m:t>
                                    </m:r>
                                    <m:sSup>
                                      <m:sSupPr>
                                        <m:ctrlPr>
                                          <a:rPr lang="en-US" sz="2000" b="1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1" i="1">
                                            <a:effectLst/>
                                            <a:latin typeface="Cambria Math"/>
                                            <a:ea typeface="Times New Roman"/>
                                            <a:cs typeface="Times New Roman"/>
                                          </a:rPr>
                                          <m:t>𝒕</m:t>
                                        </m:r>
                                      </m:e>
                                      <m:sup>
                                        <m:r>
                                          <a:rPr lang="en-US" sz="2000" b="1" i="1">
                                            <a:effectLst/>
                                            <a:latin typeface="Cambria Math"/>
                                            <a:ea typeface="Times New Roman"/>
                                            <a:cs typeface="Times New Roman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+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𝟔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𝒕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+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𝟓</m:t>
                                    </m:r>
                                  </m:e>
                                </m:d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+(−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𝟕</m:t>
                                </m:r>
                                <m:sSup>
                                  <m:sSupPr>
                                    <m:ctrlP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𝒕</m:t>
                                    </m:r>
                                  </m:e>
                                  <m:sup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𝟏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𝟒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𝒕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Ziare’s Strategy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Colby’s Strategy</a:t>
                          </a:r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28800"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529507"/>
                  </p:ext>
                </p:extLst>
              </p:nvPr>
            </p:nvGraphicFramePr>
            <p:xfrm>
              <a:off x="2688415" y="3187700"/>
              <a:ext cx="7260336" cy="27432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71576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71576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45720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333" r="-84" b="-5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err="1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Ziare’s</a:t>
                          </a: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Strategy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Colby’s Strategy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82880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83319" y="4198344"/>
            <a:ext cx="2591752" cy="1107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9343" y="4198345"/>
            <a:ext cx="2056399" cy="1082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adding and subtracting polynomials, only like terms can be combined.</a:t>
                </a:r>
              </a:p>
              <a:p>
                <a:endParaRPr lang="en-US" sz="20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Ziare and Colby used different strategies to add the polynomials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(2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𝑡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+6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+5)</m:t>
                    </m:r>
                  </m:oMath>
                </a14:m>
                <a:r>
                  <a:rPr lang="en-US" sz="20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(−7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𝑡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+1−4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0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describe what each student did and identify one helpful aspect used in their strategy.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2246769"/>
              </a:xfrm>
              <a:prstGeom prst="rect">
                <a:avLst/>
              </a:prstGeom>
              <a:blipFill rotWithShape="1">
                <a:blip r:embed="rId7"/>
                <a:stretch>
                  <a:fillRect l="-612" t="-1355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408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81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7664093"/>
                  </p:ext>
                </p:extLst>
              </p:nvPr>
            </p:nvGraphicFramePr>
            <p:xfrm>
              <a:off x="2801874" y="533066"/>
              <a:ext cx="7260336" cy="51206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157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157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b="1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𝟐</m:t>
                                    </m:r>
                                    <m:sSup>
                                      <m:sSupPr>
                                        <m:ctrlPr>
                                          <a:rPr lang="en-US" sz="2000" b="1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1" i="1">
                                            <a:effectLst/>
                                            <a:latin typeface="Cambria Math"/>
                                            <a:ea typeface="Times New Roman"/>
                                            <a:cs typeface="Times New Roman"/>
                                          </a:rPr>
                                          <m:t>𝒕</m:t>
                                        </m:r>
                                      </m:e>
                                      <m:sup>
                                        <m:r>
                                          <a:rPr lang="en-US" sz="2000" b="1" i="1">
                                            <a:effectLst/>
                                            <a:latin typeface="Cambria Math"/>
                                            <a:ea typeface="Times New Roman"/>
                                            <a:cs typeface="Times New Roman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+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𝟔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𝒕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+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𝟓</m:t>
                                    </m:r>
                                  </m:e>
                                </m:d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+(−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𝟕</m:t>
                                </m:r>
                                <m:sSup>
                                  <m:sSupPr>
                                    <m:ctrlP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𝒕</m:t>
                                    </m:r>
                                  </m:e>
                                  <m:sup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𝟏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𝟒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𝒕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Ziare’s Strategy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Colby’s Strategy</a:t>
                          </a:r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3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Description of the Strategy</a:t>
                          </a:r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103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What was helpful?</a:t>
                          </a:r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7664093"/>
                  </p:ext>
                </p:extLst>
              </p:nvPr>
            </p:nvGraphicFramePr>
            <p:xfrm>
              <a:off x="2801874" y="533066"/>
              <a:ext cx="7260336" cy="51206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71576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71576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45720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84" b="-1021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err="1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Ziare’s</a:t>
                          </a: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Strategy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Colby’s Strategy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2103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Description of the Strategy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2103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What was helpful?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14461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sum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(19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h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h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+25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)+(8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h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−14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h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both Ziare’s and Colby’s strategies.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sum using your preferred method. Write the sum in standard form.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(−3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𝑘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−2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+1.4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)+(2.7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𝑘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−4.6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+5.8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5016758"/>
              </a:xfrm>
              <a:prstGeom prst="rect">
                <a:avLst/>
              </a:prstGeom>
              <a:blipFill rotWithShape="1">
                <a:blip r:embed="rId3"/>
                <a:stretch>
                  <a:fillRect l="-612" t="-729" b="-4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81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A277D68-99A6-A14A-A133-19027CD9A6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1327095"/>
                  </p:ext>
                </p:extLst>
              </p:nvPr>
            </p:nvGraphicFramePr>
            <p:xfrm>
              <a:off x="3038397" y="1481567"/>
              <a:ext cx="6717002" cy="281292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2954929798"/>
                        </a:ext>
                      </a:extLst>
                    </a:gridCol>
                    <a:gridCol w="5345402">
                      <a:extLst>
                        <a:ext uri="{9D8B030D-6E8A-4147-A177-3AD203B41FA5}">
                          <a16:colId xmlns:a16="http://schemas.microsoft.com/office/drawing/2014/main" val="1396755864"/>
                        </a:ext>
                      </a:extLst>
                    </a:gridCol>
                  </a:tblGrid>
                  <a:tr h="305793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𝟏𝟗</m:t>
                                    </m:r>
                                    <m:sSup>
                                      <m:sSupPr>
                                        <m:ctrlPr>
                                          <a:rPr lang="x-none" sz="2000" b="1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1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𝒉</m:t>
                                        </m:r>
                                      </m:e>
                                      <m:sup>
                                        <m:r>
                                          <a:rPr lang="en-US" sz="2000" b="1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𝟒</m:t>
                                        </m:r>
                                      </m:sup>
                                    </m:sSup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𝒉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𝟐𝟓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𝒌</m:t>
                                    </m:r>
                                  </m:e>
                                </m:d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+(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𝟖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𝒉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𝟏𝟒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x-none" sz="20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𝒉</m:t>
                                    </m:r>
                                  </m:e>
                                  <m:sup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8349" marR="58349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462730"/>
                      </a:ext>
                    </a:extLst>
                  </a:tr>
                  <a:tr h="1143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Ziare’s Strategy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8349" marR="58349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8349" marR="58349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11697798"/>
                      </a:ext>
                    </a:extLst>
                  </a:tr>
                  <a:tr h="1143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Colby’s Strategy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8349" marR="58349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8349" marR="58349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178753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A277D68-99A6-A14A-A133-19027CD9A6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1327095"/>
                  </p:ext>
                </p:extLst>
              </p:nvPr>
            </p:nvGraphicFramePr>
            <p:xfrm>
              <a:off x="3038397" y="1481567"/>
              <a:ext cx="6717002" cy="281292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954929798"/>
                        </a:ext>
                      </a:extLst>
                    </a:gridCol>
                    <a:gridCol w="534540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396755864"/>
                        </a:ext>
                      </a:extLst>
                    </a:gridCol>
                  </a:tblGrid>
                  <a:tr h="526923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349" marR="58349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r="-91" b="-43720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56462730"/>
                      </a:ext>
                    </a:extLst>
                  </a:tr>
                  <a:tr h="1143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err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Ziare’s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Strategy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8349" marR="58349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8349" marR="58349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711697798"/>
                      </a:ext>
                    </a:extLst>
                  </a:tr>
                  <a:tr h="1143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Colby’s Strategy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8349" marR="58349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8349" marR="58349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7178753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23039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82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lang="en-US"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82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211297"/>
                  </p:ext>
                </p:extLst>
              </p:nvPr>
            </p:nvGraphicFramePr>
            <p:xfrm>
              <a:off x="2554273" y="2937510"/>
              <a:ext cx="7098773" cy="301752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5478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509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(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𝟖</m:t>
                                </m:r>
                                <m:sSup>
                                  <m:sSupPr>
                                    <m:ctrlP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𝟓</m:t>
                                    </m:r>
                                  </m:sup>
                                </m:sSup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𝟒</m:t>
                                </m:r>
                                <m:sSup>
                                  <m:sSupPr>
                                    <m:ctrlP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𝟑</m:t>
                                    </m:r>
                                  </m:sup>
                                </m:sSup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𝟕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)−(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𝟏𝟏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𝟑</m:t>
                                    </m:r>
                                  </m:sup>
                                </m:sSup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𝟓</m:t>
                                </m:r>
                                <m:sSup>
                                  <m:sSupPr>
                                    <m:ctrlP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𝟓</m:t>
                                    </m:r>
                                  </m:sup>
                                </m:sSup>
                                <m:r>
                                  <a:rPr lang="en-US" sz="2000" b="1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Ziare’s Strategy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Colby’s Strategy</a:t>
                          </a:r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3120">
                    <a:tc>
                      <a:txBody>
                        <a:bodyPr/>
                        <a:lstStyle/>
                        <a:p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211297"/>
                  </p:ext>
                </p:extLst>
              </p:nvPr>
            </p:nvGraphicFramePr>
            <p:xfrm>
              <a:off x="2554273" y="2937510"/>
              <a:ext cx="7098773" cy="301752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54787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55090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572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333" b="-56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err="1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Ziare’s</a:t>
                          </a: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Strategy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Colby’s Strategy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2103120"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47578" y="3958955"/>
            <a:ext cx="3368080" cy="1004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27198" y="4004149"/>
            <a:ext cx="3039956" cy="840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378364"/>
            <a:ext cx="10478463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2.5.3 Collaboration: Subtracting Polynomials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29070" y="1386025"/>
                <a:ext cx="11001514" cy="11730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process for subtracting polynomials is similar to the one for adding polynomials.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your partner, find the difference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(8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+4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−7)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(11−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+5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completing Ziare’s and Colby’s strategies.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70" y="1386025"/>
                <a:ext cx="11001514" cy="1173078"/>
              </a:xfrm>
              <a:prstGeom prst="rect">
                <a:avLst/>
              </a:prstGeom>
              <a:blipFill rotWithShape="1">
                <a:blip r:embed="rId8"/>
                <a:stretch>
                  <a:fillRect l="-609" t="-2591" r="-499" b="-8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82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4716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Oliver noticed another strategy that can work for subtraction. </a:t>
                </a:r>
              </a:p>
              <a:p>
                <a:pPr marL="449263">
                  <a:spcAft>
                    <a:spcPts val="12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He said, “I know the subtraction sign, or negative, can also mean ‘opposite,’ so I read the problem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(8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+4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−7)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plus the opposite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(11−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+5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.”</a:t>
                </a:r>
              </a:p>
              <a:p>
                <a:pPr indent="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He rewrote the problem to model his thinking.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(8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+4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−7)</m:t>
                      </m:r>
                      <m:r>
                        <a:rPr lang="en-US" sz="2000" i="1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(</m:t>
                      </m:r>
                      <m:sPre>
                        <m:sPrePr>
                          <m:ctrlP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PrePr>
                        <m:sub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 </m:t>
                          </m:r>
                        </m:sub>
                        <m:sup>
                          <m:r>
                            <a:rPr lang="en-US" sz="2000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−</m:t>
                          </m:r>
                        </m:sup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11</m:t>
                          </m:r>
                        </m:e>
                      </m:sPre>
                      <m:r>
                        <a:rPr lang="en-US" sz="2000" i="1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en-US" sz="2000" i="1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5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algn="ctr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why you agree or disagree with Oliver’s thinking.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Why might it be helpful to rewrite subtraction of polynomials as addition of polynomials?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4716035"/>
              </a:xfrm>
              <a:prstGeom prst="rect">
                <a:avLst/>
              </a:prstGeom>
              <a:blipFill>
                <a:blip r:embed="rId4"/>
                <a:stretch>
                  <a:fillRect l="-579" t="-536" b="-1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83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difference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(5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𝑚</m:t>
                        </m:r>
                      </m:e>
                      <m:sup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−4)</m:t>
                    </m:r>
                  </m:oMath>
                </a14:m>
                <a:r>
                  <a:rPr lang="en-US" sz="2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(8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+4+3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𝑚</m:t>
                        </m:r>
                      </m:e>
                      <m:sup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Write the resulting polynomial in standard form.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830997"/>
              </a:xfrm>
              <a:prstGeom prst="rect">
                <a:avLst/>
              </a:prstGeom>
              <a:blipFill rotWithShape="1">
                <a:blip r:embed="rId4"/>
                <a:stretch>
                  <a:fillRect l="-890"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2312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83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lang="en-US"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323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83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4477523-69D6-3D43-B5D8-BA006A1BE7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4791165"/>
                  </p:ext>
                </p:extLst>
              </p:nvPr>
            </p:nvGraphicFramePr>
            <p:xfrm>
              <a:off x="2252834" y="2128999"/>
              <a:ext cx="7672217" cy="43286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672217">
                      <a:extLst>
                        <a:ext uri="{9D8B030D-6E8A-4147-A177-3AD203B41FA5}">
                          <a16:colId xmlns:a16="http://schemas.microsoft.com/office/drawing/2014/main" val="875936719"/>
                        </a:ext>
                      </a:extLst>
                    </a:gridCol>
                  </a:tblGrid>
                  <a:tr h="368228">
                    <a:tc>
                      <a:txBody>
                        <a:bodyPr/>
                        <a:lstStyle/>
                        <a:p>
                          <a:pPr marL="0" marR="0" indent="1905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b="1" i="1" u="none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 u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  <m:sSup>
                                      <m:sSupPr>
                                        <m:ctrlPr>
                                          <a:rPr lang="x-none" sz="2000" b="1" i="1" u="none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1" i="1" u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𝟒</m:t>
                                        </m:r>
                                        <m:r>
                                          <a:rPr lang="en-US" sz="2000" b="1" i="1" u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𝒎</m:t>
                                        </m:r>
                                      </m:e>
                                      <m:sup>
                                        <m:r>
                                          <a:rPr lang="en-US" sz="2000" b="1" i="1" u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x-none" sz="2000" b="1" i="1" u="none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1" i="1" u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𝒏</m:t>
                                        </m:r>
                                      </m:e>
                                      <m:sup>
                                        <m:r>
                                          <a:rPr lang="en-US" sz="2000" b="1" i="1" u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r>
                                      <a:rPr lang="en-US" sz="2000" b="1" i="1" u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000" b="1" i="1" u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000" b="1" i="1" u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𝒎𝒏</m:t>
                                    </m:r>
                                    <m:r>
                                      <a:rPr lang="en-US" sz="2000" b="1" i="1" u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 u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𝟗</m:t>
                                    </m:r>
                                  </m:e>
                                </m:d>
                                <m:r>
                                  <a:rPr lang="en-US" sz="2000" b="1" i="1" u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−(</m:t>
                                </m:r>
                                <m:r>
                                  <a:rPr lang="en-US" sz="2000" b="1" i="1" u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𝟓</m:t>
                                </m:r>
                                <m:sSup>
                                  <m:sSupPr>
                                    <m:ctrlPr>
                                      <a:rPr lang="x-none" sz="2000" b="1" i="1" u="none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u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𝒎</m:t>
                                    </m:r>
                                  </m:e>
                                  <m:sup>
                                    <m:r>
                                      <a:rPr lang="en-US" sz="2000" b="1" i="1" u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x-none" sz="2000" b="1" i="1" u="none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u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e>
                                  <m:sup>
                                    <m:r>
                                      <a:rPr lang="en-US" sz="2000" b="1" i="1" u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 b="1" i="1" u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000" b="1" i="1" u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𝟔</m:t>
                                </m:r>
                                <m:r>
                                  <a:rPr lang="en-US" sz="2000" b="1" i="1" u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𝒎𝒏</m:t>
                                </m:r>
                                <m:r>
                                  <a:rPr lang="en-US" sz="2000" b="1" i="1" u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000" b="1" i="1" u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𝟏𝟕</m:t>
                                </m:r>
                                <m:r>
                                  <a:rPr lang="en-US" sz="2000" b="1" i="1" u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x-none" sz="2000" u="none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0718840"/>
                      </a:ext>
                    </a:extLst>
                  </a:tr>
                  <a:tr h="3801753">
                    <a:tc>
                      <a:txBody>
                        <a:bodyPr/>
                        <a:lstStyle/>
                        <a:p>
                          <a:pPr marL="0" marR="0" indent="19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84325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4477523-69D6-3D43-B5D8-BA006A1BE7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4791165"/>
                  </p:ext>
                </p:extLst>
              </p:nvPr>
            </p:nvGraphicFramePr>
            <p:xfrm>
              <a:off x="2252834" y="2128999"/>
              <a:ext cx="7672217" cy="43286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67221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875936719"/>
                        </a:ext>
                      </a:extLst>
                    </a:gridCol>
                  </a:tblGrid>
                  <a:tr h="5269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79" r="-79" b="-7267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400718840"/>
                      </a:ext>
                    </a:extLst>
                  </a:tr>
                  <a:tr h="3801753">
                    <a:tc>
                      <a:txBody>
                        <a:bodyPr/>
                        <a:lstStyle/>
                        <a:p>
                          <a:pPr marL="0" marR="0" indent="19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8784325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136174"/>
            <a:ext cx="10477934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2.5.4 Guided Practice: Adding and Subtracting Polynomials</a:t>
            </a:r>
          </a:p>
        </p:txBody>
      </p:sp>
      <p:pic>
        <p:nvPicPr>
          <p:cNvPr id="11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506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731519" y="1491419"/>
            <a:ext cx="10758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each sum or difference. Write the result in standard form.</a:t>
            </a:r>
          </a:p>
        </p:txBody>
      </p:sp>
    </p:spTree>
    <p:extLst>
      <p:ext uri="{BB962C8B-B14F-4D97-AF65-F5344CB8AC3E}">
        <p14:creationId xmlns:p14="http://schemas.microsoft.com/office/powerpoint/2010/main" val="3887674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4477523-69D6-3D43-B5D8-BA006A1BE7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661924"/>
                  </p:ext>
                </p:extLst>
              </p:nvPr>
            </p:nvGraphicFramePr>
            <p:xfrm>
              <a:off x="2252834" y="443174"/>
              <a:ext cx="7672217" cy="43286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672217">
                      <a:extLst>
                        <a:ext uri="{9D8B030D-6E8A-4147-A177-3AD203B41FA5}">
                          <a16:colId xmlns:a16="http://schemas.microsoft.com/office/drawing/2014/main" val="875936719"/>
                        </a:ext>
                      </a:extLst>
                    </a:gridCol>
                  </a:tblGrid>
                  <a:tr h="368228">
                    <a:tc>
                      <a:txBody>
                        <a:bodyPr/>
                        <a:lstStyle/>
                        <a:p>
                          <a:pPr marL="0" marR="0" indent="1905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b="1" i="1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𝟑</m:t>
                                    </m:r>
                                    <m:sSup>
                                      <m:sSupPr>
                                        <m:ctrlPr>
                                          <a:rPr lang="x-none" sz="2000" b="1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1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𝒓</m:t>
                                        </m:r>
                                      </m:e>
                                      <m:sup>
                                        <m:r>
                                          <a:rPr lang="en-US" sz="2000" b="1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𝟖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𝟏𝟐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𝒑𝒓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𝟒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𝒑</m:t>
                                    </m:r>
                                  </m:e>
                                </m:d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+(−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𝟕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𝒑𝒓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𝟓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  <m:sSup>
                                  <m:sSupPr>
                                    <m:ctrlPr>
                                      <a:rPr lang="x-none" sz="20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𝒓</m:t>
                                    </m:r>
                                  </m:e>
                                  <m:sup>
                                    <m:r>
                                      <a:rPr lang="en-US" sz="20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0718840"/>
                      </a:ext>
                    </a:extLst>
                  </a:tr>
                  <a:tr h="3801753">
                    <a:tc>
                      <a:txBody>
                        <a:bodyPr/>
                        <a:lstStyle/>
                        <a:p>
                          <a:pPr marL="0" marR="0" indent="19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84325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4477523-69D6-3D43-B5D8-BA006A1BE7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661924"/>
                  </p:ext>
                </p:extLst>
              </p:nvPr>
            </p:nvGraphicFramePr>
            <p:xfrm>
              <a:off x="2252834" y="443174"/>
              <a:ext cx="7672217" cy="43286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67221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875936719"/>
                        </a:ext>
                      </a:extLst>
                    </a:gridCol>
                  </a:tblGrid>
                  <a:tr h="5269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79" t="-1163" r="-79" b="-725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400718840"/>
                      </a:ext>
                    </a:extLst>
                  </a:tr>
                  <a:tr h="3801753">
                    <a:tc>
                      <a:txBody>
                        <a:bodyPr/>
                        <a:lstStyle/>
                        <a:p>
                          <a:pPr marL="0" marR="0" indent="19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8784325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83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8106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84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lang="en-US"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6341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84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2.5.5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6" y="1408886"/>
                <a:ext cx="10800318" cy="4225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each sum or difference. Write the result in standard form.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1.	</a:t>
                </a:r>
                <a14:m>
                  <m:oMath xmlns:m="http://schemas.openxmlformats.org/officeDocument/2006/math"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+13</m:t>
                    </m:r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−4</m:t>
                    </m:r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)−(7</m:t>
                    </m:r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2.	</a:t>
                </a:r>
                <a14:m>
                  <m:oMath xmlns:m="http://schemas.openxmlformats.org/officeDocument/2006/math"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(8</m:t>
                    </m:r>
                    <m:sSup>
                      <m:sSup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+4</m:t>
                    </m:r>
                    <m:sSup>
                      <m:sSup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−9)−(11+5</m:t>
                    </m:r>
                    <m:sSup>
                      <m:sSup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3.	</a:t>
                </a:r>
                <a14:m>
                  <m:oMath xmlns:m="http://schemas.openxmlformats.org/officeDocument/2006/math"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sPre>
                      <m:sPre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PrePr>
                      <m:sub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</m:sub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</m:t>
                        </m:r>
                      </m:sup>
                      <m:e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9</m:t>
                        </m:r>
                      </m:e>
                    </m:sPre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𝑑</m:t>
                    </m:r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+5</m:t>
                    </m:r>
                    <m:sSup>
                      <m:sSup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+3)+(5</m:t>
                    </m:r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𝑑</m:t>
                    </m:r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+13)</m:t>
                    </m:r>
                  </m:oMath>
                </a14:m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408886"/>
                <a:ext cx="10800318" cy="4225387"/>
              </a:xfrm>
              <a:prstGeom prst="rect">
                <a:avLst/>
              </a:prstGeom>
              <a:blipFill rotWithShape="1">
                <a:blip r:embed="rId5"/>
                <a:stretch>
                  <a:fillRect l="-621" t="-722"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8071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84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31736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4.	</a:t>
                </a:r>
                <a14:m>
                  <m:oMath xmlns:m="http://schemas.openxmlformats.org/officeDocument/2006/math"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</m:t>
                    </m:r>
                    <m:sSup>
                      <m:sSup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sup>
                    </m:sSup>
                    <m:sSup>
                      <m:sSup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𝑦</m:t>
                        </m:r>
                      </m:e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  <m:d>
                      <m:d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5</m:t>
                            </m:r>
                          </m:sup>
                        </m:sSup>
                        <m: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−3</m:t>
                        </m:r>
                        <m:sSup>
                          <m:sSupPr>
                            <m:ctrlP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5</m:t>
                            </m:r>
                          </m:sup>
                        </m:sSup>
                        <m:sSup>
                          <m:sSupPr>
                            <m:ctrlP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5.	</a:t>
                </a:r>
                <a14:m>
                  <m:oMath xmlns:m="http://schemas.openxmlformats.org/officeDocument/2006/math"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(7.1</m:t>
                    </m:r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𝑐𝑡</m:t>
                    </m:r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−5)+(3</m:t>
                    </m:r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𝑡</m:t>
                    </m:r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+4</m:t>
                    </m:r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𝑐</m:t>
                    </m:r>
                    <m:sSup>
                      <m:sSup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𝑡</m:t>
                        </m:r>
                      </m:e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endParaRPr lang="en-US" altLang="en-US" sz="200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3173626"/>
              </a:xfrm>
              <a:prstGeom prst="rect">
                <a:avLst/>
              </a:prstGeom>
              <a:blipFill rotWithShape="1">
                <a:blip r:embed="rId4"/>
                <a:stretch>
                  <a:fillRect l="-609" t="-960" b="-2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6866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85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49.png" descr="A close up of a flower&#10;&#10;Description automatically generated">
            <a:extLst>
              <a:ext uri="{FF2B5EF4-FFF2-40B4-BE49-F238E27FC236}">
                <a16:creationId xmlns:a16="http://schemas.microsoft.com/office/drawing/2014/main" id="{17CBCA59-85BA-F242-B24E-A25AAF41E1F4}"/>
              </a:ext>
            </a:extLst>
          </p:cNvPr>
          <p:cNvPicPr/>
          <p:nvPr/>
        </p:nvPicPr>
        <p:blipFill rotWithShape="1">
          <a:blip r:embed="rId3"/>
          <a:srcRect b="2312"/>
          <a:stretch/>
        </p:blipFill>
        <p:spPr>
          <a:xfrm>
            <a:off x="3251917" y="2084098"/>
            <a:ext cx="5223616" cy="4552750"/>
          </a:xfrm>
          <a:prstGeom prst="rect">
            <a:avLst/>
          </a:prstGeom>
          <a:ln/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85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2.5.6 Wrap-Up: Reflection</a:t>
            </a:r>
          </a:p>
        </p:txBody>
      </p:sp>
      <p:pic>
        <p:nvPicPr>
          <p:cNvPr id="11" name="Google Shape;46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730266" y="1376212"/>
            <a:ext cx="108003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 point in one of the quadrants to indicate how you feel about today’s learning target, “I can add and subtract polynomials.”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85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why you plotted your point in that location.</a:t>
            </a:r>
          </a:p>
        </p:txBody>
      </p:sp>
    </p:spTree>
    <p:extLst>
      <p:ext uri="{BB962C8B-B14F-4D97-AF65-F5344CB8AC3E}">
        <p14:creationId xmlns:p14="http://schemas.microsoft.com/office/powerpoint/2010/main" val="91226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3278</TotalTime>
  <Words>1073</Words>
  <Application>Microsoft Macintosh PowerPoint</Application>
  <PresentationFormat>Widescreen</PresentationFormat>
  <Paragraphs>210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Century Gothic</vt:lpstr>
      <vt:lpstr>Cambria</vt:lpstr>
      <vt:lpstr>Calibri</vt:lpstr>
      <vt:lpstr>Arial Black</vt:lpstr>
      <vt:lpstr>Cambria Math</vt:lpstr>
      <vt:lpstr>Arial</vt:lpstr>
      <vt:lpstr>Wingdings</vt:lpstr>
      <vt:lpstr>Verdana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Akarshna Iyer</cp:lastModifiedBy>
  <cp:revision>57</cp:revision>
  <dcterms:created xsi:type="dcterms:W3CDTF">2015-03-17T18:51:18Z</dcterms:created>
  <dcterms:modified xsi:type="dcterms:W3CDTF">2022-07-22T22:19:44Z</dcterms:modified>
</cp:coreProperties>
</file>