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345" r:id="rId4"/>
    <p:sldId id="286" r:id="rId5"/>
    <p:sldId id="261" r:id="rId6"/>
    <p:sldId id="287" r:id="rId7"/>
    <p:sldId id="381" r:id="rId8"/>
    <p:sldId id="346" r:id="rId9"/>
    <p:sldId id="347" r:id="rId10"/>
    <p:sldId id="348" r:id="rId11"/>
    <p:sldId id="349" r:id="rId12"/>
    <p:sldId id="350" r:id="rId13"/>
    <p:sldId id="376" r:id="rId14"/>
    <p:sldId id="377" r:id="rId15"/>
    <p:sldId id="314" r:id="rId16"/>
    <p:sldId id="315" r:id="rId17"/>
    <p:sldId id="316" r:id="rId18"/>
    <p:sldId id="382" r:id="rId19"/>
    <p:sldId id="354" r:id="rId20"/>
    <p:sldId id="355" r:id="rId21"/>
    <p:sldId id="356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6040202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 Math" panose="02040503050406030204" pitchFamily="18" charset="0"/>
      <p:regular r:id="rId31"/>
    </p:embeddedFont>
    <p:embeddedFont>
      <p:font typeface="Century Gothic" panose="020B0502020202020204" pitchFamily="34" charset="0"/>
      <p:regular r:id="rId32"/>
      <p:bold r:id="rId33"/>
      <p:italic r:id="rId34"/>
      <p:boldItalic r:id="rId35"/>
    </p:embeddedFont>
    <p:embeddedFont>
      <p:font typeface="Verdana" panose="020B0604030504040204" pitchFamily="34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3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9B59"/>
    <a:srgbClr val="F26763"/>
    <a:srgbClr val="E24E5F"/>
    <a:srgbClr val="1765AD"/>
    <a:srgbClr val="1664AC"/>
    <a:srgbClr val="BFBFBF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9072"/>
    <p:restoredTop sz="94694"/>
  </p:normalViewPr>
  <p:slideViewPr>
    <p:cSldViewPr snapToGrid="0">
      <p:cViewPr varScale="1">
        <p:scale>
          <a:sx n="124" d="100"/>
          <a:sy n="124" d="100"/>
        </p:scale>
        <p:origin x="15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53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788178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915033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880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72432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85123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01364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60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4962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691138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21429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907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63403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940305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6.png"/><Relationship Id="rId4" Type="http://schemas.openxmlformats.org/officeDocument/2006/relationships/image" Target="../media/image1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9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24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61;g104476d1465_0_0"/>
          <p:cNvSpPr txBox="1">
            <a:spLocks/>
          </p:cNvSpPr>
          <p:nvPr/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Applying Product Laws of Exponents to Algebraic Expressions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57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MA.912.NSO.1.2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Generate equivalent algebraic expressions using the properties of exponents.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37CC83FF-5C83-CD42-A75D-B443F14E1C19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980509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</p:txBody>
      </p:sp>
      <p:sp>
        <p:nvSpPr>
          <p:cNvPr id="11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147E8E3-844B-6A49-A77E-05F3246D39F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8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9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generate equivalent algebraic expressions using the properties (laws) of exponents to find the product of monomial expressions.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43D2F04D-C861-A149-B5F8-A913FBED75AE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479008" y="1497537"/>
            <a:ext cx="11430494" cy="3836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a check mark      in the box that best describes how you feel about mistakes.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800100" indent="-342900">
              <a:spcAft>
                <a:spcPts val="2000"/>
              </a:spcAft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do not like to admit I made a mistake.</a:t>
            </a:r>
          </a:p>
          <a:p>
            <a:pPr marL="800100" indent="-342900">
              <a:spcAft>
                <a:spcPts val="2000"/>
              </a:spcAft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think all mistakes are bad.</a:t>
            </a:r>
          </a:p>
          <a:p>
            <a:pPr marL="800100" indent="-342900">
              <a:spcAft>
                <a:spcPts val="2000"/>
              </a:spcAft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Mistakes tell me that I won’t ever understand.</a:t>
            </a:r>
          </a:p>
          <a:p>
            <a:pPr marL="800100" indent="-342900">
              <a:spcAft>
                <a:spcPts val="2000"/>
              </a:spcAft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Mistakes make me wonder what I am missing.</a:t>
            </a:r>
          </a:p>
          <a:p>
            <a:pPr marL="800100" indent="-342900">
              <a:spcAft>
                <a:spcPts val="2000"/>
              </a:spcAft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think a mistake is a chance to try another strategy.</a:t>
            </a:r>
          </a:p>
          <a:p>
            <a:pPr marL="800100" indent="-342900">
              <a:buFont typeface="Wingdings" pitchFamily="2" charset="2"/>
              <a:buChar char="q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Mistakes help me learn.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raphic 15" descr="Checkmark">
            <a:extLst>
              <a:ext uri="{FF2B5EF4-FFF2-40B4-BE49-F238E27FC236}">
                <a16:creationId xmlns:a16="http://schemas.microsoft.com/office/drawing/2014/main" id="{4FA79774-67B2-5248-AD63-CD504C0E226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84377" y="1487491"/>
            <a:ext cx="396393" cy="396393"/>
          </a:xfrm>
          <a:prstGeom prst="rect">
            <a:avLst/>
          </a:prstGeom>
        </p:spPr>
      </p:pic>
      <p:sp>
        <p:nvSpPr>
          <p:cNvPr id="17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89"/>
            <a:ext cx="108340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2.1.1 Warm-Up: Growth Mindset</a:t>
            </a:r>
          </a:p>
        </p:txBody>
      </p:sp>
      <p:pic>
        <p:nvPicPr>
          <p:cNvPr id="18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0CD40667-98C3-7A43-A8EC-50FA988E0942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FC2DF2B-A5EA-4247-A129-C535E3F60F76}"/>
              </a:ext>
            </a:extLst>
          </p:cNvPr>
          <p:cNvSpPr/>
          <p:nvPr/>
        </p:nvSpPr>
        <p:spPr>
          <a:xfrm>
            <a:off x="9401429" y="455713"/>
            <a:ext cx="2129155" cy="2884170"/>
          </a:xfrm>
          <a:prstGeom prst="roundRect">
            <a:avLst>
              <a:gd name="adj" fmla="val 16667"/>
            </a:avLst>
          </a:prstGeom>
          <a:solidFill>
            <a:srgbClr val="DAE5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DB2B2A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eans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F2575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E9923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tart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FACD17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 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7BA43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cquire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24B7D2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nowledge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1B74B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xperience 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sz="1800" b="1" dirty="0">
                <a:solidFill>
                  <a:srgbClr val="4A2B7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kills</a:t>
            </a:r>
            <a:endParaRPr lang="x-none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A35BC6-D428-FC41-BDE5-6438AB8840FC}"/>
              </a:ext>
            </a:extLst>
          </p:cNvPr>
          <p:cNvSpPr txBox="1"/>
          <p:nvPr/>
        </p:nvSpPr>
        <p:spPr>
          <a:xfrm>
            <a:off x="540565" y="410666"/>
            <a:ext cx="1101822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acronym shown.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2438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does this interpretation compare to your </a:t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feelings about making mistakes?</a:t>
            </a:r>
          </a:p>
        </p:txBody>
      </p:sp>
    </p:spTree>
    <p:extLst>
      <p:ext uri="{BB962C8B-B14F-4D97-AF65-F5344CB8AC3E}">
        <p14:creationId xmlns:p14="http://schemas.microsoft.com/office/powerpoint/2010/main" val="2697970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906256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1" name="image2.png" descr="Icon&#10;&#10;Description automatically generated">
            <a:extLst>
              <a:ext uri="{FF2B5EF4-FFF2-40B4-BE49-F238E27FC236}">
                <a16:creationId xmlns:a16="http://schemas.microsoft.com/office/drawing/2014/main" id="{B8663E50-D763-C343-96E8-FEAEDD7FA21B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4506717" y="2849920"/>
            <a:ext cx="1158150" cy="115815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188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36DBEF4-87AB-5642-BD80-187B1C6B7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3378745"/>
                  </p:ext>
                </p:extLst>
              </p:nvPr>
            </p:nvGraphicFramePr>
            <p:xfrm>
              <a:off x="1131831" y="2928367"/>
              <a:ext cx="7498080" cy="2421065"/>
            </p:xfrm>
            <a:graphic>
              <a:graphicData uri="http://schemas.openxmlformats.org/drawingml/2006/table">
                <a:tbl>
                  <a:tblPr bandRow="1"/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val="1237871317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val="277458183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val="2450995856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val="2848953611"/>
                        </a:ext>
                      </a:extLst>
                    </a:gridCol>
                  </a:tblGrid>
                  <a:tr h="321945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 Law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417669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·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2+3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9093633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−4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∙5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−4∙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∙5∙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−4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∙5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2+3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−20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7034925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6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0</m:t>
                                    </m:r>
                                  </m:sup>
                                </m:sSup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∙−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𝑥𝑦</m:t>
                                </m:r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6∙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∙1∙−1∙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∙</m:t>
                                </m:r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</a:rPr>
                                  <m:t>6∙−1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2+1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9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−6</m:t>
                                </m:r>
                                <m:sSup>
                                  <m:sSupPr>
                                    <m:ctrlPr>
                                      <a:rPr lang="x-none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19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19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y</m:t>
                                </m:r>
                              </m:oMath>
                            </m:oMathPara>
                          </a14:m>
                          <a:endParaRPr lang="x-none" sz="19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74169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36DBEF4-87AB-5642-BD80-187B1C6B7EF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3378745"/>
                  </p:ext>
                </p:extLst>
              </p:nvPr>
            </p:nvGraphicFramePr>
            <p:xfrm>
              <a:off x="1131831" y="2928367"/>
              <a:ext cx="7498080" cy="2448433"/>
            </p:xfrm>
            <a:graphic>
              <a:graphicData uri="http://schemas.openxmlformats.org/drawingml/2006/table">
                <a:tbl>
                  <a:tblPr bandRow="1"/>
                  <a:tblGrid>
                    <a:gridCol w="1645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237871317"/>
                        </a:ext>
                      </a:extLst>
                    </a:gridCol>
                    <a:gridCol w="237744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774581835"/>
                        </a:ext>
                      </a:extLst>
                    </a:gridCol>
                    <a:gridCol w="18288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450995856"/>
                        </a:ext>
                      </a:extLst>
                    </a:gridCol>
                    <a:gridCol w="164592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848953611"/>
                        </a:ext>
                      </a:extLst>
                    </a:gridCol>
                  </a:tblGrid>
                  <a:tr h="802513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Expression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Expanded Form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 of Powers Law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9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Equivalent Expression</a:t>
                          </a:r>
                          <a:endParaRPr lang="x-none" sz="19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841766927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0" t="-146667" r="-355556" b="-2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9487" t="-146667" r="-146154" b="-2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0333" t="-146667" r="-90000" b="-2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5926" t="-146667" b="-20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09093633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0" t="-246667" r="-355556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9487" t="-246667" r="-146154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0333" t="-246667" r="-90000" b="-10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5926" t="-246667" b="-10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70349250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70" t="-346667" r="-355556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69487" t="-346667" r="-146154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20333" t="-346667" r="-90000" b="-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55926" t="-346667" b="-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74169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62866"/>
            <a:ext cx="10957380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2.1.2 Guided Instruction: </a:t>
            </a:r>
            <a:b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Equivalent Algebraic Expressions</a:t>
            </a:r>
          </a:p>
        </p:txBody>
      </p:sp>
      <p:pic>
        <p:nvPicPr>
          <p:cNvPr id="11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1785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45130" y="1386025"/>
            <a:ext cx="1098545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laws of exponents can be applied to generate equivalent algebraic expressions.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table shows three expressions and two different methods that can be used to determine an equivalent expression.</a:t>
            </a:r>
          </a:p>
        </p:txBody>
      </p:sp>
    </p:spTree>
    <p:extLst>
      <p:ext uri="{BB962C8B-B14F-4D97-AF65-F5344CB8AC3E}">
        <p14:creationId xmlns:p14="http://schemas.microsoft.com/office/powerpoint/2010/main" val="2999405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8F82859-BA98-3646-BF3B-9E17E52A2E35}"/>
              </a:ext>
            </a:extLst>
          </p:cNvPr>
          <p:cNvSpPr txBox="1"/>
          <p:nvPr/>
        </p:nvSpPr>
        <p:spPr>
          <a:xfrm>
            <a:off x="511205" y="533066"/>
            <a:ext cx="10953207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Discuss with your partner any patterns you notice between the expanded form and applying the product of powers law.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statements.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multiplying monomial terms, the coefficients</a:t>
            </a:r>
          </a:p>
          <a:p>
            <a:pPr marL="91440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tabLst>
                <a:tab pos="2514600" algn="l"/>
              </a:tabLst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of the terms can be			to find the coefficient of the equivalent expression. The product of powers law of exponents can be applied to		       that are the same.</a:t>
            </a:r>
          </a:p>
        </p:txBody>
      </p:sp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144836" y="3112361"/>
            <a:ext cx="182880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ani"/>
              </a:rPr>
              <a:t>added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>
                <a:solidFill>
                  <a:srgbClr val="000000"/>
                </a:solidFill>
                <a:latin typeface="Verdana" pitchFamily="34" charset="0"/>
                <a:ea typeface="Verdana" pitchFamily="34" charset="0"/>
                <a:cs typeface="Vani"/>
              </a:rPr>
              <a:t>multiplied</a:t>
            </a:r>
            <a:endParaRPr lang="en-US" sz="20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519746" y="4643505"/>
            <a:ext cx="2011680" cy="783193"/>
          </a:xfrm>
          <a:prstGeom prst="roundRect">
            <a:avLst/>
          </a:prstGeom>
          <a:noFill/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ourier New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Verdana"/>
                <a:ea typeface="Times New Roman"/>
                <a:cs typeface="Times New Roman"/>
              </a:rPr>
              <a:t>bases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  <a:p>
            <a:pPr marL="285750" indent="-285750">
              <a:buFont typeface="Courier New" pitchFamily="49" charset="0"/>
              <a:buChar char="o"/>
            </a:pPr>
            <a:r>
              <a:rPr lang="en-US" sz="2000" dirty="0">
                <a:solidFill>
                  <a:schemeClr val="tx1"/>
                </a:solidFill>
                <a:latin typeface="Verdana"/>
                <a:ea typeface="Times New Roman"/>
                <a:cs typeface="Times New Roman"/>
              </a:rPr>
              <a:t>coefficients</a:t>
            </a:r>
            <a:endParaRPr lang="en-US" sz="2000" dirty="0">
              <a:solidFill>
                <a:schemeClr val="tx1"/>
              </a:solidFill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518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multiplication of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6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∙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𝑏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find an equivalent monomial expression.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6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7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8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11</m:t>
                              </m:r>
                            </m:sup>
                          </m:sSup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=(6·8)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7</m:t>
                              </m:r>
                            </m:sup>
                          </m:s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· </m:t>
                          </m:r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11</m:t>
                              </m:r>
                            </m:sup>
                          </m:sSup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=_______</m:t>
                      </m:r>
                      <m:sSup>
                        <m:sSup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sSup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𝑏</m:t>
                          </m:r>
                        </m:e>
                        <m: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__________</m:t>
                          </m:r>
                        </m:sup>
                      </m:sSup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an equivalent monomial algebraic expression by filling in the blanks.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3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7</m:t>
                              </m:r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s-ES" sz="2000" i="1" dirty="0"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12</m:t>
                              </m:r>
                            </m:sup>
                          </m:sSup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𝑏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=(</m:t>
                      </m:r>
                      <m:r>
                        <a:rPr lang="es-E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3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·</m:t>
                      </m:r>
                      <m:r>
                        <a:rPr lang="es-E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7</m:t>
                      </m:r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)</m:t>
                      </m:r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_____· _____</m:t>
                          </m:r>
                        </m:e>
                      </m:d>
                      <m:d>
                        <m:dPr>
                          <m:ctrlPr>
                            <a:rPr lang="en-U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</m:ctrlPr>
                        </m:dPr>
                        <m:e>
                          <m:r>
                            <a:rPr lang="es-ES" sz="2000" i="1" dirty="0"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_____· _____</m:t>
                          </m:r>
                        </m:e>
                      </m:d>
                      <m:r>
                        <a:rPr lang="en-US" sz="2000" i="1" dirty="0">
                          <a:latin typeface="Cambria Math" panose="02040503050406030204" pitchFamily="18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m:t>=_______</m:t>
                      </m:r>
                    </m:oMath>
                  </m:oMathPara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4093428"/>
              </a:xfrm>
              <a:prstGeom prst="rect">
                <a:avLst/>
              </a:prstGeom>
              <a:blipFill rotWithShape="1">
                <a:blip r:embed="rId3"/>
                <a:stretch>
                  <a:fillRect l="-612" t="-893" b="-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2529840" y="2130610"/>
            <a:ext cx="6629400" cy="885349"/>
            <a:chOff x="1257300" y="2427789"/>
            <a:chExt cx="6629400" cy="885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6607E150-A2F2-8143-9450-D9C71A506E94}"/>
                    </a:ext>
                  </a:extLst>
                </p:cNvPr>
                <p:cNvSpPr/>
                <p:nvPr/>
              </p:nvSpPr>
              <p:spPr>
                <a:xfrm>
                  <a:off x="1257300" y="2427789"/>
                  <a:ext cx="6629400" cy="88534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pPr marL="682625"/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Product of Powers</a:t>
                  </a:r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  <a:p>
                  <a:pPr marL="682625"/>
                  <a14:m>
                    <m:oMath xmlns:m="http://schemas.openxmlformats.org/officeDocument/2006/math"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∙</m:t>
                          </m:r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  <m:t>𝑛</m:t>
                              </m:r>
                            </m:sup>
                          </m:s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itchFamily="34" charset="0"/>
                    </a:rPr>
                    <a:t> and conversely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</p:txBody>
            </p:sp>
          </mc:Choice>
          <mc:Fallback xmlns=""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607E150-A2F2-8143-9450-D9C71A506E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2427789"/>
                  <a:ext cx="6629400" cy="885349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6" name="Shape 7" descr="Icon&#10;&#10;Description automatically generated">
              <a:extLst>
                <a:ext uri="{FF2B5EF4-FFF2-40B4-BE49-F238E27FC236}">
                  <a16:creationId xmlns:a16="http://schemas.microsoft.com/office/drawing/2014/main" id="{BA217092-DCC0-174D-8A6C-5F1E9AEC56F6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30492" y="2578521"/>
              <a:ext cx="539750" cy="53931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8" name="Text Box 38">
            <a:extLst>
              <a:ext uri="{FF2B5EF4-FFF2-40B4-BE49-F238E27FC236}">
                <a16:creationId xmlns:a16="http://schemas.microsoft.com/office/drawing/2014/main" id="{04E70712-9B5A-2D4D-8831-76D3054CA548}"/>
              </a:ext>
            </a:extLst>
          </p:cNvPr>
          <p:cNvSpPr txBox="1"/>
          <p:nvPr/>
        </p:nvSpPr>
        <p:spPr>
          <a:xfrm>
            <a:off x="8029787" y="1211977"/>
            <a:ext cx="457200" cy="365760"/>
          </a:xfrm>
          <a:prstGeom prst="rect">
            <a:avLst/>
          </a:prstGeom>
          <a:solidFill>
            <a:schemeClr val="lt1"/>
          </a:solidFill>
          <a:ln w="28575">
            <a:solidFill>
              <a:srgbClr val="41BBA5"/>
            </a:solidFill>
            <a:prstDash val="dash"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x-none" sz="120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08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82859-BA98-3646-BF3B-9E17E52A2E35}"/>
                  </a:ext>
                </a:extLst>
              </p:cNvPr>
              <p:cNvSpPr txBox="1"/>
              <p:nvPr/>
            </p:nvSpPr>
            <p:spPr>
              <a:xfrm>
                <a:off x="511205" y="533066"/>
                <a:ext cx="10953207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Abigail and Mia both attempted to write an expression equivalent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30</m:t>
                        </m:r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𝑥</m:t>
                        </m:r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 partner whether or not both students generated equivalent expressions. Write a summary of your discussion. 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C8F82859-BA98-3646-BF3B-9E17E52A2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05" y="533066"/>
                <a:ext cx="10953207" cy="2554545"/>
              </a:xfrm>
              <a:prstGeom prst="rect">
                <a:avLst/>
              </a:prstGeom>
              <a:blipFill rotWithShape="1">
                <a:blip r:embed="rId3"/>
                <a:stretch>
                  <a:fillRect l="-612" t="-1432" b="-33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724410AD-ADA5-D447-9AE6-1177DDDCE1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0524760"/>
                  </p:ext>
                </p:extLst>
              </p:nvPr>
            </p:nvGraphicFramePr>
            <p:xfrm>
              <a:off x="2333625" y="1153915"/>
              <a:ext cx="6858000" cy="99288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1545">
                      <a:extLst>
                        <a:ext uri="{9D8B030D-6E8A-4147-A177-3AD203B41FA5}">
                          <a16:colId xmlns:a16="http://schemas.microsoft.com/office/drawing/2014/main" val="3048425692"/>
                        </a:ext>
                      </a:extLst>
                    </a:gridCol>
                    <a:gridCol w="3386455">
                      <a:extLst>
                        <a:ext uri="{9D8B030D-6E8A-4147-A177-3AD203B41FA5}">
                          <a16:colId xmlns:a16="http://schemas.microsoft.com/office/drawing/2014/main" val="2076633051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Abigail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726940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30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=(6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)(5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5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30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7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=(3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)(10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panose="020B0604030504040204" pitchFamily="34" charset="0"/>
                                        <a:cs typeface="Verdana" panose="020B0604030504040204" pitchFamily="34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473280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24410AD-ADA5-D447-9AE6-1177DDDCE1D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60524760"/>
                  </p:ext>
                </p:extLst>
              </p:nvPr>
            </p:nvGraphicFramePr>
            <p:xfrm>
              <a:off x="2333625" y="1153915"/>
              <a:ext cx="6858000" cy="102177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7154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048425692"/>
                        </a:ext>
                      </a:extLst>
                    </a:gridCol>
                    <a:gridCol w="3386455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2076633051"/>
                        </a:ext>
                      </a:extLst>
                    </a:gridCol>
                  </a:tblGrid>
                  <a:tr h="50901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Abigail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Mia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772694013"/>
                      </a:ext>
                    </a:extLst>
                  </a:tr>
                  <a:tr h="51276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76" t="-100000" r="-977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102518" t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41473280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22147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lang="en-US"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323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136174"/>
            <a:ext cx="10477934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2.1.3 Guided Practice: Products of Monomials</a:t>
            </a:r>
          </a:p>
        </p:txBody>
      </p:sp>
      <p:pic>
        <p:nvPicPr>
          <p:cNvPr id="9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5061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731519" y="1491419"/>
                <a:ext cx="10758527" cy="43828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Generate an equivalent algebraic monomial expression.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ts val="600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a.	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(−9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</m:t>
                    </m:r>
                    <m:f>
                      <m:f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11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)(−10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20</m:t>
                        </m:r>
                      </m:sup>
                    </m:sSup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ts val="600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b.	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(9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)(0.6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)(12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ts val="600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c.	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</m:t>
                    </m:r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p>
                    </m:sSup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alt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)(−10</m:t>
                    </m:r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p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</m:t>
                        </m:r>
                      </m:sup>
                    </m:sSup>
                    <m:r>
                      <a:rPr lang="en-US" alt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)(1.2</m:t>
                    </m:r>
                    <m:sSup>
                      <m:sSupPr>
                        <m:ctrlPr>
                          <a:rPr lang="en-U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altLang="en-US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</m:sup>
                    </m:sSup>
                    <m:r>
                      <a:rPr lang="en-US" alt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ts val="6000"/>
                  </a:spcAft>
                  <a:buClrTx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d.	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(1.2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)(−2.25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𝑚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7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)(−0.5</m:t>
                    </m:r>
                    <m:sSup>
                      <m:sSupPr>
                        <m:ctrlPr>
                          <a:rPr lang="en-U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p>
                        <m:r>
                          <a:rPr lang="es-ES" altLang="en-US" sz="20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p>
                    </m:sSup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4="http://schemas.microsoft.com/office/drawing/2010/main" xmlns=""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19" y="1491419"/>
                <a:ext cx="10758527" cy="4382803"/>
              </a:xfrm>
              <a:prstGeom prst="rect">
                <a:avLst/>
              </a:prstGeom>
              <a:blipFill rotWithShape="1">
                <a:blip r:embed="rId5"/>
                <a:stretch>
                  <a:fillRect l="-567" t="-834" b="-15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6743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/>
          <p:cNvSpPr txBox="1">
            <a:spLocks/>
          </p:cNvSpPr>
          <p:nvPr/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lang="en-US"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" name="Group 30"/>
          <p:cNvGrpSpPr/>
          <p:nvPr/>
        </p:nvGrpSpPr>
        <p:grpSpPr>
          <a:xfrm>
            <a:off x="2144946" y="2720604"/>
            <a:ext cx="6858000" cy="885349"/>
            <a:chOff x="1257300" y="2427789"/>
            <a:chExt cx="6858000" cy="885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id="{6607E150-A2F2-8143-9450-D9C71A506E94}"/>
                    </a:ext>
                  </a:extLst>
                </p:cNvPr>
                <p:cNvSpPr/>
                <p:nvPr/>
              </p:nvSpPr>
              <p:spPr>
                <a:xfrm>
                  <a:off x="1257300" y="2427789"/>
                  <a:ext cx="6858000" cy="88534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pPr marL="682625"/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Power of a Product</a:t>
                  </a:r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  <a:p>
                  <a:pPr marL="682625"/>
                  <a14:m>
                    <m:oMath xmlns:m="http://schemas.openxmlformats.org/officeDocument/2006/math"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𝑎𝑏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and conversely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=(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𝑎𝑏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</m:sup>
                      </m:sSup>
                    </m:oMath>
                  </a14:m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</p:txBody>
            </p:sp>
          </mc:Choice>
          <mc:Fallback xmlns="">
            <p:sp>
              <p:nvSpPr>
                <p:cNvPr id="32" name="Rounded Rectangle 31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607E150-A2F2-8143-9450-D9C71A506E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2427789"/>
                  <a:ext cx="6858000" cy="885349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3" name="Shape 7" descr="Icon&#10;&#10;Description automatically generated">
              <a:extLst>
                <a:ext uri="{FF2B5EF4-FFF2-40B4-BE49-F238E27FC236}">
                  <a16:creationId xmlns:a16="http://schemas.microsoft.com/office/drawing/2014/main" id="{BA217092-DCC0-174D-8A6C-5F1E9AEC56F6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30492" y="2578521"/>
              <a:ext cx="539750" cy="53931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34" name="Group 33"/>
          <p:cNvGrpSpPr/>
          <p:nvPr/>
        </p:nvGrpSpPr>
        <p:grpSpPr>
          <a:xfrm>
            <a:off x="2144946" y="3993144"/>
            <a:ext cx="6858000" cy="885349"/>
            <a:chOff x="1257300" y="2427789"/>
            <a:chExt cx="6858000" cy="885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ounded Rectangle 34">
                  <a:extLst>
                    <a:ext uri="{FF2B5EF4-FFF2-40B4-BE49-F238E27FC236}">
                      <a16:creationId xmlns:a16="http://schemas.microsoft.com/office/drawing/2014/main" id="{6607E150-A2F2-8143-9450-D9C71A506E94}"/>
                    </a:ext>
                  </a:extLst>
                </p:cNvPr>
                <p:cNvSpPr/>
                <p:nvPr/>
              </p:nvSpPr>
              <p:spPr>
                <a:xfrm>
                  <a:off x="1257300" y="2427789"/>
                  <a:ext cx="6858000" cy="88534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E2EED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91440" rIns="91425" bIns="91440" anchor="ctr" anchorCtr="0">
                  <a:spAutoFit/>
                </a:bodyPr>
                <a:lstStyle/>
                <a:p>
                  <a:pPr marL="682625"/>
                  <a:r>
                    <a:rPr lang="en-US" sz="2000" b="1" i="1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Power of a Power</a:t>
                  </a:r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  <a:p>
                  <a:pPr marL="682625"/>
                  <a14:m>
                    <m:oMath xmlns:m="http://schemas.openxmlformats.org/officeDocument/2006/math"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en-US" sz="2000" dirty="0">
                      <a:solidFill>
                        <a:srgbClr val="6C993D"/>
                      </a:solidFill>
                      <a:latin typeface="Verdana" panose="020B0604030504040204" pitchFamily="34" charset="0"/>
                      <a:ea typeface="Times New Roman" panose="02020603050405020304" pitchFamily="18" charset="0"/>
                    </a:rPr>
                    <a:t> and conversely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𝑚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2000" i="1">
                          <a:solidFill>
                            <a:srgbClr val="6C993D"/>
                          </a:solidFill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x-none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x-none" sz="2000" i="1">
                                  <a:solidFill>
                                    <a:srgbClr val="6C993D"/>
                                  </a:solidFill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x-none" sz="20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solidFill>
                                        <a:srgbClr val="6C993D"/>
                                      </a:solidFill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</a:rPr>
                                    <m:t>𝑚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000" i="1">
                              <a:solidFill>
                                <a:srgbClr val="6C993D"/>
                              </a:solidFill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x-none" sz="2000" dirty="0">
                    <a:latin typeface="Verdana" pitchFamily="34" charset="0"/>
                    <a:ea typeface="Verdana" pitchFamily="34" charset="0"/>
                  </a:endParaRPr>
                </a:p>
              </p:txBody>
            </p:sp>
          </mc:Choice>
          <mc:Fallback xmlns="">
            <p:sp>
              <p:nvSpPr>
                <p:cNvPr id="35" name="Rounded Rectangle 34">
                  <a:extLst>
                    <a:ext uri="{FF2B5EF4-FFF2-40B4-BE49-F238E27FC236}">
                      <a16:creationId xmlns:a16="http://schemas.microsoft.com/office/drawing/2014/main" xmlns:a14="http://schemas.microsoft.com/office/drawing/2010/main" xmlns="" id="{6607E150-A2F2-8143-9450-D9C71A506E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7300" y="2427789"/>
                  <a:ext cx="6858000" cy="885349"/>
                </a:xfrm>
                <a:prstGeom prst="roundRect">
                  <a:avLst>
                    <a:gd name="adj" fmla="val 16667"/>
                  </a:avLst>
                </a:prstGeom>
                <a:blipFill rotWithShape="1">
                  <a:blip r:embed="rId7"/>
                  <a:stretch>
                    <a:fillRect/>
                  </a:stretch>
                </a:blip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36" name="Shape 7" descr="Icon&#10;&#10;Description automatically generated">
              <a:extLst>
                <a:ext uri="{FF2B5EF4-FFF2-40B4-BE49-F238E27FC236}">
                  <a16:creationId xmlns:a16="http://schemas.microsoft.com/office/drawing/2014/main" id="{BA217092-DCC0-174D-8A6C-5F1E9AEC56F6}"/>
                </a:ext>
              </a:extLst>
            </p:cNvPr>
            <p:cNvPicPr preferRelativeResize="0"/>
            <p:nvPr/>
          </p:nvPicPr>
          <p:blipFill rotWithShape="1">
            <a:blip r:embed="rId6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430492" y="2578521"/>
              <a:ext cx="539750" cy="53931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4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49" y="156765"/>
            <a:ext cx="10478463" cy="978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2.1.4 Collaboration: </a:t>
            </a:r>
            <a:b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Raising a Monomial to a Power</a:t>
            </a: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27120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44DF7DE-9172-3E4E-B74A-7A51585FB6EA}"/>
              </a:ext>
            </a:extLst>
          </p:cNvPr>
          <p:cNvSpPr txBox="1"/>
          <p:nvPr/>
        </p:nvSpPr>
        <p:spPr>
          <a:xfrm>
            <a:off x="529070" y="1386025"/>
            <a:ext cx="110015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Additional laws of exponents can be applied to generate equivalent algebraic expressions.</a:t>
            </a:r>
          </a:p>
        </p:txBody>
      </p:sp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59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0DF2D1F-DD91-E443-BF41-CE28FA0913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3560023"/>
                  </p:ext>
                </p:extLst>
              </p:nvPr>
            </p:nvGraphicFramePr>
            <p:xfrm>
              <a:off x="2832755" y="1806066"/>
              <a:ext cx="6766560" cy="4218432"/>
            </p:xfrm>
            <a:graphic>
              <a:graphicData uri="http://schemas.openxmlformats.org/drawingml/2006/table">
                <a:tbl>
                  <a:tblPr bandRow="1"/>
                  <a:tblGrid>
                    <a:gridCol w="1463040">
                      <a:extLst>
                        <a:ext uri="{9D8B030D-6E8A-4147-A177-3AD203B41FA5}">
                          <a16:colId xmlns:a16="http://schemas.microsoft.com/office/drawing/2014/main" val="473703664"/>
                        </a:ext>
                      </a:extLst>
                    </a:gridCol>
                    <a:gridCol w="5303520">
                      <a:extLst>
                        <a:ext uri="{9D8B030D-6E8A-4147-A177-3AD203B41FA5}">
                          <a16:colId xmlns:a16="http://schemas.microsoft.com/office/drawing/2014/main" val="1501058368"/>
                        </a:ext>
                      </a:extLst>
                    </a:gridCol>
                  </a:tblGrid>
                  <a:tr h="1673248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Kaniya’s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(−2)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=_______________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916993891"/>
                      </a:ext>
                    </a:extLst>
                  </a:tr>
                  <a:tr h="1975681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Nicholas’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sup>
                                        </m:s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−2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−2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−2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−2·−2·−2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·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·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·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·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endParaRPr>
                        </a:p>
                        <a:p>
                          <a:pPr marL="0" marR="0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=________________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019140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0DF2D1F-DD91-E443-BF41-CE28FA0913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3560023"/>
                  </p:ext>
                </p:extLst>
              </p:nvPr>
            </p:nvGraphicFramePr>
            <p:xfrm>
              <a:off x="2832755" y="1806066"/>
              <a:ext cx="6766560" cy="4218432"/>
            </p:xfrm>
            <a:graphic>
              <a:graphicData uri="http://schemas.openxmlformats.org/drawingml/2006/table">
                <a:tbl>
                  <a:tblPr bandRow="1"/>
                  <a:tblGrid>
                    <a:gridCol w="146304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473703664"/>
                        </a:ext>
                      </a:extLst>
                    </a:gridCol>
                    <a:gridCol w="530352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501058368"/>
                        </a:ext>
                      </a:extLst>
                    </a:gridCol>
                  </a:tblGrid>
                  <a:tr h="188061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err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Kaniya’s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701" b="-1242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916993891"/>
                      </a:ext>
                    </a:extLst>
                  </a:tr>
                  <a:tr h="2337816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Nicholas’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marL="0" marR="0" algn="ctr">
                            <a:lnSpc>
                              <a:spcPct val="107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9704" marR="49704"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27701" t="-80679" b="-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10191405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Two students began to generate an equivalent expression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−2</m:t>
                            </m:r>
                            <m:sSup>
                              <m:sSup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s-ES" sz="20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s-ES" sz="2000" i="1" dirty="0">
                                    <a:latin typeface="Cambria Math" panose="02040503050406030204" pitchFamily="18" charset="0"/>
                                    <a:ea typeface="Verdana" panose="020B0604030504040204" pitchFamily="34" charset="0"/>
                                    <a:cs typeface="Verdana" panose="020B0604030504040204" pitchFamily="34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s-ES" sz="2000" i="1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beginning of each student’s work is shown. Finish each student’s work.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1015663"/>
              </a:xfrm>
              <a:prstGeom prst="rect">
                <a:avLst/>
              </a:prstGeom>
              <a:blipFill rotWithShape="1">
                <a:blip r:embed="rId5"/>
                <a:stretch>
                  <a:fillRect l="-609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E0814DF0-CB0F-CE4A-A504-DEE56AFFF9B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AA35BC6-D428-FC41-BDE5-6438AB8840FC}"/>
                  </a:ext>
                </a:extLst>
              </p:cNvPr>
              <p:cNvSpPr txBox="1"/>
              <p:nvPr/>
            </p:nvSpPr>
            <p:spPr>
              <a:xfrm>
                <a:off x="540565" y="410666"/>
                <a:ext cx="11018226" cy="51696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</a:t>
                </a:r>
                <a:r>
                  <a:rPr lang="en-US" sz="20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Kaniya’s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Nicholas’ approaches to generating an equivalent expression were different but resulted in the same answer. Write a summary of your discussion.</a:t>
                </a: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Use the expression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12</m:t>
                            </m:r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/>
                                    <a:cs typeface="Cambria Math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5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/>
                            <a:ea typeface="Cambria Math"/>
                            <a:cs typeface="Cambria Math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/>
                        <a:ea typeface="Cambria Math"/>
                        <a:cs typeface="Cambria Math"/>
                      </a:rPr>
                      <m:t>∙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/>
                            <a:cs typeface="Cambria Math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4</m:t>
                            </m:r>
                          </m:den>
                        </m:f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/>
                                <a:cs typeface="Cambria Math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𝑟</m:t>
                            </m:r>
                          </m:e>
                          <m:sup>
                            <m:r>
                              <a:rPr lang="en-US" sz="2000" i="1">
                                <a:latin typeface="Cambria Math"/>
                                <a:ea typeface="Cambria Math"/>
                                <a:cs typeface="Cambria Math"/>
                              </a:rPr>
                              <m:t>7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latin typeface="Verdana"/>
                    <a:ea typeface="Verdana"/>
                    <a:cs typeface="Verdana"/>
                  </a:rPr>
                  <a:t> to complete the following.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Verdana"/>
                    <a:cs typeface="Verdana"/>
                  </a:rPr>
                  <a:t>Find an equivalent expression. Show your work.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/>
                  <a:ea typeface="Verdana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With your partner, compare and discuss the methods you used to create an equivalent algebraic expression.</a:t>
                </a: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2AA35BC6-D428-FC41-BDE5-6438AB884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10666"/>
                <a:ext cx="11018226" cy="5169620"/>
              </a:xfrm>
              <a:prstGeom prst="rect">
                <a:avLst/>
              </a:prstGeom>
              <a:blipFill rotWithShape="1">
                <a:blip r:embed="rId4"/>
                <a:stretch>
                  <a:fillRect l="-609" t="-708" b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14431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13;g104476d1465_1_39"/>
          <p:cNvSpPr txBox="1">
            <a:spLocks/>
          </p:cNvSpPr>
          <p:nvPr/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6341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7C415F7C-B80D-9045-8F02-E331C9B56E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844241"/>
                  </p:ext>
                </p:extLst>
              </p:nvPr>
            </p:nvGraphicFramePr>
            <p:xfrm>
              <a:off x="2726564" y="2478952"/>
              <a:ext cx="7315200" cy="2743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1780981414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1574389468"/>
                        </a:ext>
                      </a:extLst>
                    </a:gridCol>
                  </a:tblGrid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(−3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𝑤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20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9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−7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14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x-non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23</m:t>
                                          </m:r>
                                          <m: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e>
                                        <m:sup>
                                          <m: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6</m:t>
                                          </m:r>
                                        </m:sup>
                                      </m:sSup>
                                    </m:e>
                                  </m:d>
                                </m:e>
                                <m:sup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0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2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𝑘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14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x-none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8580" marR="685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2795308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C415F7C-B80D-9045-8F02-E331C9B56E8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1844241"/>
                  </p:ext>
                </p:extLst>
              </p:nvPr>
            </p:nvGraphicFramePr>
            <p:xfrm>
              <a:off x="2726564" y="2478952"/>
              <a:ext cx="7315200" cy="27432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780981414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1574389468"/>
                        </a:ext>
                      </a:extLst>
                    </a:gridCol>
                  </a:tblGrid>
                  <a:tr h="2743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22" r="-100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22" r="-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42795308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103916" y="201168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2.1.5 Your Turn!</a:t>
            </a:r>
          </a:p>
        </p:txBody>
      </p:sp>
      <p:pic>
        <p:nvPicPr>
          <p:cNvPr id="10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59C3E41-93EC-B84D-963F-86A3B15AC1C6}"/>
              </a:ext>
            </a:extLst>
          </p:cNvPr>
          <p:cNvSpPr txBox="1"/>
          <p:nvPr/>
        </p:nvSpPr>
        <p:spPr>
          <a:xfrm>
            <a:off x="730266" y="1408886"/>
            <a:ext cx="1080031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an equivalent monomial expression for each expression using the laws of exponents. Show your work.</a:t>
            </a:r>
          </a:p>
        </p:txBody>
      </p:sp>
    </p:spTree>
    <p:extLst>
      <p:ext uri="{BB962C8B-B14F-4D97-AF65-F5344CB8AC3E}">
        <p14:creationId xmlns:p14="http://schemas.microsoft.com/office/powerpoint/2010/main" val="19480712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2552E76-08A0-C440-91D6-A501D4FB25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114217"/>
                  </p:ext>
                </p:extLst>
              </p:nvPr>
            </p:nvGraphicFramePr>
            <p:xfrm>
              <a:off x="2837444" y="419746"/>
              <a:ext cx="7315200" cy="5486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3606078106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743619088"/>
                        </a:ext>
                      </a:extLst>
                    </a:gridCol>
                  </a:tblGrid>
                  <a:tr h="2743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  <m:t>27</m:t>
                                  </m:r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30</m:t>
                                      </m:r>
                                    </m:sup>
                                  </m:sSup>
                                </m:e>
                              </m:d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x-none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f>
                                        <m:fPr>
                                          <m:ctrlPr>
                                            <a:rPr lang="x-none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>
                                              <a:effectLst/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US" sz="2000" i="1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mbria Math" panose="02040503050406030204" pitchFamily="18" charset="0"/>
                                        </a:rPr>
                                        <m:t>9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Times New Roman" panose="02020603050405020304" pitchFamily="18" charset="0"/>
                              <a:ea typeface="Times New Roman" panose="02020603050405020304" pitchFamily="18" charset="0"/>
                            </a:rPr>
                            <a:t> </a:t>
                          </a:r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(6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7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sup>
                                    </m:sSup>
                                  </m:e>
                                </m:d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−7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10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14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52440677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(−11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𝑏</m:t>
                                    </m:r>
                                    <m:sSup>
                                      <m:sSup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e>
                                      <m:sup>
                                        <m: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x-none" sz="2000" i="1">
                                            <a:effectLst/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−4</m:t>
                                            </m:r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x-none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𝑦</m:t>
                                            </m:r>
                                          </m:e>
                                          <m:sup>
                                            <m:r>
                                              <a:rPr lang="en-US" sz="20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  <a:cs typeface="Cambria Math" panose="02040503050406030204" pitchFamily="18" charset="0"/>
                                              </a:rPr>
                                              <m:t>12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mbria Math" panose="02040503050406030204" pitchFamily="18" charset="0"/>
                                      </a:rPr>
                                      <m:t>−2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Times New Roman" panose="02020603050405020304" pitchFamily="18" charset="0"/>
                            <a:ea typeface="Times New Roman" panose="02020603050405020304" pitchFamily="18" charset="0"/>
                          </a:endParaRPr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593881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42552E76-08A0-C440-91D6-A501D4FB25F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8114217"/>
                  </p:ext>
                </p:extLst>
              </p:nvPr>
            </p:nvGraphicFramePr>
            <p:xfrm>
              <a:off x="2837444" y="419746"/>
              <a:ext cx="7315200" cy="5486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3606078106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="" xmlns:a16="http://schemas.microsoft.com/office/drawing/2014/main" xmlns:a14="http://schemas.microsoft.com/office/drawing/2010/main" val="743619088"/>
                        </a:ext>
                      </a:extLst>
                    </a:gridCol>
                  </a:tblGrid>
                  <a:tr h="2743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222" r="-100167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222" r="-167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1752440677"/>
                      </a:ext>
                    </a:extLst>
                  </a:tr>
                  <a:tr h="2743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t="-100222" r="-1001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5292" marR="65292" marT="91440" marB="91440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0000" t="-100222" r="-1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xmlns:a14="http://schemas.microsoft.com/office/drawing/2010/main" val="335938810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9194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13;g104476d1465_1_39"/>
          <p:cNvSpPr txBox="1">
            <a:spLocks/>
          </p:cNvSpPr>
          <p:nvPr/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lang="en-US"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B59"/>
          </a:solidFill>
          <a:ln w="9525" cap="flat" cmpd="sng">
            <a:solidFill>
              <a:srgbClr val="F79B59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61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2.1.6 Wrap-Up: Cool Down</a:t>
            </a:r>
          </a:p>
        </p:txBody>
      </p:sp>
      <p:pic>
        <p:nvPicPr>
          <p:cNvPr id="10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730266" y="1376212"/>
                <a:ext cx="10800318" cy="33229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Determine an equivalent expression for each algebraic expression using the laws of exponents. Show your work.</a:t>
                </a:r>
              </a:p>
              <a:p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1.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56</m:t>
                        </m:r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x-non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x-none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2.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x-non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𝑦</m:t>
                        </m:r>
                      </m:e>
                    </m:d>
                    <m:d>
                      <m:dPr>
                        <m:ctrlPr>
                          <a:rPr lang="x-non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7.3</m:t>
                        </m:r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lang="x-none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(0.1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9</m:t>
                            </m:r>
                          </m:sup>
                        </m:sSup>
                        <m:sSup>
                          <m:sSupPr>
                            <m:ctrlPr>
                              <a:rPr lang="x-none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x-none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266" y="1376212"/>
                <a:ext cx="10800318" cy="3322961"/>
              </a:xfrm>
              <a:prstGeom prst="rect">
                <a:avLst/>
              </a:prstGeom>
              <a:blipFill>
                <a:blip r:embed="rId5"/>
                <a:stretch>
                  <a:fillRect l="-587" t="-1141" b="-2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3223</TotalTime>
  <Words>1032</Words>
  <Application>Microsoft Macintosh PowerPoint</Application>
  <PresentationFormat>Widescreen</PresentationFormat>
  <Paragraphs>202</Paragraphs>
  <Slides>23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Arial</vt:lpstr>
      <vt:lpstr>Wingdings</vt:lpstr>
      <vt:lpstr>Verdana</vt:lpstr>
      <vt:lpstr>Courier New</vt:lpstr>
      <vt:lpstr>Century Gothic</vt:lpstr>
      <vt:lpstr>Times New Roman</vt:lpstr>
      <vt:lpstr>Calibri</vt:lpstr>
      <vt:lpstr>Arial Black</vt:lpstr>
      <vt:lpstr>Cambria Math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Akarshna Iyer</cp:lastModifiedBy>
  <cp:revision>46</cp:revision>
  <dcterms:created xsi:type="dcterms:W3CDTF">2015-03-17T18:51:18Z</dcterms:created>
  <dcterms:modified xsi:type="dcterms:W3CDTF">2022-07-21T04:21:35Z</dcterms:modified>
</cp:coreProperties>
</file>