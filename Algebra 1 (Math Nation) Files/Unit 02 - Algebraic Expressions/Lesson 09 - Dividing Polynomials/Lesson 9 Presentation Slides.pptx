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345" r:id="rId4"/>
    <p:sldId id="286" r:id="rId5"/>
    <p:sldId id="261" r:id="rId6"/>
    <p:sldId id="287" r:id="rId7"/>
    <p:sldId id="346" r:id="rId8"/>
    <p:sldId id="347" r:id="rId9"/>
    <p:sldId id="349" r:id="rId10"/>
    <p:sldId id="350" r:id="rId11"/>
    <p:sldId id="386" r:id="rId12"/>
    <p:sldId id="388" r:id="rId13"/>
    <p:sldId id="389" r:id="rId14"/>
    <p:sldId id="376" r:id="rId15"/>
    <p:sldId id="377" r:id="rId16"/>
    <p:sldId id="354" r:id="rId17"/>
    <p:sldId id="355" r:id="rId18"/>
    <p:sldId id="306" r:id="rId19"/>
    <p:sldId id="307" r:id="rId20"/>
  </p:sldIdLst>
  <p:sldSz cx="12192000" cy="6858000"/>
  <p:notesSz cx="6858000" cy="9144000"/>
  <p:embeddedFontLst>
    <p:embeddedFont>
      <p:font typeface="Calibri" pitchFamily="34" charset="0"/>
      <p:regular r:id="rId22"/>
      <p:bold r:id="rId23"/>
      <p:italic r:id="rId24"/>
      <p:boldItalic r:id="rId25"/>
    </p:embeddedFont>
    <p:embeddedFont>
      <p:font typeface="Century Gothic" pitchFamily="34" charset="0"/>
      <p:regular r:id="rId26"/>
      <p:bold r:id="rId27"/>
      <p:italic r:id="rId28"/>
      <p:boldItalic r:id="rId29"/>
    </p:embeddedFont>
    <p:embeddedFont>
      <p:font typeface="Cambria Math" pitchFamily="18" charset="0"/>
      <p:regular r:id="rId30"/>
    </p:embeddedFont>
    <p:embeddedFont>
      <p:font typeface="Arial Black" pitchFamily="34" charset="0"/>
      <p:bold r:id="rId31"/>
    </p:embeddedFont>
    <p:embeddedFont>
      <p:font typeface="Verdana" pitchFamily="34" charset="0"/>
      <p:regular r:id="rId32"/>
      <p:bold r:id="rId33"/>
      <p:italic r:id="rId34"/>
      <p:boldItalic r:id="rId3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3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79B59"/>
    <a:srgbClr val="F26763"/>
    <a:srgbClr val="E24E5F"/>
    <a:srgbClr val="1765AD"/>
    <a:srgbClr val="1664AC"/>
    <a:srgbClr val="BFBFBF"/>
    <a:srgbClr val="C9DF6F"/>
    <a:srgbClr val="417DBF"/>
    <a:srgbClr val="3F2A67"/>
    <a:srgbClr val="26B7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1367"/>
    <p:restoredTop sz="94648"/>
  </p:normalViewPr>
  <p:slideViewPr>
    <p:cSldViewPr snapToGrid="0">
      <p:cViewPr>
        <p:scale>
          <a:sx n="80" d="100"/>
          <a:sy n="80" d="100"/>
        </p:scale>
        <p:origin x="-1397" y="-1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34" Type="http://schemas.openxmlformats.org/officeDocument/2006/relationships/font" Target="fonts/font13.fntdata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font" Target="fonts/font12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8.fntdata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font" Target="fonts/font11.fntdata"/><Relationship Id="rId53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35" Type="http://schemas.openxmlformats.org/officeDocument/2006/relationships/font" Target="fonts/font14.fntdata"/><Relationship Id="rId56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20638141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Video Link: https://</a:t>
            </a:r>
            <a:r>
              <a:rPr lang="en-US" dirty="0" err="1"/>
              <a:t>algebranation.wistia.com</a:t>
            </a:r>
            <a:r>
              <a:rPr lang="en-US" dirty="0"/>
              <a:t>/medias/fi4fidi5y8</a:t>
            </a:r>
            <a:endParaRPr dirty="0"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38804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172432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301364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60605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9011503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0162694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4004327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9496220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691138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9190763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5634030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5.png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90.png"/><Relationship Id="rId4" Type="http://schemas.openxmlformats.org/officeDocument/2006/relationships/image" Target="../media/image2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309;g104476d1465_1_39">
            <a:extLst>
              <a:ext uri="{FF2B5EF4-FFF2-40B4-BE49-F238E27FC236}">
                <a16:creationId xmlns=""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-8100"/>
            <a:ext cx="4094106" cy="6866100"/>
          </a:xfrm>
          <a:prstGeom prst="rect">
            <a:avLst/>
          </a:prstGeom>
          <a:solidFill>
            <a:srgbClr val="F79B59"/>
          </a:solidFill>
          <a:ln w="9525" cap="flat" cmpd="sng">
            <a:solidFill>
              <a:srgbClr val="F79B59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6" name="Picture 5" descr="A blue sign with white text&#10;&#10;Description automatically generated with medium confidence">
            <a:extLst>
              <a:ext uri="{FF2B5EF4-FFF2-40B4-BE49-F238E27FC236}">
                <a16:creationId xmlns="" xmlns:a16="http://schemas.microsoft.com/office/drawing/2014/main" id="{5DE477E5-56CA-9D49-B76A-D5EDA7B79A4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1640" y="1745080"/>
            <a:ext cx="3270825" cy="38128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Google Shape;261;g104476d1465_0_0"/>
          <p:cNvSpPr txBox="1">
            <a:spLocks/>
          </p:cNvSpPr>
          <p:nvPr/>
        </p:nvSpPr>
        <p:spPr>
          <a:xfrm>
            <a:off x="5742834" y="2054277"/>
            <a:ext cx="4925167" cy="3194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Algebra 1</a:t>
            </a:r>
            <a:b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40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2, Lesson 9</a:t>
            </a:r>
            <a:b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Dividing Polynomials</a:t>
            </a:r>
            <a:b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2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1, pg. 100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6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79B59"/>
          </a:solidFill>
          <a:ln w="9525" cap="flat" cmpd="sng">
            <a:solidFill>
              <a:srgbClr val="F79B59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9" name="Google Shape;279;g104476d1465_1_17"/>
          <p:cNvSpPr txBox="1">
            <a:spLocks/>
          </p:cNvSpPr>
          <p:nvPr/>
        </p:nvSpPr>
        <p:spPr>
          <a:xfrm>
            <a:off x="1124050" y="136525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400"/>
            </a:pPr>
            <a:r>
              <a:rPr lang="en-US" sz="4700" b="1" dirty="0" smtClean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lang="en-US"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0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550" y="3723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1" name="Google Shape;280;g104476d1465_1_17">
            <a:extLst>
              <a:ext uri="{FF2B5EF4-FFF2-40B4-BE49-F238E27FC236}">
                <a16:creationId xmlns:mc="http://schemas.openxmlformats.org/markup-compatibility/2006" xmlns:a14="http://schemas.microsoft.com/office/drawing/2010/main" xmlns:a16="http://schemas.microsoft.com/office/drawing/2014/main" xmlns="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514000" y="1600200"/>
            <a:ext cx="1111415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95250" indent="0">
              <a:buNone/>
            </a:pP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MA.912.AR.1.4</a:t>
            </a:r>
          </a:p>
          <a:p>
            <a:pPr marL="552450" lvl="1" indent="0">
              <a:buNone/>
            </a:pP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Divide a polynomial expression by a monomial expression with rational number coefficients. </a:t>
            </a:r>
          </a:p>
        </p:txBody>
      </p:sp>
      <p:sp>
        <p:nvSpPr>
          <p:cNvPr id="12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100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100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1" name="Google Shape;278;g104476d1465_1_17">
            <a:extLst>
              <a:ext uri="{FF2B5EF4-FFF2-40B4-BE49-F238E27FC236}">
                <a16:creationId xmlns:a16="http://schemas.microsoft.com/office/drawing/2014/main" xmlns="" id="{78632872-3F42-3447-924A-20A16C6976F7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79B59"/>
          </a:solidFill>
          <a:ln w="9525" cap="flat" cmpd="sng">
            <a:solidFill>
              <a:srgbClr val="F79B59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12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550" y="3723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3" name="Google Shape;296;g103996e1364_0_10">
            <a:extLst>
              <a:ext uri="{FF2B5EF4-FFF2-40B4-BE49-F238E27FC236}">
                <a16:creationId xmlns=""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1154216" y="1596390"/>
            <a:ext cx="9980509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MA.K12.MTR.2.1 Demonstrate understanding by representing problems in multiple ways.</a:t>
            </a:r>
          </a:p>
          <a:p>
            <a:pPr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MA.K12.MTR.3.1 Complete tasks with mathematical fluency.</a:t>
            </a:r>
          </a:p>
          <a:p>
            <a:pPr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  <a:p>
            <a:pPr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MA.K12.MTR.5.1 Use patterns and structure to help understand and connect mathematical concepts.</a:t>
            </a:r>
          </a:p>
        </p:txBody>
      </p:sp>
      <p:sp>
        <p:nvSpPr>
          <p:cNvPr id="14" name="Google Shape;295;g103996e1364_0_10">
            <a:extLst>
              <a:ext uri="{FF2B5EF4-FFF2-40B4-BE49-F238E27FC236}">
                <a16:creationId xmlns=""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154217" y="129667"/>
            <a:ext cx="802442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</p:spTree>
    <p:extLst>
      <p:ext uri="{BB962C8B-B14F-4D97-AF65-F5344CB8AC3E}">
        <p14:creationId xmlns:p14="http://schemas.microsoft.com/office/powerpoint/2010/main" val="2342996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100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B59"/>
          </a:solidFill>
          <a:ln w="9525" cap="flat" cmpd="sng">
            <a:solidFill>
              <a:srgbClr val="F79B59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sp>
        <p:nvSpPr>
          <p:cNvPr id="19" name="Google Shape;301;g103996e1364_0_16">
            <a:extLst>
              <a:ext uri="{FF2B5EF4-FFF2-40B4-BE49-F238E27FC236}">
                <a16:creationId xmlns:a16="http://schemas.microsoft.com/office/drawing/2014/main" xmlns="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113375" y="30660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</a:t>
            </a:r>
            <a:r>
              <a:rPr lang="en-US" sz="4700" b="1" dirty="0" smtClean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Target</a:t>
            </a:r>
            <a:endParaRPr lang="en-US" sz="4700" b="1" dirty="0">
              <a:solidFill>
                <a:srgbClr val="52BD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0" name="Google Shape;303;g103996e1364_0_16">
            <a:extLst>
              <a:ext uri="{FF2B5EF4-FFF2-40B4-BE49-F238E27FC236}">
                <a16:creationId xmlns:a16="http://schemas.microsoft.com/office/drawing/2014/main" xmlns="" id="{81DC7EB0-4FED-FC45-BAEC-D699ED5C216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1213" y="31986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1" name="Google Shape;302;g103996e1364_0_16">
            <a:extLst>
              <a:ext uri="{FF2B5EF4-FFF2-40B4-BE49-F238E27FC236}">
                <a16:creationId xmlns:a16="http://schemas.microsoft.com/office/drawing/2014/main" xmlns="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514000" y="1600200"/>
            <a:ext cx="11009924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685800" indent="-685800">
              <a:buFont typeface="Wingdings" pitchFamily="2" charset="2"/>
              <a:buChar char="q"/>
            </a:pP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divide a polynomial expression by a monomial expression. </a:t>
            </a:r>
          </a:p>
        </p:txBody>
      </p:sp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79B59"/>
          </a:solidFill>
          <a:ln w="9525" cap="flat" cmpd="sng">
            <a:solidFill>
              <a:srgbClr val="F79B59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101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10" name="Google Shape;312;g104476d1465_1_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1" name="Google Shape;313;g104476d1465_1_39"/>
          <p:cNvSpPr txBox="1">
            <a:spLocks/>
          </p:cNvSpPr>
          <p:nvPr/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lt1"/>
              </a:buClr>
              <a:buSzPts val="4800"/>
            </a:pPr>
            <a:r>
              <a:rPr lang="en-US" sz="5500" b="1" smtClean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lang="en-US"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B59"/>
          </a:solidFill>
          <a:ln w="9525" cap="flat" cmpd="sng">
            <a:solidFill>
              <a:srgbClr val="F79B59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0" name="Rectangle 15">
            <a:extLst>
              <a:ext uri="{FF2B5EF4-FFF2-40B4-BE49-F238E27FC236}">
                <a16:creationId xmlns="" xmlns:a16="http://schemas.microsoft.com/office/drawing/2014/main" id="{3F80061E-0FC7-534E-8F32-815F86902C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1" y="455713"/>
            <a:ext cx="18473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1" name="Rectangle 16">
            <a:extLst>
              <a:ext uri="{FF2B5EF4-FFF2-40B4-BE49-F238E27FC236}">
                <a16:creationId xmlns="" xmlns:a16="http://schemas.microsoft.com/office/drawing/2014/main" id="{F0663C2D-D71E-9747-B131-91E050FC8D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1" y="3808513"/>
            <a:ext cx="18473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2" name="Rectangle 18">
            <a:extLst>
              <a:ext uri="{FF2B5EF4-FFF2-40B4-BE49-F238E27FC236}">
                <a16:creationId xmlns="" xmlns:a16="http://schemas.microsoft.com/office/drawing/2014/main" id="{1EDB4A78-8756-D641-B2CF-25FE103BD0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1" y="3808513"/>
            <a:ext cx="18473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1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101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="" id="{E1D7562E-134F-D14B-AF1A-DF40E11EF758}"/>
                  </a:ext>
                </a:extLst>
              </p:cNvPr>
              <p:cNvSpPr txBox="1"/>
              <p:nvPr/>
            </p:nvSpPr>
            <p:spPr>
              <a:xfrm>
                <a:off x="479008" y="1497537"/>
                <a:ext cx="11051576" cy="37871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Simplify each expression.</a:t>
                </a:r>
                <a:endParaRPr lang="x-none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  <a:endParaRPr lang="x-none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1.3</m:t>
                    </m:r>
                    <m:r>
                      <a:rPr lang="en-US" sz="2000" i="1"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𝑢</m:t>
                    </m:r>
                    <m:d>
                      <m:dPr>
                        <m:ctrlPr>
                          <a:rPr lang="x-none" sz="2000" i="1">
                            <a:latin typeface="Cambria Math"/>
                            <a:ea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4</m:t>
                        </m:r>
                        <m:sSup>
                          <m:sSupPr>
                            <m:ctrlPr>
                              <a:rPr lang="x-none" sz="2000" i="1">
                                <a:latin typeface="Cambria Math"/>
                                <a:ea typeface="Calibri" panose="020F0502020204030204" pitchFamily="34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5</m:t>
                            </m:r>
                          </m:sup>
                        </m:sSup>
                        <m:r>
                          <a:rPr lang="en-US" sz="2000" i="1"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+7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𝑡</m:t>
                        </m:r>
                      </m:e>
                    </m:d>
                  </m:oMath>
                </a14:m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342900" indent="-342900">
                  <a:buFont typeface="+mj-lt"/>
                  <a:buAutoNum type="arabicPeriod"/>
                </a:pPr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342900" indent="-342900">
                  <a:buFont typeface="+mj-lt"/>
                  <a:buAutoNum type="arabicPeriod"/>
                </a:pPr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342900" indent="-342900">
                  <a:buFont typeface="+mj-lt"/>
                  <a:buAutoNum type="arabicPeriod"/>
                </a:pPr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352425" indent="-352425">
                  <a:buFont typeface="+mj-lt"/>
                  <a:buAutoNum type="arabicPeriod" startAt="2"/>
                </a:pPr>
                <a:r>
                  <a:rPr lang="x-none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x-none" sz="2000" i="1">
                            <a:latin typeface="Cambria Math"/>
                            <a:ea typeface="Calibri" panose="020F0502020204030204" pitchFamily="34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x-none" sz="2000" i="1">
                                <a:latin typeface="Cambria Math"/>
                                <a:ea typeface="Calibri" panose="020F0502020204030204" pitchFamily="34" charset="0"/>
                              </a:rPr>
                            </m:ctrlPr>
                          </m:fPr>
                          <m:num>
                            <m:r>
                              <a:rPr lang="en-US" sz="20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7</m:t>
                            </m:r>
                          </m:num>
                          <m:den>
                            <m:r>
                              <a:rPr lang="en-US" sz="20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10</m:t>
                            </m:r>
                          </m:den>
                        </m:f>
                        <m:sSup>
                          <m:sSupPr>
                            <m:ctrlPr>
                              <a:rPr lang="x-none" sz="2000" i="1">
                                <a:latin typeface="Cambria Math"/>
                                <a:ea typeface="Calibri" panose="020F0502020204030204" pitchFamily="34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𝑔</m:t>
                            </m:r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3</m:t>
                            </m:r>
                          </m:sup>
                        </m:sSup>
                        <m:r>
                          <a:rPr lang="en-US" sz="2000" i="1"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+</m:t>
                        </m:r>
                        <m:sSup>
                          <m:sSupPr>
                            <m:ctrlPr>
                              <a:rPr lang="x-none" sz="2000" i="1">
                                <a:latin typeface="Cambria Math"/>
                                <a:ea typeface="Calibri" panose="020F0502020204030204" pitchFamily="34" charset="0"/>
                              </a:rPr>
                            </m:ctrlPr>
                          </m:sSupPr>
                          <m:e>
                            <m:f>
                              <m:fPr>
                                <m:ctrlPr>
                                  <a:rPr lang="x-none" sz="2000" i="1">
                                    <a:latin typeface="Cambria Math"/>
                                    <a:ea typeface="Calibri" panose="020F0502020204030204" pitchFamily="34" charset="0"/>
                                  </a:rPr>
                                </m:ctrlPr>
                              </m:fPr>
                              <m:num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  <m:t>12</m:t>
                                </m:r>
                              </m:num>
                              <m:den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  <m:t>5</m:t>
                                </m:r>
                              </m:den>
                            </m:f>
                            <m:r>
                              <a:rPr lang="en-US" sz="20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𝑔</m:t>
                            </m:r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+</m:t>
                    </m:r>
                    <m:sSup>
                      <m:sSupPr>
                        <m:ctrlPr>
                          <a:rPr lang="x-none" sz="2000" i="1">
                            <a:latin typeface="Cambria Math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(35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𝑔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4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+6</m:t>
                    </m:r>
                    <m:sSup>
                      <m:sSupPr>
                        <m:ctrlPr>
                          <a:rPr lang="x-none" sz="2000" i="1">
                            <a:latin typeface="Cambria Math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𝑔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2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−10</m:t>
                    </m:r>
                    <m:r>
                      <a:rPr lang="en-US" sz="2000" i="1"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𝑔</m:t>
                    </m:r>
                    <m:r>
                      <a:rPr lang="en-US" sz="2000" i="1"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endParaRPr lang="x-none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352425" indent="-352425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  <a:endParaRPr lang="x-none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352425" indent="-352425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 </a:t>
                </a:r>
                <a:endParaRPr lang="x-none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352425" indent="-352425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  <a:endParaRPr lang="x-none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352425" indent="-352425">
                  <a:buFont typeface="+mj-lt"/>
                  <a:buAutoNum type="arabicPeriod" startAt="3"/>
                </a:pPr>
                <a:r>
                  <a:rPr lang="x-none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x-none" sz="2000" i="1">
                            <a:latin typeface="Cambria Math"/>
                            <a:ea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7</m:t>
                        </m:r>
                        <m:sSup>
                          <m:sSupPr>
                            <m:ctrlPr>
                              <a:rPr lang="x-none" sz="2000" i="1">
                                <a:latin typeface="Cambria Math"/>
                                <a:ea typeface="Calibri" panose="020F0502020204030204" pitchFamily="34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3</m:t>
                            </m:r>
                          </m:sup>
                        </m:sSup>
                        <m:r>
                          <a:rPr lang="en-US" sz="2000" i="1"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𝑦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−</m:t>
                        </m:r>
                        <m:f>
                          <m:fPr>
                            <m:ctrlPr>
                              <a:rPr lang="x-none" sz="2000" i="1">
                                <a:latin typeface="Cambria Math"/>
                                <a:ea typeface="Calibri" panose="020F0502020204030204" pitchFamily="34" charset="0"/>
                              </a:rPr>
                            </m:ctrlPr>
                          </m:fPr>
                          <m:num>
                            <m:r>
                              <a:rPr lang="en-US" sz="20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49</m:t>
                            </m:r>
                          </m:num>
                          <m:den>
                            <m:r>
                              <a:rPr lang="en-US" sz="20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10</m:t>
                            </m:r>
                          </m:den>
                        </m:f>
                        <m:r>
                          <a:rPr lang="en-US" sz="2000" i="1"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𝑥𝑦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−</m:t>
                    </m:r>
                    <m:d>
                      <m:dPr>
                        <m:ctrlPr>
                          <a:rPr lang="x-none" sz="2000" i="1">
                            <a:latin typeface="Cambria Math"/>
                            <a:ea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−</m:t>
                        </m:r>
                        <m:f>
                          <m:fPr>
                            <m:ctrlPr>
                              <a:rPr lang="x-none" sz="2000" i="1">
                                <a:latin typeface="Cambria Math"/>
                                <a:ea typeface="Calibri" panose="020F0502020204030204" pitchFamily="34" charset="0"/>
                              </a:rPr>
                            </m:ctrlPr>
                          </m:fPr>
                          <m:num>
                            <m:r>
                              <a:rPr lang="en-US" sz="20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11</m:t>
                            </m:r>
                          </m:num>
                          <m:den>
                            <m:r>
                              <a:rPr lang="en-US" sz="20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10</m:t>
                            </m:r>
                          </m:den>
                        </m:f>
                        <m:sSup>
                          <m:sSupPr>
                            <m:ctrlPr>
                              <a:rPr lang="x-none" sz="2000" i="1">
                                <a:latin typeface="Cambria Math"/>
                                <a:ea typeface="Calibri" panose="020F0502020204030204" pitchFamily="34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3</m:t>
                            </m:r>
                          </m:sup>
                        </m:sSup>
                        <m:r>
                          <a:rPr lang="en-US" sz="2000" i="1"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𝑦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+ </m:t>
                        </m:r>
                        <m:f>
                          <m:fPr>
                            <m:ctrlPr>
                              <a:rPr lang="x-none" sz="2000" i="1">
                                <a:latin typeface="Cambria Math"/>
                                <a:ea typeface="Calibri" panose="020F0502020204030204" pitchFamily="34" charset="0"/>
                              </a:rPr>
                            </m:ctrlPr>
                          </m:fPr>
                          <m:num>
                            <m:r>
                              <a:rPr lang="en-US" sz="20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US" sz="20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5</m:t>
                            </m:r>
                          </m:den>
                        </m:f>
                        <m:r>
                          <a:rPr lang="en-US" sz="2000" i="1"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𝑥𝑦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+7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𝑥</m:t>
                        </m:r>
                        <m:sSup>
                          <m:sSupPr>
                            <m:ctrlPr>
                              <a:rPr lang="x-none" sz="2000" i="1">
                                <a:latin typeface="Cambria Math"/>
                                <a:ea typeface="Calibri" panose="020F0502020204030204" pitchFamily="34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x-none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="" xmlns:a16="http://schemas.microsoft.com/office/drawing/2014/main" id="{E1D7562E-134F-D14B-AF1A-DF40E11EF7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008" y="1497537"/>
                <a:ext cx="11051576" cy="3787127"/>
              </a:xfrm>
              <a:prstGeom prst="rect">
                <a:avLst/>
              </a:prstGeom>
              <a:blipFill rotWithShape="1">
                <a:blip r:embed="rId4"/>
                <a:stretch>
                  <a:fillRect l="-607" t="-8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Google Shape;324;g103996e1364_0_25">
            <a:extLst>
              <a:ext uri="{FF2B5EF4-FFF2-40B4-BE49-F238E27FC236}">
                <a16:creationId xmlns:a16="http://schemas.microsoft.com/office/drawing/2014/main" xmlns="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52650" y="275689"/>
            <a:ext cx="10834000" cy="590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2.9.1 Warm-Up: Bell Work</a:t>
            </a:r>
          </a:p>
        </p:txBody>
      </p:sp>
      <p:pic>
        <p:nvPicPr>
          <p:cNvPr id="17" name="Google Shape;326;g103996e1364_0_25">
            <a:extLst>
              <a:ext uri="{FF2B5EF4-FFF2-40B4-BE49-F238E27FC236}">
                <a16:creationId xmlns:a16="http://schemas.microsoft.com/office/drawing/2014/main" xmlns="" id="{0B25478F-1F7B-DF44-A9BD-898178E878B3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5350" y="19748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101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1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79B59"/>
          </a:solidFill>
          <a:ln w="9525" cap="flat" cmpd="sng">
            <a:solidFill>
              <a:srgbClr val="F79B59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2" name="Google Shape;313;g104476d1465_1_39"/>
          <p:cNvSpPr txBox="1">
            <a:spLocks/>
          </p:cNvSpPr>
          <p:nvPr/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lt1"/>
              </a:buClr>
              <a:buSzPts val="4800"/>
            </a:pPr>
            <a:r>
              <a:rPr lang="en-US" sz="5500" b="1" smtClean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lang="en-US"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3" name="image2.png" descr="Icon&#10;&#10;Description automatically generated">
            <a:extLst>
              <a:ext uri="{FF2B5EF4-FFF2-40B4-BE49-F238E27FC236}">
                <a16:creationId xmlns="" xmlns:a16="http://schemas.microsoft.com/office/drawing/2014/main" id="{B8663E50-D763-C343-96E8-FEAEDD7FA21B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4506717" y="2849920"/>
            <a:ext cx="1158150" cy="1158150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518889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101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5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79B59"/>
          </a:solidFill>
          <a:ln w="9525" cap="flat" cmpd="sng">
            <a:solidFill>
              <a:srgbClr val="F79B59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6" name="Google Shape;343;g103996e1364_0_321">
            <a:extLst>
              <a:ext uri="{FF2B5EF4-FFF2-40B4-BE49-F238E27FC236}">
                <a16:creationId xmlns=""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052650" y="62866"/>
            <a:ext cx="10957380" cy="978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2.9.2 Guided Instruction: </a:t>
            </a:r>
            <a:r>
              <a:rPr lang="en-US" sz="3200" b="1" dirty="0" smtClean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200" b="1" dirty="0" smtClean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200" b="1" dirty="0" smtClean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Dividing </a:t>
            </a: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Polynomials by Monomials</a:t>
            </a:r>
          </a:p>
        </p:txBody>
      </p:sp>
      <p:pic>
        <p:nvPicPr>
          <p:cNvPr id="17" name="Google Shape;345;g103996e1364_0_321">
            <a:extLst>
              <a:ext uri="{FF2B5EF4-FFF2-40B4-BE49-F238E27FC236}">
                <a16:creationId xmlns="" xmlns:a16="http://schemas.microsoft.com/office/drawing/2014/main" id="{CBDD45DF-949B-9F42-BFF6-A7167F0CF79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5350" y="17856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xmlns="" id="{C01B13E8-EC8D-E443-A329-C5E3593DD13A}"/>
                  </a:ext>
                </a:extLst>
              </p:cNvPr>
              <p:cNvSpPr txBox="1"/>
              <p:nvPr/>
            </p:nvSpPr>
            <p:spPr>
              <a:xfrm>
                <a:off x="545130" y="1386024"/>
                <a:ext cx="10985981" cy="45550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: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Multiplication and division are inverse operations. </a:t>
                </a:r>
                <a:r>
                  <a:rPr lang="en-US" altLang="en-US" sz="2000" dirty="0" smtClean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A </a:t>
                </a:r>
                <a: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polynomial can be multiplied by a monomial. </a:t>
                </a:r>
                <a:r>
                  <a:rPr lang="en-US" altLang="en-US" sz="2000" dirty="0" smtClean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Therefore</a:t>
                </a:r>
                <a: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it can also be divided by one.</a:t>
                </a: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: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  <a:p>
                <a:pPr marL="4572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+mj-lt"/>
                  <a:buAutoNum type="arabicPeriod"/>
                </a:pPr>
                <a: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Consider the expression </a:t>
                </a:r>
                <a14:m>
                  <m:oMath xmlns:m="http://schemas.openxmlformats.org/officeDocument/2006/math">
                    <m:r>
                      <a:rPr lang="en-US" alt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7</m:t>
                    </m:r>
                    <m:r>
                      <a:rPr lang="en-US" alt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US" alt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US" alt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+7)</m:t>
                    </m:r>
                  </m:oMath>
                </a14:m>
                <a: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: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  <a:p>
                <a:pPr marL="9017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+mj-lt"/>
                  <a:buAutoNum type="alphaLcPeriod"/>
                </a:pPr>
                <a: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Determine the product of </a:t>
                </a:r>
                <a14:m>
                  <m:oMath xmlns:m="http://schemas.openxmlformats.org/officeDocument/2006/math">
                    <m:r>
                      <a:rPr lang="en-US" alt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7</m:t>
                    </m:r>
                    <m:r>
                      <a:rPr lang="en-US" alt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US" alt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US" alt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+7)</m:t>
                    </m:r>
                  </m:oMath>
                </a14:m>
                <a: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4572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+mj-lt"/>
                  <a:buAutoNum type="alphaLcPeriod" startAt="2"/>
                </a:pPr>
                <a:endParaRPr lang="en-US" altLang="en-US" sz="2000" dirty="0">
                  <a:solidFill>
                    <a:schemeClr val="tx1"/>
                  </a:solidFill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017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+mj-lt"/>
                  <a:buAutoNum type="alphaLcPeriod" startAt="2"/>
                </a:pPr>
                <a:endParaRPr lang="en-US" altLang="en-US" sz="2000" dirty="0">
                  <a:solidFill>
                    <a:schemeClr val="tx1"/>
                  </a:solidFill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017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+mj-lt"/>
                  <a:buAutoNum type="alphaLcPeriod" startAt="2"/>
                </a:pPr>
                <a:endParaRPr lang="en-US" altLang="en-US" sz="2000" dirty="0">
                  <a:solidFill>
                    <a:schemeClr val="tx1"/>
                  </a:solidFill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01700" indent="-457200" eaLnBrk="0" fontAlgn="base" hangingPunct="0">
                  <a:spcBef>
                    <a:spcPct val="0"/>
                  </a:spcBef>
                  <a:spcAft>
                    <a:spcPts val="1200"/>
                  </a:spcAft>
                  <a:buClrTx/>
                  <a:buFont typeface="+mj-lt"/>
                  <a:buAutoNum type="alphaLcPeriod" startAt="2"/>
                </a:pPr>
                <a: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Write two division equations using the factors </a:t>
                </a:r>
                <a14:m>
                  <m:oMath xmlns:m="http://schemas.openxmlformats.org/officeDocument/2006/math">
                    <m:r>
                      <a:rPr lang="en-US" alt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7</m:t>
                    </m:r>
                    <m:r>
                      <a:rPr lang="en-US" alt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𝑚</m:t>
                    </m:r>
                  </m:oMath>
                </a14:m>
                <a: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alt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US" alt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+7)</m:t>
                    </m:r>
                  </m:oMath>
                </a14:m>
                <a: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and the product of </a:t>
                </a:r>
                <a14:m>
                  <m:oMath xmlns:m="http://schemas.openxmlformats.org/officeDocument/2006/math">
                    <m:r>
                      <a:rPr lang="en-US" alt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7</m:t>
                    </m:r>
                    <m:r>
                      <a:rPr lang="en-US" alt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US" alt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US" alt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+7)</m:t>
                    </m:r>
                  </m:oMath>
                </a14:m>
                <a: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found in Part A</a:t>
                </a:r>
                <a:r>
                  <a:rPr lang="en-US" altLang="en-US" sz="2000" dirty="0" smtClean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en-US" altLang="en-US" sz="2000" dirty="0">
                  <a:solidFill>
                    <a:schemeClr val="tx1"/>
                  </a:solidFill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017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: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______________ ÷ ___________ = _________</a:t>
                </a:r>
              </a:p>
              <a:p>
                <a:pPr marL="9017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:endParaRPr lang="en-US" altLang="en-US" sz="2000" dirty="0">
                  <a:solidFill>
                    <a:schemeClr val="tx1"/>
                  </a:solidFill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017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: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______________ ÷ ___________ = _________</a:t>
                </a: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C01B13E8-EC8D-E443-A329-C5E3593DD1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130" y="1386024"/>
                <a:ext cx="10985981" cy="4555093"/>
              </a:xfrm>
              <a:prstGeom prst="rect">
                <a:avLst/>
              </a:prstGeom>
              <a:blipFill rotWithShape="1">
                <a:blip r:embed="rId5"/>
                <a:stretch>
                  <a:fillRect l="-555" t="-668" r="-832" b="-13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994051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xmlns="" id="{C8F82859-BA98-3646-BF3B-9E17E52A2E35}"/>
                  </a:ext>
                </a:extLst>
              </p:cNvPr>
              <p:cNvSpPr txBox="1"/>
              <p:nvPr/>
            </p:nvSpPr>
            <p:spPr>
              <a:xfrm>
                <a:off x="511205" y="533066"/>
                <a:ext cx="10953207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Label each part of the mathematical statement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(12</m:t>
                    </m:r>
                    <m:sSup>
                      <m:sSupPr>
                        <m:ctrlPr>
                          <a:rPr lang="en-US" sz="2400" i="1" dirty="0">
                            <a:latin typeface="Cambria Math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es-E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𝑥</m:t>
                        </m:r>
                      </m:e>
                      <m:sup>
                        <m:r>
                          <a:rPr lang="es-E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4</m:t>
                        </m:r>
                      </m:sup>
                    </m:sSup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−16</m:t>
                    </m:r>
                    <m:sSup>
                      <m:sSupPr>
                        <m:ctrlPr>
                          <a:rPr lang="en-US" sz="2400" i="1" dirty="0">
                            <a:latin typeface="Cambria Math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es-E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𝑥</m:t>
                        </m:r>
                      </m:e>
                      <m:sup>
                        <m:r>
                          <a:rPr lang="es-E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3</m:t>
                        </m:r>
                      </m:sup>
                    </m:sSup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)÷4</m:t>
                    </m:r>
                    <m:sSup>
                      <m:sSupPr>
                        <m:ctrlPr>
                          <a:rPr lang="en-US" sz="2400" i="1" dirty="0">
                            <a:latin typeface="Cambria Math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es-E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𝑥</m:t>
                        </m:r>
                      </m:e>
                      <m:sup>
                        <m:r>
                          <a:rPr lang="es-E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2</m:t>
                        </m:r>
                      </m:sup>
                    </m:sSup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=3</m:t>
                    </m:r>
                    <m:sSup>
                      <m:sSupPr>
                        <m:ctrlPr>
                          <a:rPr lang="en-US" sz="2400" i="1" dirty="0">
                            <a:latin typeface="Cambria Math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es-E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𝑥</m:t>
                        </m:r>
                      </m:e>
                      <m:sup>
                        <m:r>
                          <a:rPr lang="es-E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2</m:t>
                        </m:r>
                      </m:sup>
                    </m:sSup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−4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𝑥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using words from the bank.</a:t>
                </a: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algn="ctr"/>
                <a:r>
                  <a:rPr lang="en-US" sz="2400" b="1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Word Bank</a:t>
                </a:r>
              </a:p>
              <a:p>
                <a:pPr algn="ctr"/>
                <a:endParaRPr lang="en-US" sz="2400" b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algn="ctr"/>
                <a:r>
                  <a:rPr lang="en-US" sz="2400" b="1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C8F82859-BA98-3646-BF3B-9E17E52A2E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205" y="533066"/>
                <a:ext cx="10953207" cy="2308324"/>
              </a:xfrm>
              <a:prstGeom prst="rect">
                <a:avLst/>
              </a:prstGeom>
              <a:blipFill rotWithShape="1">
                <a:blip r:embed="rId3"/>
                <a:stretch>
                  <a:fillRect l="-890" t="-2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79B59"/>
          </a:solidFill>
          <a:ln w="9525" cap="flat" cmpd="sng">
            <a:solidFill>
              <a:srgbClr val="F79B59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>
                <a:extLst>
                  <a:ext uri="{FF2B5EF4-FFF2-40B4-BE49-F238E27FC236}">
                    <a16:creationId xmlns="" xmlns:a16="http://schemas.microsoft.com/office/drawing/2014/main" id="{7E1453B7-9368-304C-AC7B-19602F456BF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14565031"/>
                  </p:ext>
                </p:extLst>
              </p:nvPr>
            </p:nvGraphicFramePr>
            <p:xfrm>
              <a:off x="2316000" y="3202418"/>
              <a:ext cx="7560000" cy="144000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520000">
                      <a:extLst>
                        <a:ext uri="{9D8B030D-6E8A-4147-A177-3AD203B41FA5}">
                          <a16:colId xmlns="" xmlns:a16="http://schemas.microsoft.com/office/drawing/2014/main" val="1412053665"/>
                        </a:ext>
                      </a:extLst>
                    </a:gridCol>
                    <a:gridCol w="2520000">
                      <a:extLst>
                        <a:ext uri="{9D8B030D-6E8A-4147-A177-3AD203B41FA5}">
                          <a16:colId xmlns="" xmlns:a16="http://schemas.microsoft.com/office/drawing/2014/main" val="3170553374"/>
                        </a:ext>
                      </a:extLst>
                    </a:gridCol>
                    <a:gridCol w="2520000">
                      <a:extLst>
                        <a:ext uri="{9D8B030D-6E8A-4147-A177-3AD203B41FA5}">
                          <a16:colId xmlns="" xmlns:a16="http://schemas.microsoft.com/office/drawing/2014/main" val="538682469"/>
                        </a:ext>
                      </a:extLst>
                    </a:gridCol>
                  </a:tblGrid>
                  <a:tr h="72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x-none" sz="24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x-none" sz="24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x-none" sz="24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2309571307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4</m:t>
                                </m:r>
                                <m:sSup>
                                  <m:sSupPr>
                                    <m:ctrlPr>
                                      <a:rPr lang="x-none" sz="2400" i="1">
                                        <a:effectLst/>
                                        <a:latin typeface="Cambria Math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x-none" sz="24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3</m:t>
                                </m:r>
                                <m:sSup>
                                  <m:sSupPr>
                                    <m:ctrlPr>
                                      <a:rPr lang="x-none" sz="2400" i="1">
                                        <a:effectLst/>
                                        <a:latin typeface="Cambria Math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−4</m:t>
                                </m:r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x-none" sz="24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12</m:t>
                                </m:r>
                                <m:sSup>
                                  <m:sSupPr>
                                    <m:ctrlPr>
                                      <a:rPr lang="x-none" sz="2400" i="1">
                                        <a:effectLst/>
                                        <a:latin typeface="Cambria Math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4</m:t>
                                    </m:r>
                                  </m:sup>
                                </m:sSup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−16</m:t>
                                </m:r>
                                <m:sSup>
                                  <m:sSupPr>
                                    <m:ctrlPr>
                                      <a:rPr lang="x-none" sz="2400" i="1">
                                        <a:effectLst/>
                                        <a:latin typeface="Cambria Math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x-none" sz="24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34018979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7E1453B7-9368-304C-AC7B-19602F456BF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14565031"/>
                  </p:ext>
                </p:extLst>
              </p:nvPr>
            </p:nvGraphicFramePr>
            <p:xfrm>
              <a:off x="2316000" y="3202418"/>
              <a:ext cx="7560000" cy="144000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520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1412053665"/>
                        </a:ext>
                      </a:extLst>
                    </a:gridCol>
                    <a:gridCol w="2520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3170553374"/>
                        </a:ext>
                      </a:extLst>
                    </a:gridCol>
                    <a:gridCol w="2520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538682469"/>
                        </a:ext>
                      </a:extLst>
                    </a:gridCol>
                  </a:tblGrid>
                  <a:tr h="72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x-none" sz="24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x-none" sz="24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x-none" sz="24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2309571307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242" t="-100847" r="-20048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100000" t="-100847" r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200484" t="-100847" r="-24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340189795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0" name="Picture 9">
            <a:extLst>
              <a:ext uri="{FF2B5EF4-FFF2-40B4-BE49-F238E27FC236}">
                <a16:creationId xmlns="" xmlns:a16="http://schemas.microsoft.com/office/drawing/2014/main" id="{0F1BD2BF-15CB-1842-B4F3-C25D3E5B3397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68867" y="2386059"/>
            <a:ext cx="5854266" cy="525469"/>
          </a:xfrm>
          <a:prstGeom prst="rect">
            <a:avLst/>
          </a:prstGeom>
        </p:spPr>
      </p:pic>
      <p:sp>
        <p:nvSpPr>
          <p:cNvPr id="8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101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140894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="" id="{C8F82859-BA98-3646-BF3B-9E17E52A2E35}"/>
                  </a:ext>
                </a:extLst>
              </p:cNvPr>
              <p:cNvSpPr txBox="1"/>
              <p:nvPr/>
            </p:nvSpPr>
            <p:spPr>
              <a:xfrm>
                <a:off x="511205" y="533066"/>
                <a:ext cx="10953207" cy="54784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spcAft>
                    <a:spcPts val="1200"/>
                  </a:spcAft>
                  <a:buFont typeface="+mj-lt"/>
                  <a:buAutoNum type="arabicPeriod" startAt="3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Consider the polynomial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6</m:t>
                    </m:r>
                    <m:sSup>
                      <m:sSupPr>
                        <m:ctrlPr>
                          <a:rPr lang="en-US" sz="2000" i="1" dirty="0">
                            <a:latin typeface="Cambria Math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es-ES" sz="20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𝑝</m:t>
                        </m:r>
                      </m:e>
                      <m:sup>
                        <m:r>
                          <a:rPr lang="es-ES" sz="20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4</m:t>
                        </m:r>
                      </m:sup>
                    </m:sSup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−8</m:t>
                    </m:r>
                    <m:sSup>
                      <m:sSupPr>
                        <m:ctrlPr>
                          <a:rPr lang="en-US" sz="2000" i="1" dirty="0">
                            <a:latin typeface="Cambria Math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es-ES" sz="20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𝑝</m:t>
                        </m:r>
                      </m:e>
                      <m:sup>
                        <m:r>
                          <a:rPr lang="es-ES" sz="20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3</m:t>
                        </m:r>
                      </m:sup>
                    </m:sSup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+2</m:t>
                    </m:r>
                    <m:sSup>
                      <m:sSupPr>
                        <m:ctrlPr>
                          <a:rPr lang="en-US" sz="2000" i="1" dirty="0">
                            <a:latin typeface="Cambria Math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es-ES" sz="20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𝑝</m:t>
                        </m:r>
                      </m:e>
                      <m:sup>
                        <m:r>
                          <a:rPr lang="es-ES" sz="20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pPr marL="901700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Determine the quotient of each term of the polynomial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6</m:t>
                    </m:r>
                    <m:sSup>
                      <m:sSupPr>
                        <m:ctrlPr>
                          <a:rPr lang="en-US" sz="2000" i="1" dirty="0">
                            <a:latin typeface="Cambria Math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es-ES" sz="20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𝑝</m:t>
                        </m:r>
                      </m:e>
                      <m:sup>
                        <m:r>
                          <a:rPr lang="es-ES" sz="20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4</m:t>
                        </m:r>
                      </m:sup>
                    </m:sSup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−8</m:t>
                    </m:r>
                    <m:sSup>
                      <m:sSupPr>
                        <m:ctrlPr>
                          <a:rPr lang="en-US" sz="2000" i="1" dirty="0">
                            <a:latin typeface="Cambria Math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es-ES" sz="20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𝑝</m:t>
                        </m:r>
                      </m:e>
                      <m:sup>
                        <m:r>
                          <a:rPr lang="es-ES" sz="20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3</m:t>
                        </m:r>
                      </m:sup>
                    </m:sSup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+2</m:t>
                    </m:r>
                    <m:sSup>
                      <m:sSupPr>
                        <m:ctrlPr>
                          <a:rPr lang="en-US" sz="2000" i="1" dirty="0">
                            <a:latin typeface="Cambria Math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es-ES" sz="20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𝑝</m:t>
                        </m:r>
                      </m:e>
                      <m:sup>
                        <m:r>
                          <a:rPr lang="es-ES" sz="20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2</m:t>
                    </m:r>
                    <m:sSup>
                      <m:sSupPr>
                        <m:ctrlPr>
                          <a:rPr lang="en-US" sz="2000" i="1" dirty="0">
                            <a:latin typeface="Cambria Math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es-ES" sz="20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𝑝</m:t>
                        </m:r>
                      </m:e>
                      <m:sup>
                        <m:r>
                          <a:rPr lang="es-ES" sz="20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where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𝑝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≠0</m:t>
                    </m:r>
                  </m:oMath>
                </a14:m>
                <a:r>
                  <a:rPr lang="en-US" sz="20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pPr marL="901700" indent="-457200">
                  <a:buFont typeface="+mj-lt"/>
                  <a:buAutoNum type="alphaLcPeriod"/>
                </a:pPr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01700" indent="-457200">
                  <a:buFont typeface="+mj-lt"/>
                  <a:buAutoNum type="alphaLcPeriod"/>
                </a:pPr>
                <a:endParaRPr lang="en-PH" sz="200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017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01700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Use the quotients found in part a to determine the quotient of </a:t>
                </a:r>
                <a:r>
                  <a:rPr lang="en-US" sz="20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/>
                </a:r>
                <a:br>
                  <a:rPr lang="en-US" sz="20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(6</m:t>
                    </m:r>
                    <m:sSup>
                      <m:sSupPr>
                        <m:ctrlPr>
                          <a:rPr lang="en-US" sz="2000" i="1" dirty="0">
                            <a:latin typeface="Cambria Math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es-ES" sz="20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𝑝</m:t>
                        </m:r>
                      </m:e>
                      <m:sup>
                        <m:r>
                          <a:rPr lang="es-ES" sz="20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4</m:t>
                        </m:r>
                      </m:sup>
                    </m:sSup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−8</m:t>
                    </m:r>
                    <m:sSup>
                      <m:sSupPr>
                        <m:ctrlPr>
                          <a:rPr lang="en-US" sz="2000" i="1" dirty="0">
                            <a:latin typeface="Cambria Math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es-ES" sz="20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𝑝</m:t>
                        </m:r>
                      </m:e>
                      <m:sup>
                        <m:r>
                          <a:rPr lang="es-ES" sz="20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3</m:t>
                        </m:r>
                      </m:sup>
                    </m:sSup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+2</m:t>
                    </m:r>
                    <m:sSup>
                      <m:sSupPr>
                        <m:ctrlPr>
                          <a:rPr lang="en-US" sz="2000" i="1" dirty="0">
                            <a:latin typeface="Cambria Math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es-ES" sz="20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𝑝</m:t>
                        </m:r>
                      </m:e>
                      <m:sup>
                        <m:r>
                          <a:rPr lang="es-ES" sz="20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2</m:t>
                        </m:r>
                      </m:sup>
                    </m:sSup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)÷2</m:t>
                    </m:r>
                    <m:sSup>
                      <m:sSupPr>
                        <m:ctrlPr>
                          <a:rPr lang="en-US" sz="2000" i="1" dirty="0">
                            <a:latin typeface="Cambria Math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es-ES" sz="20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𝑝</m:t>
                        </m:r>
                      </m:e>
                      <m:sup>
                        <m:r>
                          <a:rPr lang="es-ES" sz="20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where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𝑝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≠0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using the area model. </a:t>
                </a:r>
                <a:endParaRPr lang="en-US" sz="200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01700" indent="-457200">
                  <a:buFont typeface="+mj-lt"/>
                  <a:buAutoNum type="alphaLcPeriod"/>
                </a:pPr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01700" indent="-457200">
                  <a:buFont typeface="+mj-lt"/>
                  <a:buAutoNum type="alphaLcPeriod"/>
                </a:pPr>
                <a:endParaRPr lang="en-PH" sz="200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01700" indent="-457200">
                  <a:buFont typeface="+mj-lt"/>
                  <a:buAutoNum type="alphaLcPeriod"/>
                </a:pPr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01700" indent="-457200">
                  <a:buFont typeface="+mj-lt"/>
                  <a:buAutoNum type="alphaLcPeriod"/>
                </a:pPr>
                <a:endParaRPr lang="en-PH" sz="200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01700" indent="-457200">
                  <a:buFont typeface="+mj-lt"/>
                  <a:buAutoNum type="alphaLcPeriod"/>
                </a:pPr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01700" indent="-457200">
                  <a:buFont typeface="+mj-lt"/>
                  <a:buAutoNum type="alphaLcPeriod"/>
                </a:pPr>
                <a:endParaRPr lang="en-PH" sz="200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4450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dirty="0">
                          <a:latin typeface="Cambria Math" panose="020405030504060302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m:t>(6</m:t>
                      </m:r>
                      <m:sSup>
                        <m:sSupPr>
                          <m:ctrlPr>
                            <a:rPr lang="en-US" sz="2000" i="1" dirty="0">
                              <a:latin typeface="Cambria Math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es-ES" sz="2000" i="1" dirty="0"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𝑝</m:t>
                          </m:r>
                        </m:e>
                        <m:sup>
                          <m:r>
                            <a:rPr lang="es-ES" sz="2000" i="1" dirty="0"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4</m:t>
                          </m:r>
                        </m:sup>
                      </m:sSup>
                      <m:r>
                        <a:rPr lang="en-US" sz="2000" i="1" dirty="0">
                          <a:latin typeface="Cambria Math" panose="020405030504060302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m:t>−8</m:t>
                      </m:r>
                      <m:sSup>
                        <m:sSupPr>
                          <m:ctrlPr>
                            <a:rPr lang="en-US" sz="2000" i="1" dirty="0">
                              <a:latin typeface="Cambria Math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es-ES" sz="2000" i="1" dirty="0"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𝑝</m:t>
                          </m:r>
                        </m:e>
                        <m:sup>
                          <m:r>
                            <a:rPr lang="es-ES" sz="2000" i="1" dirty="0"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3</m:t>
                          </m:r>
                        </m:sup>
                      </m:sSup>
                      <m:r>
                        <a:rPr lang="en-US" sz="2000" i="1" dirty="0">
                          <a:latin typeface="Cambria Math" panose="020405030504060302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m:t>+2</m:t>
                      </m:r>
                      <m:sSup>
                        <m:sSupPr>
                          <m:ctrlPr>
                            <a:rPr lang="en-US" sz="2000" i="1" dirty="0">
                              <a:latin typeface="Cambria Math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es-ES" sz="2000" i="1" dirty="0"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𝑝</m:t>
                          </m:r>
                        </m:e>
                        <m:sup>
                          <m:r>
                            <a:rPr lang="es-ES" sz="2000" i="1" dirty="0"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2</m:t>
                          </m:r>
                        </m:sup>
                      </m:sSup>
                      <m:r>
                        <a:rPr lang="en-US" sz="2000" i="1" dirty="0">
                          <a:latin typeface="Cambria Math" panose="020405030504060302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m:t>)÷2</m:t>
                      </m:r>
                      <m:sSup>
                        <m:sSupPr>
                          <m:ctrlPr>
                            <a:rPr lang="en-US" sz="2000" i="1" dirty="0">
                              <a:latin typeface="Cambria Math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es-ES" sz="2000" i="1" dirty="0"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𝑝</m:t>
                          </m:r>
                        </m:e>
                        <m:sup>
                          <m:r>
                            <a:rPr lang="es-ES" sz="2000" i="1" dirty="0"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2</m:t>
                          </m:r>
                        </m:sup>
                      </m:sSup>
                      <m:r>
                        <a:rPr lang="en-US" sz="2000" i="1" dirty="0">
                          <a:latin typeface="Cambria Math" panose="020405030504060302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m:t>=_________________</m:t>
                      </m:r>
                    </m:oMath>
                  </m:oMathPara>
                </a14:m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017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01700" indent="-457200">
                  <a:buFont typeface="+mj-lt"/>
                  <a:buAutoNum type="alphaLcPeriod" startAt="3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Discuss with your partner if the quotient is a polynomial.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C8F82859-BA98-3646-BF3B-9E17E52A2E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205" y="533066"/>
                <a:ext cx="10953207" cy="5478423"/>
              </a:xfrm>
              <a:prstGeom prst="rect">
                <a:avLst/>
              </a:prstGeom>
              <a:blipFill rotWithShape="1">
                <a:blip r:embed="rId3"/>
                <a:stretch>
                  <a:fillRect l="-612" t="-667" b="-10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79B59"/>
          </a:solidFill>
          <a:ln w="9525" cap="flat" cmpd="sng">
            <a:solidFill>
              <a:srgbClr val="F79B59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="" xmlns:a16="http://schemas.microsoft.com/office/drawing/2014/main" id="{432AF6FD-8D84-8542-A1AB-CC068ED204F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66099272"/>
                  </p:ext>
                </p:extLst>
              </p:nvPr>
            </p:nvGraphicFramePr>
            <p:xfrm>
              <a:off x="1553112" y="1838776"/>
              <a:ext cx="7344000" cy="54000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448000">
                      <a:extLst>
                        <a:ext uri="{9D8B030D-6E8A-4147-A177-3AD203B41FA5}">
                          <a16:colId xmlns="" xmlns:a16="http://schemas.microsoft.com/office/drawing/2014/main" val="2307134312"/>
                        </a:ext>
                      </a:extLst>
                    </a:gridCol>
                    <a:gridCol w="2448000">
                      <a:extLst>
                        <a:ext uri="{9D8B030D-6E8A-4147-A177-3AD203B41FA5}">
                          <a16:colId xmlns="" xmlns:a16="http://schemas.microsoft.com/office/drawing/2014/main" val="3697565"/>
                        </a:ext>
                      </a:extLst>
                    </a:gridCol>
                    <a:gridCol w="2448000">
                      <a:extLst>
                        <a:ext uri="{9D8B030D-6E8A-4147-A177-3AD203B41FA5}">
                          <a16:colId xmlns="" xmlns:a16="http://schemas.microsoft.com/office/drawing/2014/main" val="330686870"/>
                        </a:ext>
                      </a:extLst>
                    </a:gridCol>
                  </a:tblGrid>
                  <a:tr h="54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x-none" sz="2000" i="1">
                                      <a:effectLst/>
                                      <a:latin typeface="Cambria Math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6</m:t>
                                  </m:r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𝑝</m:t>
                                  </m:r>
                                </m:e>
                                <m:sup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4</m:t>
                                  </m:r>
                                </m:sup>
                              </m:sSup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÷</m:t>
                              </m:r>
                              <m:sSup>
                                <m:sSupPr>
                                  <m:ctrlPr>
                                    <a:rPr lang="x-none" sz="2000" i="1">
                                      <a:effectLst/>
                                      <a:latin typeface="Cambria Math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𝑝</m:t>
                                  </m:r>
                                </m:e>
                                <m:sup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</m:oMath>
                          </a14:m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 ____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7CAA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x-none" sz="2000" i="1">
                                      <a:effectLst/>
                                      <a:latin typeface="Cambria Math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−8</m:t>
                                  </m:r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𝑝</m:t>
                                  </m:r>
                                </m:e>
                                <m:sup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3</m:t>
                                  </m:r>
                                </m:sup>
                              </m:sSup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÷</m:t>
                              </m:r>
                              <m:sSup>
                                <m:sSupPr>
                                  <m:ctrlPr>
                                    <a:rPr lang="x-none" sz="2000" i="1">
                                      <a:effectLst/>
                                      <a:latin typeface="Cambria Math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𝑝</m:t>
                                  </m:r>
                                </m:e>
                                <m:sup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</m:oMath>
                          </a14:m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 ____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E5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61595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x-none" sz="2000" i="1">
                                      <a:effectLst/>
                                      <a:latin typeface="Cambria Math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𝑝</m:t>
                                  </m:r>
                                </m:e>
                                <m:sup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÷</m:t>
                              </m:r>
                              <m:sSup>
                                <m:sSupPr>
                                  <m:ctrlPr>
                                    <a:rPr lang="x-none" sz="2000" i="1">
                                      <a:effectLst/>
                                      <a:latin typeface="Cambria Math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𝑝</m:t>
                                  </m:r>
                                </m:e>
                                <m:sup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</m:oMath>
                          </a14:m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 ____</a:t>
                          </a:r>
                          <a:endParaRPr lang="x-none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C5E0B3"/>
                        </a:solidFill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26196069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432AF6FD-8D84-8542-A1AB-CC068ED204F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66099272"/>
                  </p:ext>
                </p:extLst>
              </p:nvPr>
            </p:nvGraphicFramePr>
            <p:xfrm>
              <a:off x="1553112" y="1838776"/>
              <a:ext cx="7344000" cy="54000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448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307134312"/>
                        </a:ext>
                      </a:extLst>
                    </a:gridCol>
                    <a:gridCol w="2448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3697565"/>
                        </a:ext>
                      </a:extLst>
                    </a:gridCol>
                    <a:gridCol w="2448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330686870"/>
                        </a:ext>
                      </a:extLst>
                    </a:gridCol>
                  </a:tblGrid>
                  <a:tr h="54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 rotWithShape="1">
                          <a:blip r:embed="rId4"/>
                          <a:stretch>
                            <a:fillRect l="-249" t="-1136" r="-199751" b="-6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 rotWithShape="1">
                          <a:blip r:embed="rId4"/>
                          <a:stretch>
                            <a:fillRect l="-100499" t="-1136" r="-100249" b="-6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 rotWithShape="1">
                          <a:blip r:embed="rId4"/>
                          <a:stretch>
                            <a:fillRect l="-200000" t="-1136" b="-68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26196069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>
                <a:extLst>
                  <a:ext uri="{FF2B5EF4-FFF2-40B4-BE49-F238E27FC236}">
                    <a16:creationId xmlns="" xmlns:a16="http://schemas.microsoft.com/office/drawing/2014/main" id="{99350A79-D47A-BE44-8F27-D1E2C606E62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55608"/>
                  </p:ext>
                </p:extLst>
              </p:nvPr>
            </p:nvGraphicFramePr>
            <p:xfrm>
              <a:off x="1574347" y="3424825"/>
              <a:ext cx="7200000" cy="114960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800000">
                      <a:extLst>
                        <a:ext uri="{9D8B030D-6E8A-4147-A177-3AD203B41FA5}">
                          <a16:colId xmlns="" xmlns:a16="http://schemas.microsoft.com/office/drawing/2014/main" val="2365176160"/>
                        </a:ext>
                      </a:extLst>
                    </a:gridCol>
                    <a:gridCol w="1800000">
                      <a:extLst>
                        <a:ext uri="{9D8B030D-6E8A-4147-A177-3AD203B41FA5}">
                          <a16:colId xmlns="" xmlns:a16="http://schemas.microsoft.com/office/drawing/2014/main" val="1730554786"/>
                        </a:ext>
                      </a:extLst>
                    </a:gridCol>
                    <a:gridCol w="1800000">
                      <a:extLst>
                        <a:ext uri="{9D8B030D-6E8A-4147-A177-3AD203B41FA5}">
                          <a16:colId xmlns="" xmlns:a16="http://schemas.microsoft.com/office/drawing/2014/main" val="775461441"/>
                        </a:ext>
                      </a:extLst>
                    </a:gridCol>
                    <a:gridCol w="1800000">
                      <a:extLst>
                        <a:ext uri="{9D8B030D-6E8A-4147-A177-3AD203B41FA5}">
                          <a16:colId xmlns="" xmlns:a16="http://schemas.microsoft.com/office/drawing/2014/main" val="4054821176"/>
                        </a:ext>
                      </a:extLst>
                    </a:gridCol>
                  </a:tblGrid>
                  <a:tr h="54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71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71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7E6E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x-none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571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71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7CAA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71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E5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71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5E0B3"/>
                        </a:solidFill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3735612683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x-none" sz="2000" i="1">
                                        <a:effectLst/>
                                        <a:latin typeface="Cambria Math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𝑝</m:t>
                                    </m:r>
                                  </m:e>
                                  <m:sup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71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71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x-none" sz="2000" i="1">
                                        <a:effectLst/>
                                        <a:latin typeface="Cambria Math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6</m:t>
                                    </m:r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𝑝</m:t>
                                    </m:r>
                                  </m:e>
                                  <m:sup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4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571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71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x-none" sz="2000" i="1">
                                        <a:effectLst/>
                                        <a:latin typeface="Cambria Math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−8</m:t>
                                    </m:r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𝑝</m:t>
                                    </m:r>
                                  </m:e>
                                  <m:sup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71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  <m:sSup>
                                  <m:sSupPr>
                                    <m:ctrlPr>
                                      <a:rPr lang="x-none" sz="2000" i="1">
                                        <a:effectLst/>
                                        <a:latin typeface="Cambria Math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𝑝</m:t>
                                    </m:r>
                                  </m:e>
                                  <m:sup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x-none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71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3185705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99350A79-D47A-BE44-8F27-D1E2C606E62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55608"/>
                  </p:ext>
                </p:extLst>
              </p:nvPr>
            </p:nvGraphicFramePr>
            <p:xfrm>
              <a:off x="1574347" y="3424825"/>
              <a:ext cx="7200000" cy="114960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800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365176160"/>
                        </a:ext>
                      </a:extLst>
                    </a:gridCol>
                    <a:gridCol w="1800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1730554786"/>
                        </a:ext>
                      </a:extLst>
                    </a:gridCol>
                    <a:gridCol w="1800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775461441"/>
                        </a:ext>
                      </a:extLst>
                    </a:gridCol>
                    <a:gridCol w="1800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4054821176"/>
                        </a:ext>
                      </a:extLst>
                    </a:gridCol>
                  </a:tblGrid>
                  <a:tr h="6096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71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71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7E6E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x-none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571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71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7CAA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71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E5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71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5E0B3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3735612683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71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71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t="-114773" r="-300678" b="-11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571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71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99662" t="-114773" r="-199662" b="-11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71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200339" t="-114773" r="-100339" b="-11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71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300339" t="-114773" r="-339" b="-113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3185705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1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102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283;g104476d1465_1_17"/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221471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79B59"/>
          </a:solidFill>
          <a:ln w="9525" cap="flat" cmpd="sng">
            <a:solidFill>
              <a:srgbClr val="F79B59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102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xmlns="" id="{C8F82859-BA98-3646-BF3B-9E17E52A2E35}"/>
                  </a:ext>
                </a:extLst>
              </p:cNvPr>
              <p:cNvSpPr txBox="1"/>
              <p:nvPr/>
            </p:nvSpPr>
            <p:spPr>
              <a:xfrm>
                <a:off x="511205" y="533066"/>
                <a:ext cx="10953207" cy="52229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4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Division of a polynomial can be represented as a fraction.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01700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division of a polynomial by a monomial is shown, where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𝑝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≠0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Simplify each term by using the quotient of powers law.</a:t>
                </a:r>
              </a:p>
              <a:p>
                <a:pPr marL="4572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x-none" sz="2000" i="1">
                            <a:latin typeface="Cambria Math"/>
                            <a:ea typeface="Calibri" panose="020F0502020204030204" pitchFamily="34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(6</m:t>
                        </m:r>
                        <m:sSup>
                          <m:sSupPr>
                            <m:ctrlPr>
                              <a:rPr lang="x-none" sz="2000" i="1">
                                <a:latin typeface="Cambria Math"/>
                                <a:ea typeface="Calibri" panose="020F0502020204030204" pitchFamily="34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4</m:t>
                            </m:r>
                          </m:sup>
                        </m:sSup>
                        <m:r>
                          <a:rPr lang="en-US" sz="2000" i="1"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−8</m:t>
                        </m:r>
                        <m:sSup>
                          <m:sSupPr>
                            <m:ctrlPr>
                              <a:rPr lang="x-none" sz="2000" i="1">
                                <a:latin typeface="Cambria Math"/>
                                <a:ea typeface="Calibri" panose="020F0502020204030204" pitchFamily="34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3</m:t>
                            </m:r>
                          </m:sup>
                        </m:sSup>
                        <m:r>
                          <a:rPr lang="en-US" sz="2000" i="1"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+2</m:t>
                        </m:r>
                        <m:sSup>
                          <m:sSupPr>
                            <m:ctrlPr>
                              <a:rPr lang="x-none" sz="2000" i="1">
                                <a:latin typeface="Cambria Math"/>
                                <a:ea typeface="Calibri" panose="020F0502020204030204" pitchFamily="34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000" i="1"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)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2</m:t>
                        </m:r>
                        <m:sSup>
                          <m:sSupPr>
                            <m:ctrlPr>
                              <a:rPr lang="x-none" sz="2000" i="1">
                                <a:latin typeface="Cambria Math"/>
                                <a:ea typeface="Calibri" panose="020F0502020204030204" pitchFamily="34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sz="2000" i="1"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=</m:t>
                    </m:r>
                    <m:f>
                      <m:fPr>
                        <m:ctrlPr>
                          <a:rPr lang="x-none" sz="2000" i="1">
                            <a:latin typeface="Cambria Math"/>
                            <a:ea typeface="Calibri" panose="020F0502020204030204" pitchFamily="34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6</m:t>
                        </m:r>
                        <m:sSup>
                          <m:sSupPr>
                            <m:ctrlPr>
                              <a:rPr lang="x-none" sz="2000" i="1">
                                <a:latin typeface="Cambria Math"/>
                                <a:ea typeface="Calibri" panose="020F0502020204030204" pitchFamily="34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2</m:t>
                        </m:r>
                        <m:sSup>
                          <m:sSupPr>
                            <m:ctrlPr>
                              <a:rPr lang="x-none" sz="2000" i="1">
                                <a:latin typeface="Cambria Math"/>
                                <a:ea typeface="Calibri" panose="020F0502020204030204" pitchFamily="34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sz="2000" i="1"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−</m:t>
                    </m:r>
                    <m:f>
                      <m:fPr>
                        <m:ctrlPr>
                          <a:rPr lang="x-none" sz="2000" i="1">
                            <a:latin typeface="Cambria Math"/>
                            <a:ea typeface="Calibri" panose="020F0502020204030204" pitchFamily="34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8</m:t>
                        </m:r>
                        <m:sSup>
                          <m:sSupPr>
                            <m:ctrlPr>
                              <a:rPr lang="x-none" sz="2000" i="1">
                                <a:latin typeface="Cambria Math"/>
                                <a:ea typeface="Calibri" panose="020F0502020204030204" pitchFamily="34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2</m:t>
                        </m:r>
                        <m:sSup>
                          <m:sSupPr>
                            <m:ctrlPr>
                              <a:rPr lang="x-none" sz="2000" i="1">
                                <a:latin typeface="Cambria Math"/>
                                <a:ea typeface="Calibri" panose="020F0502020204030204" pitchFamily="34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sz="2000" i="1"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+</m:t>
                    </m:r>
                    <m:f>
                      <m:fPr>
                        <m:ctrlPr>
                          <a:rPr lang="x-none" sz="2000" i="1">
                            <a:latin typeface="Cambria Math"/>
                            <a:ea typeface="Calibri" panose="020F0502020204030204" pitchFamily="34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2</m:t>
                        </m:r>
                        <m:sSup>
                          <m:sSupPr>
                            <m:ctrlPr>
                              <a:rPr lang="x-none" sz="2000" i="1">
                                <a:latin typeface="Cambria Math"/>
                                <a:ea typeface="Calibri" panose="020F0502020204030204" pitchFamily="34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2</m:t>
                        </m:r>
                        <m:sSup>
                          <m:sSupPr>
                            <m:ctrlPr>
                              <a:rPr lang="x-none" sz="2000" i="1">
                                <a:latin typeface="Cambria Math"/>
                                <a:ea typeface="Calibri" panose="020F0502020204030204" pitchFamily="34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sz="2000" i="1"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= ________−________+________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itchFamily="34" charset="0"/>
                  </a:rPr>
                  <a:t> </a:t>
                </a:r>
              </a:p>
              <a:p>
                <a:pPr algn="ctr"/>
                <a:endParaRPr lang="en-US" sz="2000" dirty="0">
                  <a:latin typeface="Verdana" panose="020B0604030504040204" pitchFamily="34" charset="0"/>
                  <a:ea typeface="Verdana" pitchFamily="34" charset="0"/>
                </a:endParaRPr>
              </a:p>
              <a:p>
                <a:pPr marL="901700" indent="-457200">
                  <a:buFont typeface="+mj-lt"/>
                  <a:buAutoNum type="alphaL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01700" indent="-457200">
                  <a:buFont typeface="+mj-lt"/>
                  <a:buAutoNum type="alphaL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01700" indent="-457200">
                  <a:buFont typeface="+mj-lt"/>
                  <a:buAutoNum type="alphaL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Is the quotient a polynomial? Explain why or why not.</a:t>
                </a:r>
              </a:p>
              <a:p>
                <a:pPr marL="901700" indent="-457200">
                  <a:buFont typeface="+mj-lt"/>
                  <a:buAutoNum type="alphaL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01700" indent="-457200">
                  <a:buFont typeface="+mj-lt"/>
                  <a:buAutoNum type="alphaL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01700" indent="-457200">
                  <a:buFont typeface="+mj-lt"/>
                  <a:buAutoNum type="alphaL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01700" indent="-457200">
                  <a:buFont typeface="+mj-lt"/>
                  <a:buAutoNum type="alphaL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01700" indent="-457200">
                  <a:buFont typeface="+mj-lt"/>
                  <a:buAutoNum type="alphaL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Why was it stated that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𝑝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≠0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?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C8F82859-BA98-3646-BF3B-9E17E52A2E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205" y="533066"/>
                <a:ext cx="10953207" cy="5222905"/>
              </a:xfrm>
              <a:prstGeom prst="rect">
                <a:avLst/>
              </a:prstGeom>
              <a:blipFill rotWithShape="1">
                <a:blip r:embed="rId4"/>
                <a:stretch>
                  <a:fillRect l="-612" t="-700" b="-10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986685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14087"/>
            <a:ext cx="223200" cy="6866100"/>
          </a:xfrm>
          <a:prstGeom prst="rect">
            <a:avLst/>
          </a:prstGeom>
          <a:solidFill>
            <a:srgbClr val="F79B59"/>
          </a:solidFill>
          <a:ln w="9525" cap="flat" cmpd="sng">
            <a:solidFill>
              <a:srgbClr val="F79B59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" name="Picture 2" descr="Diagram&#10;&#10;Description automatically generated">
            <a:extLst>
              <a:ext uri="{FF2B5EF4-FFF2-40B4-BE49-F238E27FC236}">
                <a16:creationId xmlns="" xmlns:a16="http://schemas.microsoft.com/office/drawing/2014/main" id="{65B6F366-4A85-A541-844A-01B0BB5F12D0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98822" y="2235417"/>
            <a:ext cx="7377972" cy="3802543"/>
          </a:xfrm>
          <a:prstGeom prst="rect">
            <a:avLst/>
          </a:prstGeom>
        </p:spPr>
      </p:pic>
      <p:sp>
        <p:nvSpPr>
          <p:cNvPr id="7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103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xmlns="" id="{C8F82859-BA98-3646-BF3B-9E17E52A2E35}"/>
                  </a:ext>
                </a:extLst>
              </p:cNvPr>
              <p:cNvSpPr txBox="1"/>
              <p:nvPr/>
            </p:nvSpPr>
            <p:spPr>
              <a:xfrm>
                <a:off x="511205" y="533066"/>
                <a:ext cx="10953207" cy="14960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5"/>
                </a:pPr>
                <a:r>
                  <a:rPr lang="en-US" sz="2000" dirty="0">
                    <a:latin typeface="Verdana" panose="020B0604030504040204" pitchFamily="34" charset="0"/>
                    <a:ea typeface="Verdana" pitchFamily="34" charset="0"/>
                  </a:rPr>
                  <a:t>Consider the expression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x-none" sz="2000" i="1">
                            <a:latin typeface="Cambria Math"/>
                            <a:ea typeface="Calibri" panose="020F0502020204030204" pitchFamily="34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x-none" sz="2000" i="1">
                                <a:latin typeface="Cambria Math"/>
                                <a:ea typeface="Calibri" panose="020F0502020204030204" pitchFamily="34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18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4</m:t>
                            </m:r>
                          </m:sup>
                        </m:sSup>
                        <m:r>
                          <a:rPr lang="en-US" sz="2000" i="1"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𝑑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 </m:t>
                        </m:r>
                        <m:sSup>
                          <m:sSupPr>
                            <m:ctrlPr>
                              <a:rPr lang="x-none" sz="2000" i="1">
                                <a:latin typeface="Cambria Math"/>
                                <a:ea typeface="Calibri" panose="020F0502020204030204" pitchFamily="34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+12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3</m:t>
                            </m:r>
                          </m:sup>
                        </m:sSup>
                        <m:sSup>
                          <m:sSupPr>
                            <m:ctrlPr>
                              <a:rPr lang="x-none" sz="2000" i="1">
                                <a:latin typeface="Cambria Math"/>
                                <a:ea typeface="Calibri" panose="020F0502020204030204" pitchFamily="34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000" i="1"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 −24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𝑏</m:t>
                        </m:r>
                        <m:sSup>
                          <m:sSupPr>
                            <m:ctrlPr>
                              <a:rPr lang="x-none" sz="2000" i="1">
                                <a:latin typeface="Cambria Math"/>
                                <a:ea typeface="Calibri" panose="020F0502020204030204" pitchFamily="34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0.6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𝑏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²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𝑑</m:t>
                        </m:r>
                      </m:den>
                    </m:f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itchFamily="34" charset="0"/>
                  </a:rPr>
                  <a:t>.</a:t>
                </a:r>
                <a:endParaRPr lang="x-none" sz="2000" dirty="0">
                  <a:latin typeface="Verdana" pitchFamily="34" charset="0"/>
                  <a:ea typeface="Verdana" pitchFamily="34" charset="0"/>
                </a:endParaRPr>
              </a:p>
              <a:p>
                <a:pPr marL="457200"/>
                <a:r>
                  <a:rPr lang="en-US" sz="2000" dirty="0">
                    <a:latin typeface="Verdana" panose="020B0604030504040204" pitchFamily="34" charset="0"/>
                    <a:ea typeface="Verdana" pitchFamily="34" charset="0"/>
                  </a:rPr>
                  <a:t> </a:t>
                </a:r>
                <a:endParaRPr lang="x-none" sz="2000" dirty="0">
                  <a:latin typeface="Verdana" pitchFamily="34" charset="0"/>
                  <a:ea typeface="Verdana" pitchFamily="34" charset="0"/>
                </a:endParaRPr>
              </a:p>
              <a:p>
                <a:pPr marL="901700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itchFamily="34" charset="0"/>
                  </a:rPr>
                  <a:t>Fill in the blanks in each step to determine the quotient, where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𝑏</m:t>
                    </m:r>
                    <m:r>
                      <a:rPr lang="en-US" sz="2000" i="1"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≠0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𝑑</m:t>
                    </m:r>
                    <m:r>
                      <a:rPr lang="en-US" sz="2000" i="1"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≠0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itchFamily="34" charset="0"/>
                  </a:rPr>
                  <a:t>.</a:t>
                </a:r>
                <a:endParaRPr lang="x-none" sz="2000" dirty="0">
                  <a:latin typeface="Verdana" pitchFamily="34" charset="0"/>
                  <a:ea typeface="Verdana" pitchFamily="34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C8F82859-BA98-3646-BF3B-9E17E52A2E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205" y="533066"/>
                <a:ext cx="10953207" cy="1496051"/>
              </a:xfrm>
              <a:prstGeom prst="rect">
                <a:avLst/>
              </a:prstGeom>
              <a:blipFill rotWithShape="1">
                <a:blip r:embed="rId5"/>
                <a:stretch>
                  <a:fillRect l="-612" b="-60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69091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mc="http://schemas.openxmlformats.org/markup-compatibility/2006" xmlns:a14="http://schemas.microsoft.com/office/drawing/2010/main" xmlns:a16="http://schemas.microsoft.com/office/drawing/2014/main" xmlns="" id="{C8F82859-BA98-3646-BF3B-9E17E52A2E35}"/>
              </a:ext>
            </a:extLst>
          </p:cNvPr>
          <p:cNvSpPr txBox="1"/>
          <p:nvPr/>
        </p:nvSpPr>
        <p:spPr>
          <a:xfrm>
            <a:off x="511205" y="533066"/>
            <a:ext cx="10953207" cy="5416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1700" indent="-457200">
              <a:buFont typeface="+mj-lt"/>
              <a:buAutoNum type="alphaLcPeriod" startAt="2"/>
            </a:pPr>
            <a:r>
              <a:rPr lang="en-US" sz="2400" dirty="0">
                <a:latin typeface="Verdana" panose="020B0604030504040204" pitchFamily="34" charset="0"/>
                <a:ea typeface="Calibri" panose="020F0502020204030204" pitchFamily="34" charset="0"/>
              </a:rPr>
              <a:t>Discuss with your partner why the quotient is not a polynomial. Summarize your discussion.</a:t>
            </a:r>
          </a:p>
          <a:p>
            <a:pPr marL="457200" indent="-457200">
              <a:buFont typeface="+mj-lt"/>
              <a:buAutoNum type="alphaLcPeriod" startAt="2"/>
            </a:pPr>
            <a:endParaRPr lang="en-US" sz="2400" dirty="0">
              <a:latin typeface="Verdana" panose="020B0604030504040204" pitchFamily="34" charset="0"/>
              <a:ea typeface="Calibri" panose="020F0502020204030204" pitchFamily="34" charset="0"/>
            </a:endParaRPr>
          </a:p>
          <a:p>
            <a:pPr marL="457200" indent="-457200">
              <a:buFont typeface="+mj-lt"/>
              <a:buAutoNum type="alphaLcPeriod" startAt="2"/>
            </a:pPr>
            <a:endParaRPr lang="en-US" sz="2400" dirty="0">
              <a:latin typeface="Verdana" panose="020B0604030504040204" pitchFamily="34" charset="0"/>
              <a:ea typeface="Calibri" panose="020F0502020204030204" pitchFamily="34" charset="0"/>
            </a:endParaRPr>
          </a:p>
          <a:p>
            <a:pPr marL="457200" indent="-457200">
              <a:buFont typeface="+mj-lt"/>
              <a:buAutoNum type="alphaLcPeriod" startAt="2"/>
            </a:pPr>
            <a:endParaRPr lang="en-US" sz="2400" dirty="0">
              <a:latin typeface="Verdana" panose="020B0604030504040204" pitchFamily="34" charset="0"/>
              <a:ea typeface="Calibri" panose="020F0502020204030204" pitchFamily="34" charset="0"/>
            </a:endParaRPr>
          </a:p>
          <a:p>
            <a:pPr marL="457200" indent="-457200">
              <a:buFont typeface="+mj-lt"/>
              <a:buAutoNum type="arabicPeriod" startAt="6"/>
            </a:pPr>
            <a:r>
              <a:rPr lang="en-US" sz="2400" dirty="0">
                <a:latin typeface="Verdana" panose="020B0604030504040204" pitchFamily="34" charset="0"/>
                <a:ea typeface="Calibri" panose="020F0502020204030204" pitchFamily="34" charset="0"/>
              </a:rPr>
              <a:t>Complete that statement. </a:t>
            </a:r>
          </a:p>
          <a:p>
            <a:pPr marL="457200" indent="-457200">
              <a:buFont typeface="+mj-lt"/>
              <a:buAutoNum type="arabicPeriod" startAt="6"/>
            </a:pPr>
            <a:endParaRPr lang="en-US" sz="2400" dirty="0">
              <a:latin typeface="Verdana" panose="020B0604030504040204" pitchFamily="34" charset="0"/>
              <a:ea typeface="Calibri" panose="020F0502020204030204" pitchFamily="34" charset="0"/>
            </a:endParaRPr>
          </a:p>
          <a:p>
            <a:pPr marL="457200" indent="-457200">
              <a:buFont typeface="+mj-lt"/>
              <a:buAutoNum type="arabicPeriod" startAt="6"/>
            </a:pPr>
            <a:endParaRPr lang="en-US" sz="2400" dirty="0">
              <a:latin typeface="Verdana" panose="020B0604030504040204" pitchFamily="34" charset="0"/>
              <a:ea typeface="Calibri" panose="020F0502020204030204" pitchFamily="34" charset="0"/>
            </a:endParaRPr>
          </a:p>
          <a:p>
            <a:pPr marL="444500"/>
            <a:r>
              <a:rPr lang="en-US" sz="2400" dirty="0">
                <a:latin typeface="Verdana" panose="020B0604030504040204" pitchFamily="34" charset="0"/>
                <a:ea typeface="Calibri" panose="020F0502020204030204" pitchFamily="34" charset="0"/>
              </a:rPr>
              <a:t>The result of                         a polynomial</a:t>
            </a:r>
          </a:p>
          <a:p>
            <a:pPr lvl="0"/>
            <a:r>
              <a:rPr lang="en-US" sz="2400" dirty="0">
                <a:latin typeface="Verdana" panose="020B0604030504040204" pitchFamily="34" charset="0"/>
                <a:ea typeface="Calibri" panose="020F0502020204030204" pitchFamily="34" charset="0"/>
              </a:rPr>
              <a:t> </a:t>
            </a:r>
          </a:p>
          <a:p>
            <a:pPr lvl="0"/>
            <a:endParaRPr lang="en-US" sz="2400" dirty="0">
              <a:latin typeface="Verdana" panose="020B0604030504040204" pitchFamily="34" charset="0"/>
              <a:ea typeface="Calibri" panose="020F0502020204030204" pitchFamily="34" charset="0"/>
            </a:endParaRPr>
          </a:p>
          <a:p>
            <a:pPr marL="444500">
              <a:spcBef>
                <a:spcPts val="1200"/>
              </a:spcBef>
            </a:pPr>
            <a:r>
              <a:rPr lang="en-US" sz="2400" dirty="0">
                <a:latin typeface="Verdana" panose="020B0604030504040204" pitchFamily="34" charset="0"/>
                <a:ea typeface="Calibri" panose="020F0502020204030204" pitchFamily="34" charset="0"/>
              </a:rPr>
              <a:t>a polynomial will not always result in a polynomial. </a:t>
            </a:r>
          </a:p>
          <a:p>
            <a:pPr lvl="0"/>
            <a:endParaRPr lang="en-US" sz="2400" dirty="0">
              <a:latin typeface="Verdana" panose="020B0604030504040204" pitchFamily="34" charset="0"/>
              <a:ea typeface="Calibri" panose="020F0502020204030204" pitchFamily="34" charset="0"/>
            </a:endParaRPr>
          </a:p>
          <a:p>
            <a:pPr lvl="0"/>
            <a:endParaRPr lang="en-US" sz="2400" dirty="0">
              <a:latin typeface="Verdana" panose="020B0604030504040204" pitchFamily="34" charset="0"/>
              <a:ea typeface="Calibri" panose="020F0502020204030204" pitchFamily="34" charset="0"/>
            </a:endParaRPr>
          </a:p>
        </p:txBody>
      </p:sp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B59"/>
          </a:solidFill>
          <a:ln w="9525" cap="flat" cmpd="sng">
            <a:solidFill>
              <a:srgbClr val="F79B59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4" name="Picture 3" descr="Text&#10;&#10;Description automatically generated">
            <a:extLst>
              <a:ext uri="{FF2B5EF4-FFF2-40B4-BE49-F238E27FC236}">
                <a16:creationId xmlns="" xmlns:a16="http://schemas.microsoft.com/office/drawing/2014/main" id="{69F5CE2F-9900-CB4F-BC77-68D7B64BB658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71783" y="2893016"/>
            <a:ext cx="2346518" cy="1652868"/>
          </a:xfrm>
          <a:prstGeom prst="rect">
            <a:avLst/>
          </a:prstGeom>
        </p:spPr>
      </p:pic>
      <p:pic>
        <p:nvPicPr>
          <p:cNvPr id="7" name="Picture 6" descr="Shape, rectangle&#10;&#10;Description automatically generated">
            <a:extLst>
              <a:ext uri="{FF2B5EF4-FFF2-40B4-BE49-F238E27FC236}">
                <a16:creationId xmlns="" xmlns:a16="http://schemas.microsoft.com/office/drawing/2014/main" id="{EADC9A91-7F8B-BF41-A79F-50DC25550C5D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54082" y="3168308"/>
            <a:ext cx="1165038" cy="1102284"/>
          </a:xfrm>
          <a:prstGeom prst="rect">
            <a:avLst/>
          </a:prstGeom>
        </p:spPr>
      </p:pic>
      <p:sp>
        <p:nvSpPr>
          <p:cNvPr id="8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103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663178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79B59"/>
          </a:solidFill>
          <a:ln w="9525" cap="flat" cmpd="sng">
            <a:solidFill>
              <a:srgbClr val="F79B59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103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1" name="Google Shape;313;g104476d1465_1_39"/>
          <p:cNvSpPr txBox="1">
            <a:spLocks/>
          </p:cNvSpPr>
          <p:nvPr/>
        </p:nvSpPr>
        <p:spPr>
          <a:xfrm>
            <a:off x="5225955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lt1"/>
              </a:buClr>
              <a:buSzPts val="4800"/>
            </a:pPr>
            <a:r>
              <a:rPr lang="en-US" sz="5500" b="1" smtClean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Practice</a:t>
            </a:r>
            <a:endParaRPr lang="en-US"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2" name="Picture 2" descr="Icon&#10;&#10;Description automatically generated">
            <a:extLst>
              <a:ext uri="{FF2B5EF4-FFF2-40B4-BE49-F238E27FC236}">
                <a16:creationId xmlns="" xmlns:a16="http://schemas.microsoft.com/office/drawing/2014/main" id="{B02E8C6A-53AD-AA4E-A4ED-406F3B0E37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12723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843235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320"/>
            <a:ext cx="223200" cy="6866100"/>
          </a:xfrm>
          <a:prstGeom prst="rect">
            <a:avLst/>
          </a:prstGeom>
          <a:solidFill>
            <a:srgbClr val="F79B59"/>
          </a:solidFill>
          <a:ln w="9525" cap="flat" cmpd="sng">
            <a:solidFill>
              <a:srgbClr val="F79B59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aphicFrame>
        <p:nvGraphicFramePr>
          <p:cNvPr id="3" name="Table 2">
            <a:extLst>
              <a:ext uri="{FF2B5EF4-FFF2-40B4-BE49-F238E27FC236}">
                <a16:creationId xmlns="" xmlns:a16="http://schemas.microsoft.com/office/drawing/2014/main" id="{8DFE4996-5EAD-AC4E-A9E6-BF4FB50BE7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8160675"/>
              </p:ext>
            </p:extLst>
          </p:nvPr>
        </p:nvGraphicFramePr>
        <p:xfrm>
          <a:off x="1276350" y="2343845"/>
          <a:ext cx="7200000" cy="1080000"/>
        </p:xfrm>
        <a:graphic>
          <a:graphicData uri="http://schemas.openxmlformats.org/drawingml/2006/table">
            <a:tbl>
              <a:tblPr firstRow="1" firstCol="1" bandRow="1"/>
              <a:tblGrid>
                <a:gridCol w="1800000">
                  <a:extLst>
                    <a:ext uri="{9D8B030D-6E8A-4147-A177-3AD203B41FA5}">
                      <a16:colId xmlns="" xmlns:a16="http://schemas.microsoft.com/office/drawing/2014/main" val="1012702250"/>
                    </a:ext>
                  </a:extLst>
                </a:gridCol>
                <a:gridCol w="1800000">
                  <a:extLst>
                    <a:ext uri="{9D8B030D-6E8A-4147-A177-3AD203B41FA5}">
                      <a16:colId xmlns="" xmlns:a16="http://schemas.microsoft.com/office/drawing/2014/main" val="2970362885"/>
                    </a:ext>
                  </a:extLst>
                </a:gridCol>
                <a:gridCol w="1800000">
                  <a:extLst>
                    <a:ext uri="{9D8B030D-6E8A-4147-A177-3AD203B41FA5}">
                      <a16:colId xmlns="" xmlns:a16="http://schemas.microsoft.com/office/drawing/2014/main" val="53316977"/>
                    </a:ext>
                  </a:extLst>
                </a:gridCol>
                <a:gridCol w="1800000">
                  <a:extLst>
                    <a:ext uri="{9D8B030D-6E8A-4147-A177-3AD203B41FA5}">
                      <a16:colId xmlns="" xmlns:a16="http://schemas.microsoft.com/office/drawing/2014/main" val="1928025990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Verdana" panose="020B0604030504040204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 </a:t>
                      </a:r>
                      <a:endParaRPr lang="x-none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Verdana" panose="020B0604030504040204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 </a:t>
                      </a:r>
                      <a:endParaRPr lang="x-none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Verdana" panose="020B0604030504040204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 </a:t>
                      </a:r>
                      <a:endParaRPr lang="x-none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Verdana" panose="020B0604030504040204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 </a:t>
                      </a:r>
                      <a:endParaRPr lang="x-none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3343998796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Verdana" panose="020B0604030504040204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 </a:t>
                      </a:r>
                      <a:endParaRPr lang="x-none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Verdana" panose="020B0604030504040204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 </a:t>
                      </a:r>
                      <a:endParaRPr lang="x-none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Verdana" panose="020B0604030504040204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 </a:t>
                      </a:r>
                      <a:endParaRPr lang="x-none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Verdana" panose="020B0604030504040204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 </a:t>
                      </a:r>
                      <a:endParaRPr lang="x-none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801892057"/>
                  </a:ext>
                </a:extLst>
              </a:tr>
            </a:tbl>
          </a:graphicData>
        </a:graphic>
      </p:graphicFrame>
      <p:sp>
        <p:nvSpPr>
          <p:cNvPr id="11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103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4" name="Google Shape;343;g103996e1364_0_321">
            <a:extLst>
              <a:ext uri="{FF2B5EF4-FFF2-40B4-BE49-F238E27FC236}">
                <a16:creationId xmlns:a16="http://schemas.microsoft.com/office/drawing/2014/main" xmlns="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052650" y="136174"/>
            <a:ext cx="10477934" cy="978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2.9.3 Guided Practice: Dividing Polynomials by Monomials</a:t>
            </a:r>
          </a:p>
        </p:txBody>
      </p:sp>
      <p:pic>
        <p:nvPicPr>
          <p:cNvPr id="15" name="Picture 2" descr="Icon&#10;&#10;Description automatically generated">
            <a:extLst>
              <a:ext uri="{FF2B5EF4-FFF2-40B4-BE49-F238E27FC236}">
                <a16:creationId xmlns:a16="http://schemas.microsoft.com/office/drawing/2014/main" xmlns="" id="{B3C42596-1BDF-794D-A82A-7C54635CB8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2842" y="250614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="" xmlns:a16="http://schemas.microsoft.com/office/drawing/2014/main" id="{31D40250-DEDD-2C41-8538-3D4DD18CCC4A}"/>
                  </a:ext>
                </a:extLst>
              </p:cNvPr>
              <p:cNvSpPr txBox="1"/>
              <p:nvPr/>
            </p:nvSpPr>
            <p:spPr>
              <a:xfrm>
                <a:off x="731519" y="1491419"/>
                <a:ext cx="10758527" cy="46086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44500" indent="-4445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+mj-lt"/>
                  <a:buAutoNum type="arabicPeriod"/>
                </a:pPr>
                <a: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Use the area model to find </a:t>
                </a:r>
                <a14:m>
                  <m:oMath xmlns:m="http://schemas.openxmlformats.org/officeDocument/2006/math">
                    <m:r>
                      <a:rPr lang="en-US" alt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(3</m:t>
                    </m:r>
                    <m:r>
                      <a:rPr lang="en-US" alt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𝑎𝑐</m:t>
                    </m:r>
                    <m:r>
                      <a:rPr lang="en-US" alt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+2.1</m:t>
                    </m:r>
                    <m:sSup>
                      <m:sSupPr>
                        <m:ctrlPr>
                          <a:rPr lang="en-US" altLang="en-US" sz="2000" i="1" dirty="0">
                            <a:solidFill>
                              <a:schemeClr val="tx1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s-ES" altLang="en-US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p>
                        <m:r>
                          <a:rPr lang="es-ES" altLang="en-US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sup>
                    </m:sSup>
                    <m:r>
                      <a:rPr lang="en-US" alt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𝑐</m:t>
                    </m:r>
                    <m:r>
                      <a:rPr lang="en-US" alt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−1.5</m:t>
                    </m:r>
                    <m:r>
                      <a:rPr lang="en-US" alt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𝑎</m:t>
                    </m:r>
                    <m:sSup>
                      <m:sSupPr>
                        <m:ctrlPr>
                          <a:rPr lang="en-US" altLang="en-US" sz="2000" i="1" dirty="0">
                            <a:solidFill>
                              <a:schemeClr val="tx1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s-ES" altLang="en-US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  <m:sup>
                        <m:r>
                          <a:rPr lang="es-ES" altLang="en-US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)÷3</m:t>
                    </m:r>
                    <m:r>
                      <a:rPr lang="en-US" alt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𝑎𝑐</m:t>
                    </m:r>
                  </m:oMath>
                </a14:m>
                <a: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where </a:t>
                </a:r>
                <a14:m>
                  <m:oMath xmlns:m="http://schemas.openxmlformats.org/officeDocument/2006/math">
                    <m:r>
                      <a:rPr lang="en-US" alt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alt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≠0</m:t>
                    </m:r>
                  </m:oMath>
                </a14:m>
                <a: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and     </a:t>
                </a:r>
                <a14:m>
                  <m:oMath xmlns:m="http://schemas.openxmlformats.org/officeDocument/2006/math">
                    <m:r>
                      <a:rPr lang="en-US" alt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𝑐</m:t>
                    </m:r>
                    <m:r>
                      <a:rPr lang="en-US" alt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≠0</m:t>
                    </m:r>
                  </m:oMath>
                </a14:m>
                <a:r>
                  <a:rPr lang="en-US" altLang="en-US" sz="2000" dirty="0" smtClean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444500" indent="-4445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+mj-lt"/>
                  <a:buAutoNum type="arabicPeriod"/>
                </a:pPr>
                <a:endParaRPr lang="en-PH" altLang="en-US" sz="2000" dirty="0">
                  <a:solidFill>
                    <a:schemeClr val="tx1"/>
                  </a:solidFill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44500" indent="-4445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+mj-lt"/>
                  <a:buAutoNum type="arabicPeriod"/>
                </a:pPr>
                <a:endParaRPr lang="en-PH" altLang="en-US" sz="2000" dirty="0" smtClean="0">
                  <a:solidFill>
                    <a:schemeClr val="tx1"/>
                  </a:solidFill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44500" indent="-4445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+mj-lt"/>
                  <a:buAutoNum type="arabicPeriod"/>
                </a:pPr>
                <a:endParaRPr lang="en-PH" altLang="en-US" sz="2000" dirty="0">
                  <a:solidFill>
                    <a:schemeClr val="tx1"/>
                  </a:solidFill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44500" indent="-4445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+mj-lt"/>
                  <a:buAutoNum type="arabicPeriod"/>
                </a:pPr>
                <a:endParaRPr lang="en-PH" altLang="en-US" sz="2000" dirty="0" smtClean="0">
                  <a:solidFill>
                    <a:schemeClr val="tx1"/>
                  </a:solidFill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44500" indent="-4445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+mj-lt"/>
                  <a:buAutoNum type="arabicPeriod"/>
                </a:pPr>
                <a:endParaRPr lang="en-US" altLang="en-US" sz="2000" dirty="0" smtClean="0">
                  <a:solidFill>
                    <a:schemeClr val="tx1"/>
                  </a:solidFill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+mj-lt"/>
                  <a:buAutoNum type="arabicPeriod" startAt="2"/>
                </a:pPr>
                <a: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Find the quotient if </a:t>
                </a:r>
                <a14:m>
                  <m:oMath xmlns:m="http://schemas.openxmlformats.org/officeDocument/2006/math">
                    <m:r>
                      <a:rPr lang="en-US" alt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≠0</m:t>
                    </m:r>
                  </m:oMath>
                </a14:m>
                <a: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alt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alt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≠0</m:t>
                    </m:r>
                  </m:oMath>
                </a14:m>
                <a: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</a:p>
              <a:p>
                <a:pPr marL="4572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+mj-lt"/>
                  <a:buAutoNum type="arabicPeriod" startAt="2"/>
                </a:pPr>
                <a:endParaRPr lang="en-US" altLang="en-US" sz="2000" dirty="0">
                  <a:solidFill>
                    <a:schemeClr val="tx1"/>
                  </a:solidFill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en-US" sz="2000" i="1">
                              <a:solidFill>
                                <a:schemeClr val="tx1"/>
                              </a:solidFill>
                              <a:latin typeface="Cambria Math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s-ES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56</m:t>
                          </m:r>
                          <m:sSup>
                            <m:sSupPr>
                              <m:ctrlPr>
                                <a:rPr lang="es-ES" altLang="en-US" sz="2000" i="1">
                                  <a:solidFill>
                                    <a:schemeClr val="tx1"/>
                                  </a:solidFill>
                                  <a:latin typeface="Cambria Math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s-ES" alt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s-ES" alt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lang="es-ES" altLang="en-US" sz="2000" i="1">
                                  <a:solidFill>
                                    <a:schemeClr val="tx1"/>
                                  </a:solidFill>
                                  <a:latin typeface="Cambria Math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s-ES" alt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s-ES" alt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s-ES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−16</m:t>
                          </m:r>
                          <m:sSup>
                            <m:sSupPr>
                              <m:ctrlPr>
                                <a:rPr lang="es-ES" altLang="en-US" sz="2000" i="1">
                                  <a:solidFill>
                                    <a:schemeClr val="tx1"/>
                                  </a:solidFill>
                                  <a:latin typeface="Cambria Math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s-ES" alt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s-ES" alt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lang="es-ES" altLang="en-US" sz="2000" i="1">
                                  <a:solidFill>
                                    <a:schemeClr val="tx1"/>
                                  </a:solidFill>
                                  <a:latin typeface="Cambria Math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s-ES" alt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s-ES" alt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4</m:t>
                              </m:r>
                            </m:sup>
                          </m:sSup>
                          <m:r>
                            <a:rPr lang="es-ES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−48</m:t>
                          </m:r>
                          <m:sSup>
                            <m:sSupPr>
                              <m:ctrlPr>
                                <a:rPr lang="es-ES" altLang="en-US" sz="2000" i="1">
                                  <a:solidFill>
                                    <a:schemeClr val="tx1"/>
                                  </a:solidFill>
                                  <a:latin typeface="Cambria Math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s-ES" alt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s-ES" alt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4</m:t>
                              </m:r>
                            </m:sup>
                          </m:sSup>
                          <m:sSup>
                            <m:sSupPr>
                              <m:ctrlPr>
                                <a:rPr lang="es-ES" altLang="en-US" sz="2000" i="1">
                                  <a:solidFill>
                                    <a:schemeClr val="tx1"/>
                                  </a:solidFill>
                                  <a:latin typeface="Cambria Math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s-ES" alt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s-ES" alt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</m:sup>
                          </m:sSup>
                        </m:num>
                        <m:den>
                          <m:r>
                            <a:rPr lang="es-ES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−8</m:t>
                          </m:r>
                          <m:sSup>
                            <m:sSupPr>
                              <m:ctrlPr>
                                <a:rPr lang="es-ES" altLang="en-US" sz="2000" i="1">
                                  <a:solidFill>
                                    <a:schemeClr val="tx1"/>
                                  </a:solidFill>
                                  <a:latin typeface="Cambria Math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s-ES" alt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s-ES" alt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lang="es-ES" altLang="en-US" sz="2000" i="1">
                                  <a:solidFill>
                                    <a:schemeClr val="tx1"/>
                                  </a:solidFill>
                                  <a:latin typeface="Cambria Math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s-ES" alt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s-ES" alt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4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altLang="en-US" sz="2000" dirty="0">
                  <a:solidFill>
                    <a:schemeClr val="tx1"/>
                  </a:solidFill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:endParaRPr lang="en-US" altLang="en-US" sz="2000" dirty="0">
                  <a:solidFill>
                    <a:schemeClr val="tx1"/>
                  </a:solidFill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:endParaRPr lang="en-US" altLang="en-US" sz="2000" dirty="0">
                  <a:solidFill>
                    <a:schemeClr val="tx1"/>
                  </a:solidFill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+mj-lt"/>
                  <a:buAutoNum type="arabicPeriod" startAt="3"/>
                </a:pPr>
                <a: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Divide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en-US" sz="2000" i="1">
                            <a:solidFill>
                              <a:schemeClr val="tx1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en-US" sz="2000" i="1">
                                <a:solidFill>
                                  <a:schemeClr val="tx1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s-ES" alt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s-ES" alt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5</m:t>
                            </m:r>
                          </m:den>
                        </m:f>
                        <m:sSup>
                          <m:sSupPr>
                            <m:ctrlPr>
                              <a:rPr lang="en-US" altLang="en-US" sz="2000" i="1">
                                <a:solidFill>
                                  <a:schemeClr val="tx1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s-ES" alt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s-ES" alt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s-ES" alt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s-ES" altLang="en-US" sz="2000" i="1">
                                <a:solidFill>
                                  <a:schemeClr val="tx1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s-ES" alt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s-ES" alt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3</m:t>
                            </m:r>
                          </m:den>
                        </m:f>
                        <m:r>
                          <a:rPr lang="es-ES" alt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e>
                    </m:d>
                    <m:r>
                      <a:rPr lang="en-US" alt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÷</m:t>
                    </m:r>
                    <m:d>
                      <m:dPr>
                        <m:ctrlPr>
                          <a:rPr lang="en-US" altLang="en-US" sz="2000" i="1">
                            <a:solidFill>
                              <a:schemeClr val="tx1"/>
                            </a:solidFill>
                            <a:latin typeface="Cambria Math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s-ES" alt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altLang="en-US" sz="2000" i="1">
                                <a:solidFill>
                                  <a:schemeClr val="tx1"/>
                                </a:solidFill>
                                <a:latin typeface="Cambria Math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s-ES" alt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s-ES" alt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6</m:t>
                            </m:r>
                          </m:den>
                        </m:f>
                        <m:r>
                          <a:rPr lang="es-ES" alt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e>
                    </m:d>
                  </m:oMath>
                </a14:m>
                <a: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where </a:t>
                </a:r>
                <a14:m>
                  <m:oMath xmlns:m="http://schemas.openxmlformats.org/officeDocument/2006/math">
                    <m:r>
                      <a:rPr lang="en-US" alt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𝑘</m:t>
                    </m:r>
                    <m:r>
                      <a:rPr lang="en-US" alt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≠0</m:t>
                    </m:r>
                  </m:oMath>
                </a14:m>
                <a:r>
                  <a:rPr lang="en-US" altLang="en-US" sz="2000" dirty="0" smtClean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en-US" altLang="en-US" sz="2000" dirty="0">
                  <a:solidFill>
                    <a:schemeClr val="tx1"/>
                  </a:solidFill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31D40250-DEDD-2C41-8538-3D4DD18CCC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519" y="1491419"/>
                <a:ext cx="10758527" cy="4608698"/>
              </a:xfrm>
              <a:prstGeom prst="rect">
                <a:avLst/>
              </a:prstGeom>
              <a:blipFill rotWithShape="1">
                <a:blip r:embed="rId5"/>
                <a:stretch>
                  <a:fillRect l="-567" t="-7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876743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79B59"/>
          </a:solidFill>
          <a:ln w="9525" cap="flat" cmpd="sng">
            <a:solidFill>
              <a:srgbClr val="F79B59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104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1" name="Google Shape;313;g104476d1465_1_39"/>
          <p:cNvSpPr txBox="1">
            <a:spLocks/>
          </p:cNvSpPr>
          <p:nvPr/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lt1"/>
              </a:buClr>
              <a:buSzPts val="4800"/>
            </a:pPr>
            <a:r>
              <a:rPr lang="en-US" sz="5500" b="1" smtClean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</a:t>
            </a:r>
            <a:endParaRPr lang="en-US" sz="5100" b="1" dirty="0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2" name="Google Shape;423;g103996e1364_0_416">
            <a:extLst>
              <a:ext uri="{FF2B5EF4-FFF2-40B4-BE49-F238E27FC236}">
                <a16:creationId xmlns:a16="http://schemas.microsoft.com/office/drawing/2014/main" xmlns="" id="{93D338D9-F4F3-AC46-BAB5-0DC7D391667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12728" y="2897929"/>
            <a:ext cx="1122440" cy="106214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5363419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B59"/>
          </a:solidFill>
          <a:ln w="9525" cap="flat" cmpd="sng">
            <a:solidFill>
              <a:srgbClr val="F79B59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9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104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1" name="Google Shape;428;g103996e1364_0_428">
            <a:extLst>
              <a:ext uri="{FF2B5EF4-FFF2-40B4-BE49-F238E27FC236}">
                <a16:creationId xmlns="" xmlns:a16="http://schemas.microsoft.com/office/drawing/2014/main" id="{07112538-C7A8-8B4A-B739-C3032B04086A}"/>
              </a:ext>
            </a:extLst>
          </p:cNvPr>
          <p:cNvSpPr txBox="1">
            <a:spLocks/>
          </p:cNvSpPr>
          <p:nvPr/>
        </p:nvSpPr>
        <p:spPr>
          <a:xfrm>
            <a:off x="1103916" y="201168"/>
            <a:ext cx="8019300" cy="7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4400" b="1" dirty="0" smtClean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2.9.4 </a:t>
            </a:r>
            <a:r>
              <a:rPr lang="en-US" sz="44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Turn!</a:t>
            </a:r>
          </a:p>
        </p:txBody>
      </p:sp>
      <p:pic>
        <p:nvPicPr>
          <p:cNvPr id="13" name="Google Shape;430;g103996e1364_0_428">
            <a:extLst>
              <a:ext uri="{FF2B5EF4-FFF2-40B4-BE49-F238E27FC236}">
                <a16:creationId xmlns="" xmlns:a16="http://schemas.microsoft.com/office/drawing/2014/main" id="{032D5487-B5A9-DE4B-AE87-33198BE1614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="" id="{759C3E41-93EC-B84D-963F-86A3B15AC1C6}"/>
                  </a:ext>
                </a:extLst>
              </p:cNvPr>
              <p:cNvSpPr txBox="1"/>
              <p:nvPr/>
            </p:nvSpPr>
            <p:spPr>
              <a:xfrm>
                <a:off x="730266" y="1408886"/>
                <a:ext cx="10800318" cy="31875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Find each quotient. </a:t>
                </a:r>
                <a:endParaRPr lang="x-none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  <a:endParaRPr lang="x-none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342900" indent="-342900">
                  <a:buFont typeface="+mj-lt"/>
                  <a:buAutoNum type="arabicPeriod"/>
                </a:pPr>
                <a:r>
                  <a:rPr lang="x-none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x-none" sz="2000" i="1">
                            <a:latin typeface="Cambria Math"/>
                            <a:ea typeface="Helvetica Neue" panose="02000503000000020004" pitchFamily="2" charset="0"/>
                            <a:cs typeface="Helvetica Neue" panose="02000503000000020004" pitchFamily="2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  <a:ea typeface="Helvetica Neue" panose="02000503000000020004" pitchFamily="2" charset="0"/>
                            <a:cs typeface="Helvetica Neue" panose="02000503000000020004" pitchFamily="2" charset="0"/>
                          </a:rPr>
                          <m:t>7</m:t>
                        </m:r>
                        <m:sSup>
                          <m:sSupPr>
                            <m:ctrlPr>
                              <a:rPr lang="x-none" sz="2000" i="1">
                                <a:latin typeface="Cambria Math"/>
                                <a:ea typeface="Helvetica Neue" panose="02000503000000020004" pitchFamily="2" charset="0"/>
                                <a:cs typeface="Helvetica Neue" panose="02000503000000020004" pitchFamily="2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Helvetica Neue" panose="02000503000000020004" pitchFamily="2" charset="0"/>
                                <a:cs typeface="Helvetica Neue" panose="02000503000000020004" pitchFamily="2" charset="0"/>
                              </a:rPr>
                              <m:t>h</m:t>
                            </m:r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  <a:ea typeface="Helvetica Neue" panose="02000503000000020004" pitchFamily="2" charset="0"/>
                                <a:cs typeface="Helvetica Neue" panose="02000503000000020004" pitchFamily="2" charset="0"/>
                              </a:rPr>
                              <m:t>7</m:t>
                            </m:r>
                          </m:sup>
                        </m:sSup>
                        <m:r>
                          <a:rPr lang="en-US" sz="2000" i="1">
                            <a:latin typeface="Cambria Math" panose="02040503050406030204" pitchFamily="18" charset="0"/>
                            <a:ea typeface="Helvetica Neue" panose="02000503000000020004" pitchFamily="2" charset="0"/>
                            <a:cs typeface="Helvetica Neue" panose="02000503000000020004" pitchFamily="2" charset="0"/>
                          </a:rPr>
                          <m:t>−91</m:t>
                        </m:r>
                        <m:sSup>
                          <m:sSupPr>
                            <m:ctrlPr>
                              <a:rPr lang="x-none" sz="2000" i="1">
                                <a:latin typeface="Cambria Math"/>
                                <a:ea typeface="Helvetica Neue" panose="02000503000000020004" pitchFamily="2" charset="0"/>
                                <a:cs typeface="Helvetica Neue" panose="02000503000000020004" pitchFamily="2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Helvetica Neue" panose="02000503000000020004" pitchFamily="2" charset="0"/>
                                <a:cs typeface="Helvetica Neue" panose="02000503000000020004" pitchFamily="2" charset="0"/>
                              </a:rPr>
                              <m:t>h</m:t>
                            </m:r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  <a:ea typeface="Helvetica Neue" panose="02000503000000020004" pitchFamily="2" charset="0"/>
                                <a:cs typeface="Helvetica Neue" panose="02000503000000020004" pitchFamily="2" charset="0"/>
                              </a:rPr>
                              <m:t>8</m:t>
                            </m:r>
                          </m:sup>
                        </m:sSup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  <a:ea typeface="Helvetica Neue" panose="02000503000000020004" pitchFamily="2" charset="0"/>
                            <a:cs typeface="Helvetica Neue" panose="02000503000000020004" pitchFamily="2" charset="0"/>
                          </a:rPr>
                          <m:t>7</m:t>
                        </m:r>
                        <m:sSup>
                          <m:sSupPr>
                            <m:ctrlPr>
                              <a:rPr lang="x-none" sz="2000" i="1">
                                <a:latin typeface="Cambria Math"/>
                                <a:ea typeface="Helvetica Neue" panose="02000503000000020004" pitchFamily="2" charset="0"/>
                                <a:cs typeface="Helvetica Neue" panose="02000503000000020004" pitchFamily="2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Helvetica Neue" panose="02000503000000020004" pitchFamily="2" charset="0"/>
                                <a:cs typeface="Helvetica Neue" panose="02000503000000020004" pitchFamily="2" charset="0"/>
                              </a:rPr>
                              <m:t>h</m:t>
                            </m:r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  <a:ea typeface="Helvetica Neue" panose="02000503000000020004" pitchFamily="2" charset="0"/>
                                <a:cs typeface="Helvetica Neue" panose="02000503000000020004" pitchFamily="2" charset="0"/>
                              </a:rPr>
                              <m:t>7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where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h</m:t>
                    </m:r>
                    <m:r>
                      <a:rPr lang="en-US" sz="2000" i="1"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≠0</m:t>
                    </m:r>
                  </m:oMath>
                </a14:m>
                <a:endParaRPr lang="en-PH" sz="200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342900" indent="-342900">
                  <a:buFont typeface="+mj-lt"/>
                  <a:buAutoNum type="arabicPeriod"/>
                </a:pPr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342900" indent="-342900">
                  <a:buFont typeface="+mj-lt"/>
                  <a:buAutoNum type="arabicPeriod"/>
                </a:pPr>
                <a:endParaRPr lang="en-PH" sz="200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342900" indent="-342900">
                  <a:buFont typeface="+mj-lt"/>
                  <a:buAutoNum type="arabicPeriod"/>
                </a:pPr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342900" indent="-342900">
                  <a:buFont typeface="+mj-lt"/>
                  <a:buAutoNum type="arabicPeriod"/>
                </a:pPr>
                <a:endParaRPr lang="en-PH" sz="200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342900" indent="-342900">
                  <a:buFont typeface="+mj-lt"/>
                  <a:buAutoNum type="arabicPeriod"/>
                </a:pPr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342900" indent="-342900">
                  <a:buFont typeface="+mj-lt"/>
                  <a:buAutoNum type="arabicPeriod"/>
                </a:pPr>
                <a:r>
                  <a:rPr lang="x-none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x-none" sz="2000" i="1">
                            <a:latin typeface="Cambria Math"/>
                            <a:ea typeface="Helvetica Neue" panose="02000503000000020004" pitchFamily="2" charset="0"/>
                            <a:cs typeface="Helvetica Neue" panose="02000503000000020004" pitchFamily="2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x-none" sz="2000" i="1">
                                <a:latin typeface="Cambria Math"/>
                                <a:ea typeface="Helvetica Neue" panose="02000503000000020004" pitchFamily="2" charset="0"/>
                                <a:cs typeface="Helvetica Neue" panose="02000503000000020004" pitchFamily="2" charset="0"/>
                              </a:rPr>
                            </m:ctrlPr>
                          </m:fPr>
                          <m:num>
                            <m:r>
                              <a:rPr lang="en-US" sz="2000" i="1">
                                <a:latin typeface="Cambria Math" panose="02040503050406030204" pitchFamily="18" charset="0"/>
                                <a:ea typeface="Helvetica Neue" panose="02000503000000020004" pitchFamily="2" charset="0"/>
                                <a:cs typeface="Helvetica Neue" panose="02000503000000020004" pitchFamily="2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000" i="1">
                                <a:latin typeface="Cambria Math" panose="02040503050406030204" pitchFamily="18" charset="0"/>
                                <a:ea typeface="Helvetica Neue" panose="02000503000000020004" pitchFamily="2" charset="0"/>
                                <a:cs typeface="Helvetica Neue" panose="02000503000000020004" pitchFamily="2" charset="0"/>
                              </a:rPr>
                              <m:t>24</m:t>
                            </m:r>
                          </m:den>
                        </m:f>
                        <m:sSup>
                          <m:sSupPr>
                            <m:ctrlPr>
                              <a:rPr lang="x-none" sz="2000" i="1">
                                <a:latin typeface="Cambria Math"/>
                                <a:ea typeface="Helvetica Neue" panose="02000503000000020004" pitchFamily="2" charset="0"/>
                                <a:cs typeface="Helvetica Neue" panose="02000503000000020004" pitchFamily="2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Helvetica Neue" panose="02000503000000020004" pitchFamily="2" charset="0"/>
                                <a:cs typeface="Helvetica Neue" panose="02000503000000020004" pitchFamily="2" charset="0"/>
                              </a:rPr>
                              <m:t>𝑓</m:t>
                            </m:r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  <a:ea typeface="Helvetica Neue" panose="02000503000000020004" pitchFamily="2" charset="0"/>
                                <a:cs typeface="Helvetica Neue" panose="02000503000000020004" pitchFamily="2" charset="0"/>
                              </a:rPr>
                              <m:t>3</m:t>
                            </m:r>
                          </m:sup>
                        </m:sSup>
                        <m:sSup>
                          <m:sSupPr>
                            <m:ctrlPr>
                              <a:rPr lang="x-none" sz="2000" i="1">
                                <a:latin typeface="Cambria Math"/>
                                <a:ea typeface="Helvetica Neue" panose="02000503000000020004" pitchFamily="2" charset="0"/>
                                <a:cs typeface="Helvetica Neue" panose="02000503000000020004" pitchFamily="2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Helvetica Neue" panose="02000503000000020004" pitchFamily="2" charset="0"/>
                                <a:cs typeface="Helvetica Neue" panose="02000503000000020004" pitchFamily="2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  <a:ea typeface="Helvetica Neue" panose="02000503000000020004" pitchFamily="2" charset="0"/>
                                <a:cs typeface="Helvetica Neue" panose="02000503000000020004" pitchFamily="2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000" i="1">
                            <a:latin typeface="Cambria Math" panose="02040503050406030204" pitchFamily="18" charset="0"/>
                            <a:ea typeface="Helvetica Neue" panose="02000503000000020004" pitchFamily="2" charset="0"/>
                            <a:cs typeface="Helvetica Neue" panose="02000503000000020004" pitchFamily="2" charset="0"/>
                          </a:rPr>
                          <m:t>−</m:t>
                        </m:r>
                        <m:f>
                          <m:fPr>
                            <m:ctrlPr>
                              <a:rPr lang="x-none" sz="2000" i="1">
                                <a:latin typeface="Cambria Math"/>
                                <a:ea typeface="Helvetica Neue" panose="02000503000000020004" pitchFamily="2" charset="0"/>
                                <a:cs typeface="Helvetica Neue" panose="02000503000000020004" pitchFamily="2" charset="0"/>
                              </a:rPr>
                            </m:ctrlPr>
                          </m:fPr>
                          <m:num>
                            <m:r>
                              <a:rPr lang="en-US" sz="2000" i="1">
                                <a:latin typeface="Cambria Math" panose="02040503050406030204" pitchFamily="18" charset="0"/>
                                <a:ea typeface="Helvetica Neue" panose="02000503000000020004" pitchFamily="2" charset="0"/>
                                <a:cs typeface="Helvetica Neue" panose="02000503000000020004" pitchFamily="2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000" i="1">
                                <a:latin typeface="Cambria Math" panose="02040503050406030204" pitchFamily="18" charset="0"/>
                                <a:ea typeface="Helvetica Neue" panose="02000503000000020004" pitchFamily="2" charset="0"/>
                                <a:cs typeface="Helvetica Neue" panose="02000503000000020004" pitchFamily="2" charset="0"/>
                              </a:rPr>
                              <m:t>4</m:t>
                            </m:r>
                          </m:den>
                        </m:f>
                        <m:sSup>
                          <m:sSupPr>
                            <m:ctrlPr>
                              <a:rPr lang="x-none" sz="2000" i="1">
                                <a:latin typeface="Cambria Math"/>
                                <a:ea typeface="Helvetica Neue" panose="02000503000000020004" pitchFamily="2" charset="0"/>
                                <a:cs typeface="Helvetica Neue" panose="02000503000000020004" pitchFamily="2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Helvetica Neue" panose="02000503000000020004" pitchFamily="2" charset="0"/>
                                <a:cs typeface="Helvetica Neue" panose="02000503000000020004" pitchFamily="2" charset="0"/>
                              </a:rPr>
                              <m:t>𝑓</m:t>
                            </m:r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  <a:ea typeface="Helvetica Neue" panose="02000503000000020004" pitchFamily="2" charset="0"/>
                                <a:cs typeface="Helvetica Neue" panose="02000503000000020004" pitchFamily="2" charset="0"/>
                              </a:rPr>
                              <m:t>4</m:t>
                            </m:r>
                          </m:sup>
                        </m:sSup>
                        <m:r>
                          <a:rPr lang="en-US" sz="2000" i="1">
                            <a:latin typeface="Cambria Math" panose="02040503050406030204" pitchFamily="18" charset="0"/>
                            <a:ea typeface="Helvetica Neue" panose="02000503000000020004" pitchFamily="2" charset="0"/>
                            <a:cs typeface="Helvetica Neue" panose="02000503000000020004" pitchFamily="2" charset="0"/>
                          </a:rPr>
                          <m:t>𝑟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Helvetica Neue" panose="02000503000000020004" pitchFamily="2" charset="0"/>
                            <a:cs typeface="Helvetica Neue" panose="02000503000000020004" pitchFamily="2" charset="0"/>
                          </a:rPr>
                          <m:t>−</m:t>
                        </m:r>
                        <m:f>
                          <m:fPr>
                            <m:ctrlPr>
                              <a:rPr lang="x-none" sz="2000" i="1">
                                <a:latin typeface="Cambria Math"/>
                                <a:ea typeface="Helvetica Neue" panose="02000503000000020004" pitchFamily="2" charset="0"/>
                                <a:cs typeface="Helvetica Neue" panose="02000503000000020004" pitchFamily="2" charset="0"/>
                              </a:rPr>
                            </m:ctrlPr>
                          </m:fPr>
                          <m:num>
                            <m:r>
                              <a:rPr lang="en-US" sz="2000" i="1">
                                <a:latin typeface="Cambria Math" panose="02040503050406030204" pitchFamily="18" charset="0"/>
                                <a:ea typeface="Helvetica Neue" panose="02000503000000020004" pitchFamily="2" charset="0"/>
                                <a:cs typeface="Helvetica Neue" panose="02000503000000020004" pitchFamily="2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000" i="1">
                                <a:latin typeface="Cambria Math" panose="02040503050406030204" pitchFamily="18" charset="0"/>
                                <a:ea typeface="Helvetica Neue" panose="02000503000000020004" pitchFamily="2" charset="0"/>
                                <a:cs typeface="Helvetica Neue" panose="02000503000000020004" pitchFamily="2" charset="0"/>
                              </a:rPr>
                              <m:t>2</m:t>
                            </m:r>
                          </m:den>
                        </m:f>
                        <m:sSup>
                          <m:sSupPr>
                            <m:ctrlPr>
                              <a:rPr lang="x-none" sz="2000" i="1">
                                <a:latin typeface="Cambria Math"/>
                                <a:ea typeface="Helvetica Neue" panose="02000503000000020004" pitchFamily="2" charset="0"/>
                                <a:cs typeface="Helvetica Neue" panose="02000503000000020004" pitchFamily="2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Helvetica Neue" panose="02000503000000020004" pitchFamily="2" charset="0"/>
                                <a:cs typeface="Helvetica Neue" panose="02000503000000020004" pitchFamily="2" charset="0"/>
                              </a:rPr>
                              <m:t>𝑓</m:t>
                            </m:r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  <a:ea typeface="Helvetica Neue" panose="02000503000000020004" pitchFamily="2" charset="0"/>
                                <a:cs typeface="Helvetica Neue" panose="02000503000000020004" pitchFamily="2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000" i="1">
                            <a:latin typeface="Cambria Math" panose="02040503050406030204" pitchFamily="18" charset="0"/>
                            <a:ea typeface="Helvetica Neue" panose="02000503000000020004" pitchFamily="2" charset="0"/>
                            <a:cs typeface="Helvetica Neue" panose="02000503000000020004" pitchFamily="2" charset="0"/>
                          </a:rPr>
                          <m:t>𝑟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m:t>÷(−4</m:t>
                    </m:r>
                    <m:sSup>
                      <m:sSupPr>
                        <m:ctrlPr>
                          <a:rPr lang="x-none" sz="2000" i="1">
                            <a:latin typeface="Cambria Math"/>
                            <a:ea typeface="Helvetica Neue" panose="02000503000000020004" pitchFamily="2" charset="0"/>
                            <a:cs typeface="Helvetica Neue" panose="02000503000000020004" pitchFamily="2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Helvetica Neue" panose="02000503000000020004" pitchFamily="2" charset="0"/>
                            <a:cs typeface="Helvetica Neue" panose="02000503000000020004" pitchFamily="2" charset="0"/>
                          </a:rPr>
                          <m:t>𝑓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Helvetica Neue" panose="02000503000000020004" pitchFamily="2" charset="0"/>
                            <a:cs typeface="Helvetica Neue" panose="02000503000000020004" pitchFamily="2" charset="0"/>
                          </a:rPr>
                          <m:t>2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m:t>𝑟</m:t>
                    </m:r>
                    <m:r>
                      <a:rPr lang="en-US" sz="2000" i="1">
                        <a:latin typeface="Cambria Math" panose="02040503050406030204" pitchFamily="18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m:t>)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where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𝑓</m:t>
                    </m:r>
                    <m:r>
                      <a:rPr lang="en-US" sz="2000" i="1"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≠0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𝑟</m:t>
                    </m:r>
                    <m:r>
                      <a:rPr lang="en-US" sz="2000" i="1"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≠0</m:t>
                    </m:r>
                  </m:oMath>
                </a14:m>
                <a:endParaRPr lang="x-none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4="http://schemas.microsoft.com/office/drawing/2010/main" xmlns="" xmlns:a16="http://schemas.microsoft.com/office/drawing/2014/main" id="{759C3E41-93EC-B84D-963F-86A3B15AC1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266" y="1408886"/>
                <a:ext cx="10800318" cy="3187539"/>
              </a:xfrm>
              <a:prstGeom prst="rect">
                <a:avLst/>
              </a:prstGeom>
              <a:blipFill rotWithShape="1">
                <a:blip r:embed="rId5"/>
                <a:stretch>
                  <a:fillRect l="-621" t="-9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480712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104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79B59"/>
          </a:solidFill>
          <a:ln w="9525" cap="flat" cmpd="sng">
            <a:solidFill>
              <a:srgbClr val="F79B59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1" name="Google Shape;313;g104476d1465_1_39"/>
          <p:cNvSpPr txBox="1">
            <a:spLocks/>
          </p:cNvSpPr>
          <p:nvPr/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lt1"/>
              </a:buClr>
              <a:buSzPts val="4800"/>
            </a:pPr>
            <a:r>
              <a:rPr lang="en-US" sz="5500" b="1" smtClean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lang="en-US"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2" name="Google Shape;450;g103996e1364_0_457">
            <a:extLst>
              <a:ext uri="{FF2B5EF4-FFF2-40B4-BE49-F238E27FC236}">
                <a16:creationId xmlns:a16="http://schemas.microsoft.com/office/drawing/2014/main" xmlns="" id="{DE95225C-59B5-E847-AFA2-B83DCFFA10D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B59"/>
          </a:solidFill>
          <a:ln w="9525" cap="flat" cmpd="sng">
            <a:solidFill>
              <a:srgbClr val="F79B59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C8E1296E-05C6-114F-AAD7-274FCB9E4D8C}"/>
              </a:ext>
            </a:extLst>
          </p:cNvPr>
          <p:cNvSpPr/>
          <p:nvPr/>
        </p:nvSpPr>
        <p:spPr>
          <a:xfrm>
            <a:off x="9542557" y="1376212"/>
            <a:ext cx="1407795" cy="1407795"/>
          </a:xfrm>
          <a:prstGeom prst="rect">
            <a:avLst/>
          </a:prstGeom>
          <a:noFill/>
          <a:ln w="2857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11" name="Triangle 5">
            <a:extLst>
              <a:ext uri="{FF2B5EF4-FFF2-40B4-BE49-F238E27FC236}">
                <a16:creationId xmlns="" xmlns:a16="http://schemas.microsoft.com/office/drawing/2014/main" id="{076CC22E-BF22-4C4A-BBED-48C5CD28C594}"/>
              </a:ext>
            </a:extLst>
          </p:cNvPr>
          <p:cNvSpPr/>
          <p:nvPr/>
        </p:nvSpPr>
        <p:spPr>
          <a:xfrm>
            <a:off x="9332055" y="3207779"/>
            <a:ext cx="1828800" cy="1407795"/>
          </a:xfrm>
          <a:prstGeom prst="triangle">
            <a:avLst/>
          </a:prstGeom>
          <a:noFill/>
          <a:ln w="2857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sz="2000">
              <a:latin typeface="Verdana" pitchFamily="34" charset="0"/>
              <a:ea typeface="Verdana" pitchFamily="34" charset="0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="" xmlns:a16="http://schemas.microsoft.com/office/drawing/2014/main" id="{415EE8F5-236E-4B47-AEF7-A238B1A3EAE1}"/>
              </a:ext>
            </a:extLst>
          </p:cNvPr>
          <p:cNvSpPr/>
          <p:nvPr/>
        </p:nvSpPr>
        <p:spPr>
          <a:xfrm>
            <a:off x="9542557" y="4802743"/>
            <a:ext cx="1407795" cy="1403350"/>
          </a:xfrm>
          <a:prstGeom prst="ellipse">
            <a:avLst/>
          </a:prstGeom>
          <a:noFill/>
          <a:ln w="2857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sz="2000">
              <a:latin typeface="Verdana" pitchFamily="34" charset="0"/>
              <a:ea typeface="Verdana" pitchFamily="34" charset="0"/>
            </a:endParaRPr>
          </a:p>
        </p:txBody>
      </p:sp>
      <p:sp>
        <p:nvSpPr>
          <p:cNvPr id="14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104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6" name="Google Shape;468;p34"/>
          <p:cNvSpPr txBox="1"/>
          <p:nvPr/>
        </p:nvSpPr>
        <p:spPr>
          <a:xfrm>
            <a:off x="1142999" y="284833"/>
            <a:ext cx="10669510" cy="590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2.9.5 Wrap-Up: Reflection</a:t>
            </a:r>
          </a:p>
        </p:txBody>
      </p:sp>
      <p:pic>
        <p:nvPicPr>
          <p:cNvPr id="17" name="Google Shape;469;p3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xmlns="" xmlns:a14="http://schemas.microsoft.com/office/drawing/2010/main" xmlns:mc="http://schemas.openxmlformats.org/markup-compatibility/2006" id="{0370EDB7-6994-3D43-ABF9-E04CBAFB9CD9}"/>
              </a:ext>
            </a:extLst>
          </p:cNvPr>
          <p:cNvSpPr txBox="1"/>
          <p:nvPr/>
        </p:nvSpPr>
        <p:spPr>
          <a:xfrm>
            <a:off x="730266" y="1376212"/>
            <a:ext cx="8423259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What is something that is now “squared away” in your mind about adding, subtracting, multiplying, and dividing polynomials</a:t>
            </a:r>
            <a: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?</a:t>
            </a:r>
          </a:p>
          <a:p>
            <a:pPr marL="457200" indent="-457200">
              <a:buFont typeface="+mj-lt"/>
              <a:buAutoNum type="arabicPeriod"/>
            </a:pPr>
            <a:endParaRPr lang="en-PH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PH" sz="2000" dirty="0" smtClean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PH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 smtClean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itchFamily="34" charset="0"/>
                <a:ea typeface="Verdana" pitchFamily="34" charset="0"/>
                <a:cs typeface="Verdana" pitchFamily="34" charset="0"/>
              </a:rPr>
              <a:t>What are three “points” that are important about adding, subtracting, multiplying, and dividing polynomials</a:t>
            </a:r>
            <a:r>
              <a:rPr lang="en-US" sz="20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?</a:t>
            </a:r>
          </a:p>
          <a:p>
            <a:pPr marL="457200" indent="-457200">
              <a:buFont typeface="+mj-lt"/>
              <a:buAutoNum type="arabicPeriod"/>
            </a:pPr>
            <a:endParaRPr lang="en-PH" sz="20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PH" sz="2000" dirty="0" smtClean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PH" sz="20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What </a:t>
            </a:r>
            <a:r>
              <a:rPr lang="en-US" sz="2000" dirty="0">
                <a:latin typeface="Verdana" pitchFamily="34" charset="0"/>
                <a:ea typeface="Verdana" pitchFamily="34" charset="0"/>
                <a:cs typeface="Verdana" pitchFamily="34" charset="0"/>
              </a:rPr>
              <a:t>is something that is still “circling” your brain about adding, subtracting, multiplying, and dividing polynomials</a:t>
            </a:r>
            <a:r>
              <a:rPr lang="en-US" sz="20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?</a:t>
            </a:r>
            <a:endParaRPr lang="en-US" sz="20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3233</TotalTime>
  <Words>718</Words>
  <Application>Microsoft Office PowerPoint</Application>
  <PresentationFormat>Custom</PresentationFormat>
  <Paragraphs>190</Paragraphs>
  <Slides>19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9" baseType="lpstr">
      <vt:lpstr>Arial</vt:lpstr>
      <vt:lpstr>Calibri</vt:lpstr>
      <vt:lpstr>Times New Roman</vt:lpstr>
      <vt:lpstr>Century Gothic</vt:lpstr>
      <vt:lpstr>Wingdings</vt:lpstr>
      <vt:lpstr>Cambria Math</vt:lpstr>
      <vt:lpstr>Helvetica Neue</vt:lpstr>
      <vt:lpstr>Arial Black</vt:lpstr>
      <vt:lpstr>Verdana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John Patrick</cp:lastModifiedBy>
  <cp:revision>42</cp:revision>
  <dcterms:created xsi:type="dcterms:W3CDTF">2015-03-17T18:51:18Z</dcterms:created>
  <dcterms:modified xsi:type="dcterms:W3CDTF">2022-06-23T08:39:34Z</dcterms:modified>
</cp:coreProperties>
</file>