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345" r:id="rId4"/>
    <p:sldId id="286" r:id="rId5"/>
    <p:sldId id="261" r:id="rId6"/>
    <p:sldId id="287" r:id="rId7"/>
    <p:sldId id="346" r:id="rId8"/>
    <p:sldId id="347" r:id="rId9"/>
    <p:sldId id="348" r:id="rId10"/>
    <p:sldId id="349" r:id="rId11"/>
    <p:sldId id="390" r:id="rId12"/>
    <p:sldId id="391" r:id="rId13"/>
    <p:sldId id="392" r:id="rId14"/>
    <p:sldId id="376" r:id="rId15"/>
    <p:sldId id="377" r:id="rId16"/>
    <p:sldId id="385" r:id="rId17"/>
    <p:sldId id="386" r:id="rId18"/>
    <p:sldId id="387" r:id="rId19"/>
    <p:sldId id="388" r:id="rId20"/>
    <p:sldId id="314" r:id="rId21"/>
    <p:sldId id="315" r:id="rId22"/>
    <p:sldId id="354" r:id="rId23"/>
    <p:sldId id="355" r:id="rId24"/>
    <p:sldId id="356" r:id="rId25"/>
    <p:sldId id="306" r:id="rId26"/>
    <p:sldId id="307" r:id="rId27"/>
  </p:sldIdLst>
  <p:sldSz cx="12192000" cy="6858000"/>
  <p:notesSz cx="6858000" cy="9144000"/>
  <p:embeddedFontLst>
    <p:embeddedFont>
      <p:font typeface="Cambria Math" pitchFamily="18" charset="0"/>
      <p:regular r:id="rId29"/>
    </p:embeddedFont>
    <p:embeddedFont>
      <p:font typeface="Cambria" pitchFamily="18" charset="0"/>
      <p:regular r:id="rId30"/>
      <p:bold r:id="rId31"/>
      <p:italic r:id="rId32"/>
      <p:boldItalic r:id="rId33"/>
    </p:embeddedFont>
    <p:embeddedFont>
      <p:font typeface="Arial Black" pitchFamily="34" charset="0"/>
      <p:bold r:id="rId34"/>
    </p:embeddedFont>
    <p:embeddedFont>
      <p:font typeface="Verdana" pitchFamily="34" charset="0"/>
      <p:regular r:id="rId35"/>
      <p:bold r:id="rId36"/>
      <p:italic r:id="rId37"/>
      <p:boldItalic r:id="rId38"/>
    </p:embeddedFont>
    <p:embeddedFont>
      <p:font typeface="Calibri" pitchFamily="34" charset="0"/>
      <p:regular r:id="rId39"/>
      <p:bold r:id="rId40"/>
      <p:italic r:id="rId41"/>
      <p:boldItalic r:id="rId42"/>
    </p:embeddedFont>
    <p:embeddedFont>
      <p:font typeface="Century Gothic" pitchFamily="34" charset="0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3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9B59"/>
    <a:srgbClr val="F26763"/>
    <a:srgbClr val="E24E5F"/>
    <a:srgbClr val="1765AD"/>
    <a:srgbClr val="1664AC"/>
    <a:srgbClr val="BFBFBF"/>
    <a:srgbClr val="C9DF6F"/>
    <a:srgbClr val="417DBF"/>
    <a:srgbClr val="3F2A67"/>
    <a:srgbClr val="26B7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08"/>
    <p:restoredTop sz="94694"/>
  </p:normalViewPr>
  <p:slideViewPr>
    <p:cSldViewPr snapToGrid="0">
      <p:cViewPr varScale="1">
        <p:scale>
          <a:sx n="105" d="100"/>
          <a:sy n="105" d="100"/>
        </p:scale>
        <p:origin x="-462" y="-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openxmlformats.org/officeDocument/2006/relationships/font" Target="fonts/font1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font" Target="fonts/font13.fntdata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openxmlformats.org/officeDocument/2006/relationships/font" Target="fonts/font17.fntdata"/><Relationship Id="rId53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4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font" Target="fonts/font15.fntdata"/><Relationship Id="rId56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3074961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Video Link: https://</a:t>
            </a:r>
            <a:r>
              <a:rPr lang="en-US" dirty="0" err="1"/>
              <a:t>algebranation.wistia.com</a:t>
            </a:r>
            <a:r>
              <a:rPr lang="en-US" dirty="0"/>
              <a:t>/medias/fi4fidi5y8</a:t>
            </a: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8804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72432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85123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301364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875348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434889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56366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949622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69113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767038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641571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357923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352076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19076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63403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40305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hyperlink" Target="http://www.investitwisely.com/planting-a-seed-of-savings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7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0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2.png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8.png"/><Relationship Id="rId5" Type="http://schemas.openxmlformats.org/officeDocument/2006/relationships/image" Target="../media/image10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1" y="2212773"/>
            <a:ext cx="5077650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Algebra 1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2, Lesson 2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Applying Quotient Laws of Exponents to Algebraic Expressions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61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2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lang="en-US" sz="28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xmlns="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480" y="15225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249536" y="4774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784" y="28352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32661" y="1462225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MA.912.NSO.1.2</a:t>
            </a:r>
          </a:p>
          <a:p>
            <a:pPr marL="552450" lvl="1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Generate equivalent algebraic expressions using the properties of exponents.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8;g104476d1465_1_17">
            <a:extLst>
              <a:ext uri="{FF2B5EF4-FFF2-40B4-BE49-F238E27FC236}">
                <a16:creationId xmlns:a16="http://schemas.microsoft.com/office/drawing/2014/main" xmlns="" id="{78632872-3F42-3447-924A-20A16C6976F7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Google Shape;283;g104476d1465_1_17">
            <a:extLst>
              <a:ext uri="{FF2B5EF4-FFF2-40B4-BE49-F238E27FC236}">
                <a16:creationId xmlns:a16="http://schemas.microsoft.com/office/drawing/2014/main" xmlns="" id="{983DCB5F-2CE8-A74F-A579-F39E2E9337FB}"/>
              </a:ext>
            </a:extLst>
          </p:cNvPr>
          <p:cNvPicPr preferRelativeResize="0"/>
          <p:nvPr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Google Shape;295;g103996e1364_0_10">
            <a:extLst>
              <a:ext uri="{FF2B5EF4-FFF2-40B4-BE49-F238E27FC236}">
                <a16:creationId xmlns:a16="http://schemas.microsoft.com/office/drawing/2014/main" xmlns="" id="{73A67FE7-C13F-C24F-85E9-A4B96A1F42A8}"/>
              </a:ext>
            </a:extLst>
          </p:cNvPr>
          <p:cNvSpPr txBox="1">
            <a:spLocks/>
          </p:cNvSpPr>
          <p:nvPr/>
        </p:nvSpPr>
        <p:spPr>
          <a:xfrm>
            <a:off x="1252519" y="-568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7" name="Google Shape;296;g103996e1364_0_10">
            <a:extLst>
              <a:ext uri="{FF2B5EF4-FFF2-40B4-BE49-F238E27FC236}">
                <a16:creationId xmlns:a16="http://schemas.microsoft.com/office/drawing/2014/main" xmlns="" id="{5BB4D65A-27E8-4F4F-9348-5380FE318E8D}"/>
              </a:ext>
            </a:extLst>
          </p:cNvPr>
          <p:cNvSpPr txBox="1">
            <a:spLocks/>
          </p:cNvSpPr>
          <p:nvPr/>
        </p:nvSpPr>
        <p:spPr>
          <a:xfrm>
            <a:off x="532660" y="1464245"/>
            <a:ext cx="10515600" cy="474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 Demonstrate understanding by representing problems in multiple ways.</a:t>
            </a:r>
          </a:p>
          <a:p>
            <a:pPr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37CC83FF-5C83-CD42-A75D-B443F14E1C19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784" y="28352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4299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255108" y="-568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784" y="28352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32660" y="1600200"/>
            <a:ext cx="108000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76263" indent="-576263">
              <a:buFont typeface="Wingdings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generate equivalent algebraic expressions to find the quotient of two monomials using the properties (laws) of exponents. 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E147E8E3-844B-6A49-A77E-05F3246D39F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96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43D2F04D-C861-A149-B5F8-A913FBED75AE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55108" y="161105"/>
            <a:ext cx="10515600" cy="992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2.2.1 Warm-Up: Would You Rather?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784" y="28352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="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532659" y="1464304"/>
                <a:ext cx="6066335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Would you rather earn a salary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$50,000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per year, while everyone else earns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$25,000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or earn a salary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$100,000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per year, while everyone else earns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$200,000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to your partner how you decided on the option you chose.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59" y="1464304"/>
                <a:ext cx="6066335" cy="2554545"/>
              </a:xfrm>
              <a:prstGeom prst="rect">
                <a:avLst/>
              </a:prstGeom>
              <a:blipFill rotWithShape="1">
                <a:blip r:embed="rId5"/>
                <a:stretch>
                  <a:fillRect l="-1004" t="-1432" b="-3341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3">
            <a:extLst>
              <a:ext uri="{FF2B5EF4-FFF2-40B4-BE49-F238E27FC236}">
                <a16:creationId xmlns:a16="http://schemas.microsoft.com/office/drawing/2014/main" xmlns="" id="{F32FA606-312E-FE45-9E7F-5EB4EB578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196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xmlns="" id="{3F80061E-0FC7-534E-8F32-815F86902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4557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Rectangle 16">
            <a:extLst>
              <a:ext uri="{FF2B5EF4-FFF2-40B4-BE49-F238E27FC236}">
                <a16:creationId xmlns:a16="http://schemas.microsoft.com/office/drawing/2014/main" xmlns="" id="{F0663C2D-D71E-9747-B131-91E050FC8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>
            <a:extLst>
              <a:ext uri="{FF2B5EF4-FFF2-40B4-BE49-F238E27FC236}">
                <a16:creationId xmlns:a16="http://schemas.microsoft.com/office/drawing/2014/main" xmlns="" id="{1EDB4A78-8756-D641-B2CF-25FE103BD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xmlns="" id="{0CD40667-98C3-7A43-A8EC-50FA988E0942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Picture 13" descr="Planting a Seed of Savings">
            <a:extLst>
              <a:ext uri="{FF2B5EF4-FFF2-40B4-BE49-F238E27FC236}">
                <a16:creationId xmlns:a16="http://schemas.microsoft.com/office/drawing/2014/main" xmlns="" id="{7C1A3681-74C9-1249-83CE-9C74656A849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xmlns="" r:id="rId7"/>
              </a:ext>
            </a:extLst>
          </a:blip>
          <a:srcRect t="5021" r="2956" b="5067"/>
          <a:stretch/>
        </p:blipFill>
        <p:spPr>
          <a:xfrm>
            <a:off x="6980735" y="1556772"/>
            <a:ext cx="3588233" cy="3571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68237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33005AFD-D615-1344-BDC0-5A40F64548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image2.png" descr="Icon&#10;&#10;Description automatically generated">
            <a:extLst>
              <a:ext uri="{FF2B5EF4-FFF2-40B4-BE49-F238E27FC236}">
                <a16:creationId xmlns:a16="http://schemas.microsoft.com/office/drawing/2014/main" xmlns="" id="{B8663E50-D763-C343-96E8-FEAEDD7FA21B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54096" y="2766145"/>
            <a:ext cx="1158150" cy="115815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51888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50300" y="-561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2.2.2 Guided Instruction: Quotient of Powers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B2B1ECCC-8E07-F247-BB16-7B958B8E6B2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xmlns="" id="{FE208A00-51E7-C544-ABDE-AE9DC3DAAB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2660" y="1467365"/>
                <a:ext cx="10998452" cy="405566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When dividing monomials, the </a:t>
                </a:r>
                <a:r>
                  <a:rPr lang="en-US" sz="2400" b="1" i="1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quotient of powers</a:t>
                </a:r>
                <a:r>
                  <a:rPr lang="en-US" sz="2400" b="1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law of exponents is used.</a:t>
                </a:r>
                <a:endParaRPr lang="x-none" sz="16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x-none" sz="16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 breakdown of dividing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x-none" sz="2400" i="1"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x-none" sz="2400" i="1"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shown.</a:t>
                </a:r>
                <a:endParaRPr lang="x-none" sz="16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x-none" sz="16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x-none" sz="2400" i="1"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x-none" sz="2400" i="1">
                                  <a:latin typeface="Cambria Math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5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x-none" sz="2400" i="1">
                                  <a:latin typeface="Cambria Math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x-none" sz="2400" i="1"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i="1" strike="sngStrike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3·3·3·3·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400" i="1" strike="sngStrike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3·3·</m:t>
                          </m:r>
                          <m:r>
                            <a:rPr lang="en-US" sz="2400" strike="sngStrike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3·3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x-none" sz="2400" i="1"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x-none" sz="2400" i="1"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=3</m:t>
                      </m:r>
                    </m:oMath>
                  </m:oMathPara>
                </a14:m>
                <a:endParaRPr lang="x-none" sz="16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x-none" sz="16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 breakdown of dividing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x-none" sz="2400" i="1"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x-none" sz="2400" i="1"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shown.</a:t>
                </a:r>
                <a:endParaRPr lang="x-none" sz="16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x-none" sz="16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x-none" sz="2400" i="1"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x-none" sz="2400" i="1">
                                  <a:latin typeface="Cambria Math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5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x-none" sz="2400" i="1">
                                  <a:latin typeface="Cambria Math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x-none" sz="2400" i="1"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i="1" strike="sngStrike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2400" i="1" strike="sngStrike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·</m:t>
                          </m:r>
                          <m:r>
                            <a:rPr lang="en-US" sz="2400" i="1" strike="sngStrike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2400" i="1" strike="sngStrike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·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·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·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sz="2400" i="1" strike="sngStrike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2400" i="1" strike="sngStrike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·</m:t>
                          </m:r>
                          <m:r>
                            <a:rPr lang="en-US" sz="2400" i="1" strike="sngStrike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x-none" sz="2400" i="1"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·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·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x-none" sz="2400" i="1"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x-none" sz="16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E208A00-51E7-C544-ABDE-AE9DC3DAAB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2660" y="1467365"/>
                <a:ext cx="10998452" cy="4055662"/>
              </a:xfrm>
              <a:prstGeom prst="rect">
                <a:avLst/>
              </a:prstGeom>
              <a:blipFill rotWithShape="1">
                <a:blip r:embed="rId4"/>
                <a:stretch>
                  <a:fillRect l="-831" t="-1203" r="-110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2.png" descr="Icon&#10;&#10;Description automatically generated">
            <a:extLst>
              <a:ext uri="{FF2B5EF4-FFF2-40B4-BE49-F238E27FC236}">
                <a16:creationId xmlns:a16="http://schemas.microsoft.com/office/drawing/2014/main" xmlns="" id="{77E23D0C-703F-9A43-BC01-6CC2541A0FCE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36784" y="283520"/>
            <a:ext cx="747431" cy="747431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999405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xmlns="" id="{5C5D1B9F-A752-AD42-8D60-9B883A2514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2660" y="379536"/>
                <a:ext cx="10515600" cy="36522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Consider the expression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000" i="1" dirty="0">
                            <a:solidFill>
                              <a:schemeClr val="tx1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en-US" sz="2000" i="1" dirty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s-ES" alt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s-ES" alt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en-US" sz="2000" i="1" dirty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s-ES" alt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s-ES" alt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Complete the steps to find an equivalent expression.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en-US" sz="2000" i="1" dirty="0">
                              <a:solidFill>
                                <a:schemeClr val="tx1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en-US" sz="20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alt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ES" alt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en-US" sz="20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alt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ES" alt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5</m:t>
                              </m:r>
                            </m:sup>
                          </m:sSup>
                        </m:den>
                      </m:f>
                      <m:r>
                        <a:rPr lang="en-US" altLang="en-US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US" sz="2000" i="1" dirty="0">
                              <a:solidFill>
                                <a:schemeClr val="tx1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ES" alt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s-ES" alt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·</m:t>
                          </m:r>
                          <m:r>
                            <a:rPr lang="es-ES" alt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s-ES" alt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s-ES" alt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·</m:t>
                          </m:r>
                          <m:r>
                            <a:rPr lang="es-ES" alt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s-ES" alt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·</m:t>
                          </m:r>
                          <m:r>
                            <a:rPr lang="es-ES" alt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s-ES" alt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·</m:t>
                          </m:r>
                          <m:r>
                            <a:rPr lang="es-ES" alt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s-ES" alt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·</m:t>
                          </m:r>
                          <m:r>
                            <a:rPr lang="es-ES" alt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altLang="en-US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US" sz="2000" i="1" dirty="0">
                              <a:solidFill>
                                <a:schemeClr val="tx1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ES" alt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                </m:t>
                          </m:r>
                        </m:num>
                        <m:den>
                          <m:r>
                            <a:rPr lang="es-ES" alt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 startAt="2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With your partner, discuss what value is in the numerator of the equivalent expression.</a:t>
                </a:r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C5D1B9F-A752-AD42-8D60-9B883A2514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2660" y="379536"/>
                <a:ext cx="10515600" cy="3652218"/>
              </a:xfrm>
              <a:prstGeom prst="rect">
                <a:avLst/>
              </a:prstGeom>
              <a:blipFill rotWithShape="1">
                <a:blip r:embed="rId4"/>
                <a:stretch>
                  <a:fillRect l="-58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851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xmlns="" id="{5C5D1B9F-A752-AD42-8D60-9B883A2514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2659" y="385089"/>
                <a:ext cx="10515600" cy="53613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914400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quotient of powers law to find an equivalent expression for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000" i="1" dirty="0">
                            <a:solidFill>
                              <a:schemeClr val="tx1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en-US" sz="2000" i="1" dirty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s-ES" alt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s-ES" alt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en-US" sz="2000" i="1" dirty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s-ES" alt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s-ES" alt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Show your work.</a:t>
                </a: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how the expression found using the quotient of powers and the expression found when rewriting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000" i="1" dirty="0">
                            <a:solidFill>
                              <a:schemeClr val="tx1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en-US" sz="2000" i="1" dirty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s-ES" alt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s-ES" alt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en-US" sz="2000" i="1" dirty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s-ES" alt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s-ES" alt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as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000" i="1" dirty="0">
                            <a:solidFill>
                              <a:schemeClr val="tx1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·</m:t>
                        </m:r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num>
                      <m:den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·</m:t>
                        </m:r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·</m:t>
                        </m:r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·</m:t>
                        </m:r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·</m:t>
                        </m:r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the same.</a:t>
                </a:r>
              </a:p>
            </p:txBody>
          </p:sp>
        </mc:Choice>
        <mc:Fallback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C5D1B9F-A752-AD42-8D60-9B883A2514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2659" y="385089"/>
                <a:ext cx="10515600" cy="5361339"/>
              </a:xfrm>
              <a:prstGeom prst="rect">
                <a:avLst/>
              </a:prstGeom>
              <a:blipFill rotWithShape="1">
                <a:blip r:embed="rId3"/>
                <a:stretch>
                  <a:fillRect r="-1217" b="-102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2704A76F-93BD-2C4C-8CD0-9832F25EC27B}"/>
              </a:ext>
            </a:extLst>
          </p:cNvPr>
          <p:cNvGrpSpPr/>
          <p:nvPr/>
        </p:nvGrpSpPr>
        <p:grpSpPr>
          <a:xfrm>
            <a:off x="2781300" y="2298009"/>
            <a:ext cx="6629400" cy="812140"/>
            <a:chOff x="2031300" y="3373600"/>
            <a:chExt cx="6629400" cy="81280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xmlns="" id="{130E974C-6603-C046-8B98-DDE410AC9675}"/>
                </a:ext>
              </a:extLst>
            </p:cNvPr>
            <p:cNvGrpSpPr/>
            <p:nvPr/>
          </p:nvGrpSpPr>
          <p:grpSpPr>
            <a:xfrm>
              <a:off x="2031300" y="3373600"/>
              <a:ext cx="6629400" cy="812800"/>
              <a:chOff x="2031300" y="3373600"/>
              <a:chExt cx="6629400" cy="812800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xmlns="" id="{F80A556F-AC30-E342-BAE1-57461A063A61}"/>
                  </a:ext>
                </a:extLst>
              </p:cNvPr>
              <p:cNvSpPr/>
              <p:nvPr/>
            </p:nvSpPr>
            <p:spPr>
              <a:xfrm>
                <a:off x="2031300" y="3373600"/>
                <a:ext cx="66294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r>
                  <a:rPr lang="en-US" sz="120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  <a:endParaRPr lang="x-none" sz="120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xmlns="" id="{8B19201A-EF0C-C440-A203-9EFC5110A7EE}"/>
                  </a:ext>
                </a:extLst>
              </p:cNvPr>
              <p:cNvSpPr/>
              <p:nvPr/>
            </p:nvSpPr>
            <p:spPr>
              <a:xfrm>
                <a:off x="2031300" y="3373600"/>
                <a:ext cx="66294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r>
                  <a:rPr lang="en-US" sz="120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  <a:endParaRPr lang="x-none" sz="120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5" name="Group 24"/>
          <p:cNvGrpSpPr/>
          <p:nvPr/>
        </p:nvGrpSpPr>
        <p:grpSpPr>
          <a:xfrm>
            <a:off x="3120390" y="369931"/>
            <a:ext cx="6629400" cy="1230763"/>
            <a:chOff x="1257300" y="2255083"/>
            <a:chExt cx="6629400" cy="12307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ounded Rectangle 25">
                  <a:extLst>
                    <a:ext uri="{FF2B5EF4-FFF2-40B4-BE49-F238E27FC236}">
                      <a16:creationId xmlns:a16="http://schemas.microsoft.com/office/drawing/2014/main" xmlns="" id="{6607E150-A2F2-8143-9450-D9C71A506E94}"/>
                    </a:ext>
                  </a:extLst>
                </p:cNvPr>
                <p:cNvSpPr/>
                <p:nvPr/>
              </p:nvSpPr>
              <p:spPr>
                <a:xfrm>
                  <a:off x="1257300" y="2255083"/>
                  <a:ext cx="6629400" cy="1230763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E2EED5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spcFirstLastPara="1" wrap="square" lIns="91425" tIns="91440" rIns="91425" bIns="91440" anchor="ctr" anchorCtr="0">
                  <a:spAutoFit/>
                </a:bodyPr>
                <a:lstStyle/>
                <a:p>
                  <a:pPr marL="682625">
                    <a:spcAft>
                      <a:spcPts val="1200"/>
                    </a:spcAft>
                  </a:pPr>
                  <a:r>
                    <a:rPr lang="en-US" sz="2000" b="1" i="1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Quotient of Powers</a:t>
                  </a:r>
                  <a:endParaRPr lang="x-none" sz="2000" dirty="0">
                    <a:latin typeface="Verdana" pitchFamily="34" charset="0"/>
                    <a:ea typeface="Verdana" pitchFamily="34" charset="0"/>
                  </a:endParaRPr>
                </a:p>
                <a:p>
                  <a:pPr marL="682625"/>
                  <a14:m>
                    <m:oMath xmlns:m="http://schemas.openxmlformats.org/officeDocument/2006/math">
                      <m:f>
                        <m:fPr>
                          <m:ctrlPr>
                            <a:rPr lang="x-none" sz="2000" i="1">
                              <a:solidFill>
                                <a:srgbClr val="6C993D"/>
                              </a:solidFill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x-none" sz="2000" i="1">
                                  <a:solidFill>
                                    <a:srgbClr val="6C993D"/>
                                  </a:solidFill>
                                  <a:latin typeface="Cambria Math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0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x-none" sz="2000" i="1">
                                  <a:solidFill>
                                    <a:srgbClr val="6C993D"/>
                                  </a:solidFill>
                                  <a:latin typeface="Cambria Math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0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  <m:r>
                        <a:rPr lang="en-US" sz="2000" i="1">
                          <a:solidFill>
                            <a:srgbClr val="6C993D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x-none" sz="2000" i="1">
                              <a:solidFill>
                                <a:srgbClr val="6C993D"/>
                              </a:solidFill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</m:sSup>
                    </m:oMath>
                  </a14:m>
                  <a:r>
                    <a:rPr lang="en-US" sz="20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and conversely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x-none" sz="2000" i="1">
                              <a:solidFill>
                                <a:srgbClr val="6C993D"/>
                              </a:solidFill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2000" i="1">
                          <a:solidFill>
                            <a:srgbClr val="6C993D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x-none" sz="2000" i="1">
                              <a:solidFill>
                                <a:srgbClr val="6C993D"/>
                              </a:solidFill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x-none" sz="2000" i="1">
                                  <a:solidFill>
                                    <a:srgbClr val="6C993D"/>
                                  </a:solidFill>
                                  <a:latin typeface="Cambria Math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0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x-none" sz="2000" i="1">
                                  <a:solidFill>
                                    <a:srgbClr val="6C993D"/>
                                  </a:solidFill>
                                  <a:latin typeface="Cambria Math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0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</m:oMath>
                  </a14:m>
                  <a:endParaRPr lang="x-none" sz="2000" dirty="0">
                    <a:latin typeface="Verdana" pitchFamily="34" charset="0"/>
                    <a:ea typeface="Verdana" pitchFamily="34" charset="0"/>
                  </a:endParaRPr>
                </a:p>
              </p:txBody>
            </p:sp>
          </mc:Choice>
          <mc:Fallback xmlns="">
            <p:sp>
              <p:nvSpPr>
                <p:cNvPr id="26" name="Rounded Rectangle 25">
                  <a:extLst>
                    <a:ext uri="{FF2B5EF4-FFF2-40B4-BE49-F238E27FC236}">
                      <a16:creationId xmlns="" xmlns:a16="http://schemas.microsoft.com/office/drawing/2014/main" xmlns:a14="http://schemas.microsoft.com/office/drawing/2010/main" id="{6607E150-A2F2-8143-9450-D9C71A506E9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7300" y="2255083"/>
                  <a:ext cx="6629400" cy="1230763"/>
                </a:xfrm>
                <a:prstGeom prst="roundRect">
                  <a:avLst>
                    <a:gd name="adj" fmla="val 16667"/>
                  </a:avLst>
                </a:prstGeom>
                <a:blipFill rotWithShape="1">
                  <a:blip r:embed="rId5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7" name="Shape 7" descr="Icon&#10;&#10;Description automatically generated">
              <a:extLst>
                <a:ext uri="{FF2B5EF4-FFF2-40B4-BE49-F238E27FC236}">
                  <a16:creationId xmlns:a16="http://schemas.microsoft.com/office/drawing/2014/main" xmlns="" id="{BA217092-DCC0-174D-8A6C-5F1E9AEC56F6}"/>
                </a:ext>
              </a:extLst>
            </p:cNvPr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30492" y="2456601"/>
              <a:ext cx="539750" cy="53931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3814089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35620" y="381157"/>
                <a:ext cx="10515600" cy="2815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4350" indent="-51435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Consider the expression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i="1">
                                <a:latin typeface="Cambria Math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sSupPr>
                          <m:e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3</m:t>
                            </m:r>
                          </m:sup>
                        </m:sSup>
                        <m:sSup>
                          <m:sSupPr>
                            <m:ctrlPr>
                              <a:rPr lang="en-US" sz="2000" i="1">
                                <a:latin typeface="Cambria Math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sSupPr>
                          <m:e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11</m:t>
                            </m:r>
                          </m:sup>
                        </m:sSup>
                        <m:sSup>
                          <m:sSupPr>
                            <m:ctrlPr>
                              <a:rPr lang="en-US" sz="2000" i="1">
                                <a:latin typeface="Cambria Math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sSupPr>
                          <m:e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000" i="1">
                                <a:latin typeface="Cambria Math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sSupPr>
                          <m:e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sz="2000" i="1">
                                <a:latin typeface="Cambria Math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sSupPr>
                          <m:e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property of exponents to find an equivalent expression. 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>
                              <a:latin typeface="Cambria Math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es-ES" sz="2000" i="1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ES" sz="2000" i="1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3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es-ES" sz="2000" i="1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s-ES" sz="2000" i="1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11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es-ES" sz="2000" i="1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s-ES" sz="2000" i="1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es-ES" sz="2000" i="1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ES" sz="2000" i="1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es-ES" sz="2000" i="1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s-ES" sz="2000" i="1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s-ES" sz="2000" i="1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es-ES" sz="2000" i="1">
                              <a:latin typeface="Cambria Math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es-ES" sz="2000" i="1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s-ES" sz="2000" i="1">
                                  <a:latin typeface="Cambria Math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es-ES" sz="2000" i="1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3−2</m:t>
                              </m:r>
                            </m:e>
                          </m:d>
                        </m:sup>
                      </m:sSup>
                      <m:sSup>
                        <m:sSupPr>
                          <m:ctrlPr>
                            <a:rPr lang="es-ES" sz="2000" i="1">
                              <a:latin typeface="Cambria Math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es-ES" sz="2000" i="1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𝑦</m:t>
                          </m:r>
                        </m:e>
                        <m:sup>
                          <m:d>
                            <m:dPr>
                              <m:ctrlPr>
                                <a:rPr lang="es-ES" sz="2000" i="1">
                                  <a:latin typeface="Cambria Math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es-ES" sz="2000" i="1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11−2</m:t>
                              </m:r>
                            </m:e>
                          </m:d>
                        </m:sup>
                      </m:sSup>
                      <m:sSup>
                        <m:sSupPr>
                          <m:ctrlPr>
                            <a:rPr lang="es-ES" sz="2000" i="1">
                              <a:latin typeface="Cambria Math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es-ES" sz="2000" i="1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𝑧</m:t>
                          </m:r>
                        </m:e>
                        <m:sup>
                          <m:d>
                            <m:dPr>
                              <m:ctrlPr>
                                <a:rPr lang="es-ES" sz="2000" i="1">
                                  <a:latin typeface="Cambria Math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es-ES" sz="2000" i="1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3</m:t>
                              </m:r>
                            </m:e>
                          </m:d>
                        </m:sup>
                      </m:sSup>
                      <m:r>
                        <a:rPr lang="es-ES" sz="2000" i="1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=</m:t>
                      </m:r>
                      <m:r>
                        <a:rPr lang="es-ES" sz="2000" i="1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𝑥</m:t>
                      </m:r>
                      <m:r>
                        <a:rPr lang="es-ES" sz="2000" i="1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            </m:t>
                      </m:r>
                      <m:r>
                        <a:rPr lang="es-ES" sz="2000" i="1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𝑦</m:t>
                      </m:r>
                      <m:r>
                        <a:rPr lang="es-ES" sz="2000" i="1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          </m:t>
                      </m:r>
                      <m:sSup>
                        <m:sSupPr>
                          <m:ctrlPr>
                            <a:rPr lang="es-ES" sz="2000" i="1">
                              <a:latin typeface="Cambria Math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es-ES" sz="2000" i="1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𝑧</m:t>
                          </m:r>
                        </m:e>
                        <m:sup>
                          <m:r>
                            <a:rPr lang="es-ES" sz="2000" i="1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why the power of 𝑧 did not change.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620" y="381157"/>
                <a:ext cx="10515600" cy="2815835"/>
              </a:xfrm>
              <a:prstGeom prst="rect">
                <a:avLst/>
              </a:prstGeom>
              <a:blipFill rotWithShape="1">
                <a:blip r:embed="rId4"/>
                <a:stretch>
                  <a:fillRect l="-638" b="-303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Box 25">
            <a:extLst>
              <a:ext uri="{FF2B5EF4-FFF2-40B4-BE49-F238E27FC236}">
                <a16:creationId xmlns:a16="http://schemas.microsoft.com/office/drawing/2014/main" xmlns="" id="{8B989486-27B6-5D4A-954C-B560F5402108}"/>
              </a:ext>
            </a:extLst>
          </p:cNvPr>
          <p:cNvSpPr txBox="1"/>
          <p:nvPr/>
        </p:nvSpPr>
        <p:spPr>
          <a:xfrm>
            <a:off x="5202868" y="1842874"/>
            <a:ext cx="423545" cy="423545"/>
          </a:xfrm>
          <a:prstGeom prst="rect">
            <a:avLst/>
          </a:prstGeom>
          <a:solidFill>
            <a:schemeClr val="lt1"/>
          </a:solidFill>
          <a:ln w="28575">
            <a:solidFill>
              <a:srgbClr val="00B050"/>
            </a:solidFill>
            <a:prstDash val="dash"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1000"/>
              </a:spcAft>
            </a:pPr>
            <a:r>
              <a:rPr lang="en-US" sz="12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x-none" sz="120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Box 25">
            <a:extLst>
              <a:ext uri="{FF2B5EF4-FFF2-40B4-BE49-F238E27FC236}">
                <a16:creationId xmlns:a16="http://schemas.microsoft.com/office/drawing/2014/main" xmlns="" id="{8B989486-27B6-5D4A-954C-B560F5402108}"/>
              </a:ext>
            </a:extLst>
          </p:cNvPr>
          <p:cNvSpPr txBox="1"/>
          <p:nvPr/>
        </p:nvSpPr>
        <p:spPr>
          <a:xfrm>
            <a:off x="5965160" y="1842873"/>
            <a:ext cx="423545" cy="423545"/>
          </a:xfrm>
          <a:prstGeom prst="rect">
            <a:avLst/>
          </a:prstGeom>
          <a:solidFill>
            <a:schemeClr val="lt1"/>
          </a:solidFill>
          <a:ln w="28575">
            <a:solidFill>
              <a:srgbClr val="00B050"/>
            </a:solidFill>
            <a:prstDash val="dash"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1000"/>
              </a:spcAft>
            </a:pPr>
            <a:r>
              <a:rPr lang="en-US" sz="12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x-none" sz="120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94552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32661" y="385087"/>
                <a:ext cx="10515600" cy="43045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4350" indent="-51435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Consider the expression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i="1">
                                <a:latin typeface="Cambria Math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sSupPr>
                          <m:e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12</m:t>
                            </m:r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3</m:t>
                            </m:r>
                          </m:sup>
                        </m:sSup>
                        <m:sSup>
                          <m:sSupPr>
                            <m:ctrlPr>
                              <a:rPr lang="en-US" sz="2000" i="1">
                                <a:latin typeface="Cambria Math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sSupPr>
                          <m:e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000" i="1">
                                <a:latin typeface="Cambria Math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sSupPr>
                          <m:e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6</m:t>
                            </m:r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1</m:t>
                            </m:r>
                          </m:sup>
                        </m:sSup>
                        <m:sSup>
                          <m:sSupPr>
                            <m:ctrlPr>
                              <a:rPr lang="en-US" sz="2000" i="1">
                                <a:latin typeface="Cambria Math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sSupPr>
                          <m:e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Determine an expression equivalent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i="1">
                                <a:latin typeface="Cambria Math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sSupPr>
                          <m:e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12</m:t>
                            </m:r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3</m:t>
                            </m:r>
                          </m:sup>
                        </m:sSup>
                        <m:sSup>
                          <m:sSupPr>
                            <m:ctrlPr>
                              <a:rPr lang="en-US" sz="2000" i="1">
                                <a:latin typeface="Cambria Math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sSupPr>
                          <m:e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000" i="1">
                                <a:latin typeface="Cambria Math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sSupPr>
                          <m:e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6</m:t>
                            </m:r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1</m:t>
                            </m:r>
                          </m:sup>
                        </m:sSup>
                        <m:sSup>
                          <m:sSupPr>
                            <m:ctrlPr>
                              <a:rPr lang="en-US" sz="2000" i="1">
                                <a:latin typeface="Cambria Math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sSupPr>
                          <m:e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/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i="1">
                                <a:latin typeface="Cambria Math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6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sz="2000" i="1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i="1">
                                <a:latin typeface="Cambria Math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000" i="1">
                                    <a:latin typeface="Cambria Math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s-ES" sz="2000" i="1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s-ES" sz="2000" i="1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sz="2000" i="1">
                                    <a:latin typeface="Cambria Math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s-ES" sz="2000" i="1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s-ES" sz="2000" i="1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1</m:t>
                                </m:r>
                              </m:sup>
                            </m:sSup>
                          </m:den>
                        </m:f>
                      </m:e>
                    </m:d>
                    <m:d>
                      <m:dPr>
                        <m:ctrlPr>
                          <a:rPr lang="en-US" sz="2000" i="1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i="1">
                                <a:latin typeface="Cambria Math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000" i="1">
                                    <a:latin typeface="Cambria Math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s-ES" sz="2000" i="1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s-ES" sz="2000" i="1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1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sz="2000" i="1">
                                    <a:latin typeface="Cambria Math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s-ES" sz="2000" i="1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s-ES" sz="2000" i="1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s-E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</a:p>
              <a:p>
                <a:pPr marL="9144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variable 𝑦 is in the denominator of the expression equivalent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i="1">
                                <a:latin typeface="Cambria Math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sSupPr>
                          <m:e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12</m:t>
                            </m:r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3</m:t>
                            </m:r>
                          </m:sup>
                        </m:sSup>
                        <m:sSup>
                          <m:sSupPr>
                            <m:ctrlPr>
                              <a:rPr lang="en-US" sz="2000" i="1">
                                <a:latin typeface="Cambria Math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sSupPr>
                          <m:e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000" i="1">
                                <a:latin typeface="Cambria Math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sSupPr>
                          <m:e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6</m:t>
                            </m:r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1</m:t>
                            </m:r>
                          </m:sup>
                        </m:sSup>
                        <m:sSup>
                          <m:sSupPr>
                            <m:ctrlPr>
                              <a:rPr lang="en-US" sz="2000" i="1">
                                <a:latin typeface="Cambria Math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sSupPr>
                          <m:e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Discuss with your partner what value(s), when substituted in for 𝑦, would make the expression undefined. 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61" y="385087"/>
                <a:ext cx="10515600" cy="4304512"/>
              </a:xfrm>
              <a:prstGeom prst="rect">
                <a:avLst/>
              </a:prstGeom>
              <a:blipFill rotWithShape="1">
                <a:blip r:embed="rId4"/>
                <a:stretch>
                  <a:fillRect l="-580" r="-1333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49753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41538" y="385088"/>
                <a:ext cx="10800000" cy="24025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Domain restrictions should be written to exclude the value(s) which would make the expression undefined. For example, in the expression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2000" i="1" dirty="0">
                                <a:latin typeface="Cambria Math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sSupPr>
                          <m:e>
                            <m:r>
                              <a:rPr lang="es-ES" sz="20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s-ES" sz="20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when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substituted for 𝑥 the expression is undefined, making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 domain restriction. The restriction for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2000" i="1" dirty="0">
                                <a:latin typeface="Cambria Math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sSupPr>
                          <m:e>
                            <m:r>
                              <a:rPr lang="es-ES" sz="20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s-ES" sz="20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represented as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≠0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the domain restriction for the equivalent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expression,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i="1">
                                <a:latin typeface="Cambria Math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sSupPr>
                          <m:e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12</m:t>
                            </m:r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3</m:t>
                            </m:r>
                          </m:sup>
                        </m:sSup>
                        <m:sSup>
                          <m:sSupPr>
                            <m:ctrlPr>
                              <a:rPr lang="en-US" sz="2000" i="1">
                                <a:latin typeface="Cambria Math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sSupPr>
                          <m:e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000" i="1">
                                <a:latin typeface="Cambria Math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sSupPr>
                          <m:e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6</m:t>
                            </m:r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1</m:t>
                            </m:r>
                          </m:sup>
                        </m:sSup>
                        <m:sSup>
                          <m:sSupPr>
                            <m:ctrlPr>
                              <a:rPr lang="en-US" sz="2000" i="1">
                                <a:latin typeface="Cambria Math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sSupPr>
                          <m:e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538" y="385088"/>
                <a:ext cx="10800000" cy="2402517"/>
              </a:xfrm>
              <a:prstGeom prst="rect">
                <a:avLst/>
              </a:prstGeom>
              <a:blipFill rotWithShape="1">
                <a:blip r:embed="rId4"/>
                <a:stretch>
                  <a:fillRect l="-621" t="-1269" r="-67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00368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68237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33005AFD-D615-1344-BDC0-5A40F64548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image3.png" descr="Icon&#10;&#10;Description automatically generated">
            <a:extLst>
              <a:ext uri="{FF2B5EF4-FFF2-40B4-BE49-F238E27FC236}">
                <a16:creationId xmlns:a16="http://schemas.microsoft.com/office/drawing/2014/main" xmlns="" id="{0D19F6B6-A388-1443-A380-52938AB2312D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54096" y="2736165"/>
            <a:ext cx="1158151" cy="1158151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843235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52519" y="-561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2.2.3 Guided Practice: Generating Equivalent Algebraic Expressions Using Quotient of Powers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FE208A00-51E7-C544-ABDE-AE9DC3DAAB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661" y="1466502"/>
            <a:ext cx="780189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Complete the table for each expression.</a:t>
            </a:r>
          </a:p>
        </p:txBody>
      </p:sp>
      <p:pic>
        <p:nvPicPr>
          <p:cNvPr id="10" name="image3.png" descr="Icon&#10;&#10;Description automatically generated">
            <a:extLst>
              <a:ext uri="{FF2B5EF4-FFF2-40B4-BE49-F238E27FC236}">
                <a16:creationId xmlns:a16="http://schemas.microsoft.com/office/drawing/2014/main" xmlns="" id="{7A2D9D50-9448-8245-B927-6E7175407A67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36784" y="283520"/>
            <a:ext cx="747432" cy="747432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="" id="{9119504D-AC8F-A143-BBC8-9E0195C8E96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36475970"/>
                  </p:ext>
                </p:extLst>
              </p:nvPr>
            </p:nvGraphicFramePr>
            <p:xfrm>
              <a:off x="1143000" y="2006005"/>
              <a:ext cx="9360000" cy="353568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160000">
                      <a:extLst>
                        <a:ext uri="{9D8B030D-6E8A-4147-A177-3AD203B41FA5}">
                          <a16:colId xmlns:a16="http://schemas.microsoft.com/office/drawing/2014/main" xmlns="" val="1336839701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xmlns="" val="850224243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xmlns="" val="2803705324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xmlns="" val="7233117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Expression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Equivalent Expression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Domain Restriction?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If yes, state </a:t>
                          </a:r>
                          <a:r>
                            <a:rPr lang="en-US" sz="2000" b="1" dirty="0" smtClean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/>
                          </a:r>
                          <a:br>
                            <a:rPr lang="en-US" sz="2000" b="1" dirty="0" smtClean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</a:br>
                          <a:r>
                            <a:rPr lang="en-US" sz="2000" b="1" dirty="0" smtClean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the </a:t>
                          </a: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restriction.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4057793877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12</m:t>
                                    </m:r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5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𝑡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9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20</m:t>
                                        </m:r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𝑡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yes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no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239779762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21</m:t>
                                    </m:r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8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𝑐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15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7</m:t>
                                    </m:r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12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𝑐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yes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no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474784599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𝑚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6</m:t>
                                    </m:r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𝑚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7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yes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no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63823339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119504D-AC8F-A143-BBC8-9E0195C8E96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36475970"/>
                  </p:ext>
                </p:extLst>
              </p:nvPr>
            </p:nvGraphicFramePr>
            <p:xfrm>
              <a:off x="1143000" y="2006005"/>
              <a:ext cx="9360000" cy="353568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16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336839701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850224243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803705324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72331171"/>
                        </a:ext>
                      </a:extLst>
                    </a:gridCol>
                  </a:tblGrid>
                  <a:tr h="7924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Expression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Equivalent Expression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Domain Restriction?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If yes, state </a:t>
                          </a:r>
                          <a:r>
                            <a:rPr lang="en-US" sz="2000" b="1" dirty="0" smtClean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/>
                          </a:r>
                          <a:br>
                            <a:rPr lang="en-US" sz="2000" b="1" dirty="0" smtClean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</a:br>
                          <a:r>
                            <a:rPr lang="en-US" sz="2000" b="1" dirty="0" smtClean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the </a:t>
                          </a: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restriction.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4057793877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82" t="-86667" r="-333616" b="-2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yes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no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239779762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82" t="-186667" r="-333616" b="-1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yes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no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474784599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82" t="-286667" r="-333616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yes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no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6382333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xmlns="" id="{33005AFD-D615-1344-BDC0-5A40F64548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876743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68237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33005AFD-D615-1344-BDC0-5A40F64548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image2.png" descr="Icon&#10;&#10;Description automatically generated">
            <a:extLst>
              <a:ext uri="{FF2B5EF4-FFF2-40B4-BE49-F238E27FC236}">
                <a16:creationId xmlns:a16="http://schemas.microsoft.com/office/drawing/2014/main" xmlns="" id="{B8663E50-D763-C343-96E8-FEAEDD7FA21B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54096" y="2766145"/>
            <a:ext cx="1158150" cy="115815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754146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50300" y="229595"/>
            <a:ext cx="10515600" cy="855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2.2.4 Guided Instruction: </a:t>
            </a:r>
            <a:r>
              <a:rPr lang="en-US" sz="36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Power </a:t>
            </a: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of a Quotient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B2B1ECCC-8E07-F247-BB16-7B958B8E6B2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FE208A00-51E7-C544-ABDE-AE9DC3DAAB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659" y="1462822"/>
            <a:ext cx="11279849" cy="9643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457200" indent="-457200" eaLnBrk="0" fontAlgn="base" hangingPunct="0">
              <a:spcBef>
                <a:spcPct val="0"/>
              </a:spcBef>
              <a:spcAft>
                <a:spcPts val="2000"/>
              </a:spcAft>
              <a:buClrTx/>
              <a:buFont typeface="+mj-lt"/>
              <a:buAutoNum type="arabicPeriod"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Three students generated equivalent expressions using exponent laws.</a:t>
            </a:r>
          </a:p>
          <a:p>
            <a:pPr marL="9144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lphaLcPeriod"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Finish Amir’s work using a similar strategy to the one used by Luis and Maya.</a:t>
            </a:r>
          </a:p>
        </p:txBody>
      </p:sp>
      <p:pic>
        <p:nvPicPr>
          <p:cNvPr id="9" name="image2.png" descr="Icon&#10;&#10;Description automatically generated">
            <a:extLst>
              <a:ext uri="{FF2B5EF4-FFF2-40B4-BE49-F238E27FC236}">
                <a16:creationId xmlns:a16="http://schemas.microsoft.com/office/drawing/2014/main" xmlns="" id="{77E23D0C-703F-9A43-BC01-6CC2541A0FCE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36784" y="283520"/>
            <a:ext cx="747431" cy="747431"/>
          </a:xfrm>
          <a:prstGeom prst="rect">
            <a:avLst/>
          </a:prstGeom>
          <a:ln/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="" id="{8637266C-96A2-DC45-87D9-0671DEB9294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14404015"/>
                  </p:ext>
                </p:extLst>
              </p:nvPr>
            </p:nvGraphicFramePr>
            <p:xfrm>
              <a:off x="1579536" y="2587067"/>
              <a:ext cx="7920000" cy="414191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xmlns="" val="1068542026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xmlns="" val="3911575112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xmlns="" val="1859795564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Luis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Maya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Amir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77991863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000" i="1">
                                            <a:effectLst/>
                                            <a:latin typeface="Cambria Math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/>
                                                <a:ea typeface="Verdana" panose="020B0604030504040204" pitchFamily="34" charset="0"/>
                                                <a:cs typeface="Verdana" panose="020B0604030504040204" pitchFamily="34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 panose="020B0604030504040204" pitchFamily="34" charset="0"/>
                                                <a:cs typeface="Verdana" panose="020B0604030504040204" pitchFamily="34" charset="0"/>
                                              </a:rPr>
                                              <m:t>3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 panose="020B0604030504040204" pitchFamily="34" charset="0"/>
                                                <a:cs typeface="Verdana" panose="020B0604030504040204" pitchFamily="34" charset="0"/>
                                              </a:rPr>
                                              <m:t>11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11</m:t>
                                    </m:r>
                                  </m:den>
                                </m:f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 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Cambria Math"/>
                                    <a:cs typeface="Times New Roman" panose="02020603050405020304" pitchFamily="18" charset="0"/>
                                  </a:rPr>
                                  <m:t>⋅</m:t>
                                </m:r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11</m:t>
                                    </m:r>
                                  </m:den>
                                </m:f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Cambria Math"/>
                                    <a:cs typeface="Times New Roman" panose="02020603050405020304" pitchFamily="18" charset="0"/>
                                  </a:rPr>
                                  <m:t>⋅</m:t>
                                </m:r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11</m:t>
                                    </m:r>
                                  </m:den>
                                </m:f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Cambria Math"/>
                                    <a:cs typeface="Times New Roman" panose="02020603050405020304" pitchFamily="18" charset="0"/>
                                  </a:rPr>
                                  <m:t>⋅</m:t>
                                </m:r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11</m:t>
                                    </m:r>
                                  </m:den>
                                </m:f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Cambria Math"/>
                                    <a:cs typeface="Times New Roman" panose="02020603050405020304" pitchFamily="18" charset="0"/>
                                  </a:rPr>
                                  <m:t>⋅</m:t>
                                </m:r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3</m:t>
                                    </m:r>
                                    <m:r>
                                      <a:rPr lang="en-US" sz="2000" i="1" smtClean="0">
                                        <a:effectLst/>
                                        <a:latin typeface="Cambria Math"/>
                                        <a:ea typeface="Cambria Math"/>
                                        <a:cs typeface="Times New Roman" panose="02020603050405020304" pitchFamily="18" charset="0"/>
                                      </a:rPr>
                                      <m:t>⋅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  <m:r>
                                      <a:rPr lang="en-US" sz="2000" i="1" smtClean="0">
                                        <a:effectLst/>
                                        <a:latin typeface="Cambria Math"/>
                                        <a:ea typeface="Cambria Math"/>
                                        <a:cs typeface="Times New Roman" panose="02020603050405020304" pitchFamily="18" charset="0"/>
                                      </a:rPr>
                                      <m:t>⋅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  <m:r>
                                      <a:rPr lang="en-US" sz="2000" i="1" smtClean="0">
                                        <a:effectLst/>
                                        <a:latin typeface="Cambria Math"/>
                                        <a:ea typeface="Cambria Math"/>
                                        <a:cs typeface="Times New Roman" panose="02020603050405020304" pitchFamily="18" charset="0"/>
                                      </a:rPr>
                                      <m:t>⋅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  <m:r>
                                      <a:rPr lang="en-US" sz="2000" i="1" smtClean="0">
                                        <a:effectLst/>
                                        <a:latin typeface="Cambria Math"/>
                                        <a:ea typeface="Cambria Math"/>
                                        <a:cs typeface="Times New Roman" panose="02020603050405020304" pitchFamily="18" charset="0"/>
                                      </a:rPr>
                                      <m:t>⋅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11</m:t>
                                    </m:r>
                                    <m:r>
                                      <a:rPr lang="en-US" sz="2000" i="1" smtClean="0">
                                        <a:effectLst/>
                                        <a:latin typeface="Cambria Math"/>
                                        <a:ea typeface="Cambria Math"/>
                                        <a:cs typeface="Times New Roman" panose="02020603050405020304" pitchFamily="18" charset="0"/>
                                      </a:rPr>
                                      <m:t>⋅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11</m:t>
                                    </m:r>
                                    <m:r>
                                      <a:rPr lang="en-US" sz="2000" i="1" smtClean="0">
                                        <a:effectLst/>
                                        <a:latin typeface="Cambria Math"/>
                                        <a:ea typeface="Cambria Math"/>
                                        <a:cs typeface="Times New Roman" panose="02020603050405020304" pitchFamily="18" charset="0"/>
                                      </a:rPr>
                                      <m:t>⋅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11</m:t>
                                    </m:r>
                                    <m:r>
                                      <a:rPr lang="en-US" sz="2000" i="1" smtClean="0">
                                        <a:effectLst/>
                                        <a:latin typeface="Cambria Math"/>
                                        <a:ea typeface="Cambria Math"/>
                                        <a:cs typeface="Times New Roman" panose="02020603050405020304" pitchFamily="18" charset="0"/>
                                      </a:rPr>
                                      <m:t>⋅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11</m:t>
                                    </m:r>
                                    <m:r>
                                      <a:rPr lang="en-US" sz="2000" i="1" smtClean="0">
                                        <a:effectLst/>
                                        <a:latin typeface="Cambria Math"/>
                                        <a:ea typeface="Cambria Math"/>
                                        <a:cs typeface="Times New Roman" panose="02020603050405020304" pitchFamily="18" charset="0"/>
                                      </a:rPr>
                                      <m:t>⋅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  <m:t>3</m:t>
                                        </m:r>
                                      </m:e>
                                      <m:sup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  <m:t>5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  <m:t>11</m:t>
                                        </m:r>
                                      </m:e>
                                      <m:sup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  <m:t>5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000" i="1">
                                            <a:effectLst/>
                                            <a:latin typeface="Cambria Math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/>
                                                <a:ea typeface="Verdana" panose="020B0604030504040204" pitchFamily="34" charset="0"/>
                                                <a:cs typeface="Verdana" panose="020B0604030504040204" pitchFamily="34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 panose="020B0604030504040204" pitchFamily="34" charset="0"/>
                                                <a:cs typeface="Verdana" panose="020B0604030504040204" pitchFamily="34" charset="0"/>
                                              </a:rPr>
                                              <m:t>𝑥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 panose="020B0604030504040204" pitchFamily="34" charset="0"/>
                                                <a:cs typeface="Verdana" panose="020B0604030504040204" pitchFamily="34" charset="0"/>
                                              </a:rPr>
                                              <m:t>6</m:t>
                                            </m:r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 panose="020B0604030504040204" pitchFamily="34" charset="0"/>
                                                <a:cs typeface="Verdana" panose="020B0604030504040204" pitchFamily="34" charset="0"/>
                                              </a:rPr>
                                              <m:t>𝑦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6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𝑦</m:t>
                                    </m:r>
                                  </m:den>
                                </m:f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Cambria Math"/>
                                    <a:cs typeface="Times New Roman" panose="02020603050405020304" pitchFamily="18" charset="0"/>
                                  </a:rPr>
                                  <m:t>⋅</m:t>
                                </m:r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6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den>
                                </m:f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𝑥</m:t>
                                    </m:r>
                                    <m:r>
                                      <a:rPr lang="en-US" sz="2000" i="1" smtClean="0">
                                        <a:effectLst/>
                                        <a:latin typeface="Cambria Math"/>
                                        <a:ea typeface="Cambria Math"/>
                                        <a:cs typeface="Times New Roman" panose="02020603050405020304" pitchFamily="18" charset="0"/>
                                      </a:rPr>
                                      <m:t>⋅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6</m:t>
                                    </m:r>
                                    <m:r>
                                      <a:rPr lang="en-US" sz="2000" i="1" smtClean="0">
                                        <a:effectLst/>
                                        <a:latin typeface="Cambria Math"/>
                                        <a:ea typeface="Cambria Math"/>
                                        <a:cs typeface="Times New Roman" panose="02020603050405020304" pitchFamily="18" charset="0"/>
                                      </a:rPr>
                                      <m:t>⋅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6</m:t>
                                    </m:r>
                                    <m:r>
                                      <a:rPr lang="en-US" sz="2000" i="1" smtClean="0">
                                        <a:effectLst/>
                                        <a:latin typeface="Cambria Math"/>
                                        <a:ea typeface="Cambria Math"/>
                                        <a:cs typeface="Times New Roman" panose="02020603050405020304" pitchFamily="18" charset="0"/>
                                      </a:rPr>
                                      <m:t>⋅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  <m:r>
                                      <a:rPr lang="en-US" sz="2000" i="1" smtClean="0">
                                        <a:effectLst/>
                                        <a:latin typeface="Cambria Math"/>
                                        <a:ea typeface="Cambria Math"/>
                                        <a:cs typeface="Times New Roman" panose="02020603050405020304" pitchFamily="18" charset="0"/>
                                      </a:rPr>
                                      <m:t>⋅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  <m:t>36</m:t>
                                        </m:r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 smtClean="0">
                                        <a:effectLst/>
                                        <a:latin typeface="Cambria Math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000" i="1">
                                            <a:effectLst/>
                                            <a:latin typeface="Cambria Math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/>
                                                <a:ea typeface="Verdana" panose="020B0604030504040204" pitchFamily="34" charset="0"/>
                                                <a:cs typeface="Verdana" panose="020B0604030504040204" pitchFamily="34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 panose="020B0604030504040204" pitchFamily="34" charset="0"/>
                                                <a:cs typeface="Verdana" panose="020B0604030504040204" pitchFamily="34" charset="0"/>
                                              </a:rPr>
                                              <m:t>7</m:t>
                                            </m:r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 panose="020B0604030504040204" pitchFamily="34" charset="0"/>
                                                <a:cs typeface="Verdana" panose="020B0604030504040204" pitchFamily="34" charset="0"/>
                                              </a:rPr>
                                              <m:t>𝑐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 panose="020B0604030504040204" pitchFamily="34" charset="0"/>
                                                <a:cs typeface="Verdana" panose="020B0604030504040204" pitchFamily="34" charset="0"/>
                                              </a:rPr>
                                              <m:t>𝑟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541338" marR="0" indent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7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𝑐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𝑟</m:t>
                                    </m:r>
                                  </m:den>
                                </m:f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Cambria Math"/>
                                    <a:cs typeface="Times New Roman" panose="02020603050405020304" pitchFamily="18" charset="0"/>
                                  </a:rPr>
                                  <m:t>⋅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9720574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637266C-96A2-DC45-87D9-0671DEB9294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14404015"/>
                  </p:ext>
                </p:extLst>
              </p:nvPr>
            </p:nvGraphicFramePr>
            <p:xfrm>
              <a:off x="1579536" y="2587067"/>
              <a:ext cx="7920000" cy="414191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068542026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911575112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859795564"/>
                        </a:ext>
                      </a:extLst>
                    </a:gridCol>
                  </a:tblGrid>
                  <a:tr h="4876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Luis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Maya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Amir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779918634"/>
                      </a:ext>
                    </a:extLst>
                  </a:tr>
                  <a:tr h="365423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13333" r="-1754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14010" t="-13333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14528" t="-13333" r="-2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9720574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479466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5C5D1B9F-A752-AD42-8D60-9B883A251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661" y="385796"/>
            <a:ext cx="780189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9144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lphaLcPeriod" startAt="2"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Complete the table.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="" id="{D9020D61-1A8C-4046-9931-E10E1EEF62D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46137852"/>
                  </p:ext>
                </p:extLst>
              </p:nvPr>
            </p:nvGraphicFramePr>
            <p:xfrm>
              <a:off x="1641384" y="890176"/>
              <a:ext cx="9360000" cy="3567113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xmlns="" val="1872450097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xmlns="" val="3426008883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xmlns="" val="3898793161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xmlns="" val="2266931884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Expression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152" marR="73152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Equivalent Expression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152" marR="73152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Domain Restriction?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152" marR="73152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If yes, state </a:t>
                          </a:r>
                          <a:r>
                            <a:rPr lang="en-US" sz="2000" b="1" dirty="0" smtClean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/>
                          </a:r>
                          <a:br>
                            <a:rPr lang="en-US" sz="2000" b="1" dirty="0" smtClean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</a:br>
                          <a:r>
                            <a:rPr lang="en-US" sz="2000" b="1" dirty="0" smtClean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the </a:t>
                          </a: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restriction.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152" marR="73152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770414279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000" i="1">
                                            <a:effectLst/>
                                            <a:latin typeface="Cambria Math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/>
                                                <a:ea typeface="Verdana" panose="020B0604030504040204" pitchFamily="34" charset="0"/>
                                                <a:cs typeface="Verdana" panose="020B0604030504040204" pitchFamily="34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 panose="020B0604030504040204" pitchFamily="34" charset="0"/>
                                                <a:cs typeface="Verdana" panose="020B0604030504040204" pitchFamily="34" charset="0"/>
                                              </a:rPr>
                                              <m:t>3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 panose="020B0604030504040204" pitchFamily="34" charset="0"/>
                                                <a:cs typeface="Verdana" panose="020B0604030504040204" pitchFamily="34" charset="0"/>
                                              </a:rPr>
                                              <m:t>11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  <m:t>3</m:t>
                                        </m:r>
                                      </m:e>
                                      <m:sup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  <m:t>5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  <m:t>11</m:t>
                                        </m:r>
                                      </m:e>
                                      <m:sup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  <m:t>5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yes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no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611784850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000" i="1">
                                            <a:effectLst/>
                                            <a:latin typeface="Cambria Math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/>
                                                <a:ea typeface="Verdana" panose="020B0604030504040204" pitchFamily="34" charset="0"/>
                                                <a:cs typeface="Verdana" panose="020B0604030504040204" pitchFamily="34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 panose="020B0604030504040204" pitchFamily="34" charset="0"/>
                                                <a:cs typeface="Verdana" panose="020B0604030504040204" pitchFamily="34" charset="0"/>
                                              </a:rPr>
                                              <m:t>𝑥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 panose="020B0604030504040204" pitchFamily="34" charset="0"/>
                                                <a:cs typeface="Verdana" panose="020B0604030504040204" pitchFamily="34" charset="0"/>
                                              </a:rPr>
                                              <m:t>6</m:t>
                                            </m:r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 panose="020B0604030504040204" pitchFamily="34" charset="0"/>
                                                <a:cs typeface="Verdana" panose="020B0604030504040204" pitchFamily="34" charset="0"/>
                                              </a:rPr>
                                              <m:t>𝑦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  <m:t>36</m:t>
                                        </m:r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yes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no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758790943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000" i="1">
                                            <a:effectLst/>
                                            <a:latin typeface="Cambria Math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/>
                                                <a:ea typeface="Verdana" panose="020B0604030504040204" pitchFamily="34" charset="0"/>
                                                <a:cs typeface="Verdana" panose="020B0604030504040204" pitchFamily="34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 panose="020B0604030504040204" pitchFamily="34" charset="0"/>
                                                <a:cs typeface="Verdana" panose="020B0604030504040204" pitchFamily="34" charset="0"/>
                                              </a:rPr>
                                              <m:t>7</m:t>
                                            </m:r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 panose="020B0604030504040204" pitchFamily="34" charset="0"/>
                                                <a:cs typeface="Verdana" panose="020B0604030504040204" pitchFamily="34" charset="0"/>
                                              </a:rPr>
                                              <m:t>𝑐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 panose="020B0604030504040204" pitchFamily="34" charset="0"/>
                                                <a:cs typeface="Verdana" panose="020B0604030504040204" pitchFamily="34" charset="0"/>
                                              </a:rPr>
                                              <m:t>𝑟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yes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no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1211028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9020D61-1A8C-4046-9931-E10E1EEF62D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46137852"/>
                  </p:ext>
                </p:extLst>
              </p:nvPr>
            </p:nvGraphicFramePr>
            <p:xfrm>
              <a:off x="1641384" y="890176"/>
              <a:ext cx="9360000" cy="3567113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872450097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426008883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898793161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266931884"/>
                        </a:ext>
                      </a:extLst>
                    </a:gridCol>
                  </a:tblGrid>
                  <a:tr h="7924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Expression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152" marR="73152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Equivalent Expression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152" marR="73152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Domain Restriction?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152" marR="73152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If yes, state </a:t>
                          </a:r>
                          <a:r>
                            <a:rPr lang="en-US" sz="2000" b="1" dirty="0" smtClean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/>
                          </a:r>
                          <a:br>
                            <a:rPr lang="en-US" sz="2000" b="1" dirty="0" smtClean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</a:br>
                          <a:r>
                            <a:rPr lang="en-US" sz="2000" b="1" dirty="0" smtClean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the </a:t>
                          </a: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restriction.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152" marR="73152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770414279"/>
                      </a:ext>
                    </a:extLst>
                  </a:tr>
                  <a:tr h="9323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84967" r="-420678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71256" t="-84967" r="-199758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yes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no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611784850"/>
                      </a:ext>
                    </a:extLst>
                  </a:tr>
                  <a:tr h="92792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186184" r="-420678" b="-1013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71256" t="-186184" r="-199758" b="-1013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yes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no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758790943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290000" r="-420678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yes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no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1211028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788106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536635" y="383587"/>
                <a:ext cx="10515600" cy="23758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statement.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46088">
                  <a:lnSpc>
                    <a:spcPct val="150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When 𝑎 and 𝑏 are nonzero real numbers, and 𝑚 is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integer, the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exponential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expression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 dirty="0">
                                <a:latin typeface="Cambria Math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000" i="1" dirty="0">
                                    <a:latin typeface="Cambria Math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s-ES" sz="2000" i="1" dirty="0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𝑎</m:t>
                                </m:r>
                              </m:num>
                              <m:den>
                                <m:r>
                                  <a:rPr lang="es-ES" sz="2000" i="1" dirty="0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𝑏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equal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to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635" y="383587"/>
                <a:ext cx="10515600" cy="2375843"/>
              </a:xfrm>
              <a:prstGeom prst="rect">
                <a:avLst/>
              </a:prstGeom>
              <a:blipFill rotWithShape="1">
                <a:blip r:embed="rId4"/>
                <a:stretch>
                  <a:fillRect l="-580" t="-153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3C09C382-6427-114A-B92E-9D4F4D48135D}"/>
              </a:ext>
            </a:extLst>
          </p:cNvPr>
          <p:cNvGrpSpPr/>
          <p:nvPr/>
        </p:nvGrpSpPr>
        <p:grpSpPr>
          <a:xfrm>
            <a:off x="2524125" y="4879166"/>
            <a:ext cx="6629400" cy="1321435"/>
            <a:chOff x="2031300" y="3373600"/>
            <a:chExt cx="6629400" cy="1321806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xmlns="" id="{F6BA8792-B7E3-2349-A3C4-6F3CD0026671}"/>
                </a:ext>
              </a:extLst>
            </p:cNvPr>
            <p:cNvGrpSpPr/>
            <p:nvPr/>
          </p:nvGrpSpPr>
          <p:grpSpPr>
            <a:xfrm>
              <a:off x="2031300" y="3373600"/>
              <a:ext cx="6629400" cy="1321806"/>
              <a:chOff x="2031300" y="3373600"/>
              <a:chExt cx="6629400" cy="1321806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xmlns="" id="{0F3EBDA8-536C-FF4E-8060-ADDEBBF80A8F}"/>
                  </a:ext>
                </a:extLst>
              </p:cNvPr>
              <p:cNvSpPr/>
              <p:nvPr/>
            </p:nvSpPr>
            <p:spPr>
              <a:xfrm>
                <a:off x="2031300" y="3373600"/>
                <a:ext cx="66294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x-none" sz="120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xmlns="" id="{710459C5-DF4E-3B45-9ACB-64EB43A97767}"/>
                  </a:ext>
                </a:extLst>
              </p:cNvPr>
              <p:cNvGrpSpPr/>
              <p:nvPr/>
            </p:nvGrpSpPr>
            <p:grpSpPr>
              <a:xfrm>
                <a:off x="2031300" y="3373600"/>
                <a:ext cx="6629400" cy="1321806"/>
                <a:chOff x="0" y="0"/>
                <a:chExt cx="6629400" cy="1321806"/>
              </a:xfrm>
            </p:grpSpPr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xmlns="" id="{5839B176-3533-4C47-B364-891357A7BD0D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81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  <a:endParaRPr lang="x-none" sz="120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" name="Rounded Rectangle 22">
                      <a:extLst>
                        <a:ext uri="{FF2B5EF4-FFF2-40B4-BE49-F238E27FC236}">
                          <a16:creationId xmlns:a16="http://schemas.microsoft.com/office/drawing/2014/main" xmlns="" id="{F960CA1F-FB90-E542-8FB2-C2FD6AEB93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0"/>
                      <a:ext cx="6629400" cy="1321806"/>
                    </a:xfrm>
                    <a:prstGeom prst="roundRect">
                      <a:avLst>
                        <a:gd name="adj" fmla="val 16667"/>
                      </a:avLst>
                    </a:prstGeom>
                    <a:solidFill>
                      <a:srgbClr val="E2EED5"/>
                    </a:solidFill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742950">
                        <a:spcAft>
                          <a:spcPts val="1000"/>
                        </a:spcAft>
                      </a:pPr>
                      <a:r>
                        <a:rPr lang="en-US" sz="1800" b="1" i="1" dirty="0">
                          <a:solidFill>
                            <a:srgbClr val="6C993D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Power of a Quotient</a:t>
                      </a:r>
                      <a:endParaRPr lang="x-none" sz="1200" dirty="0"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742950">
                        <a:spcAft>
                          <a:spcPts val="1000"/>
                        </a:spcAft>
                      </a:pPr>
                      <a14:m>
                        <m:oMath xmlns:m="http://schemas.openxmlformats.org/officeDocument/2006/math">
                          <m:sSup>
                            <m:sSupPr>
                              <m:ctrlPr>
                                <a:rPr lang="x-none" sz="1800" i="1">
                                  <a:solidFill>
                                    <a:srgbClr val="6C993D"/>
                                  </a:solidFill>
                                  <a:latin typeface="Cambria Math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x-none" sz="1800" i="1">
                                      <a:solidFill>
                                        <a:srgbClr val="6C993D"/>
                                      </a:solidFill>
                                      <a:latin typeface="Cambria Math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x-none" sz="1800" i="1">
                                          <a:solidFill>
                                            <a:srgbClr val="6C993D"/>
                                          </a:solidFill>
                                          <a:latin typeface="Cambria Math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800" i="1">
                                          <a:solidFill>
                                            <a:srgbClr val="6C993D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num>
                                    <m:den>
                                      <m:r>
                                        <a:rPr lang="en-US" sz="1800" i="1">
                                          <a:solidFill>
                                            <a:srgbClr val="6C993D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𝑏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18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en-US" sz="18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x-none" sz="1800" i="1">
                                  <a:solidFill>
                                    <a:srgbClr val="6C993D"/>
                                  </a:solidFill>
                                  <a:latin typeface="Cambria Math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x-none" sz="1800" i="1">
                                      <a:solidFill>
                                        <a:srgbClr val="6C993D"/>
                                      </a:solidFill>
                                      <a:latin typeface="Cambria Math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i="1">
                                      <a:solidFill>
                                        <a:srgbClr val="6C993D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1800" i="1">
                                      <a:solidFill>
                                        <a:srgbClr val="6C993D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x-none" sz="1800" i="1">
                                      <a:solidFill>
                                        <a:srgbClr val="6C993D"/>
                                      </a:solidFill>
                                      <a:latin typeface="Cambria Math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i="1">
                                      <a:solidFill>
                                        <a:srgbClr val="6C993D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1800" i="1">
                                      <a:solidFill>
                                        <a:srgbClr val="6C993D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</m:den>
                          </m:f>
                        </m:oMath>
                      </a14:m>
                      <a:r>
                        <a:rPr lang="en-US" sz="1800" dirty="0">
                          <a:solidFill>
                            <a:srgbClr val="6C993D"/>
                          </a:solidFill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and conversely </a:t>
                      </a:r>
                      <a14:m>
                        <m:oMath xmlns:m="http://schemas.openxmlformats.org/officeDocument/2006/math">
                          <m:f>
                            <m:fPr>
                              <m:ctrlPr>
                                <a:rPr lang="x-none" sz="1800" i="1">
                                  <a:solidFill>
                                    <a:srgbClr val="6C993D"/>
                                  </a:solidFill>
                                  <a:latin typeface="Cambria Math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x-none" sz="1800" i="1">
                                      <a:solidFill>
                                        <a:srgbClr val="6C993D"/>
                                      </a:solidFill>
                                      <a:latin typeface="Cambria Math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i="1">
                                      <a:solidFill>
                                        <a:srgbClr val="6C993D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1800" i="1">
                                      <a:solidFill>
                                        <a:srgbClr val="6C993D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x-none" sz="1800" i="1">
                                      <a:solidFill>
                                        <a:srgbClr val="6C993D"/>
                                      </a:solidFill>
                                      <a:latin typeface="Cambria Math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i="1">
                                      <a:solidFill>
                                        <a:srgbClr val="6C993D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1800" i="1">
                                      <a:solidFill>
                                        <a:srgbClr val="6C993D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18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x-none" sz="1800" i="1">
                                  <a:solidFill>
                                    <a:srgbClr val="6C993D"/>
                                  </a:solidFill>
                                  <a:latin typeface="Cambria Math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x-none" sz="1800" i="1">
                                      <a:solidFill>
                                        <a:srgbClr val="6C993D"/>
                                      </a:solidFill>
                                      <a:latin typeface="Cambria Math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x-none" sz="1800" i="1">
                                          <a:solidFill>
                                            <a:srgbClr val="6C993D"/>
                                          </a:solidFill>
                                          <a:latin typeface="Cambria Math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800" i="1">
                                          <a:solidFill>
                                            <a:srgbClr val="6C993D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num>
                                    <m:den>
                                      <m:r>
                                        <a:rPr lang="en-US" sz="1800" i="1">
                                          <a:solidFill>
                                            <a:srgbClr val="6C993D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𝑏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18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sup>
                          </m:sSup>
                        </m:oMath>
                      </a14:m>
                      <a:endParaRPr lang="x-none" sz="1200" dirty="0"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3" name="Rounded Rectangle 22">
                      <a:extLst>
                        <a:ext uri="{FF2B5EF4-FFF2-40B4-BE49-F238E27FC236}">
                          <a16:creationId xmlns:a16="http://schemas.microsoft.com/office/drawing/2014/main" id="{F960CA1F-FB90-E542-8FB2-C2FD6AEB931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0" y="0"/>
                      <a:ext cx="6629400" cy="1321806"/>
                    </a:xfrm>
                    <a:prstGeom prst="roundRect">
                      <a:avLst>
                        <a:gd name="adj" fmla="val 16667"/>
                      </a:avLst>
                    </a:prstGeom>
                    <a:blipFill>
                      <a:blip r:embed="rId6"/>
                      <a:stretch>
                        <a:fillRect/>
                      </a:stretch>
                    </a:blipFill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/>
                    <a:lstStyle/>
                    <a:p>
                      <a:r>
                        <a:rPr lang="en-CO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pic>
              <p:nvPicPr>
                <p:cNvPr id="24" name="Shape 7" descr="Icon&#10;&#10;Description automatically generated">
                  <a:extLst>
                    <a:ext uri="{FF2B5EF4-FFF2-40B4-BE49-F238E27FC236}">
                      <a16:creationId xmlns:a16="http://schemas.microsoft.com/office/drawing/2014/main" xmlns="" id="{9F749F19-5527-B84B-9560-02B70ADB9700}"/>
                    </a:ext>
                  </a:extLst>
                </p:cNvPr>
                <p:cNvPicPr preferRelativeResize="0"/>
                <p:nvPr/>
              </p:nvPicPr>
              <p:blipFill rotWithShape="1">
                <a:blip r:embed="rId7" cstate="screen">
                  <a:alphaModFix/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>
                  <a:off x="184265" y="188914"/>
                  <a:ext cx="539750" cy="53975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</p:grp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Rectangle: Rounded Corners 227"/>
              <p:cNvSpPr/>
              <p:nvPr/>
            </p:nvSpPr>
            <p:spPr>
              <a:xfrm>
                <a:off x="6259458" y="1571508"/>
                <a:ext cx="1828800" cy="1616259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342900" indent="-342900">
                  <a:lnSpc>
                    <a:spcPct val="107000"/>
                  </a:lnSpc>
                  <a:spcAft>
                    <a:spcPts val="800"/>
                  </a:spcAft>
                  <a:buFont typeface="Courier New" pitchFamily="49" charset="0"/>
                  <a:buChar char="o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/>
                            <a:ea typeface="Times New Roman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/>
                            <a:ea typeface="Times New Roman"/>
                            <a:cs typeface="Times New Roman"/>
                          </a:rPr>
                          <m:t>𝑎</m:t>
                        </m:r>
                      </m:e>
                      <m:sup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/>
                            <a:ea typeface="Times New Roman"/>
                            <a:cs typeface="Times New Roman"/>
                          </a:rPr>
                          <m:t>𝑏</m:t>
                        </m:r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/>
                            <a:ea typeface="Times New Roman"/>
                            <a:cs typeface="Times New Roman"/>
                          </a:rPr>
                          <m:t> − </m:t>
                        </m:r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/>
                            <a:ea typeface="Times New Roman"/>
                            <a:cs typeface="Times New Roman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Verdana" pitchFamily="34" charset="0"/>
                    <a:ea typeface="Verdana" pitchFamily="34" charset="0"/>
                    <a:cs typeface="Times New Roman"/>
                  </a:rPr>
                  <a:t>. </a:t>
                </a:r>
                <a:endParaRPr lang="en-US" sz="20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342900" indent="-342900">
                  <a:lnSpc>
                    <a:spcPct val="107000"/>
                  </a:lnSpc>
                  <a:spcAft>
                    <a:spcPts val="800"/>
                  </a:spcAft>
                  <a:buFont typeface="Courier New" pitchFamily="49" charset="0"/>
                  <a:buChar char="o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/>
                            <a:ea typeface="Times New Roman"/>
                            <a:cs typeface="Times New Roman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/>
                                <a:ea typeface="Times New Roman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/>
                                <a:ea typeface="Times New Roman"/>
                                <a:cs typeface="Times New Roman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/>
                                <a:ea typeface="Times New Roman"/>
                                <a:cs typeface="Times New Roman"/>
                              </a:rPr>
                              <m:t>𝑚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/>
                                <a:ea typeface="Times New Roman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/>
                                <a:ea typeface="Times New Roman"/>
                                <a:cs typeface="Times New Roman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/>
                                <a:ea typeface="Times New Roman"/>
                                <a:cs typeface="Times New Roman"/>
                              </a:rPr>
                              <m:t>𝑚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Verdana" pitchFamily="34" charset="0"/>
                    <a:ea typeface="Verdana" pitchFamily="34" charset="0"/>
                    <a:cs typeface="Times New Roman"/>
                  </a:rPr>
                  <a:t>.</a:t>
                </a:r>
                <a:endParaRPr lang="en-US" sz="20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342900" indent="-342900">
                  <a:lnSpc>
                    <a:spcPct val="107000"/>
                  </a:lnSpc>
                  <a:spcAft>
                    <a:spcPts val="800"/>
                  </a:spcAft>
                  <a:buFont typeface="Courier New" pitchFamily="49" charset="0"/>
                  <a:buChar char="o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/>
                            <a:ea typeface="Times New Roman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/>
                            <a:ea typeface="Times New Roman"/>
                            <a:cs typeface="Times New Roman"/>
                          </a:rPr>
                          <m:t>𝑎</m:t>
                        </m:r>
                      </m:e>
                      <m:sup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/>
                            <a:ea typeface="Times New Roman"/>
                            <a:cs typeface="Times New Roman"/>
                          </a:rPr>
                          <m:t>𝑚</m:t>
                        </m:r>
                      </m:sup>
                    </m:sSup>
                    <m:sSup>
                      <m:sSup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/>
                            <a:ea typeface="Times New Roman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/>
                            <a:ea typeface="Times New Roman"/>
                            <a:cs typeface="Times New Roman"/>
                          </a:rPr>
                          <m:t> − </m:t>
                        </m:r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/>
                            <a:ea typeface="Times New Roman"/>
                            <a:cs typeface="Times New Roman"/>
                          </a:rPr>
                          <m:t>𝑏</m:t>
                        </m:r>
                      </m:e>
                      <m:sup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/>
                            <a:ea typeface="Times New Roman"/>
                            <a:cs typeface="Times New Roman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Verdana" pitchFamily="34" charset="0"/>
                    <a:ea typeface="Verdana" pitchFamily="34" charset="0"/>
                    <a:cs typeface="Times New Roman"/>
                  </a:rPr>
                  <a:t>.</a:t>
                </a:r>
                <a:endParaRPr lang="en-US" sz="20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</p:txBody>
          </p:sp>
        </mc:Choice>
        <mc:Fallback>
          <p:sp>
            <p:nvSpPr>
              <p:cNvPr id="25" name="Rectangle: Rounded Corners 2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9458" y="1571508"/>
                <a:ext cx="1828800" cy="1616259"/>
              </a:xfrm>
              <a:prstGeom prst="roundRect">
                <a:avLst/>
              </a:prstGeom>
              <a:blipFill rotWithShape="1">
                <a:blip r:embed="rId8"/>
                <a:stretch>
                  <a:fillRect b="-373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05272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299577" y="2766150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48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44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image17.png" descr="Icon&#10;&#10;Description automatically generated">
            <a:extLst>
              <a:ext uri="{FF2B5EF4-FFF2-40B4-BE49-F238E27FC236}">
                <a16:creationId xmlns:a16="http://schemas.microsoft.com/office/drawing/2014/main" xmlns="" id="{F8B961F9-3E43-2A46-B4AE-760DE9C8B26E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54096" y="2838856"/>
            <a:ext cx="1152150" cy="115215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04934" y="1465038"/>
            <a:ext cx="4840218" cy="51644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52519" y="9030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2.2.5 Activity: Matching Equivalent Expressions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xmlns="" id="{5B627696-920F-B441-B5C1-01510F09761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B46B19A2-BBA2-0441-AC88-F1F62E75949B}"/>
              </a:ext>
            </a:extLst>
          </p:cNvPr>
          <p:cNvSpPr txBox="1"/>
          <p:nvPr/>
        </p:nvSpPr>
        <p:spPr>
          <a:xfrm>
            <a:off x="532659" y="1465038"/>
            <a:ext cx="413699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Match each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expression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an equivalent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expression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by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drawing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 arrow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connecting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them.</a:t>
            </a:r>
          </a:p>
        </p:txBody>
      </p:sp>
      <p:pic>
        <p:nvPicPr>
          <p:cNvPr id="31" name="image17.png" descr="Icon&#10;&#10;Description automatically generated">
            <a:extLst>
              <a:ext uri="{FF2B5EF4-FFF2-40B4-BE49-F238E27FC236}">
                <a16:creationId xmlns:a16="http://schemas.microsoft.com/office/drawing/2014/main" xmlns="" id="{6D85E9DB-DDA8-444D-BA5F-D97DC88D9A44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34404" y="283520"/>
            <a:ext cx="749811" cy="749811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33005AFD-D615-1344-BDC0-5A40F6454816}"/>
              </a:ext>
            </a:extLst>
          </p:cNvPr>
          <p:cNvSpPr txBox="1"/>
          <p:nvPr/>
        </p:nvSpPr>
        <p:spPr>
          <a:xfrm>
            <a:off x="8897112" y="645767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xmlns="" id="{758FF271-6581-5740-BCCD-706D33EA7E3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4096" y="2849925"/>
            <a:ext cx="1158150" cy="1158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363419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53019" y="397772"/>
            <a:ext cx="8306646" cy="5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2.2.6 Your Turn!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B2B1ECCC-8E07-F247-BB16-7B958B8E6B2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FE208A00-51E7-C544-ABDE-AE9DC3DAAB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662" y="1469475"/>
            <a:ext cx="4554244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Find the quotient of each expression by using the laws of exponents to generate an equivalent expression.</a:t>
            </a:r>
          </a:p>
        </p:txBody>
      </p:sp>
      <p:pic>
        <p:nvPicPr>
          <p:cNvPr id="15" name="Picture 14" descr="Icon&#10;&#10;Description automatically generated">
            <a:extLst>
              <a:ext uri="{FF2B5EF4-FFF2-40B4-BE49-F238E27FC236}">
                <a16:creationId xmlns:a16="http://schemas.microsoft.com/office/drawing/2014/main" xmlns="" id="{2B53F9A7-2434-5D4E-B654-257F5CF1B6B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6914" y="283520"/>
            <a:ext cx="747301" cy="74730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19788984"/>
                  </p:ext>
                </p:extLst>
              </p:nvPr>
            </p:nvGraphicFramePr>
            <p:xfrm>
              <a:off x="5581465" y="1543778"/>
              <a:ext cx="5760000" cy="429768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21600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Expression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Equivalent Expression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1280160">
                    <a:tc>
                      <a:txBody>
                        <a:bodyPr/>
                        <a:lstStyle/>
                        <a:p>
                          <a:pPr marL="457200" indent="-457200"/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a.</a:t>
                          </a:r>
                          <a:r>
                            <a:rPr lang="en-US" altLang="en-US" sz="2000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	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 smtClean="0">
                                      <a:latin typeface="Cambria Math"/>
                                      <a:ea typeface="Verdana" pitchFamily="34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2000" i="1" smtClean="0">
                                          <a:latin typeface="Cambria Math"/>
                                          <a:ea typeface="Verdana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/>
                                          <a:ea typeface="Verdana" pitchFamily="34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/>
                                          <a:ea typeface="Verdana" pitchFamily="34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US" sz="2000" i="1" smtClean="0">
                                          <a:latin typeface="Cambria Math"/>
                                          <a:ea typeface="Verdana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/>
                                          <a:ea typeface="Verdana" pitchFamily="34" charset="0"/>
                                        </a:rPr>
                                        <m:t>𝑡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/>
                                          <a:ea typeface="Verdana" pitchFamily="34" charset="0"/>
                                        </a:rPr>
                                        <m:t>18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2000" i="1" smtClean="0">
                                          <a:latin typeface="Cambria Math"/>
                                          <a:ea typeface="Verdana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/>
                                          <a:ea typeface="Verdana" pitchFamily="34" charset="0"/>
                                        </a:rPr>
                                        <m:t>−5</m:t>
                                      </m:r>
                                      <m:r>
                                        <a:rPr lang="en-US" sz="2000" b="0" i="1" smtClean="0">
                                          <a:latin typeface="Cambria Math"/>
                                          <a:ea typeface="Verdana" pitchFamily="34" charset="0"/>
                                        </a:rPr>
                                        <m:t>𝑠𝑡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/>
                                          <a:ea typeface="Verdana" pitchFamily="34" charset="0"/>
                                        </a:rPr>
                                        <m:t>7</m:t>
                                      </m:r>
                                    </m:sup>
                                  </m:sSup>
                                </m:den>
                              </m:f>
                            </m:oMath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1280160">
                    <a:tc>
                      <a:txBody>
                        <a:bodyPr/>
                        <a:lstStyle/>
                        <a:p>
                          <a:pPr marL="457200" indent="-457200"/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b.</a:t>
                          </a:r>
                          <a:r>
                            <a:rPr lang="en-US" altLang="en-US" sz="2000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en-US" sz="2000" dirty="0" smtClean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i="1" smtClean="0">
                                      <a:latin typeface="Cambria Math"/>
                                      <a:ea typeface="Verdana" pitchFamily="34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i="1" smtClean="0">
                                          <a:latin typeface="Cambria Math"/>
                                          <a:ea typeface="Verdana" pitchFamily="34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2000" i="1" smtClean="0">
                                              <a:latin typeface="Cambria Math"/>
                                              <a:ea typeface="Verdana" pitchFamily="34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000" b="0" i="1" smtClean="0">
                                              <a:latin typeface="Cambria Math"/>
                                              <a:ea typeface="Verdana" pitchFamily="34" charset="0"/>
                                            </a:rPr>
                                            <m:t>0.5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/>
                                              <a:ea typeface="Verdana" pitchFamily="34" charset="0"/>
                                            </a:rPr>
                                            <m:t>𝑑</m:t>
                                          </m:r>
                                        </m:num>
                                        <m:den>
                                          <m:r>
                                            <a:rPr lang="en-US" sz="2000" b="0" i="1" smtClean="0">
                                              <a:latin typeface="Cambria Math"/>
                                              <a:ea typeface="Verdana" pitchFamily="34" charset="0"/>
                                            </a:rPr>
                                            <m:t>10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/>
                                              <a:ea typeface="Verdana" pitchFamily="34" charset="0"/>
                                            </a:rPr>
                                            <m:t>𝑚𝑔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1280160">
                    <a:tc>
                      <a:txBody>
                        <a:bodyPr/>
                        <a:lstStyle/>
                        <a:p>
                          <a:pPr marL="457200" indent="-457200"/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c.</a:t>
                          </a:r>
                          <a:r>
                            <a:rPr lang="en-US" altLang="en-US" sz="2000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	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 smtClean="0">
                                      <a:latin typeface="Cambria Math"/>
                                      <a:ea typeface="Verdana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−204</m:t>
                                  </m:r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/>
                                          <a:ea typeface="Verdana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/>
                                          <a:ea typeface="Verdana" pitchFamily="34" charset="0"/>
                                        </a:rPr>
                                        <m:t>𝑢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/>
                                          <a:ea typeface="Verdana" pitchFamily="34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/>
                                          <a:ea typeface="Verdana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/>
                                          <a:ea typeface="Verdana" pitchFamily="34" charset="0"/>
                                        </a:rPr>
                                        <m:t>𝑤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/>
                                          <a:ea typeface="Verdana" pitchFamily="34" charset="0"/>
                                        </a:rPr>
                                        <m:t>8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/>
                                          <a:ea typeface="Verdana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/>
                                          <a:ea typeface="Verdana" pitchFamily="34" charset="0"/>
                                        </a:rPr>
                                        <m:t>𝑟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/>
                                          <a:ea typeface="Verdana" pitchFamily="34" charset="0"/>
                                        </a:rPr>
                                        <m:t>31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20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17</m:t>
                                  </m:r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/>
                                          <a:ea typeface="Verdana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/>
                                          <a:ea typeface="Verdana" pitchFamily="34" charset="0"/>
                                        </a:rPr>
                                        <m:t>𝑢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/>
                                          <a:ea typeface="Verdana" pitchFamily="34" charset="0"/>
                                        </a:rPr>
                                        <m:t>16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/>
                                          <a:ea typeface="Verdana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/>
                                          <a:ea typeface="Verdana" pitchFamily="34" charset="0"/>
                                        </a:rPr>
                                        <m:t>𝑤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/>
                                          <a:ea typeface="Verdana" pitchFamily="34" charset="0"/>
                                        </a:rPr>
                                        <m:t>15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/>
                                          <a:ea typeface="Verdana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/>
                                          <a:ea typeface="Verdana" pitchFamily="34" charset="0"/>
                                        </a:rPr>
                                        <m:t>𝑟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/>
                                          <a:ea typeface="Verdana" pitchFamily="34" charset="0"/>
                                        </a:rPr>
                                        <m:t>4</m:t>
                                      </m:r>
                                    </m:sup>
                                  </m:sSup>
                                </m:den>
                              </m:f>
                            </m:oMath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19788984"/>
                  </p:ext>
                </p:extLst>
              </p:nvPr>
            </p:nvGraphicFramePr>
            <p:xfrm>
              <a:off x="5581465" y="1543778"/>
              <a:ext cx="5760000" cy="429768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216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Expression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Equivalent Expression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1280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82" t="-35714" r="-166949" b="-200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1280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82" t="-135714" r="-166949" b="-100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1280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82" t="-235714" r="-166949" b="-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480712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51473858"/>
                  </p:ext>
                </p:extLst>
              </p:nvPr>
            </p:nvGraphicFramePr>
            <p:xfrm>
              <a:off x="2952417" y="383586"/>
              <a:ext cx="5760000" cy="301752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21600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Expression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Equivalent Expression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1280160">
                    <a:tc>
                      <a:txBody>
                        <a:bodyPr/>
                        <a:lstStyle/>
                        <a:p>
                          <a:pPr marL="457200" indent="-457200"/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d.</a:t>
                          </a:r>
                          <a:r>
                            <a:rPr lang="en-US" altLang="en-US" sz="2000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	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i="1" smtClean="0">
                                      <a:latin typeface="Cambria Math"/>
                                      <a:ea typeface="Verdana" pitchFamily="34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i="1" smtClean="0">
                                          <a:latin typeface="Cambria Math"/>
                                          <a:ea typeface="Verdana" pitchFamily="34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2000" i="1" smtClean="0">
                                              <a:latin typeface="Cambria Math"/>
                                              <a:ea typeface="Verdana" pitchFamily="34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000" b="0" i="1" smtClean="0">
                                              <a:latin typeface="Cambria Math"/>
                                              <a:ea typeface="Verdana" pitchFamily="34" charset="0"/>
                                            </a:rPr>
                                            <m:t>𝑒</m:t>
                                          </m:r>
                                        </m:num>
                                        <m:den>
                                          <m:sSup>
                                            <m:sSupPr>
                                              <m:ctrlPr>
                                                <a:rPr lang="en-US" sz="2000" i="1" smtClean="0">
                                                  <a:latin typeface="Cambria Math"/>
                                                  <a:ea typeface="Verdana" pitchFamily="34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000" b="0" i="1" smtClean="0">
                                                  <a:latin typeface="Cambria Math"/>
                                                  <a:ea typeface="Verdana" pitchFamily="34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b="0" i="1" smtClean="0">
                                                  <a:latin typeface="Cambria Math"/>
                                                  <a:ea typeface="Verdana" pitchFamily="34" charset="0"/>
                                                </a:rPr>
                                                <m:t>5</m:t>
                                              </m:r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4</m:t>
                                  </m:r>
                                </m:sup>
                              </m:sSup>
                            </m:oMath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1280160">
                    <a:tc>
                      <a:txBody>
                        <a:bodyPr/>
                        <a:lstStyle/>
                        <a:p>
                          <a:pPr marL="630238" indent="-630238"/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e</a:t>
                          </a:r>
                          <a:r>
                            <a:rPr lang="en-US" sz="2000" dirty="0" smtClean="0">
                              <a:latin typeface="Verdana" pitchFamily="34" charset="0"/>
                              <a:ea typeface="Verdana" pitchFamily="34" charset="0"/>
                            </a:rPr>
                            <a:t>. </a:t>
                          </a:r>
                          <a:r>
                            <a:rPr lang="en-US" altLang="en-US" sz="2000" dirty="0" smtClean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 smtClean="0">
                                      <a:latin typeface="Cambria Math"/>
                                      <a:ea typeface="Verdana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49</m:t>
                                  </m:r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/>
                                          <a:ea typeface="Verdana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/>
                                          <a:ea typeface="Verdana" pitchFamily="34" charset="0"/>
                                        </a:rPr>
                                        <m:t>𝑝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/>
                                          <a:ea typeface="Verdana" pitchFamily="34" charset="0"/>
                                        </a:rPr>
                                        <m:t>4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/>
                                          <a:ea typeface="Verdana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/>
                                          <a:ea typeface="Verdana" pitchFamily="34" charset="0"/>
                                        </a:rPr>
                                        <m:t>h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/>
                                          <a:ea typeface="Verdana" pitchFamily="34" charset="0"/>
                                        </a:rPr>
                                        <m:t>8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20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81</m:t>
                                  </m:r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/>
                                          <a:ea typeface="Verdana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/>
                                          <a:ea typeface="Verdana" pitchFamily="34" charset="0"/>
                                        </a:rPr>
                                        <m:t>𝑝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/>
                                          <a:ea typeface="Verdana" pitchFamily="34" charset="0"/>
                                        </a:rPr>
                                        <m:t>10</m:t>
                                      </m:r>
                                    </m:sup>
                                  </m:sSup>
                                </m:den>
                              </m:f>
                            </m:oMath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51473858"/>
                  </p:ext>
                </p:extLst>
              </p:nvPr>
            </p:nvGraphicFramePr>
            <p:xfrm>
              <a:off x="2952417" y="383586"/>
              <a:ext cx="5760000" cy="301752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216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Expression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Equivalent Expression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1280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36190" r="-167232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1280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136190" r="-1672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491940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97112" y="645767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AE281112-0763-C941-9DB7-9B28C4EA4745}"/>
              </a:ext>
            </a:extLst>
          </p:cNvPr>
          <p:cNvSpPr/>
          <p:nvPr/>
        </p:nvSpPr>
        <p:spPr>
          <a:xfrm>
            <a:off x="532661" y="1466272"/>
            <a:ext cx="1080000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Choose the emoji that reflects your understanding of generating equivalent algebraic expressions to find quotient of two monomials using the properties (laws) of exponents.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spcAft>
                <a:spcPts val="1200"/>
              </a:spcAft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statement.</a:t>
            </a:r>
          </a:p>
          <a:p>
            <a:pPr marL="444500" indent="9525">
              <a:lnSpc>
                <a:spcPct val="150000"/>
              </a:lnSpc>
            </a:pP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chose this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emoji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because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________________________________________</a:t>
            </a:r>
            <a:b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____________________________________________________________________________________________________________________________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2215787" y="2678502"/>
            <a:ext cx="6916044" cy="1668893"/>
            <a:chOff x="1073526" y="3342232"/>
            <a:chExt cx="6916044" cy="1668893"/>
          </a:xfrm>
        </p:grpSpPr>
        <p:pic>
          <p:nvPicPr>
            <p:cNvPr id="8" name="image4.png" descr="Chart&#10;&#10;Description automatically generated">
              <a:extLst>
                <a:ext uri="{FF2B5EF4-FFF2-40B4-BE49-F238E27FC236}">
                  <a16:creationId xmlns:a16="http://schemas.microsoft.com/office/drawing/2014/main" xmlns="" id="{ED59C2E2-E8A4-A24A-AAED-429966819A4A}"/>
                </a:ext>
              </a:extLst>
            </p:cNvPr>
            <p:cNvPicPr/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46060" b="42611"/>
            <a:stretch>
              <a:fillRect/>
            </a:stretch>
          </p:blipFill>
          <p:spPr>
            <a:xfrm>
              <a:off x="1154430" y="4504395"/>
              <a:ext cx="6835140" cy="506730"/>
            </a:xfrm>
            <a:prstGeom prst="rect">
              <a:avLst/>
            </a:prstGeom>
            <a:ln/>
          </p:spPr>
        </p:pic>
        <p:pic>
          <p:nvPicPr>
            <p:cNvPr id="4" name="Picture 3" descr="A group of yellow smiley faces&#10;&#10;Description automatically generated with medium confidence">
              <a:extLst>
                <a:ext uri="{FF2B5EF4-FFF2-40B4-BE49-F238E27FC236}">
                  <a16:creationId xmlns:a16="http://schemas.microsoft.com/office/drawing/2014/main" xmlns="" id="{A59CC327-01DA-4843-8081-434B7FD949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73526" y="3342232"/>
              <a:ext cx="6916044" cy="1042895"/>
            </a:xfrm>
            <a:prstGeom prst="rect">
              <a:avLst/>
            </a:prstGeom>
          </p:spPr>
        </p:pic>
      </p:grpSp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xmlns="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252887" y="325876"/>
            <a:ext cx="8019300" cy="662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2.2.7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xmlns="" id="{EEA44D6C-2366-AC41-B1B5-EDDC34786A6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6784" y="28365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3273</TotalTime>
  <Words>1285</Words>
  <Application>Microsoft Office PowerPoint</Application>
  <PresentationFormat>Custom</PresentationFormat>
  <Paragraphs>232</Paragraphs>
  <Slides>26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8" baseType="lpstr">
      <vt:lpstr>Arial</vt:lpstr>
      <vt:lpstr>Wingdings</vt:lpstr>
      <vt:lpstr>Cambria Math</vt:lpstr>
      <vt:lpstr>Cambria</vt:lpstr>
      <vt:lpstr>Arial Black</vt:lpstr>
      <vt:lpstr>Verdana</vt:lpstr>
      <vt:lpstr>Helvetica Neue</vt:lpstr>
      <vt:lpstr>Calibri</vt:lpstr>
      <vt:lpstr>Courier New</vt:lpstr>
      <vt:lpstr>Times New Roman</vt:lpstr>
      <vt:lpstr>Century Gothic</vt:lpstr>
      <vt:lpstr>1_Office Theme</vt:lpstr>
      <vt:lpstr>Algebra 1  Unit 2, Lesson 2  Applying Quotient Laws of Exponents to Algebraic Expressions  Volume 1, pg. 61  </vt:lpstr>
      <vt:lpstr>Benchmark</vt:lpstr>
      <vt:lpstr>PowerPoint Presentation</vt:lpstr>
      <vt:lpstr>PowerPoint Presentation</vt:lpstr>
      <vt:lpstr>Warm-Up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Guided Instruction</vt:lpstr>
      <vt:lpstr>PowerPoint Presentation</vt:lpstr>
      <vt:lpstr>PowerPoint Presentation</vt:lpstr>
      <vt:lpstr>PowerPoint Presentation</vt:lpstr>
      <vt:lpstr>Activity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Sensei</cp:lastModifiedBy>
  <cp:revision>46</cp:revision>
  <dcterms:created xsi:type="dcterms:W3CDTF">2015-03-17T18:51:18Z</dcterms:created>
  <dcterms:modified xsi:type="dcterms:W3CDTF">2022-06-23T01:30:17Z</dcterms:modified>
</cp:coreProperties>
</file>