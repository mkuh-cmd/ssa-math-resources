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382" r:id="rId11"/>
    <p:sldId id="383" r:id="rId12"/>
    <p:sldId id="385" r:id="rId13"/>
    <p:sldId id="386" r:id="rId14"/>
    <p:sldId id="387" r:id="rId15"/>
    <p:sldId id="388" r:id="rId16"/>
    <p:sldId id="306" r:id="rId17"/>
    <p:sldId id="307" r:id="rId18"/>
    <p:sldId id="384" r:id="rId19"/>
  </p:sldIdLst>
  <p:sldSz cx="12192000" cy="6858000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Century Gothic" pitchFamily="34" charset="0"/>
      <p:regular r:id="rId25"/>
      <p:bold r:id="rId26"/>
      <p:italic r:id="rId27"/>
      <p:boldItalic r:id="rId28"/>
    </p:embeddedFont>
    <p:embeddedFont>
      <p:font typeface="Cambria Math" pitchFamily="18" charset="0"/>
      <p:regular r:id="rId29"/>
    </p:embeddedFont>
    <p:embeddedFont>
      <p:font typeface="Cambria" pitchFamily="18" charset="0"/>
      <p:regular r:id="rId30"/>
      <p:bold r:id="rId31"/>
      <p:italic r:id="rId32"/>
      <p:boldItalic r:id="rId33"/>
    </p:embeddedFont>
    <p:embeddedFont>
      <p:font typeface="Arial Black" pitchFamily="34" charset="0"/>
      <p:bold r:id="rId34"/>
    </p:embeddedFont>
    <p:embeddedFont>
      <p:font typeface="Verdana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05" autoAdjust="0"/>
    <p:restoredTop sz="94591" autoAdjust="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2550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142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265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8469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74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9658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133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7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Adding, Subtracting, and Multiplying Polynomials Using More Than One Operation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and multiply polynomial expressions with rational number coefficients.</a:t>
            </a: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recognize adding, subtracting, or multiplying a polynomial will result in a polynomial.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add, subtract, and multiply polynomial expressions using more than one operation. 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2.8.1 Warm-Up: Electric Vehicle Technician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497537"/>
            <a:ext cx="110515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Grandy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went from studying landscape architecture to becoming an electric vehicle technician because of his passion for fighting climate change.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 shared that he believes communication is a very important skill, regardless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job title in a company. Asking questions to have clarity on product needs, being able to improve products, and always striving to achieve better helps you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grow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 time when you sought to improve in something.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 time when clear communication helped you improve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1BF0A2C3-CF0F-8F4E-A6DB-05CE14994A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848167"/>
                  </p:ext>
                </p:extLst>
              </p:nvPr>
            </p:nvGraphicFramePr>
            <p:xfrm>
              <a:off x="1529100" y="4126235"/>
              <a:ext cx="6895650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294930866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3771810166"/>
                        </a:ext>
                      </a:extLst>
                    </a:gridCol>
                    <a:gridCol w="3295650">
                      <a:extLst>
                        <a:ext uri="{9D8B030D-6E8A-4147-A177-3AD203B41FA5}">
                          <a16:colId xmlns:a16="http://schemas.microsoft.com/office/drawing/2014/main" xmlns="" val="348855881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d>
                                  <m:dPr>
                                    <m:ctrlPr>
                                      <a:rPr lang="x-none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𝟏𝟏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2083166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Step 1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Distribute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(11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−2)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2226623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Step 2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Combine like terms.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627175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BF0A2C3-CF0F-8F4E-A6DB-05CE14994A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848167"/>
                  </p:ext>
                </p:extLst>
              </p:nvPr>
            </p:nvGraphicFramePr>
            <p:xfrm>
              <a:off x="1529100" y="4126235"/>
              <a:ext cx="6895650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4930866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771810166"/>
                        </a:ext>
                      </a:extLst>
                    </a:gridCol>
                    <a:gridCol w="32956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8855881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6949" t="-1299" r="-153107" b="-306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2083166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Step 1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9242" t="-66102" r="-18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2226623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Step 2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Combine like terms.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62717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5"/>
            <a:ext cx="10478463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2.8.2 Collaboration: Adding and Subtracting Polynomials with Distribution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performing operations on polynomials, the order of operations applies. </a:t>
                </a:r>
              </a:p>
              <a:p>
                <a:pPr>
                  <a:spcAft>
                    <a:spcPts val="1200"/>
                  </a:spcAft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 to complete the following.</a:t>
                </a: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order of operations can be applied to simplify the polynomial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+3(11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expression in each step using the description.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2554545"/>
              </a:xfrm>
              <a:prstGeom prst="rect">
                <a:avLst/>
              </a:prstGeom>
              <a:blipFill rotWithShape="1">
                <a:blip r:embed="rId6"/>
                <a:stretch>
                  <a:fillRect l="-609" t="-1193" r="-22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r>
              <a:rPr lang="en-PH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PH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                      is done before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PH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PH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1700" indent="-901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                      in the order of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operations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CE4FF7BF-7ACE-7544-873A-F0BA5DE636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3308" y="1371408"/>
            <a:ext cx="4233333" cy="996078"/>
          </a:xfrm>
          <a:prstGeom prst="rect">
            <a:avLst/>
          </a:prstGeom>
        </p:spPr>
      </p:pic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xmlns="" id="{507E907F-39E9-EC4D-A9A3-51DDB8E7EA2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3307" y="2841697"/>
            <a:ext cx="4233333" cy="998138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04C85B16-DC83-7B41-AE17-768F3AA28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54199"/>
                  </p:ext>
                </p:extLst>
              </p:nvPr>
            </p:nvGraphicFramePr>
            <p:xfrm>
              <a:off x="2638738" y="1546296"/>
              <a:ext cx="7200000" cy="44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xmlns="" val="283637351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965602185"/>
                        </a:ext>
                      </a:extLst>
                    </a:gridCol>
                  </a:tblGrid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𝟏𝟎</m:t>
                                </m:r>
                                <m:d>
                                  <m:dPr>
                                    <m:ctrlPr>
                                      <a:rPr lang="x-none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num>
                                      <m:den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𝟓</m:t>
                                        </m:r>
                                      </m:den>
                                    </m:f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𝒎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none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𝟕</m:t>
                                    </m:r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𝟔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2369089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7049042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2636417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3320064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746838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4C85B16-DC83-7B41-AE17-768F3AA28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54199"/>
                  </p:ext>
                </p:extLst>
              </p:nvPr>
            </p:nvGraphicFramePr>
            <p:xfrm>
              <a:off x="2638738" y="1546296"/>
              <a:ext cx="7200000" cy="44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3637351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65602185"/>
                        </a:ext>
                      </a:extLst>
                    </a:gridCol>
                  </a:tblGrid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1" t="-735" r="-66573" b="-434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2369089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7049042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2636417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3320064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74683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order of operations to simplify the polynomial and describe each step you perform.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44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214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085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and subtracting polynomials that include distribution, first                                      then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112337BF-10D4-0243-8C3F-57BDE46B42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880" y="2016644"/>
            <a:ext cx="3907220" cy="845961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793C6CFD-B87B-444E-B283-DB84E0D791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929" y="3056265"/>
            <a:ext cx="4151094" cy="88952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231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469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3"/>
            <a:ext cx="10478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2.8.3 Activity: Polynomial Scavenger Hunt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3708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complete the polynomial scavenger hunt.</a:t>
                </a:r>
              </a:p>
              <a:p>
                <a:pPr marL="714375" indent="-250825" defTabSz="9017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Start at one of the Polynomial Cards posted. </a:t>
                </a:r>
              </a:p>
              <a:p>
                <a:pPr marL="714375" indent="-250825" defTabSz="9017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(or describe) your card’s emoji and write the polynomial expression on the recording sheet. </a:t>
                </a:r>
              </a:p>
              <a:p>
                <a:pPr marL="714375" indent="-250825" defTabSz="9017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Simplify the expression by applying the order of operations. </a:t>
                </a:r>
              </a:p>
              <a:p>
                <a:pPr marL="714375" indent="-250825" defTabSz="9017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simplified answer to find your next card posted somewhere in the room. </a:t>
                </a:r>
              </a:p>
              <a:p>
                <a:pPr marL="714375" indent="-250825" defTabSz="9017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Record the emoji on that Polynomial Card and your next expression to simplify. </a:t>
                </a:r>
              </a:p>
              <a:p>
                <a:pPr marL="714375" indent="-250825" defTabSz="9017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Repeat until you have completed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problems.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3708708"/>
              </a:xfrm>
              <a:prstGeom prst="rect">
                <a:avLst/>
              </a:prstGeom>
              <a:blipFill rotWithShape="1">
                <a:blip r:embed="rId5"/>
                <a:stretch>
                  <a:fillRect l="-609" t="-985" b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1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Diagram, schematic&#10;&#10;Description automatically generated with medium confidence">
            <a:extLst>
              <a:ext uri="{FF2B5EF4-FFF2-40B4-BE49-F238E27FC236}">
                <a16:creationId xmlns:a16="http://schemas.microsoft.com/office/drawing/2014/main" xmlns="" id="{85A1E2BE-01A9-AD43-AE4D-5DE950F5C0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6844" y="254000"/>
            <a:ext cx="3978313" cy="6350001"/>
          </a:xfrm>
          <a:prstGeom prst="rect">
            <a:avLst/>
          </a:prstGeom>
        </p:spPr>
      </p:pic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9091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64E91E61-4007-3F4D-8BBB-72093E6A9A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5666" y="4596990"/>
            <a:ext cx="2129367" cy="94638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types of expressions you and your partner simplified in the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emoji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scavenger hunt were all polynomial expressions.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your answers. Discuss with your partner what the results have in common.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0850">
              <a:lnSpc>
                <a:spcPct val="200000"/>
              </a:lnSpc>
              <a:tabLst>
                <a:tab pos="3429000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result of adding, subtracting, and/or multiplying polynomials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will	result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a polynomial.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197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026188"/>
              </p:ext>
            </p:extLst>
          </p:nvPr>
        </p:nvGraphicFramePr>
        <p:xfrm>
          <a:off x="2630596" y="2276953"/>
          <a:ext cx="6840000" cy="3708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Mindset Question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Best Description </a:t>
                      </a:r>
                      <a:b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for Me Today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Did I use the partner discussions as learning opportunities?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Did I work on problems that challenged me?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2.8.4 Wrap-Up: Growth Mindset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 the description that matches your answer to each question for today’s lesson.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32760"/>
              </p:ext>
            </p:extLst>
          </p:nvPr>
        </p:nvGraphicFramePr>
        <p:xfrm>
          <a:off x="2697271" y="533066"/>
          <a:ext cx="6840000" cy="37615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Mindset Question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Best Description </a:t>
                      </a:r>
                      <a:b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for Me Today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Did I use strategies to ‘un-stick’ myself when I found the problems difficult?</a:t>
                      </a:r>
                      <a:endParaRPr lang="en-PH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Did I put as much effort as I possibly could into the problems?</a:t>
                      </a:r>
                      <a:endParaRPr lang="en-PH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901700" indent="-2635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226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3204</TotalTime>
  <Words>620</Words>
  <Application>Microsoft Office PowerPoint</Application>
  <PresentationFormat>Custom</PresentationFormat>
  <Paragraphs>132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Courier New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Algebra 1  Unit 2, Lesson 8  Adding, Subtracting, and Multiplying Polynomials Using More Than One Operation  Volume 1, pg. 96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43</cp:revision>
  <dcterms:created xsi:type="dcterms:W3CDTF">2015-03-17T18:51:18Z</dcterms:created>
  <dcterms:modified xsi:type="dcterms:W3CDTF">2022-06-23T08:05:46Z</dcterms:modified>
</cp:coreProperties>
</file>