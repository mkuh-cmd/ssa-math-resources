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345" r:id="rId4"/>
    <p:sldId id="286" r:id="rId5"/>
    <p:sldId id="261" r:id="rId6"/>
    <p:sldId id="287" r:id="rId7"/>
    <p:sldId id="314" r:id="rId8"/>
    <p:sldId id="315" r:id="rId9"/>
    <p:sldId id="382" r:id="rId10"/>
    <p:sldId id="383" r:id="rId11"/>
    <p:sldId id="346" r:id="rId12"/>
    <p:sldId id="347" r:id="rId13"/>
    <p:sldId id="348" r:id="rId14"/>
    <p:sldId id="349" r:id="rId15"/>
    <p:sldId id="350" r:id="rId16"/>
    <p:sldId id="385" r:id="rId17"/>
    <p:sldId id="387" r:id="rId18"/>
    <p:sldId id="388" r:id="rId19"/>
    <p:sldId id="389" r:id="rId20"/>
    <p:sldId id="376" r:id="rId21"/>
    <p:sldId id="377" r:id="rId22"/>
    <p:sldId id="391" r:id="rId23"/>
    <p:sldId id="354" r:id="rId24"/>
    <p:sldId id="355" r:id="rId25"/>
    <p:sldId id="392" r:id="rId26"/>
    <p:sldId id="306" r:id="rId27"/>
    <p:sldId id="307" r:id="rId28"/>
  </p:sldIdLst>
  <p:sldSz cx="12192000" cy="6858000"/>
  <p:notesSz cx="6858000" cy="9144000"/>
  <p:embeddedFontLst>
    <p:embeddedFont>
      <p:font typeface="Calibri" pitchFamily="34" charset="0"/>
      <p:regular r:id="rId30"/>
      <p:bold r:id="rId31"/>
      <p:italic r:id="rId32"/>
      <p:boldItalic r:id="rId33"/>
    </p:embeddedFont>
    <p:embeddedFont>
      <p:font typeface="Century Gothic" pitchFamily="34" charset="0"/>
      <p:regular r:id="rId34"/>
      <p:bold r:id="rId35"/>
      <p:italic r:id="rId36"/>
      <p:boldItalic r:id="rId37"/>
    </p:embeddedFont>
    <p:embeddedFont>
      <p:font typeface="Cambria Math" pitchFamily="18" charset="0"/>
      <p:regular r:id="rId38"/>
    </p:embeddedFont>
    <p:embeddedFont>
      <p:font typeface="Arial Black" pitchFamily="34" charset="0"/>
      <p:bold r:id="rId39"/>
    </p:embeddedFont>
    <p:embeddedFont>
      <p:font typeface="Verdana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B59"/>
    <a:srgbClr val="F26763"/>
    <a:srgbClr val="E24E5F"/>
    <a:srgbClr val="1765AD"/>
    <a:srgbClr val="1664AC"/>
    <a:srgbClr val="BFBFBF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7979" autoAdjust="0"/>
    <p:restoredTop sz="94582" autoAdjust="0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font" Target="fonts/font12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5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895694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21429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2265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85123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06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16843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73679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45932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27441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49622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9113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4156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9076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3403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32700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10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3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6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Multiplying Binomials with Algebra Tiles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85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MA.912.AR.1.3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Add, subtract, and multiply polynomial expressions with rational number coefficients.</a:t>
            </a: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xmlns="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3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7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multiply binomials using algebra tiles.</a:t>
            </a: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xmlns="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xmlns="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xmlns="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xmlns="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4" name="Picture 13" descr="Chart&#10;&#10;Description automatically generated">
            <a:extLst>
              <a:ext uri="{FF2B5EF4-FFF2-40B4-BE49-F238E27FC236}">
                <a16:creationId xmlns:a16="http://schemas.microsoft.com/office/drawing/2014/main" xmlns="" id="{304CFC72-C321-7045-8430-F691E55C0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41159" y="1497537"/>
            <a:ext cx="4289425" cy="4134485"/>
          </a:xfrm>
          <a:prstGeom prst="rect">
            <a:avLst/>
          </a:prstGeom>
        </p:spPr>
      </p:pic>
      <p:sp>
        <p:nvSpPr>
          <p:cNvPr id="1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479008" y="1497537"/>
            <a:ext cx="110515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math puzzle is shown with one value missing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endParaRPr lang="en-US" sz="2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missing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number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the puzzle. 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the pattern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used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find the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missing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number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4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2.6.1 Warm-Up: Math Puzzle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5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9DD96694-F164-CE46-A299-73BBAB5119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3500996"/>
                  </p:ext>
                </p:extLst>
              </p:nvPr>
            </p:nvGraphicFramePr>
            <p:xfrm>
              <a:off x="1392470" y="2988971"/>
              <a:ext cx="5400000" cy="321162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xmlns="" val="725593710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xmlns="" val="1720739775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xmlns="" val="382322634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xmlns="" val="107660928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xmlns="" val="2359816928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xmlns="" val="1693862542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xmlns="" val="3417501161"/>
                        </a:ext>
                      </a:extLst>
                    </a:gridCol>
                  </a:tblGrid>
                  <a:tr h="30090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A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B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840757416"/>
                      </a:ext>
                    </a:extLst>
                  </a:tr>
                  <a:tr h="45135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Cambria Math" panose="02040503050406030204" pitchFamily="18" charset="0"/>
                                  </a:rPr>
                                  <m:t>+ 5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Cambria Math" panose="02040503050406030204" pitchFamily="18" charset="0"/>
                                  </a:rPr>
                                  <m:t>+ 7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520825209"/>
                      </a:ext>
                    </a:extLst>
                  </a:tr>
                  <a:tr h="451351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224531522"/>
                      </a:ext>
                    </a:extLst>
                  </a:tr>
                  <a:tr h="451351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1454905"/>
                      </a:ext>
                    </a:extLst>
                  </a:tr>
                  <a:tr h="1440000">
                    <a:tc grid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 Model A’s Product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_________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Model B’s Product</a:t>
                          </a: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  </a:t>
                          </a:r>
                          <a:endParaRPr lang="x-none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_________</a:t>
                          </a:r>
                          <a:endParaRPr lang="x-none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24763355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DD96694-F164-CE46-A299-73BBAB5119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3500996"/>
                  </p:ext>
                </p:extLst>
              </p:nvPr>
            </p:nvGraphicFramePr>
            <p:xfrm>
              <a:off x="1392470" y="2988971"/>
              <a:ext cx="5400000" cy="321162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725593710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720739775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82322634"/>
                        </a:ext>
                      </a:extLst>
                    </a:gridCol>
                    <a:gridCol w="3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076609286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359816928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693862542"/>
                        </a:ext>
                      </a:extLst>
                    </a:gridCol>
                    <a:gridCol w="9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417501161"/>
                        </a:ext>
                      </a:extLst>
                    </a:gridCol>
                  </a:tblGrid>
                  <a:tr h="41757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A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B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840757416"/>
                      </a:ext>
                    </a:extLst>
                  </a:tr>
                  <a:tr h="451351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79730" t="-101351" r="-419595" b="-520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80952" t="-101351" r="-322449" b="-520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02041" t="-101351" r="-101361" b="-520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98649" t="-101351" r="-676" b="-5202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520825209"/>
                      </a:ext>
                    </a:extLst>
                  </a:tr>
                  <a:tr h="4513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3"/>
                          <a:stretch>
                            <a:fillRect t="-201351" r="-651695" b="-420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3"/>
                          <a:stretch>
                            <a:fillRect l="-400847" t="-201351" r="-250847" b="-420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224531522"/>
                      </a:ext>
                    </a:extLst>
                  </a:tr>
                  <a:tr h="4513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3"/>
                          <a:stretch>
                            <a:fillRect t="-301351" r="-651695" b="-320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3"/>
                          <a:stretch>
                            <a:fillRect l="-400847" t="-301351" r="-250847" b="-3202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11454905"/>
                      </a:ext>
                    </a:extLst>
                  </a:tr>
                  <a:tr h="1440000">
                    <a:tc grid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 Model A’s Product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_________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Model B’s Product</a:t>
                          </a: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  </a:t>
                          </a:r>
                          <a:endParaRPr lang="x-none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_________</a:t>
                          </a:r>
                          <a:endParaRPr lang="x-none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24763355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xmlns="" id="{8852EA42-39D7-F44B-A426-92BC98025F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59874"/>
                  </p:ext>
                </p:extLst>
              </p:nvPr>
            </p:nvGraphicFramePr>
            <p:xfrm>
              <a:off x="7136906" y="3029005"/>
              <a:ext cx="2444317" cy="317159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62569">
                      <a:extLst>
                        <a:ext uri="{9D8B030D-6E8A-4147-A177-3AD203B41FA5}">
                          <a16:colId xmlns:a16="http://schemas.microsoft.com/office/drawing/2014/main" xmlns="" val="113719196"/>
                        </a:ext>
                      </a:extLst>
                    </a:gridCol>
                    <a:gridCol w="828211">
                      <a:extLst>
                        <a:ext uri="{9D8B030D-6E8A-4147-A177-3AD203B41FA5}">
                          <a16:colId xmlns:a16="http://schemas.microsoft.com/office/drawing/2014/main" xmlns="" val="196406831"/>
                        </a:ext>
                      </a:extLst>
                    </a:gridCol>
                    <a:gridCol w="953537">
                      <a:extLst>
                        <a:ext uri="{9D8B030D-6E8A-4147-A177-3AD203B41FA5}">
                          <a16:colId xmlns:a16="http://schemas.microsoft.com/office/drawing/2014/main" xmlns="" val="217273016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C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914486630"/>
                      </a:ext>
                    </a:extLst>
                  </a:tr>
                  <a:tr h="45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728985611"/>
                      </a:ext>
                    </a:extLst>
                  </a:tr>
                  <a:tr h="450000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013529277"/>
                      </a:ext>
                    </a:extLst>
                  </a:tr>
                  <a:tr h="450000">
                    <a:tc>
                      <a:txBody>
                        <a:bodyPr/>
                        <a:lstStyle/>
                        <a:p>
                          <a:pPr marL="0" marR="0" algn="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264344790"/>
                      </a:ext>
                    </a:extLst>
                  </a:tr>
                  <a:tr h="1455835">
                    <a:tc grid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C’s Product</a:t>
                          </a: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  </a:t>
                          </a:r>
                          <a:endParaRPr lang="x-none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_________</a:t>
                          </a:r>
                          <a:endParaRPr lang="x-none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7526838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852EA42-39D7-F44B-A426-92BC98025F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59874"/>
                  </p:ext>
                </p:extLst>
              </p:nvPr>
            </p:nvGraphicFramePr>
            <p:xfrm>
              <a:off x="7136906" y="3029005"/>
              <a:ext cx="2444317" cy="317159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6256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13719196"/>
                        </a:ext>
                      </a:extLst>
                    </a:gridCol>
                    <a:gridCol w="82821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96406831"/>
                        </a:ext>
                      </a:extLst>
                    </a:gridCol>
                    <a:gridCol w="95353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17273016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C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914486630"/>
                      </a:ext>
                    </a:extLst>
                  </a:tr>
                  <a:tr h="45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4"/>
                          <a:stretch>
                            <a:fillRect l="-917" t="-94595" r="-267890" b="-5229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80882" t="-94595" r="-114706" b="-5229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57692" t="-94595" b="-5229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728985611"/>
                      </a:ext>
                    </a:extLst>
                  </a:tr>
                  <a:tr h="45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4"/>
                          <a:stretch>
                            <a:fillRect l="-917" t="-194595" r="-267890" b="-4229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80882" t="-194595" r="-114706" b="-4229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57692" t="-194595" b="-4229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013529277"/>
                      </a:ext>
                    </a:extLst>
                  </a:tr>
                  <a:tr h="45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4"/>
                          <a:stretch>
                            <a:fillRect l="-917" t="-298630" r="-267890" b="-3287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80882" t="-298630" r="-114706" b="-3287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57692" t="-298630" b="-3287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264344790"/>
                      </a:ext>
                    </a:extLst>
                  </a:tr>
                  <a:tr h="1455835">
                    <a:tc grid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C’s Product</a:t>
                          </a: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  </a:t>
                          </a:r>
                          <a:endParaRPr lang="x-none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 _________</a:t>
                          </a:r>
                          <a:endParaRPr lang="x-none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7526838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152D1D4D-DCB8-A246-B186-D40316579D77}"/>
              </a:ext>
            </a:extLst>
          </p:cNvPr>
          <p:cNvSpPr txBox="1"/>
          <p:nvPr/>
        </p:nvSpPr>
        <p:spPr>
          <a:xfrm>
            <a:off x="601762" y="1460161"/>
            <a:ext cx="109288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complete the following.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 multiplication problems are set up using an area model. </a:t>
            </a:r>
          </a:p>
          <a:p>
            <a:pPr marL="9017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area models to find each product.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195232"/>
            <a:ext cx="9033046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2.6.2 Exploration: Multiplying with the Area Model</a:t>
            </a:r>
            <a:endParaRPr lang="en-US" sz="32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CD7C2F6E-96E7-0840-9571-C60B6A0686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4062280"/>
                  </p:ext>
                </p:extLst>
              </p:nvPr>
            </p:nvGraphicFramePr>
            <p:xfrm>
              <a:off x="3066360" y="1629443"/>
              <a:ext cx="5760000" cy="398371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="" val="3432859926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4016188950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Multiplication Expression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Area Model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789047133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(15)(27)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09625" marR="0" lvl="0" indent="-2730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A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809625" marR="0" lvl="0" indent="-2730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B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809625" marR="0" lvl="0" indent="-2730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C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156123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(15)(25)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09625" marR="0" lvl="0" indent="-2730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A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809625" marR="0" lvl="0" indent="-2730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B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809625" marR="0" lvl="0" indent="-2730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C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363492075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(15)(18)</m:t>
                                </m:r>
                              </m:oMath>
                            </m:oMathPara>
                          </a14:m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09625" marR="0" lvl="0" indent="-2730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A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809625" marR="0" lvl="0" indent="-2730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B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809625" marR="0" lvl="0" indent="-2730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C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89535480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D7C2F6E-96E7-0840-9571-C60B6A0686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4062280"/>
                  </p:ext>
                </p:extLst>
              </p:nvPr>
            </p:nvGraphicFramePr>
            <p:xfrm>
              <a:off x="3066360" y="1629443"/>
              <a:ext cx="5760000" cy="398371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432859926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016188950"/>
                        </a:ext>
                      </a:extLst>
                    </a:gridCol>
                  </a:tblGrid>
                  <a:tr h="74371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Multiplication Expression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Area Model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789047133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72316" r="-99789" b="-2090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809625" marR="0" lvl="0" indent="-2730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A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809625" marR="0" lvl="0" indent="-2730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B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809625" marR="0" lvl="0" indent="-2730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C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156123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71348" r="-99789" b="-1078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809625" marR="0" lvl="0" indent="-2730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A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809625" marR="0" lvl="0" indent="-2730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B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809625" marR="0" lvl="0" indent="-2730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C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363492075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72881" r="-99789" b="-8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809625" marR="0" lvl="0" indent="-2730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A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809625" marR="0" lvl="0" indent="-2730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B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809625" marR="0" lvl="0" indent="-27305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 Math" panose="02040503050406030204" pitchFamily="18" charset="0"/>
                            </a:rPr>
                            <a:t>Model C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8953548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17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Match each area model to the multiplication expression it represents.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443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9638">
              <a:lnSpc>
                <a:spcPct val="200000"/>
              </a:lnSpc>
              <a:tabLst>
                <a:tab pos="42291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the area models, each rectangle represents part of the                 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Parts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each	are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multiplied to find four partial products.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product of the two factors is found by                         the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partial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products.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05DCEA2D-5A8C-C14F-B7AB-4F41D24DEA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98873" y="999250"/>
            <a:ext cx="1624626" cy="895720"/>
          </a:xfrm>
          <a:prstGeom prst="rect">
            <a:avLst/>
          </a:prstGeom>
        </p:spPr>
      </p:pic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496C33CE-07B6-DC4A-9D79-F7F5B84275B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5650" y="2201508"/>
            <a:ext cx="1515834" cy="895720"/>
          </a:xfrm>
          <a:prstGeom prst="rect">
            <a:avLst/>
          </a:prstGeom>
        </p:spPr>
      </p:pic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41DDA511-CDD1-EB4D-9622-6D8B9D1A5CF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9594" y="3433050"/>
            <a:ext cx="1899754" cy="873532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2312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image2.png" descr="Icon&#10;&#10;Description automatically generated">
            <a:extLst>
              <a:ext uri="{FF2B5EF4-FFF2-40B4-BE49-F238E27FC236}">
                <a16:creationId xmlns:a16="http://schemas.microsoft.com/office/drawing/2014/main" xmlns="" id="{B8663E50-D763-C343-96E8-FEAEDD7FA21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06717" y="2849920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application, Teams&#10;&#10;Description automatically generated">
            <a:extLst>
              <a:ext uri="{FF2B5EF4-FFF2-40B4-BE49-F238E27FC236}">
                <a16:creationId xmlns:a16="http://schemas.microsoft.com/office/drawing/2014/main" xmlns="" id="{072DA626-76DE-F445-9532-A7580C11975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8601" y="1386025"/>
            <a:ext cx="3772511" cy="4544836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62866"/>
            <a:ext cx="1095738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2.6.3 Guided Instruction: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Multiplying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Binomials</a:t>
            </a:r>
            <a:endParaRPr lang="en-US" sz="32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45131" y="1386024"/>
                <a:ext cx="701772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Similar to the area model, algebra tiles can be used to model the product of two binomials.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Ty wants to find the </a:t>
                </a: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product 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+5)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−2)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He uses algebra </a:t>
                </a: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tiles 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 model multiplying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+5)(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−2)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31" y="1386024"/>
                <a:ext cx="7017720" cy="1938992"/>
              </a:xfrm>
              <a:prstGeom prst="rect">
                <a:avLst/>
              </a:prstGeom>
              <a:blipFill rotWithShape="1">
                <a:blip r:embed="rId6"/>
                <a:stretch>
                  <a:fillRect l="-868" t="-1572" r="-2170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Similar to the area model, the factors are placed along the width and the height of a rectangular area.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4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90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how each factor is represented using algebra tiles. Write a summary of your discussion. </a:t>
            </a:r>
            <a:endParaRPr lang="en-US" altLang="en-US" sz="24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51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9" name="Picture 18" descr="A picture containing text, shoji, crossword puzzle&#10;&#10;Description automatically generated">
            <a:extLst>
              <a:ext uri="{FF2B5EF4-FFF2-40B4-BE49-F238E27FC236}">
                <a16:creationId xmlns:a16="http://schemas.microsoft.com/office/drawing/2014/main" xmlns="" id="{BDE757E9-0B04-024A-89AA-E3B45DCEF9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1708" y="1683845"/>
            <a:ext cx="3632200" cy="429768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93763" indent="-452438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Ty’s model to find the product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drawing and labeling the missing tiles.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830997"/>
              </a:xfrm>
              <a:prstGeom prst="rect">
                <a:avLst/>
              </a:prstGeom>
              <a:blipFill rotWithShape="1">
                <a:blip r:embed="rId5"/>
                <a:stretch>
                  <a:fillRect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how many of each tile are represented in the product and write the numbers in the table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8890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3"/>
                </a:pP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expression that represents the product of (𝑥+5) and (𝑥−2) using the algebra tiles.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+5)(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−2)= _____</m:t>
                      </m:r>
                      <m:sSup>
                        <m:sSupPr>
                          <m:ctrlPr>
                            <a:rPr lang="en-US" sz="2000" i="1" dirty="0">
                              <a:latin typeface="Cambria Math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 + _____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 − ______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4401205"/>
              </a:xfrm>
              <a:prstGeom prst="rect">
                <a:avLst/>
              </a:prstGeom>
              <a:blipFill rotWithShape="1">
                <a:blip r:embed="rId3"/>
                <a:stretch>
                  <a:fillRect t="-831" b="-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="" id="{4BD5ED41-EF67-B34B-A052-491C1F167F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9728306"/>
                  </p:ext>
                </p:extLst>
              </p:nvPr>
            </p:nvGraphicFramePr>
            <p:xfrm>
              <a:off x="2955531" y="1652787"/>
              <a:ext cx="7200000" cy="154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="" val="1328284286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="" val="2766708095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="" val="271092068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="" val="947986038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="" val="167034721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b="1" i="1">
                                      <a:effectLst/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tiles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b="1" i="1">
                                      <a:effectLst/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+ </m:t>
                                  </m:r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 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tiles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b="1" i="1">
                                      <a:effectLst/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− </m:t>
                                  </m:r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 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tiles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b="1" i="1">
                                      <a:effectLst/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+ </m:t>
                                  </m:r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𝟏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 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tiles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b="1" i="1">
                                      <a:effectLst/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− </m:t>
                                  </m:r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𝟏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 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b="1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tiles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619802893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78900766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BD5ED41-EF67-B34B-A052-491C1F167F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9728306"/>
                  </p:ext>
                </p:extLst>
              </p:nvPr>
            </p:nvGraphicFramePr>
            <p:xfrm>
              <a:off x="2955531" y="1652787"/>
              <a:ext cx="7200000" cy="154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328284286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766708095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710920680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947986038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67034721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24" t="-2597" r="-400424" b="-231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424" t="-2597" r="-300424" b="-231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99578" t="-2597" r="-199156" b="-231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00847" t="-2597" r="-100000" b="-231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00847" t="-2597" b="-2311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19802893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78900766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2147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xmlns="" id="{5AD8F3C2-70C7-4541-A842-A2F7161B06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228" t="3774" r="6968" b="4435"/>
          <a:stretch/>
        </p:blipFill>
        <p:spPr>
          <a:xfrm>
            <a:off x="7216262" y="533066"/>
            <a:ext cx="4248150" cy="4238625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6" y="533065"/>
                <a:ext cx="6346794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Monica is using algebra tiles to find the product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2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h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do the algebra tiles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model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represent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2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h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8985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Monica’s model.</a:t>
                </a:r>
              </a:p>
              <a:p>
                <a:pPr marL="8985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shape did the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product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2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h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form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algebra tiles?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6" y="533065"/>
                <a:ext cx="6346794" cy="4093428"/>
              </a:xfrm>
              <a:prstGeom prst="rect">
                <a:avLst/>
              </a:prstGeom>
              <a:blipFill rotWithShape="1">
                <a:blip r:embed="rId5"/>
                <a:stretch>
                  <a:fillRect l="-1057" t="-893" b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4321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Remember when a value is “squared,” the value is being multiplied by itself.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by writing how many of each tile are in the model of the product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2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h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8890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4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4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4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algebraic expression that represents the product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2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h</m:t>
                            </m:r>
                            <m:r>
                              <a:rPr lang="es-E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3785652"/>
              </a:xfrm>
              <a:prstGeom prst="rect">
                <a:avLst/>
              </a:prstGeom>
              <a:blipFill rotWithShape="1">
                <a:blip r:embed="rId3"/>
                <a:stretch>
                  <a:fillRect l="-612" t="-805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="" id="{E84EFA19-9BC9-D048-B832-3A79222DF2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3250977"/>
                  </p:ext>
                </p:extLst>
              </p:nvPr>
            </p:nvGraphicFramePr>
            <p:xfrm>
              <a:off x="2387808" y="2245050"/>
              <a:ext cx="7200000" cy="118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="" val="4205057649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="" val="2545902147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="" val="276643684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="" val="3484085365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="" val="3103180905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1800" b="1" i="1">
                                      <a:effectLst/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𝒉</m:t>
                                  </m:r>
                                </m:e>
                                <m:sup>
                                  <m:r>
                                    <a:rPr lang="en-US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18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800" b="1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tiles</a:t>
                          </a:r>
                          <a:endParaRPr lang="x-none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1800" b="1" i="1">
                                      <a:effectLst/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+ </m:t>
                                  </m:r>
                                  <m:r>
                                    <a:rPr lang="en-US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𝒉</m:t>
                                  </m:r>
                                </m:e>
                                <m:sup>
                                  <m:r>
                                    <a:rPr lang="en-US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  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b="1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tiles</a:t>
                          </a:r>
                          <a:endParaRPr lang="x-none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1800" b="1" i="1">
                                      <a:effectLst/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− </m:t>
                                  </m:r>
                                  <m:r>
                                    <a:rPr lang="en-US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𝒉</m:t>
                                  </m:r>
                                </m:e>
                                <m:sup>
                                  <m:r>
                                    <a:rPr lang="en-US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  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b="1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tiles</a:t>
                          </a:r>
                          <a:endParaRPr lang="x-none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1800" b="1" i="1">
                                      <a:effectLst/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+ </m:t>
                                  </m:r>
                                  <m:r>
                                    <a:rPr lang="en-US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𝟏</m:t>
                                  </m:r>
                                </m:e>
                                <m:sup>
                                  <m:r>
                                    <a:rPr lang="en-US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 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b="1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tiles</a:t>
                          </a:r>
                          <a:endParaRPr lang="x-none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1800" b="1" i="1">
                                      <a:effectLst/>
                                      <a:latin typeface="Cambria Math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− </m:t>
                                  </m:r>
                                  <m:r>
                                    <a:rPr lang="en-US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𝟏</m:t>
                                  </m:r>
                                </m:e>
                                <m:sup>
                                  <m:r>
                                    <a:rPr lang="en-US" sz="1800" b="1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 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b="1" i="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tiles</a:t>
                          </a:r>
                          <a:endParaRPr lang="x-none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50786761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65947062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84EFA19-9BC9-D048-B832-3A79222DF2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3250977"/>
                  </p:ext>
                </p:extLst>
              </p:nvPr>
            </p:nvGraphicFramePr>
            <p:xfrm>
              <a:off x="2387808" y="2245050"/>
              <a:ext cx="7200000" cy="118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205057649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545902147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76643684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484085365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103180905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24" r="-400424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424" r="-300424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99578" r="-199156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00847" r="-100000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00847" b="-15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50786761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594706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0254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Picture 7" descr="A picture containing chart&#10;&#10;Description automatically generated">
            <a:extLst>
              <a:ext uri="{FF2B5EF4-FFF2-40B4-BE49-F238E27FC236}">
                <a16:creationId xmlns:a16="http://schemas.microsoft.com/office/drawing/2014/main" xmlns="" id="{D5787732-BCC1-A144-8457-C68C762D4A3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8473"/>
          <a:stretch/>
        </p:blipFill>
        <p:spPr bwMode="auto">
          <a:xfrm>
            <a:off x="3546201" y="2122976"/>
            <a:ext cx="4721225" cy="3048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Annalee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used algebra tiles to find the product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+2)(3−2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Her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model is shown.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1323439"/>
              </a:xfrm>
              <a:prstGeom prst="rect">
                <a:avLst/>
              </a:prstGeom>
              <a:blipFill rotWithShape="1">
                <a:blip r:embed="rId5"/>
                <a:stretch>
                  <a:fillRect l="-612" t="-2294" b="-6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8353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xmlns="" id="{371FFD7D-5504-2B43-975F-6139ED69A44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1744" y="845527"/>
            <a:ext cx="1240711" cy="792000"/>
          </a:xfrm>
          <a:prstGeom prst="rect">
            <a:avLst/>
          </a:prstGeom>
        </p:spPr>
      </p:pic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3BCC107C-5DA4-1C4F-BA1C-9D9B5455986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07595" y="2089476"/>
            <a:ext cx="1338125" cy="792000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</a:t>
                </a:r>
              </a:p>
              <a:p>
                <a:pPr marL="893763">
                  <a:lnSpc>
                    <a:spcPct val="20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factor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represented along the </a:t>
                </a:r>
              </a:p>
              <a:p>
                <a:pPr marL="893763">
                  <a:lnSpc>
                    <a:spcPct val="20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Annalee’s model, while the factor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(3−2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represented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along the </a:t>
                </a: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3763">
                  <a:lnSpc>
                    <a:spcPct val="200000"/>
                  </a:lnSpc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Annalee wrote the product is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</m:t>
                    </m:r>
                    <m:sSup>
                      <m:sSupPr>
                        <m:ctrlPr>
                          <a:rPr lang="en-US" sz="20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𝑏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−7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error(s)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err="1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Annalee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made.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890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37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product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+2)(3−2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_____________.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5324535"/>
              </a:xfrm>
              <a:prstGeom prst="rect">
                <a:avLst/>
              </a:prstGeom>
              <a:blipFill rotWithShape="1">
                <a:blip r:embed="rId6"/>
                <a:stretch>
                  <a:fillRect t="-686" b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6231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323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3FA67DAD-73B6-0B46-BB5E-75277EDD6A7B}"/>
              </a:ext>
            </a:extLst>
          </p:cNvPr>
          <p:cNvGrpSpPr/>
          <p:nvPr/>
        </p:nvGrpSpPr>
        <p:grpSpPr>
          <a:xfrm>
            <a:off x="1307007" y="2069203"/>
            <a:ext cx="4803775" cy="3795395"/>
            <a:chOff x="0" y="0"/>
            <a:chExt cx="4955540" cy="379539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1C002C45-2A09-4143-9A4C-EC24E5D6528F}"/>
                </a:ext>
              </a:extLst>
            </p:cNvPr>
            <p:cNvCxnSpPr/>
            <p:nvPr/>
          </p:nvCxnSpPr>
          <p:spPr>
            <a:xfrm>
              <a:off x="0" y="412821"/>
              <a:ext cx="495554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CD7E7C19-37AD-4B42-BB45-B496FF9F663C}"/>
                </a:ext>
              </a:extLst>
            </p:cNvPr>
            <p:cNvCxnSpPr/>
            <p:nvPr/>
          </p:nvCxnSpPr>
          <p:spPr>
            <a:xfrm rot="5400000" flipH="1">
              <a:off x="-1448823" y="1897698"/>
              <a:ext cx="379539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136174"/>
            <a:ext cx="10477934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2.6.4 Guided Practice: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Multiplying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Binomials</a:t>
            </a:r>
            <a:endParaRPr lang="en-US" sz="32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506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731519" y="1491419"/>
                <a:ext cx="10758527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algebra tiles to find the product of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(1−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)(4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−1)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en-US" sz="2000" dirty="0" smtClean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 smtClean="0">
                  <a:solidFill>
                    <a:schemeClr val="tx1"/>
                  </a:solidFill>
                  <a:latin typeface="Cambria Math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 smtClean="0">
                  <a:solidFill>
                    <a:schemeClr val="tx1"/>
                  </a:solidFill>
                  <a:latin typeface="Cambria Math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 smtClean="0">
                  <a:solidFill>
                    <a:schemeClr val="tx1"/>
                  </a:solidFill>
                  <a:latin typeface="Cambria Math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 smtClean="0">
                  <a:solidFill>
                    <a:schemeClr val="tx1"/>
                  </a:solidFill>
                  <a:latin typeface="Cambria Math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 smtClean="0">
                  <a:solidFill>
                    <a:schemeClr val="tx1"/>
                  </a:solidFill>
                  <a:latin typeface="Cambria Math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 smtClean="0">
                  <a:solidFill>
                    <a:schemeClr val="tx1"/>
                  </a:solidFill>
                  <a:latin typeface="Cambria Math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 smtClean="0">
                  <a:solidFill>
                    <a:schemeClr val="tx1"/>
                  </a:solidFill>
                  <a:latin typeface="Cambria Math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d>
                    <m:d>
                      <m:d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________________.</a:t>
                </a: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1491419"/>
                <a:ext cx="10758527" cy="5016758"/>
              </a:xfrm>
              <a:prstGeom prst="rect">
                <a:avLst/>
              </a:prstGeom>
              <a:blipFill rotWithShape="1">
                <a:blip r:embed="rId5"/>
                <a:stretch>
                  <a:fillRect l="-567" t="-729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7674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product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using algebra tiles</a:t>
                </a:r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 smtClean="0">
                  <a:solidFill>
                    <a:schemeClr val="tx1"/>
                  </a:solidFill>
                  <a:latin typeface="Cambria Math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PH" altLang="en-US" sz="2000" i="1" dirty="0" smtClean="0">
                  <a:solidFill>
                    <a:schemeClr val="tx1"/>
                  </a:solidFill>
                  <a:latin typeface="Cambria Math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PH" altLang="en-US" sz="2000" i="1" dirty="0">
                  <a:solidFill>
                    <a:schemeClr val="tx1"/>
                  </a:solidFill>
                  <a:latin typeface="Cambria Math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PH" altLang="en-US" sz="2000" i="1" dirty="0" smtClean="0">
                  <a:solidFill>
                    <a:schemeClr val="tx1"/>
                  </a:solidFill>
                  <a:latin typeface="Cambria Math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PH" altLang="en-US" sz="2000" i="1" dirty="0">
                  <a:solidFill>
                    <a:schemeClr val="tx1"/>
                  </a:solidFill>
                  <a:latin typeface="Cambria Math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PH" altLang="en-US" sz="2000" i="1" dirty="0" smtClean="0">
                  <a:solidFill>
                    <a:schemeClr val="tx1"/>
                  </a:solidFill>
                  <a:latin typeface="Cambria Math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PH" altLang="en-US" sz="2000" i="1" dirty="0">
                  <a:solidFill>
                    <a:schemeClr val="tx1"/>
                  </a:solidFill>
                  <a:latin typeface="Cambria Math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PH" altLang="en-US" sz="2000" i="1" dirty="0" smtClean="0">
                  <a:solidFill>
                    <a:schemeClr val="tx1"/>
                  </a:solidFill>
                  <a:latin typeface="Cambria Math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 smtClean="0">
                  <a:solidFill>
                    <a:schemeClr val="tx1"/>
                  </a:solidFill>
                  <a:latin typeface="Cambria Math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 smtClean="0">
                  <a:solidFill>
                    <a:schemeClr val="tx1"/>
                  </a:solidFill>
                  <a:latin typeface="Cambria Math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________________ </a:t>
                </a: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5016758"/>
              </a:xfrm>
              <a:prstGeom prst="rect">
                <a:avLst/>
              </a:prstGeom>
              <a:blipFill rotWithShape="1">
                <a:blip r:embed="rId3"/>
                <a:stretch>
                  <a:fillRect l="-612" t="-729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3FA67DAD-73B6-0B46-BB5E-75277EDD6A7B}"/>
              </a:ext>
            </a:extLst>
          </p:cNvPr>
          <p:cNvGrpSpPr/>
          <p:nvPr/>
        </p:nvGrpSpPr>
        <p:grpSpPr>
          <a:xfrm>
            <a:off x="1103224" y="1106266"/>
            <a:ext cx="4803775" cy="3795395"/>
            <a:chOff x="0" y="0"/>
            <a:chExt cx="4955540" cy="379539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1C002C45-2A09-4143-9A4C-EC24E5D6528F}"/>
                </a:ext>
              </a:extLst>
            </p:cNvPr>
            <p:cNvCxnSpPr/>
            <p:nvPr/>
          </p:nvCxnSpPr>
          <p:spPr>
            <a:xfrm>
              <a:off x="0" y="412821"/>
              <a:ext cx="495554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CD7E7C19-37AD-4B42-BB45-B496FF9F663C}"/>
                </a:ext>
              </a:extLst>
            </p:cNvPr>
            <p:cNvCxnSpPr/>
            <p:nvPr/>
          </p:nvCxnSpPr>
          <p:spPr>
            <a:xfrm rot="5400000" flipH="1">
              <a:off x="-1448823" y="1897698"/>
              <a:ext cx="379539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900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lang="en-US"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63419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6" y="1408886"/>
                <a:ext cx="10800318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algebra tiles to find the product of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)(</m:t>
                    </m:r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+6)</m:t>
                    </m:r>
                  </m:oMath>
                </a14:m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PH" altLang="en-US" sz="2000" i="1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)(</m:t>
                    </m:r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+6)=</m:t>
                    </m:r>
                  </m:oMath>
                </a14:m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________________</a:t>
                </a: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408886"/>
                <a:ext cx="10800318" cy="5016758"/>
              </a:xfrm>
              <a:prstGeom prst="rect">
                <a:avLst/>
              </a:prstGeom>
              <a:blipFill rotWithShape="1">
                <a:blip r:embed="rId3"/>
                <a:stretch>
                  <a:fillRect l="-621" t="-729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2E6C3E47-363B-D34D-891A-853FAA7451CD}"/>
              </a:ext>
            </a:extLst>
          </p:cNvPr>
          <p:cNvGrpSpPr/>
          <p:nvPr/>
        </p:nvGrpSpPr>
        <p:grpSpPr>
          <a:xfrm>
            <a:off x="1326650" y="1982638"/>
            <a:ext cx="4803775" cy="3795395"/>
            <a:chOff x="0" y="0"/>
            <a:chExt cx="4955540" cy="379539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214C9719-1D60-7B49-BAA0-155819932B85}"/>
                </a:ext>
              </a:extLst>
            </p:cNvPr>
            <p:cNvCxnSpPr/>
            <p:nvPr/>
          </p:nvCxnSpPr>
          <p:spPr>
            <a:xfrm>
              <a:off x="0" y="412821"/>
              <a:ext cx="495554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E9D18A6F-952C-524C-8CBE-DA9B1F49253D}"/>
                </a:ext>
              </a:extLst>
            </p:cNvPr>
            <p:cNvCxnSpPr/>
            <p:nvPr/>
          </p:nvCxnSpPr>
          <p:spPr>
            <a:xfrm rot="5400000" flipH="1">
              <a:off x="-1448823" y="1897698"/>
              <a:ext cx="379539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1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2" name="Google Shape;428;g103996e1364_0_428">
            <a:extLst>
              <a:ext uri="{FF2B5EF4-FFF2-40B4-BE49-F238E27FC236}">
                <a16:creationId xmlns=""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 smtClean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2.6.5 </a:t>
            </a: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Turn!</a:t>
            </a:r>
          </a:p>
        </p:txBody>
      </p:sp>
      <p:pic>
        <p:nvPicPr>
          <p:cNvPr id="23" name="Google Shape;430;g103996e1364_0_428">
            <a:extLst>
              <a:ext uri="{FF2B5EF4-FFF2-40B4-BE49-F238E27FC236}">
                <a16:creationId xmlns=""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8071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algebra tiles to find the product of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)(</m:t>
                    </m:r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+4)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altLang="en-US" sz="2000" dirty="0" smtClean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PH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)(</m:t>
                    </m:r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+4)=</m:t>
                    </m:r>
                  </m:oMath>
                </a14:m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________________</a:t>
                </a: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5016758"/>
              </a:xfrm>
              <a:prstGeom prst="rect">
                <a:avLst/>
              </a:prstGeom>
              <a:blipFill rotWithShape="1">
                <a:blip r:embed="rId3"/>
                <a:stretch>
                  <a:fillRect l="-609" t="-729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3FA67DAD-73B6-0B46-BB5E-75277EDD6A7B}"/>
              </a:ext>
            </a:extLst>
          </p:cNvPr>
          <p:cNvGrpSpPr/>
          <p:nvPr/>
        </p:nvGrpSpPr>
        <p:grpSpPr>
          <a:xfrm>
            <a:off x="1141413" y="1003963"/>
            <a:ext cx="4803775" cy="3795395"/>
            <a:chOff x="0" y="0"/>
            <a:chExt cx="4955540" cy="379539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1C002C45-2A09-4143-9A4C-EC24E5D6528F}"/>
                </a:ext>
              </a:extLst>
            </p:cNvPr>
            <p:cNvCxnSpPr/>
            <p:nvPr/>
          </p:nvCxnSpPr>
          <p:spPr>
            <a:xfrm>
              <a:off x="0" y="412821"/>
              <a:ext cx="495554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CD7E7C19-37AD-4B42-BB45-B496FF9F663C}"/>
                </a:ext>
              </a:extLst>
            </p:cNvPr>
            <p:cNvCxnSpPr/>
            <p:nvPr/>
          </p:nvCxnSpPr>
          <p:spPr>
            <a:xfrm rot="5400000" flipH="1">
              <a:off x="-1448823" y="1897698"/>
              <a:ext cx="379539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143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730266" y="1376212"/>
                <a:ext cx="10800318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algebra tiles to find the product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−5</m:t>
                            </m:r>
                          </m:e>
                        </m:d>
                      </m:e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PH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s-E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−5</m:t>
                            </m:r>
                          </m:e>
                        </m:d>
                      </m:e>
                      <m:sup>
                        <m:r>
                          <a:rPr lang="es-ES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s-E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________________</a:t>
                </a: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376212"/>
                <a:ext cx="10800318" cy="5016758"/>
              </a:xfrm>
              <a:prstGeom prst="rect">
                <a:avLst/>
              </a:prstGeom>
              <a:blipFill rotWithShape="1">
                <a:blip r:embed="rId3"/>
                <a:stretch>
                  <a:fillRect l="-621" t="-729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8F1C4357-18DA-7747-A723-AB83D15B5320}"/>
              </a:ext>
            </a:extLst>
          </p:cNvPr>
          <p:cNvGrpSpPr/>
          <p:nvPr/>
        </p:nvGrpSpPr>
        <p:grpSpPr>
          <a:xfrm>
            <a:off x="1326650" y="1957087"/>
            <a:ext cx="4803775" cy="3795395"/>
            <a:chOff x="0" y="66675"/>
            <a:chExt cx="4955540" cy="379539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134FDB24-2A5F-2E41-8AB4-F5167DD069E8}"/>
                </a:ext>
              </a:extLst>
            </p:cNvPr>
            <p:cNvCxnSpPr/>
            <p:nvPr/>
          </p:nvCxnSpPr>
          <p:spPr>
            <a:xfrm>
              <a:off x="0" y="412821"/>
              <a:ext cx="495554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898C90F6-C8C5-EA48-AD4C-170C503981F6}"/>
                </a:ext>
              </a:extLst>
            </p:cNvPr>
            <p:cNvCxnSpPr/>
            <p:nvPr/>
          </p:nvCxnSpPr>
          <p:spPr>
            <a:xfrm rot="5400000" flipH="1">
              <a:off x="-1448823" y="1964373"/>
              <a:ext cx="3795395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2.6.6 Wrap-Up: Cool Down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" name="Google Shape;46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3226</TotalTime>
  <Words>913</Words>
  <Application>Microsoft Office PowerPoint</Application>
  <PresentationFormat>Custom</PresentationFormat>
  <Paragraphs>303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Calibri</vt:lpstr>
      <vt:lpstr>Times New Roman</vt:lpstr>
      <vt:lpstr>Courier New</vt:lpstr>
      <vt:lpstr>Century Gothic</vt:lpstr>
      <vt:lpstr>Wingdings</vt:lpstr>
      <vt:lpstr>Cambria Math</vt:lpstr>
      <vt:lpstr>Arial Black</vt:lpstr>
      <vt:lpstr>Verdana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41</cp:revision>
  <dcterms:created xsi:type="dcterms:W3CDTF">2015-03-17T18:51:18Z</dcterms:created>
  <dcterms:modified xsi:type="dcterms:W3CDTF">2022-06-23T06:52:01Z</dcterms:modified>
</cp:coreProperties>
</file>