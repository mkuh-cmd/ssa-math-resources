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345" r:id="rId4"/>
    <p:sldId id="286" r:id="rId5"/>
    <p:sldId id="261" r:id="rId6"/>
    <p:sldId id="287" r:id="rId7"/>
    <p:sldId id="314" r:id="rId8"/>
    <p:sldId id="315" r:id="rId9"/>
    <p:sldId id="316" r:id="rId10"/>
    <p:sldId id="382" r:id="rId11"/>
    <p:sldId id="383" r:id="rId12"/>
    <p:sldId id="394" r:id="rId13"/>
    <p:sldId id="395" r:id="rId14"/>
    <p:sldId id="346" r:id="rId15"/>
    <p:sldId id="347" r:id="rId16"/>
    <p:sldId id="348" r:id="rId17"/>
    <p:sldId id="349" r:id="rId18"/>
    <p:sldId id="385" r:id="rId19"/>
    <p:sldId id="386" r:id="rId20"/>
    <p:sldId id="387" r:id="rId21"/>
    <p:sldId id="388" r:id="rId22"/>
    <p:sldId id="376" r:id="rId23"/>
    <p:sldId id="377" r:id="rId24"/>
    <p:sldId id="378" r:id="rId25"/>
    <p:sldId id="390" r:id="rId26"/>
    <p:sldId id="391" r:id="rId27"/>
    <p:sldId id="392" r:id="rId28"/>
    <p:sldId id="397" r:id="rId29"/>
    <p:sldId id="398" r:id="rId30"/>
    <p:sldId id="306" r:id="rId31"/>
    <p:sldId id="307" r:id="rId32"/>
  </p:sldIdLst>
  <p:sldSz cx="12192000" cy="6858000"/>
  <p:notesSz cx="6858000" cy="9144000"/>
  <p:embeddedFontLst>
    <p:embeddedFont>
      <p:font typeface="Arial Black" panose="020B0A04020102020204" pitchFamily="34" charset="0"/>
      <p:bold r:id="rId34"/>
    </p:embeddedFont>
    <p:embeddedFont>
      <p:font typeface="Calibri" panose="020F0502020204030204" pitchFamily="34" charset="0"/>
      <p:regular r:id="rId35"/>
      <p:bold r:id="rId36"/>
      <p:italic r:id="rId37"/>
      <p:boldItalic r:id="rId38"/>
    </p:embeddedFont>
    <p:embeddedFont>
      <p:font typeface="Cambria" panose="02040503050406030204" pitchFamily="18" charset="0"/>
      <p:regular r:id="rId39"/>
      <p:bold r:id="rId40"/>
      <p:italic r:id="rId41"/>
      <p:boldItalic r:id="rId42"/>
    </p:embeddedFont>
    <p:embeddedFont>
      <p:font typeface="Cambria Math" panose="02040503050406030204" pitchFamily="18" charset="0"/>
      <p:regular r:id="rId43"/>
    </p:embeddedFont>
    <p:embeddedFont>
      <p:font typeface="Century Gothic" panose="020B0502020202020204" pitchFamily="34" charset="0"/>
      <p:regular r:id="rId44"/>
      <p:bold r:id="rId45"/>
      <p:italic r:id="rId46"/>
      <p:boldItalic r:id="rId47"/>
    </p:embeddedFont>
    <p:embeddedFont>
      <p:font typeface="Verdana" panose="020B0604030504040204" pitchFamily="34"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B59"/>
    <a:srgbClr val="F26763"/>
    <a:srgbClr val="E24E5F"/>
    <a:srgbClr val="1765AD"/>
    <a:srgbClr val="1664AC"/>
    <a:srgbClr val="BFBFBF"/>
    <a:srgbClr val="C9DF6F"/>
    <a:srgbClr val="417DBF"/>
    <a:srgbClr val="3F2A67"/>
    <a:srgbClr val="26B7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39" autoAdjust="0"/>
    <p:restoredTop sz="94648"/>
  </p:normalViewPr>
  <p:slideViewPr>
    <p:cSldViewPr snapToGrid="0">
      <p:cViewPr varScale="1">
        <p:scale>
          <a:sx n="108" d="100"/>
          <a:sy n="108" d="100"/>
        </p:scale>
        <p:origin x="60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 Id="rId5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59884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742142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42265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305652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1579049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83880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498512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301364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989674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0333900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2390909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741694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2949622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869113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40664813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32219837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1654378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6452007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28790129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3873033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2,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Introducing Polynomials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72</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lang="en-US"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B59"/>
          </a:solidFill>
          <a:ln w="9525" cap="flat" cmpd="sng">
            <a:solidFill>
              <a:srgbClr val="F79B59"/>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61538" y="5185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50430" y="28763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41866" y="1462225"/>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MA.912.AR.1.3</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Add, subtract, and multiply polynomial expressions with rational number coefficients.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263041" y="-157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541868" y="1453896"/>
            <a:ext cx="1051560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id="{37CC83FF-5C83-CD42-A75D-B443F14E1C1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endParaRPr i="1" dirty="0">
              <a:latin typeface="Calibri"/>
              <a:ea typeface="Calibri"/>
              <a:cs typeface="Calibri"/>
              <a:sym typeface="Calibri"/>
            </a:endParaRPr>
          </a:p>
        </p:txBody>
      </p:sp>
      <p:pic>
        <p:nvPicPr>
          <p:cNvPr id="8" name="Google Shape;281;g104476d1465_1_17"/>
          <p:cNvPicPr preferRelativeResize="0"/>
          <p:nvPr/>
        </p:nvPicPr>
        <p:blipFill>
          <a:blip r:embed="rId3">
            <a:alphaModFix/>
          </a:blip>
          <a:stretch>
            <a:fillRect/>
          </a:stretch>
        </p:blipFill>
        <p:spPr>
          <a:xfrm>
            <a:off x="450430" y="287630"/>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65465" y="-157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50430" y="28763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41866" y="1464733"/>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6575" indent="-536575">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write polynomials in standard form.</a:t>
            </a:r>
          </a:p>
          <a:p>
            <a:pPr marL="536575" indent="-536575">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536575" indent="-536575">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multiply a monomial to a polynomial.  </a:t>
            </a:r>
          </a:p>
        </p:txBody>
      </p:sp>
      <p:sp>
        <p:nvSpPr>
          <p:cNvPr id="9" name="Google Shape;282;g104476d1465_1_17">
            <a:extLst>
              <a:ext uri="{FF2B5EF4-FFF2-40B4-BE49-F238E27FC236}">
                <a16:creationId xmlns:a16="http://schemas.microsoft.com/office/drawing/2014/main" id="{E147E8E3-844B-6A49-A77E-05F3246D39F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43D2F04D-C861-A149-B5F8-A913FBED75A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65466" y="365834"/>
            <a:ext cx="91694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2.4.1 Warm-Up: Number Puzzle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50430" y="287630"/>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541564" y="1463042"/>
            <a:ext cx="10515600" cy="156966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Solve the puzzle by filling in each blank cell in the blue box so that each row and column has the sum shown. Each cell must contain a different value.</a:t>
            </a: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id="{0CD40667-98C3-7A43-A8EC-50FA988E094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EFA450F-6E15-DA44-9086-941BEC1C6737}"/>
                  </a:ext>
                </a:extLst>
              </p:cNvPr>
              <p:cNvGraphicFramePr>
                <a:graphicFrameLocks noGrp="1"/>
              </p:cNvGraphicFramePr>
              <p:nvPr>
                <p:extLst>
                  <p:ext uri="{D42A27DB-BD31-4B8C-83A1-F6EECF244321}">
                    <p14:modId xmlns:p14="http://schemas.microsoft.com/office/powerpoint/2010/main" val="2060507453"/>
                  </p:ext>
                </p:extLst>
              </p:nvPr>
            </p:nvGraphicFramePr>
            <p:xfrm>
              <a:off x="3252470" y="2896103"/>
              <a:ext cx="5400000" cy="2700000"/>
            </p:xfrm>
            <a:graphic>
              <a:graphicData uri="http://schemas.openxmlformats.org/drawingml/2006/table">
                <a:tbl>
                  <a:tblPr firstRow="1" firstCol="1" bandRow="1"/>
                  <a:tblGrid>
                    <a:gridCol w="1800000">
                      <a:extLst>
                        <a:ext uri="{9D8B030D-6E8A-4147-A177-3AD203B41FA5}">
                          <a16:colId xmlns:a16="http://schemas.microsoft.com/office/drawing/2014/main" val="2994384354"/>
                        </a:ext>
                      </a:extLst>
                    </a:gridCol>
                    <a:gridCol w="1800000">
                      <a:extLst>
                        <a:ext uri="{9D8B030D-6E8A-4147-A177-3AD203B41FA5}">
                          <a16:colId xmlns:a16="http://schemas.microsoft.com/office/drawing/2014/main" val="644689705"/>
                        </a:ext>
                      </a:extLst>
                    </a:gridCol>
                    <a:gridCol w="1800000">
                      <a:extLst>
                        <a:ext uri="{9D8B030D-6E8A-4147-A177-3AD203B41FA5}">
                          <a16:colId xmlns:a16="http://schemas.microsoft.com/office/drawing/2014/main" val="3528006757"/>
                        </a:ext>
                      </a:extLst>
                    </a:gridCol>
                  </a:tblGrid>
                  <a:tr h="900000">
                    <a:tc>
                      <a:txBody>
                        <a:bodyPr/>
                        <a:lstStyle/>
                        <a:p>
                          <a:endParaRPr lang="en-US" dirty="0"/>
                        </a:p>
                      </a:txBody>
                      <a:tcPr marL="68580" marR="68580" marT="0" marB="0" anchor="ctr">
                        <a:lnL w="95250" cap="flat" cmpd="sng" algn="ctr">
                          <a:solidFill>
                            <a:srgbClr val="548DD4"/>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0" cap="flat" cmpd="sng" algn="ctr">
                          <a:solidFill>
                            <a:srgbClr val="548DD4"/>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95250" cap="flat" cmpd="sng" algn="ctr">
                          <a:solidFill>
                            <a:srgbClr val="548DD4"/>
                          </a:solidFill>
                          <a:prstDash val="solid"/>
                          <a:round/>
                          <a:headEnd type="none" w="med" len="med"/>
                          <a:tailEnd type="none" w="med" len="med"/>
                        </a:lnR>
                        <a:lnT w="95250" cap="flat" cmpd="sng" algn="ctr">
                          <a:solidFill>
                            <a:srgbClr val="548DD4"/>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100</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95250" cap="flat" cmpd="sng" algn="ctr">
                          <a:solidFill>
                            <a:srgbClr val="548DD4"/>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540788"/>
                      </a:ext>
                    </a:extLst>
                  </a:tr>
                  <a:tr h="900000">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95250" cap="flat" cmpd="sng" algn="ctr">
                          <a:solidFill>
                            <a:srgbClr val="548DD4"/>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0" cap="flat" cmpd="sng" algn="ctr">
                          <a:solidFill>
                            <a:srgbClr val="548DD4"/>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95250" cap="flat" cmpd="sng" algn="ctr">
                          <a:solidFill>
                            <a:srgbClr val="548DD4"/>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0" cap="flat" cmpd="sng" algn="ctr">
                          <a:solidFill>
                            <a:srgbClr val="548DD4"/>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120</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95250" cap="flat" cmpd="sng" algn="ctr">
                          <a:solidFill>
                            <a:srgbClr val="548DD4"/>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3329906"/>
                      </a:ext>
                    </a:extLst>
                  </a:tr>
                  <a:tr h="90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105</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0" cap="flat" cmpd="sng" algn="ctr">
                          <a:solidFill>
                            <a:srgbClr val="548DD4"/>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115</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0" cap="flat" cmpd="sng" algn="ctr">
                          <a:solidFill>
                            <a:srgbClr val="548DD4"/>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4405093"/>
                      </a:ext>
                    </a:extLst>
                  </a:tr>
                </a:tbl>
              </a:graphicData>
            </a:graphic>
          </p:graphicFrame>
        </mc:Choice>
        <mc:Fallback xmlns="">
          <p:graphicFrame>
            <p:nvGraphicFramePr>
              <p:cNvPr id="4" name="Table 3">
                <a:extLst>
                  <a:ext uri="{FF2B5EF4-FFF2-40B4-BE49-F238E27FC236}">
                    <a16:creationId xmlns:a16="http://schemas.microsoft.com/office/drawing/2014/main" xmlns:a14="http://schemas.microsoft.com/office/drawing/2010/main" xmlns="" id="{5EFA450F-6E15-DA44-9086-941BEC1C6737}"/>
                  </a:ext>
                </a:extLst>
              </p:cNvPr>
              <p:cNvGraphicFramePr>
                <a:graphicFrameLocks noGrp="1"/>
              </p:cNvGraphicFramePr>
              <p:nvPr>
                <p:extLst>
                  <p:ext uri="{D42A27DB-BD31-4B8C-83A1-F6EECF244321}">
                    <p14:modId xmlns:p14="http://schemas.microsoft.com/office/powerpoint/2010/main" val="2060507453"/>
                  </p:ext>
                </p:extLst>
              </p:nvPr>
            </p:nvGraphicFramePr>
            <p:xfrm>
              <a:off x="3252470" y="2896103"/>
              <a:ext cx="5400000" cy="2700000"/>
            </p:xfrm>
            <a:graphic>
              <a:graphicData uri="http://schemas.openxmlformats.org/drawingml/2006/table">
                <a:tbl>
                  <a:tblPr firstRow="1" firstCol="1" bandRow="1"/>
                  <a:tblGrid>
                    <a:gridCol w="1800000">
                      <a:extLst>
                        <a:ext uri="{9D8B030D-6E8A-4147-A177-3AD203B41FA5}">
                          <a16:colId xmlns:a16="http://schemas.microsoft.com/office/drawing/2014/main" xmlns:a14="http://schemas.microsoft.com/office/drawing/2010/main" xmlns="" val="2994384354"/>
                        </a:ext>
                      </a:extLst>
                    </a:gridCol>
                    <a:gridCol w="1800000">
                      <a:extLst>
                        <a:ext uri="{9D8B030D-6E8A-4147-A177-3AD203B41FA5}">
                          <a16:colId xmlns:a16="http://schemas.microsoft.com/office/drawing/2014/main" xmlns:a14="http://schemas.microsoft.com/office/drawing/2010/main" xmlns="" val="644689705"/>
                        </a:ext>
                      </a:extLst>
                    </a:gridCol>
                    <a:gridCol w="1800000">
                      <a:extLst>
                        <a:ext uri="{9D8B030D-6E8A-4147-A177-3AD203B41FA5}">
                          <a16:colId xmlns:a16="http://schemas.microsoft.com/office/drawing/2014/main" xmlns:a14="http://schemas.microsoft.com/office/drawing/2010/main" xmlns="" val="3528006757"/>
                        </a:ext>
                      </a:extLst>
                    </a:gridCol>
                  </a:tblGrid>
                  <a:tr h="900000">
                    <a:tc>
                      <a:txBody>
                        <a:bodyPr/>
                        <a:lstStyle/>
                        <a:p>
                          <a:endParaRPr lang="en-US" dirty="0"/>
                        </a:p>
                      </a:txBody>
                      <a:tcPr marL="68580" marR="68580" marT="0" marB="0" anchor="ctr">
                        <a:lnL w="95250" cap="flat" cmpd="sng" algn="ctr">
                          <a:solidFill>
                            <a:srgbClr val="548DD4"/>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0" cap="flat" cmpd="sng" algn="ctr">
                          <a:solidFill>
                            <a:srgbClr val="548DD4"/>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95250" cap="flat" cmpd="sng" algn="ctr">
                          <a:solidFill>
                            <a:srgbClr val="548DD4"/>
                          </a:solidFill>
                          <a:prstDash val="solid"/>
                          <a:round/>
                          <a:headEnd type="none" w="med" len="med"/>
                          <a:tailEnd type="none" w="med" len="med"/>
                        </a:lnR>
                        <a:lnT w="95250" cap="flat" cmpd="sng" algn="ctr">
                          <a:solidFill>
                            <a:srgbClr val="548DD4"/>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95250" cap="flat" cmpd="sng" algn="ctr">
                          <a:solidFill>
                            <a:srgbClr val="548DD4"/>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339" r="-339" b="-199324"/>
                          </a:stretch>
                        </a:blipFill>
                      </a:tcPr>
                    </a:tc>
                    <a:extLst>
                      <a:ext uri="{0D108BD9-81ED-4DB2-BD59-A6C34878D82A}">
                        <a16:rowId xmlns:a16="http://schemas.microsoft.com/office/drawing/2014/main" xmlns:a14="http://schemas.microsoft.com/office/drawing/2010/main" xmlns="" val="344540788"/>
                      </a:ext>
                    </a:extLst>
                  </a:tr>
                  <a:tr h="900000">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95250" cap="flat" cmpd="sng" algn="ctr">
                          <a:solidFill>
                            <a:srgbClr val="548DD4"/>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0" cap="flat" cmpd="sng" algn="ctr">
                          <a:solidFill>
                            <a:srgbClr val="548DD4"/>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95250" cap="flat" cmpd="sng" algn="ctr">
                          <a:solidFill>
                            <a:srgbClr val="548DD4"/>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0" cap="flat" cmpd="sng" algn="ctr">
                          <a:solidFill>
                            <a:srgbClr val="548DD4"/>
                          </a:solidFill>
                          <a:prstDash val="solid"/>
                          <a:round/>
                          <a:headEnd type="none" w="med" len="med"/>
                          <a:tailEnd type="none" w="med" len="med"/>
                        </a:lnB>
                      </a:tcPr>
                    </a:tc>
                    <a:tc>
                      <a:txBody>
                        <a:bodyPr/>
                        <a:lstStyle/>
                        <a:p>
                          <a:endParaRPr lang="en-US"/>
                        </a:p>
                      </a:txBody>
                      <a:tcPr marL="68580" marR="68580" marT="0" marB="0" anchor="ctr">
                        <a:lnL w="95250" cap="flat" cmpd="sng" algn="ctr">
                          <a:solidFill>
                            <a:srgbClr val="548DD4"/>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339" t="-100680" r="-339" b="-100680"/>
                          </a:stretch>
                        </a:blipFill>
                      </a:tcPr>
                    </a:tc>
                    <a:extLst>
                      <a:ext uri="{0D108BD9-81ED-4DB2-BD59-A6C34878D82A}">
                        <a16:rowId xmlns:a16="http://schemas.microsoft.com/office/drawing/2014/main" xmlns:a14="http://schemas.microsoft.com/office/drawing/2010/main" xmlns="" val="3583329906"/>
                      </a:ext>
                    </a:extLst>
                  </a:tr>
                  <a:tr h="90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0" cap="flat" cmpd="sng" algn="ctr">
                          <a:solidFill>
                            <a:srgbClr val="548DD4"/>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39" t="-199324" r="-20033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0" cap="flat" cmpd="sng" algn="ctr">
                          <a:solidFill>
                            <a:srgbClr val="548DD4"/>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339" t="-199324" r="-10033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314405093"/>
                      </a:ext>
                    </a:extLst>
                  </a:tr>
                </a:tbl>
              </a:graphicData>
            </a:graphic>
          </p:graphicFrame>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4800" b="1" dirty="0">
                <a:solidFill>
                  <a:srgbClr val="33BEA6"/>
                </a:solidFill>
                <a:latin typeface="Verdana"/>
                <a:ea typeface="Verdana"/>
                <a:cs typeface="Verdana"/>
                <a:sym typeface="Verdana"/>
              </a:rPr>
              <a:t>Exploration</a:t>
            </a:r>
            <a:endParaRPr sz="44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endParaRPr i="1" dirty="0">
              <a:latin typeface="Calibri"/>
              <a:ea typeface="Calibri"/>
              <a:cs typeface="Calibri"/>
              <a:sym typeface="Calibri"/>
            </a:endParaRPr>
          </a:p>
        </p:txBody>
      </p:sp>
      <p:pic>
        <p:nvPicPr>
          <p:cNvPr id="9" name="image10.png" descr="Icon&#10;&#10;Description automatically generated">
            <a:extLst>
              <a:ext uri="{FF2B5EF4-FFF2-40B4-BE49-F238E27FC236}">
                <a16:creationId xmlns:a16="http://schemas.microsoft.com/office/drawing/2014/main" id="{DCF2411D-B024-9A45-8F54-7F782F454FE2}"/>
              </a:ext>
            </a:extLst>
          </p:cNvPr>
          <p:cNvPicPr/>
          <p:nvPr/>
        </p:nvPicPr>
        <p:blipFill>
          <a:blip r:embed="rId4"/>
          <a:srcRect/>
          <a:stretch>
            <a:fillRect/>
          </a:stretch>
        </p:blipFill>
        <p:spPr>
          <a:xfrm>
            <a:off x="3054096" y="2812580"/>
            <a:ext cx="1152146" cy="1152146"/>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63040" y="-2826"/>
            <a:ext cx="1092895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2.4.2 Exploration: Defining a Polynomial</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endParaRPr i="1" dirty="0">
              <a:latin typeface="Calibri"/>
              <a:ea typeface="Calibri"/>
              <a:cs typeface="Calibri"/>
              <a:sym typeface="Calibri"/>
            </a:endParaRPr>
          </a:p>
        </p:txBody>
      </p:sp>
      <p:sp>
        <p:nvSpPr>
          <p:cNvPr id="11" name="TextBox 10">
            <a:extLst>
              <a:ext uri="{FF2B5EF4-FFF2-40B4-BE49-F238E27FC236}">
                <a16:creationId xmlns:a16="http://schemas.microsoft.com/office/drawing/2014/main" id="{B46B19A2-BBA2-0441-AC88-F1F62E75949B}"/>
              </a:ext>
            </a:extLst>
          </p:cNvPr>
          <p:cNvSpPr txBox="1"/>
          <p:nvPr/>
        </p:nvSpPr>
        <p:spPr>
          <a:xfrm>
            <a:off x="541867" y="1463381"/>
            <a:ext cx="11379200"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charts show several examples and non-examples of polynomials.</a:t>
            </a:r>
          </a:p>
        </p:txBody>
      </p:sp>
      <p:pic>
        <p:nvPicPr>
          <p:cNvPr id="31" name="image10.png" descr="Icon&#10;&#10;Description automatically generated">
            <a:extLst>
              <a:ext uri="{FF2B5EF4-FFF2-40B4-BE49-F238E27FC236}">
                <a16:creationId xmlns:a16="http://schemas.microsoft.com/office/drawing/2014/main" id="{0A5EE9A1-C48D-8E40-994D-23D4B3729F4A}"/>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50430" y="285119"/>
            <a:ext cx="749811" cy="749811"/>
          </a:xfrm>
          <a:prstGeom prst="rect">
            <a:avLst/>
          </a:prstGeom>
          <a:ln/>
          <a:effectLst>
            <a:outerShdw blurRad="50800" dist="38100" dir="2700000" algn="tl" rotWithShape="0">
              <a:prstClr val="black">
                <a:alpha val="40000"/>
              </a:prstClr>
            </a:outerShdw>
          </a:effectLst>
        </p:spPr>
      </p:pic>
      <p:pic>
        <p:nvPicPr>
          <p:cNvPr id="3" name="Picture 2" descr="Diagram&#10;&#10;Description automatically generated">
            <a:extLst>
              <a:ext uri="{FF2B5EF4-FFF2-40B4-BE49-F238E27FC236}">
                <a16:creationId xmlns:a16="http://schemas.microsoft.com/office/drawing/2014/main" id="{91F4CAA9-68AE-1042-B3CB-C6851A9DC1D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73846" y="2086832"/>
            <a:ext cx="7299809" cy="3851303"/>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E0814DF0-CB0F-CE4A-A504-DEE56AFFF9B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B71B7AA-10E7-9B44-A591-563821260A41}"/>
              </a:ext>
            </a:extLst>
          </p:cNvPr>
          <p:cNvSpPr txBox="1"/>
          <p:nvPr/>
        </p:nvSpPr>
        <p:spPr>
          <a:xfrm>
            <a:off x="541866" y="377411"/>
            <a:ext cx="10515600" cy="1200329"/>
          </a:xfrm>
          <a:prstGeom prst="rect">
            <a:avLst/>
          </a:prstGeom>
          <a:noFill/>
        </p:spPr>
        <p:txBody>
          <a:bodyPr wrap="square" rtlCol="0">
            <a:spAutoFit/>
          </a:bodyPr>
          <a:lstStyle/>
          <a:p>
            <a:pPr marL="8890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Create a list of identifying features polynomials can have versus those polynomials cannot have.</a:t>
            </a:r>
          </a:p>
        </p:txBody>
      </p:sp>
      <p:graphicFrame>
        <p:nvGraphicFramePr>
          <p:cNvPr id="3" name="Table 2">
            <a:extLst>
              <a:ext uri="{FF2B5EF4-FFF2-40B4-BE49-F238E27FC236}">
                <a16:creationId xmlns:a16="http://schemas.microsoft.com/office/drawing/2014/main" id="{FAA5C4E1-E236-7744-B3F2-5716A900A9B5}"/>
              </a:ext>
            </a:extLst>
          </p:cNvPr>
          <p:cNvGraphicFramePr>
            <a:graphicFrameLocks noGrp="1"/>
          </p:cNvGraphicFramePr>
          <p:nvPr>
            <p:extLst>
              <p:ext uri="{D42A27DB-BD31-4B8C-83A1-F6EECF244321}">
                <p14:modId xmlns:p14="http://schemas.microsoft.com/office/powerpoint/2010/main" val="856499469"/>
              </p:ext>
            </p:extLst>
          </p:nvPr>
        </p:nvGraphicFramePr>
        <p:xfrm>
          <a:off x="1621659" y="1417377"/>
          <a:ext cx="8280000" cy="4140000"/>
        </p:xfrm>
        <a:graphic>
          <a:graphicData uri="http://schemas.openxmlformats.org/drawingml/2006/table">
            <a:tbl>
              <a:tblPr firstRow="1" firstCol="1" bandRow="1"/>
              <a:tblGrid>
                <a:gridCol w="3960000">
                  <a:extLst>
                    <a:ext uri="{9D8B030D-6E8A-4147-A177-3AD203B41FA5}">
                      <a16:colId xmlns:a16="http://schemas.microsoft.com/office/drawing/2014/main" val="785309515"/>
                    </a:ext>
                  </a:extLst>
                </a:gridCol>
                <a:gridCol w="4320000">
                  <a:extLst>
                    <a:ext uri="{9D8B030D-6E8A-4147-A177-3AD203B41FA5}">
                      <a16:colId xmlns:a16="http://schemas.microsoft.com/office/drawing/2014/main" val="2072545133"/>
                    </a:ext>
                  </a:extLst>
                </a:gridCol>
              </a:tblGrid>
              <a:tr h="54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Polynomials can have</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Polynomials cannot have …</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02456832"/>
                  </a:ext>
                </a:extLst>
              </a:tr>
              <a:tr h="3600000">
                <a:tc>
                  <a:txBody>
                    <a:bodyPr/>
                    <a:lstStyle/>
                    <a:p>
                      <a:pPr marL="0" marR="0">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7212603"/>
                  </a:ext>
                </a:extLst>
              </a:tr>
            </a:tbl>
          </a:graphicData>
        </a:graphic>
      </p:graphicFrame>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E0814DF0-CB0F-CE4A-A504-DEE56AFFF9B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74</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B71B7AA-10E7-9B44-A591-563821260A41}"/>
              </a:ext>
            </a:extLst>
          </p:cNvPr>
          <p:cNvSpPr txBox="1"/>
          <p:nvPr/>
        </p:nvSpPr>
        <p:spPr>
          <a:xfrm>
            <a:off x="541868" y="384360"/>
            <a:ext cx="10515600" cy="3785652"/>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Compare your lists with your partner. Add any additional features you found after your discussion.</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With your partner, write a definition for polynomial.</a:t>
            </a:r>
          </a:p>
        </p:txBody>
      </p:sp>
    </p:spTree>
    <p:extLst>
      <p:ext uri="{BB962C8B-B14F-4D97-AF65-F5344CB8AC3E}">
        <p14:creationId xmlns:p14="http://schemas.microsoft.com/office/powerpoint/2010/main" val="3821443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E0814DF0-CB0F-CE4A-A504-DEE56AFFF9B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74</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B71B7AA-10E7-9B44-A591-563821260A41}"/>
              </a:ext>
            </a:extLst>
          </p:cNvPr>
          <p:cNvSpPr txBox="1"/>
          <p:nvPr/>
        </p:nvSpPr>
        <p:spPr>
          <a:xfrm>
            <a:off x="541866" y="383790"/>
            <a:ext cx="10515600" cy="5940088"/>
          </a:xfrm>
          <a:prstGeom prst="rect">
            <a:avLst/>
          </a:prstGeom>
          <a:noFill/>
        </p:spPr>
        <p:txBody>
          <a:bodyPr wrap="square" rtlCol="0">
            <a:spAutoFit/>
          </a:bodyPr>
          <a:lstStyle/>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Ask two other pairs of partners the definition they wrote. Listen to their definition and write a summary. </a:t>
            </a:r>
            <a:r>
              <a:rPr lang="en-US" sz="2000" i="1" dirty="0">
                <a:latin typeface="Verdana" panose="020B0604030504040204" pitchFamily="34" charset="0"/>
                <a:ea typeface="Verdana" panose="020B0604030504040204" pitchFamily="34" charset="0"/>
                <a:cs typeface="Verdana" panose="020B0604030504040204" pitchFamily="34" charset="0"/>
              </a:rPr>
              <a:t>You are the only person who should write in the first column of the table. </a:t>
            </a:r>
            <a:r>
              <a:rPr lang="en-US" sz="2000" dirty="0">
                <a:latin typeface="Verdana" panose="020B0604030504040204" pitchFamily="34" charset="0"/>
                <a:ea typeface="Verdana" panose="020B0604030504040204" pitchFamily="34" charset="0"/>
                <a:cs typeface="Verdana" panose="020B0604030504040204" pitchFamily="34" charset="0"/>
              </a:rPr>
              <a:t>Have the person initial next to your summary stating that your summary of their definition was accurate.</a:t>
            </a: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After reviewing the definitions created by your classmates, go back to your definition and make revisions, if needed. </a:t>
            </a:r>
          </a:p>
        </p:txBody>
      </p:sp>
      <p:graphicFrame>
        <p:nvGraphicFramePr>
          <p:cNvPr id="3" name="Table 2">
            <a:extLst>
              <a:ext uri="{FF2B5EF4-FFF2-40B4-BE49-F238E27FC236}">
                <a16:creationId xmlns:a16="http://schemas.microsoft.com/office/drawing/2014/main" id="{9EEC98AD-2C74-D848-885F-1EBD01FF87E1}"/>
              </a:ext>
            </a:extLst>
          </p:cNvPr>
          <p:cNvGraphicFramePr>
            <a:graphicFrameLocks noGrp="1"/>
          </p:cNvGraphicFramePr>
          <p:nvPr>
            <p:extLst>
              <p:ext uri="{D42A27DB-BD31-4B8C-83A1-F6EECF244321}">
                <p14:modId xmlns:p14="http://schemas.microsoft.com/office/powerpoint/2010/main" val="3811105160"/>
              </p:ext>
            </p:extLst>
          </p:nvPr>
        </p:nvGraphicFramePr>
        <p:xfrm>
          <a:off x="1615856" y="1888935"/>
          <a:ext cx="6766560" cy="2621280"/>
        </p:xfrm>
        <a:graphic>
          <a:graphicData uri="http://schemas.openxmlformats.org/drawingml/2006/table">
            <a:tbl>
              <a:tblPr bandRow="1"/>
              <a:tblGrid>
                <a:gridCol w="5486400">
                  <a:extLst>
                    <a:ext uri="{9D8B030D-6E8A-4147-A177-3AD203B41FA5}">
                      <a16:colId xmlns:a16="http://schemas.microsoft.com/office/drawing/2014/main" val="928409179"/>
                    </a:ext>
                  </a:extLst>
                </a:gridCol>
                <a:gridCol w="1280160">
                  <a:extLst>
                    <a:ext uri="{9D8B030D-6E8A-4147-A177-3AD203B41FA5}">
                      <a16:colId xmlns:a16="http://schemas.microsoft.com/office/drawing/2014/main" val="1286314931"/>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Summary of the </a:t>
                      </a:r>
                      <a:b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b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Definition of a Polynomial</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Initials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372019418"/>
                  </a:ext>
                </a:extLst>
              </a:tr>
              <a:tr h="914400">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6974063"/>
                  </a:ext>
                </a:extLst>
              </a:tr>
              <a:tr h="914400">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2759946"/>
                  </a:ext>
                </a:extLst>
              </a:tr>
            </a:tbl>
          </a:graphicData>
        </a:graphic>
      </p:graphicFrame>
    </p:spTree>
    <p:extLst>
      <p:ext uri="{BB962C8B-B14F-4D97-AF65-F5344CB8AC3E}">
        <p14:creationId xmlns:p14="http://schemas.microsoft.com/office/powerpoint/2010/main" val="3062312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E0814DF0-CB0F-CE4A-A504-DEE56AFFF9B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B71B7AA-10E7-9B44-A591-563821260A41}"/>
              </a:ext>
            </a:extLst>
          </p:cNvPr>
          <p:cNvSpPr txBox="1"/>
          <p:nvPr/>
        </p:nvSpPr>
        <p:spPr>
          <a:xfrm>
            <a:off x="541866" y="382793"/>
            <a:ext cx="11116733" cy="317009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Some polynomials are described with specific names based on the number of terms.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Four prefix options are given.</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Match the prefixes to identify the types of polynomials in the table based on the description and examples.</a:t>
            </a:r>
          </a:p>
        </p:txBody>
      </p:sp>
      <p:graphicFrame>
        <p:nvGraphicFramePr>
          <p:cNvPr id="3" name="Table 2">
            <a:extLst>
              <a:ext uri="{FF2B5EF4-FFF2-40B4-BE49-F238E27FC236}">
                <a16:creationId xmlns:a16="http://schemas.microsoft.com/office/drawing/2014/main" id="{B9EEF046-E367-134D-9FF1-AF0263C174A6}"/>
              </a:ext>
            </a:extLst>
          </p:cNvPr>
          <p:cNvGraphicFramePr>
            <a:graphicFrameLocks noGrp="1"/>
          </p:cNvGraphicFramePr>
          <p:nvPr>
            <p:extLst>
              <p:ext uri="{D42A27DB-BD31-4B8C-83A1-F6EECF244321}">
                <p14:modId xmlns:p14="http://schemas.microsoft.com/office/powerpoint/2010/main" val="3904912834"/>
              </p:ext>
            </p:extLst>
          </p:nvPr>
        </p:nvGraphicFramePr>
        <p:xfrm>
          <a:off x="2639744" y="1497508"/>
          <a:ext cx="7253174" cy="914400"/>
        </p:xfrm>
        <a:graphic>
          <a:graphicData uri="http://schemas.openxmlformats.org/drawingml/2006/table">
            <a:tbl>
              <a:tblPr firstRow="1" firstCol="1" bandRow="1"/>
              <a:tblGrid>
                <a:gridCol w="1789929">
                  <a:extLst>
                    <a:ext uri="{9D8B030D-6E8A-4147-A177-3AD203B41FA5}">
                      <a16:colId xmlns:a16="http://schemas.microsoft.com/office/drawing/2014/main" val="3926298391"/>
                    </a:ext>
                  </a:extLst>
                </a:gridCol>
                <a:gridCol w="1851557">
                  <a:extLst>
                    <a:ext uri="{9D8B030D-6E8A-4147-A177-3AD203B41FA5}">
                      <a16:colId xmlns:a16="http://schemas.microsoft.com/office/drawing/2014/main" val="394351317"/>
                    </a:ext>
                  </a:extLst>
                </a:gridCol>
                <a:gridCol w="1851557">
                  <a:extLst>
                    <a:ext uri="{9D8B030D-6E8A-4147-A177-3AD203B41FA5}">
                      <a16:colId xmlns:a16="http://schemas.microsoft.com/office/drawing/2014/main" val="2428025033"/>
                    </a:ext>
                  </a:extLst>
                </a:gridCol>
                <a:gridCol w="1760131">
                  <a:extLst>
                    <a:ext uri="{9D8B030D-6E8A-4147-A177-3AD203B41FA5}">
                      <a16:colId xmlns:a16="http://schemas.microsoft.com/office/drawing/2014/main" val="4186359916"/>
                    </a:ext>
                  </a:extLst>
                </a:gridCol>
              </a:tblGrid>
              <a:tr h="381781">
                <a:tc gridSpan="4">
                  <a:txBody>
                    <a:bodyPr/>
                    <a:lstStyle/>
                    <a:p>
                      <a:pPr marL="0" marR="0" algn="ctr">
                        <a:spcBef>
                          <a:spcPts val="0"/>
                        </a:spcBef>
                        <a:spcAft>
                          <a:spcPts val="0"/>
                        </a:spcAft>
                      </a:pPr>
                      <a:r>
                        <a:rPr lang="en-US" sz="1800" b="1" dirty="0">
                          <a:effectLst/>
                          <a:latin typeface="Verdana" panose="020B0604030504040204" pitchFamily="34" charset="0"/>
                          <a:ea typeface="Times New Roman" panose="02020603050405020304" pitchFamily="18" charset="0"/>
                          <a:cs typeface="Times New Roman" panose="02020603050405020304" pitchFamily="18" charset="0"/>
                        </a:rPr>
                        <a:t>Prefixes</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901002608"/>
                  </a:ext>
                </a:extLst>
              </a:tr>
              <a:tr h="457200">
                <a:tc>
                  <a:txBody>
                    <a:bodyPr/>
                    <a:lstStyle/>
                    <a:p>
                      <a:pPr marL="0" marR="0" algn="ctr">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tri-</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mono-</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poly-</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bi-</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4596549"/>
                  </a:ext>
                </a:extLst>
              </a:tr>
            </a:tbl>
          </a:graphicData>
        </a:graphic>
      </p:graphicFrame>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552633411"/>
                  </p:ext>
                </p:extLst>
              </p:nvPr>
            </p:nvGraphicFramePr>
            <p:xfrm>
              <a:off x="3093011" y="3631566"/>
              <a:ext cx="6766560" cy="2110105"/>
            </p:xfrm>
            <a:graphic>
              <a:graphicData uri="http://schemas.openxmlformats.org/drawingml/2006/table">
                <a:tbl>
                  <a:tblPr firstRow="1" firstCol="1" bandRow="1"/>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65760">
                    <a:tc gridSpan="3">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Polynomials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10000"/>
                      </a:ext>
                    </a:extLst>
                  </a:tr>
                  <a:tr h="890905">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______</a:t>
                          </a:r>
                          <a:r>
                            <a:rPr lang="en-US" sz="2000" b="1" dirty="0" err="1">
                              <a:effectLst/>
                              <a:latin typeface="Verdana" panose="020B0604030504040204" pitchFamily="34" charset="0"/>
                              <a:ea typeface="Verdana" pitchFamily="34" charset="0"/>
                              <a:cs typeface="Times New Roman" panose="02020603050405020304" pitchFamily="18" charset="0"/>
                            </a:rPr>
                            <a:t>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(one term)</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a:t>
                          </a:r>
                          <a:r>
                            <a:rPr lang="en-US" sz="2000" b="1" dirty="0" err="1">
                              <a:effectLst/>
                              <a:latin typeface="Verdana" panose="020B0604030504040204" pitchFamily="34" charset="0"/>
                              <a:ea typeface="Verdana" pitchFamily="34" charset="0"/>
                              <a:cs typeface="Times New Roman" panose="02020603050405020304" pitchFamily="18" charset="0"/>
                            </a:rPr>
                            <a:t>nomials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(two terms)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______</a:t>
                          </a:r>
                          <a:r>
                            <a:rPr lang="en-US" sz="2000" b="1" dirty="0" err="1">
                              <a:effectLst/>
                              <a:latin typeface="Verdana" panose="020B0604030504040204" pitchFamily="34" charset="0"/>
                              <a:ea typeface="Verdana" pitchFamily="34" charset="0"/>
                              <a:cs typeface="Times New Roman" panose="02020603050405020304" pitchFamily="18" charset="0"/>
                            </a:rPr>
                            <a:t>nomials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(three terms)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−7.8</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𝑡</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𝑤</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−7.8</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𝑡</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𝑤</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+2.04</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𝑤</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−7.8</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𝑡</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𝑤</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+2.04</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𝑤</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𝑡</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552633411"/>
                  </p:ext>
                </p:extLst>
              </p:nvPr>
            </p:nvGraphicFramePr>
            <p:xfrm>
              <a:off x="3093011" y="3631566"/>
              <a:ext cx="6766560" cy="2110105"/>
            </p:xfrm>
            <a:graphic>
              <a:graphicData uri="http://schemas.openxmlformats.org/drawingml/2006/table">
                <a:tbl>
                  <a:tblPr firstRow="1" firstCol="1" bandRow="1"/>
                  <a:tblGrid>
                    <a:gridCol w="2011680">
                      <a:extLst>
                        <a:ext uri="{9D8B030D-6E8A-4147-A177-3AD203B41FA5}">
                          <a16:colId xmlns:a16="http://schemas.microsoft.com/office/drawing/2014/main" xmlns:a14="http://schemas.microsoft.com/office/drawing/2010/main" xmlns="" val="20000"/>
                        </a:ext>
                      </a:extLst>
                    </a:gridCol>
                    <a:gridCol w="2194560">
                      <a:extLst>
                        <a:ext uri="{9D8B030D-6E8A-4147-A177-3AD203B41FA5}">
                          <a16:colId xmlns:a16="http://schemas.microsoft.com/office/drawing/2014/main" xmlns:a14="http://schemas.microsoft.com/office/drawing/2010/main" xmlns="" val="20001"/>
                        </a:ext>
                      </a:extLst>
                    </a:gridCol>
                    <a:gridCol w="2560320">
                      <a:extLst>
                        <a:ext uri="{9D8B030D-6E8A-4147-A177-3AD203B41FA5}">
                          <a16:colId xmlns:a16="http://schemas.microsoft.com/office/drawing/2014/main" xmlns:a14="http://schemas.microsoft.com/office/drawing/2010/main" xmlns="" val="20002"/>
                        </a:ext>
                      </a:extLst>
                    </a:gridCol>
                  </a:tblGrid>
                  <a:tr h="487680">
                    <a:tc gridSpan="3">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Polynomials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xmlns:a14="http://schemas.microsoft.com/office/drawing/2010/main" xmlns="" val="10000"/>
                      </a:ext>
                    </a:extLst>
                  </a:tr>
                  <a:tr h="890905">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______</a:t>
                          </a:r>
                          <a:r>
                            <a:rPr lang="en-US" sz="2000" b="1" dirty="0" err="1">
                              <a:effectLst/>
                              <a:latin typeface="Verdana" panose="020B0604030504040204" pitchFamily="34" charset="0"/>
                              <a:ea typeface="Verdana" pitchFamily="34" charset="0"/>
                              <a:cs typeface="Times New Roman" panose="02020603050405020304" pitchFamily="18" charset="0"/>
                            </a:rPr>
                            <a:t>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(one term)</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a:t>
                          </a:r>
                          <a:r>
                            <a:rPr lang="en-US" sz="2000" b="1" dirty="0" err="1">
                              <a:effectLst/>
                              <a:latin typeface="Verdana" panose="020B0604030504040204" pitchFamily="34" charset="0"/>
                              <a:ea typeface="Verdana" pitchFamily="34" charset="0"/>
                              <a:cs typeface="Times New Roman" panose="02020603050405020304" pitchFamily="18" charset="0"/>
                            </a:rPr>
                            <a:t>nomials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(two terms)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______</a:t>
                          </a:r>
                          <a:r>
                            <a:rPr lang="en-US" sz="2000" b="1" dirty="0" err="1">
                              <a:effectLst/>
                              <a:latin typeface="Verdana" panose="020B0604030504040204" pitchFamily="34" charset="0"/>
                              <a:ea typeface="Verdana" pitchFamily="34" charset="0"/>
                              <a:cs typeface="Times New Roman" panose="02020603050405020304" pitchFamily="18" charset="0"/>
                            </a:rPr>
                            <a:t>nomials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(three terms)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731520">
                    <a:tc>
                      <a:txBody>
                        <a:bodyPr/>
                        <a:lstStyle/>
                        <a:p>
                          <a:endParaRPr lang="en-US"/>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89167" r="-236667"/>
                          </a:stretch>
                        </a:blipFill>
                      </a:tcPr>
                    </a:tc>
                    <a:tc>
                      <a:txBody>
                        <a:bodyPr/>
                        <a:lstStyle/>
                        <a:p>
                          <a:endParaRPr lang="en-US"/>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667" t="-189167" r="-116944"/>
                          </a:stretch>
                        </a:blipFill>
                      </a:tcPr>
                    </a:tc>
                    <a:tc>
                      <a:txBody>
                        <a:bodyPr/>
                        <a:lstStyle/>
                        <a:p>
                          <a:endParaRPr lang="en-US"/>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4286" t="-189167" r="-238"/>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Tree>
    <p:extLst>
      <p:ext uri="{BB962C8B-B14F-4D97-AF65-F5344CB8AC3E}">
        <p14:creationId xmlns:p14="http://schemas.microsoft.com/office/powerpoint/2010/main" val="3689936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E0814DF0-CB0F-CE4A-A504-DEE56AFFF9B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sp>
        <p:nvSpPr>
          <p:cNvPr id="7" name="TextBox 6">
            <a:extLst>
              <a:ext uri="{FF2B5EF4-FFF2-40B4-BE49-F238E27FC236}">
                <a16:creationId xmlns:a16="http://schemas.microsoft.com/office/drawing/2014/main" id="{4B71B7AA-10E7-9B44-A591-563821260A41}"/>
              </a:ext>
            </a:extLst>
          </p:cNvPr>
          <p:cNvSpPr txBox="1"/>
          <p:nvPr/>
        </p:nvSpPr>
        <p:spPr>
          <a:xfrm>
            <a:off x="541867" y="340460"/>
            <a:ext cx="10515600" cy="3785652"/>
          </a:xfrm>
          <a:prstGeom prst="rect">
            <a:avLst/>
          </a:prstGeom>
          <a:noFill/>
        </p:spPr>
        <p:txBody>
          <a:bodyPr wrap="square" rtlCol="0">
            <a:spAutoFit/>
          </a:bodyPr>
          <a:lstStyle/>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In the last row of the table, create your own polynomial that fits each category.</a:t>
            </a:r>
          </a:p>
        </p:txBody>
      </p:sp>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4188886024"/>
                  </p:ext>
                </p:extLst>
              </p:nvPr>
            </p:nvGraphicFramePr>
            <p:xfrm>
              <a:off x="2940611" y="374329"/>
              <a:ext cx="6766560" cy="2841625"/>
            </p:xfrm>
            <a:graphic>
              <a:graphicData uri="http://schemas.openxmlformats.org/drawingml/2006/table">
                <a:tbl>
                  <a:tblPr firstRow="1" firstCol="1" bandRow="1"/>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65760">
                    <a:tc gridSpan="3">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Polynomials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10000"/>
                      </a:ext>
                    </a:extLst>
                  </a:tr>
                  <a:tr h="890905">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______</a:t>
                          </a:r>
                          <a:r>
                            <a:rPr lang="en-US" sz="2000" b="1" dirty="0" err="1">
                              <a:effectLst/>
                              <a:latin typeface="Verdana" panose="020B0604030504040204" pitchFamily="34" charset="0"/>
                              <a:ea typeface="Verdana" pitchFamily="34" charset="0"/>
                              <a:cs typeface="Times New Roman" panose="02020603050405020304" pitchFamily="18" charset="0"/>
                            </a:rPr>
                            <a:t>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(one term)</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a:t>
                          </a:r>
                          <a:r>
                            <a:rPr lang="en-US" sz="2000" b="1" dirty="0" err="1">
                              <a:effectLst/>
                              <a:latin typeface="Verdana" panose="020B0604030504040204" pitchFamily="34" charset="0"/>
                              <a:ea typeface="Verdana" pitchFamily="34" charset="0"/>
                              <a:cs typeface="Times New Roman" panose="02020603050405020304" pitchFamily="18" charset="0"/>
                            </a:rPr>
                            <a:t>nomials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(two terms)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______</a:t>
                          </a:r>
                          <a:r>
                            <a:rPr lang="en-US" sz="2000" b="1" dirty="0" err="1">
                              <a:effectLst/>
                              <a:latin typeface="Verdana" panose="020B0604030504040204" pitchFamily="34" charset="0"/>
                              <a:ea typeface="Verdana" pitchFamily="34" charset="0"/>
                              <a:cs typeface="Times New Roman" panose="02020603050405020304" pitchFamily="18" charset="0"/>
                            </a:rPr>
                            <a:t>nomials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(three terms)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14</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9</m:t>
                                    </m:r>
                                  </m:den>
                                </m:f>
                                <m:sSup>
                                  <m:sSupPr>
                                    <m:ctrlPr>
                                      <a:rPr lang="x-none"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+14</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9</m:t>
                                    </m:r>
                                  </m:den>
                                </m:f>
                                <m:sSup>
                                  <m:sSupPr>
                                    <m:ctrlPr>
                                      <a:rPr lang="x-none"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−12</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+14</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4188886024"/>
                  </p:ext>
                </p:extLst>
              </p:nvPr>
            </p:nvGraphicFramePr>
            <p:xfrm>
              <a:off x="2940611" y="374329"/>
              <a:ext cx="6766560" cy="2841625"/>
            </p:xfrm>
            <a:graphic>
              <a:graphicData uri="http://schemas.openxmlformats.org/drawingml/2006/table">
                <a:tbl>
                  <a:tblPr firstRow="1" firstCol="1" bandRow="1"/>
                  <a:tblGrid>
                    <a:gridCol w="2011680">
                      <a:extLst>
                        <a:ext uri="{9D8B030D-6E8A-4147-A177-3AD203B41FA5}">
                          <a16:colId xmlns:a16="http://schemas.microsoft.com/office/drawing/2014/main" xmlns:a14="http://schemas.microsoft.com/office/drawing/2010/main" xmlns="" val="20000"/>
                        </a:ext>
                      </a:extLst>
                    </a:gridCol>
                    <a:gridCol w="2194560">
                      <a:extLst>
                        <a:ext uri="{9D8B030D-6E8A-4147-A177-3AD203B41FA5}">
                          <a16:colId xmlns:a16="http://schemas.microsoft.com/office/drawing/2014/main" xmlns:a14="http://schemas.microsoft.com/office/drawing/2010/main" xmlns="" val="20001"/>
                        </a:ext>
                      </a:extLst>
                    </a:gridCol>
                    <a:gridCol w="2560320">
                      <a:extLst>
                        <a:ext uri="{9D8B030D-6E8A-4147-A177-3AD203B41FA5}">
                          <a16:colId xmlns:a16="http://schemas.microsoft.com/office/drawing/2014/main" xmlns:a14="http://schemas.microsoft.com/office/drawing/2010/main" xmlns="" val="20002"/>
                        </a:ext>
                      </a:extLst>
                    </a:gridCol>
                  </a:tblGrid>
                  <a:tr h="487680">
                    <a:tc gridSpan="3">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Polynomials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xmlns:a14="http://schemas.microsoft.com/office/drawing/2010/main" xmlns="" val="10000"/>
                      </a:ext>
                    </a:extLst>
                  </a:tr>
                  <a:tr h="890905">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______</a:t>
                          </a:r>
                          <a:r>
                            <a:rPr lang="en-US" sz="2000" b="1" dirty="0" err="1">
                              <a:effectLst/>
                              <a:latin typeface="Verdana" panose="020B0604030504040204" pitchFamily="34" charset="0"/>
                              <a:ea typeface="Verdana" pitchFamily="34" charset="0"/>
                              <a:cs typeface="Times New Roman" panose="02020603050405020304" pitchFamily="18" charset="0"/>
                            </a:rPr>
                            <a:t>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(one term)</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a:t>
                          </a:r>
                          <a:r>
                            <a:rPr lang="en-US" sz="2000" b="1" dirty="0" err="1">
                              <a:effectLst/>
                              <a:latin typeface="Verdana" panose="020B0604030504040204" pitchFamily="34" charset="0"/>
                              <a:ea typeface="Verdana" pitchFamily="34" charset="0"/>
                              <a:cs typeface="Times New Roman" panose="02020603050405020304" pitchFamily="18" charset="0"/>
                            </a:rPr>
                            <a:t>nomials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(two terms)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______</a:t>
                          </a:r>
                          <a:r>
                            <a:rPr lang="en-US" sz="2000" b="1" dirty="0" err="1">
                              <a:effectLst/>
                              <a:latin typeface="Verdana" panose="020B0604030504040204" pitchFamily="34" charset="0"/>
                              <a:ea typeface="Verdana" pitchFamily="34" charset="0"/>
                              <a:cs typeface="Times New Roman" panose="02020603050405020304" pitchFamily="18" charset="0"/>
                            </a:rPr>
                            <a:t>nomials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(three terms)</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73152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89167" r="-236667" b="-1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1667" t="-189167" r="-116944" b="-1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4286" t="-189167" r="-238" b="-100000"/>
                          </a:stretch>
                        </a:blipFill>
                      </a:tcPr>
                    </a:tc>
                    <a:extLst>
                      <a:ext uri="{0D108BD9-81ED-4DB2-BD59-A6C34878D82A}">
                        <a16:rowId xmlns:a16="http://schemas.microsoft.com/office/drawing/2014/main" xmlns:a14="http://schemas.microsoft.com/office/drawing/2010/main" xmlns="" val="10002"/>
                      </a:ext>
                    </a:extLst>
                  </a:tr>
                  <a:tr h="731520">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bl>
              </a:graphicData>
            </a:graphic>
          </p:graphicFrame>
        </mc:Fallback>
      </mc:AlternateContent>
    </p:spTree>
    <p:extLst>
      <p:ext uri="{BB962C8B-B14F-4D97-AF65-F5344CB8AC3E}">
        <p14:creationId xmlns:p14="http://schemas.microsoft.com/office/powerpoint/2010/main" val="2197139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682370"/>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pic>
        <p:nvPicPr>
          <p:cNvPr id="7" name="image2.png" descr="Icon&#10;&#10;Description automatically generated">
            <a:extLst>
              <a:ext uri="{FF2B5EF4-FFF2-40B4-BE49-F238E27FC236}">
                <a16:creationId xmlns:a16="http://schemas.microsoft.com/office/drawing/2014/main" id="{B8663E50-D763-C343-96E8-FEAEDD7FA21B}"/>
              </a:ext>
            </a:extLst>
          </p:cNvPr>
          <p:cNvPicPr/>
          <p:nvPr/>
        </p:nvPicPr>
        <p:blipFill>
          <a:blip r:embed="rId4"/>
          <a:srcRect/>
          <a:stretch>
            <a:fillRect/>
          </a:stretch>
        </p:blipFill>
        <p:spPr>
          <a:xfrm>
            <a:off x="3054096" y="2766145"/>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51888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63041" y="294849"/>
            <a:ext cx="10515600" cy="74378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2.4.3 Guided Instruction: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Polynomials and Standard Form</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550333" y="3510356"/>
            <a:ext cx="77998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Identify the degree of each monomial. </a:t>
            </a:r>
          </a:p>
        </p:txBody>
      </p:sp>
      <p:pic>
        <p:nvPicPr>
          <p:cNvPr id="9" name="image2.png" descr="Icon&#10;&#10;Description automatically generated">
            <a:extLst>
              <a:ext uri="{FF2B5EF4-FFF2-40B4-BE49-F238E27FC236}">
                <a16:creationId xmlns:a16="http://schemas.microsoft.com/office/drawing/2014/main" id="{77E23D0C-703F-9A43-BC01-6CC2541A0FCE}"/>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50430" y="287630"/>
            <a:ext cx="747431" cy="747431"/>
          </a:xfrm>
          <a:prstGeom prst="rect">
            <a:avLst/>
          </a:prstGeom>
          <a:ln/>
          <a:effectLst>
            <a:outerShdw blurRad="50800" dist="38100" dir="2700000" algn="tl" rotWithShape="0">
              <a:prstClr val="black">
                <a:alpha val="40000"/>
              </a:prstClr>
            </a:outerShdw>
          </a:effectLst>
        </p:spPr>
      </p:pic>
      <p:grpSp>
        <p:nvGrpSpPr>
          <p:cNvPr id="10" name="Group 9">
            <a:extLst>
              <a:ext uri="{FF2B5EF4-FFF2-40B4-BE49-F238E27FC236}">
                <a16:creationId xmlns:a16="http://schemas.microsoft.com/office/drawing/2014/main" id="{1A0CF6B9-C3FD-9043-A57D-E6A84C5E10B7}"/>
              </a:ext>
            </a:extLst>
          </p:cNvPr>
          <p:cNvGrpSpPr/>
          <p:nvPr/>
        </p:nvGrpSpPr>
        <p:grpSpPr>
          <a:xfrm>
            <a:off x="2146132" y="2220504"/>
            <a:ext cx="6949440" cy="1122543"/>
            <a:chOff x="-1" y="-97095"/>
            <a:chExt cx="6949952" cy="1122661"/>
          </a:xfrm>
        </p:grpSpPr>
        <p:sp>
          <p:nvSpPr>
            <p:cNvPr id="19" name="Rounded Rectangle 18">
              <a:extLst>
                <a:ext uri="{FF2B5EF4-FFF2-40B4-BE49-F238E27FC236}">
                  <a16:creationId xmlns:a16="http://schemas.microsoft.com/office/drawing/2014/main" id="{74E3D66B-710F-EB43-BF2E-DF84A80E3E2B}"/>
                </a:ext>
              </a:extLst>
            </p:cNvPr>
            <p:cNvSpPr/>
            <p:nvPr/>
          </p:nvSpPr>
          <p:spPr>
            <a:xfrm>
              <a:off x="-1" y="-97095"/>
              <a:ext cx="6949952" cy="1122661"/>
            </a:xfrm>
            <a:prstGeom prst="roundRect">
              <a:avLst>
                <a:gd name="adj" fmla="val 16667"/>
              </a:avLst>
            </a:prstGeom>
            <a:solidFill>
              <a:srgbClr val="AEDBF1"/>
            </a:solidFill>
            <a:ln>
              <a:noFill/>
            </a:ln>
            <a:effectLst>
              <a:outerShdw blurRad="50800" dist="38100" dir="2700000" algn="tl" rotWithShape="0">
                <a:prstClr val="black">
                  <a:alpha val="40000"/>
                </a:prstClr>
              </a:outerShdw>
            </a:effectLst>
          </p:spPr>
          <p:txBody>
            <a:bodyPr spcFirstLastPara="1" wrap="square" lIns="91425" tIns="91425" rIns="91425" bIns="91425" anchor="ctr" anchorCtr="0">
              <a:spAutoFit/>
            </a:bodyPr>
            <a:lstStyle/>
            <a:p>
              <a:pPr marL="685800">
                <a:lnSpc>
                  <a:spcPct val="114000"/>
                </a:lnSpc>
                <a:spcAft>
                  <a:spcPts val="1000"/>
                </a:spcAft>
              </a:pPr>
              <a:r>
                <a:rPr lang="en-US" sz="2000" dirty="0">
                  <a:solidFill>
                    <a:srgbClr val="0076BF"/>
                  </a:solidFill>
                  <a:latin typeface="Verdana" panose="020B0604030504040204" pitchFamily="34" charset="0"/>
                  <a:ea typeface="Verdana" panose="020B0604030504040204" pitchFamily="34" charset="0"/>
                  <a:cs typeface="Verdana" panose="020B0604030504040204" pitchFamily="34" charset="0"/>
                </a:rPr>
                <a:t>The </a:t>
              </a:r>
              <a:r>
                <a:rPr lang="en-US" sz="2000" b="1" dirty="0">
                  <a:solidFill>
                    <a:srgbClr val="0076BF"/>
                  </a:solidFill>
                  <a:latin typeface="Verdana" panose="020B0604030504040204" pitchFamily="34" charset="0"/>
                  <a:ea typeface="Verdana" panose="020B0604030504040204" pitchFamily="34" charset="0"/>
                  <a:cs typeface="Verdana" panose="020B0604030504040204" pitchFamily="34" charset="0"/>
                </a:rPr>
                <a:t>degree of a monomial</a:t>
              </a:r>
              <a:r>
                <a:rPr lang="en-US" sz="2000" dirty="0">
                  <a:solidFill>
                    <a:srgbClr val="0076BF"/>
                  </a:solidFill>
                  <a:latin typeface="Verdana" panose="020B0604030504040204" pitchFamily="34" charset="0"/>
                  <a:ea typeface="Verdana" panose="020B0604030504040204" pitchFamily="34" charset="0"/>
                  <a:cs typeface="Verdana" panose="020B0604030504040204" pitchFamily="34" charset="0"/>
                </a:rPr>
                <a:t> is the sum of the exponents of the variables in a monomial.</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20" name="Shape 6" descr="Icon&#10;&#10;Description automatically generated">
              <a:extLst>
                <a:ext uri="{FF2B5EF4-FFF2-40B4-BE49-F238E27FC236}">
                  <a16:creationId xmlns:a16="http://schemas.microsoft.com/office/drawing/2014/main" id="{5064D590-56F2-2746-A958-B87478B380B9}"/>
                </a:ext>
              </a:extLst>
            </p:cNvPr>
            <p:cNvPicPr>
              <a:picLocks/>
            </p:cNvPicPr>
            <p:nvPr/>
          </p:nvPicPr>
          <p:blipFill>
            <a:blip r:embed="rId5">
              <a:alphaModFix/>
            </a:blip>
            <a:stretch>
              <a:fillRect/>
            </a:stretch>
          </p:blipFill>
          <p:spPr>
            <a:xfrm>
              <a:off x="170822" y="117026"/>
              <a:ext cx="548680" cy="548640"/>
            </a:xfrm>
            <a:prstGeom prst="rect">
              <a:avLst/>
            </a:prstGeom>
            <a:noFill/>
            <a:ln>
              <a:noFill/>
            </a:ln>
            <a:effectLst>
              <a:outerShdw blurRad="50800" dist="38100" dir="2700000" algn="tl" rotWithShape="0">
                <a:prstClr val="black">
                  <a:alpha val="40000"/>
                </a:prstClr>
              </a:outerShdw>
            </a:effectLst>
          </p:spPr>
        </p:pic>
      </p:grpSp>
      <p:grpSp>
        <p:nvGrpSpPr>
          <p:cNvPr id="11" name="Group 10">
            <a:extLst>
              <a:ext uri="{FF2B5EF4-FFF2-40B4-BE49-F238E27FC236}">
                <a16:creationId xmlns:a16="http://schemas.microsoft.com/office/drawing/2014/main" id="{0B600F75-D5E7-6C4B-A9BA-20111735337D}"/>
              </a:ext>
            </a:extLst>
          </p:cNvPr>
          <p:cNvGrpSpPr/>
          <p:nvPr/>
        </p:nvGrpSpPr>
        <p:grpSpPr>
          <a:xfrm>
            <a:off x="2146852" y="1347347"/>
            <a:ext cx="6949440" cy="812800"/>
            <a:chOff x="2031300" y="3373600"/>
            <a:chExt cx="6949440" cy="812800"/>
          </a:xfrm>
        </p:grpSpPr>
        <p:grpSp>
          <p:nvGrpSpPr>
            <p:cNvPr id="13" name="Group 12">
              <a:extLst>
                <a:ext uri="{FF2B5EF4-FFF2-40B4-BE49-F238E27FC236}">
                  <a16:creationId xmlns:a16="http://schemas.microsoft.com/office/drawing/2014/main" id="{83BEA6F4-AE2C-664F-A309-7D7ADB1B229E}"/>
                </a:ext>
              </a:extLst>
            </p:cNvPr>
            <p:cNvGrpSpPr/>
            <p:nvPr/>
          </p:nvGrpSpPr>
          <p:grpSpPr>
            <a:xfrm>
              <a:off x="2031300" y="3373600"/>
              <a:ext cx="6949440" cy="812800"/>
              <a:chOff x="2031300" y="3373600"/>
              <a:chExt cx="6949440" cy="812800"/>
            </a:xfrm>
          </p:grpSpPr>
          <p:sp>
            <p:nvSpPr>
              <p:cNvPr id="14" name="Rectangle 13">
                <a:extLst>
                  <a:ext uri="{FF2B5EF4-FFF2-40B4-BE49-F238E27FC236}">
                    <a16:creationId xmlns:a16="http://schemas.microsoft.com/office/drawing/2014/main" id="{4D7E670E-DDF9-474C-AB8E-5D1370116679}"/>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7CE3BBAB-A38C-9642-A7C3-D3D48FB9A08C}"/>
                  </a:ext>
                </a:extLst>
              </p:cNvPr>
              <p:cNvGrpSpPr/>
              <p:nvPr/>
            </p:nvGrpSpPr>
            <p:grpSpPr>
              <a:xfrm>
                <a:off x="2031300" y="3373600"/>
                <a:ext cx="6949440" cy="812800"/>
                <a:chOff x="0" y="0"/>
                <a:chExt cx="6949440" cy="812800"/>
              </a:xfrm>
            </p:grpSpPr>
            <p:sp>
              <p:nvSpPr>
                <p:cNvPr id="16" name="Rectangle 15">
                  <a:extLst>
                    <a:ext uri="{FF2B5EF4-FFF2-40B4-BE49-F238E27FC236}">
                      <a16:creationId xmlns:a16="http://schemas.microsoft.com/office/drawing/2014/main" id="{355E8220-CECB-2E46-9D03-B75E2AD3D0F0}"/>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7" name="Rounded Rectangle 16">
                  <a:extLst>
                    <a:ext uri="{FF2B5EF4-FFF2-40B4-BE49-F238E27FC236}">
                      <a16:creationId xmlns:a16="http://schemas.microsoft.com/office/drawing/2014/main" id="{78AB121C-2BB4-BD4C-AA9F-1AA68ED1A287}"/>
                    </a:ext>
                  </a:extLst>
                </p:cNvPr>
                <p:cNvSpPr/>
                <p:nvPr/>
              </p:nvSpPr>
              <p:spPr>
                <a:xfrm>
                  <a:off x="0" y="22404"/>
                  <a:ext cx="6949440" cy="686713"/>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137160" rIns="91425" bIns="4572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monomial</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polynomial with one term.</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8" name="Shape 7" descr="Icon&#10;&#10;Description automatically generated">
                  <a:extLst>
                    <a:ext uri="{FF2B5EF4-FFF2-40B4-BE49-F238E27FC236}">
                      <a16:creationId xmlns:a16="http://schemas.microsoft.com/office/drawing/2014/main" id="{B6B94A65-921C-6C42-A825-DC6975516F2A}"/>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38545" y="83402"/>
                  <a:ext cx="539750" cy="539750"/>
                </a:xfrm>
                <a:prstGeom prst="rect">
                  <a:avLst/>
                </a:prstGeom>
                <a:noFill/>
                <a:ln>
                  <a:noFill/>
                </a:ln>
                <a:effectLst>
                  <a:outerShdw blurRad="50800" dist="38100" dir="2700000" algn="tl" rotWithShape="0">
                    <a:prstClr val="black">
                      <a:alpha val="40000"/>
                    </a:prstClr>
                  </a:outerShdw>
                </a:effectLst>
              </p:spPr>
            </p:pic>
          </p:grpSp>
        </p:grpSp>
      </p:gr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500BAB0-FCEC-1C46-9CCF-1FA02FB1DED6}"/>
                  </a:ext>
                </a:extLst>
              </p:cNvPr>
              <p:cNvGraphicFramePr>
                <a:graphicFrameLocks noGrp="1"/>
              </p:cNvGraphicFramePr>
              <p:nvPr>
                <p:extLst>
                  <p:ext uri="{D42A27DB-BD31-4B8C-83A1-F6EECF244321}">
                    <p14:modId xmlns:p14="http://schemas.microsoft.com/office/powerpoint/2010/main" val="1404975751"/>
                  </p:ext>
                </p:extLst>
              </p:nvPr>
            </p:nvGraphicFramePr>
            <p:xfrm>
              <a:off x="1123710" y="4044959"/>
              <a:ext cx="3959225" cy="2545080"/>
            </p:xfrm>
            <a:graphic>
              <a:graphicData uri="http://schemas.openxmlformats.org/drawingml/2006/table">
                <a:tbl>
                  <a:tblPr firstRow="1" firstCol="1" bandRow="1"/>
                  <a:tblGrid>
                    <a:gridCol w="1979295">
                      <a:extLst>
                        <a:ext uri="{9D8B030D-6E8A-4147-A177-3AD203B41FA5}">
                          <a16:colId xmlns:a16="http://schemas.microsoft.com/office/drawing/2014/main" val="3097300031"/>
                        </a:ext>
                      </a:extLst>
                    </a:gridCol>
                    <a:gridCol w="1979930">
                      <a:extLst>
                        <a:ext uri="{9D8B030D-6E8A-4147-A177-3AD203B41FA5}">
                          <a16:colId xmlns:a16="http://schemas.microsoft.com/office/drawing/2014/main" val="1394720000"/>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Monomial</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Degree</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804788888"/>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866032"/>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1.6</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𝑝</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𝑐</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𝑤</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sup>
                                </m:sSup>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1927733"/>
                      </a:ext>
                    </a:extLst>
                  </a:tr>
                  <a:tr h="685800">
                    <a:tc>
                      <a:txBody>
                        <a:bodyPr/>
                        <a:lstStyle/>
                        <a:p>
                          <a:pPr marL="0" marR="0" algn="ctr">
                            <a:lnSpc>
                              <a:spcPct val="115000"/>
                            </a:lnSpc>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h</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24</m:t>
                                  </m:r>
                                </m:sup>
                              </m:sSup>
                            </m:oMath>
                          </a14:m>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7451215"/>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C500BAB0-FCEC-1C46-9CCF-1FA02FB1DED6}"/>
                  </a:ext>
                </a:extLst>
              </p:cNvPr>
              <p:cNvGraphicFramePr>
                <a:graphicFrameLocks noGrp="1"/>
              </p:cNvGraphicFramePr>
              <p:nvPr>
                <p:extLst>
                  <p:ext uri="{D42A27DB-BD31-4B8C-83A1-F6EECF244321}">
                    <p14:modId xmlns:p14="http://schemas.microsoft.com/office/powerpoint/2010/main" val="1404975751"/>
                  </p:ext>
                </p:extLst>
              </p:nvPr>
            </p:nvGraphicFramePr>
            <p:xfrm>
              <a:off x="1123710" y="4044959"/>
              <a:ext cx="3959225" cy="2545080"/>
            </p:xfrm>
            <a:graphic>
              <a:graphicData uri="http://schemas.openxmlformats.org/drawingml/2006/table">
                <a:tbl>
                  <a:tblPr firstRow="1" firstCol="1" bandRow="1"/>
                  <a:tblGrid>
                    <a:gridCol w="1979295">
                      <a:extLst>
                        <a:ext uri="{9D8B030D-6E8A-4147-A177-3AD203B41FA5}">
                          <a16:colId xmlns:a16="http://schemas.microsoft.com/office/drawing/2014/main" xmlns:a14="http://schemas.microsoft.com/office/drawing/2010/main" xmlns="" val="3097300031"/>
                        </a:ext>
                      </a:extLst>
                    </a:gridCol>
                    <a:gridCol w="1979930">
                      <a:extLst>
                        <a:ext uri="{9D8B030D-6E8A-4147-A177-3AD203B41FA5}">
                          <a16:colId xmlns:a16="http://schemas.microsoft.com/office/drawing/2014/main" xmlns:a14="http://schemas.microsoft.com/office/drawing/2010/main" xmlns="" val="1394720000"/>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Monomial</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Degree</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804788888"/>
                      </a:ext>
                    </a:extLst>
                  </a:tr>
                  <a:tr h="685800">
                    <a:tc>
                      <a:txBody>
                        <a:bodyPr/>
                        <a:lstStyle/>
                        <a:p>
                          <a:endParaRPr lang="en-US"/>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72321" r="-100000" b="-201786"/>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48866032"/>
                      </a:ext>
                    </a:extLst>
                  </a:tr>
                  <a:tr h="685800">
                    <a:tc>
                      <a:txBody>
                        <a:bodyPr/>
                        <a:lstStyle/>
                        <a:p>
                          <a:endParaRPr lang="en-US"/>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170796" r="-100000" b="-10000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351927733"/>
                      </a:ext>
                    </a:extLst>
                  </a:tr>
                  <a:tr h="685800">
                    <a:tc>
                      <a:txBody>
                        <a:bodyPr/>
                        <a:lstStyle/>
                        <a:p>
                          <a:endParaRPr lang="en-US"/>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t="-273214" r="-100000" b="-89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707451215"/>
                      </a:ext>
                    </a:extLst>
                  </a:tr>
                </a:tbl>
              </a:graphicData>
            </a:graphic>
          </p:graphicFrame>
        </mc:Fallback>
      </mc:AlternateContent>
    </p:spTree>
    <p:extLst>
      <p:ext uri="{BB962C8B-B14F-4D97-AF65-F5344CB8AC3E}">
        <p14:creationId xmlns:p14="http://schemas.microsoft.com/office/powerpoint/2010/main" val="2999405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B71B7AA-10E7-9B44-A591-563821260A41}"/>
                  </a:ext>
                </a:extLst>
              </p:cNvPr>
              <p:cNvSpPr txBox="1"/>
              <p:nvPr/>
            </p:nvSpPr>
            <p:spPr>
              <a:xfrm>
                <a:off x="541866" y="340461"/>
                <a:ext cx="8195176" cy="3789179"/>
              </a:xfrm>
              <a:prstGeom prst="rect">
                <a:avLst/>
              </a:prstGeom>
              <a:noFill/>
            </p:spPr>
            <p:txBody>
              <a:bodyPr wrap="square" rtlCol="0">
                <a:spAutoFit/>
              </a:bodyPr>
              <a:lstStyle/>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degree of </a:t>
                </a:r>
                <a14:m>
                  <m:oMath xmlns:m="http://schemas.openxmlformats.org/officeDocument/2006/math">
                    <m:r>
                      <a:rPr lang="es-ES" alt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62</m:t>
                    </m:r>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𝑝𝑘</m:t>
                        </m:r>
                      </m:e>
                      <m:sup>
                        <m:r>
                          <a:rPr lang="es-ES" altLang="en-US" sz="2000" i="1">
                            <a:solidFill>
                              <a:schemeClr val="tx1"/>
                            </a:solidFill>
                            <a:latin typeface="Cambria Math" panose="02040503050406030204" pitchFamily="18" charset="0"/>
                            <a:cs typeface="Times New Roman" panose="02020603050405020304" pitchFamily="18" charset="0"/>
                          </a:rPr>
                          <m:t>8</m:t>
                        </m:r>
                      </m:sup>
                    </m:sSup>
                    <m:r>
                      <a:rPr lang="es-ES" altLang="en-US" sz="2000" i="1">
                        <a:solidFill>
                          <a:schemeClr val="tx1"/>
                        </a:solidFill>
                        <a:latin typeface="Cambria Math" panose="02040503050406030204" pitchFamily="18" charset="0"/>
                        <a:cs typeface="Times New Roman" panose="02020603050405020304" pitchFamily="18" charset="0"/>
                      </a:rPr>
                      <m:t>+</m:t>
                    </m:r>
                    <m:r>
                      <a:rPr lang="es-ES" alt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7</m:t>
                    </m:r>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𝑎</m:t>
                        </m:r>
                      </m:e>
                      <m:sup>
                        <m:r>
                          <a:rPr lang="es-ES" altLang="en-US" sz="2000" i="1">
                            <a:solidFill>
                              <a:schemeClr val="tx1"/>
                            </a:solidFill>
                            <a:latin typeface="Cambria Math" panose="02040503050406030204" pitchFamily="18" charset="0"/>
                            <a:cs typeface="Times New Roman" panose="02020603050405020304" pitchFamily="18" charset="0"/>
                          </a:rPr>
                          <m:t>2</m:t>
                        </m:r>
                      </m:sup>
                    </m:sSup>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𝑏</m:t>
                        </m:r>
                      </m:e>
                      <m:sup>
                        <m:r>
                          <a:rPr lang="es-ES" altLang="en-US" sz="2000" i="1">
                            <a:solidFill>
                              <a:schemeClr val="tx1"/>
                            </a:solidFill>
                            <a:latin typeface="Cambria Math" panose="02040503050406030204" pitchFamily="18" charset="0"/>
                            <a:cs typeface="Times New Roman" panose="02020603050405020304" pitchFamily="18" charset="0"/>
                          </a:rPr>
                          <m:t>5</m:t>
                        </m:r>
                      </m:sup>
                    </m:sSup>
                    <m:r>
                      <a:rPr lang="es-ES" altLang="en-US" sz="2000" i="1">
                        <a:solidFill>
                          <a:schemeClr val="tx1"/>
                        </a:solidFill>
                        <a:latin typeface="Cambria Math" panose="02040503050406030204" pitchFamily="18" charset="0"/>
                        <a:cs typeface="Times New Roman" panose="02020603050405020304" pitchFamily="18" charset="0"/>
                      </a:rPr>
                      <m:t>−</m:t>
                    </m:r>
                    <m:r>
                      <a:rPr lang="es-ES" alt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38</m:t>
                    </m:r>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𝑔</m:t>
                        </m:r>
                      </m:e>
                      <m:sup>
                        <m:r>
                          <a:rPr lang="es-ES" altLang="en-US" sz="2000" i="1">
                            <a:solidFill>
                              <a:schemeClr val="tx1"/>
                            </a:solidFill>
                            <a:latin typeface="Cambria Math" panose="02040503050406030204" pitchFamily="18" charset="0"/>
                            <a:cs typeface="Times New Roman" panose="02020603050405020304" pitchFamily="18" charset="0"/>
                          </a:rPr>
                          <m:t>4</m:t>
                        </m:r>
                      </m:sup>
                    </m:sSup>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h</m:t>
                        </m:r>
                      </m:e>
                      <m:sup>
                        <m:r>
                          <a:rPr lang="es-ES" altLang="en-US" sz="2000" i="1">
                            <a:solidFill>
                              <a:schemeClr val="tx1"/>
                            </a:solidFill>
                            <a:latin typeface="Cambria Math" panose="02040503050406030204" pitchFamily="18" charset="0"/>
                            <a:cs typeface="Times New Roman" panose="02020603050405020304" pitchFamily="18" charset="0"/>
                          </a:rPr>
                          <m:t>6</m:t>
                        </m:r>
                      </m:sup>
                    </m:sSup>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21" name="TextBox 20">
                <a:extLst>
                  <a:ext uri="{FF2B5EF4-FFF2-40B4-BE49-F238E27FC236}">
                    <a16:creationId xmlns:a16="http://schemas.microsoft.com/office/drawing/2014/main" xmlns:a14="http://schemas.microsoft.com/office/drawing/2010/main" xmlns="" id="{4B71B7AA-10E7-9B44-A591-563821260A41}"/>
                  </a:ext>
                </a:extLst>
              </p:cNvPr>
              <p:cNvSpPr txBox="1">
                <a:spLocks noRot="1" noChangeAspect="1" noMove="1" noResize="1" noEditPoints="1" noAdjustHandles="1" noChangeArrowheads="1" noChangeShapeType="1" noTextEdit="1"/>
              </p:cNvSpPr>
              <p:nvPr/>
            </p:nvSpPr>
            <p:spPr>
              <a:xfrm>
                <a:off x="541866" y="340461"/>
                <a:ext cx="8195176" cy="3789179"/>
              </a:xfrm>
              <a:prstGeom prst="rect">
                <a:avLst/>
              </a:prstGeom>
              <a:blipFill rotWithShape="1">
                <a:blip r:embed="rId3"/>
                <a:stretch>
                  <a:fillRect l="-818" b="-1932"/>
                </a:stretch>
              </a:blipFill>
            </p:spPr>
            <p:txBody>
              <a:bodyPr/>
              <a:lstStyle/>
              <a:p>
                <a:r>
                  <a:rPr lang="en-PH">
                    <a:noFill/>
                  </a:rPr>
                  <a:t> </a:t>
                </a:r>
              </a:p>
            </p:txBody>
          </p:sp>
        </mc:Fallback>
      </mc:AlternateContent>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grpSp>
        <p:nvGrpSpPr>
          <p:cNvPr id="8" name="Group 7">
            <a:extLst>
              <a:ext uri="{FF2B5EF4-FFF2-40B4-BE49-F238E27FC236}">
                <a16:creationId xmlns:a16="http://schemas.microsoft.com/office/drawing/2014/main" id="{D562BFC6-3C68-0749-A02A-C95B8BE41DDB}"/>
              </a:ext>
            </a:extLst>
          </p:cNvPr>
          <p:cNvGrpSpPr/>
          <p:nvPr/>
        </p:nvGrpSpPr>
        <p:grpSpPr>
          <a:xfrm>
            <a:off x="2586318" y="2254006"/>
            <a:ext cx="7669306" cy="1020404"/>
            <a:chOff x="0" y="416547"/>
            <a:chExt cx="7669306" cy="1020404"/>
          </a:xfrm>
        </p:grpSpPr>
        <p:sp>
          <p:nvSpPr>
            <p:cNvPr id="19" name="Rounded Rectangle 18">
              <a:extLst>
                <a:ext uri="{FF2B5EF4-FFF2-40B4-BE49-F238E27FC236}">
                  <a16:creationId xmlns:a16="http://schemas.microsoft.com/office/drawing/2014/main" id="{846016F0-5AF0-FB4D-AE0D-4303B0CC5406}"/>
                </a:ext>
              </a:extLst>
            </p:cNvPr>
            <p:cNvSpPr/>
            <p:nvPr/>
          </p:nvSpPr>
          <p:spPr>
            <a:xfrm>
              <a:off x="0" y="416547"/>
              <a:ext cx="7669306" cy="1020404"/>
            </a:xfrm>
            <a:prstGeom prst="roundRect">
              <a:avLst>
                <a:gd name="adj" fmla="val 16667"/>
              </a:avLst>
            </a:prstGeom>
            <a:solidFill>
              <a:srgbClr val="AEDBF1"/>
            </a:solidFill>
            <a:ln>
              <a:noFill/>
            </a:ln>
            <a:effectLst>
              <a:outerShdw blurRad="50800" dist="38100" dir="2700000" algn="tl" rotWithShape="0">
                <a:prstClr val="black">
                  <a:alpha val="40000"/>
                </a:prstClr>
              </a:outerShdw>
            </a:effectLst>
          </p:spPr>
          <p:txBody>
            <a:bodyPr spcFirstLastPara="1" wrap="square" lIns="91425" tIns="91425" rIns="91425" bIns="0" anchor="ctr" anchorCtr="0">
              <a:spAutoFit/>
            </a:bodyPr>
            <a:lstStyle/>
            <a:p>
              <a:pPr marL="742950">
                <a:lnSpc>
                  <a:spcPct val="114000"/>
                </a:lnSpc>
                <a:spcAft>
                  <a:spcPts val="1000"/>
                </a:spcAft>
              </a:pPr>
              <a:r>
                <a:rPr lang="en-US" sz="2000" dirty="0">
                  <a:solidFill>
                    <a:srgbClr val="0076BF"/>
                  </a:solidFill>
                  <a:latin typeface="Verdana" panose="020B0604030504040204" pitchFamily="34" charset="0"/>
                  <a:ea typeface="Verdana" panose="020B0604030504040204" pitchFamily="34" charset="0"/>
                  <a:cs typeface="Verdana" panose="020B0604030504040204" pitchFamily="34" charset="0"/>
                </a:rPr>
                <a:t>The </a:t>
              </a:r>
              <a:r>
                <a:rPr lang="en-US" sz="2000" b="1" dirty="0">
                  <a:solidFill>
                    <a:srgbClr val="0076BF"/>
                  </a:solidFill>
                  <a:latin typeface="Verdana" panose="020B0604030504040204" pitchFamily="34" charset="0"/>
                  <a:ea typeface="Verdana" panose="020B0604030504040204" pitchFamily="34" charset="0"/>
                  <a:cs typeface="Verdana" panose="020B0604030504040204" pitchFamily="34" charset="0"/>
                </a:rPr>
                <a:t>degree of a polynomial</a:t>
              </a:r>
              <a:r>
                <a:rPr lang="en-US" sz="2000" dirty="0">
                  <a:solidFill>
                    <a:srgbClr val="0076BF"/>
                  </a:solidFill>
                  <a:latin typeface="Verdana" panose="020B0604030504040204" pitchFamily="34" charset="0"/>
                  <a:ea typeface="Verdana" panose="020B0604030504040204" pitchFamily="34" charset="0"/>
                  <a:cs typeface="Verdana" panose="020B0604030504040204" pitchFamily="34" charset="0"/>
                </a:rPr>
                <a:t> is the greatest degree of the monomials in a polynomial.</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20" name="Shape 6" descr="Icon&#10;&#10;Description automatically generated">
              <a:extLst>
                <a:ext uri="{FF2B5EF4-FFF2-40B4-BE49-F238E27FC236}">
                  <a16:creationId xmlns:a16="http://schemas.microsoft.com/office/drawing/2014/main" id="{263D88E6-9CE5-F247-AD74-46F400D5952D}"/>
                </a:ext>
              </a:extLst>
            </p:cNvPr>
            <p:cNvPicPr/>
            <p:nvPr/>
          </p:nvPicPr>
          <p:blipFill>
            <a:blip r:embed="rId5">
              <a:alphaModFix/>
            </a:blip>
            <a:stretch>
              <a:fillRect/>
            </a:stretch>
          </p:blipFill>
          <p:spPr>
            <a:xfrm>
              <a:off x="170822" y="610093"/>
              <a:ext cx="548640" cy="548640"/>
            </a:xfrm>
            <a:prstGeom prst="rect">
              <a:avLst/>
            </a:prstGeom>
            <a:noFill/>
            <a:ln>
              <a:noFill/>
            </a:ln>
            <a:effectLst>
              <a:outerShdw blurRad="50800" dist="38100" dir="2700000" algn="tl" rotWithShape="0">
                <a:prstClr val="black">
                  <a:alpha val="40000"/>
                </a:prstClr>
              </a:outerShdw>
            </a:effectLst>
          </p:spPr>
        </p:pic>
      </p:grpSp>
      <p:grpSp>
        <p:nvGrpSpPr>
          <p:cNvPr id="9" name="Group 8">
            <a:extLst>
              <a:ext uri="{FF2B5EF4-FFF2-40B4-BE49-F238E27FC236}">
                <a16:creationId xmlns:a16="http://schemas.microsoft.com/office/drawing/2014/main" id="{F4D1C10F-7831-3D43-A399-179F56E7F371}"/>
              </a:ext>
            </a:extLst>
          </p:cNvPr>
          <p:cNvGrpSpPr/>
          <p:nvPr/>
        </p:nvGrpSpPr>
        <p:grpSpPr>
          <a:xfrm>
            <a:off x="2586318" y="382796"/>
            <a:ext cx="7669306" cy="1606113"/>
            <a:chOff x="2031300" y="3231547"/>
            <a:chExt cx="7669306" cy="1606469"/>
          </a:xfrm>
        </p:grpSpPr>
        <p:grpSp>
          <p:nvGrpSpPr>
            <p:cNvPr id="10" name="Group 9">
              <a:extLst>
                <a:ext uri="{FF2B5EF4-FFF2-40B4-BE49-F238E27FC236}">
                  <a16:creationId xmlns:a16="http://schemas.microsoft.com/office/drawing/2014/main" id="{A40AAD51-B7F2-314D-853D-766084C2DC7F}"/>
                </a:ext>
              </a:extLst>
            </p:cNvPr>
            <p:cNvGrpSpPr/>
            <p:nvPr/>
          </p:nvGrpSpPr>
          <p:grpSpPr>
            <a:xfrm>
              <a:off x="2031300" y="3231547"/>
              <a:ext cx="7669306" cy="1606469"/>
              <a:chOff x="2031300" y="3231547"/>
              <a:chExt cx="7669306" cy="1606469"/>
            </a:xfrm>
          </p:grpSpPr>
          <p:sp>
            <p:nvSpPr>
              <p:cNvPr id="11" name="Rectangle 10">
                <a:extLst>
                  <a:ext uri="{FF2B5EF4-FFF2-40B4-BE49-F238E27FC236}">
                    <a16:creationId xmlns:a16="http://schemas.microsoft.com/office/drawing/2014/main" id="{E85947B4-CF92-6945-B59B-9F352FE96523}"/>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9FC8E500-8014-FD42-879A-FFBC87C27054}"/>
                  </a:ext>
                </a:extLst>
              </p:cNvPr>
              <p:cNvGrpSpPr/>
              <p:nvPr/>
            </p:nvGrpSpPr>
            <p:grpSpPr>
              <a:xfrm>
                <a:off x="2031300" y="3231547"/>
                <a:ext cx="7669306" cy="1606469"/>
                <a:chOff x="0" y="-142053"/>
                <a:chExt cx="7669306" cy="1606469"/>
              </a:xfrm>
            </p:grpSpPr>
            <p:sp>
              <p:nvSpPr>
                <p:cNvPr id="16" name="Rectangle 15">
                  <a:extLst>
                    <a:ext uri="{FF2B5EF4-FFF2-40B4-BE49-F238E27FC236}">
                      <a16:creationId xmlns:a16="http://schemas.microsoft.com/office/drawing/2014/main" id="{C6E73755-8D67-9243-9C14-55E6AB3C941E}"/>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7" name="Rounded Rectangle 16">
                  <a:extLst>
                    <a:ext uri="{FF2B5EF4-FFF2-40B4-BE49-F238E27FC236}">
                      <a16:creationId xmlns:a16="http://schemas.microsoft.com/office/drawing/2014/main" id="{F6F057D0-F771-8F4B-9C47-29CB891F6842}"/>
                    </a:ext>
                  </a:extLst>
                </p:cNvPr>
                <p:cNvSpPr/>
                <p:nvPr/>
              </p:nvSpPr>
              <p:spPr>
                <a:xfrm>
                  <a:off x="0" y="-142053"/>
                  <a:ext cx="7669306" cy="160646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polynomial</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sum or difference of terms which have variables raised to non-negative integer powers and which have coefficients that may be real or complex.</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8" name="Shape 7" descr="Icon&#10;&#10;Description automatically generated">
                  <a:extLst>
                    <a:ext uri="{FF2B5EF4-FFF2-40B4-BE49-F238E27FC236}">
                      <a16:creationId xmlns:a16="http://schemas.microsoft.com/office/drawing/2014/main" id="{943F558B-4184-7844-854A-75FB06D01A13}"/>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78886" y="92367"/>
                  <a:ext cx="539750" cy="539750"/>
                </a:xfrm>
                <a:prstGeom prst="rect">
                  <a:avLst/>
                </a:prstGeom>
                <a:noFill/>
                <a:ln>
                  <a:noFill/>
                </a:ln>
                <a:effectLst>
                  <a:outerShdw blurRad="50800" dist="38100" dir="2700000" algn="tl" rotWithShape="0">
                    <a:prstClr val="black">
                      <a:alpha val="40000"/>
                    </a:prstClr>
                  </a:outerShdw>
                </a:effectLst>
              </p:spPr>
            </p:pic>
          </p:grpSp>
        </p:grpSp>
      </p:grpSp>
    </p:spTree>
    <p:extLst>
      <p:ext uri="{BB962C8B-B14F-4D97-AF65-F5344CB8AC3E}">
        <p14:creationId xmlns:p14="http://schemas.microsoft.com/office/powerpoint/2010/main" val="202851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B71B7AA-10E7-9B44-A591-563821260A41}"/>
                  </a:ext>
                </a:extLst>
              </p:cNvPr>
              <p:cNvSpPr txBox="1"/>
              <p:nvPr/>
            </p:nvSpPr>
            <p:spPr>
              <a:xfrm>
                <a:off x="541867" y="340460"/>
                <a:ext cx="10800000" cy="5331588"/>
              </a:xfrm>
              <a:prstGeom prst="rect">
                <a:avLst/>
              </a:prstGeom>
              <a:noFill/>
            </p:spPr>
            <p:txBody>
              <a:bodyPr wrap="square" rtlCol="0">
                <a:spAutoFit/>
              </a:bodyPr>
              <a:lstStyle/>
              <a:p>
                <a:pPr marL="457200" indent="-457200" eaLnBrk="0" fontAlgn="base" hangingPunct="0">
                  <a:spcBef>
                    <a:spcPct val="0"/>
                  </a:spcBef>
                  <a:spcAft>
                    <a:spcPct val="0"/>
                  </a:spcAft>
                  <a:buClrTx/>
                  <a:buFont typeface="+mj-lt"/>
                  <a:buAutoNum type="arabicPeriod" startAt="3"/>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3"/>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3"/>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3"/>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3"/>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3"/>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3"/>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3"/>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leading coefficient of </a:t>
                </a:r>
                <a14:m>
                  <m:oMath xmlns:m="http://schemas.openxmlformats.org/officeDocument/2006/math">
                    <m:r>
                      <a:rPr lang="es-ES" alt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62</m:t>
                    </m:r>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𝑝𝑘</m:t>
                        </m:r>
                      </m:e>
                      <m:sup>
                        <m:r>
                          <a:rPr lang="es-ES" altLang="en-US" sz="2000" i="1">
                            <a:solidFill>
                              <a:schemeClr val="tx1"/>
                            </a:solidFill>
                            <a:latin typeface="Cambria Math" panose="02040503050406030204" pitchFamily="18" charset="0"/>
                            <a:cs typeface="Times New Roman" panose="02020603050405020304" pitchFamily="18" charset="0"/>
                          </a:rPr>
                          <m:t>8</m:t>
                        </m:r>
                      </m:sup>
                    </m:sSup>
                    <m:r>
                      <a:rPr lang="es-ES" altLang="en-US" sz="2000" i="1">
                        <a:solidFill>
                          <a:schemeClr val="tx1"/>
                        </a:solidFill>
                        <a:latin typeface="Cambria Math" panose="02040503050406030204" pitchFamily="18" charset="0"/>
                        <a:cs typeface="Times New Roman" panose="02020603050405020304" pitchFamily="18" charset="0"/>
                      </a:rPr>
                      <m:t>+</m:t>
                    </m:r>
                    <m:r>
                      <a:rPr lang="es-ES" alt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7</m:t>
                    </m:r>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𝑎</m:t>
                        </m:r>
                      </m:e>
                      <m:sup>
                        <m:r>
                          <a:rPr lang="es-ES" altLang="en-US" sz="2000" i="1">
                            <a:solidFill>
                              <a:schemeClr val="tx1"/>
                            </a:solidFill>
                            <a:latin typeface="Cambria Math" panose="02040503050406030204" pitchFamily="18" charset="0"/>
                            <a:cs typeface="Times New Roman" panose="02020603050405020304" pitchFamily="18" charset="0"/>
                          </a:rPr>
                          <m:t>2</m:t>
                        </m:r>
                      </m:sup>
                    </m:sSup>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𝑏</m:t>
                        </m:r>
                      </m:e>
                      <m:sup>
                        <m:r>
                          <a:rPr lang="es-ES" altLang="en-US" sz="2000" i="1">
                            <a:solidFill>
                              <a:schemeClr val="tx1"/>
                            </a:solidFill>
                            <a:latin typeface="Cambria Math" panose="02040503050406030204" pitchFamily="18" charset="0"/>
                            <a:cs typeface="Times New Roman" panose="02020603050405020304" pitchFamily="18" charset="0"/>
                          </a:rPr>
                          <m:t>5</m:t>
                        </m:r>
                      </m:sup>
                    </m:sSup>
                    <m:r>
                      <a:rPr lang="es-ES" altLang="en-US" sz="2000" i="1">
                        <a:solidFill>
                          <a:schemeClr val="tx1"/>
                        </a:solidFill>
                        <a:latin typeface="Cambria Math" panose="02040503050406030204" pitchFamily="18" charset="0"/>
                        <a:cs typeface="Times New Roman" panose="02020603050405020304" pitchFamily="18" charset="0"/>
                      </a:rPr>
                      <m:t>−</m:t>
                    </m:r>
                    <m:r>
                      <a:rPr lang="es-ES" alt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38</m:t>
                    </m:r>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𝑔</m:t>
                        </m:r>
                      </m:e>
                      <m:sup>
                        <m:r>
                          <a:rPr lang="es-ES" altLang="en-US" sz="2000" i="1">
                            <a:solidFill>
                              <a:schemeClr val="tx1"/>
                            </a:solidFill>
                            <a:latin typeface="Cambria Math" panose="02040503050406030204" pitchFamily="18" charset="0"/>
                            <a:cs typeface="Times New Roman" panose="02020603050405020304" pitchFamily="18" charset="0"/>
                          </a:rPr>
                          <m:t>4</m:t>
                        </m:r>
                      </m:sup>
                    </m:sSup>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h</m:t>
                        </m:r>
                      </m:e>
                      <m:sup>
                        <m:r>
                          <a:rPr lang="es-ES" altLang="en-US" sz="2000" i="1">
                            <a:solidFill>
                              <a:schemeClr val="tx1"/>
                            </a:solidFill>
                            <a:latin typeface="Cambria Math" panose="02040503050406030204" pitchFamily="18" charset="0"/>
                            <a:cs typeface="Times New Roman" panose="02020603050405020304" pitchFamily="18" charset="0"/>
                          </a:rPr>
                          <m:t>6</m:t>
                        </m:r>
                      </m:sup>
                    </m:sSup>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a:p>
                <a:pPr marL="457200" indent="-457200" eaLnBrk="0" fontAlgn="base" hangingPunct="0">
                  <a:spcBef>
                    <a:spcPct val="0"/>
                  </a:spcBef>
                  <a:spcAft>
                    <a:spcPct val="0"/>
                  </a:spcAft>
                  <a:buClrTx/>
                  <a:buFont typeface="+mj-lt"/>
                  <a:buAutoNum type="arabicPeriod" startAt="3"/>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3"/>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A polynomial in </a:t>
                </a:r>
                <a:r>
                  <a:rPr lang="en-US" sz="2000" b="1" i="1" dirty="0">
                    <a:latin typeface="Verdana" panose="020B0604030504040204" pitchFamily="34" charset="0"/>
                    <a:ea typeface="Verdana" panose="020B0604030504040204" pitchFamily="34" charset="0"/>
                    <a:cs typeface="Verdana" panose="020B0604030504040204" pitchFamily="34" charset="0"/>
                  </a:rPr>
                  <a:t>standard form</a:t>
                </a:r>
                <a:r>
                  <a:rPr lang="en-US" sz="2000" dirty="0">
                    <a:latin typeface="Verdana" panose="020B0604030504040204" pitchFamily="34" charset="0"/>
                    <a:ea typeface="Verdana" panose="020B0604030504040204" pitchFamily="34" charset="0"/>
                    <a:cs typeface="Verdana" panose="020B0604030504040204" pitchFamily="34" charset="0"/>
                  </a:rPr>
                  <a:t> is one where the term with the highest degree is written first and the other terms are in descending order by degree. The variables in each term should be written in alphabetical order.</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Rewrite polynomial </a:t>
                </a:r>
                <a14:m>
                  <m:oMath xmlns:m="http://schemas.openxmlformats.org/officeDocument/2006/math">
                    <m:r>
                      <a:rPr lang="es-ES" alt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62</m:t>
                    </m:r>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𝑝𝑘</m:t>
                        </m:r>
                      </m:e>
                      <m:sup>
                        <m:r>
                          <a:rPr lang="es-ES" altLang="en-US" sz="2000" i="1">
                            <a:solidFill>
                              <a:schemeClr val="tx1"/>
                            </a:solidFill>
                            <a:latin typeface="Cambria Math" panose="02040503050406030204" pitchFamily="18" charset="0"/>
                            <a:cs typeface="Times New Roman" panose="02020603050405020304" pitchFamily="18" charset="0"/>
                          </a:rPr>
                          <m:t>8</m:t>
                        </m:r>
                      </m:sup>
                    </m:sSup>
                    <m:r>
                      <a:rPr lang="es-ES" altLang="en-US" sz="2000" i="1">
                        <a:solidFill>
                          <a:schemeClr val="tx1"/>
                        </a:solidFill>
                        <a:latin typeface="Cambria Math" panose="02040503050406030204" pitchFamily="18" charset="0"/>
                        <a:cs typeface="Times New Roman" panose="02020603050405020304" pitchFamily="18" charset="0"/>
                      </a:rPr>
                      <m:t>+</m:t>
                    </m:r>
                    <m:r>
                      <a:rPr lang="es-ES" alt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7</m:t>
                    </m:r>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𝑎</m:t>
                        </m:r>
                      </m:e>
                      <m:sup>
                        <m:r>
                          <a:rPr lang="es-ES" altLang="en-US" sz="2000" i="1">
                            <a:solidFill>
                              <a:schemeClr val="tx1"/>
                            </a:solidFill>
                            <a:latin typeface="Cambria Math" panose="02040503050406030204" pitchFamily="18" charset="0"/>
                            <a:cs typeface="Times New Roman" panose="02020603050405020304" pitchFamily="18" charset="0"/>
                          </a:rPr>
                          <m:t>2</m:t>
                        </m:r>
                      </m:sup>
                    </m:sSup>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𝑏</m:t>
                        </m:r>
                      </m:e>
                      <m:sup>
                        <m:r>
                          <a:rPr lang="es-ES" altLang="en-US" sz="2000" i="1">
                            <a:solidFill>
                              <a:schemeClr val="tx1"/>
                            </a:solidFill>
                            <a:latin typeface="Cambria Math" panose="02040503050406030204" pitchFamily="18" charset="0"/>
                            <a:cs typeface="Times New Roman" panose="02020603050405020304" pitchFamily="18" charset="0"/>
                          </a:rPr>
                          <m:t>5</m:t>
                        </m:r>
                      </m:sup>
                    </m:sSup>
                    <m:r>
                      <a:rPr lang="es-ES" altLang="en-US" sz="2000" i="1">
                        <a:solidFill>
                          <a:schemeClr val="tx1"/>
                        </a:solidFill>
                        <a:latin typeface="Cambria Math" panose="02040503050406030204" pitchFamily="18" charset="0"/>
                        <a:cs typeface="Times New Roman" panose="02020603050405020304" pitchFamily="18" charset="0"/>
                      </a:rPr>
                      <m:t>−</m:t>
                    </m:r>
                    <m:r>
                      <a:rPr lang="es-ES" alt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38</m:t>
                    </m:r>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𝑔</m:t>
                        </m:r>
                      </m:e>
                      <m:sup>
                        <m:r>
                          <a:rPr lang="es-ES" altLang="en-US" sz="2000" i="1">
                            <a:solidFill>
                              <a:schemeClr val="tx1"/>
                            </a:solidFill>
                            <a:latin typeface="Cambria Math" panose="02040503050406030204" pitchFamily="18" charset="0"/>
                            <a:cs typeface="Times New Roman" panose="02020603050405020304" pitchFamily="18" charset="0"/>
                          </a:rPr>
                          <m:t>4</m:t>
                        </m:r>
                      </m:sup>
                    </m:sSup>
                    <m:sSup>
                      <m:sSupPr>
                        <m:ctrlPr>
                          <a:rPr lang="es-ES" altLang="en-US" sz="2000" i="1">
                            <a:solidFill>
                              <a:schemeClr val="tx1"/>
                            </a:solidFill>
                            <a:latin typeface="Cambria Math" panose="02040503050406030204" pitchFamily="18" charset="0"/>
                            <a:cs typeface="Times New Roman" panose="02020603050405020304" pitchFamily="18" charset="0"/>
                          </a:rPr>
                        </m:ctrlPr>
                      </m:sSupPr>
                      <m:e>
                        <m:r>
                          <a:rPr lang="es-ES" altLang="en-US" sz="2000" i="1">
                            <a:solidFill>
                              <a:schemeClr val="tx1"/>
                            </a:solidFill>
                            <a:latin typeface="Cambria Math" panose="02040503050406030204" pitchFamily="18" charset="0"/>
                            <a:cs typeface="Times New Roman" panose="02020603050405020304" pitchFamily="18" charset="0"/>
                          </a:rPr>
                          <m:t>h</m:t>
                        </m:r>
                      </m:e>
                      <m:sup>
                        <m:r>
                          <a:rPr lang="es-ES" altLang="en-US" sz="2000" i="1">
                            <a:solidFill>
                              <a:schemeClr val="tx1"/>
                            </a:solidFill>
                            <a:latin typeface="Cambria Math" panose="02040503050406030204" pitchFamily="18" charset="0"/>
                            <a:cs typeface="Times New Roman" panose="02020603050405020304" pitchFamily="18" charset="0"/>
                          </a:rPr>
                          <m:t>6</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in standard form.</a:t>
                </a:r>
              </a:p>
            </p:txBody>
          </p:sp>
        </mc:Choice>
        <mc:Fallback xmlns="">
          <p:sp>
            <p:nvSpPr>
              <p:cNvPr id="9" name="TextBox 8">
                <a:extLst>
                  <a:ext uri="{FF2B5EF4-FFF2-40B4-BE49-F238E27FC236}">
                    <a16:creationId xmlns:a16="http://schemas.microsoft.com/office/drawing/2014/main" xmlns:a14="http://schemas.microsoft.com/office/drawing/2010/main" xmlns="" id="{4B71B7AA-10E7-9B44-A591-563821260A41}"/>
                  </a:ext>
                </a:extLst>
              </p:cNvPr>
              <p:cNvSpPr txBox="1">
                <a:spLocks noRot="1" noChangeAspect="1" noMove="1" noResize="1" noEditPoints="1" noAdjustHandles="1" noChangeArrowheads="1" noChangeShapeType="1" noTextEdit="1"/>
              </p:cNvSpPr>
              <p:nvPr/>
            </p:nvSpPr>
            <p:spPr>
              <a:xfrm>
                <a:off x="541867" y="340460"/>
                <a:ext cx="10800000" cy="5331588"/>
              </a:xfrm>
              <a:prstGeom prst="rect">
                <a:avLst/>
              </a:prstGeom>
              <a:blipFill rotWithShape="1">
                <a:blip r:embed="rId3"/>
                <a:stretch>
                  <a:fillRect l="-621" r="-169"/>
                </a:stretch>
              </a:blipFill>
            </p:spPr>
            <p:txBody>
              <a:bodyPr/>
              <a:lstStyle/>
              <a:p>
                <a:r>
                  <a:rPr lang="en-PH">
                    <a:noFill/>
                  </a:rPr>
                  <a:t> </a:t>
                </a:r>
              </a:p>
            </p:txBody>
          </p:sp>
        </mc:Fallback>
      </mc:AlternateContent>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p:grpSp>
        <p:nvGrpSpPr>
          <p:cNvPr id="19" name="Group 18">
            <a:extLst>
              <a:ext uri="{FF2B5EF4-FFF2-40B4-BE49-F238E27FC236}">
                <a16:creationId xmlns:a16="http://schemas.microsoft.com/office/drawing/2014/main" id="{095042F3-1D4D-2D47-92DF-B9544EAA9E55}"/>
              </a:ext>
            </a:extLst>
          </p:cNvPr>
          <p:cNvGrpSpPr/>
          <p:nvPr/>
        </p:nvGrpSpPr>
        <p:grpSpPr>
          <a:xfrm>
            <a:off x="2060448" y="374329"/>
            <a:ext cx="8195176" cy="1796787"/>
            <a:chOff x="-740793" y="-418208"/>
            <a:chExt cx="8421870" cy="1796787"/>
          </a:xfrm>
        </p:grpSpPr>
        <p:sp>
          <p:nvSpPr>
            <p:cNvPr id="20" name="Rounded Rectangle 19">
              <a:extLst>
                <a:ext uri="{FF2B5EF4-FFF2-40B4-BE49-F238E27FC236}">
                  <a16:creationId xmlns:a16="http://schemas.microsoft.com/office/drawing/2014/main" id="{095BFDB5-24E6-094C-8470-225B220049FA}"/>
                </a:ext>
              </a:extLst>
            </p:cNvPr>
            <p:cNvSpPr/>
            <p:nvPr/>
          </p:nvSpPr>
          <p:spPr>
            <a:xfrm>
              <a:off x="-740793" y="-418208"/>
              <a:ext cx="8421870" cy="1796787"/>
            </a:xfrm>
            <a:prstGeom prst="roundRect">
              <a:avLst>
                <a:gd name="adj" fmla="val 16667"/>
              </a:avLst>
            </a:prstGeom>
            <a:solidFill>
              <a:srgbClr val="AEDBF1"/>
            </a:solidFill>
            <a:ln>
              <a:noFill/>
            </a:ln>
            <a:effectLst>
              <a:outerShdw blurRad="50800" dist="38100" dir="2700000" algn="tl" rotWithShape="0">
                <a:prstClr val="black">
                  <a:alpha val="40000"/>
                </a:prstClr>
              </a:outerShdw>
            </a:effectLst>
          </p:spPr>
          <p:txBody>
            <a:bodyPr spcFirstLastPara="1" wrap="square" lIns="91425" tIns="91425" rIns="91425" bIns="0" anchor="ctr" anchorCtr="0">
              <a:spAutoFit/>
            </a:bodyPr>
            <a:lstStyle/>
            <a:p>
              <a:pPr marL="685800">
                <a:lnSpc>
                  <a:spcPct val="114000"/>
                </a:lnSpc>
                <a:spcAft>
                  <a:spcPts val="1000"/>
                </a:spcAft>
              </a:pPr>
              <a:r>
                <a:rPr lang="en-US" sz="2000" dirty="0">
                  <a:solidFill>
                    <a:srgbClr val="0076BF"/>
                  </a:solidFill>
                  <a:latin typeface="Verdana" panose="020B0604030504040204" pitchFamily="34" charset="0"/>
                  <a:ea typeface="Verdana" panose="020B0604030504040204" pitchFamily="34" charset="0"/>
                  <a:cs typeface="Verdana" panose="020B0604030504040204" pitchFamily="34" charset="0"/>
                </a:rPr>
                <a:t>The </a:t>
              </a:r>
              <a:r>
                <a:rPr lang="en-US" sz="2000" b="1" dirty="0">
                  <a:solidFill>
                    <a:srgbClr val="0076BF"/>
                  </a:solidFill>
                  <a:latin typeface="Verdana" panose="020B0604030504040204" pitchFamily="34" charset="0"/>
                  <a:ea typeface="Verdana" panose="020B0604030504040204" pitchFamily="34" charset="0"/>
                  <a:cs typeface="Verdana" panose="020B0604030504040204" pitchFamily="34" charset="0"/>
                </a:rPr>
                <a:t>leading coefficient</a:t>
              </a:r>
              <a:r>
                <a:rPr lang="en-US" sz="2000" dirty="0">
                  <a:solidFill>
                    <a:srgbClr val="0076BF"/>
                  </a:solidFill>
                  <a:latin typeface="Verdana" panose="020B0604030504040204" pitchFamily="34" charset="0"/>
                  <a:ea typeface="Verdana" panose="020B0604030504040204" pitchFamily="34" charset="0"/>
                  <a:cs typeface="Verdana" panose="020B0604030504040204" pitchFamily="34" charset="0"/>
                </a:rPr>
                <a:t> is the coefficient of the first term of a polynomial whose terms are written in descending order from largest degree to smallest degree.</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21" name="Shape 6" descr="Icon&#10;&#10;Description automatically generated">
              <a:extLst>
                <a:ext uri="{FF2B5EF4-FFF2-40B4-BE49-F238E27FC236}">
                  <a16:creationId xmlns:a16="http://schemas.microsoft.com/office/drawing/2014/main" id="{CCA1220D-B207-E743-8BF4-7B3EC0590375}"/>
                </a:ext>
              </a:extLst>
            </p:cNvPr>
            <p:cNvPicPr/>
            <p:nvPr/>
          </p:nvPicPr>
          <p:blipFill>
            <a:blip r:embed="rId5">
              <a:alphaModFix/>
            </a:blip>
            <a:stretch>
              <a:fillRect/>
            </a:stretch>
          </p:blipFill>
          <p:spPr>
            <a:xfrm>
              <a:off x="-553295" y="-163515"/>
              <a:ext cx="563816" cy="54864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814089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4800" b="1" dirty="0">
                <a:solidFill>
                  <a:srgbClr val="33BEA6"/>
                </a:solidFill>
                <a:latin typeface="Verdana"/>
                <a:ea typeface="Verdana"/>
                <a:cs typeface="Verdana"/>
                <a:sym typeface="Verdana"/>
              </a:rPr>
              <a:t>Collaboration</a:t>
            </a:r>
            <a:endParaRPr sz="44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p:pic>
        <p:nvPicPr>
          <p:cNvPr id="8" name="image16.png">
            <a:extLst>
              <a:ext uri="{FF2B5EF4-FFF2-40B4-BE49-F238E27FC236}">
                <a16:creationId xmlns:a16="http://schemas.microsoft.com/office/drawing/2014/main" id="{0BF1589F-B0D8-DC4B-B907-B56241BEE796}"/>
              </a:ext>
            </a:extLst>
          </p:cNvPr>
          <p:cNvPicPr/>
          <p:nvPr/>
        </p:nvPicPr>
        <p:blipFill>
          <a:blip r:embed="rId4"/>
          <a:srcRect/>
          <a:stretch>
            <a:fillRect/>
          </a:stretch>
        </p:blipFill>
        <p:spPr>
          <a:xfrm>
            <a:off x="3054096" y="2852923"/>
            <a:ext cx="1152145" cy="115214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20668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63041" y="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2.4.4 Collaboration: Polynomials and Standard Form</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p:pic>
        <p:nvPicPr>
          <p:cNvPr id="9" name="image16.png">
            <a:extLst>
              <a:ext uri="{FF2B5EF4-FFF2-40B4-BE49-F238E27FC236}">
                <a16:creationId xmlns:a16="http://schemas.microsoft.com/office/drawing/2014/main" id="{6C8BC308-12C2-8C43-AF99-3B79F455A948}"/>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47920" y="287630"/>
            <a:ext cx="749810" cy="749810"/>
          </a:xfrm>
          <a:prstGeom prst="rect">
            <a:avLst/>
          </a:prstGeom>
          <a:ln/>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B46B19A2-BBA2-0441-AC88-F1F62E75949B}"/>
              </a:ext>
            </a:extLst>
          </p:cNvPr>
          <p:cNvSpPr txBox="1"/>
          <p:nvPr/>
        </p:nvSpPr>
        <p:spPr>
          <a:xfrm>
            <a:off x="550333" y="1468459"/>
            <a:ext cx="10800000" cy="378565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Three polynomials are given in the table.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Determine whether each polynomial is written in standard form. If it is not, rewrite it in standard form.</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Then, in the second column, identify the features of each polynomial.</a:t>
            </a:r>
          </a:p>
        </p:txBody>
      </p:sp>
    </p:spTree>
    <p:extLst>
      <p:ext uri="{BB962C8B-B14F-4D97-AF65-F5344CB8AC3E}">
        <p14:creationId xmlns:p14="http://schemas.microsoft.com/office/powerpoint/2010/main" val="681108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E0814DF0-CB0F-CE4A-A504-DEE56AFFF9B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07D63F5-E489-2148-A43F-C10FA969228B}"/>
                  </a:ext>
                </a:extLst>
              </p:cNvPr>
              <p:cNvGraphicFramePr>
                <a:graphicFrameLocks noGrp="1"/>
              </p:cNvGraphicFramePr>
              <p:nvPr>
                <p:extLst>
                  <p:ext uri="{D42A27DB-BD31-4B8C-83A1-F6EECF244321}">
                    <p14:modId xmlns:p14="http://schemas.microsoft.com/office/powerpoint/2010/main" val="1066450360"/>
                  </p:ext>
                </p:extLst>
              </p:nvPr>
            </p:nvGraphicFramePr>
            <p:xfrm>
              <a:off x="2294112" y="373195"/>
              <a:ext cx="7920000" cy="5850066"/>
            </p:xfrm>
            <a:graphic>
              <a:graphicData uri="http://schemas.openxmlformats.org/drawingml/2006/table">
                <a:tbl>
                  <a:tblPr firstRow="1" firstCol="1" bandRow="1"/>
                  <a:tblGrid>
                    <a:gridCol w="3240000">
                      <a:extLst>
                        <a:ext uri="{9D8B030D-6E8A-4147-A177-3AD203B41FA5}">
                          <a16:colId xmlns:a16="http://schemas.microsoft.com/office/drawing/2014/main" val="3960586062"/>
                        </a:ext>
                      </a:extLst>
                    </a:gridCol>
                    <a:gridCol w="4680000">
                      <a:extLst>
                        <a:ext uri="{9D8B030D-6E8A-4147-A177-3AD203B41FA5}">
                          <a16:colId xmlns:a16="http://schemas.microsoft.com/office/drawing/2014/main" val="384694872"/>
                        </a:ext>
                      </a:extLst>
                    </a:gridCol>
                  </a:tblGrid>
                  <a:tr h="1450446">
                    <a:tc>
                      <a:txBody>
                        <a:bodyPr/>
                        <a:lstStyle/>
                        <a:p>
                          <a:pPr marL="0" marR="0" algn="ctr">
                            <a:spcBef>
                              <a:spcPts val="100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+21</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50000"/>
                            </a:lnSpc>
                            <a:spcBef>
                              <a:spcPts val="60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Number of terms 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the polynomial 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term ________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 ________</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9397783"/>
                      </a:ext>
                    </a:extLst>
                  </a:tr>
                  <a:tr h="1450446">
                    <a:tc>
                      <a:txBody>
                        <a:bodyPr/>
                        <a:lstStyle/>
                        <a:p>
                          <a:pPr marL="0" marR="0" algn="ctr">
                            <a:spcBef>
                              <a:spcPts val="100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sup>
                                </m:sSup>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50000"/>
                            </a:lnSpc>
                            <a:spcBef>
                              <a:spcPts val="60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Number of terms 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Degree of the polynomial 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Leading term ________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Leading coefficient ________</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283976"/>
                      </a:ext>
                    </a:extLst>
                  </a:tr>
                  <a:tr h="1450446">
                    <a:tc>
                      <a:txBody>
                        <a:bodyPr/>
                        <a:lstStyle/>
                        <a:p>
                          <a:pPr marL="0" marR="0" algn="ctr">
                            <a:spcBef>
                              <a:spcPts val="100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5</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13</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den>
                                </m:f>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50000"/>
                            </a:lnSpc>
                            <a:spcBef>
                              <a:spcPts val="60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Number of terms ______</a:t>
                          </a:r>
                          <a:endParaRPr lang="x-none" sz="2000" dirty="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the polynomial ______</a:t>
                          </a:r>
                          <a:endParaRPr lang="x-none" sz="2000" dirty="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term ________</a:t>
                          </a:r>
                          <a:endParaRPr lang="x-none" sz="2000" dirty="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 ________</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1217111"/>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A07D63F5-E489-2148-A43F-C10FA969228B}"/>
                  </a:ext>
                </a:extLst>
              </p:cNvPr>
              <p:cNvGraphicFramePr>
                <a:graphicFrameLocks noGrp="1"/>
              </p:cNvGraphicFramePr>
              <p:nvPr>
                <p:extLst>
                  <p:ext uri="{D42A27DB-BD31-4B8C-83A1-F6EECF244321}">
                    <p14:modId xmlns:p14="http://schemas.microsoft.com/office/powerpoint/2010/main" val="1066450360"/>
                  </p:ext>
                </p:extLst>
              </p:nvPr>
            </p:nvGraphicFramePr>
            <p:xfrm>
              <a:off x="2294112" y="373195"/>
              <a:ext cx="7920000" cy="6035040"/>
            </p:xfrm>
            <a:graphic>
              <a:graphicData uri="http://schemas.openxmlformats.org/drawingml/2006/table">
                <a:tbl>
                  <a:tblPr firstRow="1" firstCol="1" bandRow="1"/>
                  <a:tblGrid>
                    <a:gridCol w="3240000">
                      <a:extLst>
                        <a:ext uri="{9D8B030D-6E8A-4147-A177-3AD203B41FA5}">
                          <a16:colId xmlns:a16="http://schemas.microsoft.com/office/drawing/2014/main" xmlns:a14="http://schemas.microsoft.com/office/drawing/2010/main" xmlns="" val="3960586062"/>
                        </a:ext>
                      </a:extLst>
                    </a:gridCol>
                    <a:gridCol w="4680000">
                      <a:extLst>
                        <a:ext uri="{9D8B030D-6E8A-4147-A177-3AD203B41FA5}">
                          <a16:colId xmlns:a16="http://schemas.microsoft.com/office/drawing/2014/main" xmlns:a14="http://schemas.microsoft.com/office/drawing/2010/main" xmlns="" val="384694872"/>
                        </a:ext>
                      </a:extLst>
                    </a:gridCol>
                  </a:tblGrid>
                  <a:tr h="2011680">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r="-144361" b="-200303"/>
                          </a:stretch>
                        </a:blipFill>
                      </a:tcPr>
                    </a:tc>
                    <a:tc>
                      <a:txBody>
                        <a:bodyPr/>
                        <a:lstStyle/>
                        <a:p>
                          <a:pPr marL="0" marR="0">
                            <a:lnSpc>
                              <a:spcPct val="150000"/>
                            </a:lnSpc>
                            <a:spcBef>
                              <a:spcPts val="60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Number of terms 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the polynomial 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term ________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 ________</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499397783"/>
                      </a:ext>
                    </a:extLst>
                  </a:tr>
                  <a:tr h="2011680">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00000" r="-144361" b="-100303"/>
                          </a:stretch>
                        </a:blipFill>
                      </a:tcPr>
                    </a:tc>
                    <a:tc>
                      <a:txBody>
                        <a:bodyPr/>
                        <a:lstStyle/>
                        <a:p>
                          <a:pPr marL="0" marR="0">
                            <a:lnSpc>
                              <a:spcPct val="150000"/>
                            </a:lnSpc>
                            <a:spcBef>
                              <a:spcPts val="60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Number of terms 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Degree of the polynomial 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Leading term ________</a:t>
                          </a:r>
                          <a:endParaRPr lang="x-none" sz="200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Leading coefficient ________</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153283976"/>
                      </a:ext>
                    </a:extLst>
                  </a:tr>
                  <a:tr h="2011680">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00000" r="-144361" b="-303"/>
                          </a:stretch>
                        </a:blipFill>
                      </a:tcPr>
                    </a:tc>
                    <a:tc>
                      <a:txBody>
                        <a:bodyPr/>
                        <a:lstStyle/>
                        <a:p>
                          <a:pPr marL="0" marR="0">
                            <a:lnSpc>
                              <a:spcPct val="150000"/>
                            </a:lnSpc>
                            <a:spcBef>
                              <a:spcPts val="60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Number of terms ______</a:t>
                          </a:r>
                          <a:endParaRPr lang="x-none" sz="2000" dirty="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the polynomial ______</a:t>
                          </a:r>
                          <a:endParaRPr lang="x-none" sz="2000" dirty="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term ________</a:t>
                          </a:r>
                          <a:endParaRPr lang="x-none" sz="2000" dirty="0">
                            <a:effectLst/>
                            <a:latin typeface="Verdana" pitchFamily="34" charset="0"/>
                            <a:ea typeface="Verdana" pitchFamily="34" charset="0"/>
                            <a:cs typeface="Times New Roman" panose="02020603050405020304" pitchFamily="18" charset="0"/>
                          </a:endParaRPr>
                        </a:p>
                        <a:p>
                          <a:pPr marL="0" marR="0">
                            <a:lnSpc>
                              <a:spcPct val="150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 ________</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531217111"/>
                      </a:ext>
                    </a:extLst>
                  </a:tr>
                </a:tbl>
              </a:graphicData>
            </a:graphic>
          </p:graphicFrame>
        </mc:Fallback>
      </mc:AlternateContent>
    </p:spTree>
    <p:extLst>
      <p:ext uri="{BB962C8B-B14F-4D97-AF65-F5344CB8AC3E}">
        <p14:creationId xmlns:p14="http://schemas.microsoft.com/office/powerpoint/2010/main" val="2513032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E0814DF0-CB0F-CE4A-A504-DEE56AFFF9B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B71B7AA-10E7-9B44-A591-563821260A41}"/>
              </a:ext>
            </a:extLst>
          </p:cNvPr>
          <p:cNvSpPr txBox="1"/>
          <p:nvPr/>
        </p:nvSpPr>
        <p:spPr>
          <a:xfrm>
            <a:off x="541869" y="381189"/>
            <a:ext cx="10515600" cy="1015663"/>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With your partner, match the polynomial in the left column by drawing an arrow to its descriptive feature in the right column.</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EA77A78-FAD5-584A-BAD1-0FDFE6E7C7E8}"/>
                  </a:ext>
                </a:extLst>
              </p:cNvPr>
              <p:cNvGraphicFramePr>
                <a:graphicFrameLocks noGrp="1"/>
              </p:cNvGraphicFramePr>
              <p:nvPr>
                <p:extLst>
                  <p:ext uri="{D42A27DB-BD31-4B8C-83A1-F6EECF244321}">
                    <p14:modId xmlns:p14="http://schemas.microsoft.com/office/powerpoint/2010/main" val="4148028562"/>
                  </p:ext>
                </p:extLst>
              </p:nvPr>
            </p:nvGraphicFramePr>
            <p:xfrm>
              <a:off x="2050629" y="1259053"/>
              <a:ext cx="7498080" cy="3417253"/>
            </p:xfrm>
            <a:graphic>
              <a:graphicData uri="http://schemas.openxmlformats.org/drawingml/2006/table">
                <a:tbl>
                  <a:tblPr firstRow="1" firstCol="1" bandRow="1"/>
                  <a:tblGrid>
                    <a:gridCol w="2743200">
                      <a:extLst>
                        <a:ext uri="{9D8B030D-6E8A-4147-A177-3AD203B41FA5}">
                          <a16:colId xmlns:a16="http://schemas.microsoft.com/office/drawing/2014/main" val="4136154317"/>
                        </a:ext>
                      </a:extLst>
                    </a:gridCol>
                    <a:gridCol w="914400">
                      <a:extLst>
                        <a:ext uri="{9D8B030D-6E8A-4147-A177-3AD203B41FA5}">
                          <a16:colId xmlns:a16="http://schemas.microsoft.com/office/drawing/2014/main" val="487972523"/>
                        </a:ext>
                      </a:extLst>
                    </a:gridCol>
                    <a:gridCol w="3840480">
                      <a:extLst>
                        <a:ext uri="{9D8B030D-6E8A-4147-A177-3AD203B41FA5}">
                          <a16:colId xmlns:a16="http://schemas.microsoft.com/office/drawing/2014/main" val="4138066576"/>
                        </a:ext>
                      </a:extLst>
                    </a:gridCol>
                  </a:tblGrid>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−5</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+9</m:t>
                                </m:r>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fifth-degree polynomial</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1640250"/>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45</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constant term of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1832029"/>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−9</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9</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seventh-degree polynomial</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3100456"/>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6</m:t>
                                    </m:r>
                                  </m:sup>
                                </m:sSup>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+18</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−9</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 of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7939367"/>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5</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−9</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sup>
                                </m:sSup>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four terms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5027589"/>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−11</m:t>
                                </m:r>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eighth-degree polynomial</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6202043"/>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cs typeface="Times New Roman" panose="02020603050405020304" pitchFamily="18" charset="0"/>
                            </a:rPr>
                            <a:t>equivalent to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9</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−9</m:t>
                              </m:r>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oMath>
                          </a14:m>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3787646"/>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AEA77A78-FAD5-584A-BAD1-0FDFE6E7C7E8}"/>
                  </a:ext>
                </a:extLst>
              </p:cNvPr>
              <p:cNvGraphicFramePr>
                <a:graphicFrameLocks noGrp="1"/>
              </p:cNvGraphicFramePr>
              <p:nvPr>
                <p:extLst>
                  <p:ext uri="{D42A27DB-BD31-4B8C-83A1-F6EECF244321}">
                    <p14:modId xmlns:p14="http://schemas.microsoft.com/office/powerpoint/2010/main" val="4148028562"/>
                  </p:ext>
                </p:extLst>
              </p:nvPr>
            </p:nvGraphicFramePr>
            <p:xfrm>
              <a:off x="2050629" y="1259053"/>
              <a:ext cx="7498080" cy="3417253"/>
            </p:xfrm>
            <a:graphic>
              <a:graphicData uri="http://schemas.openxmlformats.org/drawingml/2006/table">
                <a:tbl>
                  <a:tblPr firstRow="1" firstCol="1" bandRow="1"/>
                  <a:tblGrid>
                    <a:gridCol w="2743200">
                      <a:extLst>
                        <a:ext uri="{9D8B030D-6E8A-4147-A177-3AD203B41FA5}">
                          <a16:colId xmlns:a16="http://schemas.microsoft.com/office/drawing/2014/main" xmlns:a14="http://schemas.microsoft.com/office/drawing/2010/main" xmlns="" val="4136154317"/>
                        </a:ext>
                      </a:extLst>
                    </a:gridCol>
                    <a:gridCol w="914400">
                      <a:extLst>
                        <a:ext uri="{9D8B030D-6E8A-4147-A177-3AD203B41FA5}">
                          <a16:colId xmlns:a16="http://schemas.microsoft.com/office/drawing/2014/main" xmlns:a14="http://schemas.microsoft.com/office/drawing/2010/main" xmlns="" val="487972523"/>
                        </a:ext>
                      </a:extLst>
                    </a:gridCol>
                    <a:gridCol w="3840480">
                      <a:extLst>
                        <a:ext uri="{9D8B030D-6E8A-4147-A177-3AD203B41FA5}">
                          <a16:colId xmlns:a16="http://schemas.microsoft.com/office/drawing/2014/main" xmlns:a14="http://schemas.microsoft.com/office/drawing/2010/main" xmlns="" val="4138066576"/>
                        </a:ext>
                      </a:extLst>
                    </a:gridCol>
                  </a:tblGrid>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250" r="-173556" b="-61375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fifth-degree polynomial</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181640250"/>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01250" r="-173556" b="-51375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5238" t="-101250" r="-159" b="-513750"/>
                          </a:stretch>
                        </a:blipFill>
                      </a:tcPr>
                    </a:tc>
                    <a:extLst>
                      <a:ext uri="{0D108BD9-81ED-4DB2-BD59-A6C34878D82A}">
                        <a16:rowId xmlns:a16="http://schemas.microsoft.com/office/drawing/2014/main" xmlns:a14="http://schemas.microsoft.com/office/drawing/2010/main" xmlns="" val="2941832029"/>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01250" r="-173556" b="-41375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seventh-degree polynomial</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503100456"/>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301250" r="-173556" b="-31375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5238" t="-301250" r="-159" b="-313750"/>
                          </a:stretch>
                        </a:blipFill>
                      </a:tcPr>
                    </a:tc>
                    <a:extLst>
                      <a:ext uri="{0D108BD9-81ED-4DB2-BD59-A6C34878D82A}">
                        <a16:rowId xmlns:a16="http://schemas.microsoft.com/office/drawing/2014/main" xmlns:a14="http://schemas.microsoft.com/office/drawing/2010/main" xmlns="" val="1717939367"/>
                      </a:ext>
                    </a:extLst>
                  </a:tr>
                  <a:tr h="491173">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401250" r="-173556" b="-21375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four terms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615027589"/>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501250" r="-173556" b="-11375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eighth-degree polynomial</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256202043"/>
                      </a:ext>
                    </a:extLst>
                  </a:tr>
                  <a:tr h="4876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601250" r="-173556" b="-1375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5238" t="-601250" r="-159" b="-13750"/>
                          </a:stretch>
                        </a:blipFill>
                      </a:tcPr>
                    </a:tc>
                    <a:extLst>
                      <a:ext uri="{0D108BD9-81ED-4DB2-BD59-A6C34878D82A}">
                        <a16:rowId xmlns:a16="http://schemas.microsoft.com/office/drawing/2014/main" xmlns:a14="http://schemas.microsoft.com/office/drawing/2010/main" xmlns="" val="1763787646"/>
                      </a:ext>
                    </a:extLst>
                  </a:tr>
                </a:tbl>
              </a:graphicData>
            </a:graphic>
          </p:graphicFrame>
        </mc:Fallback>
      </mc:AlternateContent>
    </p:spTree>
    <p:extLst>
      <p:ext uri="{BB962C8B-B14F-4D97-AF65-F5344CB8AC3E}">
        <p14:creationId xmlns:p14="http://schemas.microsoft.com/office/powerpoint/2010/main" val="1346252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68237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pic>
        <p:nvPicPr>
          <p:cNvPr id="7" name="image14.png" descr="Icon&#10;&#10;Description automatically generated">
            <a:extLst>
              <a:ext uri="{FF2B5EF4-FFF2-40B4-BE49-F238E27FC236}">
                <a16:creationId xmlns:a16="http://schemas.microsoft.com/office/drawing/2014/main" id="{E8B4A759-3A32-014A-A7B6-5FFAB55F0634}"/>
              </a:ext>
            </a:extLst>
          </p:cNvPr>
          <p:cNvPicPr/>
          <p:nvPr/>
        </p:nvPicPr>
        <p:blipFill>
          <a:blip r:embed="rId4"/>
          <a:srcRect/>
          <a:stretch>
            <a:fillRect/>
          </a:stretch>
        </p:blipFill>
        <p:spPr>
          <a:xfrm>
            <a:off x="3054096" y="2811819"/>
            <a:ext cx="1158151" cy="1158151"/>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84323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63041" y="-1441"/>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2.4.5 Refresher: Distributing a Monomial to a Polynomial</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541865" y="1468430"/>
            <a:ext cx="1127064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a:t>
            </a:r>
            <a:r>
              <a:rPr lang="en-US" altLang="en-US" sz="2000" b="1"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distributive property of multiplication over addition</a:t>
            </a: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applies to polynomials. Recall that the distributive property “distributes” a factor to all terms within a set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of parentheses.</a:t>
            </a: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An example of distributing a monomial to a polynomial is shown.</a:t>
            </a:r>
          </a:p>
        </p:txBody>
      </p:sp>
      <p:pic>
        <p:nvPicPr>
          <p:cNvPr id="8" name="image14.png" descr="Icon&#10;&#10;Description automatically generated">
            <a:extLst>
              <a:ext uri="{FF2B5EF4-FFF2-40B4-BE49-F238E27FC236}">
                <a16:creationId xmlns:a16="http://schemas.microsoft.com/office/drawing/2014/main" id="{B6E1FB18-AAF5-B841-A2D5-292F4564D4D5}"/>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50297" y="287630"/>
            <a:ext cx="747433" cy="747433"/>
          </a:xfrm>
          <a:prstGeom prst="rect">
            <a:avLst/>
          </a:prstGeom>
          <a:ln/>
          <a:effectLst>
            <a:outerShdw blurRad="50800" dist="38100" dir="2700000" algn="tl" rotWithShape="0">
              <a:prstClr val="black">
                <a:alpha val="40000"/>
              </a:prstClr>
            </a:outerShdw>
          </a:effectLst>
        </p:spPr>
      </p:pic>
      <p:pic>
        <p:nvPicPr>
          <p:cNvPr id="3" name="Picture 2" descr="Logo, company name&#10;&#10;Description automatically generated">
            <a:extLst>
              <a:ext uri="{FF2B5EF4-FFF2-40B4-BE49-F238E27FC236}">
                <a16:creationId xmlns:a16="http://schemas.microsoft.com/office/drawing/2014/main" id="{50DE8636-2878-C54A-B3E1-FD3CA6A487D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08899" y="3242062"/>
            <a:ext cx="3536576" cy="2565847"/>
          </a:xfrm>
          <a:prstGeom prst="rect">
            <a:avLst/>
          </a:prstGeom>
        </p:spPr>
      </p:pic>
    </p:spTree>
    <p:extLst>
      <p:ext uri="{BB962C8B-B14F-4D97-AF65-F5344CB8AC3E}">
        <p14:creationId xmlns:p14="http://schemas.microsoft.com/office/powerpoint/2010/main" val="3887674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5C5D1B9F-A752-AD42-8D60-9B883A2514E7}"/>
              </a:ext>
            </a:extLst>
          </p:cNvPr>
          <p:cNvSpPr>
            <a:spLocks noChangeArrowheads="1"/>
          </p:cNvSpPr>
          <p:nvPr/>
        </p:nvSpPr>
        <p:spPr bwMode="auto">
          <a:xfrm>
            <a:off x="541867" y="376991"/>
            <a:ext cx="105156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914400"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Discuss with your partner what operation the arrows are demonstrating in the example.</a:t>
            </a:r>
          </a:p>
          <a:p>
            <a:pPr marL="9144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In the resulting product, why are the first two terms negative while the third term is positive?</a:t>
            </a:r>
          </a:p>
        </p:txBody>
      </p:sp>
    </p:spTree>
    <p:extLst>
      <p:ext uri="{BB962C8B-B14F-4D97-AF65-F5344CB8AC3E}">
        <p14:creationId xmlns:p14="http://schemas.microsoft.com/office/powerpoint/2010/main" val="3238106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682370"/>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a:t>
            </a:r>
            <a:br>
              <a:rPr lang="en-US" sz="5500" b="1" dirty="0">
                <a:solidFill>
                  <a:srgbClr val="54B5D1"/>
                </a:solidFill>
                <a:latin typeface="Verdana"/>
                <a:ea typeface="Verdana"/>
                <a:cs typeface="Verdana"/>
                <a:sym typeface="Verdana"/>
              </a:rPr>
            </a:br>
            <a:r>
              <a:rPr lang="en-US" sz="5500" b="1" dirty="0">
                <a:solidFill>
                  <a:srgbClr val="54B5D1"/>
                </a:solidFill>
                <a:latin typeface="Verdana"/>
                <a:ea typeface="Verdana"/>
                <a:cs typeface="Verdana"/>
                <a:sym typeface="Verdana"/>
              </a:rPr>
              <a:t>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p:pic>
        <p:nvPicPr>
          <p:cNvPr id="9" name="image3.png" descr="Icon&#10;&#10;Description automatically generated">
            <a:extLst>
              <a:ext uri="{FF2B5EF4-FFF2-40B4-BE49-F238E27FC236}">
                <a16:creationId xmlns:a16="http://schemas.microsoft.com/office/drawing/2014/main" id="{0D19F6B6-A388-1443-A380-52938AB2312D}"/>
              </a:ext>
            </a:extLst>
          </p:cNvPr>
          <p:cNvPicPr/>
          <p:nvPr/>
        </p:nvPicPr>
        <p:blipFill>
          <a:blip r:embed="rId4"/>
          <a:srcRect/>
          <a:stretch>
            <a:fillRect/>
          </a:stretch>
        </p:blipFill>
        <p:spPr>
          <a:xfrm>
            <a:off x="3054096" y="2682370"/>
            <a:ext cx="1158151" cy="1158151"/>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768558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63041" y="199802"/>
            <a:ext cx="10515600" cy="9228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2.4.6 Guided Practice: Distributing a Monomial to a Polynomial</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541867" y="1462594"/>
            <a:ext cx="10515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Find each product by distributing the monomial to the polynomial.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Then, complete the table for the resulting product.</a:t>
            </a:r>
          </a:p>
        </p:txBody>
      </p:sp>
      <p:pic>
        <p:nvPicPr>
          <p:cNvPr id="10" name="image3.png" descr="Icon&#10;&#10;Description automatically generated">
            <a:extLst>
              <a:ext uri="{FF2B5EF4-FFF2-40B4-BE49-F238E27FC236}">
                <a16:creationId xmlns:a16="http://schemas.microsoft.com/office/drawing/2014/main" id="{7A2D9D50-9448-8245-B927-6E7175407A6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50298" y="287498"/>
            <a:ext cx="747432" cy="747432"/>
          </a:xfrm>
          <a:prstGeom prst="rect">
            <a:avLst/>
          </a:prstGeom>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900388B-17C1-2140-8521-EA2692721C1A}"/>
                  </a:ext>
                </a:extLst>
              </p:cNvPr>
              <p:cNvGraphicFramePr>
                <a:graphicFrameLocks noGrp="1"/>
              </p:cNvGraphicFramePr>
              <p:nvPr>
                <p:extLst>
                  <p:ext uri="{D42A27DB-BD31-4B8C-83A1-F6EECF244321}">
                    <p14:modId xmlns:p14="http://schemas.microsoft.com/office/powerpoint/2010/main" val="1073623316"/>
                  </p:ext>
                </p:extLst>
              </p:nvPr>
            </p:nvGraphicFramePr>
            <p:xfrm>
              <a:off x="1115218" y="2282036"/>
              <a:ext cx="7116764" cy="3940683"/>
            </p:xfrm>
            <a:graphic>
              <a:graphicData uri="http://schemas.openxmlformats.org/drawingml/2006/table">
                <a:tbl>
                  <a:tblPr firstRow="1" firstCol="1" bandRow="1"/>
                  <a:tblGrid>
                    <a:gridCol w="3558382">
                      <a:extLst>
                        <a:ext uri="{9D8B030D-6E8A-4147-A177-3AD203B41FA5}">
                          <a16:colId xmlns:a16="http://schemas.microsoft.com/office/drawing/2014/main" val="898256911"/>
                        </a:ext>
                      </a:extLst>
                    </a:gridCol>
                    <a:gridCol w="3558382">
                      <a:extLst>
                        <a:ext uri="{9D8B030D-6E8A-4147-A177-3AD203B41FA5}">
                          <a16:colId xmlns:a16="http://schemas.microsoft.com/office/drawing/2014/main" val="413807721"/>
                        </a:ext>
                      </a:extLst>
                    </a:gridCol>
                  </a:tblGrid>
                  <a:tr h="0">
                    <a:tc grid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𝒚</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𝒚</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sup>
                                    </m:sSup>
                                  </m:e>
                                </m:d>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𝟔</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𝒚</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2644596891"/>
                      </a:ext>
                    </a:extLst>
                  </a:tr>
                  <a:tr h="182880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769739221"/>
                      </a:ext>
                    </a:extLst>
                  </a:tr>
                  <a:tr h="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Product in Standard Form</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1798002542"/>
                      </a:ext>
                    </a:extLst>
                  </a:tr>
                  <a:tr h="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Polynomial</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112604"/>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0900388B-17C1-2140-8521-EA2692721C1A}"/>
                  </a:ext>
                </a:extLst>
              </p:cNvPr>
              <p:cNvGraphicFramePr>
                <a:graphicFrameLocks noGrp="1"/>
              </p:cNvGraphicFramePr>
              <p:nvPr>
                <p:extLst>
                  <p:ext uri="{D42A27DB-BD31-4B8C-83A1-F6EECF244321}">
                    <p14:modId xmlns:p14="http://schemas.microsoft.com/office/powerpoint/2010/main" val="1073623316"/>
                  </p:ext>
                </p:extLst>
              </p:nvPr>
            </p:nvGraphicFramePr>
            <p:xfrm>
              <a:off x="1115218" y="2282036"/>
              <a:ext cx="7116764" cy="3940683"/>
            </p:xfrm>
            <a:graphic>
              <a:graphicData uri="http://schemas.openxmlformats.org/drawingml/2006/table">
                <a:tbl>
                  <a:tblPr firstRow="1" firstCol="1" bandRow="1"/>
                  <a:tblGrid>
                    <a:gridCol w="3558382">
                      <a:extLst>
                        <a:ext uri="{9D8B030D-6E8A-4147-A177-3AD203B41FA5}">
                          <a16:colId xmlns:a16="http://schemas.microsoft.com/office/drawing/2014/main" xmlns:a14="http://schemas.microsoft.com/office/drawing/2010/main" xmlns="" val="898256911"/>
                        </a:ext>
                      </a:extLst>
                    </a:gridCol>
                    <a:gridCol w="3558382">
                      <a:extLst>
                        <a:ext uri="{9D8B030D-6E8A-4147-A177-3AD203B41FA5}">
                          <a16:colId xmlns:a16="http://schemas.microsoft.com/office/drawing/2014/main" xmlns:a14="http://schemas.microsoft.com/office/drawing/2010/main" xmlns="" val="413807721"/>
                        </a:ext>
                      </a:extLst>
                    </a:gridCol>
                  </a:tblGrid>
                  <a:tr h="526923">
                    <a:tc gridSpan="2">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86" r="-86" b="-643678"/>
                          </a:stretch>
                        </a:blipFill>
                      </a:tcPr>
                    </a:tc>
                    <a:tc hMerge="1">
                      <a:txBody>
                        <a:bodyPr/>
                        <a:lstStyle/>
                        <a:p>
                          <a:endParaRPr lang="x-none"/>
                        </a:p>
                      </a:txBody>
                      <a:tcPr/>
                    </a:tc>
                    <a:extLst>
                      <a:ext uri="{0D108BD9-81ED-4DB2-BD59-A6C34878D82A}">
                        <a16:rowId xmlns:a16="http://schemas.microsoft.com/office/drawing/2014/main" xmlns:a14="http://schemas.microsoft.com/office/drawing/2010/main" xmlns="" val="2644596891"/>
                      </a:ext>
                    </a:extLst>
                  </a:tr>
                  <a:tr h="182880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xmlns:a14="http://schemas.microsoft.com/office/drawing/2010/main" xmlns="" val="769739221"/>
                      </a:ext>
                    </a:extLst>
                  </a:tr>
                  <a:tr h="79248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Product in Standard Form</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xmlns:a14="http://schemas.microsoft.com/office/drawing/2010/main" xmlns="" val="1798002542"/>
                      </a:ext>
                    </a:extLst>
                  </a:tr>
                  <a:tr h="79248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Polynomial</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526112604"/>
                      </a:ext>
                    </a:extLst>
                  </a:tr>
                </a:tbl>
              </a:graphicData>
            </a:graphic>
          </p:graphicFrame>
        </mc:Fallback>
      </mc:AlternateContent>
    </p:spTree>
    <p:extLst>
      <p:ext uri="{BB962C8B-B14F-4D97-AF65-F5344CB8AC3E}">
        <p14:creationId xmlns:p14="http://schemas.microsoft.com/office/powerpoint/2010/main" val="1250752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0900388B-17C1-2140-8521-EA2692721C1A}"/>
                  </a:ext>
                </a:extLst>
              </p:cNvPr>
              <p:cNvGraphicFramePr>
                <a:graphicFrameLocks noGrp="1"/>
              </p:cNvGraphicFramePr>
              <p:nvPr>
                <p:extLst>
                  <p:ext uri="{D42A27DB-BD31-4B8C-83A1-F6EECF244321}">
                    <p14:modId xmlns:p14="http://schemas.microsoft.com/office/powerpoint/2010/main" val="3388567965"/>
                  </p:ext>
                </p:extLst>
              </p:nvPr>
            </p:nvGraphicFramePr>
            <p:xfrm>
              <a:off x="1111142" y="376987"/>
              <a:ext cx="7116764" cy="3908362"/>
            </p:xfrm>
            <a:graphic>
              <a:graphicData uri="http://schemas.openxmlformats.org/drawingml/2006/table">
                <a:tbl>
                  <a:tblPr firstRow="1" firstCol="1" bandRow="1"/>
                  <a:tblGrid>
                    <a:gridCol w="3558382">
                      <a:extLst>
                        <a:ext uri="{9D8B030D-6E8A-4147-A177-3AD203B41FA5}">
                          <a16:colId xmlns:a16="http://schemas.microsoft.com/office/drawing/2014/main" val="898256911"/>
                        </a:ext>
                      </a:extLst>
                    </a:gridCol>
                    <a:gridCol w="3558382">
                      <a:extLst>
                        <a:ext uri="{9D8B030D-6E8A-4147-A177-3AD203B41FA5}">
                          <a16:colId xmlns:a16="http://schemas.microsoft.com/office/drawing/2014/main" val="413807721"/>
                        </a:ext>
                      </a:extLst>
                    </a:gridCol>
                  </a:tblGrid>
                  <a:tr h="0">
                    <a:tc grid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𝟔</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𝒅</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𝒈</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𝒅</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𝟗</m:t>
                                    </m:r>
                                  </m:sup>
                                </m:sSup>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𝒈</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𝒅</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sup>
                                </m:sSup>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𝒈</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2644596891"/>
                      </a:ext>
                    </a:extLst>
                  </a:tr>
                  <a:tr h="182880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769739221"/>
                      </a:ext>
                    </a:extLst>
                  </a:tr>
                  <a:tr h="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Product in Standard Form</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1798002542"/>
                      </a:ext>
                    </a:extLst>
                  </a:tr>
                  <a:tr h="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Polynomial</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112604"/>
                      </a:ext>
                    </a:extLst>
                  </a:tr>
                </a:tbl>
              </a:graphicData>
            </a:graphic>
          </p:graphicFrame>
        </mc:Choice>
        <mc:Fallback xmlns="">
          <p:graphicFrame>
            <p:nvGraphicFramePr>
              <p:cNvPr id="7" name="Table 6">
                <a:extLst>
                  <a:ext uri="{FF2B5EF4-FFF2-40B4-BE49-F238E27FC236}">
                    <a16:creationId xmlns:a16="http://schemas.microsoft.com/office/drawing/2014/main" xmlns:a14="http://schemas.microsoft.com/office/drawing/2010/main" xmlns="" id="{0900388B-17C1-2140-8521-EA2692721C1A}"/>
                  </a:ext>
                </a:extLst>
              </p:cNvPr>
              <p:cNvGraphicFramePr>
                <a:graphicFrameLocks noGrp="1"/>
              </p:cNvGraphicFramePr>
              <p:nvPr>
                <p:extLst>
                  <p:ext uri="{D42A27DB-BD31-4B8C-83A1-F6EECF244321}">
                    <p14:modId xmlns:p14="http://schemas.microsoft.com/office/powerpoint/2010/main" val="3388567965"/>
                  </p:ext>
                </p:extLst>
              </p:nvPr>
            </p:nvGraphicFramePr>
            <p:xfrm>
              <a:off x="1111142" y="376987"/>
              <a:ext cx="7116764" cy="3908362"/>
            </p:xfrm>
            <a:graphic>
              <a:graphicData uri="http://schemas.openxmlformats.org/drawingml/2006/table">
                <a:tbl>
                  <a:tblPr firstRow="1" firstCol="1" bandRow="1"/>
                  <a:tblGrid>
                    <a:gridCol w="3558382">
                      <a:extLst>
                        <a:ext uri="{9D8B030D-6E8A-4147-A177-3AD203B41FA5}">
                          <a16:colId xmlns:a16="http://schemas.microsoft.com/office/drawing/2014/main" xmlns:a14="http://schemas.microsoft.com/office/drawing/2010/main" xmlns="" val="898256911"/>
                        </a:ext>
                      </a:extLst>
                    </a:gridCol>
                    <a:gridCol w="3558382">
                      <a:extLst>
                        <a:ext uri="{9D8B030D-6E8A-4147-A177-3AD203B41FA5}">
                          <a16:colId xmlns:a16="http://schemas.microsoft.com/office/drawing/2014/main" xmlns:a14="http://schemas.microsoft.com/office/drawing/2010/main" xmlns="" val="413807721"/>
                        </a:ext>
                      </a:extLst>
                    </a:gridCol>
                  </a:tblGrid>
                  <a:tr h="494602">
                    <a:tc gridSpan="2">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235" b="-691358"/>
                          </a:stretch>
                        </a:blipFill>
                      </a:tcPr>
                    </a:tc>
                    <a:tc hMerge="1">
                      <a:txBody>
                        <a:bodyPr/>
                        <a:lstStyle/>
                        <a:p>
                          <a:endParaRPr lang="x-none"/>
                        </a:p>
                      </a:txBody>
                      <a:tcPr/>
                    </a:tc>
                    <a:extLst>
                      <a:ext uri="{0D108BD9-81ED-4DB2-BD59-A6C34878D82A}">
                        <a16:rowId xmlns:a16="http://schemas.microsoft.com/office/drawing/2014/main" xmlns:a14="http://schemas.microsoft.com/office/drawing/2010/main" xmlns="" val="2644596891"/>
                      </a:ext>
                    </a:extLst>
                  </a:tr>
                  <a:tr h="182880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xmlns:a14="http://schemas.microsoft.com/office/drawing/2010/main" xmlns="" val="769739221"/>
                      </a:ext>
                    </a:extLst>
                  </a:tr>
                  <a:tr h="79248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Product in Standard Form</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xmlns:a14="http://schemas.microsoft.com/office/drawing/2010/main" xmlns="" val="1798002542"/>
                      </a:ext>
                    </a:extLst>
                  </a:tr>
                  <a:tr h="79248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Polynomial</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526112604"/>
                      </a:ext>
                    </a:extLst>
                  </a:tr>
                </a:tbl>
              </a:graphicData>
            </a:graphic>
          </p:graphicFrame>
        </mc:Fallback>
      </mc:AlternateContent>
    </p:spTree>
    <p:extLst>
      <p:ext uri="{BB962C8B-B14F-4D97-AF65-F5344CB8AC3E}">
        <p14:creationId xmlns:p14="http://schemas.microsoft.com/office/powerpoint/2010/main" val="2843202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0900388B-17C1-2140-8521-EA2692721C1A}"/>
                  </a:ext>
                </a:extLst>
              </p:cNvPr>
              <p:cNvGraphicFramePr>
                <a:graphicFrameLocks noGrp="1"/>
              </p:cNvGraphicFramePr>
              <p:nvPr>
                <p:extLst>
                  <p:ext uri="{D42A27DB-BD31-4B8C-83A1-F6EECF244321}">
                    <p14:modId xmlns:p14="http://schemas.microsoft.com/office/powerpoint/2010/main" val="1386430396"/>
                  </p:ext>
                </p:extLst>
              </p:nvPr>
            </p:nvGraphicFramePr>
            <p:xfrm>
              <a:off x="1102677" y="368523"/>
              <a:ext cx="7116764" cy="4052824"/>
            </p:xfrm>
            <a:graphic>
              <a:graphicData uri="http://schemas.openxmlformats.org/drawingml/2006/table">
                <a:tbl>
                  <a:tblPr firstRow="1" firstCol="1" bandRow="1"/>
                  <a:tblGrid>
                    <a:gridCol w="3558382">
                      <a:extLst>
                        <a:ext uri="{9D8B030D-6E8A-4147-A177-3AD203B41FA5}">
                          <a16:colId xmlns:a16="http://schemas.microsoft.com/office/drawing/2014/main" val="898256911"/>
                        </a:ext>
                      </a:extLst>
                    </a:gridCol>
                    <a:gridCol w="3558382">
                      <a:extLst>
                        <a:ext uri="{9D8B030D-6E8A-4147-A177-3AD203B41FA5}">
                          <a16:colId xmlns:a16="http://schemas.microsoft.com/office/drawing/2014/main" val="413807721"/>
                        </a:ext>
                      </a:extLst>
                    </a:gridCol>
                  </a:tblGrid>
                  <a:tr h="0">
                    <a:tc gridSpan="2">
                      <a:txBody>
                        <a:bodyPr/>
                        <a:lstStyle/>
                        <a:p>
                          <a:pPr marL="0" marR="0" algn="ctr">
                            <a:spcBef>
                              <a:spcPts val="0"/>
                            </a:spcBef>
                            <a:spcAft>
                              <a:spcPts val="0"/>
                            </a:spcAft>
                          </a:pPr>
                          <a14:m>
                            <m:oMath xmlns:m="http://schemas.openxmlformats.org/officeDocument/2006/math">
                              <m:f>
                                <m:fPr>
                                  <m:ctrlPr>
                                    <a:rPr lang="x-none" sz="2000" b="1" i="1"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m:t>
                                  </m:r>
                                </m:num>
                                <m:den>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den>
                              </m:f>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𝒂</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p>
                              <m:d>
                                <m:d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𝟖</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𝒂</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𝟗</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𝒃</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m:t>
                                      </m:r>
                                    </m:num>
                                    <m:den>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m:t>
                                      </m:r>
                                    </m:den>
                                  </m:f>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𝒂</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𝒃</m:t>
                                  </m:r>
                                </m:e>
                              </m:d>
                            </m:oMath>
                          </a14:m>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2644596891"/>
                      </a:ext>
                    </a:extLst>
                  </a:tr>
                  <a:tr h="182880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769739221"/>
                      </a:ext>
                    </a:extLst>
                  </a:tr>
                  <a:tr h="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Product in Standard Form</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1798002542"/>
                      </a:ext>
                    </a:extLst>
                  </a:tr>
                  <a:tr h="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Polynomial</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112604"/>
                      </a:ext>
                    </a:extLst>
                  </a:tr>
                </a:tbl>
              </a:graphicData>
            </a:graphic>
          </p:graphicFrame>
        </mc:Choice>
        <mc:Fallback xmlns="">
          <p:graphicFrame>
            <p:nvGraphicFramePr>
              <p:cNvPr id="6" name="Table 5">
                <a:extLst>
                  <a:ext uri="{FF2B5EF4-FFF2-40B4-BE49-F238E27FC236}">
                    <a16:creationId xmlns:a16="http://schemas.microsoft.com/office/drawing/2014/main" xmlns:a14="http://schemas.microsoft.com/office/drawing/2010/main" xmlns="" id="{0900388B-17C1-2140-8521-EA2692721C1A}"/>
                  </a:ext>
                </a:extLst>
              </p:cNvPr>
              <p:cNvGraphicFramePr>
                <a:graphicFrameLocks noGrp="1"/>
              </p:cNvGraphicFramePr>
              <p:nvPr>
                <p:extLst>
                  <p:ext uri="{D42A27DB-BD31-4B8C-83A1-F6EECF244321}">
                    <p14:modId xmlns:p14="http://schemas.microsoft.com/office/powerpoint/2010/main" val="1386430396"/>
                  </p:ext>
                </p:extLst>
              </p:nvPr>
            </p:nvGraphicFramePr>
            <p:xfrm>
              <a:off x="1102677" y="368523"/>
              <a:ext cx="7116764" cy="4052824"/>
            </p:xfrm>
            <a:graphic>
              <a:graphicData uri="http://schemas.openxmlformats.org/drawingml/2006/table">
                <a:tbl>
                  <a:tblPr firstRow="1" firstCol="1" bandRow="1"/>
                  <a:tblGrid>
                    <a:gridCol w="3558382">
                      <a:extLst>
                        <a:ext uri="{9D8B030D-6E8A-4147-A177-3AD203B41FA5}">
                          <a16:colId xmlns:a16="http://schemas.microsoft.com/office/drawing/2014/main" xmlns:a14="http://schemas.microsoft.com/office/drawing/2010/main" xmlns="" val="898256911"/>
                        </a:ext>
                      </a:extLst>
                    </a:gridCol>
                    <a:gridCol w="3558382">
                      <a:extLst>
                        <a:ext uri="{9D8B030D-6E8A-4147-A177-3AD203B41FA5}">
                          <a16:colId xmlns:a16="http://schemas.microsoft.com/office/drawing/2014/main" xmlns:a14="http://schemas.microsoft.com/office/drawing/2010/main" xmlns="" val="413807721"/>
                        </a:ext>
                      </a:extLst>
                    </a:gridCol>
                  </a:tblGrid>
                  <a:tr h="639064">
                    <a:tc gridSpan="2">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86" r="-86" b="-534286"/>
                          </a:stretch>
                        </a:blipFill>
                      </a:tcPr>
                    </a:tc>
                    <a:tc hMerge="1">
                      <a:txBody>
                        <a:bodyPr/>
                        <a:lstStyle/>
                        <a:p>
                          <a:endParaRPr lang="x-none"/>
                        </a:p>
                      </a:txBody>
                      <a:tcPr/>
                    </a:tc>
                    <a:extLst>
                      <a:ext uri="{0D108BD9-81ED-4DB2-BD59-A6C34878D82A}">
                        <a16:rowId xmlns:a16="http://schemas.microsoft.com/office/drawing/2014/main" xmlns:a14="http://schemas.microsoft.com/office/drawing/2010/main" xmlns="" val="2644596891"/>
                      </a:ext>
                    </a:extLst>
                  </a:tr>
                  <a:tr h="182880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xmlns:a14="http://schemas.microsoft.com/office/drawing/2010/main" xmlns="" val="769739221"/>
                      </a:ext>
                    </a:extLst>
                  </a:tr>
                  <a:tr h="79248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Product in Standard Form</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xmlns:a14="http://schemas.microsoft.com/office/drawing/2010/main" xmlns="" val="1798002542"/>
                      </a:ext>
                    </a:extLst>
                  </a:tr>
                  <a:tr h="79248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Polynomial</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526112604"/>
                      </a:ext>
                    </a:extLst>
                  </a:tr>
                </a:tbl>
              </a:graphicData>
            </a:graphic>
          </p:graphicFrame>
        </mc:Fallback>
      </mc:AlternateContent>
    </p:spTree>
    <p:extLst>
      <p:ext uri="{BB962C8B-B14F-4D97-AF65-F5344CB8AC3E}">
        <p14:creationId xmlns:p14="http://schemas.microsoft.com/office/powerpoint/2010/main" val="28392849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0900388B-17C1-2140-8521-EA2692721C1A}"/>
                  </a:ext>
                </a:extLst>
              </p:cNvPr>
              <p:cNvGraphicFramePr>
                <a:graphicFrameLocks noGrp="1"/>
              </p:cNvGraphicFramePr>
              <p:nvPr>
                <p:extLst>
                  <p:ext uri="{D42A27DB-BD31-4B8C-83A1-F6EECF244321}">
                    <p14:modId xmlns:p14="http://schemas.microsoft.com/office/powerpoint/2010/main" val="84186280"/>
                  </p:ext>
                </p:extLst>
              </p:nvPr>
            </p:nvGraphicFramePr>
            <p:xfrm>
              <a:off x="1102676" y="368524"/>
              <a:ext cx="7116764" cy="3940683"/>
            </p:xfrm>
            <a:graphic>
              <a:graphicData uri="http://schemas.openxmlformats.org/drawingml/2006/table">
                <a:tbl>
                  <a:tblPr firstRow="1" firstCol="1" bandRow="1"/>
                  <a:tblGrid>
                    <a:gridCol w="3558382">
                      <a:extLst>
                        <a:ext uri="{9D8B030D-6E8A-4147-A177-3AD203B41FA5}">
                          <a16:colId xmlns:a16="http://schemas.microsoft.com/office/drawing/2014/main" val="898256911"/>
                        </a:ext>
                      </a:extLst>
                    </a:gridCol>
                    <a:gridCol w="3558382">
                      <a:extLst>
                        <a:ext uri="{9D8B030D-6E8A-4147-A177-3AD203B41FA5}">
                          <a16:colId xmlns:a16="http://schemas.microsoft.com/office/drawing/2014/main" val="413807721"/>
                        </a:ext>
                      </a:extLst>
                    </a:gridCol>
                  </a:tblGrid>
                  <a:tr h="0">
                    <a:tc grid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𝟐𝟓</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𝒃</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𝒄</m:t>
                                </m:r>
                                <m:d>
                                  <m:d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𝟓</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𝒄</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𝟔</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𝒃</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𝒃</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𝟓</m:t>
                                        </m:r>
                                      </m:sup>
                                    </m:sSup>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𝒄</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m:t>
                                        </m:r>
                                      </m:sup>
                                    </m:sSup>
                                  </m:e>
                                </m:d>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2644596891"/>
                      </a:ext>
                    </a:extLst>
                  </a:tr>
                  <a:tr h="182880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769739221"/>
                      </a:ext>
                    </a:extLst>
                  </a:tr>
                  <a:tr h="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Product in Standard Form</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1798002542"/>
                      </a:ext>
                    </a:extLst>
                  </a:tr>
                  <a:tr h="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Polynomial</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112604"/>
                      </a:ext>
                    </a:extLst>
                  </a:tr>
                </a:tbl>
              </a:graphicData>
            </a:graphic>
          </p:graphicFrame>
        </mc:Choice>
        <mc:Fallback xmlns="">
          <p:graphicFrame>
            <p:nvGraphicFramePr>
              <p:cNvPr id="6" name="Table 5">
                <a:extLst>
                  <a:ext uri="{FF2B5EF4-FFF2-40B4-BE49-F238E27FC236}">
                    <a16:creationId xmlns:a16="http://schemas.microsoft.com/office/drawing/2014/main" xmlns:a14="http://schemas.microsoft.com/office/drawing/2010/main" xmlns="" id="{0900388B-17C1-2140-8521-EA2692721C1A}"/>
                  </a:ext>
                </a:extLst>
              </p:cNvPr>
              <p:cNvGraphicFramePr>
                <a:graphicFrameLocks noGrp="1"/>
              </p:cNvGraphicFramePr>
              <p:nvPr>
                <p:extLst>
                  <p:ext uri="{D42A27DB-BD31-4B8C-83A1-F6EECF244321}">
                    <p14:modId xmlns:p14="http://schemas.microsoft.com/office/powerpoint/2010/main" val="84186280"/>
                  </p:ext>
                </p:extLst>
              </p:nvPr>
            </p:nvGraphicFramePr>
            <p:xfrm>
              <a:off x="1102676" y="368524"/>
              <a:ext cx="7116764" cy="3940683"/>
            </p:xfrm>
            <a:graphic>
              <a:graphicData uri="http://schemas.openxmlformats.org/drawingml/2006/table">
                <a:tbl>
                  <a:tblPr firstRow="1" firstCol="1" bandRow="1"/>
                  <a:tblGrid>
                    <a:gridCol w="3558382">
                      <a:extLst>
                        <a:ext uri="{9D8B030D-6E8A-4147-A177-3AD203B41FA5}">
                          <a16:colId xmlns:a16="http://schemas.microsoft.com/office/drawing/2014/main" xmlns:a14="http://schemas.microsoft.com/office/drawing/2010/main" xmlns="" val="898256911"/>
                        </a:ext>
                      </a:extLst>
                    </a:gridCol>
                    <a:gridCol w="3558382">
                      <a:extLst>
                        <a:ext uri="{9D8B030D-6E8A-4147-A177-3AD203B41FA5}">
                          <a16:colId xmlns:a16="http://schemas.microsoft.com/office/drawing/2014/main" xmlns:a14="http://schemas.microsoft.com/office/drawing/2010/main" xmlns="" val="413807721"/>
                        </a:ext>
                      </a:extLst>
                    </a:gridCol>
                  </a:tblGrid>
                  <a:tr h="526923">
                    <a:tc gridSpan="2">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86" r="-86" b="-643678"/>
                          </a:stretch>
                        </a:blipFill>
                      </a:tcPr>
                    </a:tc>
                    <a:tc hMerge="1">
                      <a:txBody>
                        <a:bodyPr/>
                        <a:lstStyle/>
                        <a:p>
                          <a:endParaRPr lang="x-none"/>
                        </a:p>
                      </a:txBody>
                      <a:tcPr/>
                    </a:tc>
                    <a:extLst>
                      <a:ext uri="{0D108BD9-81ED-4DB2-BD59-A6C34878D82A}">
                        <a16:rowId xmlns:a16="http://schemas.microsoft.com/office/drawing/2014/main" xmlns:a14="http://schemas.microsoft.com/office/drawing/2010/main" xmlns="" val="2644596891"/>
                      </a:ext>
                    </a:extLst>
                  </a:tr>
                  <a:tr h="182880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xmlns:a14="http://schemas.microsoft.com/office/drawing/2010/main" xmlns="" val="769739221"/>
                      </a:ext>
                    </a:extLst>
                  </a:tr>
                  <a:tr h="792480">
                    <a:tc gridSpan="2">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Product in Standard Form</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xmlns:a14="http://schemas.microsoft.com/office/drawing/2010/main" xmlns="" val="1798002542"/>
                      </a:ext>
                    </a:extLst>
                  </a:tr>
                  <a:tr h="79248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Leading Coefficient</a:t>
                          </a:r>
                        </a:p>
                        <a:p>
                          <a:pPr marL="0" marR="0">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Degree of Polynomial</a:t>
                          </a:r>
                          <a:endParaRPr lang="x-none" sz="2000" dirty="0">
                            <a:effectLst/>
                            <a:latin typeface="Verdana" pitchFamily="34" charset="0"/>
                            <a:ea typeface="Verdana" pitchFamily="34"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526112604"/>
                      </a:ext>
                    </a:extLst>
                  </a:tr>
                </a:tbl>
              </a:graphicData>
            </a:graphic>
          </p:graphicFrame>
        </mc:Fallback>
      </mc:AlternateContent>
    </p:spTree>
    <p:extLst>
      <p:ext uri="{BB962C8B-B14F-4D97-AF65-F5344CB8AC3E}">
        <p14:creationId xmlns:p14="http://schemas.microsoft.com/office/powerpoint/2010/main" val="3734214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B59"/>
          </a:solidFill>
          <a:ln w="9525" cap="flat" cmpd="sng">
            <a:solidFill>
              <a:srgbClr val="F79B5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61531" y="329855"/>
            <a:ext cx="9313333" cy="6628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2.4.7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50430" y="287630"/>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AE281112-0763-C941-9DB7-9B28C4EA4745}"/>
              </a:ext>
            </a:extLst>
          </p:cNvPr>
          <p:cNvSpPr/>
          <p:nvPr/>
        </p:nvSpPr>
        <p:spPr>
          <a:xfrm>
            <a:off x="541866" y="1463890"/>
            <a:ext cx="10515600" cy="1323439"/>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Mistakes are an opportunity to learn. Complete the statement to highlight a mistake you learned from.</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My favorite mistake from today was …</a:t>
            </a:r>
          </a:p>
        </p:txBody>
      </p:sp>
      <p:sp>
        <p:nvSpPr>
          <p:cNvPr id="8" name="Rounded Rectangle 7">
            <a:extLst>
              <a:ext uri="{FF2B5EF4-FFF2-40B4-BE49-F238E27FC236}">
                <a16:creationId xmlns:a16="http://schemas.microsoft.com/office/drawing/2014/main" id="{9CF79EDF-9525-884D-B472-ECB94D64D4C0}"/>
              </a:ext>
            </a:extLst>
          </p:cNvPr>
          <p:cNvSpPr/>
          <p:nvPr/>
        </p:nvSpPr>
        <p:spPr>
          <a:xfrm>
            <a:off x="5450234" y="3020557"/>
            <a:ext cx="2971800" cy="3429000"/>
          </a:xfrm>
          <a:prstGeom prst="roundRect">
            <a:avLst>
              <a:gd name="adj" fmla="val 16667"/>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spcAft>
                <a:spcPts val="1000"/>
              </a:spcAft>
            </a:pPr>
            <a:r>
              <a:rPr lang="x-none" sz="1200" i="1">
                <a:solidFill>
                  <a:srgbClr val="FF0000"/>
                </a:solidFill>
                <a:latin typeface="Verdana" panose="020B0604030504040204" pitchFamily="34" charset="0"/>
                <a:ea typeface="Verdana" panose="020B0604030504040204" pitchFamily="34" charset="0"/>
                <a:cs typeface="Verdana" panose="020B0604030504040204" pitchFamily="34"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0" name="Rounded Rectangle 9">
            <a:extLst>
              <a:ext uri="{FF2B5EF4-FFF2-40B4-BE49-F238E27FC236}">
                <a16:creationId xmlns:a16="http://schemas.microsoft.com/office/drawing/2014/main" id="{B6FCA23E-BEEC-DE42-B3AC-B07DAC5D8C78}"/>
              </a:ext>
            </a:extLst>
          </p:cNvPr>
          <p:cNvSpPr/>
          <p:nvPr/>
        </p:nvSpPr>
        <p:spPr>
          <a:xfrm>
            <a:off x="3317194" y="3541582"/>
            <a:ext cx="1927877" cy="2386951"/>
          </a:xfrm>
          <a:prstGeom prst="roundRect">
            <a:avLst>
              <a:gd name="adj" fmla="val 16667"/>
            </a:avLst>
          </a:prstGeom>
          <a:solidFill>
            <a:srgbClr val="DAE5F1"/>
          </a:solidFill>
          <a:ln>
            <a:noFill/>
          </a:ln>
        </p:spPr>
        <p:txBody>
          <a:bodyPr spcFirstLastPara="1" wrap="square" lIns="91425" tIns="45700" rIns="91425" bIns="45700" anchor="ctr" anchorCtr="0">
            <a:noAutofit/>
          </a:bodyPr>
          <a:lstStyle/>
          <a:p>
            <a:r>
              <a:rPr lang="en-US" sz="1800" b="1" dirty="0">
                <a:solidFill>
                  <a:srgbClr val="DB2B2A"/>
                </a:solidFill>
                <a:latin typeface="Verdana" panose="020B0604030504040204" pitchFamily="34" charset="0"/>
                <a:ea typeface="Verdana" panose="020B0604030504040204" pitchFamily="34" charset="0"/>
                <a:cs typeface="Verdana" panose="020B0604030504040204" pitchFamily="34" charset="0"/>
              </a:rPr>
              <a:t>M</a:t>
            </a:r>
            <a:r>
              <a:rPr lang="en-US" sz="1800" b="1" dirty="0">
                <a:latin typeface="Verdana" panose="020B0604030504040204" pitchFamily="34" charset="0"/>
                <a:ea typeface="Verdana" panose="020B0604030504040204" pitchFamily="34" charset="0"/>
                <a:cs typeface="Verdana" panose="020B0604030504040204" pitchFamily="34" charset="0"/>
              </a:rPr>
              <a:t>eans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r>
              <a:rPr lang="en-US" sz="1800" b="1" dirty="0">
                <a:solidFill>
                  <a:srgbClr val="F25756"/>
                </a:solidFill>
                <a:latin typeface="Verdana" panose="020B0604030504040204" pitchFamily="34" charset="0"/>
                <a:ea typeface="Verdana" panose="020B0604030504040204" pitchFamily="34" charset="0"/>
                <a:cs typeface="Verdana" panose="020B0604030504040204" pitchFamily="34" charset="0"/>
              </a:rPr>
              <a:t>I</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r>
              <a:rPr lang="en-US" sz="1800" b="1" dirty="0">
                <a:solidFill>
                  <a:srgbClr val="E99237"/>
                </a:solidFill>
                <a:latin typeface="Verdana" panose="020B0604030504040204" pitchFamily="34" charset="0"/>
                <a:ea typeface="Verdana" panose="020B0604030504040204" pitchFamily="34" charset="0"/>
                <a:cs typeface="Verdana" panose="020B0604030504040204" pitchFamily="34" charset="0"/>
              </a:rPr>
              <a:t>S</a:t>
            </a:r>
            <a:r>
              <a:rPr lang="en-US" sz="1800" b="1" dirty="0">
                <a:latin typeface="Verdana" panose="020B0604030504040204" pitchFamily="34" charset="0"/>
                <a:ea typeface="Verdana" panose="020B0604030504040204" pitchFamily="34" charset="0"/>
                <a:cs typeface="Verdana" panose="020B0604030504040204" pitchFamily="34" charset="0"/>
              </a:rPr>
              <a:t>tart</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r>
              <a:rPr lang="en-US" sz="1800" b="1" dirty="0">
                <a:solidFill>
                  <a:srgbClr val="FACD17"/>
                </a:solidFill>
                <a:latin typeface="Verdana" panose="020B0604030504040204" pitchFamily="34" charset="0"/>
                <a:ea typeface="Verdana" panose="020B0604030504040204" pitchFamily="34" charset="0"/>
                <a:cs typeface="Verdana" panose="020B0604030504040204" pitchFamily="34" charset="0"/>
              </a:rPr>
              <a:t>T</a:t>
            </a:r>
            <a:r>
              <a:rPr lang="en-US" sz="1800" b="1" dirty="0">
                <a:latin typeface="Verdana" panose="020B0604030504040204" pitchFamily="34" charset="0"/>
                <a:ea typeface="Verdana" panose="020B0604030504040204" pitchFamily="34" charset="0"/>
                <a:cs typeface="Verdana" panose="020B0604030504040204" pitchFamily="34" charset="0"/>
              </a:rPr>
              <a:t>o </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r>
              <a:rPr lang="en-US" sz="1800" b="1" dirty="0">
                <a:solidFill>
                  <a:srgbClr val="7BA43F"/>
                </a:solidFill>
                <a:latin typeface="Verdana" panose="020B0604030504040204" pitchFamily="34" charset="0"/>
                <a:ea typeface="Verdana" panose="020B0604030504040204" pitchFamily="34" charset="0"/>
                <a:cs typeface="Verdana" panose="020B0604030504040204" pitchFamily="34" charset="0"/>
              </a:rPr>
              <a:t>A</a:t>
            </a:r>
            <a:r>
              <a:rPr lang="en-US" sz="1800" b="1" dirty="0">
                <a:latin typeface="Verdana" panose="020B0604030504040204" pitchFamily="34" charset="0"/>
                <a:ea typeface="Verdana" panose="020B0604030504040204" pitchFamily="34" charset="0"/>
                <a:cs typeface="Verdana" panose="020B0604030504040204" pitchFamily="34" charset="0"/>
              </a:rPr>
              <a:t>cquire</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r>
              <a:rPr lang="en-US" sz="1800" b="1" dirty="0">
                <a:solidFill>
                  <a:srgbClr val="24B7D2"/>
                </a:solidFill>
                <a:latin typeface="Verdana" panose="020B0604030504040204" pitchFamily="34" charset="0"/>
                <a:ea typeface="Verdana" panose="020B0604030504040204" pitchFamily="34" charset="0"/>
                <a:cs typeface="Verdana" panose="020B0604030504040204" pitchFamily="34" charset="0"/>
              </a:rPr>
              <a:t>K</a:t>
            </a:r>
            <a:r>
              <a:rPr lang="en-US" sz="1800" b="1" dirty="0">
                <a:latin typeface="Verdana" panose="020B0604030504040204" pitchFamily="34" charset="0"/>
                <a:ea typeface="Verdana" panose="020B0604030504040204" pitchFamily="34" charset="0"/>
                <a:cs typeface="Verdana" panose="020B0604030504040204" pitchFamily="34" charset="0"/>
              </a:rPr>
              <a:t>nowledge</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r>
              <a:rPr lang="en-US" sz="1800" b="1" dirty="0">
                <a:solidFill>
                  <a:srgbClr val="1B74B9"/>
                </a:solidFill>
                <a:latin typeface="Verdana" panose="020B0604030504040204" pitchFamily="34" charset="0"/>
                <a:ea typeface="Verdana" panose="020B0604030504040204" pitchFamily="34" charset="0"/>
                <a:cs typeface="Verdana" panose="020B0604030504040204" pitchFamily="34" charset="0"/>
              </a:rPr>
              <a:t>E</a:t>
            </a:r>
            <a:r>
              <a:rPr lang="en-US" sz="1800" b="1" dirty="0">
                <a:latin typeface="Verdana" panose="020B0604030504040204" pitchFamily="34" charset="0"/>
                <a:ea typeface="Verdana" panose="020B0604030504040204" pitchFamily="34" charset="0"/>
                <a:cs typeface="Verdana" panose="020B0604030504040204" pitchFamily="34" charset="0"/>
              </a:rPr>
              <a:t>xperience </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r>
              <a:rPr lang="en-US" sz="1800" b="1" dirty="0">
                <a:solidFill>
                  <a:srgbClr val="4A2B79"/>
                </a:solidFill>
                <a:latin typeface="Verdana" panose="020B0604030504040204" pitchFamily="34" charset="0"/>
                <a:ea typeface="Verdana" panose="020B0604030504040204" pitchFamily="34" charset="0"/>
                <a:cs typeface="Verdana" panose="020B0604030504040204" pitchFamily="34" charset="0"/>
              </a:rPr>
              <a:t>S</a:t>
            </a:r>
            <a:r>
              <a:rPr lang="en-US" sz="1800" b="1" dirty="0">
                <a:latin typeface="Verdana" panose="020B0604030504040204" pitchFamily="34" charset="0"/>
                <a:ea typeface="Verdana" panose="020B0604030504040204" pitchFamily="34" charset="0"/>
                <a:cs typeface="Verdana" panose="020B0604030504040204" pitchFamily="34" charset="0"/>
              </a:rPr>
              <a:t>kills</a:t>
            </a:r>
            <a:r>
              <a:rPr lang="en-US" sz="1200" dirty="0">
                <a:latin typeface="Calibri" panose="020F0502020204030204" pitchFamily="34" charset="0"/>
                <a:ea typeface="Calibri" panose="020F0502020204030204" pitchFamily="34" charset="0"/>
                <a:cs typeface="Times New Roman" panose="02020603050405020304" pitchFamily="18" charset="0"/>
              </a:rPr>
              <a:t> </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3185</TotalTime>
  <Words>1371</Words>
  <Application>Microsoft Office PowerPoint</Application>
  <PresentationFormat>Widescreen</PresentationFormat>
  <Paragraphs>306</Paragraphs>
  <Slides>31</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Calibri</vt:lpstr>
      <vt:lpstr>Arial</vt:lpstr>
      <vt:lpstr>Cambria Math</vt:lpstr>
      <vt:lpstr>Century Gothic</vt:lpstr>
      <vt:lpstr>Cambria</vt:lpstr>
      <vt:lpstr>Wingdings</vt:lpstr>
      <vt:lpstr>Verdana</vt:lpstr>
      <vt:lpstr>Arial Black</vt:lpstr>
      <vt:lpstr>1_Office Theme</vt:lpstr>
      <vt:lpstr>Algebra 1  Unit 2, Lesson 4  Introducing Polynomials  Volume 1, pg. 72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Collaboration</vt:lpstr>
      <vt:lpstr>PowerPoint Presentation</vt:lpstr>
      <vt:lpstr>PowerPoint Presentation</vt:lpstr>
      <vt:lpstr>PowerPoint Presentation</vt:lpstr>
      <vt:lpstr>Refresher</vt:lpstr>
      <vt:lpstr>PowerPoint Presentation</vt:lpstr>
      <vt:lpstr>PowerPoint Presentation</vt:lpstr>
      <vt:lpstr>Guided Practice</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54</cp:revision>
  <dcterms:created xsi:type="dcterms:W3CDTF">2015-03-17T18:51:18Z</dcterms:created>
  <dcterms:modified xsi:type="dcterms:W3CDTF">2023-02-14T15:14:44Z</dcterms:modified>
</cp:coreProperties>
</file>