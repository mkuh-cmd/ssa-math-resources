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45" r:id="rId4"/>
    <p:sldId id="286" r:id="rId5"/>
    <p:sldId id="261" r:id="rId6"/>
    <p:sldId id="287" r:id="rId7"/>
    <p:sldId id="346" r:id="rId8"/>
    <p:sldId id="347" r:id="rId9"/>
    <p:sldId id="348" r:id="rId10"/>
    <p:sldId id="349" r:id="rId11"/>
    <p:sldId id="350" r:id="rId12"/>
    <p:sldId id="385" r:id="rId13"/>
    <p:sldId id="376" r:id="rId14"/>
    <p:sldId id="377" r:id="rId15"/>
    <p:sldId id="314" r:id="rId16"/>
    <p:sldId id="315" r:id="rId17"/>
    <p:sldId id="316" r:id="rId18"/>
    <p:sldId id="382" r:id="rId19"/>
    <p:sldId id="383" r:id="rId20"/>
    <p:sldId id="354" r:id="rId21"/>
    <p:sldId id="355" r:id="rId22"/>
    <p:sldId id="356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F79B59"/>
    <a:srgbClr val="F26763"/>
    <a:srgbClr val="E24E5F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18" autoAdjust="0"/>
    <p:restoredTop sz="95878" autoAdjust="0"/>
  </p:normalViewPr>
  <p:slideViewPr>
    <p:cSldViewPr snapToGrid="0">
      <p:cViewPr varScale="1">
        <p:scale>
          <a:sx n="124" d="100"/>
          <a:sy n="124" d="100"/>
        </p:scale>
        <p:origin x="84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9.xml"/><Relationship Id="rId5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01644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7421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142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2658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1874" y="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7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Binomials and Polynomials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and multiply polynomial expressions with rational number coefficients.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multiply binomials.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multiply polynomials.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497537"/>
            <a:ext cx="1105157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dot plot shows the number of hurricanes that made landfall in the continental United States from 1959 – 2017.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535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when looking at the dot plot? </a:t>
            </a:r>
          </a:p>
          <a:p>
            <a:pPr marL="89535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535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535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 about the data presented?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773998" y="2245816"/>
            <a:ext cx="6948805" cy="2410894"/>
            <a:chOff x="1097597" y="2985638"/>
            <a:chExt cx="6948805" cy="2410894"/>
          </a:xfrm>
        </p:grpSpPr>
        <p:pic>
          <p:nvPicPr>
            <p:cNvPr id="14" name="Picture 13" descr="Chart, scatter chart&#10;&#10;Description automatically generated">
              <a:extLst>
                <a:ext uri="{FF2B5EF4-FFF2-40B4-BE49-F238E27FC236}">
                  <a16:creationId xmlns:a16="http://schemas.microsoft.com/office/drawing/2014/main" id="{57410285-5103-8C49-BA2C-E99EB252C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2708" b="28441"/>
            <a:stretch/>
          </p:blipFill>
          <p:spPr bwMode="auto">
            <a:xfrm>
              <a:off x="1097597" y="2985638"/>
              <a:ext cx="6948805" cy="16510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CE5004D6-1D7D-7446-A0FB-3D76EB8B84AB}"/>
                </a:ext>
              </a:extLst>
            </p:cNvPr>
            <p:cNvSpPr txBox="1"/>
            <p:nvPr/>
          </p:nvSpPr>
          <p:spPr>
            <a:xfrm>
              <a:off x="1097597" y="4588177"/>
              <a:ext cx="6948805" cy="808355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 panose="020B0604030504040204" pitchFamily="34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 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 panose="020B0604030504040204" pitchFamily="34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Number of Hurricanes 1959 - 2017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18" name="Text Box 209">
              <a:extLst>
                <a:ext uri="{FF2B5EF4-FFF2-40B4-BE49-F238E27FC236}">
                  <a16:creationId xmlns:a16="http://schemas.microsoft.com/office/drawing/2014/main" id="{A78A6C1E-89F0-684C-A863-6BF0630AE51B}"/>
                </a:ext>
              </a:extLst>
            </p:cNvPr>
            <p:cNvSpPr txBox="1"/>
            <p:nvPr/>
          </p:nvSpPr>
          <p:spPr>
            <a:xfrm>
              <a:off x="1395411" y="4588812"/>
              <a:ext cx="900000" cy="30797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1960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23" name="Text Box 210">
              <a:extLst>
                <a:ext uri="{FF2B5EF4-FFF2-40B4-BE49-F238E27FC236}">
                  <a16:creationId xmlns:a16="http://schemas.microsoft.com/office/drawing/2014/main" id="{78E5E320-F4D3-5549-8742-A092942DAB69}"/>
                </a:ext>
              </a:extLst>
            </p:cNvPr>
            <p:cNvSpPr txBox="1"/>
            <p:nvPr/>
          </p:nvSpPr>
          <p:spPr>
            <a:xfrm>
              <a:off x="2406966" y="4584367"/>
              <a:ext cx="900000" cy="30797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1970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24" name="Text Box 211">
              <a:extLst>
                <a:ext uri="{FF2B5EF4-FFF2-40B4-BE49-F238E27FC236}">
                  <a16:creationId xmlns:a16="http://schemas.microsoft.com/office/drawing/2014/main" id="{04BB8FA1-5DD8-1F47-9988-6AA6225FC97C}"/>
                </a:ext>
              </a:extLst>
            </p:cNvPr>
            <p:cNvSpPr txBox="1"/>
            <p:nvPr/>
          </p:nvSpPr>
          <p:spPr>
            <a:xfrm>
              <a:off x="3445191" y="4588177"/>
              <a:ext cx="900000" cy="30797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1980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25" name="Text Box 212">
              <a:extLst>
                <a:ext uri="{FF2B5EF4-FFF2-40B4-BE49-F238E27FC236}">
                  <a16:creationId xmlns:a16="http://schemas.microsoft.com/office/drawing/2014/main" id="{65D9A99A-20BB-7A43-BCD3-0E59BDEFDF93}"/>
                </a:ext>
              </a:extLst>
            </p:cNvPr>
            <p:cNvSpPr txBox="1"/>
            <p:nvPr/>
          </p:nvSpPr>
          <p:spPr>
            <a:xfrm>
              <a:off x="4479606" y="4583732"/>
              <a:ext cx="900000" cy="30797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1990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26" name="Text Box 213">
              <a:extLst>
                <a:ext uri="{FF2B5EF4-FFF2-40B4-BE49-F238E27FC236}">
                  <a16:creationId xmlns:a16="http://schemas.microsoft.com/office/drawing/2014/main" id="{7DEDB44F-AE70-C84E-AA15-3A8A484927BD}"/>
                </a:ext>
              </a:extLst>
            </p:cNvPr>
            <p:cNvSpPr txBox="1"/>
            <p:nvPr/>
          </p:nvSpPr>
          <p:spPr>
            <a:xfrm>
              <a:off x="5498781" y="4588812"/>
              <a:ext cx="900000" cy="30797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2000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27" name="Text Box 214">
              <a:extLst>
                <a:ext uri="{FF2B5EF4-FFF2-40B4-BE49-F238E27FC236}">
                  <a16:creationId xmlns:a16="http://schemas.microsoft.com/office/drawing/2014/main" id="{0D8F49CC-6889-344C-862E-0628910A4D49}"/>
                </a:ext>
              </a:extLst>
            </p:cNvPr>
            <p:cNvSpPr txBox="1"/>
            <p:nvPr/>
          </p:nvSpPr>
          <p:spPr>
            <a:xfrm>
              <a:off x="6554786" y="4591987"/>
              <a:ext cx="900000" cy="307975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rPr>
                <a:t>2010</a:t>
              </a:r>
              <a:endParaRPr lang="x-none" sz="2000" i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</p:grp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0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2.7.1 Warm-Up: Notice and Wonder</a:t>
            </a:r>
          </a:p>
        </p:txBody>
      </p:sp>
      <p:pic>
        <p:nvPicPr>
          <p:cNvPr id="32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3257251" y="3045103"/>
            <a:ext cx="5561737" cy="2773045"/>
            <a:chOff x="3089778" y="3360421"/>
            <a:chExt cx="5561737" cy="2773045"/>
          </a:xfrm>
        </p:grpSpPr>
        <p:pic>
          <p:nvPicPr>
            <p:cNvPr id="10" name="Picture 9" descr="Chart&#10;&#10;Description automatically generated with medium confidence">
              <a:extLst>
                <a:ext uri="{FF2B5EF4-FFF2-40B4-BE49-F238E27FC236}">
                  <a16:creationId xmlns:a16="http://schemas.microsoft.com/office/drawing/2014/main" id="{3A29467A-5E00-8648-9C40-EC81B7EC9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9778" y="3360421"/>
              <a:ext cx="3119120" cy="2773045"/>
            </a:xfrm>
            <a:prstGeom prst="rect">
              <a:avLst/>
            </a:prstGeom>
          </p:spPr>
        </p:pic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1AB57CB-D919-7D4A-AD8A-BA9B58073148}"/>
                </a:ext>
              </a:extLst>
            </p:cNvPr>
            <p:cNvSpPr/>
            <p:nvPr/>
          </p:nvSpPr>
          <p:spPr>
            <a:xfrm>
              <a:off x="3132323" y="3429000"/>
              <a:ext cx="2797810" cy="1694180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pic>
          <p:nvPicPr>
            <p:cNvPr id="3" name="Picture 2" descr="Calendar&#10;&#10;Description automatically generated">
              <a:extLst>
                <a:ext uri="{FF2B5EF4-FFF2-40B4-BE49-F238E27FC236}">
                  <a16:creationId xmlns:a16="http://schemas.microsoft.com/office/drawing/2014/main" id="{7309B4E5-0711-264A-A468-13B11199D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65038" y="3429001"/>
              <a:ext cx="2086477" cy="1473479"/>
            </a:xfrm>
            <a:prstGeom prst="rect">
              <a:avLst/>
            </a:prstGeom>
          </p:spPr>
        </p:pic>
      </p:grp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2.7.2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Multiplying Binomials</a:t>
            </a:r>
          </a:p>
        </p:txBody>
      </p:sp>
      <p:pic>
        <p:nvPicPr>
          <p:cNvPr id="15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4"/>
                <a:ext cx="1098598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 algebra tiles model and an area model of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+2)(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shown. The orange box in both models shows that </a:t>
                </a:r>
                <a:r>
                  <a:rPr lang="en-US" alt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𝑥 from the first factor was distributed to the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4"/>
                <a:ext cx="10985981" cy="1200329"/>
              </a:xfrm>
              <a:prstGeom prst="rect">
                <a:avLst/>
              </a:prstGeom>
              <a:blipFill rotWithShape="1">
                <a:blip r:embed="rId7"/>
                <a:stretch>
                  <a:fillRect l="-832" t="-4569" r="-444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4" name="Group 3"/>
          <p:cNvGrpSpPr/>
          <p:nvPr/>
        </p:nvGrpSpPr>
        <p:grpSpPr>
          <a:xfrm>
            <a:off x="2999900" y="1712464"/>
            <a:ext cx="5975815" cy="2773045"/>
            <a:chOff x="2976880" y="1300985"/>
            <a:chExt cx="5975815" cy="2773045"/>
          </a:xfrm>
        </p:grpSpPr>
        <p:grpSp>
          <p:nvGrpSpPr>
            <p:cNvPr id="2" name="Group 1"/>
            <p:cNvGrpSpPr/>
            <p:nvPr/>
          </p:nvGrpSpPr>
          <p:grpSpPr>
            <a:xfrm>
              <a:off x="2976880" y="1300985"/>
              <a:ext cx="3119120" cy="2773045"/>
              <a:chOff x="2976880" y="1300985"/>
              <a:chExt cx="3119120" cy="2773045"/>
            </a:xfrm>
          </p:grpSpPr>
          <p:pic>
            <p:nvPicPr>
              <p:cNvPr id="8" name="Picture 7" descr="Chart&#10;&#10;Description automatically generated with medium confidence">
                <a:extLst>
                  <a:ext uri="{FF2B5EF4-FFF2-40B4-BE49-F238E27FC236}">
                    <a16:creationId xmlns:a16="http://schemas.microsoft.com/office/drawing/2014/main" id="{C0BBC7E6-68A6-2343-BBF5-2ECC531CE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76880" y="1300985"/>
                <a:ext cx="3119120" cy="2773045"/>
              </a:xfrm>
              <a:prstGeom prst="rect">
                <a:avLst/>
              </a:prstGeom>
            </p:spPr>
          </p:pic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02ACCB0D-7026-A442-8F5B-BEB87CCEF822}"/>
                  </a:ext>
                </a:extLst>
              </p:cNvPr>
              <p:cNvSpPr/>
              <p:nvPr/>
            </p:nvSpPr>
            <p:spPr>
              <a:xfrm>
                <a:off x="3513456" y="1462909"/>
                <a:ext cx="2318385" cy="421005"/>
              </a:xfrm>
              <a:prstGeom prst="roundRect">
                <a:avLst/>
              </a:prstGeom>
              <a:noFill/>
              <a:ln w="571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2C5D5957-5CA2-3F40-B268-DDA8C62FE92E}"/>
                  </a:ext>
                </a:extLst>
              </p:cNvPr>
              <p:cNvSpPr/>
              <p:nvPr/>
            </p:nvSpPr>
            <p:spPr>
              <a:xfrm>
                <a:off x="3074670" y="3023525"/>
                <a:ext cx="2700020" cy="710565"/>
              </a:xfrm>
              <a:prstGeom prst="roundRect">
                <a:avLst/>
              </a:prstGeom>
              <a:noFill/>
              <a:ln w="5715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pic>
          <p:nvPicPr>
            <p:cNvPr id="3" name="Picture 2" descr="Calendar&#10;&#10;Description automatically generated">
              <a:extLst>
                <a:ext uri="{FF2B5EF4-FFF2-40B4-BE49-F238E27FC236}">
                  <a16:creationId xmlns:a16="http://schemas.microsoft.com/office/drawing/2014/main" id="{B9199F35-BCC2-2B48-A018-750DDA9C0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32576" y="1434334"/>
              <a:ext cx="2320119" cy="1603742"/>
            </a:xfrm>
            <a:prstGeom prst="rect">
              <a:avLst/>
            </a:prstGeom>
          </p:spPr>
        </p:pic>
      </p:grp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pink boxes show </a:t>
                </a:r>
                <a:r>
                  <a:rPr lang="en-US" altLang="en-US" sz="2400" dirty="0">
                    <a:solidFill>
                      <a:srgbClr val="FF40FF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400" dirty="0">
                    <a:solidFill>
                      <a:srgbClr val="FF40FF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from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>
                    <a:solidFill>
                      <a:srgbClr val="FF40FF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being distributed to the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4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4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890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04A76F-93BD-2C4C-8CD0-9832F25EC27B}"/>
              </a:ext>
            </a:extLst>
          </p:cNvPr>
          <p:cNvGrpSpPr/>
          <p:nvPr/>
        </p:nvGrpSpPr>
        <p:grpSpPr>
          <a:xfrm>
            <a:off x="2781300" y="2298009"/>
            <a:ext cx="6629400" cy="812140"/>
            <a:chOff x="2031300" y="3373600"/>
            <a:chExt cx="6629400" cy="8128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30E974C-6603-C046-8B98-DDE410AC9675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812800"/>
              <a:chOff x="2031300" y="3373600"/>
              <a:chExt cx="6629400" cy="8128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0A556F-AC30-E342-BAE1-57461A063A61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B19201A-EF0C-C440-A203-9EFC5110A7EE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Distributing the </a:t>
                </a:r>
                <a:r>
                  <a:rPr lang="en-US" sz="20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𝑥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algebraically represented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79B59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79B59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79B59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rgbClr val="F79B59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+3</m:t>
                        </m:r>
                      </m:e>
                    </m:d>
                    <m:r>
                      <a:rPr lang="en-US" sz="2000" b="0" i="1" smtClean="0">
                        <a:solidFill>
                          <a:srgbClr val="F79B59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2(</m:t>
                    </m:r>
                    <m:r>
                      <a:rPr lang="en-US" sz="2000" b="0" i="1" dirty="0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b="0" i="1" dirty="0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Apply the distributive property. Then combine like terms.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+3)+2(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+3)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algebra tile model or area model relates to applying the distributive property.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blipFill>
                <a:blip r:embed="rId4"/>
                <a:stretch>
                  <a:fillRect l="-579" t="-862" b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Diagram, table&#10;&#10;Description automatically generated">
            <a:extLst>
              <a:ext uri="{FF2B5EF4-FFF2-40B4-BE49-F238E27FC236}">
                <a16:creationId xmlns:a16="http://schemas.microsoft.com/office/drawing/2014/main" id="{51C809F6-A57A-B040-93BB-439CA61678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5546" y="2174632"/>
            <a:ext cx="6144523" cy="3639613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Brayden and Jackson were asked to find the product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−8)(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different methods.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work for each student using the method they were assigned.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612" t="-2294" r="-1169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AEDBB1E5-3D1B-474A-AC56-115A641D0F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0846" y="3160252"/>
            <a:ext cx="3473924" cy="2720678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𝑚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)(5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distributive property.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𝑎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+3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an area model.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246769"/>
              </a:xfrm>
              <a:prstGeom prst="rect">
                <a:avLst/>
              </a:prstGeom>
              <a:blipFill rotWithShape="1">
                <a:blip r:embed="rId5"/>
                <a:stretch>
                  <a:fillRect l="-612"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617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tabLst>
                <a:tab pos="2238375" algn="l"/>
              </a:tabLst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2.7.3 Guided Practice: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Multiplying Binomials</a:t>
            </a: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491419"/>
                <a:ext cx="10758527" cy="2768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each product using your preferred method. Show your work.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17−</m:t>
                        </m:r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</m:t>
                        </m:r>
                        <m:sSup>
                          <m:sSupPr>
                            <m:ctrlP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+6</m:t>
                        </m:r>
                      </m:e>
                    </m:d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E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+13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491419"/>
                <a:ext cx="10758527" cy="2768194"/>
              </a:xfrm>
              <a:prstGeom prst="rect">
                <a:avLst/>
              </a:prstGeom>
              <a:blipFill rotWithShape="1">
                <a:blip r:embed="rId5"/>
                <a:stretch>
                  <a:fillRect l="-567"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AEC700F5-BE16-9F44-AAE2-499E6AA200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0101" y="3325306"/>
            <a:ext cx="3797247" cy="1746265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4"/>
            <a:ext cx="10478463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2.7.4 Collaboration: Multiplying Polynomials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29070" y="1386025"/>
                <a:ext cx="1100151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same methods can be extended to multiply any polynomial.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−1)(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area model.</a:t>
                </a: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/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+7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−26</m:t>
                        </m:r>
                      </m:e>
                    </m:d>
                    <m:r>
                      <a:rPr lang="es-E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70" y="1386025"/>
                <a:ext cx="11001514" cy="4401205"/>
              </a:xfrm>
              <a:prstGeom prst="rect">
                <a:avLst/>
              </a:prstGeom>
              <a:blipFill rotWithShape="1">
                <a:blip r:embed="rId6"/>
                <a:stretch>
                  <a:fillRect l="-609" t="-693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988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1.5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−5</m:t>
                        </m:r>
                      </m:e>
                    </m:d>
                    <m:d>
                      <m:dPr>
                        <m:ctrlPr>
                          <a:rPr lang="x-none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4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−7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+3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distributive property. </a:t>
                </a: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 startAt="2"/>
                </a:pPr>
                <a:endParaRPr lang="x-none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1.5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x-none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x-none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−7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+3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−5</m:t>
                      </m:r>
                      <m:d>
                        <m:dPr>
                          <m:ctrlPr>
                            <a:rPr lang="x-none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x-none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−7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x-none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x-none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x-none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x-none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8890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answers with your partner and resolve any differences. </a:t>
                </a:r>
                <a:endParaRPr lang="x-none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988190"/>
              </a:xfrm>
              <a:prstGeom prst="rect">
                <a:avLst/>
              </a:prstGeom>
              <a:blipFill rotWithShape="1">
                <a:blip r:embed="rId4"/>
                <a:stretch>
                  <a:fillRect t="-1426" b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A195F930-DFC0-CB45-B0A8-D3BF35432C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8714" y="1702441"/>
            <a:ext cx="5917022" cy="403764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019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Decide who will be Partner A and who will be Partner B.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product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𝑛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−14)(3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method indicated.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019190"/>
              </a:xfrm>
              <a:prstGeom prst="rect">
                <a:avLst/>
              </a:prstGeom>
              <a:blipFill rotWithShape="1">
                <a:blip r:embed="rId5"/>
                <a:stretch>
                  <a:fillRect l="-612" t="-3571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43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answers with your partner and resolve any differences. </a:t>
            </a:r>
          </a:p>
          <a:p>
            <a:pPr marL="8890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any connections you notice between the methods used to find the product.</a:t>
            </a:r>
          </a:p>
          <a:p>
            <a:pPr marL="8890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3763">
              <a:tabLst>
                <a:tab pos="48006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multiplying polynomials, I prefer to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	because ...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26EDEB6-71CB-E547-8C7D-E15C7F6526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3267" y="4616445"/>
            <a:ext cx="2673956" cy="81492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31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66E6F95-CEF9-434C-A14E-CF15E1061A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2687393"/>
                  </p:ext>
                </p:extLst>
              </p:nvPr>
            </p:nvGraphicFramePr>
            <p:xfrm>
              <a:off x="1291129" y="2055505"/>
              <a:ext cx="6706270" cy="396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68636">
                      <a:extLst>
                        <a:ext uri="{9D8B030D-6E8A-4147-A177-3AD203B41FA5}">
                          <a16:colId xmlns:a16="http://schemas.microsoft.com/office/drawing/2014/main" val="2325073"/>
                        </a:ext>
                      </a:extLst>
                    </a:gridCol>
                    <a:gridCol w="3437634">
                      <a:extLst>
                        <a:ext uri="{9D8B030D-6E8A-4147-A177-3AD203B41FA5}">
                          <a16:colId xmlns:a16="http://schemas.microsoft.com/office/drawing/2014/main" val="1954475095"/>
                        </a:ext>
                      </a:extLst>
                    </a:gridCol>
                  </a:tblGrid>
                  <a:tr h="396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𝑎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−5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𝑎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+2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−8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1432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66E6F95-CEF9-434C-A14E-CF15E1061A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2687393"/>
                  </p:ext>
                </p:extLst>
              </p:nvPr>
            </p:nvGraphicFramePr>
            <p:xfrm>
              <a:off x="1291129" y="2055505"/>
              <a:ext cx="6706270" cy="396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68636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325073"/>
                        </a:ext>
                      </a:extLst>
                    </a:gridCol>
                    <a:gridCol w="343763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954475095"/>
                        </a:ext>
                      </a:extLst>
                    </a:gridCol>
                  </a:tblGrid>
                  <a:tr h="39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7" r="-105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5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9714328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2.7.5 Your Turn!</a:t>
            </a:r>
          </a:p>
        </p:txBody>
      </p:sp>
      <p:pic>
        <p:nvPicPr>
          <p:cNvPr id="12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730266" y="1408886"/>
            <a:ext cx="1080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product of each expression using your preferred method.</a:t>
            </a:r>
          </a:p>
        </p:txBody>
      </p:sp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1B043F9-0A63-5D4F-8F44-F50B9EE31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8913176"/>
                  </p:ext>
                </p:extLst>
              </p:nvPr>
            </p:nvGraphicFramePr>
            <p:xfrm>
              <a:off x="2729700" y="533066"/>
              <a:ext cx="7200000" cy="41980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3676049234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389880844"/>
                        </a:ext>
                      </a:extLst>
                    </a:gridCol>
                  </a:tblGrid>
                  <a:tr h="41980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PH" sz="2000" i="1" dirty="0">
                            <a:effectLst/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7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𝑟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−0.18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−6+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+4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𝑦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+1+30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−4+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panose="020B0604030504040204" pitchFamily="34" charset="0"/>
                                            <a:cs typeface="Verdana" panose="020B0604030504040204" pitchFamily="34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129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1B043F9-0A63-5D4F-8F44-F50B9EE31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8913176"/>
                  </p:ext>
                </p:extLst>
              </p:nvPr>
            </p:nvGraphicFramePr>
            <p:xfrm>
              <a:off x="2729700" y="533066"/>
              <a:ext cx="7200000" cy="41980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676049234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89880844"/>
                        </a:ext>
                      </a:extLst>
                    </a:gridCol>
                  </a:tblGrid>
                  <a:tr h="4198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8" r="-122411" b="-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1846" b="-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691296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yellow sign with black text&#10;&#10;Description automatically generated with low confidence">
            <a:extLst>
              <a:ext uri="{FF2B5EF4-FFF2-40B4-BE49-F238E27FC236}">
                <a16:creationId xmlns:a16="http://schemas.microsoft.com/office/drawing/2014/main" id="{589580F6-ABC1-734E-998B-98EB6B9EBB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225" y="2131760"/>
            <a:ext cx="3962400" cy="401574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2.7.6 Wrap-Up: Reflection</a:t>
            </a: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“in the zone” do you feel right now about multiplying polynomials?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3169</TotalTime>
  <Words>793</Words>
  <Application>Microsoft Macintosh PowerPoint</Application>
  <PresentationFormat>Widescreen</PresentationFormat>
  <Paragraphs>175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Times New Roman</vt:lpstr>
      <vt:lpstr>Calibri</vt:lpstr>
      <vt:lpstr>Arial Black</vt:lpstr>
      <vt:lpstr>Cambria Math</vt:lpstr>
      <vt:lpstr>Arial</vt:lpstr>
      <vt:lpstr>Wingdings</vt:lpstr>
      <vt:lpstr>Verdana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Akarshna Iyer</cp:lastModifiedBy>
  <cp:revision>46</cp:revision>
  <dcterms:created xsi:type="dcterms:W3CDTF">2015-03-17T18:51:18Z</dcterms:created>
  <dcterms:modified xsi:type="dcterms:W3CDTF">2022-07-22T22:54:12Z</dcterms:modified>
</cp:coreProperties>
</file>