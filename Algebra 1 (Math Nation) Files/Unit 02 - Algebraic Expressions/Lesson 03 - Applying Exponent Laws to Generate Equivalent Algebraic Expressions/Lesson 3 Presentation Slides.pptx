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45" r:id="rId4"/>
    <p:sldId id="286" r:id="rId5"/>
    <p:sldId id="261" r:id="rId6"/>
    <p:sldId id="287" r:id="rId7"/>
    <p:sldId id="376" r:id="rId8"/>
    <p:sldId id="377" r:id="rId9"/>
    <p:sldId id="378" r:id="rId10"/>
    <p:sldId id="385" r:id="rId11"/>
    <p:sldId id="386" r:id="rId12"/>
    <p:sldId id="314" r:id="rId13"/>
    <p:sldId id="315" r:id="rId14"/>
    <p:sldId id="316" r:id="rId15"/>
    <p:sldId id="346" r:id="rId16"/>
    <p:sldId id="347" r:id="rId17"/>
    <p:sldId id="348" r:id="rId18"/>
    <p:sldId id="349" r:id="rId19"/>
    <p:sldId id="354" r:id="rId20"/>
    <p:sldId id="355" r:id="rId21"/>
    <p:sldId id="356" r:id="rId22"/>
    <p:sldId id="306" r:id="rId23"/>
    <p:sldId id="307" r:id="rId24"/>
  </p:sldIdLst>
  <p:sldSz cx="12192000" cy="6858000"/>
  <p:notesSz cx="6858000" cy="9144000"/>
  <p:embeddedFontLst>
    <p:embeddedFont>
      <p:font typeface="Cambria Math" pitchFamily="18" charset="0"/>
      <p:regular r:id="rId26"/>
    </p:embeddedFont>
    <p:embeddedFont>
      <p:font typeface="Cambria" pitchFamily="18" charset="0"/>
      <p:regular r:id="rId27"/>
      <p:bold r:id="rId28"/>
      <p:italic r:id="rId29"/>
      <p:boldItalic r:id="rId30"/>
    </p:embeddedFont>
    <p:embeddedFont>
      <p:font typeface="Arial Black" pitchFamily="34" charset="0"/>
      <p:bold r:id="rId31"/>
    </p:embeddedFont>
    <p:embeddedFont>
      <p:font typeface="Verdana" pitchFamily="34" charset="0"/>
      <p:regular r:id="rId32"/>
      <p:bold r:id="rId33"/>
      <p:italic r:id="rId34"/>
      <p:boldItalic r:id="rId35"/>
    </p:embeddedFont>
    <p:embeddedFont>
      <p:font typeface="Calibri" pitchFamily="34" charset="0"/>
      <p:regular r:id="rId36"/>
      <p:bold r:id="rId37"/>
      <p:italic r:id="rId38"/>
      <p:boldItalic r:id="rId39"/>
    </p:embeddedFont>
    <p:embeddedFont>
      <p:font typeface="Century Gothic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B59"/>
    <a:srgbClr val="F26763"/>
    <a:srgbClr val="E24E5F"/>
    <a:srgbClr val="1765AD"/>
    <a:srgbClr val="1664AC"/>
    <a:srgbClr val="BFBFBF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44" autoAdjust="0"/>
    <p:restoredTop sz="86395" autoAdjust="0"/>
  </p:normalViewPr>
  <p:slideViewPr>
    <p:cSldViewPr snapToGrid="0">
      <p:cViewPr varScale="1">
        <p:scale>
          <a:sx n="111" d="100"/>
          <a:sy n="111" d="100"/>
        </p:scale>
        <p:origin x="-222" y="-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font" Target="fonts/font16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38086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6481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596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5246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305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084749" y="2212773"/>
            <a:ext cx="6110242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Exponent Laws to Generate Equivalent Algebraic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67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61538" y="5056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30" y="2863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41867" y="1462225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MA.912.NSO.1.2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Generate equivalent algebraic expressions using the properties of exponents.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xmlns="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xmlns="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xmlns="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63041" y="-285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xmlns="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541866" y="1463834"/>
            <a:ext cx="1051560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37CC83FF-5C83-CD42-A75D-B443F14E1C1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30" y="2863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65462" y="-285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430" y="2863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41867" y="1473200"/>
            <a:ext cx="1008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7063" indent="-62706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generate equivalent algebraic expressions using properties (laws) of exponents. 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147E8E3-844B-6A49-A77E-05F3246D39F6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43D2F04D-C861-A149-B5F8-A913FBED75A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63041" y="353894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2.3.1 Warm-Up: Dividing Monomials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430" y="2756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41868" y="1467441"/>
                <a:ext cx="10515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digits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at most one time each, fill in the boxes to make the statement true.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68" y="1467441"/>
                <a:ext cx="10515600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928" t="-4569" r="-92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3">
            <a:extLst>
              <a:ext uri="{FF2B5EF4-FFF2-40B4-BE49-F238E27FC236}">
                <a16:creationId xmlns:a16="http://schemas.microsoft.com/office/drawing/2014/main" xmlns="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xmlns="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xmlns="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xmlns="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0CD40667-98C3-7A43-A8EC-50FA988E094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xmlns="" id="{CD0FA36B-7E25-1C44-8D7D-C4AF24ABBF3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3461" y="2334358"/>
            <a:ext cx="5512414" cy="189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3.png" descr="Icon&#10;&#10;Description automatically generated">
            <a:extLst>
              <a:ext uri="{FF2B5EF4-FFF2-40B4-BE49-F238E27FC236}">
                <a16:creationId xmlns:a16="http://schemas.microsoft.com/office/drawing/2014/main" xmlns="" id="{0D19F6B6-A388-1443-A380-52938AB2312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36165"/>
            <a:ext cx="1158151" cy="115815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3041" y="-292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2.3.2 Guided Practice: Using Different Methods to </a:t>
            </a:r>
            <a:r>
              <a:rPr lang="en-US" sz="32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Generate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Equivalent Expressions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866" y="1466020"/>
                <a:ext cx="10515600" cy="315907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Consider 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x-none" sz="2400" i="1"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(7</m:t>
                        </m:r>
                        <m:sSup>
                          <m:sSupPr>
                            <m:ctrlPr>
                              <a:rPr lang="x-none" sz="2400" i="1"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x-none" sz="2400" i="1"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expanded form to generate an equivalent expression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x-none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x-none" sz="2400" i="1"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(7</m:t>
                        </m:r>
                        <m:sSup>
                          <m:sSupPr>
                            <m:ctrlPr>
                              <a:rPr lang="x-none" sz="2400" i="1"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x-none" sz="2400" i="1"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(7</m:t>
                          </m:r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(4·      )(7·       ·       ·        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(2)(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·      )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</m:oMath>
                  </m:oMathPara>
                </a14:m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866" y="1466020"/>
                <a:ext cx="10515600" cy="3159070"/>
              </a:xfrm>
              <a:prstGeom prst="rect">
                <a:avLst/>
              </a:prstGeom>
              <a:blipFill rotWithShape="1">
                <a:blip r:embed="rId4"/>
                <a:stretch>
                  <a:fillRect l="-928" r="-9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3.png" descr="Icon&#10;&#10;Description automatically generated">
            <a:extLst>
              <a:ext uri="{FF2B5EF4-FFF2-40B4-BE49-F238E27FC236}">
                <a16:creationId xmlns:a16="http://schemas.microsoft.com/office/drawing/2014/main" xmlns="" id="{7A2D9D50-9448-8245-B927-6E7175407A67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0298" y="286211"/>
            <a:ext cx="747432" cy="74743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66" y="387146"/>
            <a:ext cx="10515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8890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expression shown, indicate the laws of exponents used to generate the equivalent expressions.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E659189E-0157-D540-89BC-CD5986F2B4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360148"/>
                  </p:ext>
                </p:extLst>
              </p:nvPr>
            </p:nvGraphicFramePr>
            <p:xfrm>
              <a:off x="1580651" y="1412236"/>
              <a:ext cx="6840000" cy="237439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="" val="2952992244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="" val="3686006092"/>
                        </a:ext>
                      </a:extLst>
                    </a:gridCol>
                  </a:tblGrid>
                  <a:tr h="180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(7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28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=14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Negative Exponent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Product of Powers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Quotient of Powers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Power of a Product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Zero Exponent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Power of a Power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Power of a Quotient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3420400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659189E-0157-D540-89BC-CD5986F2B4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360148"/>
                  </p:ext>
                </p:extLst>
              </p:nvPr>
            </p:nvGraphicFramePr>
            <p:xfrm>
              <a:off x="1580651" y="1412236"/>
              <a:ext cx="6840000" cy="237439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52992244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686006092"/>
                        </a:ext>
                      </a:extLst>
                    </a:gridCol>
                  </a:tblGrid>
                  <a:tr h="23743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542" r="-111488" b="-3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Negative Exponent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Product of Powers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Quotient of Powers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Power of a Product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Zero Exponent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Power of a Power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449263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pitchFamily="2" charset="2"/>
                            <a:buChar char="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Power of a Quotient 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420400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810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5C5D1B9F-A752-AD42-8D60-9B883A251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866" y="381638"/>
                <a:ext cx="10515600" cy="18585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Three students used different methods to generate an equivalent expression for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4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en-US" sz="2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s-ES" alt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·</m:t>
                                </m:r>
                                <m:sSup>
                                  <m:sSupPr>
                                    <m:ctrlPr>
                                      <a:rPr lang="en-U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6</m:t>
                                    </m:r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s-ES" altLang="en-US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890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Finish the work for each student.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5D1B9F-A752-AD42-8D60-9B883A251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866" y="381638"/>
                <a:ext cx="10515600" cy="1858522"/>
              </a:xfrm>
              <a:prstGeom prst="rect">
                <a:avLst/>
              </a:prstGeom>
              <a:blipFill rotWithShape="1">
                <a:blip r:embed="rId4"/>
                <a:stretch>
                  <a:fillRect l="-928" t="-2632" b="-69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E51BA545-60A7-1043-8DDD-1EDADCFC1A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6464005"/>
                  </p:ext>
                </p:extLst>
              </p:nvPr>
            </p:nvGraphicFramePr>
            <p:xfrm>
              <a:off x="1551634" y="2345430"/>
              <a:ext cx="5760000" cy="352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106867027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702981219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Sebastian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Ana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120325888"/>
                      </a:ext>
                    </a:extLst>
                  </a:tr>
                  <a:tr h="306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5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·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3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4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6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 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25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·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9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36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5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·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3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4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6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15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7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6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2177982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51BA545-60A7-1043-8DDD-1EDADCFC1A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6464005"/>
                  </p:ext>
                </p:extLst>
              </p:nvPr>
            </p:nvGraphicFramePr>
            <p:xfrm>
              <a:off x="1551634" y="2345430"/>
              <a:ext cx="5760000" cy="352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06867027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702981219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Sebastian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Ana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20325888"/>
                      </a:ext>
                    </a:extLst>
                  </a:tr>
                  <a:tr h="30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2" t="-15569" r="-100212" b="-2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212" t="-15569" r="-212" b="-2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4217798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5995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129F2CC7-C725-3E4D-AE12-1E5EC308A2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087099"/>
                  </p:ext>
                </p:extLst>
              </p:nvPr>
            </p:nvGraphicFramePr>
            <p:xfrm>
              <a:off x="1533728" y="417330"/>
              <a:ext cx="6840000" cy="424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840000">
                      <a:extLst>
                        <a:ext uri="{9D8B030D-6E8A-4147-A177-3AD203B41FA5}">
                          <a16:colId xmlns:a16="http://schemas.microsoft.com/office/drawing/2014/main" xmlns="" val="284271408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Libby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396" marR="5639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97629929"/>
                      </a:ext>
                    </a:extLst>
                  </a:tr>
                  <a:tr h="3780000"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5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3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·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3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4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x-none" sz="2000" i="1">
                                                    <a:effectLst/>
                                                    <a:latin typeface="Cambria Math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6</m:t>
                                                </m:r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 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5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6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5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6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i="1">
                                            <a:effectLst/>
                                            <a:latin typeface="Cambria Math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5·5·3·3·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6·6·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9676262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29F2CC7-C725-3E4D-AE12-1E5EC308A2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6087099"/>
                  </p:ext>
                </p:extLst>
              </p:nvPr>
            </p:nvGraphicFramePr>
            <p:xfrm>
              <a:off x="1533728" y="417330"/>
              <a:ext cx="6840000" cy="424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8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4271408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Libby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6396" marR="56396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97629929"/>
                      </a:ext>
                    </a:extLst>
                  </a:tr>
                  <a:tr h="37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89" t="-12419" b="-1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96762628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5C5D1B9F-A752-AD42-8D60-9B883A251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66" y="4887429"/>
            <a:ext cx="10515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8890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the differences in the methods used by each student. Then, determine if the different methods each produced the same equivalent expression.</a:t>
            </a:r>
          </a:p>
        </p:txBody>
      </p:sp>
    </p:spTree>
    <p:extLst>
      <p:ext uri="{BB962C8B-B14F-4D97-AF65-F5344CB8AC3E}">
        <p14:creationId xmlns:p14="http://schemas.microsoft.com/office/powerpoint/2010/main" val="3853145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151453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13.png" descr="Icon&#10;&#10;Description automatically generated">
            <a:extLst>
              <a:ext uri="{FF2B5EF4-FFF2-40B4-BE49-F238E27FC236}">
                <a16:creationId xmlns:a16="http://schemas.microsoft.com/office/drawing/2014/main" xmlns="" id="{507D534B-937C-B847-B2F5-783C43D0906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2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63041" y="-411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2.3.3 Try It: Generating Equivalent Algebraic Expressions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46B19A2-BBA2-0441-AC88-F1F62E75949B}"/>
              </a:ext>
            </a:extLst>
          </p:cNvPr>
          <p:cNvSpPr txBox="1"/>
          <p:nvPr/>
        </p:nvSpPr>
        <p:spPr>
          <a:xfrm>
            <a:off x="541867" y="1466332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of the following, find an equivalent expression. </a:t>
            </a:r>
          </a:p>
        </p:txBody>
      </p:sp>
      <p:pic>
        <p:nvPicPr>
          <p:cNvPr id="31" name="image13.png" descr="Icon&#10;&#10;Description automatically generated">
            <a:extLst>
              <a:ext uri="{FF2B5EF4-FFF2-40B4-BE49-F238E27FC236}">
                <a16:creationId xmlns:a16="http://schemas.microsoft.com/office/drawing/2014/main" xmlns="" id="{2A117E6F-4607-4940-8B1B-B30B5136699F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7919" y="283832"/>
            <a:ext cx="749811" cy="749811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3058777F-2856-404A-A746-2A1F6E47F7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2727165"/>
                  </p:ext>
                </p:extLst>
              </p:nvPr>
            </p:nvGraphicFramePr>
            <p:xfrm>
              <a:off x="1133152" y="2016692"/>
              <a:ext cx="8640000" cy="407670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1444349697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3696951988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30964278"/>
                        </a:ext>
                      </a:extLst>
                    </a:gridCol>
                  </a:tblGrid>
                  <a:tr h="1084581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b="1" i="1"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x-none" sz="2000" b="1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x-none" sz="2000" b="1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b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𝟏𝟎</m:t>
                                            </m:r>
                                            <m:r>
                                              <a:rPr lang="en-US" sz="2000" b="1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𝒉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000" b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sz="2000" b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  <m:sSup>
                                      <m:sSupPr>
                                        <m:ctrlPr>
                                          <a:rPr lang="x-none" sz="2000" b="1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𝒉</m:t>
                                        </m:r>
                                      </m:e>
                                      <m:sup>
                                        <m:r>
                                          <a:rPr lang="en-US" sz="2000" b="1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𝟔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x-none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b="1" i="1">
                                        <a:effectLst/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b="1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x-none" sz="2000" b="1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  <m:r>
                                              <a:rPr lang="en-US" sz="2000" b="1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  <m:r>
                                              <a:rPr lang="en-US" sz="2000" b="1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·−</m:t>
                                            </m:r>
                                            <m:r>
                                              <a:rPr lang="en-US" sz="2000" b="1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𝟑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x-none" sz="2000" b="1" i="1">
                                                    <a:effectLst/>
                                                    <a:latin typeface="Cambria Math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b="1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𝒄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b="1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𝟒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sSup>
                                              <m:sSupPr>
                                                <m:ctrlPr>
                                                  <a:rPr lang="x-none" sz="2000" b="1" i="1">
                                                    <a:effectLst/>
                                                    <a:latin typeface="Cambria Math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000" b="1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𝟖</m:t>
                                                </m:r>
                                                <m:r>
                                                  <a:rPr lang="en-US" sz="2000" b="1" i="1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𝒄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2000" b="1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</a:rPr>
                                                  <m:t>𝟐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·−</m:t>
                                            </m:r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𝟔</m:t>
                                            </m:r>
                                            <m:r>
                                              <a:rPr lang="en-US" sz="2000" b="1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𝒄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b="1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b="1" i="1">
                                        <a:effectLst/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x-none" sz="2000" b="1" i="1"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b="1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𝟏𝟐</m:t>
                                        </m:r>
                                        <m:r>
                                          <a:rPr lang="en-US" sz="2000" b="1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  <m:sSup>
                                          <m:sSupPr>
                                            <m:ctrlPr>
                                              <a:rPr lang="x-none" sz="2000" b="1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  <m:r>
                                          <a:rPr lang="en-US" sz="2000" b="1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·</m:t>
                                        </m:r>
                                        <m:r>
                                          <a:rPr lang="en-US" sz="2000" b="1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  <m:sSup>
                                          <m:sSupPr>
                                            <m:ctrlPr>
                                              <a:rPr lang="x-none" sz="2000" b="1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𝟒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x-none" sz="2000" b="1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𝟓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sz="2000" b="1" i="1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𝟔</m:t>
                                        </m:r>
                                        <m:sSup>
                                          <m:sSupPr>
                                            <m:ctrlPr>
                                              <a:rPr lang="x-none" sz="2000" b="1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𝟕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x-none" sz="2000" b="1" i="1">
                                                <a:effectLst/>
                                                <a:latin typeface="Cambria Math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b="1" i="1" smtClea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𝟏𝟎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2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where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smtClean="0">
                                  <a:effectLst/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2000" b="1" i="1">
                                  <a:effectLst/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x-none" sz="20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80553259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823810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058777F-2856-404A-A746-2A1F6E47F7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2727165"/>
                  </p:ext>
                </p:extLst>
              </p:nvPr>
            </p:nvGraphicFramePr>
            <p:xfrm>
              <a:off x="1133152" y="2016692"/>
              <a:ext cx="8640000" cy="4076703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444349697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696951988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30964278"/>
                        </a:ext>
                      </a:extLst>
                    </a:gridCol>
                  </a:tblGrid>
                  <a:tr h="155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2" t="-392" r="-200424" b="-16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000" t="-392" r="-100000" b="-16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0424" t="-392" r="-212" b="-16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80553259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823810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0814DF0-CB0F-CE4A-A504-DEE56AFFF9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B71B7AA-10E7-9B44-A591-563821260A41}"/>
              </a:ext>
            </a:extLst>
          </p:cNvPr>
          <p:cNvSpPr txBox="1"/>
          <p:nvPr/>
        </p:nvSpPr>
        <p:spPr>
          <a:xfrm>
            <a:off x="541866" y="378497"/>
            <a:ext cx="10800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answers with your partner and resolve any differences, if necessary. 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and discuss the methods you used to create each equivalent algebraic expression. </a:t>
            </a:r>
          </a:p>
        </p:txBody>
      </p: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68237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7.png" descr="Icon&#10;&#10;Description automatically generated">
            <a:extLst>
              <a:ext uri="{FF2B5EF4-FFF2-40B4-BE49-F238E27FC236}">
                <a16:creationId xmlns:a16="http://schemas.microsoft.com/office/drawing/2014/main" xmlns="" id="{927A8A48-1A2D-D34B-9154-A56CF04DBCC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779793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3041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2.3.4 Bring It Together: Generating Multiple Equivalent Algebraic Expressions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867" y="1464494"/>
                <a:ext cx="10515600" cy="12569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how to show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d>
                          <m:d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+4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equivalent to </a:t>
                </a:r>
                <a14:m>
                  <m:oMath xmlns:m="http://schemas.openxmlformats.org/officeDocument/2006/math"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81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9</m:t>
                            </m:r>
                          </m:e>
                        </m:d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Summarize your discussion.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867" y="1464494"/>
                <a:ext cx="10515600" cy="1256947"/>
              </a:xfrm>
              <a:prstGeom prst="rect">
                <a:avLst/>
              </a:prstGeom>
              <a:blipFill rotWithShape="1">
                <a:blip r:embed="rId4"/>
                <a:stretch>
                  <a:fillRect l="-9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7.png" descr="Icon&#10;&#10;Description automatically generated">
            <a:extLst>
              <a:ext uri="{FF2B5EF4-FFF2-40B4-BE49-F238E27FC236}">
                <a16:creationId xmlns:a16="http://schemas.microsoft.com/office/drawing/2014/main" xmlns="" id="{8138CB57-FD39-F741-B65B-AC0652A245E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0430" y="289134"/>
            <a:ext cx="747432" cy="747432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5C5D1B9F-A752-AD42-8D60-9B883A251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5138" y="377291"/>
                <a:ext cx="10515600" cy="4866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Prove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d>
                          <m:d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+4</m:t>
                            </m:r>
                          </m:e>
                        </m:d>
                      </m:sup>
                    </m:sSup>
                    <m:r>
                      <a:rPr lang="es-E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81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9</m:t>
                            </m:r>
                          </m:e>
                        </m:d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en-US" sz="2400" dirty="0" smtClean="0">
                    <a:solidFill>
                      <a:schemeClr val="tx1"/>
                    </a:solidFill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by filling in the value for each blank.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5D1B9F-A752-AD42-8D60-9B883A251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138" y="377291"/>
                <a:ext cx="10515600" cy="486672"/>
              </a:xfrm>
              <a:prstGeom prst="rect">
                <a:avLst/>
              </a:prstGeom>
              <a:blipFill rotWithShape="1">
                <a:blip r:embed="rId4"/>
                <a:stretch>
                  <a:fillRect l="-870" t="-6250" b="-2625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Table&#10;&#10;Description automatically generated with low confidence">
            <a:extLst>
              <a:ext uri="{FF2B5EF4-FFF2-40B4-BE49-F238E27FC236}">
                <a16:creationId xmlns:a16="http://schemas.microsoft.com/office/drawing/2014/main" xmlns="" id="{D445AB5D-784F-9141-BC99-CD0B4ED3C1D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2602" y="968544"/>
            <a:ext cx="3928414" cy="513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41868" y="381206"/>
                <a:ext cx="10515600" cy="4444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𝑧</m:t>
                        </m:r>
                      </m:e>
                      <m:sup>
                        <m:d>
                          <m:dPr>
                            <m:ctrlPr>
                              <a:rPr lang="en-US" sz="24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5</m:t>
                            </m:r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−6</m:t>
                            </m:r>
                          </m:e>
                        </m:d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 dirty="0">
                                    <a:latin typeface="Cambria Math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 dirty="0">
                                        <a:latin typeface="Cambria Math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2400" i="1" dirty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s-ES" sz="2400" i="1" dirty="0"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sSup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using the laws of exponents. Show your work.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laws of exponents to write two equivalent expressions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1.2</m:t>
                        </m:r>
                      </m:e>
                      <m:sup>
                        <m:d>
                          <m:dPr>
                            <m:ctrlPr>
                              <a:rPr lang="en-US" sz="2400" i="1" dirty="0">
                                <a:latin typeface="Cambria Math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4+2</m:t>
                            </m:r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68" y="381206"/>
                <a:ext cx="10515600" cy="4444294"/>
              </a:xfrm>
              <a:prstGeom prst="rect">
                <a:avLst/>
              </a:prstGeom>
              <a:blipFill rotWithShape="1">
                <a:blip r:embed="rId4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2704A76F-93BD-2C4C-8CD0-9832F25EC27B}"/>
              </a:ext>
            </a:extLst>
          </p:cNvPr>
          <p:cNvGrpSpPr/>
          <p:nvPr/>
        </p:nvGrpSpPr>
        <p:grpSpPr>
          <a:xfrm>
            <a:off x="2781300" y="2298009"/>
            <a:ext cx="6629400" cy="812140"/>
            <a:chOff x="2031300" y="3373600"/>
            <a:chExt cx="6629400" cy="8128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130E974C-6603-C046-8B98-DDE410AC9675}"/>
                </a:ext>
              </a:extLst>
            </p:cNvPr>
            <p:cNvGrpSpPr/>
            <p:nvPr/>
          </p:nvGrpSpPr>
          <p:grpSpPr>
            <a:xfrm>
              <a:off x="2031300" y="3373600"/>
              <a:ext cx="6629400" cy="812800"/>
              <a:chOff x="2031300" y="3373600"/>
              <a:chExt cx="6629400" cy="8128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F80A556F-AC30-E342-BAE1-57461A063A61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xmlns="" id="{8B19201A-EF0C-C440-A203-9EFC5110A7EE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  <a:endParaRPr lang="x-none" sz="120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xmlns="" id="{758FF271-6581-5740-BCCD-706D33EA7E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4096" y="2849925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5467" y="-2858"/>
            <a:ext cx="830664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2.3.5 Your Turn!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="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865" y="1465018"/>
                <a:ext cx="10515600" cy="9136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an equivalent expression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 dirty="0" smtClean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sSup>
                          <m:sSupPr>
                            <m:ctrlPr>
                              <a:rPr lang="en-US" altLang="en-US" sz="2400" i="1" dirty="0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9</m:t>
                            </m:r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s-ES" alt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altLang="en-US" sz="2400" i="1" dirty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en-US" sz="2400" i="1" dirty="0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es-ES" alt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using the laws of exponents.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865" y="1465018"/>
                <a:ext cx="10515600" cy="913648"/>
              </a:xfrm>
              <a:prstGeom prst="rect">
                <a:avLst/>
              </a:prstGeom>
              <a:blipFill rotWithShape="1">
                <a:blip r:embed="rId4"/>
                <a:stretch>
                  <a:fillRect l="-928" t="-667" b="-10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xmlns="" id="{2B53F9A7-2434-5D4E-B654-257F5CF1B6B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430" y="286342"/>
            <a:ext cx="747301" cy="7473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="" id="{3FDC2F0F-79A9-FC41-8216-2896532792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866" y="381937"/>
                <a:ext cx="10515600" cy="3835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2.1</m:t>
                        </m:r>
                      </m:e>
                      <m:sup>
                        <m:d>
                          <m:dPr>
                            <m:ctrlPr>
                              <a:rPr lang="en-US" altLang="en-US" sz="24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es-ES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s-ES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e>
                        </m:d>
                      </m:sup>
                    </m:sSup>
                    <m:r>
                      <a:rPr lang="es-ES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=2.1</m:t>
                    </m:r>
                    <m:sSup>
                      <m:sSupPr>
                        <m:ctrlP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altLang="en-US" sz="24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9.261</m:t>
                            </m:r>
                          </m:e>
                        </m:d>
                      </m:e>
                      <m:sup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using the laws of exponents. Show your work.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4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Use the law of exponents to write two equivalent expressions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400" i="1">
                            <a:solidFill>
                              <a:schemeClr val="tx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6.2</m:t>
                        </m:r>
                      </m:e>
                      <m:sup>
                        <m:d>
                          <m:dPr>
                            <m:ctrlPr>
                              <a:rPr lang="en-US" altLang="en-US" sz="2400" i="1">
                                <a:solidFill>
                                  <a:schemeClr val="tx1"/>
                                </a:solidFill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2−3</m:t>
                            </m:r>
                            <m:r>
                              <a:rPr lang="es-ES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altLang="en-US" sz="24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Show your work. </a:t>
                </a:r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FDC2F0F-79A9-FC41-8216-289653279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866" y="381937"/>
                <a:ext cx="10515600" cy="3835665"/>
              </a:xfrm>
              <a:prstGeom prst="rect">
                <a:avLst/>
              </a:prstGeom>
              <a:blipFill rotWithShape="1">
                <a:blip r:embed="rId4"/>
                <a:stretch>
                  <a:fillRect l="-928" t="-795" b="-25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9194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97680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20743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65465" y="364547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2.3.6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430" y="286343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="" id="{AE281112-0763-C941-9DB7-9B28C4EA4745}"/>
                  </a:ext>
                </a:extLst>
              </p:cNvPr>
              <p:cNvSpPr/>
              <p:nvPr/>
            </p:nvSpPr>
            <p:spPr>
              <a:xfrm>
                <a:off x="541865" y="1463887"/>
                <a:ext cx="11167535" cy="19707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Errors were made in finding expressions equivalent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x-none" sz="24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−1)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en-PH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PH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Identify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errors, then write two correct equivalent expressions.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(3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none" sz="2400" i="1">
                                      <a:latin typeface="Cambria Math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x-none" sz="2400" i="1">
                                          <a:latin typeface="Cambria Math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x-none" sz="2400" i="1"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64</m:t>
                              </m:r>
                              <m:r>
                                <a:rPr lang="en-US" sz="2400" i="1" smtClean="0">
                                  <a:latin typeface="Cambria Math"/>
                                  <a:ea typeface="Cambria Math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</m:t>
                      </m:r>
                      <m:r>
                        <a:rPr lang="en-US" sz="2400" i="1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x-none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x-none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E281112-0763-C941-9DB7-9B28C4EA4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65" y="1463887"/>
                <a:ext cx="11167535" cy="1970796"/>
              </a:xfrm>
              <a:prstGeom prst="rect">
                <a:avLst/>
              </a:prstGeom>
              <a:blipFill rotWithShape="1">
                <a:blip r:embed="rId5"/>
                <a:stretch>
                  <a:fillRect l="-873" t="-216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937</Words>
  <Application>Microsoft Office PowerPoint</Application>
  <PresentationFormat>Custom</PresentationFormat>
  <Paragraphs>143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Wingdings</vt:lpstr>
      <vt:lpstr>Cambria Math</vt:lpstr>
      <vt:lpstr>Cambria</vt:lpstr>
      <vt:lpstr>Arial Black</vt:lpstr>
      <vt:lpstr>Verdana</vt:lpstr>
      <vt:lpstr>Calibri</vt:lpstr>
      <vt:lpstr>Times New Roman</vt:lpstr>
      <vt:lpstr>Century Gothic</vt:lpstr>
      <vt:lpstr>1_Office Theme</vt:lpstr>
      <vt:lpstr>Algebra 1  Unit 2, Lesson 3  Applying Exponent Laws to Generate Equivalent Algebraic Expressions  Volume 1, pg. 67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38</cp:revision>
  <dcterms:created xsi:type="dcterms:W3CDTF">2015-03-17T18:51:18Z</dcterms:created>
  <dcterms:modified xsi:type="dcterms:W3CDTF">2022-06-23T02:12:55Z</dcterms:modified>
</cp:coreProperties>
</file>