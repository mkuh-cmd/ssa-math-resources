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345" r:id="rId4"/>
    <p:sldId id="286" r:id="rId5"/>
    <p:sldId id="261" r:id="rId6"/>
    <p:sldId id="287" r:id="rId7"/>
    <p:sldId id="288" r:id="rId8"/>
    <p:sldId id="314" r:id="rId9"/>
    <p:sldId id="315" r:id="rId10"/>
    <p:sldId id="316" r:id="rId11"/>
    <p:sldId id="339" r:id="rId12"/>
    <p:sldId id="340" r:id="rId13"/>
    <p:sldId id="341" r:id="rId14"/>
    <p:sldId id="342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57" r:id="rId23"/>
    <p:sldId id="358" r:id="rId24"/>
    <p:sldId id="354" r:id="rId25"/>
    <p:sldId id="355" r:id="rId26"/>
    <p:sldId id="356" r:id="rId27"/>
    <p:sldId id="306" r:id="rId28"/>
    <p:sldId id="307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E5F"/>
    <a:srgbClr val="1765AD"/>
    <a:srgbClr val="1664AC"/>
    <a:srgbClr val="BFBFBF"/>
    <a:srgbClr val="C9DF6F"/>
    <a:srgbClr val="417DBF"/>
    <a:srgbClr val="3F2A67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3480" autoAdjust="0"/>
    <p:restoredTop sz="94719"/>
  </p:normalViewPr>
  <p:slideViewPr>
    <p:cSldViewPr snapToGrid="0">
      <p:cViewPr varScale="1">
        <p:scale>
          <a:sx n="128" d="100"/>
          <a:sy n="128" d="100"/>
        </p:scale>
        <p:origin x="147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56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63844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5234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816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8378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15133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512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06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0685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9524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7308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91907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40305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3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a Quadratic Function From a Table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71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9531"/>
            <a:ext cx="110165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MA.912.AR.1.2</a:t>
            </a:r>
          </a:p>
          <a:p>
            <a:pPr marL="552450" lvl="1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Rearrange equations or formulas to isolate a quantity of interest. </a:t>
            </a:r>
          </a:p>
          <a:p>
            <a:pPr marL="552450" lvl="1" indent="0">
              <a:buNone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5250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MA.912.AR.3.4</a:t>
            </a:r>
          </a:p>
          <a:p>
            <a:pPr marL="552450" lvl="1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quadratic function to represent the relationship between two quantities from a graph, a written description, or a table of values within a mathematical or real-world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759D0BD-51D0-6B40-9940-E3F570D4EA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1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1350860-5133-CF4C-91F0-82C49767E6A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1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09350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a quadratic function to represent the relationship between two quantities from a table.</a:t>
            </a:r>
          </a:p>
          <a:p>
            <a:pPr marL="685800" indent="-685800"/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685800" indent="-685800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rewrite a quadratic equation from vertex form to standard form.</a:t>
            </a:r>
          </a:p>
          <a:p>
            <a:pPr marL="685800" indent="-685800">
              <a:buFont typeface="Wingdings" pitchFamily="2" charset="2"/>
              <a:buChar char="q"/>
            </a:pPr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for a variable of interest.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3E4C45C-B662-7F44-8EF2-8BC4E4A7E35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ECAA359C-7327-AC4D-8972-D52228F67AB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Table&#10;&#10;Description automatically generated with medium confidence">
            <a:extLst>
              <a:ext uri="{FF2B5EF4-FFF2-40B4-BE49-F238E27FC236}">
                <a16:creationId xmlns:a16="http://schemas.microsoft.com/office/drawing/2014/main" id="{3638BA1E-A976-F049-AAEC-68F1D8AC693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4894" y="2200342"/>
            <a:ext cx="7178722" cy="27977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479008" y="1326087"/>
            <a:ext cx="11430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Match each of the following three graphs with the appropriate table of values. </a:t>
            </a:r>
          </a:p>
        </p:txBody>
      </p:sp>
      <p:sp>
        <p:nvSpPr>
          <p:cNvPr id="15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6390"/>
            <a:ext cx="108340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9.3.1 Warm-Up: Words, Tables, and Graphs – Part 1</a:t>
            </a:r>
          </a:p>
        </p:txBody>
      </p:sp>
      <p:pic>
        <p:nvPicPr>
          <p:cNvPr id="16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91320C37-EA31-CF41-8AA7-D98A5EC775B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id="{37F1BBC6-3850-3B49-8FE2-17A089705DC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6544" y="410666"/>
            <a:ext cx="6318913" cy="44775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did you use each table to determine the graph it matched to?</a:t>
            </a: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image11.png" descr="Table&#10;&#10;Description automatically generated">
            <a:extLst>
              <a:ext uri="{FF2B5EF4-FFF2-40B4-BE49-F238E27FC236}">
                <a16:creationId xmlns:a16="http://schemas.microsoft.com/office/drawing/2014/main" id="{61B21659-C98F-A24B-95C9-F76579A38E9B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2325" y="1460161"/>
            <a:ext cx="4257675" cy="4670997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2EBAF69-FDD5-E949-83E7-F08769BC32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1821604"/>
                  </p:ext>
                </p:extLst>
              </p:nvPr>
            </p:nvGraphicFramePr>
            <p:xfrm>
              <a:off x="1163871" y="2045012"/>
              <a:ext cx="3771900" cy="914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501650">
                      <a:extLst>
                        <a:ext uri="{9D8B030D-6E8A-4147-A177-3AD203B41FA5}">
                          <a16:colId xmlns:a16="http://schemas.microsoft.com/office/drawing/2014/main" val="2967772343"/>
                        </a:ext>
                      </a:extLst>
                    </a:gridCol>
                    <a:gridCol w="466725">
                      <a:extLst>
                        <a:ext uri="{9D8B030D-6E8A-4147-A177-3AD203B41FA5}">
                          <a16:colId xmlns:a16="http://schemas.microsoft.com/office/drawing/2014/main" val="563332488"/>
                        </a:ext>
                      </a:extLst>
                    </a:gridCol>
                    <a:gridCol w="467360">
                      <a:extLst>
                        <a:ext uri="{9D8B030D-6E8A-4147-A177-3AD203B41FA5}">
                          <a16:colId xmlns:a16="http://schemas.microsoft.com/office/drawing/2014/main" val="3531286249"/>
                        </a:ext>
                      </a:extLst>
                    </a:gridCol>
                    <a:gridCol w="467360">
                      <a:extLst>
                        <a:ext uri="{9D8B030D-6E8A-4147-A177-3AD203B41FA5}">
                          <a16:colId xmlns:a16="http://schemas.microsoft.com/office/drawing/2014/main" val="4100568227"/>
                        </a:ext>
                      </a:extLst>
                    </a:gridCol>
                    <a:gridCol w="466725">
                      <a:extLst>
                        <a:ext uri="{9D8B030D-6E8A-4147-A177-3AD203B41FA5}">
                          <a16:colId xmlns:a16="http://schemas.microsoft.com/office/drawing/2014/main" val="1200270697"/>
                        </a:ext>
                      </a:extLst>
                    </a:gridCol>
                    <a:gridCol w="467360">
                      <a:extLst>
                        <a:ext uri="{9D8B030D-6E8A-4147-A177-3AD203B41FA5}">
                          <a16:colId xmlns:a16="http://schemas.microsoft.com/office/drawing/2014/main" val="3312209805"/>
                        </a:ext>
                      </a:extLst>
                    </a:gridCol>
                    <a:gridCol w="467360">
                      <a:extLst>
                        <a:ext uri="{9D8B030D-6E8A-4147-A177-3AD203B41FA5}">
                          <a16:colId xmlns:a16="http://schemas.microsoft.com/office/drawing/2014/main" val="820456517"/>
                        </a:ext>
                      </a:extLst>
                    </a:gridCol>
                    <a:gridCol w="467360">
                      <a:extLst>
                        <a:ext uri="{9D8B030D-6E8A-4147-A177-3AD203B41FA5}">
                          <a16:colId xmlns:a16="http://schemas.microsoft.com/office/drawing/2014/main" val="6662660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2044313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2315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2EBAF69-FDD5-E949-83E7-F08769BC32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1821604"/>
                  </p:ext>
                </p:extLst>
              </p:nvPr>
            </p:nvGraphicFramePr>
            <p:xfrm>
              <a:off x="1163871" y="2045012"/>
              <a:ext cx="3771900" cy="914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5016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967772343"/>
                        </a:ext>
                      </a:extLst>
                    </a:gridCol>
                    <a:gridCol w="46672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63332488"/>
                        </a:ext>
                      </a:extLst>
                    </a:gridCol>
                    <a:gridCol w="4673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531286249"/>
                        </a:ext>
                      </a:extLst>
                    </a:gridCol>
                    <a:gridCol w="4673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100568227"/>
                        </a:ext>
                      </a:extLst>
                    </a:gridCol>
                    <a:gridCol w="46672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200270697"/>
                        </a:ext>
                      </a:extLst>
                    </a:gridCol>
                    <a:gridCol w="4673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312209805"/>
                        </a:ext>
                      </a:extLst>
                    </a:gridCol>
                    <a:gridCol w="4673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820456517"/>
                        </a:ext>
                      </a:extLst>
                    </a:gridCol>
                    <a:gridCol w="4673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6662660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220" r="-654878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7792" r="-597403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7792" r="-497403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11842" r="-403947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6494" r="-298701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6494" r="-198701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14474" r="-101316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05195" b="-1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2044313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220" t="-100000" r="-654878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7792" t="-100000" r="-597403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7792" t="-100000" r="-497403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11842" t="-100000" r="-403947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6494" t="-100000" r="-298701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6494" t="-100000" r="-198701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14474" t="-100000" r="-101316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705195" t="-100000" b="-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062315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601762" y="1460161"/>
            <a:ext cx="10928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the points from the table on the graph. </a:t>
            </a:r>
          </a:p>
        </p:txBody>
      </p:sp>
      <p:sp>
        <p:nvSpPr>
          <p:cNvPr id="13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50631"/>
            <a:ext cx="10377350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9.3.2 Exploration: Identifying the </a:t>
            </a:r>
            <a:r>
              <a:rPr lang="en-US" sz="28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Vertex From </a:t>
            </a: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 Table</a:t>
            </a:r>
          </a:p>
        </p:txBody>
      </p:sp>
      <p:pic>
        <p:nvPicPr>
          <p:cNvPr id="14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 the vertex.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what change happens at the vertex in the graph. Summarize your discussion.</a:t>
            </a: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Thinking of the change that you observed in the graph, review the table and look for a similar change. 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how the vertex can be identified from the table without plotting the points. Summarize your discussion using the key feature of increasing/decreasing.</a:t>
            </a:r>
          </a:p>
        </p:txBody>
      </p:sp>
    </p:spTree>
    <p:extLst>
      <p:ext uri="{BB962C8B-B14F-4D97-AF65-F5344CB8AC3E}">
        <p14:creationId xmlns:p14="http://schemas.microsoft.com/office/powerpoint/2010/main" val="2381553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the graph, label two points that are equidistant from the vertex. </a:t>
            </a: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table, draw a square around the two points labeled on the graph.</a:t>
            </a:r>
          </a:p>
        </p:txBody>
      </p:sp>
    </p:spTree>
    <p:extLst>
      <p:ext uri="{BB962C8B-B14F-4D97-AF65-F5344CB8AC3E}">
        <p14:creationId xmlns:p14="http://schemas.microsoft.com/office/powerpoint/2010/main" val="2042787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8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statement. </a:t>
            </a:r>
          </a:p>
          <a:p>
            <a:pPr marL="457200" indent="-457200">
              <a:buFont typeface="+mj-lt"/>
              <a:buAutoNum type="arabicPeriod" startAt="8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points that are equidistant from the vertex can be identified by matching points that have the same ... </a:t>
            </a:r>
          </a:p>
          <a:p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9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table, circle two additional points that are equidistant from the vertex.</a:t>
            </a:r>
          </a:p>
        </p:txBody>
      </p:sp>
    </p:spTree>
    <p:extLst>
      <p:ext uri="{BB962C8B-B14F-4D97-AF65-F5344CB8AC3E}">
        <p14:creationId xmlns:p14="http://schemas.microsoft.com/office/powerpoint/2010/main" val="3252903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58800">
              <a:buFont typeface="+mj-lt"/>
              <a:buAutoNum type="arabicPeriod" startAt="10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if there is enough information from the table to write the equation of the quadratic function in vertex form. Justify your choice by explaining your reasoning.</a:t>
            </a:r>
          </a:p>
        </p:txBody>
      </p:sp>
    </p:spTree>
    <p:extLst>
      <p:ext uri="{BB962C8B-B14F-4D97-AF65-F5344CB8AC3E}">
        <p14:creationId xmlns:p14="http://schemas.microsoft.com/office/powerpoint/2010/main" val="3237090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19" y="1348544"/>
                <a:ext cx="10758527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table of values for a quadratic function is provided.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vertex of the function.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Using the vertex,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 dirty="0" err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000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000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any point,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in the table, fill in the steps for writing the equation for the quadratic function.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348544"/>
                <a:ext cx="10758527" cy="3170099"/>
              </a:xfrm>
              <a:prstGeom prst="rect">
                <a:avLst/>
              </a:prstGeom>
              <a:blipFill rotWithShape="1">
                <a:blip r:embed="rId3"/>
                <a:stretch>
                  <a:fillRect l="-567" t="-1154" r="-1190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2230692-8E41-B747-B17B-84D404E0DB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2980469"/>
                  </p:ext>
                </p:extLst>
              </p:nvPr>
            </p:nvGraphicFramePr>
            <p:xfrm>
              <a:off x="1272882" y="1958883"/>
              <a:ext cx="5120640" cy="914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731520">
                      <a:extLst>
                        <a:ext uri="{9D8B030D-6E8A-4147-A177-3AD203B41FA5}">
                          <a16:colId xmlns:a16="http://schemas.microsoft.com/office/drawing/2014/main" val="3996999682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86920820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108752259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4209293966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4040627926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1581505317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126688233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90266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𝒇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−27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84517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2230692-8E41-B747-B17B-84D404E0DB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2980469"/>
                  </p:ext>
                </p:extLst>
              </p:nvPr>
            </p:nvGraphicFramePr>
            <p:xfrm>
              <a:off x="1272882" y="1958883"/>
              <a:ext cx="5120640" cy="914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7315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996999682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86920820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8752259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209293966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040627926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581505317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26688233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33" r="-6000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833" r="-5000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833" r="-4000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833" r="-3000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0833" r="-2000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0833" r="-1000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00833" b="-1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90266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33" t="-100000" r="-60000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833" t="-100000" r="-50000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833" t="-100000" r="-40000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00833" t="-100000" r="-30000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0833" t="-100000" r="-20000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00833" t="-100000" r="-10000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00833" t="-100000" b="-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9684517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191573"/>
            <a:ext cx="10681747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9.3.3 Guided Practice: Writing a Quadratic Function Using a Vertex and Point from a Table</a:t>
            </a:r>
          </a:p>
        </p:txBody>
      </p:sp>
      <p:pic>
        <p:nvPicPr>
          <p:cNvPr id="13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180D57C-9820-6A49-A1EF-C0AFAA997E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4039752"/>
                  </p:ext>
                </p:extLst>
              </p:nvPr>
            </p:nvGraphicFramePr>
            <p:xfrm>
              <a:off x="1549305" y="382091"/>
              <a:ext cx="9052560" cy="608076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5120640">
                      <a:extLst>
                        <a:ext uri="{9D8B030D-6E8A-4147-A177-3AD203B41FA5}">
                          <a16:colId xmlns:a16="http://schemas.microsoft.com/office/drawing/2014/main" val="2504714100"/>
                        </a:ext>
                      </a:extLst>
                    </a:gridCol>
                    <a:gridCol w="3931920">
                      <a:extLst>
                        <a:ext uri="{9D8B030D-6E8A-4147-A177-3AD203B41FA5}">
                          <a16:colId xmlns:a16="http://schemas.microsoft.com/office/drawing/2014/main" val="366764482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821671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50165" marR="0" indent="-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values for the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rgbClr val="7030A0"/>
                                  </a:solidFill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smtClean="0">
                                  <a:solidFill>
                                    <a:srgbClr val="7030A0"/>
                                  </a:solidFill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smtClean="0">
                                  <a:solidFill>
                                    <a:srgbClr val="7030A0"/>
                                  </a:solidFill>
                                  <a:effectLst/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smtClean="0">
                                  <a:solidFill>
                                    <a:srgbClr val="7030A0"/>
                                  </a:solidFill>
                                  <a:effectLst/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sz="2000" smtClean="0">
                                  <a:solidFill>
                                    <a:srgbClr val="7030A0"/>
                                  </a:solidFill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smtClean="0">
                                  <a:solidFill>
                                    <a:srgbClr val="7030A0"/>
                                  </a:solidFill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smtClean="0">
                                  <a:solidFill>
                                    <a:srgbClr val="7030A0"/>
                                  </a:solidFill>
                                  <a:effectLst/>
                                  <a:latin typeface="Cambria Math"/>
                                </a:rPr>
                                <m:t>))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165" marR="0" indent="-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𝑓</m:t>
                                </m:r>
                                <m:r>
                                  <a:rPr lang="en-US" sz="20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)=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000" smtClean="0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________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000" smtClean="0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_____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2000" smtClean="0">
                                        <a:solidFill>
                                          <a:schemeClr val="accent5"/>
                                        </a:solidFill>
                                        <a:effectLst/>
                                        <a:latin typeface="Cambria Math"/>
                                      </a:rPr>
                                      <m:t>h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smtClean="0">
                                    <a:solidFill>
                                      <a:schemeClr val="accent5"/>
                                    </a:solidFill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0849586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50165" marR="0" indent="-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values for the vertex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)=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h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________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000" smtClean="0">
                                        <a:solidFill>
                                          <a:srgbClr val="7030A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_____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sz="2000" smtClean="0">
                                        <a:solidFill>
                                          <a:schemeClr val="accent5"/>
                                        </a:solidFill>
                                        <a:effectLst/>
                                        <a:latin typeface="Cambria Math"/>
                                      </a:rPr>
                                      <m:t>_____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smtClean="0">
                                    <a:solidFill>
                                      <a:schemeClr val="accent5"/>
                                    </a:solidFill>
                                    <a:effectLst/>
                                    <a:latin typeface="Cambria Math"/>
                                  </a:rPr>
                                  <m:t>_____</m:t>
                                </m:r>
                              </m:oMath>
                            </m:oMathPara>
                          </a14:m>
                          <a:endParaRPr lang="x-none" sz="2000" dirty="0">
                            <a:solidFill>
                              <a:schemeClr val="accent5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6097152"/>
                      </a:ext>
                    </a:extLst>
                  </a:tr>
                  <a:tr h="457200">
                    <a:tc gridSpan="2"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Note: The order of the first two steps can be reversed.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95775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50165" marR="0" indent="-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Solve for the variable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rgbClr val="7030A0"/>
                                  </a:solidFill>
                                  <a:effectLst/>
                                  <a:latin typeface="Cambria Math"/>
                                </a:rPr>
                                <m:t>________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000" smtClean="0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/>
                                    </a:rPr>
                                    <m:t>_____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smtClean="0">
                                      <a:solidFill>
                                        <a:schemeClr val="accent5"/>
                                      </a:solidFill>
                                      <a:effectLst/>
                                      <a:latin typeface="Cambria Math"/>
                                    </a:rPr>
                                    <m:t>_____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smtClean="0">
                                  <a:solidFill>
                                    <a:schemeClr val="accent5"/>
                                  </a:solidFill>
                                  <a:effectLst/>
                                  <a:latin typeface="Cambria Math"/>
                                </a:rPr>
                                <m:t>_____</m:t>
                              </m:r>
                            </m:oMath>
                          </a14:m>
                          <a:endParaRPr lang="x-none" sz="2000" dirty="0">
                            <a:solidFill>
                              <a:schemeClr val="accent5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165" marR="0" indent="-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934243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50165" marR="0" indent="-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Write the equation by substituting in the vertex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accent6"/>
                                  </a:solidFill>
                                  <a:effectLst/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)=</m:t>
                              </m:r>
                              <m:r>
                                <a:rPr lang="en-US" sz="2000" smtClean="0">
                                  <a:solidFill>
                                    <a:schemeClr val="accent6"/>
                                  </a:solidFill>
                                  <a:effectLst/>
                                  <a:latin typeface="Cambria Math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smtClean="0">
                                      <a:solidFill>
                                        <a:schemeClr val="accent5"/>
                                      </a:solidFill>
                                      <a:effectLst/>
                                      <a:latin typeface="Cambria Math"/>
                                    </a:rPr>
                                    <m:t>h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smtClean="0">
                                  <a:solidFill>
                                    <a:schemeClr val="accent5"/>
                                  </a:solidFill>
                                  <a:effectLst/>
                                  <a:latin typeface="Cambria Math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𝑓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)=_______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−_____)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smtClean="0">
                                    <a:solidFill>
                                      <a:schemeClr val="accent5"/>
                                    </a:solidFill>
                                    <a:effectLst/>
                                    <a:latin typeface="Cambria Math"/>
                                  </a:rPr>
                                  <m:t>_____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466236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180D57C-9820-6A49-A1EF-C0AFAA997E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4039752"/>
                  </p:ext>
                </p:extLst>
              </p:nvPr>
            </p:nvGraphicFramePr>
            <p:xfrm>
              <a:off x="1549305" y="382091"/>
              <a:ext cx="9052560" cy="608076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51206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04714100"/>
                        </a:ext>
                      </a:extLst>
                    </a:gridCol>
                    <a:gridCol w="3931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66764482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78216715"/>
                      </a:ext>
                    </a:extLst>
                  </a:tr>
                  <a:tr h="1691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7437" r="-76905" b="-233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0233" t="-27437" r="-155" b="-2332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08495866"/>
                      </a:ext>
                    </a:extLst>
                  </a:tr>
                  <a:tr h="1259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70531" r="-76905" b="-212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0233" t="-170531" r="-155" b="-212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96097152"/>
                      </a:ext>
                    </a:extLst>
                  </a:tr>
                  <a:tr h="457200">
                    <a:tc gridSpan="2"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Note: The order of the first two steps can be reversed.</a:t>
                          </a:r>
                          <a:endParaRPr lang="x-none" sz="20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719577576"/>
                      </a:ext>
                    </a:extLst>
                  </a:tr>
                  <a:tr h="828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66912" r="-76905" b="-16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0233" t="-466912" r="-155" b="-16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593424342"/>
                      </a:ext>
                    </a:extLst>
                  </a:tr>
                  <a:tr h="1386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39648" r="-76905" b="-4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0233" t="-339648" r="-155" b="-4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6466236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2851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a classmate who used a different point for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,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Compare your equations. Explain why they are the same or why they are different.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707886"/>
              </a:xfrm>
              <a:prstGeom prst="rect">
                <a:avLst/>
              </a:prstGeom>
              <a:blipFill rotWithShape="1">
                <a:blip r:embed="rId4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1A38196-77F0-7E4F-AFBC-CBBD7503E0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5339523"/>
                  </p:ext>
                </p:extLst>
              </p:nvPr>
            </p:nvGraphicFramePr>
            <p:xfrm>
              <a:off x="7605357" y="1072576"/>
              <a:ext cx="1943100" cy="2941448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971233">
                      <a:extLst>
                        <a:ext uri="{9D8B030D-6E8A-4147-A177-3AD203B41FA5}">
                          <a16:colId xmlns:a16="http://schemas.microsoft.com/office/drawing/2014/main" val="2002993526"/>
                        </a:ext>
                      </a:extLst>
                    </a:gridCol>
                    <a:gridCol w="971867">
                      <a:extLst>
                        <a:ext uri="{9D8B030D-6E8A-4147-A177-3AD203B41FA5}">
                          <a16:colId xmlns:a16="http://schemas.microsoft.com/office/drawing/2014/main" val="374298274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6077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/>
                                </a:rPr>
                                <m:t>16</m:t>
                              </m:r>
                            </m:oMath>
                          </a14:m>
                          <a:r>
                            <a:rPr lang="en-PH" sz="2000" dirty="0">
                              <a:effectLst/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a:t> 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8545076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PH" sz="2000" dirty="0">
                              <a:effectLst/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a:t> 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719386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PH" sz="2000" dirty="0">
                              <a:effectLst/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a:t> </a:t>
                          </a:r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−9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80861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89095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PH" sz="2000" dirty="0">
                              <a:effectLst/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a:t> 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143820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1A38196-77F0-7E4F-AFBC-CBBD7503E0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5339523"/>
                  </p:ext>
                </p:extLst>
              </p:nvPr>
            </p:nvGraphicFramePr>
            <p:xfrm>
              <a:off x="7605357" y="1072576"/>
              <a:ext cx="1943100" cy="2941448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971233">
                      <a:extLst>
                        <a:ext uri="{9D8B030D-6E8A-4147-A177-3AD203B41FA5}">
                          <a16:colId xmlns:a16="http://schemas.microsoft.com/office/drawing/2014/main" val="2002993526"/>
                        </a:ext>
                      </a:extLst>
                    </a:gridCol>
                    <a:gridCol w="971867">
                      <a:extLst>
                        <a:ext uri="{9D8B030D-6E8A-4147-A177-3AD203B41FA5}">
                          <a16:colId xmlns:a16="http://schemas.microsoft.com/office/drawing/2014/main" val="374298274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778" r="-102597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778" r="-2597" b="-5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6077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2778" r="-102597" b="-4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02778" r="-2597" b="-4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5450768"/>
                      </a:ext>
                    </a:extLst>
                  </a:tr>
                  <a:tr h="5234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73810" r="-102597" b="-2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73810" r="-2597" b="-28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938603"/>
                      </a:ext>
                    </a:extLst>
                  </a:tr>
                  <a:tr h="5240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80488" r="-102597" b="-192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80488" r="-2597" b="-1926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80861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21622" r="-102597" b="-1135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421622" r="-2597" b="-1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8909553"/>
                      </a:ext>
                    </a:extLst>
                  </a:tr>
                  <a:tr h="5223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70732" r="-102597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470732" r="-2597" b="-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43820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table of values for a quadratic function is shown.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the vertex of the quadratic function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the table.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Vertex (_____ , _____) </a:t>
            </a:r>
          </a:p>
        </p:txBody>
      </p:sp>
    </p:spTree>
    <p:extLst>
      <p:ext uri="{BB962C8B-B14F-4D97-AF65-F5344CB8AC3E}">
        <p14:creationId xmlns:p14="http://schemas.microsoft.com/office/powerpoint/2010/main" val="2122147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Check your answer with your partner and discuss what strategy each of you used to identify the vertex. Correct your vertex if needed.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a point from the table, other than the vertex, to create the equation of the quadratic in the function.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(_____ , _____) </a:t>
            </a:r>
          </a:p>
        </p:txBody>
      </p:sp>
    </p:spTree>
    <p:extLst>
      <p:ext uri="{BB962C8B-B14F-4D97-AF65-F5344CB8AC3E}">
        <p14:creationId xmlns:p14="http://schemas.microsoft.com/office/powerpoint/2010/main" val="1211833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𝑎 value of the quadratic using form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𝑎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</m:t>
                            </m:r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the vertex and 𝑎 value, write the equation of the function in vertex form.</a:t>
                </a: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the equation in standard form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𝑎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</m:t>
                            </m:r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708981"/>
              </a:xfrm>
              <a:prstGeom prst="rect">
                <a:avLst/>
              </a:prstGeom>
              <a:blipFill rotWithShape="1">
                <a:blip r:embed="rId4"/>
                <a:stretch>
                  <a:fillRect t="-776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87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table of values for the function 𝑔 is shown.</a:t>
            </a: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equation of the function 𝑔. Show your work.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3AEDAF4-8B7A-804C-87D3-8F75B8B4BC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4467844"/>
                  </p:ext>
                </p:extLst>
              </p:nvPr>
            </p:nvGraphicFramePr>
            <p:xfrm>
              <a:off x="1076325" y="961062"/>
              <a:ext cx="6858001" cy="914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988518">
                      <a:extLst>
                        <a:ext uri="{9D8B030D-6E8A-4147-A177-3AD203B41FA5}">
                          <a16:colId xmlns:a16="http://schemas.microsoft.com/office/drawing/2014/main" val="2326664660"/>
                        </a:ext>
                      </a:extLst>
                    </a:gridCol>
                    <a:gridCol w="1205153">
                      <a:extLst>
                        <a:ext uri="{9D8B030D-6E8A-4147-A177-3AD203B41FA5}">
                          <a16:colId xmlns:a16="http://schemas.microsoft.com/office/drawing/2014/main" val="1390457382"/>
                        </a:ext>
                      </a:extLst>
                    </a:gridCol>
                    <a:gridCol w="1193082">
                      <a:extLst>
                        <a:ext uri="{9D8B030D-6E8A-4147-A177-3AD203B41FA5}">
                          <a16:colId xmlns:a16="http://schemas.microsoft.com/office/drawing/2014/main" val="3512365683"/>
                        </a:ext>
                      </a:extLst>
                    </a:gridCol>
                    <a:gridCol w="1205153">
                      <a:extLst>
                        <a:ext uri="{9D8B030D-6E8A-4147-A177-3AD203B41FA5}">
                          <a16:colId xmlns:a16="http://schemas.microsoft.com/office/drawing/2014/main" val="112585398"/>
                        </a:ext>
                      </a:extLst>
                    </a:gridCol>
                    <a:gridCol w="1163224">
                      <a:extLst>
                        <a:ext uri="{9D8B030D-6E8A-4147-A177-3AD203B41FA5}">
                          <a16:colId xmlns:a16="http://schemas.microsoft.com/office/drawing/2014/main" val="948079736"/>
                        </a:ext>
                      </a:extLst>
                    </a:gridCol>
                    <a:gridCol w="1102871">
                      <a:extLst>
                        <a:ext uri="{9D8B030D-6E8A-4147-A177-3AD203B41FA5}">
                          <a16:colId xmlns:a16="http://schemas.microsoft.com/office/drawing/2014/main" val="42848840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−11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856096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𝒈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165" marR="0" indent="-5016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34127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3AEDAF4-8B7A-804C-87D3-8F75B8B4BC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4467844"/>
                  </p:ext>
                </p:extLst>
              </p:nvPr>
            </p:nvGraphicFramePr>
            <p:xfrm>
              <a:off x="1076325" y="961062"/>
              <a:ext cx="6858001" cy="914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98851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26664660"/>
                        </a:ext>
                      </a:extLst>
                    </a:gridCol>
                    <a:gridCol w="120515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90457382"/>
                        </a:ext>
                      </a:extLst>
                    </a:gridCol>
                    <a:gridCol w="119308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512365683"/>
                        </a:ext>
                      </a:extLst>
                    </a:gridCol>
                    <a:gridCol w="120515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2585398"/>
                        </a:ext>
                      </a:extLst>
                    </a:gridCol>
                    <a:gridCol w="116322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48079736"/>
                        </a:ext>
                      </a:extLst>
                    </a:gridCol>
                    <a:gridCol w="110287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2848840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17" t="-1333" r="-594444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82323" t="-1333" r="-386364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4184" t="-1333" r="-290306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82741" t="-1333" r="-188832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94764" t="-1333" r="-94764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22099" t="-1333" b="-1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43856096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17" t="-101333" r="-594444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82323" t="-101333" r="-386364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84184" t="-101333" r="-290306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82741" t="-101333" r="-188832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94764" t="-101333" r="-94764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22099" t="-101333" b="-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434127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9353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682BB8-BA06-7648-96B0-7E80EB317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593813"/>
              </p:ext>
            </p:extLst>
          </p:nvPr>
        </p:nvGraphicFramePr>
        <p:xfrm>
          <a:off x="1581150" y="1032735"/>
          <a:ext cx="6686550" cy="137160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733040">
                  <a:extLst>
                    <a:ext uri="{9D8B030D-6E8A-4147-A177-3AD203B41FA5}">
                      <a16:colId xmlns:a16="http://schemas.microsoft.com/office/drawing/2014/main" val="2831012426"/>
                    </a:ext>
                  </a:extLst>
                </a:gridCol>
                <a:gridCol w="3953510">
                  <a:extLst>
                    <a:ext uri="{9D8B030D-6E8A-4147-A177-3AD203B41FA5}">
                      <a16:colId xmlns:a16="http://schemas.microsoft.com/office/drawing/2014/main" val="673420959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Vertex Form 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58122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Standard Form 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8601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 the equation in both vertex and standard form.     </a:t>
            </a:r>
          </a:p>
        </p:txBody>
      </p:sp>
    </p:spTree>
    <p:extLst>
      <p:ext uri="{BB962C8B-B14F-4D97-AF65-F5344CB8AC3E}">
        <p14:creationId xmlns:p14="http://schemas.microsoft.com/office/powerpoint/2010/main" val="2141316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5A4910D-E2C4-3D40-ABE2-FE1FAFD210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923919"/>
                  </p:ext>
                </p:extLst>
              </p:nvPr>
            </p:nvGraphicFramePr>
            <p:xfrm>
              <a:off x="1314450" y="1968183"/>
              <a:ext cx="6343650" cy="914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739775">
                      <a:extLst>
                        <a:ext uri="{9D8B030D-6E8A-4147-A177-3AD203B41FA5}">
                          <a16:colId xmlns:a16="http://schemas.microsoft.com/office/drawing/2014/main" val="2858605020"/>
                        </a:ext>
                      </a:extLst>
                    </a:gridCol>
                    <a:gridCol w="1120775">
                      <a:extLst>
                        <a:ext uri="{9D8B030D-6E8A-4147-A177-3AD203B41FA5}">
                          <a16:colId xmlns:a16="http://schemas.microsoft.com/office/drawing/2014/main" val="1163697091"/>
                        </a:ext>
                      </a:extLst>
                    </a:gridCol>
                    <a:gridCol w="1120775">
                      <a:extLst>
                        <a:ext uri="{9D8B030D-6E8A-4147-A177-3AD203B41FA5}">
                          <a16:colId xmlns:a16="http://schemas.microsoft.com/office/drawing/2014/main" val="501317069"/>
                        </a:ext>
                      </a:extLst>
                    </a:gridCol>
                    <a:gridCol w="1120775">
                      <a:extLst>
                        <a:ext uri="{9D8B030D-6E8A-4147-A177-3AD203B41FA5}">
                          <a16:colId xmlns:a16="http://schemas.microsoft.com/office/drawing/2014/main" val="3652607589"/>
                        </a:ext>
                      </a:extLst>
                    </a:gridCol>
                    <a:gridCol w="1120775">
                      <a:extLst>
                        <a:ext uri="{9D8B030D-6E8A-4147-A177-3AD203B41FA5}">
                          <a16:colId xmlns:a16="http://schemas.microsoft.com/office/drawing/2014/main" val="111012477"/>
                        </a:ext>
                      </a:extLst>
                    </a:gridCol>
                    <a:gridCol w="1120775">
                      <a:extLst>
                        <a:ext uri="{9D8B030D-6E8A-4147-A177-3AD203B41FA5}">
                          <a16:colId xmlns:a16="http://schemas.microsoft.com/office/drawing/2014/main" val="106021307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0866749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𝒇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−29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−15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−15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−29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333763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5A4910D-E2C4-3D40-ABE2-FE1FAFD210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923919"/>
                  </p:ext>
                </p:extLst>
              </p:nvPr>
            </p:nvGraphicFramePr>
            <p:xfrm>
              <a:off x="1314450" y="1968183"/>
              <a:ext cx="6343650" cy="9144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7397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858605020"/>
                        </a:ext>
                      </a:extLst>
                    </a:gridCol>
                    <a:gridCol w="11207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63697091"/>
                        </a:ext>
                      </a:extLst>
                    </a:gridCol>
                    <a:gridCol w="11207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501317069"/>
                        </a:ext>
                      </a:extLst>
                    </a:gridCol>
                    <a:gridCol w="11207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652607589"/>
                        </a:ext>
                      </a:extLst>
                    </a:gridCol>
                    <a:gridCol w="11207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1012477"/>
                        </a:ext>
                      </a:extLst>
                    </a:gridCol>
                    <a:gridCol w="11207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6021307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826" t="-1333" r="-760331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6304" t="-1333" r="-4000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6304" t="-1333" r="-3000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66304" t="-1333" r="-2000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8306" t="-1333" r="-101093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65761" t="-1333" r="-543" b="-1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0866749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826" t="-101333" r="-760331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6304" t="-101333" r="-40000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6304" t="-101333" r="-30000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66304" t="-101333" r="-20000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8306" t="-101333" r="-101093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65761" t="-101333" r="-543" b="-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333763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A5D4567-3277-8646-AF5E-A318B25467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0504864"/>
                  </p:ext>
                </p:extLst>
              </p:nvPr>
            </p:nvGraphicFramePr>
            <p:xfrm>
              <a:off x="1311815" y="3115041"/>
              <a:ext cx="7110920" cy="32258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736155">
                      <a:extLst>
                        <a:ext uri="{9D8B030D-6E8A-4147-A177-3AD203B41FA5}">
                          <a16:colId xmlns:a16="http://schemas.microsoft.com/office/drawing/2014/main" val="80127346"/>
                        </a:ext>
                      </a:extLst>
                    </a:gridCol>
                    <a:gridCol w="867291">
                      <a:extLst>
                        <a:ext uri="{9D8B030D-6E8A-4147-A177-3AD203B41FA5}">
                          <a16:colId xmlns:a16="http://schemas.microsoft.com/office/drawing/2014/main" val="1278156260"/>
                        </a:ext>
                      </a:extLst>
                    </a:gridCol>
                    <a:gridCol w="3507474">
                      <a:extLst>
                        <a:ext uri="{9D8B030D-6E8A-4147-A177-3AD203B41FA5}">
                          <a16:colId xmlns:a16="http://schemas.microsoft.com/office/drawing/2014/main" val="3832567588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0360319"/>
                      </a:ext>
                    </a:extLst>
                  </a:tr>
                  <a:tr h="9144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(_____ , _____)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(_____ , _____)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528447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a14:m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PH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PH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479635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Form 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40142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A5D4567-3277-8646-AF5E-A318B25467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0504864"/>
                  </p:ext>
                </p:extLst>
              </p:nvPr>
            </p:nvGraphicFramePr>
            <p:xfrm>
              <a:off x="1311815" y="3115041"/>
              <a:ext cx="7110920" cy="32258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73615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80127346"/>
                        </a:ext>
                      </a:extLst>
                    </a:gridCol>
                    <a:gridCol w="86729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278156260"/>
                        </a:ext>
                      </a:extLst>
                    </a:gridCol>
                    <a:gridCol w="350747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832567588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90360319"/>
                      </a:ext>
                    </a:extLst>
                  </a:tr>
                  <a:tr h="9144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(_____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_____)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(_____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_____)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55284475"/>
                      </a:ext>
                    </a:extLst>
                  </a:tr>
                  <a:tr h="1168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17708" r="-159911" b="-58854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PH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PH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14796357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 Form 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1207" marR="61207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040142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730266" y="1313636"/>
            <a:ext cx="10800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the quadratic equation in vertex form.</a:t>
            </a:r>
          </a:p>
        </p:txBody>
      </p:sp>
      <p:sp>
        <p:nvSpPr>
          <p:cNvPr id="11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9.3.4 Your Turn!</a:t>
            </a:r>
          </a:p>
        </p:txBody>
      </p:sp>
      <p:pic>
        <p:nvPicPr>
          <p:cNvPr id="13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12D6AC5-C56C-9443-A593-8213ECEEAE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4529859"/>
                  </p:ext>
                </p:extLst>
              </p:nvPr>
            </p:nvGraphicFramePr>
            <p:xfrm>
              <a:off x="2914651" y="1402685"/>
              <a:ext cx="6362698" cy="109728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741828">
                      <a:extLst>
                        <a:ext uri="{9D8B030D-6E8A-4147-A177-3AD203B41FA5}">
                          <a16:colId xmlns:a16="http://schemas.microsoft.com/office/drawing/2014/main" val="466100238"/>
                        </a:ext>
                      </a:extLst>
                    </a:gridCol>
                    <a:gridCol w="1124174">
                      <a:extLst>
                        <a:ext uri="{9D8B030D-6E8A-4147-A177-3AD203B41FA5}">
                          <a16:colId xmlns:a16="http://schemas.microsoft.com/office/drawing/2014/main" val="1256127014"/>
                        </a:ext>
                      </a:extLst>
                    </a:gridCol>
                    <a:gridCol w="1124174">
                      <a:extLst>
                        <a:ext uri="{9D8B030D-6E8A-4147-A177-3AD203B41FA5}">
                          <a16:colId xmlns:a16="http://schemas.microsoft.com/office/drawing/2014/main" val="1631405027"/>
                        </a:ext>
                      </a:extLst>
                    </a:gridCol>
                    <a:gridCol w="1124174">
                      <a:extLst>
                        <a:ext uri="{9D8B030D-6E8A-4147-A177-3AD203B41FA5}">
                          <a16:colId xmlns:a16="http://schemas.microsoft.com/office/drawing/2014/main" val="953706036"/>
                        </a:ext>
                      </a:extLst>
                    </a:gridCol>
                    <a:gridCol w="1124174">
                      <a:extLst>
                        <a:ext uri="{9D8B030D-6E8A-4147-A177-3AD203B41FA5}">
                          <a16:colId xmlns:a16="http://schemas.microsoft.com/office/drawing/2014/main" val="852271115"/>
                        </a:ext>
                      </a:extLst>
                    </a:gridCol>
                    <a:gridCol w="1124174">
                      <a:extLst>
                        <a:ext uri="{9D8B030D-6E8A-4147-A177-3AD203B41FA5}">
                          <a16:colId xmlns:a16="http://schemas.microsoft.com/office/drawing/2014/main" val="80467812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920394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𝒇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55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−9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55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919153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12D6AC5-C56C-9443-A593-8213ECEEAE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4529859"/>
                  </p:ext>
                </p:extLst>
              </p:nvPr>
            </p:nvGraphicFramePr>
            <p:xfrm>
              <a:off x="2914651" y="1402685"/>
              <a:ext cx="6362698" cy="109728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74182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66100238"/>
                        </a:ext>
                      </a:extLst>
                    </a:gridCol>
                    <a:gridCol w="112417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256127014"/>
                        </a:ext>
                      </a:extLst>
                    </a:gridCol>
                    <a:gridCol w="112417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631405027"/>
                        </a:ext>
                      </a:extLst>
                    </a:gridCol>
                    <a:gridCol w="112417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53706036"/>
                        </a:ext>
                      </a:extLst>
                    </a:gridCol>
                    <a:gridCol w="112417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852271115"/>
                        </a:ext>
                      </a:extLst>
                    </a:gridCol>
                    <a:gridCol w="112417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80467812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r="-755738" b="-1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6304" r="-401087" b="-1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5405" r="-298919" b="-1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66848" r="-200543" b="-1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4865" r="-99459" b="-1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67391" b="-10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59203944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0000" r="-755738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6304" t="-100000" r="-401087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5405" t="-100000" r="-298919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66848" t="-100000" r="-200543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64865" t="-100000" r="-99459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67391" t="-100000" b="-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919153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quadratic equation in vertex and standard form for the quadratic function using the table.</a:t>
            </a:r>
            <a:endParaRPr lang="x-none" sz="2000" dirty="0">
              <a:latin typeface="Cambria" panose="02040503050406030204" pitchFamily="18" charset="0"/>
              <a:ea typeface="Times New Roman" panose="02020603050405020304" pitchFamily="18" charset="0"/>
              <a:cs typeface="Cambria" panose="020405030504060302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682BB8-BA06-7648-96B0-7E80EB317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461964"/>
              </p:ext>
            </p:extLst>
          </p:nvPr>
        </p:nvGraphicFramePr>
        <p:xfrm>
          <a:off x="2867025" y="4829000"/>
          <a:ext cx="6686550" cy="137160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733040">
                  <a:extLst>
                    <a:ext uri="{9D8B030D-6E8A-4147-A177-3AD203B41FA5}">
                      <a16:colId xmlns:a16="http://schemas.microsoft.com/office/drawing/2014/main" val="2831012426"/>
                    </a:ext>
                  </a:extLst>
                </a:gridCol>
                <a:gridCol w="3953510">
                  <a:extLst>
                    <a:ext uri="{9D8B030D-6E8A-4147-A177-3AD203B41FA5}">
                      <a16:colId xmlns:a16="http://schemas.microsoft.com/office/drawing/2014/main" val="673420959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Vertex Form 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u="none" strike="noStrike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58122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Standard Form 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860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194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623386F-AEA5-AB4C-A085-363EE56DEE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0229605"/>
                  </p:ext>
                </p:extLst>
              </p:nvPr>
            </p:nvGraphicFramePr>
            <p:xfrm>
              <a:off x="5306179" y="1376212"/>
              <a:ext cx="1943100" cy="27432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971233">
                      <a:extLst>
                        <a:ext uri="{9D8B030D-6E8A-4147-A177-3AD203B41FA5}">
                          <a16:colId xmlns:a16="http://schemas.microsoft.com/office/drawing/2014/main" val="1746246383"/>
                        </a:ext>
                      </a:extLst>
                    </a:gridCol>
                    <a:gridCol w="971867">
                      <a:extLst>
                        <a:ext uri="{9D8B030D-6E8A-4147-A177-3AD203B41FA5}">
                          <a16:colId xmlns:a16="http://schemas.microsoft.com/office/drawing/2014/main" val="262577484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𝒇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70665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−22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297936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757119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11967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327458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18501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623386F-AEA5-AB4C-A085-363EE56DEE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0229605"/>
                  </p:ext>
                </p:extLst>
              </p:nvPr>
            </p:nvGraphicFramePr>
            <p:xfrm>
              <a:off x="5306179" y="1376212"/>
              <a:ext cx="1943100" cy="27432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97123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46246383"/>
                        </a:ext>
                      </a:extLst>
                    </a:gridCol>
                    <a:gridCol w="97186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2577484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333" r="-101258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9375" t="-1333" r="-625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570665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1333" r="-101258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9375" t="-101333" r="-625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297936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01333" r="-10125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9375" t="-201333" r="-625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5757119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01333" r="-10125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9375" t="-301333" r="-62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5911967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01333" r="-10125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9375" t="-401333" r="-625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54327458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501333" r="-101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9375" t="-501333" r="-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81850123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image7.png" descr="Chart, line chart&#10;&#10;Description automatically generated">
            <a:extLst>
              <a:ext uri="{FF2B5EF4-FFF2-40B4-BE49-F238E27FC236}">
                <a16:creationId xmlns:a16="http://schemas.microsoft.com/office/drawing/2014/main" id="{4273E678-F49F-0D42-82C3-9195E93EB8F3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7137" y="1376212"/>
            <a:ext cx="3863975" cy="3863975"/>
          </a:xfrm>
          <a:prstGeom prst="rect">
            <a:avLst/>
          </a:prstGeom>
          <a:ln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7" y="1376212"/>
            <a:ext cx="4365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the equation for the quadratic function in vertex and standard form.</a:t>
            </a:r>
          </a:p>
        </p:txBody>
      </p:sp>
      <p:sp>
        <p:nvSpPr>
          <p:cNvPr id="12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9.3.5 Wrap-Up: Ticket Out the Door</a:t>
            </a:r>
          </a:p>
        </p:txBody>
      </p:sp>
      <p:pic>
        <p:nvPicPr>
          <p:cNvPr id="13" name="Google Shape;469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8682BB8-BA06-7648-96B0-7E80EB317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7417"/>
              </p:ext>
            </p:extLst>
          </p:nvPr>
        </p:nvGraphicFramePr>
        <p:xfrm>
          <a:off x="1276497" y="4829000"/>
          <a:ext cx="5943600" cy="137160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83101242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673420959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Vertex Form 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58122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Standard Form 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860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3074</TotalTime>
  <Words>1220</Words>
  <Application>Microsoft Macintosh PowerPoint</Application>
  <PresentationFormat>Widescreen</PresentationFormat>
  <Paragraphs>313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Mary Freeman</cp:lastModifiedBy>
  <cp:revision>33</cp:revision>
  <dcterms:created xsi:type="dcterms:W3CDTF">2015-03-17T18:51:18Z</dcterms:created>
  <dcterms:modified xsi:type="dcterms:W3CDTF">2023-02-09T22:25:10Z</dcterms:modified>
</cp:coreProperties>
</file>