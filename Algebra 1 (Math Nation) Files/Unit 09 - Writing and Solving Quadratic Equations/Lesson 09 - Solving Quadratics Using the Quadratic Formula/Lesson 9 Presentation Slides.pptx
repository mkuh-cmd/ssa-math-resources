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345" r:id="rId4"/>
    <p:sldId id="286" r:id="rId5"/>
    <p:sldId id="261" r:id="rId6"/>
    <p:sldId id="287" r:id="rId7"/>
    <p:sldId id="289" r:id="rId8"/>
    <p:sldId id="290" r:id="rId9"/>
    <p:sldId id="308" r:id="rId10"/>
    <p:sldId id="337" r:id="rId11"/>
    <p:sldId id="357" r:id="rId12"/>
    <p:sldId id="358" r:id="rId13"/>
    <p:sldId id="359" r:id="rId14"/>
    <p:sldId id="360" r:id="rId15"/>
    <p:sldId id="361" r:id="rId16"/>
    <p:sldId id="362" r:id="rId17"/>
    <p:sldId id="314" r:id="rId18"/>
    <p:sldId id="315" r:id="rId19"/>
    <p:sldId id="354" r:id="rId20"/>
    <p:sldId id="355" r:id="rId21"/>
    <p:sldId id="306" r:id="rId22"/>
    <p:sldId id="307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3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4E5F"/>
    <a:srgbClr val="1765AD"/>
    <a:srgbClr val="1664AC"/>
    <a:srgbClr val="BFBFBF"/>
    <a:srgbClr val="C9DF6F"/>
    <a:srgbClr val="417DBF"/>
    <a:srgbClr val="3F2A67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8495" autoAdjust="0"/>
    <p:restoredTop sz="94719"/>
  </p:normalViewPr>
  <p:slideViewPr>
    <p:cSldViewPr snapToGrid="0">
      <p:cViewPr>
        <p:scale>
          <a:sx n="80" d="100"/>
          <a:sy n="80" d="100"/>
        </p:scale>
        <p:origin x="1776" y="9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3" Type="http://customschemas.google.com/relationships/presentationmetadata" Target="metadata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4349005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09190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6206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469937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30538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143597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3358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3358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19076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63403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7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24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25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26.png"/><Relationship Id="rId5" Type="http://schemas.openxmlformats.org/officeDocument/2006/relationships/image" Target="../media/image20.png"/><Relationship Id="rId6" Type="http://schemas.openxmlformats.org/officeDocument/2006/relationships/image" Target="../media/image27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28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29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31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33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35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35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=""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xmlns="" id="{A3BF60F1-A9D6-B043-9905-FB1D55DD5BC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503" y="1918611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61;g104476d1465_0_0"/>
          <p:cNvSpPr txBox="1">
            <a:spLocks/>
          </p:cNvSpPr>
          <p:nvPr/>
        </p:nvSpPr>
        <p:spPr>
          <a:xfrm>
            <a:off x="5742834" y="2054277"/>
            <a:ext cx="4925167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9, Lesson 9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Solving Quadratics Using the Quadratic Formula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103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79;g104476d1465_1_17"/>
          <p:cNvSpPr txBox="1">
            <a:spLocks/>
          </p:cNvSpPr>
          <p:nvPr/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</a:pPr>
            <a:r>
              <a:rPr lang="en-US" sz="47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0;g104476d1465_1_17">
            <a:extLst>
              <a:ext uri="{FF2B5EF4-FFF2-40B4-BE49-F238E27FC236}">
                <a16:creationId xmlns=""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9531"/>
            <a:ext cx="1101658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MA.912.AR.3.1</a:t>
            </a:r>
          </a:p>
          <a:p>
            <a:pPr marL="552450" lvl="1" indent="0">
              <a:buNone/>
            </a:pP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mathematical or real-world context, write and solve one-variable quadratic equations over the real number system.</a:t>
            </a:r>
          </a:p>
          <a:p>
            <a:pPr marL="552450" lvl="1" indent="0">
              <a:buNone/>
            </a:pPr>
            <a:endParaRPr lang="en-US" sz="3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8;g104476d1465_1_17">
            <a:extLst>
              <a:ext uri="{FF2B5EF4-FFF2-40B4-BE49-F238E27FC236}">
                <a16:creationId xmlns="" xmlns:a16="http://schemas.microsoft.com/office/drawing/2014/main" id="{78632872-3F42-3447-924A-20A16C6976F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Google Shape;283;g104476d1465_1_17">
            <a:extLst>
              <a:ext uri="{FF2B5EF4-FFF2-40B4-BE49-F238E27FC236}">
                <a16:creationId xmlns="" xmlns:a16="http://schemas.microsoft.com/office/drawing/2014/main" id="{983DCB5F-2CE8-A74F-A579-F39E2E9337FB}"/>
              </a:ext>
            </a:extLst>
          </p:cNvPr>
          <p:cNvPicPr preferRelativeResize="0"/>
          <p:nvPr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="" xmlns:a16="http://schemas.microsoft.com/office/drawing/2014/main" id="{6759D0BD-51D0-6B40-9940-E3F570D4EA0E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96;g103996e1364_0_10">
            <a:extLst>
              <a:ext uri="{FF2B5EF4-FFF2-40B4-BE49-F238E27FC236}">
                <a16:creationId xmlns=""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99805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>
              <a:buSzPts val="523"/>
            </a:pPr>
            <a:endParaRPr lang="en-US" sz="3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11" name="Google Shape;295;g103996e1364_0_10">
            <a:extLst>
              <a:ext uri="{FF2B5EF4-FFF2-40B4-BE49-F238E27FC236}">
                <a16:creationId xmlns=""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</p:spTree>
    <p:extLst>
      <p:ext uri="{BB962C8B-B14F-4D97-AF65-F5344CB8AC3E}">
        <p14:creationId xmlns:p14="http://schemas.microsoft.com/office/powerpoint/2010/main" val="234299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="" xmlns:a16="http://schemas.microsoft.com/office/drawing/2014/main" id="{11350860-5133-CF4C-91F0-82C49767E6AC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</a:t>
            </a:r>
            <a:r>
              <a:rPr lang="en-US" sz="4700" b="1" dirty="0" smtClean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Target</a:t>
            </a:r>
            <a:endParaRPr lang="en-US" sz="47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09350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indent="-685800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solve a quadratic using the quadratic formula. 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="" xmlns:a16="http://schemas.microsoft.com/office/drawing/2014/main" id="{13E4C45C-B662-7F44-8EF2-8BC4E4A7E35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313;g104476d1465_1_39"/>
          <p:cNvSpPr txBox="1">
            <a:spLocks/>
          </p:cNvSpPr>
          <p:nvPr/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9" name="Rectangle 13">
            <a:extLst>
              <a:ext uri="{FF2B5EF4-FFF2-40B4-BE49-F238E27FC236}">
                <a16:creationId xmlns="" xmlns:a16="http://schemas.microsoft.com/office/drawing/2014/main" id="{F32FA606-312E-FE45-9E7F-5EB4EB578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196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5">
            <a:extLst>
              <a:ext uri="{FF2B5EF4-FFF2-40B4-BE49-F238E27FC236}">
                <a16:creationId xmlns="" xmlns:a16="http://schemas.microsoft.com/office/drawing/2014/main" id="{3F80061E-0FC7-534E-8F32-815F8690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4557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="" xmlns:a16="http://schemas.microsoft.com/office/drawing/2014/main" id="{F0663C2D-D71E-9747-B131-91E050FC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>
            <a:extLst>
              <a:ext uri="{FF2B5EF4-FFF2-40B4-BE49-F238E27FC236}">
                <a16:creationId xmlns="" xmlns:a16="http://schemas.microsoft.com/office/drawing/2014/main" id="{1EDB4A78-8756-D641-B2CF-25FE103BD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Google Shape;282;g104476d1465_1_17">
            <a:extLst>
              <a:ext uri="{FF2B5EF4-FFF2-40B4-BE49-F238E27FC236}">
                <a16:creationId xmlns="" xmlns:a16="http://schemas.microsoft.com/office/drawing/2014/main" id="{ECAA359C-7327-AC4D-8972-D52228F67AB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6114034" y="1383236"/>
            <a:ext cx="5261355" cy="4922315"/>
            <a:chOff x="5995417" y="1326086"/>
            <a:chExt cx="5261355" cy="4922315"/>
          </a:xfrm>
        </p:grpSpPr>
        <p:pic>
          <p:nvPicPr>
            <p:cNvPr id="12" name="image1.png" descr="Diagram&#10;&#10;Description automatically generated">
              <a:extLst>
                <a:ext uri="{FF2B5EF4-FFF2-40B4-BE49-F238E27FC236}">
                  <a16:creationId xmlns="" xmlns:a16="http://schemas.microsoft.com/office/drawing/2014/main" id="{3F4F4806-CFDF-6D4E-9933-CFDEF5BE29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5995417" y="1326086"/>
              <a:ext cx="2473960" cy="2286000"/>
            </a:xfrm>
            <a:prstGeom prst="rect">
              <a:avLst/>
            </a:prstGeom>
            <a:ln/>
          </p:spPr>
        </p:pic>
        <p:pic>
          <p:nvPicPr>
            <p:cNvPr id="15" name="image10.png" descr="A picture containing sky, line, day&#10;&#10;Description automatically generated">
              <a:extLst>
                <a:ext uri="{FF2B5EF4-FFF2-40B4-BE49-F238E27FC236}">
                  <a16:creationId xmlns="" xmlns:a16="http://schemas.microsoft.com/office/drawing/2014/main" id="{CB9E188F-579B-6047-B34B-40810CCB9F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782812" y="1326086"/>
              <a:ext cx="2473960" cy="2286000"/>
            </a:xfrm>
            <a:prstGeom prst="rect">
              <a:avLst/>
            </a:prstGeom>
            <a:ln/>
          </p:spPr>
        </p:pic>
        <p:pic>
          <p:nvPicPr>
            <p:cNvPr id="16" name="image4.png" descr="Diagram&#10;&#10;Description automatically generated">
              <a:extLst>
                <a:ext uri="{FF2B5EF4-FFF2-40B4-BE49-F238E27FC236}">
                  <a16:creationId xmlns="" xmlns:a16="http://schemas.microsoft.com/office/drawing/2014/main" id="{8F514D69-B795-5642-BC24-BCD7212EA8A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5995417" y="3962401"/>
              <a:ext cx="2473960" cy="2286000"/>
            </a:xfrm>
            <a:prstGeom prst="rect">
              <a:avLst/>
            </a:prstGeom>
            <a:ln/>
          </p:spPr>
        </p:pic>
        <p:pic>
          <p:nvPicPr>
            <p:cNvPr id="17" name="image2.png" descr="Chart, line chart&#10;&#10;Description automatically generated">
              <a:extLst>
                <a:ext uri="{FF2B5EF4-FFF2-40B4-BE49-F238E27FC236}">
                  <a16:creationId xmlns="" xmlns:a16="http://schemas.microsoft.com/office/drawing/2014/main" id="{C98D1980-5456-DD48-BCDB-432B00EA28D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782812" y="3962401"/>
              <a:ext cx="2473960" cy="2286000"/>
            </a:xfrm>
            <a:prstGeom prst="rect">
              <a:avLst/>
            </a:prstGeom>
            <a:ln/>
          </p:spPr>
        </p:pic>
      </p:grpSp>
      <p:sp>
        <p:nvSpPr>
          <p:cNvPr id="1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26390"/>
            <a:ext cx="10834000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9.9.1 Warm-Up: </a:t>
            </a:r>
            <a:r>
              <a:rPr lang="en-US" sz="3600" b="1" dirty="0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Which </a:t>
            </a: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One Doesn’t Belong?</a:t>
            </a:r>
          </a:p>
        </p:txBody>
      </p:sp>
      <p:pic>
        <p:nvPicPr>
          <p:cNvPr id="2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4" name="TextBox 23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E1D7562E-134F-D14B-AF1A-DF40E11EF758}"/>
              </a:ext>
            </a:extLst>
          </p:cNvPr>
          <p:cNvSpPr txBox="1"/>
          <p:nvPr/>
        </p:nvSpPr>
        <p:spPr>
          <a:xfrm>
            <a:off x="479008" y="1326086"/>
            <a:ext cx="52264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Four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different parabolas are shown. Choose one graph that does not belong and explain your choice using key features. </a:t>
            </a: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=""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313;g104476d1465_1_39"/>
          <p:cNvSpPr txBox="1">
            <a:spLocks/>
          </p:cNvSpPr>
          <p:nvPr/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lang="en-US"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image2.png" descr="Icon&#10;&#10;Description automatically generated">
            <a:extLst>
              <a:ext uri="{FF2B5EF4-FFF2-40B4-BE49-F238E27FC236}">
                <a16:creationId xmlns:a16="http://schemas.microsoft.com/office/drawing/2014/main" xmlns="" id="{B8663E50-D763-C343-96E8-FEAEDD7FA21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506717" y="2849920"/>
            <a:ext cx="1158150" cy="115815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43;g103996e1364_0_321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62866"/>
            <a:ext cx="10957380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9.9.2 Guided Instruction: </a:t>
            </a:r>
            <a: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Quadratic </a:t>
            </a: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Formula</a:t>
            </a:r>
          </a:p>
        </p:txBody>
      </p:sp>
      <p:pic>
        <p:nvPicPr>
          <p:cNvPr id="10" name="Google Shape;345;g103996e1364_0_321">
            <a:extLst>
              <a:ext uri="{FF2B5EF4-FFF2-40B4-BE49-F238E27FC236}">
                <a16:creationId xmlns:a16="http://schemas.microsoft.com/office/drawing/2014/main" xmlns="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1785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=""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545130" y="1386024"/>
                <a:ext cx="10985454" cy="29515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Rewrite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=−5±</m:t>
                    </m:r>
                    <m:rad>
                      <m:radPr>
                        <m:degHide m:val="on"/>
                        <m:ctrlP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81</m:t>
                        </m:r>
                      </m:e>
                    </m:rad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as two separate values.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57200" indent="-4572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2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Determine the two different values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en-US" sz="2000" i="1" dirty="0">
                                <a:solidFill>
                                  <a:schemeClr val="tx1"/>
                                </a:solidFill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ES" alt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s-ES" alt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−4</m:t>
                        </m:r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𝑎𝑐</m:t>
                        </m:r>
                      </m:e>
                    </m:rad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given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=−2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=−15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=−6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Leave in square root form.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130" y="1386024"/>
                <a:ext cx="10985454" cy="2951514"/>
              </a:xfrm>
              <a:prstGeom prst="rect">
                <a:avLst/>
              </a:prstGeom>
              <a:blipFill rotWithShape="1">
                <a:blip r:embed="rId5"/>
                <a:stretch>
                  <a:fillRect l="-555" t="-412" r="-499" b="-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E54F5427-5FE9-4C42-A4C5-3E04290B3F8E}"/>
              </a:ext>
            </a:extLst>
          </p:cNvPr>
          <p:cNvGrpSpPr/>
          <p:nvPr/>
        </p:nvGrpSpPr>
        <p:grpSpPr>
          <a:xfrm>
            <a:off x="2605091" y="3646147"/>
            <a:ext cx="6889173" cy="1008380"/>
            <a:chOff x="2031299" y="3275735"/>
            <a:chExt cx="6889173" cy="1008530"/>
          </a:xfrm>
        </p:grpSpPr>
        <p:grpSp>
          <p:nvGrpSpPr>
            <p:cNvPr id="8" name="Group 7">
              <a:extLst>
                <a:ext uri="{FF2B5EF4-FFF2-40B4-BE49-F238E27FC236}">
                  <a16:creationId xmlns="" xmlns:a16="http://schemas.microsoft.com/office/drawing/2014/main" id="{91AFE7FE-0031-B747-A6F3-A24C47FBE80C}"/>
                </a:ext>
              </a:extLst>
            </p:cNvPr>
            <p:cNvGrpSpPr/>
            <p:nvPr/>
          </p:nvGrpSpPr>
          <p:grpSpPr>
            <a:xfrm>
              <a:off x="2031299" y="3275735"/>
              <a:ext cx="6889173" cy="1008530"/>
              <a:chOff x="-1" y="0"/>
              <a:chExt cx="6889173" cy="1008530"/>
            </a:xfrm>
          </p:grpSpPr>
          <p:sp>
            <p:nvSpPr>
              <p:cNvPr id="9" name="Rectangle 8">
                <a:extLst>
                  <a:ext uri="{FF2B5EF4-FFF2-40B4-BE49-F238E27FC236}">
                    <a16:creationId xmlns="" xmlns:a16="http://schemas.microsoft.com/office/drawing/2014/main" id="{C06FB7B9-A528-9345-B4ED-86106581FE8C}"/>
                  </a:ext>
                </a:extLst>
              </p:cNvPr>
              <p:cNvSpPr/>
              <p:nvPr/>
            </p:nvSpPr>
            <p:spPr>
              <a:xfrm>
                <a:off x="0" y="0"/>
                <a:ext cx="6629400" cy="1008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Cambria" panose="02040503050406030204" pitchFamily="18" charset="0"/>
                  </a:rPr>
                  <a:t> </a:t>
                </a:r>
                <a:endParaRPr lang="x-none" sz="1200">
                  <a:latin typeface="Cambria" panose="02040503050406030204" pitchFamily="18" charset="0"/>
                  <a:ea typeface="Times New Roman" panose="02020603050405020304" pitchFamily="18" charset="0"/>
                  <a:cs typeface="Cambria" panose="02040503050406030204" pitchFamily="18" charset="0"/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="" xmlns:a16="http://schemas.microsoft.com/office/drawing/2014/main" id="{10FF70D6-5CA4-2F42-BE24-9DF631417C50}"/>
                  </a:ext>
                </a:extLst>
              </p:cNvPr>
              <p:cNvGrpSpPr/>
              <p:nvPr/>
            </p:nvGrpSpPr>
            <p:grpSpPr>
              <a:xfrm>
                <a:off x="-1" y="0"/>
                <a:ext cx="6889173" cy="1008530"/>
                <a:chOff x="-1" y="0"/>
                <a:chExt cx="6889173" cy="1008530"/>
              </a:xfrm>
            </p:grpSpPr>
            <p:sp>
              <p:nvSpPr>
                <p:cNvPr id="14" name="Rectangle 13">
                  <a:extLst>
                    <a:ext uri="{FF2B5EF4-FFF2-40B4-BE49-F238E27FC236}">
                      <a16:creationId xmlns="" xmlns:a16="http://schemas.microsoft.com/office/drawing/2014/main" id="{B63CD2E9-049A-9943-ACC3-E5CC7F8AEB7D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Cambria" panose="02040503050406030204" pitchFamily="18" charset="0"/>
                    </a:rPr>
                    <a:t> </a:t>
                  </a:r>
                  <a:endParaRPr lang="x-none" sz="1200">
                    <a:latin typeface="Cambria" panose="02040503050406030204" pitchFamily="18" charset="0"/>
                    <a:ea typeface="Times New Roman" panose="02020603050405020304" pitchFamily="18" charset="0"/>
                    <a:cs typeface="Cambria" panose="02040503050406030204" pitchFamily="18" charset="0"/>
                  </a:endParaRP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="" xmlns:a16="http://schemas.microsoft.com/office/drawing/2014/main" id="{AC27B4EF-05FC-634E-9EC3-15FED923FB1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Cambria" panose="02040503050406030204" pitchFamily="18" charset="0"/>
                    </a:rPr>
                    <a:t> </a:t>
                  </a:r>
                  <a:endParaRPr lang="x-none" sz="1200">
                    <a:latin typeface="Cambria" panose="02040503050406030204" pitchFamily="18" charset="0"/>
                    <a:ea typeface="Times New Roman" panose="02020603050405020304" pitchFamily="18" charset="0"/>
                    <a:cs typeface="Cambria" panose="02040503050406030204" pitchFamily="18" charset="0"/>
                  </a:endParaRPr>
                </a:p>
              </p:txBody>
            </p:sp>
            <p:sp>
              <p:nvSpPr>
                <p:cNvPr id="16" name="Rounded Rectangle 15">
                  <a:extLst>
                    <a:ext uri="{FF2B5EF4-FFF2-40B4-BE49-F238E27FC236}">
                      <a16:creationId xmlns="" xmlns:a16="http://schemas.microsoft.com/office/drawing/2014/main" id="{F3E9D907-2AD5-B849-847C-155A73C4C177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6889173" cy="100853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B8E6F5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685800"/>
                  <a:r>
                    <a:rPr lang="en-US" sz="2000" dirty="0">
                      <a:solidFill>
                        <a:srgbClr val="00619E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The square root of a negative number is a </a:t>
                  </a:r>
                  <a:r>
                    <a:rPr lang="en-US" sz="2000" b="1" dirty="0">
                      <a:solidFill>
                        <a:srgbClr val="00619E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non‑real value</a:t>
                  </a:r>
                  <a:r>
                    <a:rPr lang="en-US" sz="2000" dirty="0">
                      <a:solidFill>
                        <a:srgbClr val="00619E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. </a:t>
                  </a:r>
                  <a:endParaRPr lang="x-none" dirty="0">
                    <a:latin typeface="Cambria" panose="02040503050406030204" pitchFamily="18" charset="0"/>
                    <a:ea typeface="Times New Roman" panose="02020603050405020304" pitchFamily="18" charset="0"/>
                    <a:cs typeface="Cambria" panose="02040503050406030204" pitchFamily="18" charset="0"/>
                  </a:endParaRPr>
                </a:p>
              </p:txBody>
            </p:sp>
          </p:grpSp>
          <p:pic>
            <p:nvPicPr>
              <p:cNvPr id="13" name="Shape 15" descr="Icon&#10;&#10;Description automatically generated">
                <a:extLst>
                  <a:ext uri="{FF2B5EF4-FFF2-40B4-BE49-F238E27FC236}">
                    <a16:creationId xmlns="" xmlns:a16="http://schemas.microsoft.com/office/drawing/2014/main" id="{FA433485-CA2E-3545-BD39-4CEFEF9A859C}"/>
                  </a:ext>
                </a:extLst>
              </p:cNvPr>
              <p:cNvPicPr preferRelativeResize="0"/>
              <p:nvPr/>
            </p:nvPicPr>
            <p:blipFill rotWithShape="1">
              <a:blip r:embed="rId4" cstate="screen">
                <a:alphaModFix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83914" y="235768"/>
                <a:ext cx="539750" cy="53975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=""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10558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Determine the two different values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en-US" sz="2000" i="1" dirty="0">
                                <a:solidFill>
                                  <a:schemeClr val="tx1"/>
                                </a:solidFill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ES" alt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s-ES" alt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−4</m:t>
                        </m:r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𝑎𝑐</m:t>
                        </m:r>
                      </m:e>
                    </m:ra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given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𝑎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𝑏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𝑐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Leave in square root form.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1055802"/>
              </a:xfrm>
              <a:prstGeom prst="rect">
                <a:avLst/>
              </a:prstGeom>
              <a:blipFill rotWithShape="1">
                <a:blip r:embed="rId5"/>
                <a:stretch>
                  <a:fillRect l="-609" b="-8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="" xmlns:a16="http://schemas.microsoft.com/office/drawing/2014/main" id="{8E07B600-9E29-FF4F-A3DF-9A0C64BD41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5354749"/>
                  </p:ext>
                </p:extLst>
              </p:nvPr>
            </p:nvGraphicFramePr>
            <p:xfrm>
              <a:off x="646983" y="1376097"/>
              <a:ext cx="8321040" cy="3663061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4663440">
                      <a:extLst>
                        <a:ext uri="{9D8B030D-6E8A-4147-A177-3AD203B41FA5}">
                          <a16:colId xmlns="" xmlns:a16="http://schemas.microsoft.com/office/drawing/2014/main" val="2666666442"/>
                        </a:ext>
                      </a:extLst>
                    </a:gridCol>
                    <a:gridCol w="3657600">
                      <a:extLst>
                        <a:ext uri="{9D8B030D-6E8A-4147-A177-3AD203B41FA5}">
                          <a16:colId xmlns="" xmlns:a16="http://schemas.microsoft.com/office/drawing/2014/main" val="1380845230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Standard Form Set Equal to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𝑏𝑥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638559236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From standard form the vertex of the parabola can be found using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x-none" sz="2000" i="1">
                                      <a:effectLst/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x-none" sz="2000" i="1">
                                          <a:effectLst/>
                                          <a:latin typeface="Cambria Math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num>
                                    <m:den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den>
                                  </m:f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f>
                                    <m:fPr>
                                      <m:ctrlPr>
                                        <a:rPr lang="x-none" sz="2000" i="1">
                                          <a:effectLst/>
                                          <a:latin typeface="Cambria Math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num>
                                    <m:den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den>
                                  </m:f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x-none" sz="2000" i="1">
                                          <a:effectLst/>
                                          <a:latin typeface="Cambria Math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x-none" sz="2000" i="1">
                                              <a:effectLst/>
                                              <a:latin typeface="Cambria Math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p>
                                          <m:r>
                                            <a:rPr lang="en-US" sz="20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  <m:sSup>
                                        <m:sSupPr>
                                          <m:ctrlPr>
                                            <a:rPr lang="x-none" sz="2000" i="1">
                                              <a:effectLst/>
                                              <a:latin typeface="Cambria Math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p>
                                          <m:r>
                                            <a:rPr lang="en-US" sz="20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Rewrite standard form to vertex form using this vertex.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x-none" sz="2000" i="1">
                                      <a:effectLst/>
                                      <a:latin typeface="Cambria Math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x-none" sz="2000" i="1">
                                          <a:effectLst/>
                                          <a:latin typeface="Cambria Math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x-none" sz="2000" i="1">
                                              <a:effectLst/>
                                              <a:latin typeface="Cambria Math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0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num>
                                        <m:den>
                                          <m:r>
                                            <a:rPr lang="en-US" sz="20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0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f>
                                <m:fPr>
                                  <m:ctrlPr>
                                    <a:rPr lang="x-none" sz="2000" i="1">
                                      <a:effectLst/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x-none" sz="2000" i="1">
                                      <a:effectLst/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x-none" sz="2000" i="1">
                                          <a:effectLst/>
                                          <a:latin typeface="Cambria Math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p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sSup>
                                    <m:sSupPr>
                                      <m:ctrlPr>
                                        <a:rPr lang="x-none" sz="2000" i="1">
                                          <a:effectLst/>
                                          <a:latin typeface="Cambria Math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lang="en-PH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036238977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Subtract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x-none" sz="2000" i="1">
                                      <a:effectLst/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from both sides.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dirty="0" smtClean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en-PH" sz="2000" dirty="0" smtClean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7494786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E07B600-9E29-FF4F-A3DF-9A0C64BD41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5354749"/>
                  </p:ext>
                </p:extLst>
              </p:nvPr>
            </p:nvGraphicFramePr>
            <p:xfrm>
              <a:off x="646983" y="1376097"/>
              <a:ext cx="8321040" cy="3663061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466344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666666442"/>
                        </a:ext>
                      </a:extLst>
                    </a:gridCol>
                    <a:gridCol w="36576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380845230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t="-3333" r="-78562" b="-30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l="-127500" t="-3333" r="-167" b="-30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638559236"/>
                      </a:ext>
                    </a:extLst>
                  </a:tr>
                  <a:tr h="14888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t="-63525" r="-78562" b="-84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l="-127500" t="-63525" r="-167" b="-848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036238977"/>
                      </a:ext>
                    </a:extLst>
                  </a:tr>
                  <a:tr h="1259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t="-192754" r="-785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dirty="0" smtClean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en-PH" sz="2000" dirty="0" smtClean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74947869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Solving quadratics when given standard form is similar to isolating the variable 𝑥 from standard form, except that standard form is set equal to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707886"/>
              </a:xfrm>
              <a:prstGeom prst="rect">
                <a:avLst/>
              </a:prstGeom>
              <a:blipFill rotWithShape="1">
                <a:blip r:embed="rId5"/>
                <a:stretch>
                  <a:fillRect l="-609" t="-4310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1942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="" xmlns:a16="http://schemas.microsoft.com/office/drawing/2014/main" id="{54F2A7A3-653D-904C-A0FD-993E85A94E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48071550"/>
                  </p:ext>
                </p:extLst>
              </p:nvPr>
            </p:nvGraphicFramePr>
            <p:xfrm>
              <a:off x="576072" y="410666"/>
              <a:ext cx="8321040" cy="5548884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4663440">
                      <a:extLst>
                        <a:ext uri="{9D8B030D-6E8A-4147-A177-3AD203B41FA5}">
                          <a16:colId xmlns="" xmlns:a16="http://schemas.microsoft.com/office/drawing/2014/main" val="622532762"/>
                        </a:ext>
                      </a:extLst>
                    </a:gridCol>
                    <a:gridCol w="3657600">
                      <a:extLst>
                        <a:ext uri="{9D8B030D-6E8A-4147-A177-3AD203B41FA5}">
                          <a16:colId xmlns="" xmlns:a16="http://schemas.microsoft.com/office/drawing/2014/main" val="2887112829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Add the opposite of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x-none" sz="2000" i="1">
                                      <a:effectLst/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x-none" sz="2000" i="1">
                                          <a:effectLst/>
                                          <a:latin typeface="Cambria Math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p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sSup>
                                    <m:sSupPr>
                                      <m:ctrlPr>
                                        <a:rPr lang="x-none" sz="2000" i="1">
                                          <a:effectLst/>
                                          <a:latin typeface="Cambria Math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to both sides.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dirty="0" smtClean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681262664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 this step, a mathematician provided an equivalent form. The algebra that the mathematician used will be learned in Algebra 2. All of the steps the mathematician used are not shown.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x-none" sz="2000" i="1">
                                      <a:effectLst/>
                                      <a:latin typeface="Cambria Math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x-none" sz="2000" i="1">
                                          <a:effectLst/>
                                          <a:latin typeface="Cambria Math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x-none" sz="2000" i="1">
                                              <a:effectLst/>
                                              <a:latin typeface="Cambria Math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0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num>
                                        <m:den>
                                          <m:r>
                                            <a:rPr lang="en-US" sz="20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0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=− </m:t>
                              </m:r>
                              <m:f>
                                <m:fPr>
                                  <m:ctrlPr>
                                    <a:rPr lang="x-none" sz="2000" i="1">
                                      <a:effectLst/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x-none" sz="2000" i="1">
                                      <a:effectLst/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x-none" sz="2000" i="1">
                                          <a:effectLst/>
                                          <a:latin typeface="Cambria Math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p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sSup>
                                    <m:sSupPr>
                                      <m:ctrlPr>
                                        <a:rPr lang="x-none" sz="2000" i="1">
                                          <a:effectLst/>
                                          <a:latin typeface="Cambria Math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oMath>
                          </a14:m>
                          <a:r>
                            <a:rPr lang="en-PH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x-none" sz="2000" i="1">
                                      <a:effectLst/>
                                      <a:latin typeface="Cambria Math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x-none" sz="2000" i="1">
                                          <a:effectLst/>
                                          <a:latin typeface="Cambria Math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x-none" sz="2000" i="1">
                                              <a:effectLst/>
                                              <a:latin typeface="Cambria Math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0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num>
                                        <m:den>
                                          <m:r>
                                            <a:rPr lang="en-US" sz="20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0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x-none" sz="2000" i="1">
                                      <a:effectLst/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x-none" sz="2000" i="1">
                                          <a:effectLst/>
                                          <a:latin typeface="Cambria Math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p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−4</m:t>
                                  </m:r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𝑎𝑐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sSup>
                                    <m:sSupPr>
                                      <m:ctrlPr>
                                        <a:rPr lang="x-none" sz="2000" i="1">
                                          <a:effectLst/>
                                          <a:latin typeface="Cambria Math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oMath>
                          </a14:m>
                          <a:r>
                            <a:rPr lang="en-PH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dirty="0" smtClean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en-PH" sz="2000" dirty="0" smtClean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en-PH" sz="2000" dirty="0" smtClean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2266660568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Take the square root of both sides.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When taking the square root of both sides include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to represent both of the possible outputs</a:t>
                          </a: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x-none" sz="2000" i="1" smtClean="0">
                                      <a:effectLst/>
                                      <a:latin typeface="Cambria Math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x-none" sz="2000" i="1">
                                          <a:effectLst/>
                                          <a:latin typeface="Cambria Math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x-none" sz="2000" i="1">
                                              <a:effectLst/>
                                              <a:latin typeface="Cambria Math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0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num>
                                        <m:den>
                                          <m:r>
                                            <a:rPr lang="en-US" sz="20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0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x-none" sz="2000" i="1">
                                      <a:effectLst/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x-none" sz="2000" i="1">
                                          <a:effectLst/>
                                          <a:latin typeface="Cambria Math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p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−4</m:t>
                                  </m:r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𝑎𝑐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sSup>
                                    <m:sSupPr>
                                      <m:ctrlPr>
                                        <a:rPr lang="x-none" sz="2000" i="1">
                                          <a:effectLst/>
                                          <a:latin typeface="Cambria Math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oMath>
                          </a14:m>
                          <a:r>
                            <a:rPr lang="en-PH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4F2A7A3-653D-904C-A0FD-993E85A94E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48071550"/>
                  </p:ext>
                </p:extLst>
              </p:nvPr>
            </p:nvGraphicFramePr>
            <p:xfrm>
              <a:off x="576072" y="410666"/>
              <a:ext cx="8321040" cy="5548884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466344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622532762"/>
                        </a:ext>
                      </a:extLst>
                    </a:gridCol>
                    <a:gridCol w="36576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887112829"/>
                        </a:ext>
                      </a:extLst>
                    </a:gridCol>
                  </a:tblGrid>
                  <a:tr h="1259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31" r="-78431" b="-3487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000" dirty="0" smtClean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681262664"/>
                      </a:ext>
                    </a:extLst>
                  </a:tr>
                  <a:tr h="2546604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 this step, a mathematician provided an equivalent form. The algebra that the mathematician used will be learned in Algebra 2. All of the steps the mathematician used are not shown.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27667" t="-49522" b="-7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266660568"/>
                      </a:ext>
                    </a:extLst>
                  </a:tr>
                  <a:tr h="17424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31" t="-218531" r="-78431" b="-6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27667" t="-218531" b="-6294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93340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="" xmlns:a16="http://schemas.microsoft.com/office/drawing/2014/main" id="{54F2A7A3-653D-904C-A0FD-993E85A94E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5197397"/>
                  </p:ext>
                </p:extLst>
              </p:nvPr>
            </p:nvGraphicFramePr>
            <p:xfrm>
              <a:off x="576072" y="410666"/>
              <a:ext cx="8321040" cy="346456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4663440">
                      <a:extLst>
                        <a:ext uri="{9D8B030D-6E8A-4147-A177-3AD203B41FA5}">
                          <a16:colId xmlns="" xmlns:a16="http://schemas.microsoft.com/office/drawing/2014/main" val="622532762"/>
                        </a:ext>
                      </a:extLst>
                    </a:gridCol>
                    <a:gridCol w="3657600">
                      <a:extLst>
                        <a:ext uri="{9D8B030D-6E8A-4147-A177-3AD203B41FA5}">
                          <a16:colId xmlns="" xmlns:a16="http://schemas.microsoft.com/office/drawing/2014/main" val="2887112829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Subtract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x-none" sz="2000" i="1">
                                      <a:effectLst/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from both sides.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en-US" sz="2000" dirty="0" smtClean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681262664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 this step, a mathematician provided an equivalent form. The algebra that the mathematician used will be learned in Algebra 2. All of the steps the mathematician used are not shown.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smtClean="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x-none" sz="2000" i="1">
                                      <a:effectLst/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±</m:t>
                              </m:r>
                              <m:rad>
                                <m:radPr>
                                  <m:degHide m:val="on"/>
                                  <m:ctrlPr>
                                    <a:rPr lang="x-none" sz="2000" i="1">
                                      <a:effectLst/>
                                      <a:latin typeface="Cambria Math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x-none" sz="2000" i="1">
                                          <a:effectLst/>
                                          <a:latin typeface="Cambria Math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x-none" sz="2000" i="1">
                                              <a:effectLst/>
                                              <a:latin typeface="Cambria Math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p>
                                          <m:r>
                                            <a:rPr lang="en-US" sz="20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−4</m:t>
                                      </m:r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𝑎𝑐</m:t>
                                      </m:r>
                                    </m:num>
                                    <m:den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  <m:sSup>
                                        <m:sSupPr>
                                          <m:ctrlPr>
                                            <a:rPr lang="x-none" sz="2000" i="1">
                                              <a:effectLst/>
                                              <a:latin typeface="Cambria Math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p>
                                          <m:r>
                                            <a:rPr lang="en-US" sz="20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rad>
                            </m:oMath>
                          </a14:m>
                          <a:r>
                            <a:rPr lang="en-PH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x-none" sz="2000" i="1">
                                      <a:effectLst/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±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x-none" sz="2000" i="1">
                                          <a:effectLst/>
                                          <a:latin typeface="Cambria Math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p>
                                        <m:sSupPr>
                                          <m:ctrlPr>
                                            <a:rPr lang="x-none" sz="2000" i="1">
                                              <a:effectLst/>
                                              <a:latin typeface="Cambria Math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p>
                                          <m:r>
                                            <a:rPr lang="en-US" sz="2000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−4</m:t>
                                      </m:r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𝑎𝑐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oMath>
                          </a14:m>
                          <a:r>
                            <a:rPr lang="en-PH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22666605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4F2A7A3-653D-904C-A0FD-993E85A94E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5197397"/>
                  </p:ext>
                </p:extLst>
              </p:nvPr>
            </p:nvGraphicFramePr>
            <p:xfrm>
              <a:off x="576072" y="410666"/>
              <a:ext cx="8321040" cy="346456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466344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622532762"/>
                        </a:ext>
                      </a:extLst>
                    </a:gridCol>
                    <a:gridCol w="36576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887112829"/>
                        </a:ext>
                      </a:extLst>
                    </a:gridCol>
                  </a:tblGrid>
                  <a:tr h="1259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31" r="-78431" b="-1748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en-US" sz="2000" dirty="0" smtClean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681262664"/>
                      </a:ext>
                    </a:extLst>
                  </a:tr>
                  <a:tr h="220472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 this step, a mathematician provided an equivalent form. The algebra that the mathematician used will be learned in Algebra 2. All of the steps the mathematician used are not shown.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27667" t="-571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26666056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60972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4C632DF4-DC27-D348-B842-47884C6C1286}"/>
              </a:ext>
            </a:extLst>
          </p:cNvPr>
          <p:cNvGrpSpPr/>
          <p:nvPr/>
        </p:nvGrpSpPr>
        <p:grpSpPr>
          <a:xfrm>
            <a:off x="2734978" y="3618961"/>
            <a:ext cx="6629400" cy="2549045"/>
            <a:chOff x="2031300" y="3046920"/>
            <a:chExt cx="6629400" cy="2549710"/>
          </a:xfrm>
        </p:grpSpPr>
        <p:grpSp>
          <p:nvGrpSpPr>
            <p:cNvPr id="8" name="Group 7">
              <a:extLst>
                <a:ext uri="{FF2B5EF4-FFF2-40B4-BE49-F238E27FC236}">
                  <a16:creationId xmlns="" xmlns:a16="http://schemas.microsoft.com/office/drawing/2014/main" id="{89124BB0-808A-5547-BEFF-03A21B4132C5}"/>
                </a:ext>
              </a:extLst>
            </p:cNvPr>
            <p:cNvGrpSpPr/>
            <p:nvPr/>
          </p:nvGrpSpPr>
          <p:grpSpPr>
            <a:xfrm>
              <a:off x="2031300" y="3046920"/>
              <a:ext cx="6629400" cy="2549710"/>
              <a:chOff x="0" y="-228815"/>
              <a:chExt cx="6629400" cy="2549710"/>
            </a:xfrm>
          </p:grpSpPr>
          <p:sp>
            <p:nvSpPr>
              <p:cNvPr id="9" name="Rectangle 8">
                <a:extLst>
                  <a:ext uri="{FF2B5EF4-FFF2-40B4-BE49-F238E27FC236}">
                    <a16:creationId xmlns="" xmlns:a16="http://schemas.microsoft.com/office/drawing/2014/main" id="{17BFD230-587C-CF44-B87C-7221F6135B0A}"/>
                  </a:ext>
                </a:extLst>
              </p:cNvPr>
              <p:cNvSpPr/>
              <p:nvPr/>
            </p:nvSpPr>
            <p:spPr>
              <a:xfrm>
                <a:off x="0" y="0"/>
                <a:ext cx="6629400" cy="1008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Cambria" panose="02040503050406030204" pitchFamily="18" charset="0"/>
                  </a:rPr>
                  <a:t> </a:t>
                </a:r>
                <a:endParaRPr lang="x-none" sz="1200">
                  <a:latin typeface="Cambria" panose="02040503050406030204" pitchFamily="18" charset="0"/>
                  <a:ea typeface="Times New Roman" panose="02020603050405020304" pitchFamily="18" charset="0"/>
                  <a:cs typeface="Cambria" panose="02040503050406030204" pitchFamily="18" charset="0"/>
                </a:endParaRPr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="" xmlns:a16="http://schemas.microsoft.com/office/drawing/2014/main" id="{BF34166B-5C7C-C446-B804-C4A506F7E3FC}"/>
                  </a:ext>
                </a:extLst>
              </p:cNvPr>
              <p:cNvGrpSpPr/>
              <p:nvPr/>
            </p:nvGrpSpPr>
            <p:grpSpPr>
              <a:xfrm>
                <a:off x="0" y="-228815"/>
                <a:ext cx="6629400" cy="2549710"/>
                <a:chOff x="0" y="-228815"/>
                <a:chExt cx="6629400" cy="2549710"/>
              </a:xfrm>
            </p:grpSpPr>
            <p:sp>
              <p:nvSpPr>
                <p:cNvPr id="13" name="Rectangle 12">
                  <a:extLst>
                    <a:ext uri="{FF2B5EF4-FFF2-40B4-BE49-F238E27FC236}">
                      <a16:creationId xmlns="" xmlns:a16="http://schemas.microsoft.com/office/drawing/2014/main" id="{0DE0669B-AD99-EC4D-972D-04EF47C976DA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Cambria" panose="02040503050406030204" pitchFamily="18" charset="0"/>
                    </a:rPr>
                    <a:t> </a:t>
                  </a:r>
                  <a:endParaRPr lang="x-none" sz="1200">
                    <a:latin typeface="Cambria" panose="02040503050406030204" pitchFamily="18" charset="0"/>
                    <a:ea typeface="Times New Roman" panose="02020603050405020304" pitchFamily="18" charset="0"/>
                    <a:cs typeface="Cambria" panose="02040503050406030204" pitchFamily="18" charset="0"/>
                  </a:endParaRP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="" xmlns:a16="http://schemas.microsoft.com/office/drawing/2014/main" id="{4CF3AF94-4D46-8741-8AA4-72DB78E24E5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Cambria" panose="02040503050406030204" pitchFamily="18" charset="0"/>
                    </a:rPr>
                    <a:t> </a:t>
                  </a:r>
                  <a:endParaRPr lang="x-none" sz="1200">
                    <a:latin typeface="Cambria" panose="02040503050406030204" pitchFamily="18" charset="0"/>
                    <a:ea typeface="Times New Roman" panose="02020603050405020304" pitchFamily="18" charset="0"/>
                    <a:cs typeface="Cambria" panose="02040503050406030204" pitchFamily="18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Rounded Rectangle 14">
                      <a:extLst>
                        <a:ext uri="{FF2B5EF4-FFF2-40B4-BE49-F238E27FC236}">
                          <a16:creationId xmlns="" xmlns:a16="http://schemas.microsoft.com/office/drawing/2014/main" id="{A71C2794-9BDF-184B-B378-C801CF3A54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-228815"/>
                      <a:ext cx="6629400" cy="2549710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rgbClr val="B8E6F5"/>
                    </a:solid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685800"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solidFill>
                            <a:srgbClr val="00619E"/>
                          </a:solidFill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a:t>Quadratic Formula</a:t>
                      </a:r>
                      <a:endParaRPr lang="x-none" sz="2000" dirty="0">
                        <a:latin typeface="Cambria" panose="02040503050406030204" pitchFamily="18" charset="0"/>
                        <a:ea typeface="Times New Roman" panose="02020603050405020304" pitchFamily="18" charset="0"/>
                        <a:cs typeface="Cambria" panose="02040503050406030204" pitchFamily="18" charset="0"/>
                      </a:endParaRPr>
                    </a:p>
                    <a:p>
                      <a:pPr marL="685800">
                        <a:spcAft>
                          <a:spcPts val="1000"/>
                        </a:spcAft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1" i="1">
                                <a:solidFill>
                                  <a:srgbClr val="00619E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2000" b="1">
                                <a:solidFill>
                                  <a:srgbClr val="00619E"/>
                                </a:solidFill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x-none" sz="2000" b="1" i="1">
                                    <a:solidFill>
                                      <a:srgbClr val="00619E"/>
                                    </a:solidFill>
                                    <a:latin typeface="Cambria Math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1" i="1">
                                    <a:solidFill>
                                      <a:srgbClr val="00619E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1">
                                    <a:solidFill>
                                      <a:srgbClr val="00619E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a:rPr lang="en-US" sz="2000" b="1">
                                    <a:solidFill>
                                      <a:srgbClr val="00619E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mbria Math" panose="02040503050406030204" pitchFamily="18" charset="0"/>
                                  </a:rPr>
                                  <m:t>±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x-none" sz="2000" b="1" i="1">
                                        <a:solidFill>
                                          <a:srgbClr val="00619E"/>
                                        </a:solidFill>
                                        <a:latin typeface="Cambria Math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x-none" sz="2000" b="1" i="1">
                                            <a:solidFill>
                                              <a:srgbClr val="00619E"/>
                                            </a:solidFill>
                                            <a:latin typeface="Cambria Math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1" i="1">
                                            <a:solidFill>
                                              <a:srgbClr val="00619E"/>
                                            </a:solidFill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Cambria Math" panose="02040503050406030204" pitchFamily="18" charset="0"/>
                                          </a:rPr>
                                          <m:t>𝒃</m:t>
                                        </m:r>
                                      </m:e>
                                      <m:sup>
                                        <m:r>
                                          <a:rPr lang="en-US" sz="2000" b="1" i="1">
                                            <a:solidFill>
                                              <a:srgbClr val="00619E"/>
                                            </a:solidFill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  <m:r>
                                      <a:rPr lang="en-US" sz="2000" b="1" i="1">
                                        <a:solidFill>
                                          <a:srgbClr val="00619E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 b="1" i="1">
                                        <a:solidFill>
                                          <a:srgbClr val="00619E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mbria Math" panose="02040503050406030204" pitchFamily="18" charset="0"/>
                                      </a:rPr>
                                      <m:t>𝟒</m:t>
                                    </m:r>
                                    <m:r>
                                      <a:rPr lang="en-US" sz="2000" b="1" i="1">
                                        <a:solidFill>
                                          <a:srgbClr val="00619E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mbria Math" panose="02040503050406030204" pitchFamily="18" charset="0"/>
                                      </a:rPr>
                                      <m:t>𝒂𝒄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US" sz="2000" b="1" i="1">
                                    <a:solidFill>
                                      <a:srgbClr val="00619E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2000" b="1" i="1">
                                    <a:solidFill>
                                      <a:srgbClr val="00619E"/>
                                    </a:solidFill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mbria Math" panose="02040503050406030204" pitchFamily="18" charset="0"/>
                                  </a:rPr>
                                  <m:t>𝒂</m:t>
                                </m:r>
                              </m:den>
                            </m:f>
                          </m:oMath>
                        </m:oMathPara>
                      </a14:m>
                      <a:endParaRPr lang="x-none" sz="2000" dirty="0">
                        <a:latin typeface="Cambria" panose="02040503050406030204" pitchFamily="18" charset="0"/>
                        <a:ea typeface="Times New Roman" panose="02020603050405020304" pitchFamily="18" charset="0"/>
                        <a:cs typeface="Cambria" panose="02040503050406030204" pitchFamily="18" charset="0"/>
                      </a:endParaRPr>
                    </a:p>
                    <a:p>
                      <a:pPr marL="685800">
                        <a:spcAft>
                          <a:spcPts val="1000"/>
                        </a:spcAft>
                      </a:pPr>
                      <a:r>
                        <a:rPr lang="en-US" sz="2000" dirty="0">
                          <a:solidFill>
                            <a:srgbClr val="00619E"/>
                          </a:solidFill>
                          <a:latin typeface="Verdana" panose="020B0604030504040204" pitchFamily="34" charset="0"/>
                          <a:ea typeface="Times New Roman" panose="02020603050405020304" pitchFamily="18" charset="0"/>
                          <a:cs typeface="Cambria" panose="02040503050406030204" pitchFamily="18" charset="0"/>
                        </a:rPr>
                        <a:t>The quadratic formula is used to solve a </a:t>
                      </a:r>
                      <a:r>
                        <a:rPr lang="en-US" sz="2000" dirty="0">
                          <a:solidFill>
                            <a:srgbClr val="00619E"/>
                          </a:solidFill>
                          <a:latin typeface="Verdana" panose="020B060403050404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quadratic in standard form that is set equal to </a:t>
                      </a:r>
                      <a14:m>
                        <m:oMath xmlns:m="http://schemas.openxmlformats.org/officeDocument/2006/math">
                          <m:r>
                            <a:rPr lang="en-US" sz="2000" i="1">
                              <a:solidFill>
                                <a:srgbClr val="00619E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Arial" panose="020B0604020202020204" pitchFamily="34" charset="0"/>
                            </a:rPr>
                            <m:t>0</m:t>
                          </m:r>
                        </m:oMath>
                      </a14:m>
                      <a:r>
                        <a:rPr lang="en-US" sz="2000" dirty="0">
                          <a:solidFill>
                            <a:srgbClr val="00619E"/>
                          </a:solidFill>
                          <a:latin typeface="Verdana" panose="020B060403050404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, </a:t>
                      </a:r>
                      <a14:m>
                        <m:oMath xmlns:m="http://schemas.openxmlformats.org/officeDocument/2006/math">
                          <m:r>
                            <a:rPr lang="en-US" sz="2000" i="1">
                              <a:solidFill>
                                <a:srgbClr val="00619E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mbria" panose="02040503050406030204" pitchFamily="18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x-none" sz="2000" i="1">
                                  <a:solidFill>
                                    <a:srgbClr val="00619E"/>
                                  </a:solidFill>
                                  <a:latin typeface="Cambria Math" charset="0"/>
                                  <a:ea typeface="Times New Roman" panose="02020603050405020304" pitchFamily="18" charset="0"/>
                                  <a:cs typeface="Cambria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solidFill>
                                    <a:srgbClr val="00619E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mbria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000" i="1">
                                  <a:solidFill>
                                    <a:srgbClr val="00619E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mbria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i="1">
                              <a:solidFill>
                                <a:srgbClr val="00619E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mbria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solidFill>
                                <a:srgbClr val="00619E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mbria" panose="02040503050406030204" pitchFamily="18" charset="0"/>
                            </a:rPr>
                            <m:t>𝑏𝑥</m:t>
                          </m:r>
                          <m:r>
                            <a:rPr lang="en-US" sz="2000" i="1">
                              <a:solidFill>
                                <a:srgbClr val="00619E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mbria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solidFill>
                                <a:srgbClr val="00619E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mbria" panose="02040503050406030204" pitchFamily="18" charset="0"/>
                            </a:rPr>
                            <m:t>𝑐</m:t>
                          </m:r>
                          <m:r>
                            <a:rPr lang="en-US" sz="2000" i="1">
                              <a:solidFill>
                                <a:srgbClr val="00619E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mbria" panose="02040503050406030204" pitchFamily="18" charset="0"/>
                            </a:rPr>
                            <m:t>=0</m:t>
                          </m:r>
                        </m:oMath>
                      </a14:m>
                      <a:r>
                        <a:rPr lang="en-US" sz="2000" dirty="0">
                          <a:solidFill>
                            <a:srgbClr val="00619E"/>
                          </a:solidFill>
                          <a:latin typeface="Verdana" panose="020B060403050404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</a:t>
                      </a:r>
                      <a:endParaRPr lang="x-none" sz="2000" dirty="0">
                        <a:latin typeface="Cambria" panose="02040503050406030204" pitchFamily="18" charset="0"/>
                        <a:ea typeface="Times New Roman" panose="02020603050405020304" pitchFamily="18" charset="0"/>
                        <a:cs typeface="Cambria" panose="020405030504060302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5" name="Rounded Rectangle 14">
                      <a:extLst>
                        <a:ext uri="{FF2B5EF4-FFF2-40B4-BE49-F238E27FC236}">
                          <a16:creationId xmlns:a16="http://schemas.microsoft.com/office/drawing/2014/main" xmlns:a14="http://schemas.microsoft.com/office/drawing/2010/main" xmlns="" id="{A71C2794-9BDF-184B-B378-C801CF3A54B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0" y="-228815"/>
                      <a:ext cx="6629400" cy="2549710"/>
                    </a:xfrm>
                    <a:prstGeom prst="roundRect">
                      <a:avLst>
                        <a:gd name="adj" fmla="val 16667"/>
                      </a:avLst>
                    </a:prstGeom>
                    <a:blipFill rotWithShape="1">
                      <a:blip r:embed="rId4"/>
                      <a:stretch>
                        <a:fillRect/>
                      </a:stretch>
                    </a:blip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pic>
            <p:nvPicPr>
              <p:cNvPr id="11" name="Shape 15" descr="Icon&#10;&#10;Description automatically generated">
                <a:extLst>
                  <a:ext uri="{FF2B5EF4-FFF2-40B4-BE49-F238E27FC236}">
                    <a16:creationId xmlns="" xmlns:a16="http://schemas.microsoft.com/office/drawing/2014/main" id="{C7286740-EA4D-DF43-93D6-F1CE749BDE31}"/>
                  </a:ext>
                </a:extLst>
              </p:cNvPr>
              <p:cNvPicPr preferRelativeResize="0"/>
              <p:nvPr/>
            </p:nvPicPr>
            <p:blipFill rotWithShape="1">
              <a:blip r:embed="rId5" cstate="screen">
                <a:alphaModFix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92573" y="-45015"/>
                <a:ext cx="539750" cy="53975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By isolating the variable 𝑥, a formula for solving any quadratic in standard form that is set equal to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was created. This formula is called the quadratic formula.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707886"/>
              </a:xfrm>
              <a:prstGeom prst="rect">
                <a:avLst/>
              </a:prstGeom>
              <a:blipFill rotWithShape="1">
                <a:blip r:embed="rId6"/>
                <a:stretch>
                  <a:fillRect l="-609" t="-4310" r="-941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40359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="" xmlns:a16="http://schemas.microsoft.com/office/drawing/2014/main" id="{9883AD2C-1B28-2A40-9628-5AD4837748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8057347"/>
                  </p:ext>
                </p:extLst>
              </p:nvPr>
            </p:nvGraphicFramePr>
            <p:xfrm>
              <a:off x="1124815" y="965470"/>
              <a:ext cx="7315200" cy="37846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3657600">
                      <a:extLst>
                        <a:ext uri="{9D8B030D-6E8A-4147-A177-3AD203B41FA5}">
                          <a16:colId xmlns="" xmlns:a16="http://schemas.microsoft.com/office/drawing/2014/main" val="2686747900"/>
                        </a:ext>
                      </a:extLst>
                    </a:gridCol>
                    <a:gridCol w="3657600">
                      <a:extLst>
                        <a:ext uri="{9D8B030D-6E8A-4147-A177-3AD203B41FA5}">
                          <a16:colId xmlns="" xmlns:a16="http://schemas.microsoft.com/office/drawing/2014/main" val="751203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Quadratic Equation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32259" marR="32259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Quadratic Formula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32259" marR="32259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94987193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+8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−15=0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=________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=________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=________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32259" marR="32259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b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 Solutions:________</a:t>
                          </a:r>
                        </a:p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32259" marR="32259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2081208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883AD2C-1B28-2A40-9628-5AD4837748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8057347"/>
                  </p:ext>
                </p:extLst>
              </p:nvPr>
            </p:nvGraphicFramePr>
            <p:xfrm>
              <a:off x="1124815" y="965470"/>
              <a:ext cx="7315200" cy="37846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36576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686747900"/>
                        </a:ext>
                      </a:extLst>
                    </a:gridCol>
                    <a:gridCol w="36576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751203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Quadratic Equation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32259" marR="32259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Quadratic Formula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32259" marR="32259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949871936"/>
                      </a:ext>
                    </a:extLst>
                  </a:tr>
                  <a:tr h="3327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259" marR="32259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67" t="-13736" r="-100000" b="-1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b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 Solutions:________</a:t>
                          </a:r>
                        </a:p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32259" marR="32259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20812081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mc="http://schemas.openxmlformats.org/markup-compatibility/2006" xmlns:a14="http://schemas.microsoft.com/office/drawing/2010/main" xmlns=""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10182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table.</a:t>
            </a:r>
          </a:p>
        </p:txBody>
      </p:sp>
    </p:spTree>
    <p:extLst>
      <p:ext uri="{BB962C8B-B14F-4D97-AF65-F5344CB8AC3E}">
        <p14:creationId xmlns:p14="http://schemas.microsoft.com/office/powerpoint/2010/main" val="2447206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="" xmlns:a16="http://schemas.microsoft.com/office/drawing/2014/main" id="{9883AD2C-1B28-2A40-9628-5AD4837748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2568746"/>
                  </p:ext>
                </p:extLst>
              </p:nvPr>
            </p:nvGraphicFramePr>
            <p:xfrm>
              <a:off x="1124815" y="410666"/>
              <a:ext cx="7315200" cy="37846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3657600">
                      <a:extLst>
                        <a:ext uri="{9D8B030D-6E8A-4147-A177-3AD203B41FA5}">
                          <a16:colId xmlns="" xmlns:a16="http://schemas.microsoft.com/office/drawing/2014/main" val="2686747900"/>
                        </a:ext>
                      </a:extLst>
                    </a:gridCol>
                    <a:gridCol w="3657600">
                      <a:extLst>
                        <a:ext uri="{9D8B030D-6E8A-4147-A177-3AD203B41FA5}">
                          <a16:colId xmlns="" xmlns:a16="http://schemas.microsoft.com/office/drawing/2014/main" val="751203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Quadratic Equation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32259" marR="32259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Quadratic Formula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32259" marR="32259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949871936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 smtClean="0">
                                        <a:effectLst/>
                                        <a:latin typeface="Cambria Math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+6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+7=−6</m:t>
                                </m:r>
                              </m:oMath>
                            </m:oMathPara>
                          </a14:m>
                          <a:endParaRPr lang="x-none" sz="1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+6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+______=0</m:t>
                                </m:r>
                              </m:oMath>
                            </m:oMathPara>
                          </a14:m>
                          <a:endParaRPr lang="x-none" sz="1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=________</m:t>
                                </m:r>
                              </m:oMath>
                            </m:oMathPara>
                          </a14:m>
                          <a:endParaRPr lang="x-none" sz="1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=________</m:t>
                                </m:r>
                              </m:oMath>
                            </m:oMathPara>
                          </a14:m>
                          <a:endParaRPr lang="x-none" sz="1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=________</m:t>
                                </m:r>
                              </m:oMath>
                            </m:oMathPara>
                          </a14:m>
                          <a:endParaRPr lang="x-none" sz="1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32259" marR="32259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b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 Solutions:________</a:t>
                          </a:r>
                        </a:p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32259" marR="32259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2081208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883AD2C-1B28-2A40-9628-5AD4837748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2568746"/>
                  </p:ext>
                </p:extLst>
              </p:nvPr>
            </p:nvGraphicFramePr>
            <p:xfrm>
              <a:off x="1124815" y="410666"/>
              <a:ext cx="7315200" cy="37846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36576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686747900"/>
                        </a:ext>
                      </a:extLst>
                    </a:gridCol>
                    <a:gridCol w="36576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751203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Quadratic Equation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32259" marR="32259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Quadratic Formula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32259" marR="32259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949871936"/>
                      </a:ext>
                    </a:extLst>
                  </a:tr>
                  <a:tr h="3327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259" marR="32259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67" t="-13736" r="-100000" b="-1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b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 Solutions:________</a:t>
                          </a:r>
                        </a:p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32259" marR="32259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20812081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53801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="" xmlns:a16="http://schemas.microsoft.com/office/drawing/2014/main" id="{9883AD2C-1B28-2A40-9628-5AD4837748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11734393"/>
                  </p:ext>
                </p:extLst>
              </p:nvPr>
            </p:nvGraphicFramePr>
            <p:xfrm>
              <a:off x="1124815" y="410666"/>
              <a:ext cx="7315200" cy="37846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3657600">
                      <a:extLst>
                        <a:ext uri="{9D8B030D-6E8A-4147-A177-3AD203B41FA5}">
                          <a16:colId xmlns="" xmlns:a16="http://schemas.microsoft.com/office/drawing/2014/main" val="2686747900"/>
                        </a:ext>
                      </a:extLst>
                    </a:gridCol>
                    <a:gridCol w="3657600">
                      <a:extLst>
                        <a:ext uri="{9D8B030D-6E8A-4147-A177-3AD203B41FA5}">
                          <a16:colId xmlns="" xmlns:a16="http://schemas.microsoft.com/office/drawing/2014/main" val="751203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Quadratic Equation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32259" marR="32259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Quadratic Formula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32259" marR="32259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949871936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 smtClean="0">
                                        <a:effectLst/>
                                        <a:latin typeface="Cambria Math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−5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+18=4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+17</m:t>
                                </m:r>
                              </m:oMath>
                            </m:oMathPara>
                          </a14:m>
                          <a:endParaRPr lang="x-none" sz="1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−5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____ ____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____ ____=0</m:t>
                                </m:r>
                              </m:oMath>
                            </m:oMathPara>
                          </a14:m>
                          <a:endParaRPr lang="x-none" sz="1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=________</m:t>
                                </m:r>
                              </m:oMath>
                            </m:oMathPara>
                          </a14:m>
                          <a:endParaRPr lang="x-none" sz="1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=________</m:t>
                                </m:r>
                              </m:oMath>
                            </m:oMathPara>
                          </a14:m>
                          <a:endParaRPr lang="x-none" sz="1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=________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32259" marR="32259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b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 Solutions:________</a:t>
                          </a:r>
                        </a:p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32259" marR="32259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2081208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883AD2C-1B28-2A40-9628-5AD4837748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11734393"/>
                  </p:ext>
                </p:extLst>
              </p:nvPr>
            </p:nvGraphicFramePr>
            <p:xfrm>
              <a:off x="1124815" y="410666"/>
              <a:ext cx="7315200" cy="37846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36576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686747900"/>
                        </a:ext>
                      </a:extLst>
                    </a:gridCol>
                    <a:gridCol w="36576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751203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Quadratic Equation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32259" marR="32259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5016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Quadratic Formula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32259" marR="32259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949871936"/>
                      </a:ext>
                    </a:extLst>
                  </a:tr>
                  <a:tr h="3327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2259" marR="32259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67" t="-13736" r="-100000" b="-1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b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 Solutions:________</a:t>
                          </a:r>
                        </a:p>
                        <a:p>
                          <a:pPr marL="0" marR="0" indent="50165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32259" marR="32259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20812081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483228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=""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13;g104476d1465_1_39"/>
          <p:cNvSpPr txBox="1">
            <a:spLocks/>
          </p:cNvSpPr>
          <p:nvPr/>
        </p:nvSpPr>
        <p:spPr>
          <a:xfrm>
            <a:off x="4978146" y="2766150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lang="en-US"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image6.png">
            <a:extLst>
              <a:ext uri="{FF2B5EF4-FFF2-40B4-BE49-F238E27FC236}">
                <a16:creationId xmlns:a16="http://schemas.microsoft.com/office/drawing/2014/main" xmlns="" id="{AB6208A0-483D-0249-B63B-6F27BEB702E4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978146" y="2826797"/>
            <a:ext cx="1152149" cy="1152149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=""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428;g103996e1364_0_428">
            <a:extLst>
              <a:ext uri="{FF2B5EF4-FFF2-40B4-BE49-F238E27FC236}">
                <a16:creationId xmlns=""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03916" y="201168"/>
            <a:ext cx="10426668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9.9.3 Try It: Solving </a:t>
            </a: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W</a:t>
            </a:r>
            <a:r>
              <a:rPr lang="en-US" sz="32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ith </a:t>
            </a: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-US" sz="32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2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Quadratic </a:t>
            </a: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Formula</a:t>
            </a:r>
          </a:p>
        </p:txBody>
      </p:sp>
      <p:pic>
        <p:nvPicPr>
          <p:cNvPr id="12" name="image6.png">
            <a:extLst>
              <a:ext uri="{FF2B5EF4-FFF2-40B4-BE49-F238E27FC236}">
                <a16:creationId xmlns:a16="http://schemas.microsoft.com/office/drawing/2014/main" xmlns="" id="{06069181-0E9D-D44C-B1F0-FDEAB5AD5463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616" y="201168"/>
            <a:ext cx="749809" cy="749809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730266" y="1418411"/>
                <a:ext cx="10800318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quadratic formula to 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+4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+4=0</m:t>
                    </m:r>
                  </m:oMath>
                </a14:m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Use the quadratic formula to solve</a:t>
                </a:r>
                <a:r>
                  <a:rPr lang="en-US" sz="20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</m:t>
                    </m:r>
                    <m:sSup>
                      <m:sSupPr>
                        <m:ctrlPr>
                          <a:rPr lang="en-US" sz="2000" i="1" dirty="0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−7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−3=3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+8</m:t>
                    </m:r>
                  </m:oMath>
                </a14:m>
                <a:r>
                  <a:rPr lang="en-US" sz="20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6" y="1418411"/>
                <a:ext cx="10800318" cy="3170099"/>
              </a:xfrm>
              <a:prstGeom prst="rect">
                <a:avLst/>
              </a:prstGeom>
              <a:blipFill rotWithShape="1">
                <a:blip r:embed="rId5"/>
                <a:stretch>
                  <a:fillRect l="-621" t="-1154"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=""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13;g104476d1465_1_39"/>
          <p:cNvSpPr txBox="1">
            <a:spLocks/>
          </p:cNvSpPr>
          <p:nvPr/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lang="en-US"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423;g103996e1364_0_416">
            <a:extLst>
              <a:ext uri="{FF2B5EF4-FFF2-40B4-BE49-F238E27FC236}">
                <a16:creationId xmlns:a16="http://schemas.microsoft.com/office/drawing/2014/main" xmlns="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363419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428;g103996e1364_0_428">
            <a:extLst>
              <a:ext uri="{FF2B5EF4-FFF2-40B4-BE49-F238E27FC236}">
                <a16:creationId xmlns=""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03916" y="20116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400" b="1" dirty="0" smtClean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9.9.4 </a:t>
            </a: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=""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730266" y="1313636"/>
                <a:ext cx="10800318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Solve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−7</m:t>
                    </m:r>
                    <m:sSup>
                      <m:sSupPr>
                        <m:ctrlP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+10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−1=0</m:t>
                    </m:r>
                  </m:oMath>
                </a14:m>
                <a:r>
                  <a:rPr lang="en-US" altLang="en-US" sz="2000" dirty="0" smtClean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endParaRPr lang="en-PH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endParaRPr lang="en-PH" altLang="en-US" sz="2000" dirty="0" smtClean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endParaRPr lang="en-PH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endParaRPr lang="en-PH" altLang="en-US" sz="2000" dirty="0" smtClean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endParaRPr lang="en-PH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endParaRPr lang="en-PH" altLang="en-US" sz="2000" dirty="0" smtClean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endParaRPr lang="en-PH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2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Determine the solution(s) for 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5</m:t>
                    </m:r>
                    <m:sSup>
                      <m:sSupPr>
                        <m:ctrlP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−7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+5=2</m:t>
                    </m:r>
                    <m:sSup>
                      <m:sSupPr>
                        <m:ctrlP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−17</m:t>
                    </m:r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6" y="1313636"/>
                <a:ext cx="10800318" cy="3170099"/>
              </a:xfrm>
              <a:prstGeom prst="rect">
                <a:avLst/>
              </a:prstGeom>
              <a:blipFill rotWithShape="1">
                <a:blip r:embed="rId5"/>
                <a:stretch>
                  <a:fillRect l="-621" t="-1152" b="-23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80712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13;g104476d1465_1_39"/>
          <p:cNvSpPr txBox="1">
            <a:spLocks/>
          </p:cNvSpPr>
          <p:nvPr/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97CD9A9A-C8D0-7A47-8605-148BD618DD60}"/>
              </a:ext>
            </a:extLst>
          </p:cNvPr>
          <p:cNvGrpSpPr/>
          <p:nvPr/>
        </p:nvGrpSpPr>
        <p:grpSpPr>
          <a:xfrm>
            <a:off x="3591077" y="2056883"/>
            <a:ext cx="5129546" cy="4367929"/>
            <a:chOff x="2012250" y="318905"/>
            <a:chExt cx="6667500" cy="6922190"/>
          </a:xfrm>
        </p:grpSpPr>
        <p:grpSp>
          <p:nvGrpSpPr>
            <p:cNvPr id="11" name="Group 10">
              <a:extLst>
                <a:ext uri="{FF2B5EF4-FFF2-40B4-BE49-F238E27FC236}">
                  <a16:creationId xmlns="" xmlns:a16="http://schemas.microsoft.com/office/drawing/2014/main" id="{6C1DBA95-CB6F-394A-9BC0-F68CA680F30A}"/>
                </a:ext>
              </a:extLst>
            </p:cNvPr>
            <p:cNvGrpSpPr/>
            <p:nvPr/>
          </p:nvGrpSpPr>
          <p:grpSpPr>
            <a:xfrm>
              <a:off x="2012250" y="318905"/>
              <a:ext cx="6667500" cy="6922190"/>
              <a:chOff x="0" y="0"/>
              <a:chExt cx="6667500" cy="692219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="" xmlns:a16="http://schemas.microsoft.com/office/drawing/2014/main" id="{2421A2A4-D4EE-F44E-8973-B440E8EDFEAF}"/>
                  </a:ext>
                </a:extLst>
              </p:cNvPr>
              <p:cNvSpPr/>
              <p:nvPr/>
            </p:nvSpPr>
            <p:spPr>
              <a:xfrm>
                <a:off x="0" y="0"/>
                <a:ext cx="6667500" cy="6922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-US" sz="1050">
                    <a:latin typeface="Cambria" panose="02040503050406030204" pitchFamily="18" charset="0"/>
                    <a:ea typeface="Times New Roman" panose="02020603050405020304" pitchFamily="18" charset="0"/>
                    <a:cs typeface="Cambria" panose="02040503050406030204" pitchFamily="18" charset="0"/>
                  </a:rPr>
                  <a:t> </a:t>
                </a:r>
                <a:endParaRPr lang="x-none" sz="1050">
                  <a:latin typeface="Cambria" panose="02040503050406030204" pitchFamily="18" charset="0"/>
                  <a:ea typeface="Times New Roman" panose="02020603050405020304" pitchFamily="18" charset="0"/>
                  <a:cs typeface="Cambria" panose="02040503050406030204" pitchFamily="18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="" xmlns:a16="http://schemas.microsoft.com/office/drawing/2014/main" id="{B180B277-C599-864A-B647-4CD1E9A576E3}"/>
                  </a:ext>
                </a:extLst>
              </p:cNvPr>
              <p:cNvSpPr/>
              <p:nvPr/>
            </p:nvSpPr>
            <p:spPr>
              <a:xfrm>
                <a:off x="1630018" y="0"/>
                <a:ext cx="3333750" cy="2181225"/>
              </a:xfrm>
              <a:prstGeom prst="rect">
                <a:avLst/>
              </a:prstGeom>
              <a:solidFill>
                <a:srgbClr val="FFFFFF"/>
              </a:solidFill>
              <a:ln w="381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algn="ctr">
                  <a:spcAft>
                    <a:spcPts val="1000"/>
                  </a:spcAft>
                </a:pPr>
                <a:r>
                  <a:rPr lang="en-US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One question I would like to have answered …</a:t>
                </a:r>
                <a:endParaRPr lang="x-none" sz="1050">
                  <a:latin typeface="Cambria" panose="02040503050406030204" pitchFamily="18" charset="0"/>
                  <a:ea typeface="Times New Roman" panose="02020603050405020304" pitchFamily="18" charset="0"/>
                  <a:cs typeface="Cambria" panose="02040503050406030204" pitchFamily="18" charset="0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="" xmlns:a16="http://schemas.microsoft.com/office/drawing/2014/main" id="{1F919955-8913-B44C-B7FC-580F7192509A}"/>
                  </a:ext>
                </a:extLst>
              </p:cNvPr>
              <p:cNvSpPr/>
              <p:nvPr/>
            </p:nvSpPr>
            <p:spPr>
              <a:xfrm>
                <a:off x="0" y="2196548"/>
                <a:ext cx="3333750" cy="2533650"/>
              </a:xfrm>
              <a:prstGeom prst="rect">
                <a:avLst/>
              </a:prstGeom>
              <a:solidFill>
                <a:srgbClr val="FFFFFF"/>
              </a:solidFill>
              <a:ln w="381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algn="ctr">
                  <a:spcAft>
                    <a:spcPts val="1000"/>
                  </a:spcAft>
                </a:pPr>
                <a:r>
                  <a:rPr lang="en-US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One mistake I learned from today …</a:t>
                </a:r>
                <a:endParaRPr lang="x-none" sz="1050">
                  <a:latin typeface="Cambria" panose="02040503050406030204" pitchFamily="18" charset="0"/>
                  <a:ea typeface="Times New Roman" panose="02020603050405020304" pitchFamily="18" charset="0"/>
                  <a:cs typeface="Cambria" panose="02040503050406030204" pitchFamily="18" charset="0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="" xmlns:a16="http://schemas.microsoft.com/office/drawing/2014/main" id="{B676953D-55C7-E24E-9343-AF8B2277F528}"/>
                  </a:ext>
                </a:extLst>
              </p:cNvPr>
              <p:cNvSpPr/>
              <p:nvPr/>
            </p:nvSpPr>
            <p:spPr>
              <a:xfrm>
                <a:off x="3329609" y="2196548"/>
                <a:ext cx="3333750" cy="2524125"/>
              </a:xfrm>
              <a:prstGeom prst="rect">
                <a:avLst/>
              </a:prstGeom>
              <a:solidFill>
                <a:srgbClr val="FFFFFF"/>
              </a:solidFill>
              <a:ln w="381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algn="ctr">
                  <a:spcAft>
                    <a:spcPts val="1000"/>
                  </a:spcAft>
                </a:pPr>
                <a:r>
                  <a:rPr lang="en-US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One thing I am not sure about … YET!</a:t>
                </a:r>
                <a:endParaRPr lang="x-none" sz="1050">
                  <a:latin typeface="Cambria" panose="02040503050406030204" pitchFamily="18" charset="0"/>
                  <a:ea typeface="Times New Roman" panose="02020603050405020304" pitchFamily="18" charset="0"/>
                  <a:cs typeface="Cambria" panose="02040503050406030204" pitchFamily="18" charset="0"/>
                </a:endParaRPr>
              </a:p>
              <a:p>
                <a:pPr algn="ctr">
                  <a:spcAft>
                    <a:spcPts val="1000"/>
                  </a:spcAft>
                </a:pPr>
                <a:r>
                  <a:rPr lang="en-US" sz="1050">
                    <a:latin typeface="Cambria" panose="02040503050406030204" pitchFamily="18" charset="0"/>
                    <a:ea typeface="Times New Roman" panose="02020603050405020304" pitchFamily="18" charset="0"/>
                    <a:cs typeface="Cambria" panose="02040503050406030204" pitchFamily="18" charset="0"/>
                  </a:rPr>
                  <a:t> </a:t>
                </a:r>
                <a:endParaRPr lang="x-none" sz="1050">
                  <a:latin typeface="Cambria" panose="02040503050406030204" pitchFamily="18" charset="0"/>
                  <a:ea typeface="Times New Roman" panose="02020603050405020304" pitchFamily="18" charset="0"/>
                  <a:cs typeface="Cambria" panose="02040503050406030204" pitchFamily="18" charset="0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="" xmlns:a16="http://schemas.microsoft.com/office/drawing/2014/main" id="{7F676BE8-D06D-BE4A-AA2B-0AF3027D5A3A}"/>
                  </a:ext>
                </a:extLst>
              </p:cNvPr>
              <p:cNvSpPr/>
              <p:nvPr/>
            </p:nvSpPr>
            <p:spPr>
              <a:xfrm>
                <a:off x="0" y="4740965"/>
                <a:ext cx="6667500" cy="2181225"/>
              </a:xfrm>
              <a:prstGeom prst="rect">
                <a:avLst/>
              </a:prstGeom>
              <a:solidFill>
                <a:srgbClr val="FFFFFF"/>
              </a:solidFill>
              <a:ln w="381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algn="ctr">
                  <a:spcAft>
                    <a:spcPts val="1000"/>
                  </a:spcAft>
                </a:pPr>
                <a:r>
                  <a:rPr lang="en-US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One thing I am confident I know is …</a:t>
                </a:r>
                <a:endParaRPr lang="x-none" sz="1050">
                  <a:latin typeface="Cambria" panose="02040503050406030204" pitchFamily="18" charset="0"/>
                  <a:ea typeface="Times New Roman" panose="02020603050405020304" pitchFamily="18" charset="0"/>
                  <a:cs typeface="Cambria" panose="02040503050406030204" pitchFamily="18" charset="0"/>
                </a:endParaRPr>
              </a:p>
            </p:txBody>
          </p:sp>
        </p:grpSp>
      </p:grpSp>
      <p:sp>
        <p:nvSpPr>
          <p:cNvPr id="18" name="TextBox 17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0370EDB7-6994-3D43-ABF9-E04CBAFB9CD9}"/>
              </a:ext>
            </a:extLst>
          </p:cNvPr>
          <p:cNvSpPr txBox="1"/>
          <p:nvPr/>
        </p:nvSpPr>
        <p:spPr>
          <a:xfrm>
            <a:off x="730266" y="1376212"/>
            <a:ext cx="108008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learning pyramid.</a:t>
            </a:r>
          </a:p>
        </p:txBody>
      </p:sp>
      <p:sp>
        <p:nvSpPr>
          <p:cNvPr id="19" name="Google Shape;468;p34"/>
          <p:cNvSpPr txBox="1"/>
          <p:nvPr/>
        </p:nvSpPr>
        <p:spPr>
          <a:xfrm>
            <a:off x="1142999" y="284833"/>
            <a:ext cx="1066951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9.9.5 Wrap-Up: Reflection</a:t>
            </a:r>
          </a:p>
        </p:txBody>
      </p:sp>
      <p:pic>
        <p:nvPicPr>
          <p:cNvPr id="20" name="Google Shape;469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3134</TotalTime>
  <Words>914</Words>
  <Application>Microsoft Macintosh PowerPoint</Application>
  <PresentationFormat>Widescreen</PresentationFormat>
  <Paragraphs>185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Verdana</vt:lpstr>
      <vt:lpstr>Cambria</vt:lpstr>
      <vt:lpstr>Wingdings</vt:lpstr>
      <vt:lpstr>Arial</vt:lpstr>
      <vt:lpstr>Calibri</vt:lpstr>
      <vt:lpstr>Arial Black</vt:lpstr>
      <vt:lpstr>Century Gothic</vt:lpstr>
      <vt:lpstr>Times New Roman</vt:lpstr>
      <vt:lpstr>Cambria Math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jslater9816@gmail.com</cp:lastModifiedBy>
  <cp:revision>37</cp:revision>
  <dcterms:created xsi:type="dcterms:W3CDTF">2015-03-17T18:51:18Z</dcterms:created>
  <dcterms:modified xsi:type="dcterms:W3CDTF">2022-08-03T02:33:01Z</dcterms:modified>
</cp:coreProperties>
</file>