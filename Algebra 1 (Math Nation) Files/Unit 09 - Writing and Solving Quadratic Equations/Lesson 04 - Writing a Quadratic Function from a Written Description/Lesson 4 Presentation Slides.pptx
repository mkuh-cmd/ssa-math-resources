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8"/>
  </p:notesMasterIdLst>
  <p:sldIdLst>
    <p:sldId id="256" r:id="rId2"/>
    <p:sldId id="257" r:id="rId3"/>
    <p:sldId id="345" r:id="rId4"/>
    <p:sldId id="286" r:id="rId5"/>
    <p:sldId id="261" r:id="rId6"/>
    <p:sldId id="287" r:id="rId7"/>
    <p:sldId id="288" r:id="rId8"/>
    <p:sldId id="314" r:id="rId9"/>
    <p:sldId id="315" r:id="rId10"/>
    <p:sldId id="316" r:id="rId11"/>
    <p:sldId id="339" r:id="rId12"/>
    <p:sldId id="340" r:id="rId13"/>
    <p:sldId id="341" r:id="rId14"/>
    <p:sldId id="357" r:id="rId15"/>
    <p:sldId id="358" r:id="rId16"/>
    <p:sldId id="351" r:id="rId17"/>
    <p:sldId id="352" r:id="rId18"/>
    <p:sldId id="359" r:id="rId19"/>
    <p:sldId id="354" r:id="rId20"/>
    <p:sldId id="355" r:id="rId21"/>
    <p:sldId id="356" r:id="rId22"/>
    <p:sldId id="360" r:id="rId23"/>
    <p:sldId id="361" r:id="rId24"/>
    <p:sldId id="362" r:id="rId25"/>
    <p:sldId id="306" r:id="rId26"/>
    <p:sldId id="307"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4E5F"/>
    <a:srgbClr val="1765AD"/>
    <a:srgbClr val="1664AC"/>
    <a:srgbClr val="BFBFBF"/>
    <a:srgbClr val="C9DF6F"/>
    <a:srgbClr val="417DBF"/>
    <a:srgbClr val="3F2A67"/>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5"/>
    <p:restoredTop sz="94695"/>
  </p:normalViewPr>
  <p:slideViewPr>
    <p:cSldViewPr snapToGrid="0">
      <p:cViewPr varScale="1">
        <p:scale>
          <a:sx n="100" d="100"/>
          <a:sy n="100" d="100"/>
        </p:scale>
        <p:origin x="176" y="3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53" Type="http://customschemas.google.com/relationships/presentationmetadata" Target="metadata"/><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slide" Target="slides/slide8.xml"/><Relationship Id="rId8" Type="http://schemas.openxmlformats.org/officeDocument/2006/relationships/slide" Target="slides/slide7.xml"/><Relationship Id="rId57"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307780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575234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6738162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3683785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1208275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484886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3106853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5095243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8683053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9919076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6563403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4940305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7762682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1893954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5920372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0.png"/><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3.png"/><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4.png"/><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5.png"/><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15.png"/><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7.png"/><Relationship Id="rId5" Type="http://schemas.openxmlformats.org/officeDocument/2006/relationships/image" Target="../media/image18.png"/><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2.png"/><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3.png"/><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4.png"/><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5.pn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image" Target="../media/image27.png"/><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8.png"/><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9.png"/><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0.png"/><Relationship Id="rId5" Type="http://schemas.openxmlformats.org/officeDocument/2006/relationships/image" Target="../media/image31.png"/><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2.png"/><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3.png"/><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4.png"/><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5.png"/><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5.png"/><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Algebra 1</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9, Lesson 4</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Writing a Quadratic Function </a:t>
            </a:r>
            <a:r>
              <a:rPr lang="en-US" sz="3800" b="1" dirty="0">
                <a:solidFill>
                  <a:srgbClr val="417DBF"/>
                </a:solidFill>
                <a:latin typeface="Verdana"/>
                <a:ea typeface="Verdana"/>
                <a:cs typeface="Verdana"/>
                <a:sym typeface="Verdana"/>
              </a:rPr>
              <a:t>F</a:t>
            </a:r>
            <a:r>
              <a:rPr lang="en-US" sz="3800" b="1" dirty="0" smtClean="0">
                <a:solidFill>
                  <a:srgbClr val="417DBF"/>
                </a:solidFill>
                <a:latin typeface="Verdana"/>
                <a:ea typeface="Verdana"/>
                <a:cs typeface="Verdana"/>
                <a:sym typeface="Verdana"/>
              </a:rPr>
              <a:t>rom </a:t>
            </a:r>
            <a:r>
              <a:rPr lang="en-US" sz="3800" b="1" dirty="0">
                <a:solidFill>
                  <a:srgbClr val="417DBF"/>
                </a:solidFill>
                <a:latin typeface="Verdana"/>
                <a:ea typeface="Verdana"/>
                <a:cs typeface="Verdana"/>
                <a:sym typeface="Verdana"/>
              </a:rPr>
              <a:t>a Written Description</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400" b="1" dirty="0">
                <a:solidFill>
                  <a:srgbClr val="417DBF"/>
                </a:solidFill>
                <a:latin typeface="Verdana"/>
                <a:ea typeface="Verdana"/>
                <a:cs typeface="Verdana"/>
                <a:sym typeface="Verdana"/>
              </a:rPr>
              <a:t>Volume 2, pg. 77</a:t>
            </a:r>
          </a:p>
          <a:p>
            <a:pPr algn="ctr">
              <a:lnSpc>
                <a:spcPct val="100000"/>
              </a:lnSpc>
              <a:buClr>
                <a:srgbClr val="000000"/>
              </a:buClr>
            </a:pPr>
            <a:endParaRPr lang="en-US" sz="3200" b="1" dirty="0">
              <a:solidFill>
                <a:srgbClr val="417DBF"/>
              </a:solidFill>
              <a:latin typeface="Verdana"/>
              <a:ea typeface="Verdana"/>
              <a:cs typeface="Verdana"/>
              <a:sym typeface="Verdana"/>
            </a:endParaRPr>
          </a:p>
          <a:p>
            <a:pPr algn="ctr">
              <a:lnSpc>
                <a:spcPct val="75000"/>
              </a:lnSpc>
            </a:pPr>
            <a:endParaRPr lang="en-US" sz="28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1664AC"/>
          </a:solidFill>
          <a:ln w="9525" cap="flat" cmpd="sng">
            <a:solidFill>
              <a:srgbClr val="1765A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a16="http://schemas.microsoft.com/office/drawing/2014/main" xmlns=""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83032" y="1597002"/>
            <a:ext cx="2973100" cy="346578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51311" y="5270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38559" y="28848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32660" y="146739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200" dirty="0">
                <a:latin typeface="Verdana" panose="020B0604030504040204" pitchFamily="34" charset="0"/>
                <a:ea typeface="Verdana" panose="020B0604030504040204" pitchFamily="34" charset="0"/>
                <a:cs typeface="Verdana" panose="020B0604030504040204" pitchFamily="34" charset="0"/>
              </a:rPr>
              <a:t>MA.912.AR.1.2</a:t>
            </a:r>
          </a:p>
          <a:p>
            <a:pPr marL="552450" lvl="1" indent="0">
              <a:buNone/>
            </a:pPr>
            <a:r>
              <a:rPr lang="en-US" sz="3200" dirty="0">
                <a:latin typeface="Verdana" panose="020B0604030504040204" pitchFamily="34" charset="0"/>
                <a:ea typeface="Verdana" panose="020B0604030504040204" pitchFamily="34" charset="0"/>
                <a:cs typeface="Verdana" panose="020B0604030504040204" pitchFamily="34" charset="0"/>
              </a:rPr>
              <a:t>Rearrange equations or formulas to isolate a quantity of interest. </a:t>
            </a:r>
          </a:p>
          <a:p>
            <a:pPr marL="552450" lvl="1" indent="0">
              <a:buNone/>
            </a:pPr>
            <a:endParaRPr lang="en-US" sz="3200" dirty="0">
              <a:latin typeface="Verdana" panose="020B0604030504040204" pitchFamily="34" charset="0"/>
              <a:ea typeface="Verdana" panose="020B0604030504040204" pitchFamily="34" charset="0"/>
              <a:cs typeface="Verdana" panose="020B0604030504040204" pitchFamily="34" charset="0"/>
            </a:endParaRPr>
          </a:p>
          <a:p>
            <a:pPr marL="95250" indent="0">
              <a:buNone/>
            </a:pPr>
            <a:r>
              <a:rPr lang="en-US" sz="3200" dirty="0">
                <a:latin typeface="Verdana" panose="020B0604030504040204" pitchFamily="34" charset="0"/>
                <a:ea typeface="Verdana" panose="020B0604030504040204" pitchFamily="34" charset="0"/>
                <a:cs typeface="Verdana" panose="020B0604030504040204" pitchFamily="34" charset="0"/>
              </a:rPr>
              <a:t>MA.912.AR.3.4</a:t>
            </a:r>
          </a:p>
          <a:p>
            <a:pPr marL="552450" lvl="1" indent="0">
              <a:buNone/>
            </a:pPr>
            <a:r>
              <a:rPr lang="en-US" sz="3200" dirty="0">
                <a:latin typeface="Verdana" panose="020B0604030504040204" pitchFamily="34" charset="0"/>
                <a:ea typeface="Verdana" panose="020B0604030504040204" pitchFamily="34" charset="0"/>
                <a:cs typeface="Verdana" panose="020B0604030504040204" pitchFamily="34" charset="0"/>
              </a:rPr>
              <a:t>Write a quadratic function to represent the relationship between two quantities from a graph, a written description, or a table of values within a mathematical or real-world context.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xmlns="" id="{78632872-3F42-3447-924A-20A16C6976F7}"/>
              </a:ext>
            </a:extLst>
          </p:cNvPr>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Google Shape;283;g104476d1465_1_17">
            <a:extLst>
              <a:ext uri="{FF2B5EF4-FFF2-40B4-BE49-F238E27FC236}">
                <a16:creationId xmlns:a16="http://schemas.microsoft.com/office/drawing/2014/main" xmlns="" id="{983DCB5F-2CE8-A74F-A579-F39E2E9337FB}"/>
              </a:ext>
            </a:extLst>
          </p:cNvPr>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xmlns="" id="{73A67FE7-C13F-C24F-85E9-A4B96A1F42A8}"/>
              </a:ext>
            </a:extLst>
          </p:cNvPr>
          <p:cNvSpPr txBox="1">
            <a:spLocks/>
          </p:cNvSpPr>
          <p:nvPr/>
        </p:nvSpPr>
        <p:spPr>
          <a:xfrm>
            <a:off x="1250300" y="0"/>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7" name="Google Shape;296;g103996e1364_0_10">
            <a:extLst>
              <a:ext uri="{FF2B5EF4-FFF2-40B4-BE49-F238E27FC236}">
                <a16:creationId xmlns:a16="http://schemas.microsoft.com/office/drawing/2014/main" xmlns="" id="{5BB4D65A-27E8-4F4F-9348-5380FE318E8D}"/>
              </a:ext>
            </a:extLst>
          </p:cNvPr>
          <p:cNvSpPr txBox="1">
            <a:spLocks/>
          </p:cNvSpPr>
          <p:nvPr/>
        </p:nvSpPr>
        <p:spPr>
          <a:xfrm>
            <a:off x="532661" y="1464245"/>
            <a:ext cx="10515600" cy="43449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
        <p:nvSpPr>
          <p:cNvPr id="8" name="Google Shape;282;g104476d1465_1_17">
            <a:extLst>
              <a:ext uri="{FF2B5EF4-FFF2-40B4-BE49-F238E27FC236}">
                <a16:creationId xmlns:a16="http://schemas.microsoft.com/office/drawing/2014/main" xmlns="" id="{6759D0BD-51D0-6B40-9940-E3F570D4EA0E}"/>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77</a:t>
            </a:r>
            <a:endParaRPr i="1" dirty="0">
              <a:latin typeface="Calibri"/>
              <a:ea typeface="Calibri"/>
              <a:cs typeface="Calibri"/>
              <a:sym typeface="Calibri"/>
            </a:endParaRPr>
          </a:p>
        </p:txBody>
      </p:sp>
      <p:pic>
        <p:nvPicPr>
          <p:cNvPr id="9" name="Google Shape;281;g104476d1465_1_17"/>
          <p:cNvPicPr preferRelativeResize="0"/>
          <p:nvPr/>
        </p:nvPicPr>
        <p:blipFill>
          <a:blip r:embed="rId3">
            <a:alphaModFix/>
          </a:blip>
          <a:stretch>
            <a:fillRect/>
          </a:stretch>
        </p:blipFill>
        <p:spPr>
          <a:xfrm>
            <a:off x="438559" y="288480"/>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254663" y="-72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438559" y="28848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32661" y="1467035"/>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41338" indent="-541338">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write a quadratic function to represent the relationship between two quantities from a written description. </a:t>
            </a:r>
          </a:p>
          <a:p>
            <a:pPr marL="541338" indent="-541338"/>
            <a:endParaRPr lang="en-US" sz="3500" dirty="0">
              <a:latin typeface="Verdana" panose="020B0604030504040204" pitchFamily="34" charset="0"/>
              <a:ea typeface="Verdana" panose="020B0604030504040204" pitchFamily="34" charset="0"/>
              <a:cs typeface="Verdana" panose="020B0604030504040204" pitchFamily="34" charset="0"/>
            </a:endParaRPr>
          </a:p>
          <a:p>
            <a:pPr marL="541338" indent="-541338">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rewrite a quadratic equation from vertex form to standard form.</a:t>
            </a:r>
          </a:p>
          <a:p>
            <a:pPr marL="541338" indent="-541338">
              <a:buFont typeface="Wingdings" pitchFamily="2" charset="2"/>
              <a:buChar char="q"/>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541338" indent="-541338">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solve for a variable of interest.</a:t>
            </a:r>
          </a:p>
        </p:txBody>
      </p:sp>
      <p:sp>
        <p:nvSpPr>
          <p:cNvPr id="8" name="Google Shape;282;g104476d1465_1_17">
            <a:extLst>
              <a:ext uri="{FF2B5EF4-FFF2-40B4-BE49-F238E27FC236}">
                <a16:creationId xmlns:a16="http://schemas.microsoft.com/office/drawing/2014/main" xmlns="" id="{11350860-5133-CF4C-91F0-82C49767E6A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77</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13E4C45C-B662-7F44-8EF2-8BC4E4A7E35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52519" y="-740"/>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9.4.1 Warm-Up: Words, Tables, and Graphs Part 2</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438559" y="288480"/>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xmlns="" id="{E1D7562E-134F-D14B-AF1A-DF40E11EF758}"/>
              </a:ext>
            </a:extLst>
          </p:cNvPr>
          <p:cNvSpPr txBox="1"/>
          <p:nvPr/>
        </p:nvSpPr>
        <p:spPr>
          <a:xfrm>
            <a:off x="532662" y="1467424"/>
            <a:ext cx="10800000" cy="1938992"/>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In the prior Warm-Up, the graphs were matched to a table of values.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Match the same graphs to the appropriate written description. </a:t>
            </a:r>
          </a:p>
        </p:txBody>
      </p:sp>
      <p:sp>
        <p:nvSpPr>
          <p:cNvPr id="19" name="Rectangle 13">
            <a:extLst>
              <a:ext uri="{FF2B5EF4-FFF2-40B4-BE49-F238E27FC236}">
                <a16:creationId xmlns:a16="http://schemas.microsoft.com/office/drawing/2014/main" xmlns=""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xmlns=""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xmlns=""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xmlns=""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Google Shape;282;g104476d1465_1_17">
            <a:extLst>
              <a:ext uri="{FF2B5EF4-FFF2-40B4-BE49-F238E27FC236}">
                <a16:creationId xmlns:a16="http://schemas.microsoft.com/office/drawing/2014/main" xmlns="" id="{ECAA359C-7327-AC4D-8972-D52228F67AB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77</a:t>
            </a:r>
            <a:endParaRPr i="1" dirty="0">
              <a:latin typeface="Calibri"/>
              <a:ea typeface="Calibri"/>
              <a:cs typeface="Calibri"/>
              <a:sym typeface="Calibri"/>
            </a:endParaRPr>
          </a:p>
        </p:txBody>
      </p:sp>
      <p:pic>
        <p:nvPicPr>
          <p:cNvPr id="16" name="Picture 15" descr="Table&#10;&#10;Description automatically generated">
            <a:extLst>
              <a:ext uri="{FF2B5EF4-FFF2-40B4-BE49-F238E27FC236}">
                <a16:creationId xmlns:a16="http://schemas.microsoft.com/office/drawing/2014/main" xmlns="" id="{87106DA0-8BFF-8246-A23B-1BD09815975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851670" y="3273252"/>
            <a:ext cx="6488657" cy="2153967"/>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xmlns="" id="{2FA392D8-3ED3-7940-83A8-1451AA8A08D4}"/>
              </a:ext>
            </a:extLst>
          </p:cNvPr>
          <p:cNvSpPr txBox="1"/>
          <p:nvPr/>
        </p:nvSpPr>
        <p:spPr>
          <a:xfrm>
            <a:off x="532660" y="4374192"/>
            <a:ext cx="10515600" cy="830997"/>
          </a:xfrm>
          <a:prstGeom prst="rect">
            <a:avLst/>
          </a:prstGeom>
          <a:noFill/>
        </p:spPr>
        <p:txBody>
          <a:bodyPr wrap="square" rtlCol="0">
            <a:spAutoFit/>
          </a:bodyPr>
          <a:lstStyle/>
          <a:p>
            <a:pPr marL="517525"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the strategy you used to match the verbal descriptions and graphs.</a:t>
            </a:r>
          </a:p>
        </p:txBody>
      </p:sp>
      <p:sp>
        <p:nvSpPr>
          <p:cNvPr id="6" name="Google Shape;282;g104476d1465_1_17">
            <a:extLst>
              <a:ext uri="{FF2B5EF4-FFF2-40B4-BE49-F238E27FC236}">
                <a16:creationId xmlns:a16="http://schemas.microsoft.com/office/drawing/2014/main" xmlns="" id="{91320C37-EA31-CF41-8AA7-D98A5EC775B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77</a:t>
            </a:r>
            <a:endParaRPr i="1" dirty="0">
              <a:latin typeface="Calibri"/>
              <a:ea typeface="Calibri"/>
              <a:cs typeface="Calibri"/>
              <a:sym typeface="Calibri"/>
            </a:endParaRPr>
          </a:p>
        </p:txBody>
      </p:sp>
      <p:pic>
        <p:nvPicPr>
          <p:cNvPr id="3" name="Picture 2" descr="Table&#10;&#10;Description automatically generated">
            <a:extLst>
              <a:ext uri="{FF2B5EF4-FFF2-40B4-BE49-F238E27FC236}">
                <a16:creationId xmlns:a16="http://schemas.microsoft.com/office/drawing/2014/main" xmlns="" id="{9C4D25E7-26F4-B044-AE77-65A24902346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851672" y="381568"/>
            <a:ext cx="6488657" cy="3707804"/>
          </a:xfrm>
          <a:prstGeom prst="rect">
            <a:avLst/>
          </a:prstGeom>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8878" y="0"/>
            <a:ext cx="2731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4800" b="1" dirty="0">
                <a:solidFill>
                  <a:srgbClr val="33BEA6"/>
                </a:solidFill>
                <a:latin typeface="Verdana"/>
                <a:ea typeface="Verdana"/>
                <a:cs typeface="Verdana"/>
                <a:sym typeface="Verdana"/>
              </a:rPr>
              <a:t>Collaboration</a:t>
            </a:r>
            <a:endParaRPr sz="44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78</a:t>
            </a:r>
            <a:endParaRPr i="1" dirty="0">
              <a:latin typeface="Calibri"/>
              <a:ea typeface="Calibri"/>
              <a:cs typeface="Calibri"/>
              <a:sym typeface="Calibri"/>
            </a:endParaRPr>
          </a:p>
        </p:txBody>
      </p:sp>
      <p:pic>
        <p:nvPicPr>
          <p:cNvPr id="9" name="image8.png">
            <a:extLst>
              <a:ext uri="{FF2B5EF4-FFF2-40B4-BE49-F238E27FC236}">
                <a16:creationId xmlns:a16="http://schemas.microsoft.com/office/drawing/2014/main" xmlns="" id="{0A61E198-1BBB-C147-A435-41CB685E9D58}"/>
              </a:ext>
            </a:extLst>
          </p:cNvPr>
          <p:cNvPicPr/>
          <p:nvPr/>
        </p:nvPicPr>
        <p:blipFill>
          <a:blip r:embed="rId4"/>
          <a:srcRect/>
          <a:stretch>
            <a:fillRect/>
          </a:stretch>
        </p:blipFill>
        <p:spPr>
          <a:xfrm>
            <a:off x="3054096" y="2852926"/>
            <a:ext cx="1152149" cy="1152149"/>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50585" y="109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9.4.2 Collaboration: Airline Tickets</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E44DF7DE-9172-3E4E-B74A-7A51585FB6EA}"/>
                  </a:ext>
                </a:extLst>
              </p:cNvPr>
              <p:cNvSpPr txBox="1"/>
              <p:nvPr/>
            </p:nvSpPr>
            <p:spPr>
              <a:xfrm>
                <a:off x="532660" y="1463671"/>
                <a:ext cx="10515600" cy="3785652"/>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An airline has a new plane with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120</m:t>
                    </m:r>
                  </m:oMath>
                </a14:m>
                <a:r>
                  <a:rPr lang="en-US" sz="2400" dirty="0">
                    <a:latin typeface="Verdana" panose="020B0604030504040204" pitchFamily="34" charset="0"/>
                    <a:ea typeface="Verdana" panose="020B0604030504040204" pitchFamily="34" charset="0"/>
                    <a:cs typeface="Verdana" panose="020B0604030504040204" pitchFamily="34" charset="0"/>
                  </a:rPr>
                  <a:t> seats and a new route from Tampa, FL to Cleveland, OH. The airline will maximize profit for this route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$2,358</m:t>
                    </m:r>
                  </m:oMath>
                </a14:m>
                <a:r>
                  <a:rPr lang="en-US" sz="2400" dirty="0">
                    <a:latin typeface="Verdana" panose="020B0604030504040204" pitchFamily="34" charset="0"/>
                    <a:ea typeface="Verdana" panose="020B0604030504040204" pitchFamily="34" charset="0"/>
                    <a:cs typeface="Verdana" panose="020B0604030504040204" pitchFamily="34" charset="0"/>
                  </a:rPr>
                  <a:t> per flight. Based on a comprehensive customer survey, the airline determined that charging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$55</m:t>
                    </m:r>
                  </m:oMath>
                </a14:m>
                <a:r>
                  <a:rPr lang="en-US" sz="2400" dirty="0">
                    <a:latin typeface="Verdana" panose="020B0604030504040204" pitchFamily="34" charset="0"/>
                    <a:ea typeface="Verdana" panose="020B0604030504040204" pitchFamily="34" charset="0"/>
                    <a:cs typeface="Verdana" panose="020B0604030504040204" pitchFamily="34" charset="0"/>
                  </a:rPr>
                  <a:t> a seat will return a profit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$2,100</m:t>
                    </m:r>
                  </m:oMath>
                </a14:m>
                <a:r>
                  <a:rPr lang="en-US" sz="2400" dirty="0">
                    <a:latin typeface="Verdana" panose="020B0604030504040204" pitchFamily="34" charset="0"/>
                    <a:ea typeface="Verdana" panose="020B0604030504040204" pitchFamily="34" charset="0"/>
                    <a:cs typeface="Verdana" panose="020B0604030504040204" pitchFamily="34" charset="0"/>
                  </a:rPr>
                  <a:t>. They also found that charging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$75</m:t>
                    </m:r>
                  </m:oMath>
                </a14:m>
                <a:r>
                  <a:rPr lang="en-US" sz="2400" dirty="0">
                    <a:latin typeface="Verdana" panose="020B0604030504040204" pitchFamily="34" charset="0"/>
                    <a:ea typeface="Verdana" panose="020B0604030504040204" pitchFamily="34" charset="0"/>
                    <a:cs typeface="Verdana" panose="020B0604030504040204" pitchFamily="34" charset="0"/>
                  </a:rPr>
                  <a:t> a seat will return a profit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$2,100</m:t>
                    </m:r>
                  </m:oMath>
                </a14:m>
                <a:r>
                  <a:rPr lang="en-US" sz="2400" dirty="0">
                    <a:latin typeface="Verdana" panose="020B0604030504040204" pitchFamily="34" charset="0"/>
                    <a:ea typeface="Verdana" panose="020B0604030504040204" pitchFamily="34" charset="0"/>
                    <a:cs typeface="Verdana" panose="020B0604030504040204" pitchFamily="34" charset="0"/>
                  </a:rPr>
                  <a:t>. After analyzing all of the data, the airline determined that charging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$65</m:t>
                    </m:r>
                  </m:oMath>
                </a14:m>
                <a:r>
                  <a:rPr lang="en-US" sz="2400" dirty="0">
                    <a:latin typeface="Verdana" panose="020B0604030504040204" pitchFamily="34" charset="0"/>
                    <a:ea typeface="Verdana" panose="020B0604030504040204" pitchFamily="34" charset="0"/>
                    <a:cs typeface="Verdana" panose="020B0604030504040204" pitchFamily="34" charset="0"/>
                  </a:rPr>
                  <a:t> a seat would allow the company to maximize the profit.  </a:t>
                </a: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532660" y="1463671"/>
                <a:ext cx="10515600" cy="3785652"/>
              </a:xfrm>
              <a:prstGeom prst="rect">
                <a:avLst/>
              </a:prstGeom>
              <a:blipFill rotWithShape="1">
                <a:blip r:embed="rId4"/>
                <a:stretch>
                  <a:fillRect l="-870" t="-1449" r="-1275"/>
                </a:stretch>
              </a:blipFill>
            </p:spPr>
            <p:txBody>
              <a:bodyPr/>
              <a:lstStyle/>
              <a:p>
                <a:r>
                  <a:rPr lang="en-PH">
                    <a:noFill/>
                  </a:rPr>
                  <a:t> </a:t>
                </a:r>
              </a:p>
            </p:txBody>
          </p:sp>
        </mc:Fallback>
      </mc:AlternateContent>
      <p:pic>
        <p:nvPicPr>
          <p:cNvPr id="11" name="image8.png">
            <a:extLst>
              <a:ext uri="{FF2B5EF4-FFF2-40B4-BE49-F238E27FC236}">
                <a16:creationId xmlns:a16="http://schemas.microsoft.com/office/drawing/2014/main" xmlns="" id="{DD8AE5E5-20CF-0440-999F-AD7A0AFBFF85}"/>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436744" y="288480"/>
            <a:ext cx="750930" cy="75093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78</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xmlns="" id="{F54A4596-5923-6342-9500-70E8F702680A}"/>
              </a:ext>
            </a:extLst>
          </p:cNvPr>
          <p:cNvSpPr/>
          <p:nvPr/>
        </p:nvSpPr>
        <p:spPr>
          <a:xfrm>
            <a:off x="532661" y="386062"/>
            <a:ext cx="10800000" cy="3785652"/>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statements.</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44500"/>
            <a:r>
              <a:rPr lang="en-US" sz="2400" dirty="0">
                <a:latin typeface="Verdana" panose="020B0604030504040204" pitchFamily="34" charset="0"/>
                <a:ea typeface="Times New Roman" panose="02020603050405020304" pitchFamily="18" charset="0"/>
                <a:cs typeface="Times New Roman" panose="02020603050405020304" pitchFamily="18" charset="0"/>
              </a:rPr>
              <a:t>The maximum profit for the route is 		</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The </a:t>
            </a:r>
            <a:r>
              <a:rPr lang="en-US" sz="2400" dirty="0">
                <a:latin typeface="Verdana" panose="020B0604030504040204" pitchFamily="34" charset="0"/>
                <a:ea typeface="Times New Roman" panose="02020603050405020304" pitchFamily="18" charset="0"/>
                <a:cs typeface="Times New Roman" panose="02020603050405020304" pitchFamily="18" charset="0"/>
              </a:rPr>
              <a:t>seat charge </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400" dirty="0" smtClean="0">
                <a:latin typeface="Verdana" panose="020B0604030504040204" pitchFamily="34" charset="0"/>
                <a:ea typeface="Times New Roman" panose="02020603050405020304" pitchFamily="18" charset="0"/>
                <a:cs typeface="Times New Roman" panose="02020603050405020304" pitchFamily="18" charset="0"/>
              </a:rPr>
            </a:b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400" dirty="0" smtClean="0">
                <a:latin typeface="Verdana" panose="020B0604030504040204" pitchFamily="34" charset="0"/>
                <a:ea typeface="Times New Roman" panose="02020603050405020304" pitchFamily="18" charset="0"/>
                <a:cs typeface="Times New Roman" panose="02020603050405020304" pitchFamily="18" charset="0"/>
              </a:rPr>
            </a:b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400" dirty="0" smtClean="0">
                <a:latin typeface="Verdana" panose="020B0604030504040204" pitchFamily="34" charset="0"/>
                <a:ea typeface="Times New Roman" panose="02020603050405020304" pitchFamily="18" charset="0"/>
                <a:cs typeface="Times New Roman" panose="02020603050405020304" pitchFamily="18" charset="0"/>
              </a:rPr>
            </a:br>
            <a:r>
              <a:rPr lang="en-US" sz="2400" dirty="0" smtClean="0">
                <a:latin typeface="Verdana" panose="020B0604030504040204" pitchFamily="34" charset="0"/>
                <a:ea typeface="Times New Roman" panose="02020603050405020304" pitchFamily="18" charset="0"/>
                <a:cs typeface="Times New Roman" panose="02020603050405020304" pitchFamily="18" charset="0"/>
              </a:rPr>
              <a:t>for customers </a:t>
            </a:r>
            <a:r>
              <a:rPr lang="en-US" sz="2400" dirty="0">
                <a:latin typeface="Verdana" panose="020B0604030504040204" pitchFamily="34" charset="0"/>
                <a:ea typeface="Times New Roman" panose="02020603050405020304" pitchFamily="18" charset="0"/>
                <a:cs typeface="Times New Roman" panose="02020603050405020304" pitchFamily="18" charset="0"/>
              </a:rPr>
              <a:t>when the airline has </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achieved </a:t>
            </a:r>
            <a:r>
              <a:rPr lang="en-US" sz="2400" dirty="0">
                <a:latin typeface="Verdana" panose="020B0604030504040204" pitchFamily="34" charset="0"/>
                <a:ea typeface="Times New Roman" panose="02020603050405020304" pitchFamily="18" charset="0"/>
                <a:cs typeface="Times New Roman" panose="02020603050405020304" pitchFamily="18" charset="0"/>
              </a:rPr>
              <a:t>the maximum </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400" dirty="0" smtClean="0">
                <a:latin typeface="Verdana" panose="020B0604030504040204" pitchFamily="34" charset="0"/>
                <a:ea typeface="Times New Roman" panose="02020603050405020304" pitchFamily="18" charset="0"/>
                <a:cs typeface="Times New Roman" panose="02020603050405020304" pitchFamily="18" charset="0"/>
              </a:rPr>
            </a:b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400" dirty="0" smtClean="0">
                <a:latin typeface="Verdana" panose="020B0604030504040204" pitchFamily="34" charset="0"/>
                <a:ea typeface="Times New Roman" panose="02020603050405020304" pitchFamily="18" charset="0"/>
                <a:cs typeface="Times New Roman" panose="02020603050405020304" pitchFamily="18" charset="0"/>
              </a:rPr>
            </a:b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400" dirty="0" smtClean="0">
                <a:latin typeface="Verdana" panose="020B0604030504040204" pitchFamily="34" charset="0"/>
                <a:ea typeface="Times New Roman" panose="02020603050405020304" pitchFamily="18" charset="0"/>
                <a:cs typeface="Times New Roman" panose="02020603050405020304" pitchFamily="18" charset="0"/>
              </a:rPr>
            </a:br>
            <a:r>
              <a:rPr lang="en-US" sz="2400" dirty="0" smtClean="0">
                <a:latin typeface="Verdana" panose="020B0604030504040204" pitchFamily="34" charset="0"/>
                <a:ea typeface="Times New Roman" panose="02020603050405020304" pitchFamily="18" charset="0"/>
                <a:cs typeface="Times New Roman" panose="02020603050405020304" pitchFamily="18" charset="0"/>
              </a:rPr>
              <a:t>profit </a:t>
            </a:r>
            <a:r>
              <a:rPr lang="en-US" sz="2400" dirty="0">
                <a:latin typeface="Verdana" panose="020B0604030504040204" pitchFamily="34" charset="0"/>
                <a:ea typeface="Times New Roman" panose="02020603050405020304" pitchFamily="18" charset="0"/>
                <a:cs typeface="Times New Roman" panose="02020603050405020304" pitchFamily="18" charset="0"/>
              </a:rPr>
              <a:t>is</a:t>
            </a:r>
          </a:p>
          <a:p>
            <a:pPr marL="4445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p:pic>
        <p:nvPicPr>
          <p:cNvPr id="4" name="Picture 3" descr="Shape&#10;&#10;Description automatically generated with medium confidence">
            <a:extLst>
              <a:ext uri="{FF2B5EF4-FFF2-40B4-BE49-F238E27FC236}">
                <a16:creationId xmlns:a16="http://schemas.microsoft.com/office/drawing/2014/main" xmlns="" id="{CC84AE17-83CC-7E4A-9B97-BEB5253EDBC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324818" y="941459"/>
            <a:ext cx="1538543" cy="828154"/>
          </a:xfrm>
          <a:prstGeom prst="rect">
            <a:avLst/>
          </a:prstGeom>
        </p:spPr>
      </p:pic>
      <p:pic>
        <p:nvPicPr>
          <p:cNvPr id="6" name="Picture 5" descr="Shape&#10;&#10;Description automatically generated">
            <a:extLst>
              <a:ext uri="{FF2B5EF4-FFF2-40B4-BE49-F238E27FC236}">
                <a16:creationId xmlns:a16="http://schemas.microsoft.com/office/drawing/2014/main" xmlns="" id="{929E4CEE-637F-6C4E-843A-37966E4976B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328646" y="3030453"/>
            <a:ext cx="1218750" cy="1061952"/>
          </a:xfrm>
          <a:prstGeom prst="rect">
            <a:avLst/>
          </a:prstGeom>
        </p:spPr>
      </p:pic>
    </p:spTree>
    <p:extLst>
      <p:ext uri="{BB962C8B-B14F-4D97-AF65-F5344CB8AC3E}">
        <p14:creationId xmlns:p14="http://schemas.microsoft.com/office/powerpoint/2010/main" val="1251846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F54A4596-5923-6342-9500-70E8F702680A}"/>
                  </a:ext>
                </a:extLst>
              </p:cNvPr>
              <p:cNvSpPr/>
              <p:nvPr/>
            </p:nvSpPr>
            <p:spPr>
              <a:xfrm>
                <a:off x="532661" y="385403"/>
                <a:ext cx="10800000" cy="4524315"/>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 point at which the airline has maximized their profit is the vertex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𝑓</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The 𝑥-value of the vertex is the seat charge at the point when the company has a maximum profit, where the maximum profit is the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𝑓</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value of the vertex.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The vertex in the context is                   </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because </a:t>
                </a:r>
                <a:r>
                  <a:rPr lang="en-US" sz="2400" dirty="0">
                    <a:latin typeface="Verdana" panose="020B0604030504040204" pitchFamily="34" charset="0"/>
                    <a:ea typeface="Times New Roman" panose="02020603050405020304" pitchFamily="18" charset="0"/>
                    <a:cs typeface="Times New Roman" panose="02020603050405020304" pitchFamily="18" charset="0"/>
                  </a:rPr>
                  <a:t>this </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is </a:t>
                </a:r>
                <a:r>
                  <a:rPr lang="en-US" sz="2400" dirty="0">
                    <a:latin typeface="Verdana" panose="020B0604030504040204" pitchFamily="34" charset="0"/>
                    <a:ea typeface="Times New Roman" panose="02020603050405020304" pitchFamily="18" charset="0"/>
                    <a:cs typeface="Times New Roman" panose="02020603050405020304" pitchFamily="18" charset="0"/>
                  </a:rPr>
                  <a:t>the </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400" dirty="0" smtClean="0">
                    <a:latin typeface="Verdana" panose="020B0604030504040204" pitchFamily="34" charset="0"/>
                    <a:ea typeface="Times New Roman" panose="02020603050405020304" pitchFamily="18" charset="0"/>
                    <a:cs typeface="Times New Roman" panose="02020603050405020304" pitchFamily="18" charset="0"/>
                  </a:rPr>
                </a:b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400" dirty="0" smtClean="0">
                    <a:latin typeface="Verdana" panose="020B0604030504040204" pitchFamily="34" charset="0"/>
                    <a:ea typeface="Times New Roman" panose="02020603050405020304" pitchFamily="18" charset="0"/>
                    <a:cs typeface="Times New Roman" panose="02020603050405020304" pitchFamily="18" charset="0"/>
                  </a:rPr>
                </a:b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400" dirty="0" smtClean="0">
                    <a:latin typeface="Verdana" panose="020B0604030504040204" pitchFamily="34" charset="0"/>
                    <a:ea typeface="Times New Roman" panose="02020603050405020304" pitchFamily="18" charset="0"/>
                    <a:cs typeface="Times New Roman" panose="02020603050405020304" pitchFamily="18" charset="0"/>
                  </a:rPr>
                </a:b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400" dirty="0" smtClean="0">
                    <a:latin typeface="Verdana" panose="020B0604030504040204" pitchFamily="34" charset="0"/>
                    <a:ea typeface="Times New Roman" panose="02020603050405020304" pitchFamily="18" charset="0"/>
                    <a:cs typeface="Times New Roman" panose="02020603050405020304" pitchFamily="18" charset="0"/>
                  </a:rPr>
                </a:br>
                <a:r>
                  <a:rPr lang="en-US" sz="2400" dirty="0" smtClean="0">
                    <a:latin typeface="Verdana" panose="020B0604030504040204" pitchFamily="34" charset="0"/>
                    <a:ea typeface="Times New Roman" panose="02020603050405020304" pitchFamily="18" charset="0"/>
                    <a:cs typeface="Times New Roman" panose="02020603050405020304" pitchFamily="18" charset="0"/>
                  </a:rPr>
                  <a:t>point </a:t>
                </a:r>
                <a:r>
                  <a:rPr lang="en-US" sz="2400" dirty="0">
                    <a:latin typeface="Verdana" panose="020B0604030504040204" pitchFamily="34" charset="0"/>
                    <a:ea typeface="Times New Roman" panose="02020603050405020304" pitchFamily="18" charset="0"/>
                    <a:cs typeface="Times New Roman" panose="02020603050405020304" pitchFamily="18" charset="0"/>
                  </a:rPr>
                  <a:t>where the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xmlns:a14="http://schemas.microsoft.com/office/drawing/2010/main" xmlns="" id="{F54A4596-5923-6342-9500-70E8F702680A}"/>
                  </a:ext>
                </a:extLst>
              </p:cNvPr>
              <p:cNvSpPr>
                <a:spLocks noRot="1" noChangeAspect="1" noMove="1" noResize="1" noEditPoints="1" noAdjustHandles="1" noChangeArrowheads="1" noChangeShapeType="1" noTextEdit="1"/>
              </p:cNvSpPr>
              <p:nvPr/>
            </p:nvSpPr>
            <p:spPr>
              <a:xfrm>
                <a:off x="532661" y="385403"/>
                <a:ext cx="10800000" cy="4524315"/>
              </a:xfrm>
              <a:prstGeom prst="rect">
                <a:avLst/>
              </a:prstGeom>
              <a:blipFill rotWithShape="1">
                <a:blip r:embed="rId4"/>
                <a:stretch>
                  <a:fillRect l="-847" t="-1078"/>
                </a:stretch>
              </a:blipFill>
            </p:spPr>
            <p:txBody>
              <a:bodyPr/>
              <a:lstStyle/>
              <a:p>
                <a:r>
                  <a:rPr lang="en-PH">
                    <a:noFill/>
                  </a:rPr>
                  <a:t> </a:t>
                </a:r>
              </a:p>
            </p:txBody>
          </p:sp>
        </mc:Fallback>
      </mc:AlternateContent>
      <p:pic>
        <p:nvPicPr>
          <p:cNvPr id="6" name="Picture 5" descr="A picture containing text&#10;&#10;Description automatically generated">
            <a:extLst>
              <a:ext uri="{FF2B5EF4-FFF2-40B4-BE49-F238E27FC236}">
                <a16:creationId xmlns:a16="http://schemas.microsoft.com/office/drawing/2014/main" xmlns="" id="{A0C8C215-227D-B04C-9A26-AA1B2F0EB3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446968" y="2241765"/>
            <a:ext cx="1757505" cy="1055037"/>
          </a:xfrm>
          <a:prstGeom prst="rect">
            <a:avLst/>
          </a:prstGeom>
        </p:spPr>
      </p:pic>
      <p:pic>
        <p:nvPicPr>
          <p:cNvPr id="8" name="Picture 7" descr="Text&#10;&#10;Description automatically generated">
            <a:extLst>
              <a:ext uri="{FF2B5EF4-FFF2-40B4-BE49-F238E27FC236}">
                <a16:creationId xmlns:a16="http://schemas.microsoft.com/office/drawing/2014/main" xmlns="" id="{4B32C30E-8411-DB46-AA92-131B8325BCA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636227" y="3585712"/>
            <a:ext cx="3211385" cy="1430172"/>
          </a:xfrm>
          <a:prstGeom prst="rect">
            <a:avLst/>
          </a:prstGeom>
        </p:spPr>
      </p:pic>
    </p:spTree>
    <p:extLst>
      <p:ext uri="{BB962C8B-B14F-4D97-AF65-F5344CB8AC3E}">
        <p14:creationId xmlns:p14="http://schemas.microsoft.com/office/powerpoint/2010/main" val="2381553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F54A4596-5923-6342-9500-70E8F702680A}"/>
                  </a:ext>
                </a:extLst>
              </p:cNvPr>
              <p:cNvSpPr/>
              <p:nvPr/>
            </p:nvSpPr>
            <p:spPr>
              <a:xfrm>
                <a:off x="532661" y="384933"/>
                <a:ext cx="10515600" cy="3170099"/>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The profit the airline makes is a function of the cost per seat. Because the profit has a maximum and two points that are equidistant from the vertex, a quadratic function can be used to model the context. In either standard form as </a:t>
                </a:r>
                <a:r>
                  <a:rPr lang="en-US" sz="2000" i="1" dirty="0" smtClean="0">
                    <a:latin typeface="Cambria Math" panose="02040503050406030204" pitchFamily="18" charset="0"/>
                    <a:ea typeface="Times New Roman" panose="02020603050405020304" pitchFamily="18" charset="0"/>
                    <a:cs typeface="Times New Roman" panose="02020603050405020304" pitchFamily="18" charset="0"/>
                  </a:rPr>
                  <a:t/>
                </a:r>
                <a:br>
                  <a:rPr lang="en-US" sz="2000" i="1" dirty="0" smtClean="0">
                    <a:latin typeface="Cambria Math" panose="02040503050406030204" pitchFamily="18" charset="0"/>
                    <a:ea typeface="Times New Roman" panose="02020603050405020304" pitchFamily="18" charset="0"/>
                    <a:cs typeface="Times New Roman" panose="02020603050405020304" pitchFamily="18" charset="0"/>
                  </a:rPr>
                </a:b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𝑓</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𝑎</m:t>
                    </m:r>
                    <m:sSup>
                      <m:sSupPr>
                        <m:ctrlPr>
                          <a:rPr lang="en-US" sz="2000" i="1" dirty="0">
                            <a:latin typeface="Cambria Math" charset="0"/>
                            <a:cs typeface="Times New Roman" panose="02020603050405020304" pitchFamily="18" charset="0"/>
                          </a:rPr>
                        </m:ctrlPr>
                      </m:sSupPr>
                      <m:e>
                        <m:r>
                          <a:rPr lang="es-ES" sz="2000" i="1" dirty="0">
                            <a:latin typeface="Cambria Math" panose="02040503050406030204" pitchFamily="18" charset="0"/>
                            <a:cs typeface="Times New Roman" panose="02020603050405020304" pitchFamily="18" charset="0"/>
                          </a:rPr>
                          <m:t>𝑥</m:t>
                        </m:r>
                      </m:e>
                      <m:sup>
                        <m:r>
                          <a:rPr lang="es-ES" sz="2000" i="1" dirty="0">
                            <a:latin typeface="Cambria Math" panose="02040503050406030204" pitchFamily="18" charset="0"/>
                            <a:cs typeface="Times New Roman" panose="02020603050405020304" pitchFamily="18" charset="0"/>
                          </a:rPr>
                          <m:t>2</m:t>
                        </m:r>
                      </m:sup>
                    </m:sSup>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𝑏𝑥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𝑐</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or in vertex form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𝑓</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𝑎</m:t>
                    </m:r>
                    <m:sSup>
                      <m:sSupPr>
                        <m:ctrlPr>
                          <a:rPr lang="en-US" sz="2000" i="1" dirty="0">
                            <a:latin typeface="Cambria Math" charset="0"/>
                            <a:cs typeface="Times New Roman" panose="02020603050405020304" pitchFamily="18" charset="0"/>
                          </a:rPr>
                        </m:ctrlPr>
                      </m:sSupPr>
                      <m:e>
                        <m:d>
                          <m:dPr>
                            <m:ctrlPr>
                              <a:rPr lang="en-US" sz="2000" i="1" dirty="0">
                                <a:latin typeface="Cambria Math" charset="0"/>
                                <a:cs typeface="Times New Roman" panose="02020603050405020304" pitchFamily="18" charset="0"/>
                              </a:rPr>
                            </m:ctrlPr>
                          </m:dPr>
                          <m:e>
                            <m:r>
                              <a:rPr lang="es-ES" sz="2000" i="1" dirty="0">
                                <a:latin typeface="Cambria Math" panose="02040503050406030204" pitchFamily="18" charset="0"/>
                                <a:cs typeface="Times New Roman" panose="02020603050405020304" pitchFamily="18" charset="0"/>
                              </a:rPr>
                              <m:t>𝑥</m:t>
                            </m:r>
                            <m:r>
                              <a:rPr lang="es-ES" sz="2000" i="1" dirty="0">
                                <a:latin typeface="Cambria Math" panose="02040503050406030204" pitchFamily="18" charset="0"/>
                                <a:cs typeface="Times New Roman" panose="02020603050405020304" pitchFamily="18" charset="0"/>
                              </a:rPr>
                              <m:t>−</m:t>
                            </m:r>
                            <m:r>
                              <a:rPr lang="es-ES" sz="2000" i="1" dirty="0">
                                <a:latin typeface="Cambria Math" panose="02040503050406030204" pitchFamily="18" charset="0"/>
                                <a:cs typeface="Times New Roman" panose="02020603050405020304" pitchFamily="18" charset="0"/>
                              </a:rPr>
                              <m:t>h</m:t>
                            </m:r>
                          </m:e>
                        </m:d>
                      </m:e>
                      <m:sup>
                        <m:r>
                          <a:rPr lang="es-ES" sz="2000" i="1" dirty="0">
                            <a:latin typeface="Cambria Math" panose="02040503050406030204" pitchFamily="18" charset="0"/>
                            <a:cs typeface="Times New Roman" panose="02020603050405020304" pitchFamily="18" charset="0"/>
                          </a:rPr>
                          <m:t>2</m:t>
                        </m:r>
                      </m:sup>
                    </m:sSup>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𝑘</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where the variable 𝑥 is the cost per seat and 𝑓 is the profit.</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Discuss with your partner how to confirm that the two points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(55, 2100)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(75, 2100)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are equidistant from the vertex. </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xmlns:a14="http://schemas.microsoft.com/office/drawing/2010/main" xmlns="" id="{F54A4596-5923-6342-9500-70E8F702680A}"/>
                  </a:ext>
                </a:extLst>
              </p:cNvPr>
              <p:cNvSpPr>
                <a:spLocks noRot="1" noChangeAspect="1" noMove="1" noResize="1" noEditPoints="1" noAdjustHandles="1" noChangeArrowheads="1" noChangeShapeType="1" noTextEdit="1"/>
              </p:cNvSpPr>
              <p:nvPr/>
            </p:nvSpPr>
            <p:spPr>
              <a:xfrm>
                <a:off x="532661" y="384933"/>
                <a:ext cx="10515600" cy="3170099"/>
              </a:xfrm>
              <a:prstGeom prst="rect">
                <a:avLst/>
              </a:prstGeom>
              <a:blipFill rotWithShape="1">
                <a:blip r:embed="rId4"/>
                <a:stretch>
                  <a:fillRect l="-580" t="-962" r="-1333"/>
                </a:stretch>
              </a:blipFill>
            </p:spPr>
            <p:txBody>
              <a:bodyPr/>
              <a:lstStyle/>
              <a:p>
                <a:r>
                  <a:rPr lang="en-PH">
                    <a:noFill/>
                  </a:rPr>
                  <a:t> </a:t>
                </a:r>
              </a:p>
            </p:txBody>
          </p:sp>
        </mc:Fallback>
      </mc:AlternateContent>
    </p:spTree>
    <p:extLst>
      <p:ext uri="{BB962C8B-B14F-4D97-AF65-F5344CB8AC3E}">
        <p14:creationId xmlns:p14="http://schemas.microsoft.com/office/powerpoint/2010/main" val="2042787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78</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xmlns="" id="{F54A4596-5923-6342-9500-70E8F702680A}"/>
              </a:ext>
            </a:extLst>
          </p:cNvPr>
          <p:cNvSpPr/>
          <p:nvPr/>
        </p:nvSpPr>
        <p:spPr>
          <a:xfrm>
            <a:off x="532661" y="384733"/>
            <a:ext cx="10515600" cy="3416320"/>
          </a:xfrm>
          <a:prstGeom prst="rect">
            <a:avLst/>
          </a:prstGeom>
        </p:spPr>
        <p:txBody>
          <a:bodyPr wrap="square">
            <a:spAutoFit/>
          </a:bodyPr>
          <a:lstStyle/>
          <a:p>
            <a:pPr marL="457200"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Use the steps in the table to write the quadratic function that models the airline’s profit</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a:t>
            </a:r>
          </a:p>
          <a:p>
            <a:pPr marL="457200" indent="-457200">
              <a:buFont typeface="+mj-lt"/>
              <a:buAutoNum type="arabi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44500"/>
            <a:endParaRPr lang="en-US" sz="2400" dirty="0" smtClean="0">
              <a:latin typeface="Verdana" panose="020B0604030504040204" pitchFamily="34" charset="0"/>
              <a:ea typeface="Times New Roman" panose="02020603050405020304" pitchFamily="18" charset="0"/>
              <a:cs typeface="Times New Roman" panose="02020603050405020304" pitchFamily="18" charset="0"/>
            </a:endParaRPr>
          </a:p>
          <a:p>
            <a:pPr marL="4445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44500"/>
            <a:endParaRPr lang="en-US" sz="2400" dirty="0" smtClean="0">
              <a:latin typeface="Verdana" panose="020B0604030504040204" pitchFamily="34" charset="0"/>
              <a:ea typeface="Times New Roman" panose="02020603050405020304" pitchFamily="18" charset="0"/>
              <a:cs typeface="Times New Roman" panose="02020603050405020304" pitchFamily="18" charset="0"/>
            </a:endParaRPr>
          </a:p>
          <a:p>
            <a:pPr marL="4445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44500"/>
            <a:endParaRPr lang="en-US" sz="2400" dirty="0" smtClean="0">
              <a:latin typeface="Verdana" panose="020B0604030504040204" pitchFamily="34" charset="0"/>
              <a:ea typeface="Times New Roman" panose="02020603050405020304" pitchFamily="18" charset="0"/>
              <a:cs typeface="Times New Roman" panose="02020603050405020304" pitchFamily="18" charset="0"/>
            </a:endParaRPr>
          </a:p>
          <a:p>
            <a:pPr marL="444500"/>
            <a:r>
              <a:rPr lang="en-US" sz="2400" dirty="0" smtClean="0">
                <a:latin typeface="Verdana" panose="020B0604030504040204" pitchFamily="34" charset="0"/>
                <a:ea typeface="Times New Roman" panose="02020603050405020304" pitchFamily="18" charset="0"/>
                <a:cs typeface="Times New Roman" panose="02020603050405020304" pitchFamily="18" charset="0"/>
              </a:rPr>
              <a:t>Write </a:t>
            </a:r>
            <a:r>
              <a:rPr lang="en-US" sz="2400" dirty="0">
                <a:latin typeface="Verdana" panose="020B0604030504040204" pitchFamily="34" charset="0"/>
                <a:ea typeface="Times New Roman" panose="02020603050405020304" pitchFamily="18" charset="0"/>
                <a:cs typeface="Times New Roman" panose="02020603050405020304" pitchFamily="18" charset="0"/>
              </a:rPr>
              <a:t>the equation for the quadratic function in vertex form</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a:t>
            </a: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E54F828D-B201-1546-B617-66879E2B9463}"/>
                  </a:ext>
                </a:extLst>
              </p:cNvPr>
              <p:cNvGraphicFramePr>
                <a:graphicFrameLocks noGrp="1"/>
              </p:cNvGraphicFramePr>
              <p:nvPr>
                <p:extLst>
                  <p:ext uri="{D42A27DB-BD31-4B8C-83A1-F6EECF244321}">
                    <p14:modId xmlns:p14="http://schemas.microsoft.com/office/powerpoint/2010/main" val="2788426538"/>
                  </p:ext>
                </p:extLst>
              </p:nvPr>
            </p:nvGraphicFramePr>
            <p:xfrm>
              <a:off x="1934112" y="1423041"/>
              <a:ext cx="8280000" cy="1620000"/>
            </p:xfrm>
            <a:graphic>
              <a:graphicData uri="http://schemas.openxmlformats.org/drawingml/2006/table">
                <a:tbl>
                  <a:tblPr bandRow="1">
                    <a:tableStyleId>{A91F0D33-8C57-4600-99A7-42BC86742BE1}</a:tableStyleId>
                  </a:tblPr>
                  <a:tblGrid>
                    <a:gridCol w="5400000">
                      <a:extLst>
                        <a:ext uri="{9D8B030D-6E8A-4147-A177-3AD203B41FA5}">
                          <a16:colId xmlns:a16="http://schemas.microsoft.com/office/drawing/2014/main" xmlns="" val="2750238711"/>
                        </a:ext>
                      </a:extLst>
                    </a:gridCol>
                    <a:gridCol w="2880000">
                      <a:extLst>
                        <a:ext uri="{9D8B030D-6E8A-4147-A177-3AD203B41FA5}">
                          <a16:colId xmlns:a16="http://schemas.microsoft.com/office/drawing/2014/main" xmlns="" val="199510905"/>
                        </a:ext>
                      </a:extLst>
                    </a:gridCol>
                  </a:tblGrid>
                  <a:tr h="540000">
                    <a:tc>
                      <a:txBody>
                        <a:bodyPr/>
                        <a:lstStyle/>
                        <a:p>
                          <a:pPr marL="50165" marR="0" indent="-50165"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Substitute values for the point </a:t>
                          </a:r>
                          <a14:m>
                            <m:oMath xmlns:m="http://schemas.openxmlformats.org/officeDocument/2006/math">
                              <m:r>
                                <a:rPr lang="en-US" sz="2000" smtClean="0">
                                  <a:solidFill>
                                    <a:srgbClr val="7030A0"/>
                                  </a:solidFill>
                                  <a:effectLst/>
                                  <a:latin typeface="Cambria Math"/>
                                </a:rPr>
                                <m:t>(</m:t>
                              </m:r>
                              <m:r>
                                <a:rPr lang="en-US" sz="2000" smtClean="0">
                                  <a:solidFill>
                                    <a:srgbClr val="7030A0"/>
                                  </a:solidFill>
                                  <a:effectLst/>
                                  <a:latin typeface="Cambria Math"/>
                                </a:rPr>
                                <m:t>𝑥</m:t>
                              </m:r>
                              <m:r>
                                <a:rPr lang="en-US" sz="2000" smtClean="0">
                                  <a:solidFill>
                                    <a:srgbClr val="7030A0"/>
                                  </a:solidFill>
                                  <a:effectLst/>
                                  <a:latin typeface="Cambria Math"/>
                                </a:rPr>
                                <m:t>,</m:t>
                              </m:r>
                              <m:r>
                                <a:rPr lang="en-US" sz="2000" smtClean="0">
                                  <a:solidFill>
                                    <a:srgbClr val="7030A0"/>
                                  </a:solidFill>
                                  <a:effectLst/>
                                  <a:latin typeface="Cambria Math"/>
                                </a:rPr>
                                <m:t>𝑓</m:t>
                              </m:r>
                              <m:r>
                                <a:rPr lang="en-US" sz="2000" smtClean="0">
                                  <a:solidFill>
                                    <a:srgbClr val="7030A0"/>
                                  </a:solidFill>
                                  <a:effectLst/>
                                  <a:latin typeface="Cambria Math"/>
                                </a:rPr>
                                <m:t>(</m:t>
                              </m:r>
                              <m:r>
                                <a:rPr lang="en-US" sz="2000" smtClean="0">
                                  <a:solidFill>
                                    <a:srgbClr val="7030A0"/>
                                  </a:solidFill>
                                  <a:effectLst/>
                                  <a:latin typeface="Cambria Math"/>
                                </a:rPr>
                                <m:t>𝑥</m:t>
                              </m:r>
                              <m:r>
                                <a:rPr lang="en-US" sz="2000" smtClean="0">
                                  <a:solidFill>
                                    <a:srgbClr val="7030A0"/>
                                  </a:solidFill>
                                  <a:effectLst/>
                                  <a:latin typeface="Cambria Math"/>
                                </a:rPr>
                                <m:t>))</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50165" marR="0" indent="-50165"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smtClean="0">
                                    <a:solidFill>
                                      <a:srgbClr val="7030A0"/>
                                    </a:solidFill>
                                    <a:effectLst/>
                                    <a:latin typeface="Cambria Math"/>
                                  </a:rPr>
                                  <m:t>𝑓</m:t>
                                </m:r>
                                <m:r>
                                  <a:rPr lang="en-US" sz="2000" smtClean="0">
                                    <a:solidFill>
                                      <a:srgbClr val="7030A0"/>
                                    </a:solidFill>
                                    <a:effectLst/>
                                    <a:latin typeface="Cambria Math"/>
                                  </a:rPr>
                                  <m:t>(</m:t>
                                </m:r>
                                <m:r>
                                  <a:rPr lang="en-US" sz="2000" smtClean="0">
                                    <a:solidFill>
                                      <a:srgbClr val="7030A0"/>
                                    </a:solidFill>
                                    <a:effectLst/>
                                    <a:latin typeface="Cambria Math"/>
                                  </a:rPr>
                                  <m:t>𝑥</m:t>
                                </m:r>
                                <m:r>
                                  <a:rPr lang="en-US" sz="2000" smtClean="0">
                                    <a:solidFill>
                                      <a:srgbClr val="7030A0"/>
                                    </a:solidFill>
                                    <a:effectLst/>
                                    <a:latin typeface="Cambria Math"/>
                                  </a:rPr>
                                  <m:t>)=</m:t>
                                </m:r>
                                <m:r>
                                  <a:rPr lang="en-US" sz="2000">
                                    <a:effectLst/>
                                    <a:latin typeface="Cambria Math"/>
                                  </a:rPr>
                                  <m:t>𝑎</m:t>
                                </m:r>
                                <m:sSup>
                                  <m:sSupPr>
                                    <m:ctrlPr>
                                      <a:rPr lang="x-none" sz="2000" i="1">
                                        <a:effectLst/>
                                        <a:latin typeface="Cambria Math" charset="0"/>
                                      </a:rPr>
                                    </m:ctrlPr>
                                  </m:sSupPr>
                                  <m:e>
                                    <m:r>
                                      <a:rPr lang="en-US" sz="2000">
                                        <a:effectLst/>
                                        <a:latin typeface="Cambria Math"/>
                                      </a:rPr>
                                      <m:t>(</m:t>
                                    </m:r>
                                    <m:r>
                                      <a:rPr lang="en-US" sz="2000" smtClean="0">
                                        <a:solidFill>
                                          <a:srgbClr val="7030A0"/>
                                        </a:solidFill>
                                        <a:effectLst/>
                                        <a:latin typeface="Cambria Math"/>
                                      </a:rPr>
                                      <m:t>𝑥</m:t>
                                    </m:r>
                                    <m:r>
                                      <a:rPr lang="en-US" sz="2000">
                                        <a:effectLst/>
                                        <a:latin typeface="Cambria Math"/>
                                      </a:rPr>
                                      <m:t>−</m:t>
                                    </m:r>
                                    <m:r>
                                      <a:rPr lang="en-US" sz="2000">
                                        <a:effectLst/>
                                        <a:latin typeface="Cambria Math"/>
                                      </a:rPr>
                                      <m:t>h</m:t>
                                    </m:r>
                                    <m:r>
                                      <a:rPr lang="en-US" sz="2000">
                                        <a:effectLst/>
                                        <a:latin typeface="Cambria Math"/>
                                      </a:rPr>
                                      <m:t>)</m:t>
                                    </m:r>
                                  </m:e>
                                  <m:sup>
                                    <m:r>
                                      <a:rPr lang="en-US" sz="2000">
                                        <a:effectLst/>
                                        <a:latin typeface="Cambria Math"/>
                                      </a:rPr>
                                      <m:t>2</m:t>
                                    </m:r>
                                  </m:sup>
                                </m:sSup>
                                <m:r>
                                  <a:rPr lang="en-US" sz="2000">
                                    <a:effectLst/>
                                    <a:latin typeface="Cambria Math"/>
                                  </a:rPr>
                                  <m:t>+</m:t>
                                </m:r>
                                <m:r>
                                  <a:rPr lang="en-US" sz="2000">
                                    <a:effectLst/>
                                    <a:latin typeface="Cambria Math"/>
                                  </a:rPr>
                                  <m:t>𝑘</m:t>
                                </m:r>
                              </m:oMath>
                            </m:oMathPara>
                          </a14:m>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61291184"/>
                      </a:ext>
                    </a:extLst>
                  </a:tr>
                  <a:tr h="540000">
                    <a:tc>
                      <a:txBody>
                        <a:bodyPr/>
                        <a:lstStyle/>
                        <a:p>
                          <a:pPr marL="50165" marR="0" indent="-50165"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Substitute values for the vertex </a:t>
                          </a:r>
                          <a14:m>
                            <m:oMath xmlns:m="http://schemas.openxmlformats.org/officeDocument/2006/math">
                              <m:r>
                                <a:rPr lang="en-US" sz="2000" smtClean="0">
                                  <a:solidFill>
                                    <a:schemeClr val="accent5"/>
                                  </a:solidFill>
                                  <a:effectLst/>
                                  <a:latin typeface="Cambria Math"/>
                                </a:rPr>
                                <m:t>(</m:t>
                              </m:r>
                              <m:r>
                                <a:rPr lang="en-US" sz="2000" smtClean="0">
                                  <a:solidFill>
                                    <a:schemeClr val="accent5"/>
                                  </a:solidFill>
                                  <a:effectLst/>
                                  <a:latin typeface="Cambria Math"/>
                                </a:rPr>
                                <m:t>h</m:t>
                              </m:r>
                              <m:r>
                                <a:rPr lang="en-US" sz="2000" smtClean="0">
                                  <a:solidFill>
                                    <a:schemeClr val="accent5"/>
                                  </a:solidFill>
                                  <a:effectLst/>
                                  <a:latin typeface="Cambria Math"/>
                                </a:rPr>
                                <m:t>, </m:t>
                              </m:r>
                              <m:r>
                                <a:rPr lang="en-US" sz="2000" smtClean="0">
                                  <a:solidFill>
                                    <a:schemeClr val="accent5"/>
                                  </a:solidFill>
                                  <a:effectLst/>
                                  <a:latin typeface="Cambria Math"/>
                                </a:rPr>
                                <m:t>𝑘</m:t>
                              </m:r>
                              <m:r>
                                <a:rPr lang="en-US" sz="2000" smtClean="0">
                                  <a:solidFill>
                                    <a:schemeClr val="accent5"/>
                                  </a:solidFill>
                                  <a:effectLst/>
                                  <a:latin typeface="Cambria Math"/>
                                </a:rPr>
                                <m:t>)</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50165" marR="0" indent="-50165"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a:rPr>
                                  <m:t>𝑓</m:t>
                                </m:r>
                                <m:r>
                                  <a:rPr lang="en-US" sz="2000">
                                    <a:effectLst/>
                                    <a:latin typeface="Cambria Math"/>
                                  </a:rPr>
                                  <m:t>(</m:t>
                                </m:r>
                                <m:r>
                                  <a:rPr lang="en-US" sz="2000">
                                    <a:effectLst/>
                                    <a:latin typeface="Cambria Math"/>
                                  </a:rPr>
                                  <m:t>𝑥</m:t>
                                </m:r>
                                <m:r>
                                  <a:rPr lang="en-US" sz="2000">
                                    <a:effectLst/>
                                    <a:latin typeface="Cambria Math"/>
                                  </a:rPr>
                                  <m:t>)=</m:t>
                                </m:r>
                                <m:r>
                                  <a:rPr lang="en-US" sz="2000">
                                    <a:effectLst/>
                                    <a:latin typeface="Cambria Math"/>
                                  </a:rPr>
                                  <m:t>𝑎</m:t>
                                </m:r>
                                <m:sSup>
                                  <m:sSupPr>
                                    <m:ctrlPr>
                                      <a:rPr lang="x-none" sz="2000" i="1">
                                        <a:effectLst/>
                                        <a:latin typeface="Cambria Math" charset="0"/>
                                      </a:rPr>
                                    </m:ctrlPr>
                                  </m:sSupPr>
                                  <m:e>
                                    <m:r>
                                      <a:rPr lang="en-US" sz="2000">
                                        <a:effectLst/>
                                        <a:latin typeface="Cambria Math"/>
                                      </a:rPr>
                                      <m:t>(</m:t>
                                    </m:r>
                                    <m:r>
                                      <a:rPr lang="en-US" sz="2000">
                                        <a:effectLst/>
                                        <a:latin typeface="Cambria Math"/>
                                      </a:rPr>
                                      <m:t>𝑥</m:t>
                                    </m:r>
                                    <m:r>
                                      <a:rPr lang="en-US" sz="2000">
                                        <a:effectLst/>
                                        <a:latin typeface="Cambria Math"/>
                                      </a:rPr>
                                      <m:t>−</m:t>
                                    </m:r>
                                    <m:r>
                                      <a:rPr lang="en-US" sz="2000" smtClean="0">
                                        <a:solidFill>
                                          <a:schemeClr val="accent5"/>
                                        </a:solidFill>
                                        <a:effectLst/>
                                        <a:latin typeface="Cambria Math"/>
                                      </a:rPr>
                                      <m:t>h</m:t>
                                    </m:r>
                                    <m:r>
                                      <a:rPr lang="en-US" sz="2000">
                                        <a:effectLst/>
                                        <a:latin typeface="Cambria Math"/>
                                      </a:rPr>
                                      <m:t>)</m:t>
                                    </m:r>
                                  </m:e>
                                  <m:sup>
                                    <m:r>
                                      <a:rPr lang="en-US" sz="2000">
                                        <a:effectLst/>
                                        <a:latin typeface="Cambria Math"/>
                                      </a:rPr>
                                      <m:t>2</m:t>
                                    </m:r>
                                  </m:sup>
                                </m:sSup>
                                <m:r>
                                  <a:rPr lang="en-US" sz="2000">
                                    <a:effectLst/>
                                    <a:latin typeface="Cambria Math"/>
                                  </a:rPr>
                                  <m:t>+</m:t>
                                </m:r>
                                <m:r>
                                  <a:rPr lang="en-US" sz="2000" smtClean="0">
                                    <a:solidFill>
                                      <a:schemeClr val="accent5"/>
                                    </a:solidFill>
                                    <a:effectLst/>
                                    <a:latin typeface="Cambria Math"/>
                                  </a:rPr>
                                  <m:t>𝑘</m:t>
                                </m:r>
                              </m:oMath>
                            </m:oMathPara>
                          </a14:m>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651278146"/>
                      </a:ext>
                    </a:extLst>
                  </a:tr>
                  <a:tr h="540000">
                    <a:tc>
                      <a:txBody>
                        <a:bodyPr/>
                        <a:lstStyle/>
                        <a:p>
                          <a:pPr marL="50165" marR="0" indent="-50165"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Solve for the variable </a:t>
                          </a:r>
                          <a14:m>
                            <m:oMath xmlns:m="http://schemas.openxmlformats.org/officeDocument/2006/math">
                              <m:r>
                                <a:rPr lang="en-US" sz="2000" smtClean="0">
                                  <a:solidFill>
                                    <a:schemeClr val="accent6"/>
                                  </a:solidFill>
                                  <a:effectLst/>
                                  <a:latin typeface="Cambria Math"/>
                                </a:rPr>
                                <m:t>𝑎</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50165" marR="0" indent="-50165"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a:rPr>
                                  <m:t>𝑓</m:t>
                                </m:r>
                                <m:r>
                                  <a:rPr lang="en-US" sz="2000">
                                    <a:effectLst/>
                                    <a:latin typeface="Cambria Math"/>
                                  </a:rPr>
                                  <m:t>(</m:t>
                                </m:r>
                                <m:r>
                                  <a:rPr lang="en-US" sz="2000">
                                    <a:effectLst/>
                                    <a:latin typeface="Cambria Math"/>
                                  </a:rPr>
                                  <m:t>𝑥</m:t>
                                </m:r>
                                <m:r>
                                  <a:rPr lang="en-US" sz="2000">
                                    <a:effectLst/>
                                    <a:latin typeface="Cambria Math"/>
                                  </a:rPr>
                                  <m:t>)=</m:t>
                                </m:r>
                                <m:r>
                                  <a:rPr lang="en-US" sz="2000" smtClean="0">
                                    <a:solidFill>
                                      <a:schemeClr val="accent6"/>
                                    </a:solidFill>
                                    <a:effectLst/>
                                    <a:latin typeface="Cambria Math"/>
                                  </a:rPr>
                                  <m:t>𝑎</m:t>
                                </m:r>
                                <m:sSup>
                                  <m:sSupPr>
                                    <m:ctrlPr>
                                      <a:rPr lang="x-none" sz="2000" i="1" smtClean="0">
                                        <a:effectLst/>
                                        <a:latin typeface="Cambria Math" charset="0"/>
                                      </a:rPr>
                                    </m:ctrlPr>
                                  </m:sSupPr>
                                  <m:e>
                                    <m:r>
                                      <a:rPr lang="en-US" sz="2000">
                                        <a:effectLst/>
                                        <a:latin typeface="Cambria Math"/>
                                      </a:rPr>
                                      <m:t>(</m:t>
                                    </m:r>
                                    <m:r>
                                      <a:rPr lang="en-US" sz="2000">
                                        <a:effectLst/>
                                        <a:latin typeface="Cambria Math"/>
                                      </a:rPr>
                                      <m:t>𝑥</m:t>
                                    </m:r>
                                    <m:r>
                                      <a:rPr lang="en-US" sz="2000">
                                        <a:effectLst/>
                                        <a:latin typeface="Cambria Math"/>
                                      </a:rPr>
                                      <m:t>−</m:t>
                                    </m:r>
                                    <m:r>
                                      <a:rPr lang="en-US" sz="2000" smtClean="0">
                                        <a:solidFill>
                                          <a:schemeClr val="accent5"/>
                                        </a:solidFill>
                                        <a:effectLst/>
                                        <a:latin typeface="Cambria Math"/>
                                      </a:rPr>
                                      <m:t>h</m:t>
                                    </m:r>
                                    <m:r>
                                      <a:rPr lang="en-US" sz="2000">
                                        <a:effectLst/>
                                        <a:latin typeface="Cambria Math"/>
                                      </a:rPr>
                                      <m:t>)</m:t>
                                    </m:r>
                                  </m:e>
                                  <m:sup>
                                    <m:r>
                                      <a:rPr lang="en-US" sz="2000">
                                        <a:effectLst/>
                                        <a:latin typeface="Cambria Math"/>
                                      </a:rPr>
                                      <m:t>2</m:t>
                                    </m:r>
                                  </m:sup>
                                </m:sSup>
                                <m:r>
                                  <a:rPr lang="en-US" sz="2000">
                                    <a:effectLst/>
                                    <a:latin typeface="Cambria Math"/>
                                  </a:rPr>
                                  <m:t>+</m:t>
                                </m:r>
                                <m:r>
                                  <a:rPr lang="en-US" sz="2000" smtClean="0">
                                    <a:solidFill>
                                      <a:schemeClr val="accent5"/>
                                    </a:solidFill>
                                    <a:effectLst/>
                                    <a:latin typeface="Cambria Math"/>
                                  </a:rPr>
                                  <m:t>𝑘</m:t>
                                </m:r>
                              </m:oMath>
                            </m:oMathPara>
                          </a14:m>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18334423"/>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E54F828D-B201-1546-B617-66879E2B9463}"/>
                  </a:ext>
                </a:extLst>
              </p:cNvPr>
              <p:cNvGraphicFramePr>
                <a:graphicFrameLocks noGrp="1"/>
              </p:cNvGraphicFramePr>
              <p:nvPr>
                <p:extLst>
                  <p:ext uri="{D42A27DB-BD31-4B8C-83A1-F6EECF244321}">
                    <p14:modId xmlns:p14="http://schemas.microsoft.com/office/powerpoint/2010/main" val="2788426538"/>
                  </p:ext>
                </p:extLst>
              </p:nvPr>
            </p:nvGraphicFramePr>
            <p:xfrm>
              <a:off x="1934112" y="1423041"/>
              <a:ext cx="8280000" cy="1620000"/>
            </p:xfrm>
            <a:graphic>
              <a:graphicData uri="http://schemas.openxmlformats.org/drawingml/2006/table">
                <a:tbl>
                  <a:tblPr bandRow="1">
                    <a:tableStyleId>{A91F0D33-8C57-4600-99A7-42BC86742BE1}</a:tableStyleId>
                  </a:tblPr>
                  <a:tblGrid>
                    <a:gridCol w="5400000">
                      <a:extLst>
                        <a:ext uri="{9D8B030D-6E8A-4147-A177-3AD203B41FA5}">
                          <a16:colId xmlns:a16="http://schemas.microsoft.com/office/drawing/2014/main" xmlns:a14="http://schemas.microsoft.com/office/drawing/2010/main" xmlns="" val="2750238711"/>
                        </a:ext>
                      </a:extLst>
                    </a:gridCol>
                    <a:gridCol w="2880000">
                      <a:extLst>
                        <a:ext uri="{9D8B030D-6E8A-4147-A177-3AD203B41FA5}">
                          <a16:colId xmlns:a16="http://schemas.microsoft.com/office/drawing/2014/main" xmlns:a14="http://schemas.microsoft.com/office/drawing/2010/main" xmlns="" val="199510905"/>
                        </a:ext>
                      </a:extLst>
                    </a:gridCol>
                  </a:tblGrid>
                  <a:tr h="54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r="-53386" b="-205618"/>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87315" b="-205618"/>
                          </a:stretch>
                        </a:blipFill>
                      </a:tcPr>
                    </a:tc>
                    <a:extLst>
                      <a:ext uri="{0D108BD9-81ED-4DB2-BD59-A6C34878D82A}">
                        <a16:rowId xmlns:a16="http://schemas.microsoft.com/office/drawing/2014/main" xmlns:a14="http://schemas.microsoft.com/office/drawing/2010/main" xmlns="" val="3861291184"/>
                      </a:ext>
                    </a:extLst>
                  </a:tr>
                  <a:tr h="54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01136" r="-53386" b="-107955"/>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87315" t="-101136" b="-107955"/>
                          </a:stretch>
                        </a:blipFill>
                      </a:tcPr>
                    </a:tc>
                    <a:extLst>
                      <a:ext uri="{0D108BD9-81ED-4DB2-BD59-A6C34878D82A}">
                        <a16:rowId xmlns:a16="http://schemas.microsoft.com/office/drawing/2014/main" xmlns:a14="http://schemas.microsoft.com/office/drawing/2010/main" xmlns="" val="651278146"/>
                      </a:ext>
                    </a:extLst>
                  </a:tr>
                  <a:tr h="54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98876" r="-53386" b="-6742"/>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87315" t="-198876" b="-6742"/>
                          </a:stretch>
                        </a:blipFill>
                      </a:tcPr>
                    </a:tc>
                    <a:extLst>
                      <a:ext uri="{0D108BD9-81ED-4DB2-BD59-A6C34878D82A}">
                        <a16:rowId xmlns:a16="http://schemas.microsoft.com/office/drawing/2014/main" xmlns:a14="http://schemas.microsoft.com/office/drawing/2010/main" xmlns="" val="3818334423"/>
                      </a:ext>
                    </a:extLst>
                  </a:tr>
                </a:tbl>
              </a:graphicData>
            </a:graphic>
          </p:graphicFrame>
        </mc:Fallback>
      </mc:AlternateContent>
    </p:spTree>
    <p:extLst>
      <p:ext uri="{BB962C8B-B14F-4D97-AF65-F5344CB8AC3E}">
        <p14:creationId xmlns:p14="http://schemas.microsoft.com/office/powerpoint/2010/main" val="3252903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341933" y="2766099"/>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79</a:t>
            </a:r>
            <a:endParaRPr i="1" dirty="0">
              <a:latin typeface="Calibri"/>
              <a:ea typeface="Calibri"/>
              <a:cs typeface="Calibri"/>
              <a:sym typeface="Calibri"/>
            </a:endParaRPr>
          </a:p>
        </p:txBody>
      </p:sp>
      <p:pic>
        <p:nvPicPr>
          <p:cNvPr id="9" name="image3.png">
            <a:extLst>
              <a:ext uri="{FF2B5EF4-FFF2-40B4-BE49-F238E27FC236}">
                <a16:creationId xmlns:a16="http://schemas.microsoft.com/office/drawing/2014/main" xmlns="" id="{008C8C88-7E6A-B54B-B2D2-C862DF69F7BD}"/>
              </a:ext>
            </a:extLst>
          </p:cNvPr>
          <p:cNvPicPr/>
          <p:nvPr/>
        </p:nvPicPr>
        <p:blipFill>
          <a:blip r:embed="rId4"/>
          <a:srcRect/>
          <a:stretch>
            <a:fillRect/>
          </a:stretch>
        </p:blipFill>
        <p:spPr>
          <a:xfrm>
            <a:off x="3054096" y="2769558"/>
            <a:ext cx="1152149" cy="1152149"/>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83663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55357" y="1656"/>
            <a:ext cx="1095143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9.4.3 Try It: Writing Quadratic Functions</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E44DF7DE-9172-3E4E-B74A-7A51585FB6EA}"/>
                  </a:ext>
                </a:extLst>
              </p:cNvPr>
              <p:cNvSpPr txBox="1"/>
              <p:nvPr/>
            </p:nvSpPr>
            <p:spPr>
              <a:xfrm>
                <a:off x="532661" y="1467424"/>
                <a:ext cx="6604986" cy="2246769"/>
              </a:xfrm>
              <a:prstGeom prst="rect">
                <a:avLst/>
              </a:prstGeom>
              <a:noFill/>
            </p:spPr>
            <p:txBody>
              <a:bodyPr wrap="square" rtlCol="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Work with your partner on the following. </a:t>
                </a:r>
              </a:p>
              <a:p>
                <a:pPr lvl="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Frieda is creating a quadratic equation to represent the number of movie tickets sold in the U.S., in millions, from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2000</m:t>
                    </m:r>
                  </m:oMath>
                </a14:m>
                <a:r>
                  <a:rPr lang="en-US" sz="20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2005</m:t>
                    </m:r>
                  </m:oMath>
                </a14:m>
                <a:r>
                  <a:rPr lang="en-US" sz="2000" dirty="0">
                    <a:latin typeface="Verdana" panose="020B0604030504040204" pitchFamily="34" charset="0"/>
                    <a:ea typeface="Verdana" panose="020B0604030504040204" pitchFamily="34" charset="0"/>
                    <a:cs typeface="Verdana" panose="020B0604030504040204" pitchFamily="34" charset="0"/>
                  </a:rPr>
                  <a:t>. She determines the number of tickets sold, 𝑇, is a function of the year. </a:t>
                </a: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532661" y="1467424"/>
                <a:ext cx="6604986" cy="2246769"/>
              </a:xfrm>
              <a:prstGeom prst="rect">
                <a:avLst/>
              </a:prstGeom>
              <a:blipFill rotWithShape="1">
                <a:blip r:embed="rId4"/>
                <a:stretch>
                  <a:fillRect l="-923" t="-1359" r="-369" b="-4076"/>
                </a:stretch>
              </a:blipFill>
            </p:spPr>
            <p:txBody>
              <a:bodyPr/>
              <a:lstStyle/>
              <a:p>
                <a:r>
                  <a:rPr lang="en-PH">
                    <a:noFill/>
                  </a:rPr>
                  <a:t> </a:t>
                </a:r>
              </a:p>
            </p:txBody>
          </p:sp>
        </mc:Fallback>
      </mc:AlternateContent>
      <p:pic>
        <p:nvPicPr>
          <p:cNvPr id="11" name="image3.png">
            <a:extLst>
              <a:ext uri="{FF2B5EF4-FFF2-40B4-BE49-F238E27FC236}">
                <a16:creationId xmlns:a16="http://schemas.microsoft.com/office/drawing/2014/main" xmlns="" id="{A5CFC92B-B26C-B741-B941-28DABE38342E}"/>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436744" y="289602"/>
            <a:ext cx="749808" cy="749808"/>
          </a:xfrm>
          <a:prstGeom prst="rect">
            <a:avLst/>
          </a:prstGeom>
          <a:ln/>
          <a:effectLst>
            <a:outerShdw blurRad="50800" dist="38100" dir="2700000" algn="tl" rotWithShape="0">
              <a:prstClr val="black">
                <a:alpha val="40000"/>
              </a:prstClr>
            </a:outerShdw>
          </a:effectLst>
        </p:spPr>
      </p:pic>
      <p:pic>
        <p:nvPicPr>
          <p:cNvPr id="12" name="image15.png">
            <a:extLst>
              <a:ext uri="{FF2B5EF4-FFF2-40B4-BE49-F238E27FC236}">
                <a16:creationId xmlns:a16="http://schemas.microsoft.com/office/drawing/2014/main" xmlns="" id="{72A9BE0F-D240-4E4F-906B-A4AF517729CE}"/>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7249881" y="2197719"/>
            <a:ext cx="4082780" cy="4082780"/>
          </a:xfrm>
          <a:prstGeom prst="rect">
            <a:avLst/>
          </a:prstGeom>
          <a:ln/>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59BDCEE1-6B78-6D4D-97CA-87EE0284DCA5}"/>
                  </a:ext>
                </a:extLst>
              </p:cNvPr>
              <p:cNvGraphicFramePr>
                <a:graphicFrameLocks noGrp="1"/>
              </p:cNvGraphicFramePr>
              <p:nvPr>
                <p:extLst>
                  <p:ext uri="{D42A27DB-BD31-4B8C-83A1-F6EECF244321}">
                    <p14:modId xmlns:p14="http://schemas.microsoft.com/office/powerpoint/2010/main" val="4035644905"/>
                  </p:ext>
                </p:extLst>
              </p:nvPr>
            </p:nvGraphicFramePr>
            <p:xfrm>
              <a:off x="4782008" y="3596175"/>
              <a:ext cx="2171700" cy="2708910"/>
            </p:xfrm>
            <a:graphic>
              <a:graphicData uri="http://schemas.openxmlformats.org/drawingml/2006/table">
                <a:tbl>
                  <a:tblPr bandRow="1">
                    <a:tableStyleId>{A91F0D33-8C57-4600-99A7-42BC86742BE1}</a:tableStyleId>
                  </a:tblPr>
                  <a:tblGrid>
                    <a:gridCol w="1019551">
                      <a:extLst>
                        <a:ext uri="{9D8B030D-6E8A-4147-A177-3AD203B41FA5}">
                          <a16:colId xmlns:a16="http://schemas.microsoft.com/office/drawing/2014/main" xmlns="" val="975267076"/>
                        </a:ext>
                      </a:extLst>
                    </a:gridCol>
                    <a:gridCol w="1152149">
                      <a:extLst>
                        <a:ext uri="{9D8B030D-6E8A-4147-A177-3AD203B41FA5}">
                          <a16:colId xmlns:a16="http://schemas.microsoft.com/office/drawing/2014/main" xmlns="" val="3516876640"/>
                        </a:ext>
                      </a:extLst>
                    </a:gridCol>
                  </a:tblGrid>
                  <a:tr h="459740">
                    <a:tc>
                      <a:txBody>
                        <a:bodyPr/>
                        <a:lstStyle/>
                        <a:p>
                          <a:pPr marL="0" marR="0" algn="ctr">
                            <a:lnSpc>
                              <a:spcPct val="1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𝒙</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𝑻</m:t>
                                </m:r>
                                <m:r>
                                  <a:rPr lang="en-US" sz="1800">
                                    <a:effectLst/>
                                    <a:latin typeface="Cambria Math"/>
                                  </a:rPr>
                                  <m:t>(</m:t>
                                </m:r>
                                <m:r>
                                  <a:rPr lang="en-US" sz="1800">
                                    <a:effectLst/>
                                    <a:latin typeface="Cambria Math"/>
                                  </a:rPr>
                                  <m:t>𝒙</m:t>
                                </m:r>
                                <m:r>
                                  <a:rPr lang="en-US" sz="1800">
                                    <a:effectLst/>
                                    <a:latin typeface="Cambria Math"/>
                                  </a:rPr>
                                  <m:t>)</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4264327987"/>
                      </a:ext>
                    </a:extLst>
                  </a:tr>
                  <a:tr h="443230">
                    <a:tc>
                      <a:txBody>
                        <a:bodyPr/>
                        <a:lstStyle/>
                        <a:p>
                          <a:pPr marL="0" marR="0" algn="ctr">
                            <a:lnSpc>
                              <a:spcPct val="1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−4</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352</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93499975"/>
                      </a:ext>
                    </a:extLst>
                  </a:tr>
                  <a:tr h="459740">
                    <a:tc>
                      <a:txBody>
                        <a:bodyPr/>
                        <a:lstStyle/>
                        <a:p>
                          <a:pPr marL="0" marR="0" algn="ctr">
                            <a:lnSpc>
                              <a:spcPct val="1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−3.5</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539.5</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24201317"/>
                      </a:ext>
                    </a:extLst>
                  </a:tr>
                  <a:tr h="443230">
                    <a:tc>
                      <a:txBody>
                        <a:bodyPr/>
                        <a:lstStyle/>
                        <a:p>
                          <a:pPr marL="0" marR="0" algn="ctr">
                            <a:lnSpc>
                              <a:spcPct val="1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2.5</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1619.5</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40208050"/>
                      </a:ext>
                    </a:extLst>
                  </a:tr>
                  <a:tr h="459740">
                    <a:tc>
                      <a:txBody>
                        <a:bodyPr/>
                        <a:lstStyle/>
                        <a:p>
                          <a:pPr marL="0" marR="0" algn="ctr">
                            <a:lnSpc>
                              <a:spcPct val="1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4.5</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1499.5</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74525333"/>
                      </a:ext>
                    </a:extLst>
                  </a:tr>
                  <a:tr h="443230">
                    <a:tc>
                      <a:txBody>
                        <a:bodyPr/>
                        <a:lstStyle/>
                        <a:p>
                          <a:pPr marL="0" marR="0" algn="ctr">
                            <a:lnSpc>
                              <a:spcPct val="1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9</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352</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40759012"/>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59BDCEE1-6B78-6D4D-97CA-87EE0284DCA5}"/>
                  </a:ext>
                </a:extLst>
              </p:cNvPr>
              <p:cNvGraphicFramePr>
                <a:graphicFrameLocks noGrp="1"/>
              </p:cNvGraphicFramePr>
              <p:nvPr>
                <p:extLst>
                  <p:ext uri="{D42A27DB-BD31-4B8C-83A1-F6EECF244321}">
                    <p14:modId xmlns:p14="http://schemas.microsoft.com/office/powerpoint/2010/main" val="4035644905"/>
                  </p:ext>
                </p:extLst>
              </p:nvPr>
            </p:nvGraphicFramePr>
            <p:xfrm>
              <a:off x="4782008" y="3596175"/>
              <a:ext cx="2171700" cy="2708910"/>
            </p:xfrm>
            <a:graphic>
              <a:graphicData uri="http://schemas.openxmlformats.org/drawingml/2006/table">
                <a:tbl>
                  <a:tblPr bandRow="1">
                    <a:tableStyleId>{A91F0D33-8C57-4600-99A7-42BC86742BE1}</a:tableStyleId>
                  </a:tblPr>
                  <a:tblGrid>
                    <a:gridCol w="1019551">
                      <a:extLst>
                        <a:ext uri="{9D8B030D-6E8A-4147-A177-3AD203B41FA5}">
                          <a16:colId xmlns:a16="http://schemas.microsoft.com/office/drawing/2014/main" xmlns:a14="http://schemas.microsoft.com/office/drawing/2010/main" xmlns="" val="975267076"/>
                        </a:ext>
                      </a:extLst>
                    </a:gridCol>
                    <a:gridCol w="1152149">
                      <a:extLst>
                        <a:ext uri="{9D8B030D-6E8A-4147-A177-3AD203B41FA5}">
                          <a16:colId xmlns:a16="http://schemas.microsoft.com/office/drawing/2014/main" xmlns:a14="http://schemas.microsoft.com/office/drawing/2010/main" xmlns="" val="3516876640"/>
                        </a:ext>
                      </a:extLst>
                    </a:gridCol>
                  </a:tblGrid>
                  <a:tr h="45974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7"/>
                          <a:stretch>
                            <a:fillRect t="-1333" r="-112500" b="-493333"/>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7"/>
                          <a:stretch>
                            <a:fillRect l="-88889" t="-1333" b="-493333"/>
                          </a:stretch>
                        </a:blipFill>
                      </a:tcPr>
                    </a:tc>
                    <a:extLst>
                      <a:ext uri="{0D108BD9-81ED-4DB2-BD59-A6C34878D82A}">
                        <a16:rowId xmlns:a16="http://schemas.microsoft.com/office/drawing/2014/main" xmlns:a14="http://schemas.microsoft.com/office/drawing/2010/main" xmlns="" val="4264327987"/>
                      </a:ext>
                    </a:extLst>
                  </a:tr>
                  <a:tr h="44323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7"/>
                          <a:stretch>
                            <a:fillRect t="-104110" r="-112500" b="-406849"/>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7"/>
                          <a:stretch>
                            <a:fillRect l="-88889" t="-104110" b="-406849"/>
                          </a:stretch>
                        </a:blipFill>
                      </a:tcPr>
                    </a:tc>
                    <a:extLst>
                      <a:ext uri="{0D108BD9-81ED-4DB2-BD59-A6C34878D82A}">
                        <a16:rowId xmlns:a16="http://schemas.microsoft.com/office/drawing/2014/main" xmlns:a14="http://schemas.microsoft.com/office/drawing/2010/main" xmlns="" val="4293499975"/>
                      </a:ext>
                    </a:extLst>
                  </a:tr>
                  <a:tr h="45974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7"/>
                          <a:stretch>
                            <a:fillRect t="-198667" r="-112500" b="-296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7"/>
                          <a:stretch>
                            <a:fillRect l="-88889" t="-198667" b="-296000"/>
                          </a:stretch>
                        </a:blipFill>
                      </a:tcPr>
                    </a:tc>
                    <a:extLst>
                      <a:ext uri="{0D108BD9-81ED-4DB2-BD59-A6C34878D82A}">
                        <a16:rowId xmlns:a16="http://schemas.microsoft.com/office/drawing/2014/main" xmlns:a14="http://schemas.microsoft.com/office/drawing/2010/main" xmlns="" val="2624201317"/>
                      </a:ext>
                    </a:extLst>
                  </a:tr>
                  <a:tr h="44323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7"/>
                          <a:stretch>
                            <a:fillRect t="-306849" r="-112500" b="-20411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7"/>
                          <a:stretch>
                            <a:fillRect l="-88889" t="-306849" b="-204110"/>
                          </a:stretch>
                        </a:blipFill>
                      </a:tcPr>
                    </a:tc>
                    <a:extLst>
                      <a:ext uri="{0D108BD9-81ED-4DB2-BD59-A6C34878D82A}">
                        <a16:rowId xmlns:a16="http://schemas.microsoft.com/office/drawing/2014/main" xmlns:a14="http://schemas.microsoft.com/office/drawing/2010/main" xmlns="" val="3340208050"/>
                      </a:ext>
                    </a:extLst>
                  </a:tr>
                  <a:tr h="45974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7"/>
                          <a:stretch>
                            <a:fillRect t="-396000" r="-112500" b="-9866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7"/>
                          <a:stretch>
                            <a:fillRect l="-88889" t="-396000" b="-98667"/>
                          </a:stretch>
                        </a:blipFill>
                      </a:tcPr>
                    </a:tc>
                    <a:extLst>
                      <a:ext uri="{0D108BD9-81ED-4DB2-BD59-A6C34878D82A}">
                        <a16:rowId xmlns:a16="http://schemas.microsoft.com/office/drawing/2014/main" xmlns:a14="http://schemas.microsoft.com/office/drawing/2010/main" xmlns="" val="3274525333"/>
                      </a:ext>
                    </a:extLst>
                  </a:tr>
                  <a:tr h="44323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7"/>
                          <a:stretch>
                            <a:fillRect t="-509589" r="-112500" b="-137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7"/>
                          <a:stretch>
                            <a:fillRect l="-88889" t="-509589" b="-1370"/>
                          </a:stretch>
                        </a:blipFill>
                      </a:tcPr>
                    </a:tc>
                    <a:extLst>
                      <a:ext uri="{0D108BD9-81ED-4DB2-BD59-A6C34878D82A}">
                        <a16:rowId xmlns:a16="http://schemas.microsoft.com/office/drawing/2014/main" xmlns:a14="http://schemas.microsoft.com/office/drawing/2010/main" xmlns="" val="3340759012"/>
                      </a:ext>
                    </a:extLst>
                  </a:tr>
                </a:tbl>
              </a:graphicData>
            </a:graphic>
          </p:graphicFrame>
        </mc:Fallback>
      </mc:AlternateContent>
    </p:spTree>
    <p:extLst>
      <p:ext uri="{BB962C8B-B14F-4D97-AF65-F5344CB8AC3E}">
        <p14:creationId xmlns:p14="http://schemas.microsoft.com/office/powerpoint/2010/main" val="777346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79</a:t>
            </a:r>
            <a:endParaRPr i="1" dirty="0">
              <a:latin typeface="Calibri"/>
              <a:ea typeface="Calibri"/>
              <a:cs typeface="Calibri"/>
              <a:sym typeface="Calibri"/>
            </a:endParaRPr>
          </a:p>
        </p:txBody>
      </p:sp>
      <p:sp>
        <p:nvSpPr>
          <p:cNvPr id="8" name="TextBox 7">
            <a:extLst>
              <a:ext uri="{FF2B5EF4-FFF2-40B4-BE49-F238E27FC236}">
                <a16:creationId xmlns:a16="http://schemas.microsoft.com/office/drawing/2014/main" xmlns="" id="{D3B69826-710C-5C42-B1BE-7650D7DCC769}"/>
              </a:ext>
            </a:extLst>
          </p:cNvPr>
          <p:cNvSpPr txBox="1"/>
          <p:nvPr/>
        </p:nvSpPr>
        <p:spPr>
          <a:xfrm>
            <a:off x="532660" y="377655"/>
            <a:ext cx="10515600" cy="156966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Write the quadratic function in both vertex and standard form that models the context. Show your work. Then, write the equations in the table in problem 3.</a:t>
            </a:r>
          </a:p>
        </p:txBody>
      </p:sp>
    </p:spTree>
    <p:extLst>
      <p:ext uri="{BB962C8B-B14F-4D97-AF65-F5344CB8AC3E}">
        <p14:creationId xmlns:p14="http://schemas.microsoft.com/office/powerpoint/2010/main" val="1211833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8AE5E1E0-A54D-BE42-84B5-F917038ADE99}"/>
                  </a:ext>
                </a:extLst>
              </p:cNvPr>
              <p:cNvSpPr txBox="1"/>
              <p:nvPr/>
            </p:nvSpPr>
            <p:spPr>
              <a:xfrm>
                <a:off x="532661" y="378226"/>
                <a:ext cx="10515600" cy="4708981"/>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 botanist was monitoring the growth of a type of tree during its first year. The botanist measured the heights of the trees in micrometers and the amount of rain they received in inches.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44500"/>
                <a:r>
                  <a:rPr lang="en-US" sz="2000" dirty="0">
                    <a:latin typeface="Verdana" panose="020B0604030504040204" pitchFamily="34" charset="0"/>
                    <a:ea typeface="Verdana" panose="020B0604030504040204" pitchFamily="34" charset="0"/>
                    <a:cs typeface="Verdana" panose="020B0604030504040204" pitchFamily="34" charset="0"/>
                  </a:rPr>
                  <a:t>The botanist discovered the trees grew to an average height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90,671</m:t>
                    </m:r>
                  </m:oMath>
                </a14:m>
                <a:r>
                  <a:rPr lang="en-US" sz="2000" dirty="0">
                    <a:latin typeface="Verdana" panose="020B0604030504040204" pitchFamily="34" charset="0"/>
                    <a:ea typeface="Verdana" panose="020B0604030504040204" pitchFamily="34" charset="0"/>
                    <a:cs typeface="Verdana" panose="020B0604030504040204" pitchFamily="34" charset="0"/>
                  </a:rPr>
                  <a:t> micrometers when there was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inch of rain or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43</m:t>
                    </m:r>
                  </m:oMath>
                </a14:m>
                <a:r>
                  <a:rPr lang="en-US" sz="2000" dirty="0">
                    <a:latin typeface="Verdana" panose="020B0604030504040204" pitchFamily="34" charset="0"/>
                    <a:ea typeface="Verdana" panose="020B0604030504040204" pitchFamily="34" charset="0"/>
                    <a:cs typeface="Verdana" panose="020B0604030504040204" pitchFamily="34" charset="0"/>
                  </a:rPr>
                  <a:t> inches of rain. The trees averaged the tallest height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245,462</m:t>
                    </m:r>
                  </m:oMath>
                </a14:m>
                <a:r>
                  <a:rPr lang="en-US" sz="2000" dirty="0">
                    <a:latin typeface="Verdana" panose="020B0604030504040204" pitchFamily="34" charset="0"/>
                    <a:ea typeface="Verdana" panose="020B0604030504040204" pitchFamily="34" charset="0"/>
                    <a:cs typeface="Verdana" panose="020B0604030504040204" pitchFamily="34" charset="0"/>
                  </a:rPr>
                  <a:t> micrometers when there was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22</m:t>
                    </m:r>
                  </m:oMath>
                </a14:m>
                <a:r>
                  <a:rPr lang="en-US" sz="2000" dirty="0">
                    <a:latin typeface="Verdana" panose="020B0604030504040204" pitchFamily="34" charset="0"/>
                    <a:ea typeface="Verdana" panose="020B0604030504040204" pitchFamily="34" charset="0"/>
                    <a:cs typeface="Verdana" panose="020B0604030504040204" pitchFamily="34" charset="0"/>
                  </a:rPr>
                  <a:t> inches of rain.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44500"/>
                <a:r>
                  <a:rPr lang="en-US" sz="2000" dirty="0">
                    <a:latin typeface="Verdana" panose="020B0604030504040204" pitchFamily="34" charset="0"/>
                    <a:ea typeface="Verdana" panose="020B0604030504040204" pitchFamily="34" charset="0"/>
                    <a:cs typeface="Verdana" panose="020B0604030504040204" pitchFamily="34" charset="0"/>
                  </a:rPr>
                  <a:t>Write the equation for the quadratic function of the average height of this type of tree in micrometers, 𝐻, as a function of the inches of rain, 𝑥, in vertex and standard form. Show your work below. Then, write the equations in the table in problem 3.</a:t>
                </a: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532661" y="378226"/>
                <a:ext cx="10515600" cy="4708981"/>
              </a:xfrm>
              <a:prstGeom prst="rect">
                <a:avLst/>
              </a:prstGeom>
              <a:blipFill rotWithShape="1">
                <a:blip r:embed="rId4"/>
                <a:stretch>
                  <a:fillRect l="-580" t="-776" r="-812"/>
                </a:stretch>
              </a:blipFill>
            </p:spPr>
            <p:txBody>
              <a:bodyPr/>
              <a:lstStyle/>
              <a:p>
                <a:r>
                  <a:rPr lang="en-PH">
                    <a:noFill/>
                  </a:rPr>
                  <a:t> </a:t>
                </a:r>
              </a:p>
            </p:txBody>
          </p:sp>
        </mc:Fallback>
      </mc:AlternateContent>
    </p:spTree>
    <p:extLst>
      <p:ext uri="{BB962C8B-B14F-4D97-AF65-F5344CB8AC3E}">
        <p14:creationId xmlns:p14="http://schemas.microsoft.com/office/powerpoint/2010/main" val="346887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79</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xmlns="" id="{8AE5E1E0-A54D-BE42-84B5-F917038ADE99}"/>
              </a:ext>
            </a:extLst>
          </p:cNvPr>
          <p:cNvSpPr txBox="1"/>
          <p:nvPr/>
        </p:nvSpPr>
        <p:spPr>
          <a:xfrm>
            <a:off x="528888" y="384420"/>
            <a:ext cx="10800000" cy="1938992"/>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Ask another pair of students to check your work for the two quadratic equations you wrote for each context, while you and your partner check their work. If necessary, correct any errors. Each person should write their initials next to your equations stating that your equations are correct or were corrected after fixing any errors.</a:t>
            </a:r>
          </a:p>
        </p:txBody>
      </p:sp>
      <p:graphicFrame>
        <p:nvGraphicFramePr>
          <p:cNvPr id="2" name="Table 1">
            <a:extLst>
              <a:ext uri="{FF2B5EF4-FFF2-40B4-BE49-F238E27FC236}">
                <a16:creationId xmlns:a16="http://schemas.microsoft.com/office/drawing/2014/main" xmlns="" id="{562FF479-F4B4-A24A-8A0A-4E16A690F985}"/>
              </a:ext>
            </a:extLst>
          </p:cNvPr>
          <p:cNvGraphicFramePr>
            <a:graphicFrameLocks noGrp="1"/>
          </p:cNvGraphicFramePr>
          <p:nvPr>
            <p:extLst>
              <p:ext uri="{D42A27DB-BD31-4B8C-83A1-F6EECF244321}">
                <p14:modId xmlns:p14="http://schemas.microsoft.com/office/powerpoint/2010/main" val="3246407667"/>
              </p:ext>
            </p:extLst>
          </p:nvPr>
        </p:nvGraphicFramePr>
        <p:xfrm>
          <a:off x="1116765" y="2221497"/>
          <a:ext cx="10080000" cy="2296800"/>
        </p:xfrm>
        <a:graphic>
          <a:graphicData uri="http://schemas.openxmlformats.org/drawingml/2006/table">
            <a:tbl>
              <a:tblPr bandRow="1">
                <a:tableStyleId>{A91F0D33-8C57-4600-99A7-42BC86742BE1}</a:tableStyleId>
              </a:tblPr>
              <a:tblGrid>
                <a:gridCol w="2520000">
                  <a:extLst>
                    <a:ext uri="{9D8B030D-6E8A-4147-A177-3AD203B41FA5}">
                      <a16:colId xmlns:a16="http://schemas.microsoft.com/office/drawing/2014/main" xmlns="" val="2592533244"/>
                    </a:ext>
                  </a:extLst>
                </a:gridCol>
                <a:gridCol w="2520000">
                  <a:extLst>
                    <a:ext uri="{9D8B030D-6E8A-4147-A177-3AD203B41FA5}">
                      <a16:colId xmlns:a16="http://schemas.microsoft.com/office/drawing/2014/main" xmlns="" val="2547624192"/>
                    </a:ext>
                  </a:extLst>
                </a:gridCol>
                <a:gridCol w="2520000">
                  <a:extLst>
                    <a:ext uri="{9D8B030D-6E8A-4147-A177-3AD203B41FA5}">
                      <a16:colId xmlns:a16="http://schemas.microsoft.com/office/drawing/2014/main" xmlns="" val="753522953"/>
                    </a:ext>
                  </a:extLst>
                </a:gridCol>
                <a:gridCol w="2520000">
                  <a:extLst>
                    <a:ext uri="{9D8B030D-6E8A-4147-A177-3AD203B41FA5}">
                      <a16:colId xmlns:a16="http://schemas.microsoft.com/office/drawing/2014/main" xmlns="" val="1131276742"/>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Context</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Vertex Form</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Standard Form</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Initials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3902642230"/>
                  </a:ext>
                </a:extLst>
              </a:tr>
              <a:tr h="81026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Movie Tickets</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9932349"/>
                  </a:ext>
                </a:extLst>
              </a:tr>
              <a:tr h="81026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Tree Height</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17418833"/>
                  </a:ext>
                </a:extLst>
              </a:tr>
            </a:tbl>
          </a:graphicData>
        </a:graphic>
      </p:graphicFrame>
    </p:spTree>
    <p:extLst>
      <p:ext uri="{BB962C8B-B14F-4D97-AF65-F5344CB8AC3E}">
        <p14:creationId xmlns:p14="http://schemas.microsoft.com/office/powerpoint/2010/main" val="39610780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80</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xmlns="" id="{758FF271-6581-5740-BCCD-706D33EA7E3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49925"/>
            <a:ext cx="1158150" cy="115815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5363419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49506" y="0"/>
            <a:ext cx="830664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E24E5F"/>
                </a:solidFill>
                <a:latin typeface="Verdana"/>
                <a:ea typeface="Verdana"/>
                <a:cs typeface="Verdana"/>
                <a:sym typeface="Verdana"/>
              </a:rPr>
              <a:t>9.4.4 Your Turn!</a:t>
            </a:r>
          </a:p>
        </p:txBody>
      </p:sp>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xmlns="" id="{FE208A00-51E7-C544-ABDE-AE9DC3DAAB4C}"/>
                  </a:ext>
                </a:extLst>
              </p:cNvPr>
              <p:cNvSpPr>
                <a:spLocks noChangeArrowheads="1"/>
              </p:cNvSpPr>
              <p:nvPr/>
            </p:nvSpPr>
            <p:spPr bwMode="auto">
              <a:xfrm>
                <a:off x="532660" y="1464740"/>
                <a:ext cx="10800000" cy="317009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Izaak and Mylee just bought a house with open land in the backyard. The previous owner left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400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linear feet of fencing. Izaak and Mylee want to construct the fence to give their two dogs the most area possible to play in the backyard. If they make the length of the fence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80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linear feet or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120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linear feet, the dogs will have a play area of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9,600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square feet. However, if Izaak and Mylee make the length of the fence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linear feet, they will be able to create a maximum area of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10,000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square feet.</a:t>
                </a:r>
              </a:p>
              <a:p>
                <a:pPr lvl="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marL="44450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area of play for the dogs, 𝐴, in square feet is a function of the length of the fence, 𝑥, in linear feet. </a:t>
                </a:r>
              </a:p>
            </p:txBody>
          </p:sp>
        </mc:Choice>
        <mc:Fallback xmlns="">
          <p:sp>
            <p:nvSpPr>
              <p:cNvPr id="4" name="Rectangle 3">
                <a:extLst>
                  <a:ext uri="{FF2B5EF4-FFF2-40B4-BE49-F238E27FC236}">
                    <a16:creationId xmlns:a16="http://schemas.microsoft.com/office/drawing/2014/main" xmlns:a14="http://schemas.microsoft.com/office/drawing/2010/main" xmlns="" id="{FE208A00-51E7-C544-ABDE-AE9DC3DAAB4C}"/>
                  </a:ext>
                </a:extLst>
              </p:cNvPr>
              <p:cNvSpPr>
                <a:spLocks noRot="1" noChangeAspect="1" noMove="1" noResize="1" noEditPoints="1" noAdjustHandles="1" noChangeArrowheads="1" noChangeShapeType="1" noTextEdit="1"/>
              </p:cNvSpPr>
              <p:nvPr/>
            </p:nvSpPr>
            <p:spPr bwMode="auto">
              <a:xfrm>
                <a:off x="532660" y="1464740"/>
                <a:ext cx="10800000" cy="3170099"/>
              </a:xfrm>
              <a:prstGeom prst="rect">
                <a:avLst/>
              </a:prstGeom>
              <a:blipFill rotWithShape="1">
                <a:blip r:embed="rId4"/>
                <a:stretch>
                  <a:fillRect l="-564" t="-1154" r="-1354" b="-25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PH">
                    <a:noFill/>
                  </a:rPr>
                  <a:t> </a:t>
                </a:r>
              </a:p>
            </p:txBody>
          </p:sp>
        </mc:Fallback>
      </mc:AlternateContent>
      <p:pic>
        <p:nvPicPr>
          <p:cNvPr id="15" name="Picture 14" descr="Icon&#10;&#10;Description automatically generated">
            <a:extLst>
              <a:ext uri="{FF2B5EF4-FFF2-40B4-BE49-F238E27FC236}">
                <a16:creationId xmlns:a16="http://schemas.microsoft.com/office/drawing/2014/main" xmlns="" id="{2B53F9A7-2434-5D4E-B654-257F5CF1B6B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36744" y="292109"/>
            <a:ext cx="747301" cy="747301"/>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480712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80</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xmlns="" id="{6BC7DE27-D38B-5941-8EBB-BEB653876C7F}"/>
              </a:ext>
            </a:extLst>
          </p:cNvPr>
          <p:cNvSpPr>
            <a:spLocks noChangeArrowheads="1"/>
          </p:cNvSpPr>
          <p:nvPr/>
        </p:nvSpPr>
        <p:spPr bwMode="auto">
          <a:xfrm>
            <a:off x="532661" y="379367"/>
            <a:ext cx="105156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00113" indent="-457200"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What is the point (𝑥, 𝑦) where the dogs will have the maximum fenced in area?</a:t>
            </a:r>
          </a:p>
          <a:p>
            <a:pPr marL="90011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Identify one other point from the context.</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80220B50-6F7A-AB44-A10A-DAFD9B3B36B6}"/>
                  </a:ext>
                </a:extLst>
              </p:cNvPr>
              <p:cNvGraphicFramePr>
                <a:graphicFrameLocks noGrp="1"/>
              </p:cNvGraphicFramePr>
              <p:nvPr>
                <p:extLst>
                  <p:ext uri="{D42A27DB-BD31-4B8C-83A1-F6EECF244321}">
                    <p14:modId xmlns:p14="http://schemas.microsoft.com/office/powerpoint/2010/main" val="2695263879"/>
                  </p:ext>
                </p:extLst>
              </p:nvPr>
            </p:nvGraphicFramePr>
            <p:xfrm>
              <a:off x="1572874" y="3933880"/>
              <a:ext cx="6791325" cy="1188000"/>
            </p:xfrm>
            <a:graphic>
              <a:graphicData uri="http://schemas.openxmlformats.org/drawingml/2006/table">
                <a:tbl>
                  <a:tblPr bandRow="1">
                    <a:tableStyleId>{A91F0D33-8C57-4600-99A7-42BC86742BE1}</a:tableStyleId>
                  </a:tblPr>
                  <a:tblGrid>
                    <a:gridCol w="3472548">
                      <a:extLst>
                        <a:ext uri="{9D8B030D-6E8A-4147-A177-3AD203B41FA5}">
                          <a16:colId xmlns:a16="http://schemas.microsoft.com/office/drawing/2014/main" xmlns="" val="55743640"/>
                        </a:ext>
                      </a:extLst>
                    </a:gridCol>
                    <a:gridCol w="3318777">
                      <a:extLst>
                        <a:ext uri="{9D8B030D-6E8A-4147-A177-3AD203B41FA5}">
                          <a16:colId xmlns:a16="http://schemas.microsoft.com/office/drawing/2014/main" xmlns="" val="2413370079"/>
                        </a:ext>
                      </a:extLst>
                    </a:gridCol>
                  </a:tblGrid>
                  <a:tr h="468000">
                    <a:tc>
                      <a:txBody>
                        <a:bodyPr/>
                        <a:lstStyle/>
                        <a:p>
                          <a:pPr marL="50165" marR="0" indent="-50165"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Vertex </a:t>
                          </a:r>
                          <a14:m>
                            <m:oMath xmlns:m="http://schemas.openxmlformats.org/officeDocument/2006/math">
                              <m:r>
                                <a:rPr lang="en-US" sz="1800" b="1" i="1" dirty="0" smtClean="0">
                                  <a:effectLst/>
                                  <a:latin typeface="Cambria Math"/>
                                </a:rPr>
                                <m:t>(</m:t>
                              </m:r>
                              <m:r>
                                <a:rPr lang="en-US" sz="1800" b="1" i="1" dirty="0" smtClean="0">
                                  <a:effectLst/>
                                  <a:latin typeface="Cambria Math"/>
                                </a:rPr>
                                <m:t>𝒉</m:t>
                              </m:r>
                              <m:r>
                                <a:rPr lang="en-US" sz="1800" b="1" i="1" dirty="0" smtClean="0">
                                  <a:effectLst/>
                                  <a:latin typeface="Cambria Math"/>
                                </a:rPr>
                                <m:t>, </m:t>
                              </m:r>
                              <m:r>
                                <a:rPr lang="en-US" sz="1800" b="1" i="1" dirty="0" smtClean="0">
                                  <a:effectLst/>
                                  <a:latin typeface="Cambria Math"/>
                                </a:rPr>
                                <m:t>𝒌</m:t>
                              </m:r>
                              <m:r>
                                <a:rPr lang="en-US" sz="1800" b="1" i="1" dirty="0" smtClean="0">
                                  <a:effectLst/>
                                  <a:latin typeface="Cambria Math"/>
                                </a:rPr>
                                <m:t>)</m:t>
                              </m:r>
                            </m:oMath>
                          </a14:m>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50165" marR="0" indent="-50165"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b="1" i="1" dirty="0" smtClean="0">
                                  <a:effectLst/>
                                  <a:latin typeface="Cambria Math"/>
                                </a:rPr>
                                <m:t>(</m:t>
                              </m:r>
                              <m:r>
                                <a:rPr lang="en-US" sz="1800" b="1" i="1" dirty="0" err="1" smtClean="0">
                                  <a:effectLst/>
                                  <a:latin typeface="Cambria Math"/>
                                </a:rPr>
                                <m:t>𝒙</m:t>
                              </m:r>
                              <m:r>
                                <a:rPr lang="en-US" sz="1800" b="1" i="1" dirty="0" err="1" smtClean="0">
                                  <a:effectLst/>
                                  <a:latin typeface="Cambria Math"/>
                                </a:rPr>
                                <m:t>,</m:t>
                              </m:r>
                              <m:r>
                                <a:rPr lang="en-US" sz="1800" b="1" i="1" dirty="0" err="1" smtClean="0">
                                  <a:effectLst/>
                                  <a:latin typeface="Cambria Math"/>
                                </a:rPr>
                                <m:t>𝑨</m:t>
                              </m:r>
                              <m:r>
                                <a:rPr lang="en-US" sz="1800" b="1" i="1" dirty="0" smtClean="0">
                                  <a:effectLst/>
                                  <a:latin typeface="Cambria Math"/>
                                </a:rPr>
                                <m:t>(</m:t>
                              </m:r>
                              <m:r>
                                <a:rPr lang="en-US" sz="1800" b="1" i="1" dirty="0" smtClean="0">
                                  <a:effectLst/>
                                  <a:latin typeface="Cambria Math"/>
                                </a:rPr>
                                <m:t>𝒙</m:t>
                              </m:r>
                              <m:r>
                                <a:rPr lang="en-US" sz="1800" b="1" i="1" dirty="0" smtClean="0">
                                  <a:effectLst/>
                                  <a:latin typeface="Cambria Math"/>
                                </a:rPr>
                                <m:t>))</m:t>
                              </m:r>
                            </m:oMath>
                          </a14:m>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3152038183"/>
                      </a:ext>
                    </a:extLst>
                  </a:tr>
                  <a:tr h="720000">
                    <a:tc>
                      <a:txBody>
                        <a:bodyPr/>
                        <a:lstStyle/>
                        <a:p>
                          <a:pPr marL="50165" marR="0" indent="-50165"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(_____ , _____)</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50165" marR="0" indent="-50165"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(_____ , _____)</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25451659"/>
                      </a:ext>
                    </a:extLst>
                  </a:tr>
                </a:tbl>
              </a:graphicData>
            </a:graphic>
          </p:graphicFrame>
        </mc:Choice>
        <mc:Fallback xmlns="">
          <p:graphicFrame>
            <p:nvGraphicFramePr>
              <p:cNvPr id="2" name="Table 1">
                <a:extLst>
                  <a:ext uri="{FF2B5EF4-FFF2-40B4-BE49-F238E27FC236}">
                    <a16:creationId xmlns:a16="http://schemas.microsoft.com/office/drawing/2014/main" xmlns:a14="http://schemas.microsoft.com/office/drawing/2010/main" xmlns="" id="{80220B50-6F7A-AB44-A10A-DAFD9B3B36B6}"/>
                  </a:ext>
                </a:extLst>
              </p:cNvPr>
              <p:cNvGraphicFramePr>
                <a:graphicFrameLocks noGrp="1"/>
              </p:cNvGraphicFramePr>
              <p:nvPr>
                <p:extLst>
                  <p:ext uri="{D42A27DB-BD31-4B8C-83A1-F6EECF244321}">
                    <p14:modId xmlns:p14="http://schemas.microsoft.com/office/powerpoint/2010/main" val="2695263879"/>
                  </p:ext>
                </p:extLst>
              </p:nvPr>
            </p:nvGraphicFramePr>
            <p:xfrm>
              <a:off x="1572874" y="3933880"/>
              <a:ext cx="6791325" cy="1188000"/>
            </p:xfrm>
            <a:graphic>
              <a:graphicData uri="http://schemas.openxmlformats.org/drawingml/2006/table">
                <a:tbl>
                  <a:tblPr bandRow="1">
                    <a:tableStyleId>{A91F0D33-8C57-4600-99A7-42BC86742BE1}</a:tableStyleId>
                  </a:tblPr>
                  <a:tblGrid>
                    <a:gridCol w="3472548">
                      <a:extLst>
                        <a:ext uri="{9D8B030D-6E8A-4147-A177-3AD203B41FA5}">
                          <a16:colId xmlns:a16="http://schemas.microsoft.com/office/drawing/2014/main" xmlns:a14="http://schemas.microsoft.com/office/drawing/2010/main" xmlns="" val="55743640"/>
                        </a:ext>
                      </a:extLst>
                    </a:gridCol>
                    <a:gridCol w="3318777">
                      <a:extLst>
                        <a:ext uri="{9D8B030D-6E8A-4147-A177-3AD203B41FA5}">
                          <a16:colId xmlns:a16="http://schemas.microsoft.com/office/drawing/2014/main" xmlns:a14="http://schemas.microsoft.com/office/drawing/2010/main" xmlns="" val="2413370079"/>
                        </a:ext>
                      </a:extLst>
                    </a:gridCol>
                  </a:tblGrid>
                  <a:tr h="468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r="-95614" b="-154545"/>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4779" r="-184" b="-154545"/>
                          </a:stretch>
                        </a:blipFill>
                      </a:tcPr>
                    </a:tc>
                    <a:extLst>
                      <a:ext uri="{0D108BD9-81ED-4DB2-BD59-A6C34878D82A}">
                        <a16:rowId xmlns:a16="http://schemas.microsoft.com/office/drawing/2014/main" xmlns:a14="http://schemas.microsoft.com/office/drawing/2010/main" xmlns="" val="3152038183"/>
                      </a:ext>
                    </a:extLst>
                  </a:tr>
                  <a:tr h="72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65254" r="-95614" b="-84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4779" t="-65254" r="-184" b="-847"/>
                          </a:stretch>
                        </a:blipFill>
                      </a:tcPr>
                    </a:tc>
                    <a:extLst>
                      <a:ext uri="{0D108BD9-81ED-4DB2-BD59-A6C34878D82A}">
                        <a16:rowId xmlns:a16="http://schemas.microsoft.com/office/drawing/2014/main" xmlns:a14="http://schemas.microsoft.com/office/drawing/2010/main" xmlns="" val="1825451659"/>
                      </a:ext>
                    </a:extLst>
                  </a:tr>
                </a:tbl>
              </a:graphicData>
            </a:graphic>
          </p:graphicFrame>
        </mc:Fallback>
      </mc:AlternateContent>
    </p:spTree>
    <p:extLst>
      <p:ext uri="{BB962C8B-B14F-4D97-AF65-F5344CB8AC3E}">
        <p14:creationId xmlns:p14="http://schemas.microsoft.com/office/powerpoint/2010/main" val="749194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80</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xmlns="" id="{6BC7DE27-D38B-5941-8EBB-BEB653876C7F}"/>
              </a:ext>
            </a:extLst>
          </p:cNvPr>
          <p:cNvSpPr>
            <a:spLocks noChangeArrowheads="1"/>
          </p:cNvSpPr>
          <p:nvPr/>
        </p:nvSpPr>
        <p:spPr bwMode="auto">
          <a:xfrm>
            <a:off x="532659" y="382729"/>
            <a:ext cx="10515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00113" indent="-457200" eaLnBrk="0" fontAlgn="base" hangingPunct="0">
              <a:spcBef>
                <a:spcPct val="0"/>
              </a:spcBef>
              <a:spcAft>
                <a:spcPct val="0"/>
              </a:spcAft>
              <a:buClrTx/>
              <a:buFont typeface="+mj-lt"/>
              <a:buAutoNum type="alphaLcPeriod" startAt="3"/>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Using the vertex and point, write the quadratic function in vertex form.</a:t>
            </a:r>
          </a:p>
        </p:txBody>
      </p:sp>
      <p:graphicFrame>
        <p:nvGraphicFramePr>
          <p:cNvPr id="3" name="Table 2">
            <a:extLst>
              <a:ext uri="{FF2B5EF4-FFF2-40B4-BE49-F238E27FC236}">
                <a16:creationId xmlns:a16="http://schemas.microsoft.com/office/drawing/2014/main" xmlns="" id="{4716928A-631C-9848-A7BD-1FDEE2350D87}"/>
              </a:ext>
            </a:extLst>
          </p:cNvPr>
          <p:cNvGraphicFramePr>
            <a:graphicFrameLocks noGrp="1"/>
          </p:cNvGraphicFramePr>
          <p:nvPr>
            <p:extLst>
              <p:ext uri="{D42A27DB-BD31-4B8C-83A1-F6EECF244321}">
                <p14:modId xmlns:p14="http://schemas.microsoft.com/office/powerpoint/2010/main" val="3169300646"/>
              </p:ext>
            </p:extLst>
          </p:nvPr>
        </p:nvGraphicFramePr>
        <p:xfrm>
          <a:off x="2522785" y="1439501"/>
          <a:ext cx="6791325" cy="810895"/>
        </p:xfrm>
        <a:graphic>
          <a:graphicData uri="http://schemas.openxmlformats.org/drawingml/2006/table">
            <a:tbl>
              <a:tblPr bandRow="1">
                <a:tableStyleId>{A91F0D33-8C57-4600-99A7-42BC86742BE1}</a:tableStyleId>
              </a:tblPr>
              <a:tblGrid>
                <a:gridCol w="2721227">
                  <a:extLst>
                    <a:ext uri="{9D8B030D-6E8A-4147-A177-3AD203B41FA5}">
                      <a16:colId xmlns:a16="http://schemas.microsoft.com/office/drawing/2014/main" xmlns="" val="157600197"/>
                    </a:ext>
                  </a:extLst>
                </a:gridCol>
                <a:gridCol w="4070098">
                  <a:extLst>
                    <a:ext uri="{9D8B030D-6E8A-4147-A177-3AD203B41FA5}">
                      <a16:colId xmlns:a16="http://schemas.microsoft.com/office/drawing/2014/main" xmlns="" val="3356220525"/>
                    </a:ext>
                  </a:extLst>
                </a:gridCol>
              </a:tblGrid>
              <a:tr h="810895">
                <a:tc>
                  <a:txBody>
                    <a:bodyPr/>
                    <a:lstStyle/>
                    <a:p>
                      <a:pPr marL="107315" marR="0" indent="-107315"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Vertex Form</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107315" marR="0" indent="-107315">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4479752"/>
                  </a:ext>
                </a:extLst>
              </a:tr>
            </a:tbl>
          </a:graphicData>
        </a:graphic>
      </p:graphicFrame>
    </p:spTree>
    <p:extLst>
      <p:ext uri="{BB962C8B-B14F-4D97-AF65-F5344CB8AC3E}">
        <p14:creationId xmlns:p14="http://schemas.microsoft.com/office/powerpoint/2010/main" val="36826429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xmlns="" id="{6BC7DE27-D38B-5941-8EBB-BEB653876C7F}"/>
                  </a:ext>
                </a:extLst>
              </p:cNvPr>
              <p:cNvSpPr>
                <a:spLocks noChangeArrowheads="1"/>
              </p:cNvSpPr>
              <p:nvPr/>
            </p:nvSpPr>
            <p:spPr bwMode="auto">
              <a:xfrm>
                <a:off x="532660" y="382949"/>
                <a:ext cx="10800000" cy="304698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An Olympic diver is preparing for his upcoming diving competition. He must execute his dive off of a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foot high diving board. In order to have enough time to execute all the twists and flips, after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seconds he needs to be at a height of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14</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feet. After </a:t>
                </a:r>
                <a:r>
                  <a:rPr lang="en-US" altLang="en-US" sz="24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r>
                <a:br>
                  <a:rPr lang="en-US" altLang="en-US" sz="24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4</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seconds, he needs to be back at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feet above the water for his last flip as he finishes his dive.</a:t>
                </a: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4450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diver’s height in feet, 𝐻, is a function of time in seconds, 𝑥.</a:t>
                </a:r>
              </a:p>
            </p:txBody>
          </p:sp>
        </mc:Choice>
        <mc:Fallback xmlns="">
          <p:sp>
            <p:nvSpPr>
              <p:cNvPr id="6" name="Rectangle 5">
                <a:extLst>
                  <a:ext uri="{FF2B5EF4-FFF2-40B4-BE49-F238E27FC236}">
                    <a16:creationId xmlns:a16="http://schemas.microsoft.com/office/drawing/2014/main" xmlns:a14="http://schemas.microsoft.com/office/drawing/2010/main" xmlns="" id="{6BC7DE27-D38B-5941-8EBB-BEB653876C7F}"/>
                  </a:ext>
                </a:extLst>
              </p:cNvPr>
              <p:cNvSpPr>
                <a:spLocks noRot="1" noChangeAspect="1" noMove="1" noResize="1" noEditPoints="1" noAdjustHandles="1" noChangeArrowheads="1" noChangeShapeType="1" noTextEdit="1"/>
              </p:cNvSpPr>
              <p:nvPr/>
            </p:nvSpPr>
            <p:spPr bwMode="auto">
              <a:xfrm>
                <a:off x="532660" y="382949"/>
                <a:ext cx="10800000" cy="3046988"/>
              </a:xfrm>
              <a:prstGeom prst="rect">
                <a:avLst/>
              </a:prstGeom>
              <a:blipFill rotWithShape="1">
                <a:blip r:embed="rId4"/>
                <a:stretch>
                  <a:fillRect l="-847" t="-1600" r="-1298" b="-36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PH">
                    <a:noFill/>
                  </a:rPr>
                  <a:t> </a:t>
                </a:r>
              </a:p>
            </p:txBody>
          </p:sp>
        </mc:Fallback>
      </mc:AlternateContent>
    </p:spTree>
    <p:extLst>
      <p:ext uri="{BB962C8B-B14F-4D97-AF65-F5344CB8AC3E}">
        <p14:creationId xmlns:p14="http://schemas.microsoft.com/office/powerpoint/2010/main" val="2690006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80</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xmlns="" id="{6BC7DE27-D38B-5941-8EBB-BEB653876C7F}"/>
              </a:ext>
            </a:extLst>
          </p:cNvPr>
          <p:cNvSpPr>
            <a:spLocks noChangeArrowheads="1"/>
          </p:cNvSpPr>
          <p:nvPr/>
        </p:nvSpPr>
        <p:spPr bwMode="auto">
          <a:xfrm>
            <a:off x="532661" y="382521"/>
            <a:ext cx="105156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900113" indent="-457200"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Identify the vertex and one additional point of the function from the context</a:t>
            </a:r>
            <a:r>
              <a:rPr lang="en-US" altLang="en-US" sz="24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p>
          <a:p>
            <a:pPr marL="900113" indent="-457200" eaLnBrk="0" fontAlgn="base" hangingPunct="0">
              <a:spcBef>
                <a:spcPct val="0"/>
              </a:spcBef>
              <a:spcAft>
                <a:spcPct val="0"/>
              </a:spcAft>
              <a:buClrTx/>
              <a:buFont typeface="+mj-lt"/>
              <a:buAutoNum type="alphaLcPeriod"/>
            </a:pPr>
            <a:endParaRPr lang="en-US" altLang="en-US" sz="24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a:pPr>
            <a:endParaRPr lang="en-US" altLang="en-US" sz="24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a:pPr>
            <a:endParaRPr lang="en-US" altLang="en-US" sz="24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Write the quadratic function in standard form</a:t>
            </a:r>
            <a:r>
              <a:rPr lang="en-US" altLang="en-US" sz="24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26CDB1D6-D5F1-7D47-8020-B3462D60A24B}"/>
                  </a:ext>
                </a:extLst>
              </p:cNvPr>
              <p:cNvGraphicFramePr>
                <a:graphicFrameLocks noGrp="1"/>
              </p:cNvGraphicFramePr>
              <p:nvPr>
                <p:extLst>
                  <p:ext uri="{D42A27DB-BD31-4B8C-83A1-F6EECF244321}">
                    <p14:modId xmlns:p14="http://schemas.microsoft.com/office/powerpoint/2010/main" val="3848760342"/>
                  </p:ext>
                </p:extLst>
              </p:nvPr>
            </p:nvGraphicFramePr>
            <p:xfrm>
              <a:off x="1557291" y="1361348"/>
              <a:ext cx="6858000" cy="1188000"/>
            </p:xfrm>
            <a:graphic>
              <a:graphicData uri="http://schemas.openxmlformats.org/drawingml/2006/table">
                <a:tbl>
                  <a:tblPr bandRow="1">
                    <a:tableStyleId>{A91F0D33-8C57-4600-99A7-42BC86742BE1}</a:tableStyleId>
                  </a:tblPr>
                  <a:tblGrid>
                    <a:gridCol w="3470275">
                      <a:extLst>
                        <a:ext uri="{9D8B030D-6E8A-4147-A177-3AD203B41FA5}">
                          <a16:colId xmlns:a16="http://schemas.microsoft.com/office/drawing/2014/main" xmlns="" val="4203662421"/>
                        </a:ext>
                      </a:extLst>
                    </a:gridCol>
                    <a:gridCol w="3387725">
                      <a:extLst>
                        <a:ext uri="{9D8B030D-6E8A-4147-A177-3AD203B41FA5}">
                          <a16:colId xmlns:a16="http://schemas.microsoft.com/office/drawing/2014/main" xmlns="" val="2210667655"/>
                        </a:ext>
                      </a:extLst>
                    </a:gridCol>
                  </a:tblGrid>
                  <a:tr h="468000">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Vertex </a:t>
                          </a:r>
                          <a14:m>
                            <m:oMath xmlns:m="http://schemas.openxmlformats.org/officeDocument/2006/math">
                              <m:r>
                                <a:rPr lang="en-US" sz="1800" b="1" i="1" dirty="0" smtClean="0">
                                  <a:effectLst/>
                                  <a:latin typeface="Cambria Math"/>
                                </a:rPr>
                                <m:t>(</m:t>
                              </m:r>
                              <m:r>
                                <a:rPr lang="en-US" sz="1800" b="1" i="1" dirty="0" smtClean="0">
                                  <a:effectLst/>
                                  <a:latin typeface="Cambria Math"/>
                                </a:rPr>
                                <m:t>𝒉</m:t>
                              </m:r>
                              <m:r>
                                <a:rPr lang="en-US" sz="1800" b="1" i="1" dirty="0" smtClean="0">
                                  <a:effectLst/>
                                  <a:latin typeface="Cambria Math"/>
                                </a:rPr>
                                <m:t>, </m:t>
                              </m:r>
                              <m:r>
                                <a:rPr lang="en-US" sz="1800" b="1" i="1" dirty="0" smtClean="0">
                                  <a:effectLst/>
                                  <a:latin typeface="Cambria Math"/>
                                </a:rPr>
                                <m:t>𝒌</m:t>
                              </m:r>
                              <m:r>
                                <a:rPr lang="en-US" sz="1800" b="1" i="1" dirty="0" smtClean="0">
                                  <a:effectLst/>
                                  <a:latin typeface="Cambria Math"/>
                                </a:rPr>
                                <m:t>)</m:t>
                              </m:r>
                            </m:oMath>
                          </a14:m>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1800" b="1" i="1" dirty="0" smtClean="0">
                                  <a:effectLst/>
                                  <a:latin typeface="Cambria Math"/>
                                </a:rPr>
                                <m:t>(</m:t>
                              </m:r>
                              <m:r>
                                <a:rPr lang="en-US" sz="1800" b="1" i="1" dirty="0" smtClean="0">
                                  <a:effectLst/>
                                  <a:latin typeface="Cambria Math"/>
                                </a:rPr>
                                <m:t>𝒙</m:t>
                              </m:r>
                              <m:r>
                                <a:rPr lang="en-US" sz="1800" b="1" i="1" dirty="0" smtClean="0">
                                  <a:effectLst/>
                                  <a:latin typeface="Cambria Math"/>
                                </a:rPr>
                                <m:t>, </m:t>
                              </m:r>
                              <m:r>
                                <a:rPr lang="en-US" sz="1800" b="1" i="1" dirty="0" smtClean="0">
                                  <a:effectLst/>
                                  <a:latin typeface="Cambria Math"/>
                                </a:rPr>
                                <m:t>𝑯</m:t>
                              </m:r>
                              <m:r>
                                <a:rPr lang="en-US" sz="1800" b="1" i="1" dirty="0" smtClean="0">
                                  <a:effectLst/>
                                  <a:latin typeface="Cambria Math"/>
                                </a:rPr>
                                <m:t>(</m:t>
                              </m:r>
                              <m:r>
                                <a:rPr lang="en-US" sz="1800" b="1" i="1" dirty="0" smtClean="0">
                                  <a:effectLst/>
                                  <a:latin typeface="Cambria Math"/>
                                </a:rPr>
                                <m:t>𝒙</m:t>
                              </m:r>
                              <m:r>
                                <a:rPr lang="en-US" sz="1800" b="1" i="1" dirty="0" smtClean="0">
                                  <a:effectLst/>
                                  <a:latin typeface="Cambria Math"/>
                                </a:rPr>
                                <m:t>))</m:t>
                              </m:r>
                            </m:oMath>
                          </a14:m>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61956199"/>
                      </a:ext>
                    </a:extLst>
                  </a:tr>
                  <a:tr h="720000">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(_____ , _____)</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(_____ , _____)</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12079070"/>
                      </a:ext>
                    </a:extLst>
                  </a:tr>
                </a:tbl>
              </a:graphicData>
            </a:graphic>
          </p:graphicFrame>
        </mc:Choice>
        <mc:Fallback xmlns="">
          <p:graphicFrame>
            <p:nvGraphicFramePr>
              <p:cNvPr id="2" name="Table 1">
                <a:extLst>
                  <a:ext uri="{FF2B5EF4-FFF2-40B4-BE49-F238E27FC236}">
                    <a16:creationId xmlns:a16="http://schemas.microsoft.com/office/drawing/2014/main" xmlns:a14="http://schemas.microsoft.com/office/drawing/2010/main" xmlns="" id="{26CDB1D6-D5F1-7D47-8020-B3462D60A24B}"/>
                  </a:ext>
                </a:extLst>
              </p:cNvPr>
              <p:cNvGraphicFramePr>
                <a:graphicFrameLocks noGrp="1"/>
              </p:cNvGraphicFramePr>
              <p:nvPr>
                <p:extLst>
                  <p:ext uri="{D42A27DB-BD31-4B8C-83A1-F6EECF244321}">
                    <p14:modId xmlns:p14="http://schemas.microsoft.com/office/powerpoint/2010/main" val="3848760342"/>
                  </p:ext>
                </p:extLst>
              </p:nvPr>
            </p:nvGraphicFramePr>
            <p:xfrm>
              <a:off x="1557291" y="1361348"/>
              <a:ext cx="6858000" cy="1188000"/>
            </p:xfrm>
            <a:graphic>
              <a:graphicData uri="http://schemas.openxmlformats.org/drawingml/2006/table">
                <a:tbl>
                  <a:tblPr bandRow="1">
                    <a:tableStyleId>{A91F0D33-8C57-4600-99A7-42BC86742BE1}</a:tableStyleId>
                  </a:tblPr>
                  <a:tblGrid>
                    <a:gridCol w="3470275">
                      <a:extLst>
                        <a:ext uri="{9D8B030D-6E8A-4147-A177-3AD203B41FA5}">
                          <a16:colId xmlns:a16="http://schemas.microsoft.com/office/drawing/2014/main" xmlns:a14="http://schemas.microsoft.com/office/drawing/2010/main" xmlns="" val="4203662421"/>
                        </a:ext>
                      </a:extLst>
                    </a:gridCol>
                    <a:gridCol w="3387725">
                      <a:extLst>
                        <a:ext uri="{9D8B030D-6E8A-4147-A177-3AD203B41FA5}">
                          <a16:colId xmlns:a16="http://schemas.microsoft.com/office/drawing/2014/main" xmlns:a14="http://schemas.microsoft.com/office/drawing/2010/main" xmlns="" val="2210667655"/>
                        </a:ext>
                      </a:extLst>
                    </a:gridCol>
                  </a:tblGrid>
                  <a:tr h="468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r="-97891" b="-154545"/>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2338" r="-180" b="-154545"/>
                          </a:stretch>
                        </a:blipFill>
                      </a:tcPr>
                    </a:tc>
                    <a:extLst>
                      <a:ext uri="{0D108BD9-81ED-4DB2-BD59-A6C34878D82A}">
                        <a16:rowId xmlns:a16="http://schemas.microsoft.com/office/drawing/2014/main" xmlns:a14="http://schemas.microsoft.com/office/drawing/2010/main" xmlns="" val="161956199"/>
                      </a:ext>
                    </a:extLst>
                  </a:tr>
                  <a:tr h="72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65254" r="-97891" b="-84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2338" t="-65254" r="-180" b="-847"/>
                          </a:stretch>
                        </a:blipFill>
                      </a:tcPr>
                    </a:tc>
                    <a:extLst>
                      <a:ext uri="{0D108BD9-81ED-4DB2-BD59-A6C34878D82A}">
                        <a16:rowId xmlns:a16="http://schemas.microsoft.com/office/drawing/2014/main" xmlns:a14="http://schemas.microsoft.com/office/drawing/2010/main" xmlns="" val="2812079070"/>
                      </a:ext>
                    </a:extLst>
                  </a:tr>
                </a:tbl>
              </a:graphicData>
            </a:graphic>
          </p:graphicFrame>
        </mc:Fallback>
      </mc:AlternateContent>
    </p:spTree>
    <p:extLst>
      <p:ext uri="{BB962C8B-B14F-4D97-AF65-F5344CB8AC3E}">
        <p14:creationId xmlns:p14="http://schemas.microsoft.com/office/powerpoint/2010/main" val="1197815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81</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749438" y="2779101"/>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81</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252849" y="291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9.4.5 Wrap-Up: Cool Down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436745" y="292110"/>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AE281112-0763-C941-9DB7-9B28C4EA4745}"/>
              </a:ext>
            </a:extLst>
          </p:cNvPr>
          <p:cNvSpPr/>
          <p:nvPr/>
        </p:nvSpPr>
        <p:spPr>
          <a:xfrm>
            <a:off x="532660" y="1465249"/>
            <a:ext cx="10800000" cy="3046988"/>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 last three lessons have involved writing quadratic functions to represent the relationship between two quantities from a graph, a table, and a written description.</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Create a sales pitch to convince your classmates which representation you feel is the easiest for writing quadratic functions.</a:t>
            </a: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3116</TotalTime>
  <Words>1244</Words>
  <Application>Microsoft Macintosh PowerPoint</Application>
  <PresentationFormat>Widescreen</PresentationFormat>
  <Paragraphs>191</Paragraphs>
  <Slides>26</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Verdana</vt:lpstr>
      <vt:lpstr>Wingdings</vt:lpstr>
      <vt:lpstr>Arial</vt:lpstr>
      <vt:lpstr>Calibri</vt:lpstr>
      <vt:lpstr>Arial Black</vt:lpstr>
      <vt:lpstr>Century Gothic</vt:lpstr>
      <vt:lpstr>Cambria Math</vt:lpstr>
      <vt:lpstr>Times New Roman</vt:lpstr>
      <vt:lpstr>1_Office Theme</vt:lpstr>
      <vt:lpstr>Algebra 1  Unit 9, Lesson 4  Writing a Quadratic Function From a Written Description  Volume 2, pg. 77  </vt:lpstr>
      <vt:lpstr>Benchmarks</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jslater9816@gmail.com</cp:lastModifiedBy>
  <cp:revision>31</cp:revision>
  <dcterms:created xsi:type="dcterms:W3CDTF">2015-03-17T18:51:18Z</dcterms:created>
  <dcterms:modified xsi:type="dcterms:W3CDTF">2022-08-03T01:58:53Z</dcterms:modified>
</cp:coreProperties>
</file>