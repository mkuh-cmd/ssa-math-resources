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9" r:id="rId12"/>
    <p:sldId id="289" r:id="rId13"/>
    <p:sldId id="290" r:id="rId14"/>
    <p:sldId id="308" r:id="rId15"/>
    <p:sldId id="337" r:id="rId16"/>
    <p:sldId id="361" r:id="rId17"/>
    <p:sldId id="362" r:id="rId18"/>
    <p:sldId id="357" r:id="rId19"/>
    <p:sldId id="358" r:id="rId20"/>
    <p:sldId id="306" r:id="rId21"/>
    <p:sldId id="307" r:id="rId22"/>
  </p:sldIdLst>
  <p:sldSz cx="12192000" cy="6858000"/>
  <p:notesSz cx="6858000" cy="9144000"/>
  <p:embeddedFontLst>
    <p:embeddedFont>
      <p:font typeface="Century Gothic" pitchFamily="34" charset="0"/>
      <p:regular r:id="rId24"/>
      <p:bold r:id="rId25"/>
      <p:italic r:id="rId26"/>
      <p:boldItalic r:id="rId27"/>
    </p:embeddedFont>
    <p:embeddedFont>
      <p:font typeface="Cambria Math" pitchFamily="18" charset="0"/>
      <p:regular r:id="rId28"/>
    </p:embeddedFont>
    <p:embeddedFont>
      <p:font typeface="Cambria" pitchFamily="18" charset="0"/>
      <p:regular r:id="rId29"/>
      <p:bold r:id="rId30"/>
      <p:italic r:id="rId31"/>
      <p:boldItalic r:id="rId32"/>
    </p:embeddedFont>
    <p:embeddedFont>
      <p:font typeface="Arial Black" pitchFamily="34" charset="0"/>
      <p:bold r:id="rId33"/>
    </p:embeddedFont>
    <p:embeddedFont>
      <p:font typeface="Verdana" pitchFamily="34" charset="0"/>
      <p:regular r:id="rId34"/>
      <p:bold r:id="rId35"/>
      <p:italic r:id="rId36"/>
      <p:boldItalic r:id="rId37"/>
    </p:embeddedFont>
    <p:embeddedFont>
      <p:font typeface="Calibri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1765AD"/>
    <a:srgbClr val="1664AC"/>
    <a:srgbClr val="BFBFBF"/>
    <a:srgbClr val="C9DF6F"/>
    <a:srgbClr val="417DBF"/>
    <a:srgbClr val="3F2A67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404" autoAdjust="0"/>
    <p:restoredTop sz="94719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07072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919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577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4734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126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5078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s.qaz.wiki/wiki/Val%C3%A9rie_Thomas" TargetMode="Externa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hyperlink" Target="http://the1709blog.blogspot.com/2012/12/broadcast-retransmission-to-remain.html" TargetMode="Externa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7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Quadratics by Factoring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=""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MA.912.AR.3.1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write and solve one-variable quadratic equations over the real number system. 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xmlns="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6759D0BD-51D0-6B40-9940-E3F570D4EA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11350860-5133-CF4C-91F0-82C49767E6A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935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 quadratic by factoring.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13E4C45C-B662-7F44-8EF2-8BC4E4A7E35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xmlns="" id="{ECAA359C-7327-AC4D-8972-D52228F67AB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Valerie Thomas - Valerie Thomas - qaz.wiki">
            <a:extLst>
              <a:ext uri="{FF2B5EF4-FFF2-40B4-BE49-F238E27FC236}">
                <a16:creationId xmlns:a16="http://schemas.microsoft.com/office/drawing/2014/main" xmlns="" id="{126265CA-2072-A742-A57C-1C7D8A0F1F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8897113" y="1326086"/>
            <a:ext cx="2634000" cy="34422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E1D7562E-134F-D14B-AF1A-DF40E11EF758}"/>
              </a:ext>
            </a:extLst>
          </p:cNvPr>
          <p:cNvSpPr txBox="1"/>
          <p:nvPr/>
        </p:nvSpPr>
        <p:spPr>
          <a:xfrm>
            <a:off x="479008" y="1326087"/>
            <a:ext cx="78934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Valerie Thomas is a scientist and inventor. In 1980, she received a patent for inventing the illusion transmitter. This was an integral piece of technology in developing the digital media formats needed for today’s video games, movies, and 3D television.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Thomas worked at NASA from 1964‑1995, where she helped develop real-time computer data systems to support satellite operations. She oversaw the creation of the Landsat program there, which supported the first satellite to transmit images from outer space.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9.7.1 Warm-Up: Satellite Dishes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91320C37-EA31-CF41-8AA7-D98A5EC775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The 1709 Blog: Broadcast retransmission to remain ...">
            <a:extLst>
              <a:ext uri="{FF2B5EF4-FFF2-40B4-BE49-F238E27FC236}">
                <a16:creationId xmlns:a16="http://schemas.microsoft.com/office/drawing/2014/main" xmlns="" id="{99AE14C9-CB37-FA4F-B8C9-B483BBBDA0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540565" y="410666"/>
            <a:ext cx="3796148" cy="2846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12D13D7-4B51-D74F-8C12-5ABF3BDB9D08}"/>
              </a:ext>
            </a:extLst>
          </p:cNvPr>
          <p:cNvSpPr txBox="1"/>
          <p:nvPr/>
        </p:nvSpPr>
        <p:spPr>
          <a:xfrm>
            <a:off x="540565" y="3832917"/>
            <a:ext cx="69937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7525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arrows show how signals bounce off a satellite dish to the receiver. The receiver is always located at a parabola’s focus. What key feature does the focus lie on? </a:t>
            </a:r>
          </a:p>
        </p:txBody>
      </p:sp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0D31C091-5149-EF40-80DF-0303C6CE7A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4351" y="3832916"/>
            <a:ext cx="3633834" cy="2082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4772025" y="410666"/>
            <a:ext cx="67867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3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Today, satellite dishes are everywhere. Satellite dishes are designed using a parabolic curve. </a:t>
            </a:r>
          </a:p>
          <a:p>
            <a:pPr marL="603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17525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key feature of a parabola is the bottom of the dish?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1D1FA06F-5C8D-7A4D-AC08-85C5F4F495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4688742"/>
                  </p:ext>
                </p:extLst>
              </p:nvPr>
            </p:nvGraphicFramePr>
            <p:xfrm>
              <a:off x="1243012" y="2166225"/>
              <a:ext cx="6896727" cy="2286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750046">
                      <a:extLst>
                        <a:ext uri="{9D8B030D-6E8A-4147-A177-3AD203B41FA5}">
                          <a16:colId xmlns:a16="http://schemas.microsoft.com/office/drawing/2014/main" xmlns="" val="3855655401"/>
                        </a:ext>
                      </a:extLst>
                    </a:gridCol>
                    <a:gridCol w="1651023">
                      <a:extLst>
                        <a:ext uri="{9D8B030D-6E8A-4147-A177-3AD203B41FA5}">
                          <a16:colId xmlns:a16="http://schemas.microsoft.com/office/drawing/2014/main" xmlns="" val="1683154994"/>
                        </a:ext>
                      </a:extLst>
                    </a:gridCol>
                    <a:gridCol w="1758298">
                      <a:extLst>
                        <a:ext uri="{9D8B030D-6E8A-4147-A177-3AD203B41FA5}">
                          <a16:colId xmlns:a16="http://schemas.microsoft.com/office/drawing/2014/main" xmlns="" val="1614282840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xmlns="" val="352338099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8971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984739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8628602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832124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684733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1FA06F-5C8D-7A4D-AC08-85C5F4F495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4688742"/>
                  </p:ext>
                </p:extLst>
              </p:nvPr>
            </p:nvGraphicFramePr>
            <p:xfrm>
              <a:off x="1243012" y="2166225"/>
              <a:ext cx="6896727" cy="2286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75004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55655401"/>
                        </a:ext>
                      </a:extLst>
                    </a:gridCol>
                    <a:gridCol w="165102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83154994"/>
                        </a:ext>
                      </a:extLst>
                    </a:gridCol>
                    <a:gridCol w="17582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14282840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2338099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Graph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4097" r="-99306" b="-4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97193" r="-351" b="-4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88971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984739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628602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832124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684733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50663"/>
            <a:ext cx="1047846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9.7.2 Activity: Card Sort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29070" y="1386025"/>
            <a:ext cx="1100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Work with your partner to match the cards.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1E6F1EE2-D179-6147-B638-E7A506482C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847642"/>
                  </p:ext>
                </p:extLst>
              </p:nvPr>
            </p:nvGraphicFramePr>
            <p:xfrm>
              <a:off x="1078122" y="1195320"/>
              <a:ext cx="8479536" cy="4572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146003">
                      <a:extLst>
                        <a:ext uri="{9D8B030D-6E8A-4147-A177-3AD203B41FA5}">
                          <a16:colId xmlns:a16="http://schemas.microsoft.com/office/drawing/2014/main" xmlns="" val="4206713724"/>
                        </a:ext>
                      </a:extLst>
                    </a:gridCol>
                    <a:gridCol w="2146003">
                      <a:extLst>
                        <a:ext uri="{9D8B030D-6E8A-4147-A177-3AD203B41FA5}">
                          <a16:colId xmlns:a16="http://schemas.microsoft.com/office/drawing/2014/main" xmlns="" val="3852576346"/>
                        </a:ext>
                      </a:extLst>
                    </a:gridCol>
                    <a:gridCol w="2146788">
                      <a:extLst>
                        <a:ext uri="{9D8B030D-6E8A-4147-A177-3AD203B41FA5}">
                          <a16:colId xmlns:a16="http://schemas.microsoft.com/office/drawing/2014/main" xmlns="" val="3014272914"/>
                        </a:ext>
                      </a:extLst>
                    </a:gridCol>
                    <a:gridCol w="2040742">
                      <a:extLst>
                        <a:ext uri="{9D8B030D-6E8A-4147-A177-3AD203B41FA5}">
                          <a16:colId xmlns:a16="http://schemas.microsoft.com/office/drawing/2014/main" xmlns="" val="72919378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T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U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V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W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928526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−42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−42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−19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+42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+19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+42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371489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031243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E6F1EE2-D179-6147-B638-E7A506482C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847642"/>
                  </p:ext>
                </p:extLst>
              </p:nvPr>
            </p:nvGraphicFramePr>
            <p:xfrm>
              <a:off x="1078122" y="1195320"/>
              <a:ext cx="8479536" cy="4572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14600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06713724"/>
                        </a:ext>
                      </a:extLst>
                    </a:gridCol>
                    <a:gridCol w="214600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52576346"/>
                        </a:ext>
                      </a:extLst>
                    </a:gridCol>
                    <a:gridCol w="214678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014272914"/>
                        </a:ext>
                      </a:extLst>
                    </a:gridCol>
                    <a:gridCol w="204074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2919378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T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U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V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W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928526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84" t="-100000" r="-295170" b="-8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284" t="-100000" r="-195170" b="-8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284" t="-100000" r="-95170" b="-8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5522" t="-100000" b="-8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371489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1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0592" marR="505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03124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 each expression.</a:t>
            </a: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match the factored expressions to the 𝑥-intercepts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the factored expression reveals the 𝑥-intercepts. Make a conjecture about the connection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D86A7996-633C-B343-8EB0-57F1134BB7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058953"/>
                  </p:ext>
                </p:extLst>
              </p:nvPr>
            </p:nvGraphicFramePr>
            <p:xfrm>
              <a:off x="1089660" y="1133291"/>
              <a:ext cx="7357110" cy="2286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xmlns="" val="1274347873"/>
                        </a:ext>
                      </a:extLst>
                    </a:gridCol>
                    <a:gridCol w="3108960">
                      <a:extLst>
                        <a:ext uri="{9D8B030D-6E8A-4147-A177-3AD203B41FA5}">
                          <a16:colId xmlns:a16="http://schemas.microsoft.com/office/drawing/2014/main" xmlns="" val="3468214906"/>
                        </a:ext>
                      </a:extLst>
                    </a:gridCol>
                    <a:gridCol w="2510790">
                      <a:extLst>
                        <a:ext uri="{9D8B030D-6E8A-4147-A177-3AD203B41FA5}">
                          <a16:colId xmlns:a16="http://schemas.microsoft.com/office/drawing/2014/main" xmlns="" val="326275851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Expression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-intercepts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625666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446816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902804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3091828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011328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86A7996-633C-B343-8EB0-57F1134BB7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058953"/>
                  </p:ext>
                </p:extLst>
              </p:nvPr>
            </p:nvGraphicFramePr>
            <p:xfrm>
              <a:off x="1089660" y="1133291"/>
              <a:ext cx="7357110" cy="2286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74347873"/>
                        </a:ext>
                      </a:extLst>
                    </a:gridCol>
                    <a:gridCol w="31089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68214906"/>
                        </a:ext>
                      </a:extLst>
                    </a:gridCol>
                    <a:gridCol w="25107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6275851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Expression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3204" t="-1333" b="-4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625666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446816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902804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3091828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011328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9.7.3 Guided Instruction: Solving Quadratic Equations by Factoring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4"/>
                <a:ext cx="10985454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the equation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which variable has to equal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so that the product is equal to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1200" indent="-2587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Courier New" panose="02070309020205020404" pitchFamily="49" charset="0"/>
                  <a:buChar char="o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𝑥</a:t>
                </a:r>
              </a:p>
              <a:p>
                <a:pPr marL="452438" indent="2587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Courier New" panose="02070309020205020404" pitchFamily="49" charset="0"/>
                  <a:buChar char="o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𝑦</a:t>
                </a:r>
              </a:p>
              <a:p>
                <a:pPr marL="711200" indent="-2587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Courier New" panose="02070309020205020404" pitchFamily="49" charset="0"/>
                  <a:buChar char="o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𝑧</a:t>
                </a:r>
              </a:p>
              <a:p>
                <a:pPr marL="711200" indent="-2587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Courier New" panose="02070309020205020404" pitchFamily="49" charset="0"/>
                  <a:buChar char="o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 least one of 𝑥, 𝑦, or 𝑧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4"/>
                <a:ext cx="10985454" cy="2246769"/>
              </a:xfrm>
              <a:prstGeom prst="rect">
                <a:avLst/>
              </a:prstGeom>
              <a:blipFill rotWithShape="1">
                <a:blip r:embed="rId5"/>
                <a:stretch>
                  <a:fillRect l="-555" t="-1626" b="-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D0B9C761-5442-C24E-80BA-C6C767336261}"/>
              </a:ext>
            </a:extLst>
          </p:cNvPr>
          <p:cNvSpPr/>
          <p:nvPr/>
        </p:nvSpPr>
        <p:spPr>
          <a:xfrm>
            <a:off x="2723157" y="4875722"/>
            <a:ext cx="6629400" cy="1265550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>
              <a:spcAft>
                <a:spcPts val="1000"/>
              </a:spcAft>
            </a:pP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Zero Product Property</a:t>
            </a:r>
            <a:endParaRPr lang="x-none" sz="20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  <a:p>
            <a:pPr marL="228600"/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product of two numbers is </a:t>
            </a:r>
            <a:r>
              <a:rPr lang="en-US" sz="2000" dirty="0">
                <a:solidFill>
                  <a:srgbClr val="6C993D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then at least one of the numbers is </a:t>
            </a:r>
            <a:r>
              <a:rPr lang="en-US" sz="2000" dirty="0">
                <a:solidFill>
                  <a:srgbClr val="6C993D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x-none" sz="20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expression, use the zero product property to determine the values of 𝑥 for which the expression would equal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these expressions could have been written as quadratic equations that are set equal to 0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−14=0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612" t="-89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9E148B28-6148-5E43-BCD4-CA374D061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6675143"/>
                  </p:ext>
                </p:extLst>
              </p:nvPr>
            </p:nvGraphicFramePr>
            <p:xfrm>
              <a:off x="1089212" y="1461991"/>
              <a:ext cx="8778240" cy="2057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="" val="212073649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xmlns="" val="1870415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xmlns="" val="332140910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3679896555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+7)(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+7)(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−6)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(−3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+11)(4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+18)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56728433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96642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E148B28-6148-5E43-BCD4-CA374D0612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6675143"/>
                  </p:ext>
                </p:extLst>
              </p:nvPr>
            </p:nvGraphicFramePr>
            <p:xfrm>
              <a:off x="1089212" y="1461991"/>
              <a:ext cx="8778240" cy="2057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12073649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70415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2140910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679896555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7246" t="-893" r="-230435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87246" t="-893" r="-130435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20222" t="-893" b="-2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56728433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33" t="-50222" r="-380000" b="-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96642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solving a quadratic equation set the equation equal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solution(s) will be the value(s) of 𝑥 when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Explain how this relates to your conjecture from the card sort.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612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942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Another method of solving quadratics is by factoring. When solving by factoring the quadratic must be set equal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Once the quadratic is factored, the zero product property is applied.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h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+25=0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factoring. 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𝑓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factoring.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612" t="-805" r="-668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685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solve by factoring, the quadratic equation should be in standard form and set equal to zero.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+36=13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𝑝 by factoring. 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40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𝑥 by factoring.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12" t="-87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116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78146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6.png">
            <a:extLst>
              <a:ext uri="{FF2B5EF4-FFF2-40B4-BE49-F238E27FC236}">
                <a16:creationId xmlns:a16="http://schemas.microsoft.com/office/drawing/2014/main" xmlns="" id="{AB6208A0-483D-0249-B63B-6F27BEB702E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978146" y="2826797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9971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9.7.4 Try It: Factoring</a:t>
            </a:r>
            <a:endParaRPr lang="en-US"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image6.png">
            <a:extLst>
              <a:ext uri="{FF2B5EF4-FFF2-40B4-BE49-F238E27FC236}">
                <a16:creationId xmlns:a16="http://schemas.microsoft.com/office/drawing/2014/main" xmlns="" id="{06069181-0E9D-D44C-B1F0-FDEAB5AD5463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09" cy="74980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313636"/>
                <a:ext cx="1080031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by factoring. Show your work.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−15=9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+22=2−5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13636"/>
                <a:ext cx="10800318" cy="3477875"/>
              </a:xfrm>
              <a:prstGeom prst="rect">
                <a:avLst/>
              </a:prstGeom>
              <a:blipFill rotWithShape="1">
                <a:blip r:embed="rId5"/>
                <a:stretch>
                  <a:fillRect l="-621" t="-87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291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C07FD671-828C-CF4D-9C00-FD90304840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359092"/>
                  </p:ext>
                </p:extLst>
              </p:nvPr>
            </p:nvGraphicFramePr>
            <p:xfrm>
              <a:off x="839385" y="2003262"/>
              <a:ext cx="8778240" cy="3623183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="" val="1398264638"/>
                        </a:ext>
                      </a:extLst>
                    </a:gridCol>
                    <a:gridCol w="5577840">
                      <a:extLst>
                        <a:ext uri="{9D8B030D-6E8A-4147-A177-3AD203B41FA5}">
                          <a16:colId xmlns:a16="http://schemas.microsoft.com/office/drawing/2014/main" xmlns="" val="311809236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Ruchelle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Quinyang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657195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−12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+14=2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none" sz="1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+7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x-none" sz="1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x-none" sz="1800" i="1">
                                              <a:effectLst/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+7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x-none" sz="1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+7=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+4=0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+14=2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+14−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−6−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−14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+20=0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oMath>
                          </a14:m>
                          <a:endParaRPr lang="x-none" sz="18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191534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7FD671-828C-CF4D-9C00-FD90304840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359092"/>
                  </p:ext>
                </p:extLst>
              </p:nvPr>
            </p:nvGraphicFramePr>
            <p:xfrm>
              <a:off x="839385" y="2003262"/>
              <a:ext cx="8778240" cy="3623183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98264638"/>
                        </a:ext>
                      </a:extLst>
                    </a:gridCol>
                    <a:gridCol w="5577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11809236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Ruchelle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Quinyang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65719548"/>
                      </a:ext>
                    </a:extLst>
                  </a:tr>
                  <a:tr h="31659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0" t="-14644" r="-174286" b="-3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7486" t="-14644" b="-3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191534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9.7.5 Wrap-Up: Error Analysis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376212"/>
                <a:ext cx="10800845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work of two students who solved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+14=2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Ruchelle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Quinyang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made one mistake. Circle each mistake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76212"/>
                <a:ext cx="10800845" cy="5016758"/>
              </a:xfrm>
              <a:prstGeom prst="rect">
                <a:avLst/>
              </a:prstGeom>
              <a:blipFill rotWithShape="1">
                <a:blip r:embed="rId6"/>
                <a:stretch>
                  <a:fillRect l="-621" t="-608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897</Words>
  <Application>Microsoft Office PowerPoint</Application>
  <PresentationFormat>Custom</PresentationFormat>
  <Paragraphs>221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Century Gothic</vt:lpstr>
      <vt:lpstr>Wingdings</vt:lpstr>
      <vt:lpstr>Cambria Math</vt:lpstr>
      <vt:lpstr>Cambria</vt:lpstr>
      <vt:lpstr>Arial Black</vt:lpstr>
      <vt:lpstr>Verdana</vt:lpstr>
      <vt:lpstr>Calibri</vt:lpstr>
      <vt:lpstr>Courier New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39</cp:revision>
  <dcterms:created xsi:type="dcterms:W3CDTF">2015-03-17T18:51:18Z</dcterms:created>
  <dcterms:modified xsi:type="dcterms:W3CDTF">2022-06-28T08:10:49Z</dcterms:modified>
</cp:coreProperties>
</file>