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45" r:id="rId4"/>
    <p:sldId id="286" r:id="rId5"/>
    <p:sldId id="261" r:id="rId6"/>
    <p:sldId id="287" r:id="rId7"/>
    <p:sldId id="314" r:id="rId8"/>
    <p:sldId id="315" r:id="rId9"/>
    <p:sldId id="316" r:id="rId10"/>
    <p:sldId id="339" r:id="rId11"/>
    <p:sldId id="340" r:id="rId12"/>
    <p:sldId id="357" r:id="rId13"/>
    <p:sldId id="358" r:id="rId14"/>
    <p:sldId id="359" r:id="rId15"/>
    <p:sldId id="360" r:id="rId16"/>
    <p:sldId id="289" r:id="rId17"/>
    <p:sldId id="290" r:id="rId18"/>
    <p:sldId id="308" r:id="rId19"/>
    <p:sldId id="337" r:id="rId20"/>
    <p:sldId id="361" r:id="rId21"/>
    <p:sldId id="362" r:id="rId22"/>
    <p:sldId id="363" r:id="rId23"/>
    <p:sldId id="306" r:id="rId24"/>
    <p:sldId id="307" r:id="rId25"/>
  </p:sldIdLst>
  <p:sldSz cx="12192000" cy="6858000"/>
  <p:notesSz cx="6858000" cy="9144000"/>
  <p:embeddedFontLst>
    <p:embeddedFont>
      <p:font typeface="Cambria" pitchFamily="18" charset="0"/>
      <p:regular r:id="rId27"/>
      <p:bold r:id="rId28"/>
      <p:italic r:id="rId29"/>
      <p:boldItalic r:id="rId30"/>
    </p:embeddedFont>
    <p:embeddedFont>
      <p:font typeface="Arial Black" pitchFamily="34" charset="0"/>
      <p:bold r:id="rId31"/>
    </p:embeddedFont>
    <p:embeddedFont>
      <p:font typeface="Verdana" pitchFamily="34" charset="0"/>
      <p:regular r:id="rId32"/>
      <p:bold r:id="rId33"/>
      <p:italic r:id="rId34"/>
      <p:boldItalic r:id="rId35"/>
    </p:embeddedFont>
    <p:embeddedFont>
      <p:font typeface="Calibri" pitchFamily="34" charset="0"/>
      <p:regular r:id="rId36"/>
      <p:bold r:id="rId37"/>
      <p:italic r:id="rId38"/>
      <p:boldItalic r:id="rId39"/>
    </p:embeddedFont>
    <p:embeddedFont>
      <p:font typeface="Century Gothic" pitchFamily="34" charset="0"/>
      <p:regular r:id="rId40"/>
      <p:bold r:id="rId41"/>
      <p:italic r:id="rId42"/>
      <p:boldItalic r:id="rId43"/>
    </p:embeddedFont>
    <p:embeddedFont>
      <p:font typeface="Cambria Math" pitchFamily="18" charset="0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1765AD"/>
    <a:srgbClr val="1664AC"/>
    <a:srgbClr val="BFBFBF"/>
    <a:srgbClr val="C9DF6F"/>
    <a:srgbClr val="417DBF"/>
    <a:srgbClr val="3F2A67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890"/>
    <p:restoredTop sz="94719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95113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234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816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9876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6127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885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4035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919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9907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3469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4389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=""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Isolating a Quantity of Interest in a Quadratic Equation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98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165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MA.912.AR.1.2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Rearrange equations or formulas to isolate a quantity of interest.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=""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=""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6759D0BD-51D0-6B40-9940-E3F570D4EA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1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11350860-5133-CF4C-91F0-82C49767E6A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09350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rearrange the vertex form of a quadratic equation to isolate a variable of interest.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rearrange the factored form of a quadratic equation to isolate a variable of interest.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rearrange the standard form of a quadratic equation to isolate a variable of interest.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13E4C45C-B662-7F44-8EF2-8BC4E4A7E35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Rectangle 13">
            <a:extLst>
              <a:ext uri="{FF2B5EF4-FFF2-40B4-BE49-F238E27FC236}">
                <a16:creationId xmlns=""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=""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=""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=""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9.8.1 Warm-Up: Bell Work</a:t>
            </a:r>
          </a:p>
        </p:txBody>
      </p:sp>
      <p:pic>
        <p:nvPicPr>
          <p:cNvPr id="15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79008" y="1326087"/>
                <a:ext cx="78934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+14=2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factoring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08" y="1326087"/>
                <a:ext cx="7893467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236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ECAA359C-7327-AC4D-8972-D52228F67AB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351433" y="3280753"/>
            <a:ext cx="7489135" cy="3067298"/>
            <a:chOff x="2351433" y="3280753"/>
            <a:chExt cx="7489135" cy="30672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ounded Rectangle 22">
                  <a:extLst>
                    <a:ext uri="{FF2B5EF4-FFF2-40B4-BE49-F238E27FC236}">
                      <a16:creationId xmlns="" xmlns:a16="http://schemas.microsoft.com/office/drawing/2014/main" id="{5957929A-EA7F-564E-883B-2C414AD554F8}"/>
                    </a:ext>
                  </a:extLst>
                </p:cNvPr>
                <p:cNvSpPr/>
                <p:nvPr/>
              </p:nvSpPr>
              <p:spPr>
                <a:xfrm>
                  <a:off x="2351433" y="3280753"/>
                  <a:ext cx="7489135" cy="306729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18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Forms of Quadratic Equations</a:t>
                  </a:r>
                  <a:endParaRPr lang="x-none" sz="1200" dirty="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  <a:p>
                  <a:pPr marL="742950">
                    <a:spcAft>
                      <a:spcPts val="1000"/>
                    </a:spcAft>
                  </a:pPr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Vertex form of a quadratic equation is represented as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𝑦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x-none" sz="1800" i="1">
                              <a:solidFill>
                                <a:srgbClr val="00619E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𝑥</m:t>
                          </m:r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h</m:t>
                          </m:r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, where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h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,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𝑘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 is the vertex.</a:t>
                  </a:r>
                  <a:endParaRPr lang="x-none" sz="1200" dirty="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  <a:p>
                  <a:pPr marL="742950">
                    <a:spcAft>
                      <a:spcPts val="1000"/>
                    </a:spcAft>
                  </a:pPr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Factored form of a quadratic equation is represented as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𝑦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𝑎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−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𝑝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)(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−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𝑞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, where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x-none" sz="1800" i="1">
                              <a:solidFill>
                                <a:srgbClr val="00619E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𝑝</m:t>
                          </m:r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 and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x-none" sz="1800" i="1">
                              <a:solidFill>
                                <a:srgbClr val="00619E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𝑞</m:t>
                          </m:r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 are the </a:t>
                  </a:r>
                  <a:r>
                    <a:rPr lang="en-US" sz="1800" dirty="0" smtClean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/>
                  </a:r>
                  <a:br>
                    <a:rPr lang="en-US" sz="1800" dirty="0" smtClean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</a:b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-intercepts.</a:t>
                  </a:r>
                  <a:endParaRPr lang="x-none" sz="1200" dirty="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  <a:p>
                  <a:pPr marL="742950">
                    <a:spcAft>
                      <a:spcPts val="1000"/>
                    </a:spcAft>
                  </a:pPr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Standard form of a quadratic equation is represented as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𝑦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x-none" sz="1800" i="1">
                              <a:solidFill>
                                <a:srgbClr val="00619E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𝑏𝑥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, where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(0,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𝑐</m:t>
                      </m:r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 is the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18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-intercept.</a:t>
                  </a:r>
                  <a:endParaRPr lang="x-none" sz="1200" dirty="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Rounded Rectangle 22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5957929A-EA7F-564E-883B-2C414AD554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433" y="3280753"/>
                  <a:ext cx="7489135" cy="3067298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image15.png" descr="Icon&#10;&#10;Description automatically generated">
              <a:extLst>
                <a:ext uri="{FF2B5EF4-FFF2-40B4-BE49-F238E27FC236}">
                  <a16:creationId xmlns="" xmlns:a16="http://schemas.microsoft.com/office/drawing/2014/main" id="{7F8E243E-2487-AC43-90B1-DD4ED0055B8E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632944" y="3475505"/>
              <a:ext cx="539750" cy="539615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6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01363"/>
            <a:ext cx="11041785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9.8.2 Collaboration: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Forms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of Quadratic Equations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65711" y="1386025"/>
            <a:ext cx="10964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three different forms of quadratic equations are helpful in providing information about key features of the parabola. It may be helpful at times to understand how a quadratic equation can be rewritten to feature a specific variable. </a:t>
            </a: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id="{EE1E33B4-550A-1146-9000-ECDA04F9F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2899202"/>
                  </p:ext>
                </p:extLst>
              </p:nvPr>
            </p:nvGraphicFramePr>
            <p:xfrm>
              <a:off x="1095375" y="1078624"/>
              <a:ext cx="8002165" cy="226377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560320">
                      <a:extLst>
                        <a:ext uri="{9D8B030D-6E8A-4147-A177-3AD203B41FA5}">
                          <a16:colId xmlns="" xmlns:a16="http://schemas.microsoft.com/office/drawing/2014/main" val="769240754"/>
                        </a:ext>
                      </a:extLst>
                    </a:gridCol>
                    <a:gridCol w="2515765">
                      <a:extLst>
                        <a:ext uri="{9D8B030D-6E8A-4147-A177-3AD203B41FA5}">
                          <a16:colId xmlns="" xmlns:a16="http://schemas.microsoft.com/office/drawing/2014/main" val="73391938"/>
                        </a:ext>
                      </a:extLst>
                    </a:gridCol>
                    <a:gridCol w="2926080">
                      <a:extLst>
                        <a:ext uri="{9D8B030D-6E8A-4147-A177-3AD203B41FA5}">
                          <a16:colId xmlns="" xmlns:a16="http://schemas.microsoft.com/office/drawing/2014/main" val="2510491541"/>
                        </a:ext>
                      </a:extLst>
                    </a:gridCol>
                  </a:tblGrid>
                  <a:tr h="528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Variables of Interest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Variables that Look Easy to Isolate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821959147"/>
                      </a:ext>
                    </a:extLst>
                  </a:tr>
                  <a:tr h="5467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372220976"/>
                      </a:ext>
                    </a:extLst>
                  </a:tr>
                  <a:tr h="50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476581672"/>
                      </a:ext>
                    </a:extLst>
                  </a:tr>
                  <a:tr h="50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𝑏𝑥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120775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E1E33B4-550A-1146-9000-ECDA04F9F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2899202"/>
                  </p:ext>
                </p:extLst>
              </p:nvPr>
            </p:nvGraphicFramePr>
            <p:xfrm>
              <a:off x="1095375" y="1078624"/>
              <a:ext cx="8002165" cy="226377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5603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69240754"/>
                        </a:ext>
                      </a:extLst>
                    </a:gridCol>
                    <a:gridCol w="251576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3391938"/>
                        </a:ext>
                      </a:extLst>
                    </a:gridCol>
                    <a:gridCol w="29260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1049154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Variables of Interest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Variables that Look Easy to Isolate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21959147"/>
                      </a:ext>
                    </a:extLst>
                  </a:tr>
                  <a:tr h="5467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8" t="-134831" r="-212619" b="-1887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2184" t="-134831" r="-116748" b="-1887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72220976"/>
                      </a:ext>
                    </a:extLst>
                  </a:tr>
                  <a:tr h="5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8" t="-248810" r="-21261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2184" t="-248810" r="-11674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76581672"/>
                      </a:ext>
                    </a:extLst>
                  </a:tr>
                  <a:tr h="50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38" t="-353012" r="-212619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2184" t="-353012" r="-116748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207753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complete the table.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53519A92-5E95-904C-A9E4-8D5F29248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52326"/>
              </p:ext>
            </p:extLst>
          </p:nvPr>
        </p:nvGraphicFramePr>
        <p:xfrm>
          <a:off x="1101708" y="1993525"/>
          <a:ext cx="7896506" cy="307276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017520">
                  <a:extLst>
                    <a:ext uri="{9D8B030D-6E8A-4147-A177-3AD203B41FA5}">
                      <a16:colId xmlns="" xmlns:a16="http://schemas.microsoft.com/office/drawing/2014/main" val="1349458495"/>
                    </a:ext>
                  </a:extLst>
                </a:gridCol>
                <a:gridCol w="3215015">
                  <a:extLst>
                    <a:ext uri="{9D8B030D-6E8A-4147-A177-3AD203B41FA5}">
                      <a16:colId xmlns="" xmlns:a16="http://schemas.microsoft.com/office/drawing/2014/main" val="1549622404"/>
                    </a:ext>
                  </a:extLst>
                </a:gridCol>
                <a:gridCol w="1663971">
                  <a:extLst>
                    <a:ext uri="{9D8B030D-6E8A-4147-A177-3AD203B41FA5}">
                      <a16:colId xmlns="" xmlns:a16="http://schemas.microsoft.com/office/drawing/2014/main" val="2431206842"/>
                    </a:ext>
                  </a:extLst>
                </a:gridCol>
              </a:tblGrid>
              <a:tr h="6756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Variables That Look Easy to Isolate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Reason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17032128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6090010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338229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partner should ask two different classmates which variables they selected. Record their variables and write your summary of their reasons. </a:t>
            </a:r>
            <a:r>
              <a:rPr lang="en-US" sz="2000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Have the person initial next to your summary stating that your summary was correct.</a:t>
            </a:r>
          </a:p>
        </p:txBody>
      </p:sp>
    </p:spTree>
    <p:extLst>
      <p:ext uri="{BB962C8B-B14F-4D97-AF65-F5344CB8AC3E}">
        <p14:creationId xmlns:p14="http://schemas.microsoft.com/office/powerpoint/2010/main" val="238155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variable 𝑎 is the only variable that is common to all three forms. Which form appears to be the easiest to use to isolate the variable 𝑎? </a:t>
            </a:r>
          </a:p>
        </p:txBody>
      </p:sp>
    </p:spTree>
    <p:extLst>
      <p:ext uri="{BB962C8B-B14F-4D97-AF65-F5344CB8AC3E}">
        <p14:creationId xmlns:p14="http://schemas.microsoft.com/office/powerpoint/2010/main" val="2042787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900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id="{C02E21B1-98EE-614F-8B36-4363E69E3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0428800"/>
                  </p:ext>
                </p:extLst>
              </p:nvPr>
            </p:nvGraphicFramePr>
            <p:xfrm>
              <a:off x="1171575" y="2033844"/>
              <a:ext cx="6916724" cy="3614611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val="1777735248"/>
                        </a:ext>
                      </a:extLst>
                    </a:gridCol>
                    <a:gridCol w="3259124">
                      <a:extLst>
                        <a:ext uri="{9D8B030D-6E8A-4147-A177-3AD203B41FA5}">
                          <a16:colId xmlns="" xmlns:a16="http://schemas.microsoft.com/office/drawing/2014/main" val="12806355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2000" b="1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x-none" sz="2000" b="1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</a:rPr>
                                      <m:t>𝒙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642468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h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h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019250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by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x-none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PH" sz="2000" i="1" dirty="0" smtClean="0">
                            <a:effectLst/>
                            <a:latin typeface="Cambria Math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      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                 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h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h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        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                  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5691599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2E21B1-98EE-614F-8B36-4363E69E3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0428800"/>
                  </p:ext>
                </p:extLst>
              </p:nvPr>
            </p:nvGraphicFramePr>
            <p:xfrm>
              <a:off x="1171575" y="2033844"/>
              <a:ext cx="6916724" cy="3614611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77735248"/>
                        </a:ext>
                      </a:extLst>
                    </a:gridCol>
                    <a:gridCol w="325912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806355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2150" t="-1333" b="-69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6424684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76000" r="-89167" b="-4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2150" t="-76000" b="-4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1925019"/>
                      </a:ext>
                    </a:extLst>
                  </a:tr>
                  <a:tr h="25478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2105" r="-8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2150" t="-4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691599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324;g103996e1364_0_25">
                <a:extLst>
                  <a:ext uri="{FF2B5EF4-FFF2-40B4-BE49-F238E27FC236}">
                    <a16:creationId xmlns="" xmlns:a16="http://schemas.microsoft.com/office/drawing/2014/main" id="{DB5796CA-12EB-BB4C-8338-B127D750A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649" y="101363"/>
                <a:ext cx="11041785" cy="1089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</a:pPr>
                <a:r>
                  <a:rPr lang="en-US" sz="3600" b="1" dirty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9.8.3 Collaboration: </a:t>
                </a:r>
                <a:r>
                  <a:rPr lang="en-US" sz="3600" b="1" dirty="0" smtClean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/>
                </a:r>
                <a:br>
                  <a:rPr lang="en-US" sz="3600" b="1" dirty="0" smtClean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600" b="1" dirty="0" smtClean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Isolating </a:t>
                </a:r>
                <a:r>
                  <a:rPr lang="en-US" sz="3600" b="1" dirty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the Variable </a:t>
                </a:r>
                <a14:m>
                  <m:oMath xmlns:m="http://schemas.openxmlformats.org/officeDocument/2006/math">
                    <m:r>
                      <a:rPr lang="en-US" sz="3600" b="1" i="1" dirty="0">
                        <a:solidFill>
                          <a:srgbClr val="33BEA6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𝒂</m:t>
                    </m:r>
                  </m:oMath>
                </a14:m>
                <a:endParaRPr lang="en-US" sz="3600" b="1" dirty="0">
                  <a:solidFill>
                    <a:srgbClr val="33BEA6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9" name="Google Shape;324;g103996e1364_0_25">
                <a:extLst>
                  <a:ext uri="{FF2B5EF4-FFF2-40B4-BE49-F238E27FC236}">
                    <a16:creationId xmlns:a16="http://schemas.microsoft.com/office/drawing/2014/main" xmlns="" id="{DB5796CA-12EB-BB4C-8338-B127D750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49" y="101363"/>
                <a:ext cx="11041785" cy="1089489"/>
              </a:xfrm>
              <a:prstGeom prst="rect">
                <a:avLst/>
              </a:prstGeom>
              <a:blipFill rotWithShape="1">
                <a:blip r:embed="rId5"/>
                <a:stretch>
                  <a:fillRect l="-1712" t="-13483" b="-207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65711" y="1386025"/>
            <a:ext cx="10964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steps for isolating the variable 𝑎.</a:t>
            </a:r>
          </a:p>
        </p:txBody>
      </p:sp>
    </p:spTree>
    <p:extLst>
      <p:ext uri="{BB962C8B-B14F-4D97-AF65-F5344CB8AC3E}">
        <p14:creationId xmlns:p14="http://schemas.microsoft.com/office/powerpoint/2010/main" val="1662550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="" xmlns:a16="http://schemas.microsoft.com/office/drawing/2014/main" id="{C02E21B1-98EE-614F-8B36-4363E69E3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072400"/>
                  </p:ext>
                </p:extLst>
              </p:nvPr>
            </p:nvGraphicFramePr>
            <p:xfrm>
              <a:off x="2477016" y="410666"/>
              <a:ext cx="6916724" cy="2471738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val="1777735248"/>
                        </a:ext>
                      </a:extLst>
                    </a:gridCol>
                    <a:gridCol w="3259124">
                      <a:extLst>
                        <a:ext uri="{9D8B030D-6E8A-4147-A177-3AD203B41FA5}">
                          <a16:colId xmlns="" xmlns:a16="http://schemas.microsoft.com/office/drawing/2014/main" val="12806355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𝒂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𝒑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)(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𝒒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642468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)(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                                 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                  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)(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)(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)</m:t>
                                  </m:r>
                                </m:den>
                              </m:f>
                            </m:oMath>
                          </a14:m>
                          <a:r>
                            <a:rPr lang="en-PH" sz="14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                           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     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5691599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2E21B1-98EE-614F-8B36-4363E69E3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072400"/>
                  </p:ext>
                </p:extLst>
              </p:nvPr>
            </p:nvGraphicFramePr>
            <p:xfrm>
              <a:off x="2477016" y="410666"/>
              <a:ext cx="6916724" cy="2471738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77735248"/>
                        </a:ext>
                      </a:extLst>
                    </a:gridCol>
                    <a:gridCol w="325912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806355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2150" b="-44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64246840"/>
                      </a:ext>
                    </a:extLst>
                  </a:tr>
                  <a:tr h="20145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2659" r="-8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2150" t="-22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691599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67428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form, if any, was the easiest to use to isolate the variable 𝑎?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="" xmlns:a16="http://schemas.microsoft.com/office/drawing/2014/main" id="{C02E21B1-98EE-614F-8B36-4363E69E3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2706057"/>
                  </p:ext>
                </p:extLst>
              </p:nvPr>
            </p:nvGraphicFramePr>
            <p:xfrm>
              <a:off x="1108212" y="410666"/>
              <a:ext cx="9144000" cy="3926396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val="1777735248"/>
                        </a:ext>
                      </a:extLst>
                    </a:gridCol>
                    <a:gridCol w="5486400">
                      <a:extLst>
                        <a:ext uri="{9D8B030D-6E8A-4147-A177-3AD203B41FA5}">
                          <a16:colId xmlns="" xmlns:a16="http://schemas.microsoft.com/office/drawing/2014/main" val="12806355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𝒃𝒙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642468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𝑏𝑥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 smtClean="0">
                            <a:effectLst/>
                            <a:latin typeface="Cambria Math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−(____________)=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𝑏𝑥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𝑐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−(____________)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−________−________=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</a:t>
                          </a: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5691599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by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kumimoji="0" lang="en-PH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sym typeface="Arial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x-none" sz="20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0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  <m:t>𝑦</m:t>
                                    </m:r>
                                    <m:r>
                                      <a:rPr kumimoji="0" lang="en-US" sz="20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  <m:t>−          −              </m:t>
                                    </m:r>
                                  </m:num>
                                  <m:den>
                                    <m:r>
                                      <a:rPr kumimoji="0" lang="en-US" sz="20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  <m:t>                              </m:t>
                                    </m:r>
                                  </m:den>
                                </m:f>
                                <m:r>
                                  <a:rPr kumimoji="0" lang="en-US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sym typeface="Arial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x-none" sz="20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0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kumimoji="0" lang="en-US" sz="20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  <m:t>                      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x-none" sz="2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  <a:sym typeface="Arial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 </a:t>
                          </a:r>
                          <a:endParaRPr kumimoji="0" lang="x-none" sz="2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  <a:sym typeface="Arial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sym typeface="Arial"/>
                                  </a:rPr>
                                  <m:t>𝑎</m:t>
                                </m:r>
                                <m:r>
                                  <a:rPr kumimoji="0" lang="en-US" sz="20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sym typeface="Arial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x-none" sz="20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sz="20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  <m:t>           −          −             </m:t>
                                    </m:r>
                                  </m:num>
                                  <m:den>
                                    <m:r>
                                      <a:rPr kumimoji="0" lang="en-US" sz="20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sym typeface="Arial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2E21B1-98EE-614F-8B36-4363E69E3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2706057"/>
                  </p:ext>
                </p:extLst>
              </p:nvPr>
            </p:nvGraphicFramePr>
            <p:xfrm>
              <a:off x="1108212" y="410666"/>
              <a:ext cx="9144000" cy="3926396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77735248"/>
                        </a:ext>
                      </a:extLst>
                    </a:gridCol>
                    <a:gridCol w="5486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806355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6778" b="-7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64246840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7" t="-29412" r="-150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6778" t="-29412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69159970"/>
                      </a:ext>
                    </a:extLst>
                  </a:tr>
                  <a:tr h="19147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7" t="-105096" r="-150000" b="-3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6778" t="-105096" b="-31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7860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2.png" descr="Icon&#10;&#10;Description automatically generated">
            <a:extLst>
              <a:ext uri="{FF2B5EF4-FFF2-40B4-BE49-F238E27FC236}">
                <a16:creationId xmlns=""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id="{42A2608E-3DC2-6649-99B4-BBF11BC9ED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05595"/>
                  </p:ext>
                </p:extLst>
              </p:nvPr>
            </p:nvGraphicFramePr>
            <p:xfrm>
              <a:off x="1143000" y="2055512"/>
              <a:ext cx="7010400" cy="3200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val="1377296767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="" xmlns:a16="http://schemas.microsoft.com/office/drawing/2014/main" val="9426293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𝒙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908126798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	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33844825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513271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2A2608E-3DC2-6649-99B4-BBF11BC9ED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05595"/>
                  </p:ext>
                </p:extLst>
              </p:nvPr>
            </p:nvGraphicFramePr>
            <p:xfrm>
              <a:off x="1143000" y="2055512"/>
              <a:ext cx="7010400" cy="3200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77296767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426293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9273" b="-6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08126798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7" t="-33333" r="-91667" b="-100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	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33844825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7" t="-133333" r="-91667" b="-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513271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343;g103996e1364_0_321">
                <a:extLst>
                  <a:ext uri="{FF2B5EF4-FFF2-40B4-BE49-F238E27FC236}">
                    <a16:creationId xmlns="" xmlns:a16="http://schemas.microsoft.com/office/drawing/2014/main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650" y="62866"/>
                <a:ext cx="10957380" cy="978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</a:pP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9.8.4 Guided Instruction: </a:t>
                </a:r>
                <a:r>
                  <a:rPr lang="en-US" sz="3200" b="1" dirty="0" smtClean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/>
                </a:r>
                <a:br>
                  <a:rPr lang="en-US" sz="3200" b="1" dirty="0" smtClean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200" b="1" dirty="0" smtClean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Isolating the </a:t>
                </a: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Variable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𝒙</m:t>
                    </m:r>
                  </m:oMath>
                </a14:m>
                <a:endParaRPr lang="en-US" sz="3200" b="1" dirty="0">
                  <a:solidFill>
                    <a:srgbClr val="54B5D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10" name="Google Shape;343;g103996e1364_0_321">
                <a:extLst>
                  <a:ext uri="{FF2B5EF4-FFF2-40B4-BE49-F238E27FC236}">
                    <a16:creationId xmlns:a16="http://schemas.microsoft.com/office/drawing/2014/main" xmlns="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50" y="62866"/>
                <a:ext cx="10957380" cy="978689"/>
              </a:xfrm>
              <a:prstGeom prst="rect">
                <a:avLst/>
              </a:prstGeom>
              <a:blipFill rotWithShape="1">
                <a:blip r:embed="rId5"/>
                <a:stretch>
                  <a:fillRect l="-1447" t="-12422" b="-19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C01B13E8-EC8D-E443-A329-C5E3593DD13A}"/>
              </a:ext>
            </a:extLst>
          </p:cNvPr>
          <p:cNvSpPr txBox="1"/>
          <p:nvPr/>
        </p:nvSpPr>
        <p:spPr>
          <a:xfrm>
            <a:off x="545130" y="1386024"/>
            <a:ext cx="10985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for isolating the variable 𝑥 in vertex form. </a:t>
            </a: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998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±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both possible results of a square root. Remember, when asked to find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36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it is understood that the principal square root,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the answer, but that both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correct because both values can be multiplied by itself to get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This can be written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36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=±6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998052"/>
              </a:xfrm>
              <a:prstGeom prst="rect">
                <a:avLst/>
              </a:prstGeom>
              <a:blipFill rotWithShape="1">
                <a:blip r:embed="rId3"/>
                <a:stretch>
                  <a:fillRect l="-609" b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="" xmlns:a16="http://schemas.microsoft.com/office/drawing/2014/main" id="{42A2608E-3DC2-6649-99B4-BBF11BC9ED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346496"/>
                  </p:ext>
                </p:extLst>
              </p:nvPr>
            </p:nvGraphicFramePr>
            <p:xfrm>
              <a:off x="2449228" y="410666"/>
              <a:ext cx="7010400" cy="418084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val="1377296767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="" xmlns:a16="http://schemas.microsoft.com/office/drawing/2014/main" val="9426293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𝒙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𝒉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908126798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Take the ___________ of both sides.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When taking the ______________ of both sides include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represent both of the possible outputs.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	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33844825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Add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h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both sides.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513271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2A2608E-3DC2-6649-99B4-BBF11BC9ED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346496"/>
                  </p:ext>
                </p:extLst>
              </p:nvPr>
            </p:nvGraphicFramePr>
            <p:xfrm>
              <a:off x="2449228" y="410666"/>
              <a:ext cx="7010400" cy="418084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77296767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426293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9273" b="-8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08126798"/>
                      </a:ext>
                    </a:extLst>
                  </a:tr>
                  <a:tr h="2352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67" t="-19430" r="-91667" b="-58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	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33844825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67" t="-204889" r="-91667" b="-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513271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24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two equations.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two equations.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245825"/>
              </a:xfrm>
              <a:prstGeom prst="rect">
                <a:avLst/>
              </a:prstGeom>
              <a:blipFill rotWithShape="1">
                <a:blip r:embed="rId4"/>
                <a:stretch>
                  <a:fillRect l="-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942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99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𝑏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sz="20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s-ES" sz="20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−4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two equations.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99651"/>
              </a:xfrm>
              <a:prstGeom prst="rect">
                <a:avLst/>
              </a:prstGeom>
              <a:blipFill rotWithShape="1">
                <a:blip r:embed="rId4"/>
                <a:stretch>
                  <a:fillRect l="-609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710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id="{92D3548A-D8FD-0245-B9F7-B7A00EAB5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4084983"/>
                  </p:ext>
                </p:extLst>
              </p:nvPr>
            </p:nvGraphicFramePr>
            <p:xfrm>
              <a:off x="1109663" y="1106192"/>
              <a:ext cx="7966110" cy="41148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="" xmlns:a16="http://schemas.microsoft.com/office/drawing/2014/main" val="4018157085"/>
                        </a:ext>
                      </a:extLst>
                    </a:gridCol>
                    <a:gridCol w="3302670">
                      <a:extLst>
                        <a:ext uri="{9D8B030D-6E8A-4147-A177-3AD203B41FA5}">
                          <a16:colId xmlns="" xmlns:a16="http://schemas.microsoft.com/office/drawing/2014/main" val="23911866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𝒃𝒙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592471552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From standard form the vertex of the parabola can be found using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𝑐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x-none" sz="2000" i="1">
                                              <a:effectLst/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000">
                                              <a:effectLst/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4</m:t>
                                      </m:r>
                                      <m:sSup>
                                        <m:sSupPr>
                                          <m:ctrlPr>
                                            <a:rPr lang="x-none" sz="2000" i="1">
                                              <a:effectLst/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2000">
                                              <a:effectLst/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.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Rewrite standard form to vertex form using this vertex.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h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𝑏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</a:rPr>
                                              <m:t>𝑎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 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371131691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6261602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2D3548A-D8FD-0245-B9F7-B7A00EAB5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4084983"/>
                  </p:ext>
                </p:extLst>
              </p:nvPr>
            </p:nvGraphicFramePr>
            <p:xfrm>
              <a:off x="1109663" y="1106192"/>
              <a:ext cx="7966110" cy="41148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018157085"/>
                        </a:ext>
                      </a:extLst>
                    </a:gridCol>
                    <a:gridCol w="33026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911866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41144" b="-8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92471552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5000" r="-70850" b="-100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41144" t="-25000" b="-100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71131691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25000" r="-70850" b="-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6261602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for isolating the variable 𝑥 in standard form. </a:t>
            </a:r>
          </a:p>
        </p:txBody>
      </p:sp>
    </p:spTree>
    <p:extLst>
      <p:ext uri="{BB962C8B-B14F-4D97-AF65-F5344CB8AC3E}">
        <p14:creationId xmlns:p14="http://schemas.microsoft.com/office/powerpoint/2010/main" val="969054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="" xmlns:a16="http://schemas.microsoft.com/office/drawing/2014/main" id="{92D3548A-D8FD-0245-B9F7-B7A00EAB5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0336369"/>
                  </p:ext>
                </p:extLst>
              </p:nvPr>
            </p:nvGraphicFramePr>
            <p:xfrm>
              <a:off x="1109663" y="410666"/>
              <a:ext cx="7966110" cy="5943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="" xmlns:a16="http://schemas.microsoft.com/office/drawing/2014/main" val="4018157085"/>
                        </a:ext>
                      </a:extLst>
                    </a:gridCol>
                    <a:gridCol w="3302670">
                      <a:extLst>
                        <a:ext uri="{9D8B030D-6E8A-4147-A177-3AD203B41FA5}">
                          <a16:colId xmlns="" xmlns:a16="http://schemas.microsoft.com/office/drawing/2014/main" val="23911866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𝒃𝒙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592471552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Add the opposite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both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sides.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371131691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Take the square root of </a:t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both sides.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When taking the square root of both sides, include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represent both of the possible outputs.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626160204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pPr marL="0" marR="0" indent="50165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2D3548A-D8FD-0245-B9F7-B7A00EAB5D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0336369"/>
                  </p:ext>
                </p:extLst>
              </p:nvPr>
            </p:nvGraphicFramePr>
            <p:xfrm>
              <a:off x="1109663" y="410666"/>
              <a:ext cx="7966110" cy="5943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018157085"/>
                        </a:ext>
                      </a:extLst>
                    </a:gridCol>
                    <a:gridCol w="33026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911866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41144" b="-12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92471552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5000" r="-70850" b="-200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71131691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25000" r="-70850" b="-100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626160204"/>
                      </a:ext>
                    </a:extLst>
                  </a:tr>
                  <a:tr h="18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25000" r="-70850" b="-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31163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9.8.5 Wrap-Up: Ticket Out the Door</a:t>
            </a:r>
          </a:p>
        </p:txBody>
      </p:sp>
      <p:pic>
        <p:nvPicPr>
          <p:cNvPr id="10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02527" y="1205051"/>
                <a:ext cx="1082858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−5</m:t>
                            </m:r>
                          </m:e>
                        </m:d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𝑘.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𝑏.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27" y="1205051"/>
                <a:ext cx="10828586" cy="2862322"/>
              </a:xfrm>
              <a:prstGeom prst="rect">
                <a:avLst/>
              </a:prstGeom>
              <a:blipFill rotWithShape="1">
                <a:blip r:embed="rId5"/>
                <a:stretch>
                  <a:fillRect l="-563" t="-1279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</TotalTime>
  <Words>1115</Words>
  <Application>Microsoft Office PowerPoint</Application>
  <PresentationFormat>Custom</PresentationFormat>
  <Paragraphs>219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Cambria</vt:lpstr>
      <vt:lpstr>Arial Black</vt:lpstr>
      <vt:lpstr>Verdana</vt:lpstr>
      <vt:lpstr>Calibri</vt:lpstr>
      <vt:lpstr>Times New Roman</vt:lpstr>
      <vt:lpstr>Century Gothic</vt:lpstr>
      <vt:lpstr>Wingdings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35</cp:revision>
  <dcterms:created xsi:type="dcterms:W3CDTF">2015-03-17T18:51:18Z</dcterms:created>
  <dcterms:modified xsi:type="dcterms:W3CDTF">2022-06-28T09:10:43Z</dcterms:modified>
</cp:coreProperties>
</file>