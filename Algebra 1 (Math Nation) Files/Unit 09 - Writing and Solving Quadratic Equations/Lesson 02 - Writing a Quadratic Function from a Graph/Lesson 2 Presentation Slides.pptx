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345" r:id="rId4"/>
    <p:sldId id="286" r:id="rId5"/>
    <p:sldId id="261" r:id="rId6"/>
    <p:sldId id="287" r:id="rId7"/>
    <p:sldId id="288" r:id="rId8"/>
    <p:sldId id="289" r:id="rId9"/>
    <p:sldId id="290" r:id="rId10"/>
    <p:sldId id="308" r:id="rId11"/>
    <p:sldId id="337" r:id="rId12"/>
    <p:sldId id="357" r:id="rId13"/>
    <p:sldId id="314" r:id="rId14"/>
    <p:sldId id="315" r:id="rId15"/>
    <p:sldId id="316" r:id="rId16"/>
    <p:sldId id="339" r:id="rId17"/>
    <p:sldId id="340" r:id="rId18"/>
    <p:sldId id="341" r:id="rId19"/>
    <p:sldId id="342" r:id="rId20"/>
    <p:sldId id="354" r:id="rId21"/>
    <p:sldId id="355" r:id="rId22"/>
    <p:sldId id="358" r:id="rId23"/>
    <p:sldId id="360" r:id="rId24"/>
    <p:sldId id="306" r:id="rId25"/>
    <p:sldId id="307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3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4E5F"/>
    <a:srgbClr val="1765AD"/>
    <a:srgbClr val="1664AC"/>
    <a:srgbClr val="BFBFBF"/>
    <a:srgbClr val="C9DF6F"/>
    <a:srgbClr val="417DBF"/>
    <a:srgbClr val="3F2A67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0293" autoAdjust="0"/>
    <p:restoredTop sz="94719"/>
  </p:normalViewPr>
  <p:slideViewPr>
    <p:cSldViewPr snapToGrid="0">
      <p:cViewPr>
        <p:scale>
          <a:sx n="80" d="100"/>
          <a:sy n="80" d="100"/>
        </p:scale>
        <p:origin x="1776" y="9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3" Type="http://customschemas.google.com/relationships/presentationmetadata" Target="metadata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087901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Video Link: https://</a:t>
            </a:r>
            <a:r>
              <a:rPr lang="en-US" dirty="0" err="1"/>
              <a:t>algebranation.wistia.com</a:t>
            </a:r>
            <a:r>
              <a:rPr lang="en-US" dirty="0"/>
              <a:t>/medias/fi4fidi5y8</a:t>
            </a: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209190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12755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52346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38162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83785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815133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19076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63403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75597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629940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4" Type="http://schemas.openxmlformats.org/officeDocument/2006/relationships/image" Target="../media/image9.png"/><Relationship Id="rId5" Type="http://schemas.openxmlformats.org/officeDocument/2006/relationships/image" Target="../media/image2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4" Type="http://schemas.openxmlformats.org/officeDocument/2006/relationships/image" Target="../media/image9.png"/><Relationship Id="rId5" Type="http://schemas.openxmlformats.org/officeDocument/2006/relationships/image" Target="../media/image22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4" Type="http://schemas.openxmlformats.org/officeDocument/2006/relationships/image" Target="../media/image9.png"/><Relationship Id="rId5" Type="http://schemas.openxmlformats.org/officeDocument/2006/relationships/image" Target="../media/image24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25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29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3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31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32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33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34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36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37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38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39.png"/><Relationship Id="rId5" Type="http://schemas.openxmlformats.org/officeDocument/2006/relationships/image" Target="../media/image38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=""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261;g104476d1465_0_0"/>
          <p:cNvSpPr txBox="1">
            <a:spLocks/>
          </p:cNvSpPr>
          <p:nvPr/>
        </p:nvSpPr>
        <p:spPr>
          <a:xfrm>
            <a:off x="5742834" y="2054277"/>
            <a:ext cx="4925167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Algebra 1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40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9, Lesson 2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Writing a Quadratic Function </a:t>
            </a: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F</a:t>
            </a:r>
            <a:r>
              <a:rPr lang="en-US" sz="4000" b="1" dirty="0" smtClean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rom </a:t>
            </a: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 Graphic</a:t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40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65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xmlns="" id="{A3BF60F1-A9D6-B043-9905-FB1D55DD5BC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503" y="1918611"/>
            <a:ext cx="2973100" cy="3465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79;g104476d1465_1_17"/>
          <p:cNvSpPr txBox="1">
            <a:spLocks/>
          </p:cNvSpPr>
          <p:nvPr/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400"/>
            </a:pPr>
            <a:r>
              <a:rPr lang="en-US" sz="47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lang="en-US"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0;g104476d1465_1_17">
            <a:extLst>
              <a:ext uri="{FF2B5EF4-FFF2-40B4-BE49-F238E27FC236}">
                <a16:creationId xmlns=""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9531"/>
            <a:ext cx="1101658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MA.912.AR.1.2</a:t>
            </a:r>
          </a:p>
          <a:p>
            <a:pPr marL="552450" lvl="1" indent="0">
              <a:buNone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Rearrange equations or formulas to isolate a quantity of interest. </a:t>
            </a:r>
          </a:p>
          <a:p>
            <a:pPr marL="552450" lvl="1" indent="0">
              <a:buNone/>
            </a:pPr>
            <a:endParaRPr lang="en-US" sz="3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5250" indent="0">
              <a:buNone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MA.912.AR.3.4</a:t>
            </a:r>
          </a:p>
          <a:p>
            <a:pPr marL="552450" lvl="1" indent="0">
              <a:buNone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a quadratic function to represent the relationship between two quantities from a graph, a written description, or a table of values within a mathematical or real-world context.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8;g104476d1465_1_17">
            <a:extLst>
              <a:ext uri="{FF2B5EF4-FFF2-40B4-BE49-F238E27FC236}">
                <a16:creationId xmlns="" xmlns:a16="http://schemas.microsoft.com/office/drawing/2014/main" id="{78632872-3F42-3447-924A-20A16C6976F7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Google Shape;283;g104476d1465_1_17">
            <a:extLst>
              <a:ext uri="{FF2B5EF4-FFF2-40B4-BE49-F238E27FC236}">
                <a16:creationId xmlns="" xmlns:a16="http://schemas.microsoft.com/office/drawing/2014/main" id="{983DCB5F-2CE8-A74F-A579-F39E2E9337FB}"/>
              </a:ext>
            </a:extLst>
          </p:cNvPr>
          <p:cNvPicPr preferRelativeResize="0"/>
          <p:nvPr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="" xmlns:a16="http://schemas.microsoft.com/office/drawing/2014/main" id="{6759D0BD-51D0-6B40-9940-E3F570D4EA0E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96;g103996e1364_0_10">
            <a:extLst>
              <a:ext uri="{FF2B5EF4-FFF2-40B4-BE49-F238E27FC236}">
                <a16:creationId xmlns=""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6" y="1596390"/>
            <a:ext cx="998050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11" name="Google Shape;295;g103996e1364_0_10">
            <a:extLst>
              <a:ext uri="{FF2B5EF4-FFF2-40B4-BE49-F238E27FC236}">
                <a16:creationId xmlns=""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4217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</p:spTree>
    <p:extLst>
      <p:ext uri="{BB962C8B-B14F-4D97-AF65-F5344CB8AC3E}">
        <p14:creationId xmlns:p14="http://schemas.microsoft.com/office/powerpoint/2010/main" val="234299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="" xmlns:a16="http://schemas.microsoft.com/office/drawing/2014/main" id="{11350860-5133-CF4C-91F0-82C49767E6AC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</a:t>
            </a:r>
            <a:r>
              <a:rPr lang="en-US" sz="4700" b="1" dirty="0" smtClean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Targets</a:t>
            </a:r>
            <a:endParaRPr lang="en-US" sz="4700" b="1" dirty="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21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09350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indent="-685800">
              <a:buFont typeface="Wingdings" pitchFamily="2" charset="2"/>
              <a:buChar char="q"/>
            </a:pP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write a quadratic function to represent the relationship between two quantities from a graph.</a:t>
            </a:r>
          </a:p>
          <a:p>
            <a:pPr marL="685800" indent="-685800"/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685800" indent="-685800">
              <a:buFont typeface="Wingdings" pitchFamily="2" charset="2"/>
              <a:buChar char="q"/>
            </a:pP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rewrite a quadratic equation from vertex form to standard form.</a:t>
            </a:r>
          </a:p>
          <a:p>
            <a:pPr marL="685800" indent="-685800"/>
            <a:endParaRPr lang="en-US" sz="36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685800" indent="-685800">
              <a:buFont typeface="Wingdings" pitchFamily="2" charset="2"/>
              <a:buChar char="q"/>
            </a:pPr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solve for a variable of interest.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="" xmlns:a16="http://schemas.microsoft.com/office/drawing/2014/main" id="{13E4C45C-B662-7F44-8EF2-8BC4E4A7E35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313;g104476d1465_1_39"/>
          <p:cNvSpPr txBox="1">
            <a:spLocks/>
          </p:cNvSpPr>
          <p:nvPr/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lang="en-US"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Google Shape;282;g104476d1465_1_17">
            <a:extLst>
              <a:ext uri="{FF2B5EF4-FFF2-40B4-BE49-F238E27FC236}">
                <a16:creationId xmlns="" xmlns:a16="http://schemas.microsoft.com/office/drawing/2014/main" id="{ECAA359C-7327-AC4D-8972-D52228F67AB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image11.png">
            <a:extLst>
              <a:ext uri="{FF2B5EF4-FFF2-40B4-BE49-F238E27FC236}">
                <a16:creationId xmlns="" xmlns:a16="http://schemas.microsoft.com/office/drawing/2014/main" id="{159A5185-89CD-3C47-83CE-7D201FCB39B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972693" y="2839959"/>
            <a:ext cx="4443124" cy="3579616"/>
          </a:xfrm>
          <a:prstGeom prst="rect">
            <a:avLst/>
          </a:prstGeom>
          <a:ln/>
        </p:spPr>
      </p:pic>
      <p:sp>
        <p:nvSpPr>
          <p:cNvPr id="15" name="TextBox 14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E1D7562E-134F-D14B-AF1A-DF40E11EF758}"/>
              </a:ext>
            </a:extLst>
          </p:cNvPr>
          <p:cNvSpPr txBox="1"/>
          <p:nvPr/>
        </p:nvSpPr>
        <p:spPr>
          <a:xfrm>
            <a:off x="479008" y="1326087"/>
            <a:ext cx="1143049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Vaulting is an exercise in which gymnasts leap over an apparatus and perform a skill in mid-air. The image shows a frame-by-frame pictorial of a gymnast’s vault routine. Based on the compilation of moves performed by the gymnast, a sketch of a parabola was drawn.</a:t>
            </a:r>
          </a:p>
        </p:txBody>
      </p:sp>
      <p:sp>
        <p:nvSpPr>
          <p:cNvPr id="16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275689"/>
            <a:ext cx="108340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9.2.1 Warm-Up: Vaulting Moves</a:t>
            </a:r>
          </a:p>
        </p:txBody>
      </p:sp>
      <p:pic>
        <p:nvPicPr>
          <p:cNvPr id="17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53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282;g104476d1465_1_17">
            <a:extLst>
              <a:ext uri="{FF2B5EF4-FFF2-40B4-BE49-F238E27FC236}">
                <a16:creationId xmlns="" xmlns:a16="http://schemas.microsoft.com/office/drawing/2014/main" id="{91320C37-EA31-CF41-8AA7-D98A5EC775B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="" xmlns:a16="http://schemas.microsoft.com/office/drawing/2014/main" id="{A02A3B13-FED4-9747-9964-AD86D2AD78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6974033"/>
                  </p:ext>
                </p:extLst>
              </p:nvPr>
            </p:nvGraphicFramePr>
            <p:xfrm>
              <a:off x="3292190" y="2844758"/>
              <a:ext cx="5514975" cy="13716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1877479">
                      <a:extLst>
                        <a:ext uri="{9D8B030D-6E8A-4147-A177-3AD203B41FA5}">
                          <a16:colId xmlns="" xmlns:a16="http://schemas.microsoft.com/office/drawing/2014/main" val="4196893068"/>
                        </a:ext>
                      </a:extLst>
                    </a:gridCol>
                    <a:gridCol w="3637496">
                      <a:extLst>
                        <a:ext uri="{9D8B030D-6E8A-4147-A177-3AD203B41FA5}">
                          <a16:colId xmlns="" xmlns:a16="http://schemas.microsoft.com/office/drawing/2014/main" val="479286430"/>
                        </a:ext>
                      </a:extLst>
                    </a:gridCol>
                  </a:tblGrid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vertex</a:t>
                          </a:r>
                          <a:endParaRPr lang="x-none" sz="1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374355322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/>
                                </a:rPr>
                                <m:t>𝒙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-intercepts</a:t>
                          </a:r>
                          <a:endParaRPr lang="x-none" sz="1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21927177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02A3B13-FED4-9747-9964-AD86D2AD78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6974033"/>
                  </p:ext>
                </p:extLst>
              </p:nvPr>
            </p:nvGraphicFramePr>
            <p:xfrm>
              <a:off x="3292190" y="2844758"/>
              <a:ext cx="5514975" cy="13716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1877479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4196893068"/>
                        </a:ext>
                      </a:extLst>
                    </a:gridCol>
                    <a:gridCol w="3637496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479286430"/>
                        </a:ext>
                      </a:extLst>
                    </a:gridCol>
                  </a:tblGrid>
                  <a:tr h="685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vertex</a:t>
                          </a:r>
                          <a:endParaRPr lang="x-none" sz="14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74355322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101786" r="-1938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19271774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=""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7525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whether the 𝑎 value of the parabola is positive or negative.</a:t>
                </a:r>
              </a:p>
              <a:p>
                <a:pPr marL="517525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517525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517525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517525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517525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If each square is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what are the vertex and 𝑥-intercepts of the parabola?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1938992"/>
              </a:xfrm>
              <a:prstGeom prst="rect">
                <a:avLst/>
              </a:prstGeom>
              <a:blipFill rotWithShape="1">
                <a:blip r:embed="rId5"/>
                <a:stretch>
                  <a:fillRect l="-55" t="-1887" b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=""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313;g104476d1465_1_39"/>
          <p:cNvSpPr txBox="1">
            <a:spLocks/>
          </p:cNvSpPr>
          <p:nvPr/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lang="en-US"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image2.png" descr="Icon&#10;&#10;Description automatically generated">
            <a:extLst>
              <a:ext uri="{FF2B5EF4-FFF2-40B4-BE49-F238E27FC236}">
                <a16:creationId xmlns:a16="http://schemas.microsoft.com/office/drawing/2014/main" xmlns="" id="{B8663E50-D763-C343-96E8-FEAEDD7FA21B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506717" y="2849920"/>
            <a:ext cx="1158150" cy="115815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image7.png">
            <a:extLst>
              <a:ext uri="{FF2B5EF4-FFF2-40B4-BE49-F238E27FC236}">
                <a16:creationId xmlns="" xmlns:a16="http://schemas.microsoft.com/office/drawing/2014/main" id="{0B398424-B6C8-814B-85AC-FE4D77F84C1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30157" y="1386024"/>
            <a:ext cx="4500426" cy="4500426"/>
          </a:xfrm>
          <a:prstGeom prst="rect">
            <a:avLst/>
          </a:prstGeom>
          <a:ln/>
        </p:spPr>
      </p:pic>
      <p:sp>
        <p:nvSpPr>
          <p:cNvPr id="10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62866"/>
            <a:ext cx="10957380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9.2.2 Guided Instruction: Writing a Quadratic Function in Vertex Form from a Graph</a:t>
            </a:r>
          </a:p>
        </p:txBody>
      </p:sp>
      <p:pic>
        <p:nvPicPr>
          <p:cNvPr id="11" name="Google Shape;345;g103996e1364_0_321">
            <a:extLst>
              <a:ext uri="{FF2B5EF4-FFF2-40B4-BE49-F238E27FC236}">
                <a16:creationId xmlns:a16="http://schemas.microsoft.com/office/drawing/2014/main" xmlns="" id="{CBDD45DF-949B-9F42-BFF6-A7167F0CF79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5350" y="1785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mc="http://schemas.openxmlformats.org/markup-compatibility/2006" xmlns:a14="http://schemas.microsoft.com/office/drawing/2010/main" xmlns="" xmlns:a16="http://schemas.microsoft.com/office/drawing/2014/main" id="{C01B13E8-EC8D-E443-A329-C5E3593DD13A}"/>
              </a:ext>
            </a:extLst>
          </p:cNvPr>
          <p:cNvSpPr txBox="1"/>
          <p:nvPr/>
        </p:nvSpPr>
        <p:spPr>
          <a:xfrm>
            <a:off x="545130" y="1386024"/>
            <a:ext cx="611284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Hudson is starting a lawn-mowing business in his neighborhood. He creates a graph to help him determine what to charge customers per mow to maximize his profits. He uses 𝑥 to represent the cost of each lawn he mows and 𝑦 to represent the profit in dollars ($).</a:t>
            </a:r>
          </a:p>
        </p:txBody>
      </p:sp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=""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point                represents the </a:t>
                </a: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maximum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profit Hudson can make. This point on </a:t>
                </a: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graph is called the __________ of the parabola. 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what you notice about points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(20, 190)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(40, 190)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3785652"/>
              </a:xfrm>
              <a:prstGeom prst="rect">
                <a:avLst/>
              </a:prstGeom>
              <a:blipFill rotWithShape="1">
                <a:blip r:embed="rId3"/>
                <a:stretch>
                  <a:fillRect l="-885" b="-2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 descr="A white sign with black text&#10;&#10;Description automatically generated with medium confidence">
            <a:extLst>
              <a:ext uri="{FF2B5EF4-FFF2-40B4-BE49-F238E27FC236}">
                <a16:creationId xmlns="" xmlns:a16="http://schemas.microsoft.com/office/drawing/2014/main" id="{28BDE7E3-A167-754E-8E0A-189BD35F7BB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2959" y="410666"/>
            <a:ext cx="1476086" cy="97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=""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Points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(20, 190)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(40, 190)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equidistant from the vertex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(30, 240)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Identify two other points on the graph that are equidistant from the vertex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(30, 240)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4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lnSpc>
                    <a:spcPct val="200000"/>
                  </a:lnSpc>
                  <a:buFont typeface="+mj-lt"/>
                  <a:buAutoNum type="arabicPeriod" startAt="3"/>
                  <a:tabLst>
                    <a:tab pos="8115300" algn="l"/>
                  </a:tabLst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To find the equation of the quadratic </a:t>
                </a: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function represented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by the graph, it would be easiest to use </a:t>
                </a: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because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graph provides the </a:t>
                </a:r>
                <a:r>
                  <a:rPr lang="en-US" sz="2400" u="sng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	     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at </a:t>
                </a: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least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one other </a:t>
                </a:r>
                <a:r>
                  <a:rPr lang="en-US" sz="2400" u="sng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	       </a:t>
                </a:r>
                <a:r>
                  <a:rPr lang="en-US" sz="24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5632311"/>
              </a:xfrm>
              <a:prstGeom prst="rect">
                <a:avLst/>
              </a:prstGeom>
              <a:blipFill rotWithShape="1">
                <a:blip r:embed="rId3"/>
                <a:stretch>
                  <a:fillRect l="-885" t="-9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="" xmlns:a16="http://schemas.microsoft.com/office/drawing/2014/main" id="{BB3026BB-652D-B342-9E02-D40CDBC2EC7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91768" y="3695420"/>
            <a:ext cx="2270347" cy="999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942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=""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57591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steps in the table show how to use the point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(20, 190)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the vertex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(30, 240)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find the quadratic function in vertex form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𝑓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)=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𝑎</m:t>
                    </m:r>
                    <m:sSup>
                      <m:sSupPr>
                        <m:ctrlPr>
                          <a:rPr lang="en-US" sz="2000" i="1" dirty="0">
                            <a:latin typeface="Cambria Math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 dirty="0">
                                <a:latin typeface="Cambria Math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es-ES" sz="20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𝑥</m:t>
                            </m:r>
                            <m:r>
                              <a:rPr lang="es-ES" sz="20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−</m:t>
                            </m:r>
                            <m:r>
                              <a:rPr lang="es-ES" sz="20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h</m:t>
                            </m:r>
                          </m:e>
                        </m:d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𝑘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</m:t>
                    </m:r>
                    <m:r>
                      <a:rPr lang="en-US" sz="2000" i="1" dirty="0" err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h</m:t>
                    </m:r>
                    <m:r>
                      <a:rPr lang="en-US" sz="20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, </m:t>
                    </m:r>
                    <m:r>
                      <a:rPr lang="en-US" sz="20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𝑘</m:t>
                    </m:r>
                    <m:r>
                      <a:rPr lang="en-US" sz="20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vertex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endParaRPr lang="en-PH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PH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PH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PH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PH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PH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PH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quadratic equation Hudson graphed is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=−</m:t>
                    </m:r>
                    <m:f>
                      <m:fPr>
                        <m:ctrlPr>
                          <a:rPr lang="en-US" sz="2000" i="1" dirty="0">
                            <a:latin typeface="Cambria Math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den>
                    </m:f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  <m:sSup>
                      <m:sSupPr>
                        <m:ctrlPr>
                          <a:rPr lang="en-US" sz="2000" i="1" dirty="0">
                            <a:latin typeface="Cambria Math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 dirty="0">
                                <a:latin typeface="Cambria Math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es-ES" sz="20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𝑥</m:t>
                            </m:r>
                            <m:r>
                              <a:rPr lang="es-ES" sz="20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−30</m:t>
                            </m:r>
                          </m:e>
                        </m:d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+240</m:t>
                    </m:r>
                  </m:oMath>
                </a14:m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5759141"/>
              </a:xfrm>
              <a:prstGeom prst="rect">
                <a:avLst/>
              </a:prstGeom>
              <a:blipFill rotWithShape="1">
                <a:blip r:embed="rId3"/>
                <a:stretch>
                  <a:fillRect l="-609" t="-529" r="-4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="" xmlns:a16="http://schemas.microsoft.com/office/drawing/2014/main" id="{A645743B-7CFC-D441-A1EA-67D1CB1B5E1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7723762"/>
                  </p:ext>
                </p:extLst>
              </p:nvPr>
            </p:nvGraphicFramePr>
            <p:xfrm>
              <a:off x="2724150" y="1772777"/>
              <a:ext cx="6797675" cy="3539363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3597275">
                      <a:extLst>
                        <a:ext uri="{9D8B030D-6E8A-4147-A177-3AD203B41FA5}">
                          <a16:colId xmlns="" xmlns:a16="http://schemas.microsoft.com/office/drawing/2014/main" val="3745749950"/>
                        </a:ext>
                      </a:extLst>
                    </a:gridCol>
                    <a:gridCol w="3200400">
                      <a:extLst>
                        <a:ext uri="{9D8B030D-6E8A-4147-A177-3AD203B41FA5}">
                          <a16:colId xmlns="" xmlns:a16="http://schemas.microsoft.com/office/drawing/2014/main" val="298049007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indent="10731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Substitute values for the vertex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x-none" sz="2000" i="1" smtClean="0">
                                      <a:solidFill>
                                        <a:srgbClr val="7030A0"/>
                                      </a:solidFill>
                                      <a:effectLst/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>
                                      <a:solidFill>
                                        <a:srgbClr val="7030A0"/>
                                      </a:solidFill>
                                      <a:effectLst/>
                                      <a:latin typeface="Cambria Math"/>
                                    </a:rPr>
                                    <m:t>30, 240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107315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𝑓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)=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𝑎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(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𝑥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−30)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 smtClean="0">
                                    <a:solidFill>
                                      <a:srgbClr val="7030A0"/>
                                    </a:solidFill>
                                    <a:effectLst/>
                                    <a:latin typeface="Cambria Math"/>
                                  </a:rPr>
                                  <m:t>240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350419570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10731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Substitute values for the 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accent5"/>
                                  </a:solidFill>
                                  <a:effectLst/>
                                  <a:latin typeface="Cambria Math"/>
                                </a:rPr>
                                <m:t>(20, 190)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107315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solidFill>
                                      <a:schemeClr val="accent5"/>
                                    </a:solidFill>
                                    <a:effectLst/>
                                    <a:latin typeface="Cambria Math"/>
                                  </a:rPr>
                                  <m:t>190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𝑎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(</m:t>
                                    </m:r>
                                    <m:r>
                                      <a:rPr lang="en-US" sz="2000" smtClean="0">
                                        <a:solidFill>
                                          <a:schemeClr val="accent5"/>
                                        </a:solidFill>
                                        <a:effectLst/>
                                        <a:latin typeface="Cambria Math"/>
                                      </a:rPr>
                                      <m:t>20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−30)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+240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3120758256"/>
                      </a:ext>
                    </a:extLst>
                  </a:tr>
                  <a:tr h="1376680">
                    <a:tc>
                      <a:txBody>
                        <a:bodyPr/>
                        <a:lstStyle/>
                        <a:p>
                          <a:pPr marL="0" marR="0" indent="10731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Solve for the variable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𝑎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107315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190=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𝑎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</a:rPr>
                                          <m:t>−10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+240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107315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190−240=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𝑎</m:t>
                                </m:r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100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107315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−50=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𝑎</m:t>
                                </m:r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100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indent="107315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𝑎</m:t>
                              </m:r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=−</m:t>
                              </m:r>
                              <m:f>
                                <m:fPr>
                                  <m:ctrlPr>
                                    <a:rPr lang="x-none" sz="2000" i="1">
                                      <a:effectLst/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PH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70278118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indent="10731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Substitute in the vertex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chemeClr val="accent6"/>
                                  </a:solidFill>
                                  <a:effectLst/>
                                  <a:latin typeface="Cambria Math"/>
                                </a:rPr>
                                <m:t>𝑎</m:t>
                              </m:r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value.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107315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𝑓</m:t>
                              </m:r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)=−</m:t>
                              </m:r>
                              <m:f>
                                <m:fPr>
                                  <m:ctrlPr>
                                    <a:rPr lang="x-none" sz="2000" i="1">
                                      <a:solidFill>
                                        <a:schemeClr val="accent6"/>
                                      </a:solidFill>
                                      <a:effectLst/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solidFill>
                                        <a:schemeClr val="accent6"/>
                                      </a:solidFill>
                                      <a:effectLst/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>
                                      <a:solidFill>
                                        <a:schemeClr val="accent6"/>
                                      </a:solidFill>
                                      <a:effectLst/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x-none" sz="2000" i="1">
                                      <a:effectLst/>
                                      <a:latin typeface="Cambria Math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(</m:t>
                                  </m:r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𝑥</m:t>
                                  </m:r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−30)</m:t>
                                  </m:r>
                                </m:e>
                                <m:sup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+240</m:t>
                              </m:r>
                            </m:oMath>
                          </a14:m>
                          <a:r>
                            <a:rPr lang="en-PH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33970671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645743B-7CFC-D441-A1EA-67D1CB1B5E1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7723762"/>
                  </p:ext>
                </p:extLst>
              </p:nvPr>
            </p:nvGraphicFramePr>
            <p:xfrm>
              <a:off x="2724150" y="1772777"/>
              <a:ext cx="6797675" cy="3539363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359727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745749950"/>
                        </a:ext>
                      </a:extLst>
                    </a:gridCol>
                    <a:gridCol w="32004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980490071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69" t="-4348" r="-88983" b="-4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12571" t="-4348" b="-4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504195706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69" t="-104348" r="-88983" b="-3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12571" t="-104348" b="-3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120758256"/>
                      </a:ext>
                    </a:extLst>
                  </a:tr>
                  <a:tr h="14362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69" t="-100000" r="-88983" b="-565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12571" t="-100000" b="-565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702781185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69" t="-408696" r="-88983" b="-156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12571" t="-408696" b="-156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3970671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398615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=""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13;g104476d1465_1_39"/>
          <p:cNvSpPr txBox="1">
            <a:spLocks/>
          </p:cNvSpPr>
          <p:nvPr/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lang="en-US"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xmlns="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=""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="" xmlns:a16="http://schemas.microsoft.com/office/drawing/2014/main" id="{7588CDBE-B82A-6C4C-87C1-A125152C13B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8576444"/>
                  </p:ext>
                </p:extLst>
              </p:nvPr>
            </p:nvGraphicFramePr>
            <p:xfrm>
              <a:off x="2647988" y="2805579"/>
              <a:ext cx="6611637" cy="323088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3291840">
                      <a:extLst>
                        <a:ext uri="{9D8B030D-6E8A-4147-A177-3AD203B41FA5}">
                          <a16:colId xmlns="" xmlns:a16="http://schemas.microsoft.com/office/drawing/2014/main" val="2715554057"/>
                        </a:ext>
                      </a:extLst>
                    </a:gridCol>
                    <a:gridCol w="3319797">
                      <a:extLst>
                        <a:ext uri="{9D8B030D-6E8A-4147-A177-3AD203B41FA5}">
                          <a16:colId xmlns="" xmlns:a16="http://schemas.microsoft.com/office/drawing/2014/main" val="124629716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Substitute values for the vertex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rgbClr val="7030A0"/>
                                  </a:solidFill>
                                  <a:effectLst/>
                                  <a:latin typeface="Cambria Math"/>
                                </a:rPr>
                                <m:t>(30, 240)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𝑓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)=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𝑎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(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𝑥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−30)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 smtClean="0">
                                    <a:solidFill>
                                      <a:srgbClr val="7030A0"/>
                                    </a:solidFill>
                                    <a:effectLst/>
                                    <a:latin typeface="Cambria Math"/>
                                  </a:rPr>
                                  <m:t>240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337521691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Substitute values for the 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solidFill>
                                    <a:srgbClr val="C00000"/>
                                  </a:solidFill>
                                  <a:effectLst/>
                                  <a:latin typeface="Cambria Math"/>
                                </a:rPr>
                                <m:t>(40, 190)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solidFill>
                                      <a:srgbClr val="C00000"/>
                                    </a:solidFill>
                                    <a:effectLst/>
                                    <a:latin typeface="Cambria Math"/>
                                  </a:rPr>
                                  <m:t>190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𝑎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(</m:t>
                                    </m:r>
                                    <m:r>
                                      <a:rPr lang="en-US" sz="2000" smtClean="0">
                                        <a:solidFill>
                                          <a:srgbClr val="C00000"/>
                                        </a:solidFill>
                                        <a:effectLst/>
                                        <a:latin typeface="Cambria Math"/>
                                      </a:rPr>
                                      <m:t>40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−30)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+240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75736913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Solve for the variable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𝑎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78859097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Substitute in the vertex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𝑎</m:t>
                              </m:r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value.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11327179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588CDBE-B82A-6C4C-87C1-A125152C13B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8576444"/>
                  </p:ext>
                </p:extLst>
              </p:nvPr>
            </p:nvGraphicFramePr>
            <p:xfrm>
              <a:off x="2647988" y="2805579"/>
              <a:ext cx="6611637" cy="323088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329184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715554057"/>
                        </a:ext>
                      </a:extLst>
                    </a:gridCol>
                    <a:gridCol w="3319797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246297168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4348" r="-100926" b="-36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99083" t="-4348" b="-3617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375216911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104348" r="-100926" b="-26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99083" t="-104348" b="-2617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75736913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156667" r="-100926" b="-10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78859097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256667" r="-100926" b="-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11327179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49" y="212163"/>
            <a:ext cx="11041785" cy="86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2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9.2.3 Collaboration: Writing a Quadratic Function Using a Vertex and </a:t>
            </a:r>
            <a:r>
              <a:rPr lang="en-US" sz="28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Point </a:t>
            </a:r>
            <a:r>
              <a:rPr lang="en-US" sz="28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F</a:t>
            </a:r>
            <a:r>
              <a:rPr lang="en-US" sz="2800" b="1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rom </a:t>
            </a:r>
            <a:r>
              <a:rPr lang="en-US" sz="2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 Graph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xmlns="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27120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565711" y="1386025"/>
                <a:ext cx="10964873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With your partner, use the other point identified on Hudson’s graph,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(40, 190)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along with the same vertex,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(30, 240)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to generate another quadratic equation in vertex form.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711" y="1386025"/>
                <a:ext cx="10964873" cy="1015663"/>
              </a:xfrm>
              <a:prstGeom prst="rect">
                <a:avLst/>
              </a:prstGeom>
              <a:blipFill rotWithShape="1">
                <a:blip r:embed="rId6"/>
                <a:stretch>
                  <a:fillRect l="-611" t="-3593" r="-334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quadratic equation with vertex (30, 240) and point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(40, 190)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is </a:t>
                </a:r>
                <a:br>
                  <a:rPr lang="en-US" sz="20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0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US" sz="20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000" u="sng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	                               </a:t>
                </a:r>
                <a:r>
                  <a:rPr lang="en-US" sz="20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Discuss with your partner what you notice about quadratic functions with the same vertex and two points that are equidistant from the vertex. Summarize your discussion.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3477875"/>
              </a:xfrm>
              <a:prstGeom prst="rect">
                <a:avLst/>
              </a:prstGeom>
              <a:blipFill rotWithShape="1">
                <a:blip r:embed="rId4"/>
                <a:stretch>
                  <a:fillRect t="-1051" r="-941" b="-2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image1.png">
            <a:extLst>
              <a:ext uri="{FF2B5EF4-FFF2-40B4-BE49-F238E27FC236}">
                <a16:creationId xmlns="" xmlns:a16="http://schemas.microsoft.com/office/drawing/2014/main" id="{FE89840B-1B6F-3349-BBB6-3CAA36017610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43511" y="1426883"/>
            <a:ext cx="4012334" cy="4012334"/>
          </a:xfrm>
          <a:prstGeom prst="rect">
            <a:avLst/>
          </a:prstGeom>
          <a:ln/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2AA35BC6-D428-FC41-BDE5-6438AB8840FC}"/>
              </a:ext>
            </a:extLst>
          </p:cNvPr>
          <p:cNvSpPr txBox="1"/>
          <p:nvPr/>
        </p:nvSpPr>
        <p:spPr>
          <a:xfrm>
            <a:off x="540565" y="410666"/>
            <a:ext cx="110182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quadratic function is graphed with the vertex and two points equidistant from the vertex labeled.</a:t>
            </a:r>
          </a:p>
        </p:txBody>
      </p:sp>
    </p:spTree>
    <p:extLst>
      <p:ext uri="{BB962C8B-B14F-4D97-AF65-F5344CB8AC3E}">
        <p14:creationId xmlns:p14="http://schemas.microsoft.com/office/powerpoint/2010/main" val="23815530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="" xmlns:a16="http://schemas.microsoft.com/office/drawing/2014/main" id="{4A616F9C-2084-EE40-B223-8B8610A3E5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6812721"/>
                  </p:ext>
                </p:extLst>
              </p:nvPr>
            </p:nvGraphicFramePr>
            <p:xfrm>
              <a:off x="1600016" y="1072364"/>
              <a:ext cx="9784080" cy="36576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3383280">
                      <a:extLst>
                        <a:ext uri="{9D8B030D-6E8A-4147-A177-3AD203B41FA5}">
                          <a16:colId xmlns="" xmlns:a16="http://schemas.microsoft.com/office/drawing/2014/main" val="4191834296"/>
                        </a:ext>
                      </a:extLst>
                    </a:gridCol>
                    <a:gridCol w="6400800">
                      <a:extLst>
                        <a:ext uri="{9D8B030D-6E8A-4147-A177-3AD203B41FA5}">
                          <a16:colId xmlns="" xmlns:a16="http://schemas.microsoft.com/office/drawing/2014/main" val="1744529807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Substitute values for the vertex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(2, 1)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3031702747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Substitute values for the 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(0, 21)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or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(4, 21)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249309794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Solve for the variable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𝑎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303495899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Substitute in the vertex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𝑎</m:t>
                              </m:r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value.</a:t>
                          </a: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7072434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A616F9C-2084-EE40-B223-8B8610A3E5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6812721"/>
                  </p:ext>
                </p:extLst>
              </p:nvPr>
            </p:nvGraphicFramePr>
            <p:xfrm>
              <a:off x="1600016" y="1072364"/>
              <a:ext cx="9784080" cy="3657600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338328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4191834296"/>
                        </a:ext>
                      </a:extLst>
                    </a:gridCol>
                    <a:gridCol w="64008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744529807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667" r="-189369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031702747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100667" r="-189369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49309794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200667" r="-189369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x-none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03495899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300667" r="-1893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70724342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2AA35BC6-D428-FC41-BDE5-6438AB8840FC}"/>
              </a:ext>
            </a:extLst>
          </p:cNvPr>
          <p:cNvSpPr txBox="1"/>
          <p:nvPr/>
        </p:nvSpPr>
        <p:spPr>
          <a:xfrm>
            <a:off x="540565" y="410666"/>
            <a:ext cx="110182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 the equation in vertex form for the quadratic function graphed.</a:t>
            </a:r>
          </a:p>
        </p:txBody>
      </p:sp>
    </p:spTree>
    <p:extLst>
      <p:ext uri="{BB962C8B-B14F-4D97-AF65-F5344CB8AC3E}">
        <p14:creationId xmlns:p14="http://schemas.microsoft.com/office/powerpoint/2010/main" val="20427872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quadratic equation is </a:t>
                </a:r>
                <a:r>
                  <a:rPr lang="en-US" sz="2400" u="sng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</a:t>
                </a: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Rewrite the equation into standard </a:t>
                </a:r>
                <a:r>
                  <a:rPr lang="en-US" sz="2400" dirty="0" smtClean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form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  <m:sSup>
                      <m:sSupPr>
                        <m:ctrlPr>
                          <a:rPr lang="en-US" sz="2400" i="1" dirty="0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𝑏𝑥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4="http://schemas.microsoft.com/office/drawing/2010/main" xmlns:a16="http://schemas.microsoft.com/office/drawing/2014/main" xmlns="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2308324"/>
              </a:xfrm>
              <a:prstGeom prst="rect">
                <a:avLst/>
              </a:prstGeom>
              <a:blipFill rotWithShape="1">
                <a:blip r:embed="rId4"/>
                <a:stretch>
                  <a:fillRect t="-2111" b="-47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29037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image2.png">
            <a:extLst>
              <a:ext uri="{FF2B5EF4-FFF2-40B4-BE49-F238E27FC236}">
                <a16:creationId xmlns="" xmlns:a16="http://schemas.microsoft.com/office/drawing/2014/main" id="{23B2D715-F424-5B46-B0CB-2A68BD0B7CD0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94808" y="1180927"/>
            <a:ext cx="3909740" cy="3602355"/>
          </a:xfrm>
          <a:prstGeom prst="rect">
            <a:avLst/>
          </a:prstGeom>
          <a:ln/>
        </p:spPr>
      </p:pic>
      <p:graphicFrame>
        <p:nvGraphicFramePr>
          <p:cNvPr id="3" name="Table 2">
            <a:extLst>
              <a:ext uri="{FF2B5EF4-FFF2-40B4-BE49-F238E27FC236}">
                <a16:creationId xmlns="" xmlns:a16="http://schemas.microsoft.com/office/drawing/2014/main" id="{E31C28E6-2F29-DF4D-A9D5-B8FD106152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9522909"/>
              </p:ext>
            </p:extLst>
          </p:nvPr>
        </p:nvGraphicFramePr>
        <p:xfrm>
          <a:off x="2700338" y="5114383"/>
          <a:ext cx="6791325" cy="897890"/>
        </p:xfrm>
        <a:graphic>
          <a:graphicData uri="http://schemas.openxmlformats.org/drawingml/2006/table">
            <a:tbl>
              <a:tblPr bandRow="1">
                <a:tableStyleId>{A91F0D33-8C57-4600-99A7-42BC86742BE1}</a:tableStyleId>
              </a:tblPr>
              <a:tblGrid>
                <a:gridCol w="2505445">
                  <a:extLst>
                    <a:ext uri="{9D8B030D-6E8A-4147-A177-3AD203B41FA5}">
                      <a16:colId xmlns="" xmlns:a16="http://schemas.microsoft.com/office/drawing/2014/main" val="3854115456"/>
                    </a:ext>
                  </a:extLst>
                </a:gridCol>
                <a:gridCol w="4285880">
                  <a:extLst>
                    <a:ext uri="{9D8B030D-6E8A-4147-A177-3AD203B41FA5}">
                      <a16:colId xmlns="" xmlns:a16="http://schemas.microsoft.com/office/drawing/2014/main" val="3138457291"/>
                    </a:ext>
                  </a:extLst>
                </a:gridCol>
              </a:tblGrid>
              <a:tr h="448945">
                <a:tc>
                  <a:txBody>
                    <a:bodyPr/>
                    <a:lstStyle/>
                    <a:p>
                      <a:pPr marL="107315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Vertex Form</a:t>
                      </a:r>
                      <a:endParaRPr lang="x-none" sz="12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7315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687642112"/>
                  </a:ext>
                </a:extLst>
              </a:tr>
              <a:tr h="448945">
                <a:tc>
                  <a:txBody>
                    <a:bodyPr/>
                    <a:lstStyle/>
                    <a:p>
                      <a:pPr marL="107315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Standard Form</a:t>
                      </a:r>
                      <a:endParaRPr lang="x-none" sz="12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7315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91322614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2AA35BC6-D428-FC41-BDE5-6438AB8840FC}"/>
              </a:ext>
            </a:extLst>
          </p:cNvPr>
          <p:cNvSpPr txBox="1"/>
          <p:nvPr/>
        </p:nvSpPr>
        <p:spPr>
          <a:xfrm>
            <a:off x="540565" y="410666"/>
            <a:ext cx="110182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 the quadratic equation for the graph. </a:t>
            </a:r>
          </a:p>
        </p:txBody>
      </p:sp>
    </p:spTree>
    <p:extLst>
      <p:ext uri="{BB962C8B-B14F-4D97-AF65-F5344CB8AC3E}">
        <p14:creationId xmlns:p14="http://schemas.microsoft.com/office/powerpoint/2010/main" val="32370906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=""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13;g104476d1465_1_39"/>
          <p:cNvSpPr txBox="1">
            <a:spLocks/>
          </p:cNvSpPr>
          <p:nvPr/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lang="en-US"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423;g103996e1364_0_416">
            <a:extLst>
              <a:ext uri="{FF2B5EF4-FFF2-40B4-BE49-F238E27FC236}">
                <a16:creationId xmlns=""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363419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428;g103996e1364_0_428">
            <a:extLst>
              <a:ext uri="{FF2B5EF4-FFF2-40B4-BE49-F238E27FC236}">
                <a16:creationId xmlns:a16="http://schemas.microsoft.com/office/drawing/2014/main" xmlns="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03916" y="201168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9.2.4 Your Turn!</a:t>
            </a:r>
          </a:p>
        </p:txBody>
      </p:sp>
      <p:pic>
        <p:nvPicPr>
          <p:cNvPr id="10" name="Google Shape;430;g103996e1364_0_428">
            <a:extLst>
              <a:ext uri="{FF2B5EF4-FFF2-40B4-BE49-F238E27FC236}">
                <a16:creationId xmlns:a16="http://schemas.microsoft.com/office/drawing/2014/main" xmlns="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31D40250-DEDD-2C41-8538-3D4DD18CCC4A}"/>
              </a:ext>
            </a:extLst>
          </p:cNvPr>
          <p:cNvSpPr txBox="1"/>
          <p:nvPr/>
        </p:nvSpPr>
        <p:spPr>
          <a:xfrm>
            <a:off x="609600" y="1300300"/>
            <a:ext cx="359484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the table for each quadratic function using the graph of the function.</a:t>
            </a:r>
          </a:p>
        </p:txBody>
      </p:sp>
      <p:pic>
        <p:nvPicPr>
          <p:cNvPr id="16" name="Picture 15" descr="Table&#10;&#10;Description automatically generated">
            <a:extLst>
              <a:ext uri="{FF2B5EF4-FFF2-40B4-BE49-F238E27FC236}">
                <a16:creationId xmlns="" xmlns:a16="http://schemas.microsoft.com/office/drawing/2014/main" id="{85F3E31D-E39E-714A-9209-03EA0234D3B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03620" y="1300300"/>
            <a:ext cx="7077993" cy="3289358"/>
          </a:xfrm>
          <a:prstGeom prst="rect">
            <a:avLst/>
          </a:prstGeom>
        </p:spPr>
      </p:pic>
      <p:graphicFrame>
        <p:nvGraphicFramePr>
          <p:cNvPr id="17" name="Table 4">
            <a:extLst>
              <a:ext uri="{FF2B5EF4-FFF2-40B4-BE49-F238E27FC236}">
                <a16:creationId xmlns="" xmlns:a16="http://schemas.microsoft.com/office/drawing/2014/main" id="{1525641C-D595-8447-B840-26B566B8E5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0790012"/>
              </p:ext>
            </p:extLst>
          </p:nvPr>
        </p:nvGraphicFramePr>
        <p:xfrm>
          <a:off x="4318860" y="4569338"/>
          <a:ext cx="7037841" cy="182880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7037841">
                  <a:extLst>
                    <a:ext uri="{9D8B030D-6E8A-4147-A177-3AD203B41FA5}">
                      <a16:colId xmlns="" xmlns:a16="http://schemas.microsoft.com/office/drawing/2014/main" val="1809393931"/>
                    </a:ext>
                  </a:extLst>
                </a:gridCol>
              </a:tblGrid>
              <a:tr h="1828800">
                <a:tc>
                  <a:txBody>
                    <a:bodyPr/>
                    <a:lstStyle/>
                    <a:p>
                      <a:endParaRPr lang="x-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586576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80712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Table&#10;&#10;Description automatically generated">
            <a:extLst>
              <a:ext uri="{FF2B5EF4-FFF2-40B4-BE49-F238E27FC236}">
                <a16:creationId xmlns="" xmlns:a16="http://schemas.microsoft.com/office/drawing/2014/main" id="{0872C85F-1BBD-B948-B7DD-E5CDFED2026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11582" y="410666"/>
            <a:ext cx="7170584" cy="3268709"/>
          </a:xfrm>
          <a:prstGeom prst="rect">
            <a:avLst/>
          </a:prstGeom>
        </p:spPr>
      </p:pic>
      <p:graphicFrame>
        <p:nvGraphicFramePr>
          <p:cNvPr id="8" name="Table 4">
            <a:extLst>
              <a:ext uri="{FF2B5EF4-FFF2-40B4-BE49-F238E27FC236}">
                <a16:creationId xmlns="" xmlns:a16="http://schemas.microsoft.com/office/drawing/2014/main" id="{1525641C-D595-8447-B840-26B566B8E5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038805"/>
              </p:ext>
            </p:extLst>
          </p:nvPr>
        </p:nvGraphicFramePr>
        <p:xfrm>
          <a:off x="2632537" y="3654610"/>
          <a:ext cx="7131223" cy="274320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7131223">
                  <a:extLst>
                    <a:ext uri="{9D8B030D-6E8A-4147-A177-3AD203B41FA5}">
                      <a16:colId xmlns="" xmlns:a16="http://schemas.microsoft.com/office/drawing/2014/main" val="1809393931"/>
                    </a:ext>
                  </a:extLst>
                </a:gridCol>
              </a:tblGrid>
              <a:tr h="2743200">
                <a:tc>
                  <a:txBody>
                    <a:bodyPr/>
                    <a:lstStyle/>
                    <a:p>
                      <a:endParaRPr lang="x-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586576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60385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 descr="Chart&#10;&#10;Description automatically generated">
            <a:extLst>
              <a:ext uri="{FF2B5EF4-FFF2-40B4-BE49-F238E27FC236}">
                <a16:creationId xmlns="" xmlns:a16="http://schemas.microsoft.com/office/drawing/2014/main" id="{A67A8937-124E-0E46-987D-8DB8E725C58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11582" y="410666"/>
            <a:ext cx="7241221" cy="3514238"/>
          </a:xfrm>
          <a:prstGeom prst="rect">
            <a:avLst/>
          </a:prstGeom>
        </p:spPr>
      </p:pic>
      <p:graphicFrame>
        <p:nvGraphicFramePr>
          <p:cNvPr id="7" name="Table 4">
            <a:extLst>
              <a:ext uri="{FF2B5EF4-FFF2-40B4-BE49-F238E27FC236}">
                <a16:creationId xmlns="" xmlns:a16="http://schemas.microsoft.com/office/drawing/2014/main" id="{1525641C-D595-8447-B840-26B566B8E5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0462479"/>
              </p:ext>
            </p:extLst>
          </p:nvPr>
        </p:nvGraphicFramePr>
        <p:xfrm>
          <a:off x="2632537" y="3902260"/>
          <a:ext cx="7204883" cy="251460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7204883">
                  <a:extLst>
                    <a:ext uri="{9D8B030D-6E8A-4147-A177-3AD203B41FA5}">
                      <a16:colId xmlns="" xmlns:a16="http://schemas.microsoft.com/office/drawing/2014/main" val="1809393931"/>
                    </a:ext>
                  </a:extLst>
                </a:gridCol>
              </a:tblGrid>
              <a:tr h="2514600">
                <a:tc>
                  <a:txBody>
                    <a:bodyPr/>
                    <a:lstStyle/>
                    <a:p>
                      <a:endParaRPr lang="x-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586576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66600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13;g104476d1465_1_39"/>
          <p:cNvSpPr txBox="1">
            <a:spLocks/>
          </p:cNvSpPr>
          <p:nvPr/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lang="en-US"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Google Shape;450;g103996e1364_0_457">
            <a:extLst>
              <a:ext uri="{FF2B5EF4-FFF2-40B4-BE49-F238E27FC236}">
                <a16:creationId xmlns=""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664AC"/>
          </a:solidFill>
          <a:ln w="9525" cap="flat" cmpd="sng">
            <a:solidFill>
              <a:srgbClr val="1765A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AA2A0587-5DB4-8E4C-8FAE-CE2C7F481C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8861" y="2154426"/>
            <a:ext cx="3854277" cy="3903676"/>
          </a:xfrm>
          <a:prstGeom prst="rect">
            <a:avLst/>
          </a:prstGeom>
        </p:spPr>
      </p:pic>
      <p:sp>
        <p:nvSpPr>
          <p:cNvPr id="14" name="Google Shape;468;p34"/>
          <p:cNvSpPr txBox="1"/>
          <p:nvPr/>
        </p:nvSpPr>
        <p:spPr>
          <a:xfrm>
            <a:off x="1142999" y="284833"/>
            <a:ext cx="1066951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9.2.5 Wrap-Up: Reflection</a:t>
            </a:r>
          </a:p>
        </p:txBody>
      </p:sp>
      <p:pic>
        <p:nvPicPr>
          <p:cNvPr id="15" name="Google Shape;469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mc="http://schemas.openxmlformats.org/markup-compatibility/2006" xmlns:a14="http://schemas.microsoft.com/office/drawing/2010/main" xmlns:a16="http://schemas.microsoft.com/office/drawing/2014/main" xmlns="" id="{0370EDB7-6994-3D43-ABF9-E04CBAFB9CD9}"/>
              </a:ext>
            </a:extLst>
          </p:cNvPr>
          <p:cNvSpPr txBox="1"/>
          <p:nvPr/>
        </p:nvSpPr>
        <p:spPr>
          <a:xfrm>
            <a:off x="702526" y="1205051"/>
            <a:ext cx="112404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“in the zone” do you feel right now about your understanding of writing equations of quadratic functions? </a:t>
            </a: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3260</TotalTime>
  <Words>1005</Words>
  <Application>Microsoft Macintosh PowerPoint</Application>
  <PresentationFormat>Widescreen</PresentationFormat>
  <Paragraphs>162</Paragraphs>
  <Slides>25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Verdana</vt:lpstr>
      <vt:lpstr>Wingdings</vt:lpstr>
      <vt:lpstr>Arial</vt:lpstr>
      <vt:lpstr>Calibri</vt:lpstr>
      <vt:lpstr>Arial Black</vt:lpstr>
      <vt:lpstr>Century Gothic</vt:lpstr>
      <vt:lpstr>Cambria Math</vt:lpstr>
      <vt:lpstr>Times New Roman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jslater9816@gmail.com</cp:lastModifiedBy>
  <cp:revision>31</cp:revision>
  <dcterms:created xsi:type="dcterms:W3CDTF">2015-03-17T18:51:18Z</dcterms:created>
  <dcterms:modified xsi:type="dcterms:W3CDTF">2022-08-03T01:36:48Z</dcterms:modified>
</cp:coreProperties>
</file>