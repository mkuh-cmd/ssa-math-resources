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9" r:id="rId12"/>
    <p:sldId id="340" r:id="rId13"/>
    <p:sldId id="341" r:id="rId14"/>
    <p:sldId id="375" r:id="rId15"/>
    <p:sldId id="376" r:id="rId16"/>
    <p:sldId id="363" r:id="rId17"/>
    <p:sldId id="364" r:id="rId18"/>
    <p:sldId id="366" r:id="rId19"/>
    <p:sldId id="367" r:id="rId20"/>
    <p:sldId id="368" r:id="rId21"/>
    <p:sldId id="377" r:id="rId22"/>
    <p:sldId id="378" r:id="rId23"/>
    <p:sldId id="379" r:id="rId24"/>
    <p:sldId id="380" r:id="rId25"/>
    <p:sldId id="381" r:id="rId26"/>
    <p:sldId id="382" r:id="rId27"/>
    <p:sldId id="369" r:id="rId28"/>
    <p:sldId id="370" r:id="rId29"/>
    <p:sldId id="357" r:id="rId30"/>
    <p:sldId id="358" r:id="rId31"/>
    <p:sldId id="306" r:id="rId32"/>
    <p:sldId id="307" r:id="rId33"/>
  </p:sldIdLst>
  <p:sldSz cx="12192000" cy="6858000"/>
  <p:notesSz cx="6858000" cy="9144000"/>
  <p:embeddedFontLst>
    <p:embeddedFont>
      <p:font typeface="Verdana" pitchFamily="34" charset="0"/>
      <p:regular r:id="rId35"/>
      <p:bold r:id="rId36"/>
      <p:italic r:id="rId37"/>
      <p:boldItalic r:id="rId38"/>
    </p:embeddedFont>
    <p:embeddedFont>
      <p:font typeface="Calibri" pitchFamily="34" charset="0"/>
      <p:regular r:id="rId39"/>
      <p:bold r:id="rId40"/>
      <p:italic r:id="rId41"/>
      <p:boldItalic r:id="rId42"/>
    </p:embeddedFont>
    <p:embeddedFont>
      <p:font typeface="Century Gothic" pitchFamily="34" charset="0"/>
      <p:regular r:id="rId43"/>
      <p:bold r:id="rId44"/>
      <p:italic r:id="rId45"/>
      <p:boldItalic r:id="rId46"/>
    </p:embeddedFont>
    <p:embeddedFont>
      <p:font typeface="Cambria Math" pitchFamily="18" charset="0"/>
      <p:regular r:id="rId47"/>
    </p:embeddedFont>
    <p:embeddedFont>
      <p:font typeface="Cambria" pitchFamily="18" charset="0"/>
      <p:regular r:id="rId48"/>
      <p:bold r:id="rId49"/>
      <p:italic r:id="rId50"/>
      <p:boldItalic r:id="rId51"/>
    </p:embeddedFont>
    <p:embeddedFont>
      <p:font typeface="Arial Black" pitchFamily="34" charset="0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B7D4"/>
    <a:srgbClr val="E24E5F"/>
    <a:srgbClr val="1765AD"/>
    <a:srgbClr val="1664AC"/>
    <a:srgbClr val="BFBFBF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/>
    <p:restoredTop sz="94719"/>
  </p:normalViewPr>
  <p:slideViewPr>
    <p:cSldViewPr snapToGrid="0">
      <p:cViewPr varScale="1">
        <p:scale>
          <a:sx n="105" d="100"/>
          <a:sy n="105" d="100"/>
        </p:scale>
        <p:origin x="-756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85508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8378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0625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9204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020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0043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5000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1073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069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1788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6418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2995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793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04356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0140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6106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27212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8275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48860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Quadratics Using Square Roots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81</a:t>
            </a:r>
            <a:endParaRPr lang="en-US" sz="2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032" y="1597001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1311" y="5270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59" y="2884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2660" y="1467391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MA.912.AR.3.1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write and solve one-variable quadratic equations over the real number system. </a:t>
            </a:r>
          </a:p>
          <a:p>
            <a:pPr marL="552450" lvl="1" indent="0">
              <a:buNone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MA.912.AR.9.6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represent constraints as systems of linear equations or inequalities. Interpret solutions to problems as viable or non-viable options.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xmlns="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xmlns="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50300" y="-7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xmlns="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532661" y="1464245"/>
            <a:ext cx="10800000" cy="434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6759D0BD-51D0-6B40-9940-E3F570D4EA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59" y="2884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54663" y="-71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59" y="2884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2661" y="1467036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41338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 quadratic by taking the square root.</a:t>
            </a:r>
          </a:p>
          <a:p>
            <a:pPr marL="541338" indent="-541338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41338" indent="-541338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a solution to a quadratic is non-real.</a:t>
            </a:r>
          </a:p>
          <a:p>
            <a:pPr marL="541338" indent="-541338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41338" indent="-541338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interpret solutions to quadratics given in a real-world context as viable or nonviable.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11350860-5133-CF4C-91F0-82C49767E6A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13E4C45C-B662-7F44-8EF2-8BC4E4A7E35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8005" y="50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9.5.1 Warm-Up: Floor Tiles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59" y="2942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2660" y="1468542"/>
                <a:ext cx="745609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Aniyah is renovating her bathroom. She has chosen the floor tile shown. The design uses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tiles.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tiles have an area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feet (ft</a:t>
                </a:r>
                <a:r>
                  <a:rPr lang="en-US" sz="24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). Aniyah wants to determine the measurements, in feet, for each tile.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1468542"/>
                <a:ext cx="7456090" cy="1938992"/>
              </a:xfrm>
              <a:prstGeom prst="rect">
                <a:avLst/>
              </a:prstGeom>
              <a:blipFill rotWithShape="1">
                <a:blip r:embed="rId5"/>
                <a:stretch>
                  <a:fillRect l="-1226" t="-2516" b="-62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xmlns="" id="{ECAA359C-7327-AC4D-8972-D52228F67AB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image3.png">
            <a:extLst>
              <a:ext uri="{FF2B5EF4-FFF2-40B4-BE49-F238E27FC236}">
                <a16:creationId xmlns:a16="http://schemas.microsoft.com/office/drawing/2014/main" xmlns="" id="{BB13C0D2-4CAF-C940-9827-BD38FAEC4AF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8750" y="1468542"/>
            <a:ext cx="3343910" cy="32746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661" y="383486"/>
                <a:ext cx="108000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7525" indent="-457200">
                  <a:buFont typeface="+mj-lt"/>
                  <a:buAutoNum type="arabicPeriod"/>
                </a:pP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measurements, in feet, for each tile. </a:t>
                </a:r>
              </a:p>
              <a:p>
                <a:pPr marL="517525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equation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=2.56 </m:t>
                    </m:r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context. Summarize the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discussion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3486"/>
                <a:ext cx="108000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l="-282" t="-1429" r="-677" b="-32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91320C37-EA31-CF41-8AA7-D98A5EC775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BE860749-45BB-D146-9EC6-A70BF789195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39674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1635" y="-25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9.5.2 Exploration: Solving Quadratics Using Square Roots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2662" y="1468945"/>
                <a:ext cx="341790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steps for solving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=2.56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 Complete the table by completing the explanation for the tile context.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2" y="1468945"/>
                <a:ext cx="3417902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1783" t="-1887" r="-2674" b="-471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xmlns="" id="{A2EA42FB-D20C-3B41-91CC-4A7B33D17B4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8559" y="284851"/>
            <a:ext cx="750930" cy="7509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348C2241-7365-614D-A721-4FD361172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4083926"/>
                  </p:ext>
                </p:extLst>
              </p:nvPr>
            </p:nvGraphicFramePr>
            <p:xfrm>
              <a:off x="4168625" y="1534691"/>
              <a:ext cx="7200000" cy="485376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1357995769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="" val="898666870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 Context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9148221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=2.56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Four square tiles with area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have an area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2.56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𝑓𝑡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24365184"/>
                      </a:ext>
                    </a:extLst>
                  </a:tr>
                  <a:tr h="140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  <m:sSup>
                                      <m:sSupPr>
                                        <m:ctrlPr>
                                          <a:rPr lang="x-none" sz="18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2.56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Divide both sides by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4</m:t>
                              </m:r>
                            </m:oMath>
                          </a14:m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=0.64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equation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=0.64 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represents 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____________________________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____________________________.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26252147"/>
                      </a:ext>
                    </a:extLst>
                  </a:tr>
                  <a:tr h="1577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x-none" sz="1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18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>
                                      <a:effectLst/>
                                      <a:latin typeface="Cambria Math"/>
                                    </a:rPr>
                                    <m:t>0.64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Take the square root </a:t>
                          </a:r>
                          <a:r>
                            <a:rPr lang="en-US" sz="18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18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both sides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=0.8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=−0.8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values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=0.8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=−0.8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represent the tile’s __________.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6839953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=0.8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tile in the pattern has a length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0.8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feet. A negative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0.8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feet does not make sense for this context. </a:t>
                          </a:r>
                          <a:endParaRPr lang="x-none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93383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48C2241-7365-614D-A721-4FD361172A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4083926"/>
                  </p:ext>
                </p:extLst>
              </p:nvPr>
            </p:nvGraphicFramePr>
            <p:xfrm>
              <a:off x="4168625" y="1534691"/>
              <a:ext cx="7200000" cy="485376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57995769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98666870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 Context</a:t>
                          </a:r>
                          <a:endParaRPr lang="x-none" sz="18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91482210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212" t="-65000" r="-150212" b="-65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66714" t="-65000" b="-65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24365184"/>
                      </a:ext>
                    </a:extLst>
                  </a:tr>
                  <a:tr h="140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212" t="-71429" r="-150212" b="-183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66714" t="-71429" b="-183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26252147"/>
                      </a:ext>
                    </a:extLst>
                  </a:tr>
                  <a:tr h="1577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212" t="-153488" r="-150212" b="-6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66714" t="-153488" b="-6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6839953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212" t="-441892" r="-150212" b="-11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6648" marR="5664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66714" t="-441892" b="-114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9338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54A4596-5923-6342-9500-70E8F702680A}"/>
              </a:ext>
            </a:extLst>
          </p:cNvPr>
          <p:cNvSpPr/>
          <p:nvPr/>
        </p:nvSpPr>
        <p:spPr>
          <a:xfrm>
            <a:off x="532661" y="381603"/>
            <a:ext cx="1080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 the steps in the table relate to the steps you used in the Warm-Up to determine the measurements, in feet, for each tile? 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0" y="385400"/>
                <a:ext cx="10515600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Wyatt wondered if he could solve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first taking the square root of both sides. His work is shown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Wyatt’s teacher told him that he could solve this quadratic by taking the square root of both sides first, but that he made a mistake in the second step of his work. Correct Wyatt’s work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85400"/>
                <a:ext cx="10515600" cy="4524315"/>
              </a:xfrm>
              <a:prstGeom prst="rect">
                <a:avLst/>
              </a:prstGeom>
              <a:blipFill rotWithShape="1">
                <a:blip r:embed="rId4"/>
                <a:stretch>
                  <a:fillRect l="-870" t="-1213" b="-215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535A0235-3695-8C4B-BBC3-600E2D95A3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395675"/>
                  </p:ext>
                </p:extLst>
              </p:nvPr>
            </p:nvGraphicFramePr>
            <p:xfrm>
              <a:off x="3442548" y="1760120"/>
              <a:ext cx="4543425" cy="1568577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543425">
                      <a:extLst>
                        <a:ext uri="{9D8B030D-6E8A-4147-A177-3AD203B41FA5}">
                          <a16:colId xmlns:a16="http://schemas.microsoft.com/office/drawing/2014/main" xmlns="" val="1979275752"/>
                        </a:ext>
                      </a:extLst>
                    </a:gridCol>
                  </a:tblGrid>
                  <a:tr h="4610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400" b="0" i="1">
                                        <a:effectLst/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b="0" i="1"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  <m:sSup>
                                      <m:sSupPr>
                                        <m:ctrlPr>
                                          <a:rPr lang="x-none" sz="2400" b="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400" b="0" i="1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400" b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400" b="0" i="1">
                                        <a:effectLst/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b="0" i="1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400" b="0">
                                        <a:effectLst/>
                                        <a:latin typeface="Cambria Math"/>
                                      </a:rPr>
                                      <m:t>.</m:t>
                                    </m:r>
                                    <m:r>
                                      <a:rPr lang="en-US" sz="2400" b="0" i="1">
                                        <a:effectLst/>
                                        <a:latin typeface="Cambria Math"/>
                                      </a:rPr>
                                      <m:t>56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4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59991940"/>
                      </a:ext>
                    </a:extLst>
                  </a:tr>
                  <a:tr h="449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b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400" b="0">
                                    <a:effectLst/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2400" b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894966758"/>
                      </a:ext>
                    </a:extLst>
                  </a:tr>
                  <a:tr h="4610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b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400" b="0">
                                    <a:effectLst/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sz="2400" b="0" i="1">
                                    <a:effectLst/>
                                    <a:latin typeface="Cambria Math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x-none" sz="24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985801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35A0235-3695-8C4B-BBC3-600E2D95A3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395675"/>
                  </p:ext>
                </p:extLst>
              </p:nvPr>
            </p:nvGraphicFramePr>
            <p:xfrm>
              <a:off x="3442548" y="1760120"/>
              <a:ext cx="4543425" cy="1568577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5434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79275752"/>
                        </a:ext>
                      </a:extLst>
                    </a:gridCol>
                  </a:tblGrid>
                  <a:tr h="5830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134" t="-1042" r="-134" b="-16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59991940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134" t="-121250" r="-134" b="-10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894966758"/>
                      </a:ext>
                    </a:extLst>
                  </a:tr>
                  <a:tr h="492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134" t="-218519" r="-134" b="-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985801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1" y="384933"/>
                <a:ext cx="10800000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Dominic wanted to find the solution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a graphing tool. He graphed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His graph is shown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the graph shows the solutions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Summarize your discussion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4933"/>
                <a:ext cx="10800000" cy="5632311"/>
              </a:xfrm>
              <a:prstGeom prst="rect">
                <a:avLst/>
              </a:prstGeom>
              <a:blipFill rotWithShape="1">
                <a:blip r:embed="rId4"/>
                <a:stretch>
                  <a:fillRect l="-564" t="-649" b="-97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6.png">
            <a:extLst>
              <a:ext uri="{FF2B5EF4-FFF2-40B4-BE49-F238E27FC236}">
                <a16:creationId xmlns:a16="http://schemas.microsoft.com/office/drawing/2014/main" xmlns="" id="{D347D1D6-37E7-EE49-B9CB-C4B33E8E16B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5913" y="1373685"/>
            <a:ext cx="3430145" cy="343014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0" y="384733"/>
                <a:ext cx="108000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Takeisha created a table of values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with your partner to find the missing values in the table.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84733"/>
                <a:ext cx="108000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847" t="-1449" r="-10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85B7DE81-7815-0F4B-97C4-F68C725DDD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1433502"/>
                  </p:ext>
                </p:extLst>
              </p:nvPr>
            </p:nvGraphicFramePr>
            <p:xfrm>
              <a:off x="1161264" y="964822"/>
              <a:ext cx="9936000" cy="2232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828000">
                      <a:extLst>
                        <a:ext uri="{9D8B030D-6E8A-4147-A177-3AD203B41FA5}">
                          <a16:colId xmlns:a16="http://schemas.microsoft.com/office/drawing/2014/main" xmlns="" val="371320837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3159791642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119717086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2776839511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231006841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943604983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54549417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4127817373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131491574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778420296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1483836553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="" val="226589373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−0.9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−0.8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−0.7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−0.5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−0.3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−0.2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−0.1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4983318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3.24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1.96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1.44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0.64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68853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4547682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4772415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2.56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1.96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1.44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0.64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0.36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0.16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419150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5B7DE81-7815-0F4B-97C4-F68C725DDD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1433502"/>
                  </p:ext>
                </p:extLst>
              </p:nvPr>
            </p:nvGraphicFramePr>
            <p:xfrm>
              <a:off x="1161264" y="964822"/>
              <a:ext cx="9936000" cy="2232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71320837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159791642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9717086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76839511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1006841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43604983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4549417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27817373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14915745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78420296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83836553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6589373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1099265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r="-999265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r="-899265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2222" r="-805926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9265" r="-700000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9265" r="-600000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265" r="-500000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99265" r="-400000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99265" r="-300000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05926" r="-202222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8529" r="-100735" b="-3792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98529" r="-735" b="-3792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4983318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1316" r="-1099265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01316" r="-999265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01316" r="-899265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9265" t="-101316" r="-700000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9265" t="-101316" r="-600000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265" t="-101316" r="-500000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99265" t="-101316" r="-400000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05926" t="-101316" r="-202222" b="-28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98529" t="-101316" r="-735" b="-28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6885367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4547682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80263" r="-1099265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280263" r="-999265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280263" r="-899265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2222" t="-280263" r="-805926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9265" t="-280263" r="-7000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9265" t="-280263" r="-6000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9265" t="-280263" r="-5000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99265" t="-280263" r="-4000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99265" t="-280263" r="-3000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05926" t="-280263" r="-202222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8529" t="-280263" r="-100735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47724155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75325" r="-1099265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375325" r="-999265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2222" t="-375325" r="-805926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99265" t="-375325" r="-700000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9265" t="-375325" r="-600000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x-none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99265" t="-375325" r="-400000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99265" t="-375325" r="-300000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05926" t="-375325" r="-202222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8529" t="-375325" r="-100735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419150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529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0" y="384733"/>
                <a:ext cx="105156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Describe the process you and your partner used to find the missing values.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can Takeisha use the table of values to solve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84733"/>
                <a:ext cx="105156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t="-1426" r="-696" b="-28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871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0" y="379973"/>
                <a:ext cx="10800000" cy="1015663"/>
              </a:xfrm>
              <a:prstGeom prst="rect">
                <a:avLst/>
              </a:prstGeom>
            </p:spPr>
            <p:txBody>
              <a:bodyPr wrap="square" anchor="t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Out of all of these representations, the answer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that </a:t>
                </a:r>
                <a:endParaRPr lang="en-US" sz="2400" dirty="0" smtClean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>
                  <a:lnSpc>
                    <a:spcPct val="150000"/>
                  </a:lnSpc>
                </a:pPr>
                <a:r>
                  <a:rPr lang="en-US" sz="2400" dirty="0" err="1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Aniyah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should use is ______ ft because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___________________.</a:t>
                </a: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79973"/>
                <a:ext cx="10800000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847" t="-5389" b="-53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823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606632"/>
            <a:ext cx="4590090" cy="163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48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8.png" descr="Icon&#10;&#10;Description automatically generated">
            <a:extLst>
              <a:ext uri="{FF2B5EF4-FFF2-40B4-BE49-F238E27FC236}">
                <a16:creationId xmlns:a16="http://schemas.microsoft.com/office/drawing/2014/main" xmlns="" id="{06AD035F-F87B-374C-9541-69132368286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6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359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7316" y="-25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9.5.3 Guided Instruction: Solving Quadratics by Taking the Square Root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2659" y="1478334"/>
                <a:ext cx="10515600" cy="740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square root of a number is the value that, when multiplied by itself, results in the radicand. For example,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25</m:t>
                        </m:r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59" y="1478334"/>
                <a:ext cx="10515600" cy="740074"/>
              </a:xfrm>
              <a:prstGeom prst="rect">
                <a:avLst/>
              </a:prstGeom>
              <a:blipFill rotWithShape="1">
                <a:blip r:embed="rId4"/>
                <a:stretch>
                  <a:fillRect l="-580" t="-4132" b="-1405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8.png" descr="Icon&#10;&#10;Description automatically generated">
            <a:extLst>
              <a:ext uri="{FF2B5EF4-FFF2-40B4-BE49-F238E27FC236}">
                <a16:creationId xmlns:a16="http://schemas.microsoft.com/office/drawing/2014/main" xmlns="" id="{C83EA5A4-E77F-4242-956E-18801C77002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8559" y="284851"/>
            <a:ext cx="750930" cy="7509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/>
          <p:cNvGrpSpPr/>
          <p:nvPr/>
        </p:nvGrpSpPr>
        <p:grpSpPr>
          <a:xfrm>
            <a:off x="2781300" y="2525808"/>
            <a:ext cx="6120000" cy="875473"/>
            <a:chOff x="2781300" y="2525808"/>
            <a:chExt cx="6120000" cy="875473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xmlns="" id="{91B9A4F7-35AB-DA4B-8F8A-D0FC73C6F888}"/>
                </a:ext>
              </a:extLst>
            </p:cNvPr>
            <p:cNvSpPr/>
            <p:nvPr/>
          </p:nvSpPr>
          <p:spPr>
            <a:xfrm>
              <a:off x="2781300" y="2525808"/>
              <a:ext cx="6120000" cy="875473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08000" rIns="91425" bIns="0" anchor="ctr" anchorCtr="0">
              <a:spAutoFit/>
            </a:bodyPr>
            <a:lstStyle/>
            <a:p>
              <a:pPr marL="685800">
                <a:spcAft>
                  <a:spcPts val="1000"/>
                </a:spcAft>
              </a:pPr>
              <a:r>
                <a:rPr lang="en-US" sz="18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</a:t>
              </a:r>
              <a:r>
                <a:rPr lang="en-US" sz="18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principal square root</a:t>
              </a:r>
              <a:r>
                <a:rPr lang="en-US" sz="1800" b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18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is the positive square root of a positive real number. </a:t>
              </a:r>
              <a:endParaRPr lang="x-none" sz="1200" dirty="0">
                <a:latin typeface="Cambria" panose="02040503050406030204" pitchFamily="18" charset="0"/>
                <a:ea typeface="Times New Roman" panose="02020603050405020304" pitchFamily="18" charset="0"/>
                <a:cs typeface="Cambria" panose="02040503050406030204" pitchFamily="18" charset="0"/>
              </a:endParaRPr>
            </a:p>
          </p:txBody>
        </p:sp>
        <p:pic>
          <p:nvPicPr>
            <p:cNvPr id="19" name="Shape 7" descr="Icon&#10;&#10;Description automatically generated">
              <a:extLst>
                <a:ext uri="{FF2B5EF4-FFF2-40B4-BE49-F238E27FC236}">
                  <a16:creationId xmlns:a16="http://schemas.microsoft.com/office/drawing/2014/main" xmlns="" id="{895D5F6E-B770-9848-B896-808CA10E89B6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19845" y="2693838"/>
              <a:ext cx="539750" cy="53941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58DA1D92-8665-4341-95BF-94A251CCC3E7}"/>
                  </a:ext>
                </a:extLst>
              </p:cNvPr>
              <p:cNvSpPr txBox="1"/>
              <p:nvPr/>
            </p:nvSpPr>
            <p:spPr>
              <a:xfrm>
                <a:off x="532659" y="3761568"/>
                <a:ext cx="10515600" cy="1979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principal square root is shown algebraically using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positive and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also positive.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the Exploration, the steps to solving the equation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=2.56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were shown.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8DA1D92-8665-4341-95BF-94A251CCC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59" y="3761568"/>
                <a:ext cx="10515600" cy="1979196"/>
              </a:xfrm>
              <a:prstGeom prst="rect">
                <a:avLst/>
              </a:prstGeom>
              <a:blipFill rotWithShape="1">
                <a:blip r:embed="rId7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536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0" y="385400"/>
                <a:ext cx="10515600" cy="12312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step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0.64</m:t>
                        </m:r>
                      </m:e>
                    </m:ra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resulted in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=0.8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=−0.8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 steps below can be used to show this algebraically using the relationship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85400"/>
                <a:ext cx="10515600" cy="1231299"/>
              </a:xfrm>
              <a:prstGeom prst="rect">
                <a:avLst/>
              </a:prstGeom>
              <a:blipFill rotWithShape="1">
                <a:blip r:embed="rId4"/>
                <a:stretch>
                  <a:fillRect l="-696" r="-1275" b="-1039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92B885AE-AD27-3940-BA95-9A5222758A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1792278"/>
                  </p:ext>
                </p:extLst>
              </p:nvPr>
            </p:nvGraphicFramePr>
            <p:xfrm>
              <a:off x="2396739" y="1998087"/>
              <a:ext cx="8330888" cy="2520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290888">
                      <a:extLst>
                        <a:ext uri="{9D8B030D-6E8A-4147-A177-3AD203B41FA5}">
                          <a16:colId xmlns:a16="http://schemas.microsoft.com/office/drawing/2014/main" xmlns="" val="3451028768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xmlns="" val="809779428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0.64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6184446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=0.8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for all real numbers,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62109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=0.8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=−0.8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Since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0.8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=0.8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−0.8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=0.8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then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could be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0.8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−0.8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051656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2B885AE-AD27-3940-BA95-9A5222758A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1792278"/>
                  </p:ext>
                </p:extLst>
              </p:nvPr>
            </p:nvGraphicFramePr>
            <p:xfrm>
              <a:off x="2396739" y="1998087"/>
              <a:ext cx="8330888" cy="25200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29088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51028768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09779428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t="-847" r="-153148" b="-25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6184446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t="-80405" r="-153148" b="-100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65296" t="-80405" b="-1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62109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t="-181633" r="-153148" b="-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65296" t="-181633" b="-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051656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1577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1" y="384933"/>
                <a:ext cx="10515600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Unless otherwise stated, the “square root" of a number refers </a:t>
                </a:r>
                <a:r>
                  <a:rPr lang="en-US" sz="2000" b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only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the principal square root. When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square roots, the answer should </a:t>
                </a:r>
                <a:r>
                  <a:rPr lang="en-US" sz="2000" b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always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 both the positive and negative values.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demonstrates why there are two solutions when solving a quadratic.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4933"/>
                <a:ext cx="10515600" cy="2246769"/>
              </a:xfrm>
              <a:prstGeom prst="rect">
                <a:avLst/>
              </a:prstGeom>
              <a:blipFill rotWithShape="1">
                <a:blip r:embed="rId4"/>
                <a:stretch>
                  <a:fillRect l="-580" t="-135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5CA66EA0-3113-9449-961B-E4B2072D2190}"/>
              </a:ext>
            </a:extLst>
          </p:cNvPr>
          <p:cNvGrpSpPr/>
          <p:nvPr/>
        </p:nvGrpSpPr>
        <p:grpSpPr>
          <a:xfrm>
            <a:off x="3863084" y="2260840"/>
            <a:ext cx="3854754" cy="3939740"/>
            <a:chOff x="3372822" y="1763508"/>
            <a:chExt cx="3946357" cy="40329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79B30C1F-5504-7F47-8719-2B33A9AD7382}"/>
                </a:ext>
              </a:extLst>
            </p:cNvPr>
            <p:cNvGrpSpPr/>
            <p:nvPr/>
          </p:nvGrpSpPr>
          <p:grpSpPr>
            <a:xfrm>
              <a:off x="3372822" y="1763508"/>
              <a:ext cx="3946357" cy="4032985"/>
              <a:chOff x="0" y="0"/>
              <a:chExt cx="3404766" cy="308809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CC540374-9998-D944-B29A-8856A4775553}"/>
                  </a:ext>
                </a:extLst>
              </p:cNvPr>
              <p:cNvSpPr/>
              <p:nvPr/>
            </p:nvSpPr>
            <p:spPr>
              <a:xfrm>
                <a:off x="0" y="0"/>
                <a:ext cx="3404750" cy="3088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pic>
            <p:nvPicPr>
              <p:cNvPr id="9" name="Shape 8">
                <a:extLst>
                  <a:ext uri="{FF2B5EF4-FFF2-40B4-BE49-F238E27FC236}">
                    <a16:creationId xmlns:a16="http://schemas.microsoft.com/office/drawing/2014/main" xmlns="" id="{E4BEC6CD-74AF-6149-BB33-F99A9A2F6A17}"/>
                  </a:ext>
                </a:extLst>
              </p:cNvPr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0" y="211541"/>
                <a:ext cx="2876550" cy="28765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xmlns="" id="{18C69C86-E990-B246-B503-E960C3B3240D}"/>
                  </a:ext>
                </a:extLst>
              </p:cNvPr>
              <p:cNvGrpSpPr/>
              <p:nvPr/>
            </p:nvGrpSpPr>
            <p:grpSpPr>
              <a:xfrm>
                <a:off x="2019869" y="0"/>
                <a:ext cx="1384897" cy="1396053"/>
                <a:chOff x="0" y="0"/>
                <a:chExt cx="1384897" cy="1396053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B924DEF9-82C3-E644-8936-0C33A2B3EE75}"/>
                    </a:ext>
                  </a:extLst>
                </p:cNvPr>
                <p:cNvSpPr/>
                <p:nvPr/>
              </p:nvSpPr>
              <p:spPr>
                <a:xfrm>
                  <a:off x="566382" y="900753"/>
                  <a:ext cx="81851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xmlns="" id="{C2206465-9DF5-8D48-9090-F468D165133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20750" cy="4997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37111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1" y="384732"/>
                <a:ext cx="105156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to answer the following questions.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horizontal line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demonstrate the number of solutions.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4732"/>
                <a:ext cx="10515600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870" t="-3101" b="-77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3DC2423A-4352-2546-BA40-0C079B23BE7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0150" y="2095801"/>
            <a:ext cx="6770886" cy="360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64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54A4596-5923-6342-9500-70E8F702680A}"/>
              </a:ext>
            </a:extLst>
          </p:cNvPr>
          <p:cNvSpPr/>
          <p:nvPr/>
        </p:nvSpPr>
        <p:spPr>
          <a:xfrm>
            <a:off x="532660" y="384732"/>
            <a:ext cx="10515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0113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Describe where the horizontal line intersects with the parabola when the quadratic has one solution.</a:t>
            </a:r>
          </a:p>
          <a:p>
            <a:pPr marL="900113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where a horizontal line could be drawn so that it does not intersect with the parabola. Demonstrate this by drawing a horizontal line.</a:t>
            </a:r>
          </a:p>
        </p:txBody>
      </p:sp>
      <p:pic>
        <p:nvPicPr>
          <p:cNvPr id="7" name="image7.png">
            <a:extLst>
              <a:ext uri="{FF2B5EF4-FFF2-40B4-BE49-F238E27FC236}">
                <a16:creationId xmlns:a16="http://schemas.microsoft.com/office/drawing/2014/main" xmlns="" id="{CF01F094-C396-CA46-8E4C-F5058EC572C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20639" y="3726264"/>
            <a:ext cx="2285365" cy="22853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219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6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2" y="378267"/>
                <a:ext cx="7221083" cy="12319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+2=2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+2=2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2" y="378267"/>
                <a:ext cx="7221083" cy="1231940"/>
              </a:xfrm>
              <a:prstGeom prst="rect">
                <a:avLst/>
              </a:prstGeom>
              <a:blipFill rotWithShape="1">
                <a:blip r:embed="rId4"/>
                <a:stretch>
                  <a:fillRect l="-1266" t="-4455" b="-742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460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1" y="380358"/>
                <a:ext cx="105156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shown. Draw a horizontal line that shows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0358"/>
                <a:ext cx="10515600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9091" r="-754" b="-257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13.png">
            <a:extLst>
              <a:ext uri="{FF2B5EF4-FFF2-40B4-BE49-F238E27FC236}">
                <a16:creationId xmlns:a16="http://schemas.microsoft.com/office/drawing/2014/main" xmlns="" id="{633091C0-66C2-4C44-83FE-26BE174C134A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84585" y="1057257"/>
            <a:ext cx="3356251" cy="335625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601C1687-16AF-5A44-B995-07578D945D15}"/>
                  </a:ext>
                </a:extLst>
              </p:cNvPr>
              <p:cNvSpPr/>
              <p:nvPr/>
            </p:nvSpPr>
            <p:spPr>
              <a:xfrm>
                <a:off x="532661" y="4903855"/>
                <a:ext cx="10515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00113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how the location of the intersection of the horizontal line and the parabola shows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+2=2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only has one solution.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01C1687-16AF-5A44-B995-07578D945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4903855"/>
                <a:ext cx="10515600" cy="707886"/>
              </a:xfrm>
              <a:prstGeom prst="rect">
                <a:avLst/>
              </a:prstGeom>
              <a:blipFill rotWithShape="1">
                <a:blip r:embed="rId6"/>
                <a:stretch>
                  <a:fillRect t="-5128" r="-290" b="-1367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50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1" y="380851"/>
                <a:ext cx="826800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of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0851"/>
                <a:ext cx="826800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105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13.png" descr="Chart&#10;&#10;Description automatically generated">
            <a:extLst>
              <a:ext uri="{FF2B5EF4-FFF2-40B4-BE49-F238E27FC236}">
                <a16:creationId xmlns:a16="http://schemas.microsoft.com/office/drawing/2014/main" xmlns="" id="{FD06EC76-49A4-D341-AF0E-57DE44862D2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90043" y="1102695"/>
            <a:ext cx="4211913" cy="421191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40586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1450" y="385741"/>
                <a:ext cx="8268004" cy="35055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0011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the horizontal line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+2=−7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50" y="385741"/>
                <a:ext cx="8268004" cy="3505511"/>
              </a:xfrm>
              <a:prstGeom prst="rect">
                <a:avLst/>
              </a:prstGeom>
              <a:blipFill rotWithShape="1">
                <a:blip r:embed="rId4"/>
                <a:stretch>
                  <a:fillRect t="-1565" b="-34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264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F54A4596-5923-6342-9500-70E8F702680A}"/>
                  </a:ext>
                </a:extLst>
              </p:cNvPr>
              <p:cNvSpPr/>
              <p:nvPr/>
            </p:nvSpPr>
            <p:spPr>
              <a:xfrm>
                <a:off x="532661" y="385740"/>
                <a:ext cx="10515600" cy="2989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41338" indent="-2667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&gt;0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answer will always be both the positive and negative values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541338" indent="-2667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answer will be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541338" indent="-2667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answer is non-real.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topic of non-real numbers (imaginary numbers) will be learned in Algebra 2.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85740"/>
                <a:ext cx="10515600" cy="2989536"/>
              </a:xfrm>
              <a:prstGeom prst="rect">
                <a:avLst/>
              </a:prstGeom>
              <a:blipFill rotWithShape="1">
                <a:blip r:embed="rId4"/>
                <a:stretch>
                  <a:fillRect l="-870" t="-1833" r="-638" b="-34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838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70" y="2499568"/>
            <a:ext cx="4656351" cy="185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</a:t>
            </a:r>
            <a:br>
              <a:rPr lang="en-US" sz="48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8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Practice</a:t>
            </a:r>
            <a:endParaRPr sz="48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37A600B8-F12E-F241-87B6-0789746778D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6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071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1635" y="-25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9.5.4 Guided Practice: Solving Quadratics by Taking the Square Root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4464" y="1463671"/>
                <a:ext cx="8327136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equation. Show your work.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−41=−5 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4" y="1463671"/>
                <a:ext cx="8327136" cy="1231940"/>
              </a:xfrm>
              <a:prstGeom prst="rect">
                <a:avLst/>
              </a:prstGeom>
              <a:blipFill rotWithShape="1">
                <a:blip r:embed="rId4"/>
                <a:stretch>
                  <a:fillRect l="-1171" t="-3960" b="-742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87BA2335-F5D8-604F-887C-1759D74C7646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8559" y="284851"/>
            <a:ext cx="750930" cy="7509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5243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02909" y="276955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3.png">
            <a:extLst>
              <a:ext uri="{FF2B5EF4-FFF2-40B4-BE49-F238E27FC236}">
                <a16:creationId xmlns:a16="http://schemas.microsoft.com/office/drawing/2014/main" xmlns="" id="{008C8C88-7E6A-B54B-B2D2-C862DF69F7B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69558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3663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9415" y="-309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9.5.5 Try It: Solving Quadratics by Taking the Square Root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4464" y="1465925"/>
                <a:ext cx="832713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equation. Show your work.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5600" indent="-3556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=−180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indent="-3556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39=3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+7</m:t>
                        </m:r>
                      </m:e>
                    </m:d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5600" lvl="0" indent="-3556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4" y="1465925"/>
                <a:ext cx="8327136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805" t="-8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3.png">
            <a:extLst>
              <a:ext uri="{FF2B5EF4-FFF2-40B4-BE49-F238E27FC236}">
                <a16:creationId xmlns:a16="http://schemas.microsoft.com/office/drawing/2014/main" xmlns="" id="{A5CFC92B-B26C-B741-B941-28DABE38342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681" y="284851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7346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4663" y="-7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9.5.6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559" y="2884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AE281112-0763-C941-9DB7-9B28C4EA4745}"/>
                  </a:ext>
                </a:extLst>
              </p:cNvPr>
              <p:cNvSpPr/>
              <p:nvPr/>
            </p:nvSpPr>
            <p:spPr>
              <a:xfrm>
                <a:off x="532660" y="1460593"/>
                <a:ext cx="10515600" cy="12319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solution(s). Show your work.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44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86=5</m:t>
                      </m:r>
                      <m:sSup>
                        <m:sSupPr>
                          <m:ctrlPr>
                            <a:rPr lang="en-US" sz="2400" i="1" dirty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E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−34 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1460593"/>
                <a:ext cx="10515600" cy="1231940"/>
              </a:xfrm>
              <a:prstGeom prst="rect">
                <a:avLst/>
              </a:prstGeom>
              <a:blipFill rotWithShape="1">
                <a:blip r:embed="rId5"/>
                <a:stretch>
                  <a:fillRect l="-870" t="-39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3187</TotalTime>
  <Words>1472</Words>
  <Application>Microsoft Office PowerPoint</Application>
  <PresentationFormat>Custom</PresentationFormat>
  <Paragraphs>293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Verdana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1_Office Theme</vt:lpstr>
      <vt:lpstr>Algebra 1  Unit 9, Lesson 5  Solving Quadratics Using Square Roots  Volume 2, pg. 81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 Practice</vt:lpstr>
      <vt:lpstr>PowerPoint Presentation</vt:lpstr>
      <vt:lpstr>Try It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31</cp:revision>
  <dcterms:created xsi:type="dcterms:W3CDTF">2015-03-17T18:51:18Z</dcterms:created>
  <dcterms:modified xsi:type="dcterms:W3CDTF">2022-06-28T01:46:27Z</dcterms:modified>
</cp:coreProperties>
</file>