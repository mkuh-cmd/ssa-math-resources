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345" r:id="rId4"/>
    <p:sldId id="286" r:id="rId5"/>
    <p:sldId id="261" r:id="rId6"/>
    <p:sldId id="287" r:id="rId7"/>
    <p:sldId id="288" r:id="rId8"/>
    <p:sldId id="289" r:id="rId9"/>
    <p:sldId id="290" r:id="rId10"/>
    <p:sldId id="308" r:id="rId11"/>
    <p:sldId id="337" r:id="rId12"/>
    <p:sldId id="357" r:id="rId13"/>
    <p:sldId id="358" r:id="rId14"/>
    <p:sldId id="359" r:id="rId15"/>
    <p:sldId id="346" r:id="rId16"/>
    <p:sldId id="347" r:id="rId17"/>
    <p:sldId id="348" r:id="rId18"/>
    <p:sldId id="349" r:id="rId19"/>
    <p:sldId id="350" r:id="rId20"/>
    <p:sldId id="354" r:id="rId21"/>
    <p:sldId id="355" r:id="rId22"/>
    <p:sldId id="306" r:id="rId23"/>
    <p:sldId id="307" r:id="rId24"/>
    <p:sldId id="361" r:id="rId25"/>
  </p:sldIdLst>
  <p:sldSz cx="12192000" cy="6858000"/>
  <p:notesSz cx="6858000" cy="9144000"/>
  <p:embeddedFontLst>
    <p:embeddedFont>
      <p:font typeface="Cambria" pitchFamily="18" charset="0"/>
      <p:regular r:id="rId27"/>
      <p:bold r:id="rId28"/>
      <p:italic r:id="rId29"/>
      <p:boldItalic r:id="rId30"/>
    </p:embeddedFont>
    <p:embeddedFont>
      <p:font typeface="Arial Black" pitchFamily="34" charset="0"/>
      <p:bold r:id="rId31"/>
    </p:embeddedFont>
    <p:embeddedFont>
      <p:font typeface="Verdana" pitchFamily="34" charset="0"/>
      <p:regular r:id="rId32"/>
      <p:bold r:id="rId33"/>
      <p:italic r:id="rId34"/>
      <p:boldItalic r:id="rId35"/>
    </p:embeddedFont>
    <p:embeddedFont>
      <p:font typeface="Calibri" pitchFamily="34" charset="0"/>
      <p:regular r:id="rId36"/>
      <p:bold r:id="rId37"/>
      <p:italic r:id="rId38"/>
      <p:boldItalic r:id="rId39"/>
    </p:embeddedFont>
    <p:embeddedFont>
      <p:font typeface="Century Gothic" pitchFamily="34" charset="0"/>
      <p:regular r:id="rId40"/>
      <p:bold r:id="rId41"/>
      <p:italic r:id="rId42"/>
      <p:boldItalic r:id="rId43"/>
    </p:embeddedFont>
    <p:embeddedFont>
      <p:font typeface="Cambria Math" pitchFamily="18" charset="0"/>
      <p:regular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4E5F"/>
    <a:srgbClr val="1765AD"/>
    <a:srgbClr val="1664AC"/>
    <a:srgbClr val="BFBFBF"/>
    <a:srgbClr val="C9DF6F"/>
    <a:srgbClr val="417DBF"/>
    <a:srgbClr val="3F2A67"/>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2905" autoAdjust="0"/>
    <p:restoredTop sz="94719"/>
  </p:normalViewPr>
  <p:slideViewPr>
    <p:cSldViewPr snapToGrid="0">
      <p:cViewPr>
        <p:scale>
          <a:sx n="80" d="100"/>
          <a:sy n="80" d="100"/>
        </p:scale>
        <p:origin x="-1397" y="-1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font" Target="fonts/font15.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56"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645642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40209190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4999791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9221383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5400505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838804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9172432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4985123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4301364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86060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19919076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6563403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1290352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35.png"/><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 xmlns:a16="http://schemas.microsoft.com/office/drawing/2014/main" id="{566F1422-A32C-7745-9E85-5AF7B9DBC697}"/>
              </a:ext>
            </a:extLst>
          </p:cNvPr>
          <p:cNvSpPr/>
          <p:nvPr/>
        </p:nvSpPr>
        <p:spPr>
          <a:xfrm>
            <a:off x="0" y="0"/>
            <a:ext cx="4094106" cy="6866100"/>
          </a:xfrm>
          <a:prstGeom prst="rect">
            <a:avLst/>
          </a:prstGeom>
          <a:solidFill>
            <a:srgbClr val="1664AC"/>
          </a:solidFill>
          <a:ln w="9525" cap="flat" cmpd="sng">
            <a:solidFill>
              <a:srgbClr val="1765A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7" name="Google Shape;261;g104476d1465_0_0"/>
          <p:cNvSpPr txBox="1">
            <a:spLocks/>
          </p:cNvSpPr>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3800" b="1" dirty="0">
                <a:solidFill>
                  <a:srgbClr val="417DBF"/>
                </a:solidFill>
                <a:latin typeface="Verdana"/>
                <a:ea typeface="Verdana"/>
                <a:cs typeface="Verdana"/>
                <a:sym typeface="Verdana"/>
              </a:rPr>
              <a:t>Algebra 1</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9, Lesson 6</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Solving Quadratic Equations by Completing the Square</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Volume 2, pg. 88</a:t>
            </a:r>
          </a:p>
          <a:p>
            <a:pPr algn="ctr">
              <a:lnSpc>
                <a:spcPct val="100000"/>
              </a:lnSpc>
              <a:buClr>
                <a:srgbClr val="000000"/>
              </a:buClr>
            </a:pPr>
            <a:endParaRPr lang="en-US" sz="3600" b="1" dirty="0">
              <a:solidFill>
                <a:srgbClr val="417DBF"/>
              </a:solidFill>
              <a:latin typeface="Verdana"/>
              <a:ea typeface="Verdana"/>
              <a:cs typeface="Verdana"/>
              <a:sym typeface="Verdana"/>
            </a:endParaRPr>
          </a:p>
        </p:txBody>
      </p:sp>
      <p:pic>
        <p:nvPicPr>
          <p:cNvPr id="8" name="Picture 7" descr="Logo&#10;&#10;Description automatically generated">
            <a:extLst>
              <a:ext uri="{FF2B5EF4-FFF2-40B4-BE49-F238E27FC236}">
                <a16:creationId xmlns="" xmlns:a16="http://schemas.microsoft.com/office/drawing/2014/main" id="{A3BF60F1-A9D6-B043-9905-FB1D55DD5BC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0503" y="1918611"/>
            <a:ext cx="2973100" cy="346578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88</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79;g104476d1465_1_17"/>
          <p:cNvSpPr txBox="1">
            <a:spLocks/>
          </p:cNvSpPr>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pPr>
            <a:r>
              <a:rPr lang="en-US" sz="4700" b="1" dirty="0" smtClean="0">
                <a:solidFill>
                  <a:srgbClr val="54B5D1"/>
                </a:solidFill>
                <a:latin typeface="Verdana"/>
                <a:ea typeface="Verdana"/>
                <a:cs typeface="Verdana"/>
                <a:sym typeface="Verdana"/>
              </a:rPr>
              <a:t>Benchmarks</a:t>
            </a:r>
            <a:endParaRPr lang="en-US" sz="3700" b="1" dirty="0">
              <a:solidFill>
                <a:srgbClr val="54B5D1"/>
              </a:solidFill>
              <a:latin typeface="Verdana"/>
              <a:ea typeface="Verdana"/>
              <a:cs typeface="Verdana"/>
              <a:sym typeface="Verdana"/>
            </a:endParaRPr>
          </a:p>
        </p:txBody>
      </p:sp>
      <p:pic>
        <p:nvPicPr>
          <p:cNvPr id="10" name="Google Shape;281;g104476d1465_1_17"/>
          <p:cNvPicPr preferRelativeResize="0"/>
          <p:nvPr/>
        </p:nvPicPr>
        <p:blipFill>
          <a:blip r:embed="rId4">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1"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514000" y="1609531"/>
            <a:ext cx="1101658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200" dirty="0">
                <a:latin typeface="Verdana" panose="020B0604030504040204" pitchFamily="34" charset="0"/>
                <a:ea typeface="Verdana" panose="020B0604030504040204" pitchFamily="34" charset="0"/>
                <a:cs typeface="Verdana" panose="020B0604030504040204" pitchFamily="34" charset="0"/>
              </a:rPr>
              <a:t>MA.912.AR.3.1</a:t>
            </a:r>
          </a:p>
          <a:p>
            <a:pPr marL="552450" lvl="1" indent="0">
              <a:buNone/>
            </a:pPr>
            <a:r>
              <a:rPr lang="en-US" sz="3200" dirty="0">
                <a:latin typeface="Verdana" panose="020B0604030504040204" pitchFamily="34" charset="0"/>
                <a:ea typeface="Verdana" panose="020B0604030504040204" pitchFamily="34" charset="0"/>
                <a:cs typeface="Verdana" panose="020B0604030504040204" pitchFamily="34" charset="0"/>
              </a:rPr>
              <a:t>Given a mathematical or real-world context, write and solve one-variable quadratic equations over the real number system. </a:t>
            </a:r>
          </a:p>
          <a:p>
            <a:pPr marL="552450" lvl="1" indent="0">
              <a:buNone/>
            </a:pPr>
            <a:endParaRPr lang="en-US" sz="3200" dirty="0">
              <a:latin typeface="Verdana" panose="020B0604030504040204" pitchFamily="34" charset="0"/>
              <a:ea typeface="Verdana" panose="020B0604030504040204" pitchFamily="34" charset="0"/>
              <a:cs typeface="Verdana" panose="020B0604030504040204" pitchFamily="34" charset="0"/>
            </a:endParaRPr>
          </a:p>
          <a:p>
            <a:pPr marL="95250" indent="0">
              <a:buNone/>
            </a:pPr>
            <a:r>
              <a:rPr lang="en-US" sz="3200" dirty="0">
                <a:latin typeface="Verdana" panose="020B0604030504040204" pitchFamily="34" charset="0"/>
                <a:ea typeface="Verdana" panose="020B0604030504040204" pitchFamily="34" charset="0"/>
                <a:cs typeface="Verdana" panose="020B0604030504040204" pitchFamily="34" charset="0"/>
              </a:rPr>
              <a:t>MA.912.AR.9.6</a:t>
            </a:r>
          </a:p>
          <a:p>
            <a:pPr marL="552450" lvl="1" indent="0">
              <a:buNone/>
            </a:pPr>
            <a:r>
              <a:rPr lang="en-US" sz="3200" dirty="0">
                <a:latin typeface="Verdana" panose="020B0604030504040204" pitchFamily="34" charset="0"/>
                <a:ea typeface="Verdana" panose="020B0604030504040204" pitchFamily="34" charset="0"/>
                <a:cs typeface="Verdana" panose="020B0604030504040204" pitchFamily="34" charset="0"/>
              </a:rPr>
              <a:t>Given a real-world context, represent constraints as systems of linear equations or inequalities. Interpret solutions to problems as viable or </a:t>
            </a:r>
            <a:r>
              <a:rPr lang="en-US" sz="3200" dirty="0" smtClean="0">
                <a:latin typeface="Verdana" panose="020B0604030504040204" pitchFamily="34" charset="0"/>
                <a:ea typeface="Verdana" panose="020B0604030504040204" pitchFamily="34" charset="0"/>
                <a:cs typeface="Verdana" panose="020B0604030504040204" pitchFamily="34" charset="0"/>
              </a:rPr>
              <a:t/>
            </a:r>
            <a:br>
              <a:rPr lang="en-US" sz="3200" dirty="0" smtClean="0">
                <a:latin typeface="Verdana" panose="020B0604030504040204" pitchFamily="34" charset="0"/>
                <a:ea typeface="Verdana" panose="020B0604030504040204" pitchFamily="34" charset="0"/>
                <a:cs typeface="Verdana" panose="020B0604030504040204" pitchFamily="34" charset="0"/>
              </a:rPr>
            </a:br>
            <a:r>
              <a:rPr lang="en-US" sz="3200" dirty="0" smtClean="0">
                <a:latin typeface="Verdana" panose="020B0604030504040204" pitchFamily="34" charset="0"/>
                <a:ea typeface="Verdana" panose="020B0604030504040204" pitchFamily="34" charset="0"/>
                <a:cs typeface="Verdana" panose="020B0604030504040204" pitchFamily="34" charset="0"/>
              </a:rPr>
              <a:t>non-viable </a:t>
            </a:r>
            <a:r>
              <a:rPr lang="en-US" sz="3200" dirty="0">
                <a:latin typeface="Verdana" panose="020B0604030504040204" pitchFamily="34" charset="0"/>
                <a:ea typeface="Verdana" panose="020B0604030504040204" pitchFamily="34" charset="0"/>
                <a:cs typeface="Verdana" panose="020B0604030504040204" pitchFamily="34" charset="0"/>
              </a:rPr>
              <a:t>options.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 xmlns:a16="http://schemas.microsoft.com/office/drawing/2014/main" id="{78632872-3F42-3447-924A-20A16C6976F7}"/>
              </a:ext>
            </a:extLst>
          </p:cNvPr>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4" name="Google Shape;283;g104476d1465_1_17">
            <a:extLst>
              <a:ext uri="{FF2B5EF4-FFF2-40B4-BE49-F238E27FC236}">
                <a16:creationId xmlns="" xmlns:a16="http://schemas.microsoft.com/office/drawing/2014/main" id="{983DCB5F-2CE8-A74F-A579-F39E2E9337FB}"/>
              </a:ext>
            </a:extLst>
          </p:cNvPr>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 xmlns:a16="http://schemas.microsoft.com/office/drawing/2014/main" id="{6759D0BD-51D0-6B40-9940-E3F570D4EA0E}"/>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88</a:t>
            </a:r>
            <a:endParaRPr i="1" dirty="0">
              <a:latin typeface="Calibri"/>
              <a:ea typeface="Calibri"/>
              <a:cs typeface="Calibri"/>
              <a:sym typeface="Calibri"/>
            </a:endParaRPr>
          </a:p>
        </p:txBody>
      </p:sp>
      <p:pic>
        <p:nvPicPr>
          <p:cNvPr id="9"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0"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154216" y="1596390"/>
            <a:ext cx="998050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p>
        </p:txBody>
      </p:sp>
      <p:sp>
        <p:nvSpPr>
          <p:cNvPr id="11"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 xmlns:a16="http://schemas.microsoft.com/office/drawing/2014/main" id="{11350860-5133-CF4C-91F0-82C49767E6A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88</a:t>
            </a:r>
            <a:endParaRPr i="1" dirty="0">
              <a:latin typeface="Calibri"/>
              <a:ea typeface="Calibri"/>
              <a:cs typeface="Calibri"/>
              <a:sym typeface="Calibri"/>
            </a:endParaRPr>
          </a:p>
        </p:txBody>
      </p:sp>
      <p:sp>
        <p:nvSpPr>
          <p:cNvPr id="9" name="Google Shape;301;g103996e1364_0_16">
            <a:extLst>
              <a:ext uri="{FF2B5EF4-FFF2-40B4-BE49-F238E27FC236}">
                <a16:creationId xmlns="" xmlns:a16="http://schemas.microsoft.com/office/drawing/2014/main" id="{5771FBFA-7311-BB45-8AFF-04B380531EE6}"/>
              </a:ext>
            </a:extLst>
          </p:cNvPr>
          <p:cNvSpPr txBox="1">
            <a:spLocks/>
          </p:cNvSpPr>
          <p:nvPr/>
        </p:nvSpPr>
        <p:spPr>
          <a:xfrm>
            <a:off x="11133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a:t>
            </a:r>
            <a:r>
              <a:rPr lang="en-US" sz="4700" b="1" dirty="0" smtClean="0">
                <a:solidFill>
                  <a:srgbClr val="52BDA6"/>
                </a:solidFill>
                <a:latin typeface="Verdana"/>
                <a:ea typeface="Verdana"/>
                <a:cs typeface="Verdana"/>
                <a:sym typeface="Verdana"/>
              </a:rPr>
              <a:t>Targets</a:t>
            </a:r>
            <a:endParaRPr lang="en-US" sz="4700" b="1" dirty="0">
              <a:solidFill>
                <a:srgbClr val="52BDA6"/>
              </a:solidFill>
              <a:latin typeface="Verdana"/>
              <a:ea typeface="Verdana"/>
              <a:cs typeface="Verdana"/>
              <a:sym typeface="Verdana"/>
            </a:endParaRPr>
          </a:p>
        </p:txBody>
      </p:sp>
      <p:pic>
        <p:nvPicPr>
          <p:cNvPr id="11" name="Google Shape;303;g103996e1364_0_16">
            <a:extLst>
              <a:ext uri="{FF2B5EF4-FFF2-40B4-BE49-F238E27FC236}">
                <a16:creationId xmlns="" xmlns:a16="http://schemas.microsoft.com/office/drawing/2014/main" id="{81DC7EB0-4FED-FC45-BAEC-D699ED5C2169}"/>
              </a:ext>
            </a:extLst>
          </p:cNvPr>
          <p:cNvPicPr preferRelativeResize="0"/>
          <p:nvPr/>
        </p:nvPicPr>
        <p:blipFill>
          <a:blip r:embed="rId4">
            <a:alphaModFix/>
          </a:blip>
          <a:stretch>
            <a:fillRect/>
          </a:stretch>
        </p:blipFill>
        <p:spPr>
          <a:xfrm>
            <a:off x="331213"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302;g103996e1364_0_16">
            <a:extLst>
              <a:ext uri="{FF2B5EF4-FFF2-40B4-BE49-F238E27FC236}">
                <a16:creationId xmlns="" xmlns:a16="http://schemas.microsoft.com/office/drawing/2014/main" id="{9B7C98EC-F13C-9146-B728-D7044DB4247D}"/>
              </a:ext>
            </a:extLst>
          </p:cNvPr>
          <p:cNvSpPr txBox="1">
            <a:spLocks/>
          </p:cNvSpPr>
          <p:nvPr/>
        </p:nvSpPr>
        <p:spPr>
          <a:xfrm>
            <a:off x="514000" y="1600200"/>
            <a:ext cx="1093505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85800">
              <a:buFont typeface="Wingdings"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I can solve a quadratic by completing the square.</a:t>
            </a:r>
          </a:p>
          <a:p>
            <a:pPr marL="685800" indent="-685800">
              <a:buFont typeface="Wingdings" pitchFamily="2" charset="2"/>
              <a:buChar char="q"/>
            </a:pPr>
            <a:endParaRPr lang="en-US" sz="3600" dirty="0">
              <a:latin typeface="Verdana" panose="020B0604030504040204" pitchFamily="34" charset="0"/>
              <a:ea typeface="Verdana" panose="020B0604030504040204" pitchFamily="34" charset="0"/>
              <a:cs typeface="Verdana" panose="020B0604030504040204" pitchFamily="34" charset="0"/>
            </a:endParaRPr>
          </a:p>
          <a:p>
            <a:pPr marL="685800" indent="-685800">
              <a:buFont typeface="Wingdings"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I can interpret solutions to quadratics in a real-world context as viable or nonviable.</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 xmlns:a16="http://schemas.microsoft.com/office/drawing/2014/main" id="{13E4C45C-B662-7F44-8EF2-8BC4E4A7E35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89</a:t>
            </a:r>
            <a:endParaRPr i="1" dirty="0">
              <a:latin typeface="Calibri"/>
              <a:ea typeface="Calibri"/>
              <a:cs typeface="Calibri"/>
              <a:sym typeface="Calibri"/>
            </a:endParaRPr>
          </a:p>
        </p:txBody>
      </p:sp>
      <p:pic>
        <p:nvPicPr>
          <p:cNvPr id="7"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9" name="Google Shape;313;g104476d1465_1_39"/>
          <p:cNvSpPr txBox="1">
            <a:spLocks/>
          </p:cNvSpPr>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F2A67"/>
                </a:solidFill>
                <a:latin typeface="Verdana"/>
                <a:ea typeface="Verdana"/>
                <a:cs typeface="Verdana"/>
                <a:sym typeface="Verdana"/>
              </a:rPr>
              <a:t>Warm-Up</a:t>
            </a:r>
            <a:endParaRPr lang="en-US" sz="5100" b="1" dirty="0">
              <a:solidFill>
                <a:srgbClr val="3F2A67"/>
              </a:solidFill>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9" name="Rectangle 13">
            <a:extLst>
              <a:ext uri="{FF2B5EF4-FFF2-40B4-BE49-F238E27FC236}">
                <a16:creationId xmlns=""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Google Shape;282;g104476d1465_1_17">
            <a:extLst>
              <a:ext uri="{FF2B5EF4-FFF2-40B4-BE49-F238E27FC236}">
                <a16:creationId xmlns="" xmlns:a16="http://schemas.microsoft.com/office/drawing/2014/main" id="{ECAA359C-7327-AC4D-8972-D52228F67AB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89</a:t>
            </a:r>
            <a:endParaRPr i="1" dirty="0">
              <a:latin typeface="Calibri"/>
              <a:ea typeface="Calibri"/>
              <a:cs typeface="Calibri"/>
              <a:sym typeface="Calibri"/>
            </a:endParaRPr>
          </a:p>
        </p:txBody>
      </p:sp>
      <p:pic>
        <p:nvPicPr>
          <p:cNvPr id="15" name="Picture 14" descr="Graphical user interface&#10;&#10;Description automatically generated">
            <a:extLst>
              <a:ext uri="{FF2B5EF4-FFF2-40B4-BE49-F238E27FC236}">
                <a16:creationId xmlns="" xmlns:a16="http://schemas.microsoft.com/office/drawing/2014/main" id="{2435EAF8-B01C-BB4E-AA65-58395A8CBDAB}"/>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513" t="2602" r="23075" b="1965"/>
          <a:stretch/>
        </p:blipFill>
        <p:spPr bwMode="auto">
          <a:xfrm>
            <a:off x="8041259" y="1326087"/>
            <a:ext cx="3489325" cy="3389630"/>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6" name="TextBox 15">
                <a:extLst>
                  <a:ext uri="{FF2B5EF4-FFF2-40B4-BE49-F238E27FC236}">
                    <a16:creationId xmlns="" xmlns:a16="http://schemas.microsoft.com/office/drawing/2014/main" id="{E1D7562E-134F-D14B-AF1A-DF40E11EF758}"/>
                  </a:ext>
                </a:extLst>
              </p:cNvPr>
              <p:cNvSpPr txBox="1"/>
              <p:nvPr/>
            </p:nvSpPr>
            <p:spPr>
              <a:xfrm>
                <a:off x="479008" y="1326087"/>
                <a:ext cx="7893467" cy="1569660"/>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expression </a:t>
                </a:r>
                <a14:m>
                  <m:oMath xmlns:m="http://schemas.openxmlformats.org/officeDocument/2006/math">
                    <m:sSup>
                      <m:sSupPr>
                        <m:ctrlPr>
                          <a:rPr lang="en-US" sz="2400" i="1" dirty="0">
                            <a:latin typeface="Cambria Math"/>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𝑥</m:t>
                        </m:r>
                      </m:e>
                      <m:sup>
                        <m:r>
                          <a:rPr lang="es-ES" sz="2400" i="1" dirty="0">
                            <a:latin typeface="Cambria Math" panose="02040503050406030204" pitchFamily="18" charset="0"/>
                            <a:ea typeface="Verdana" panose="020B0604030504040204" pitchFamily="34" charset="0"/>
                            <a:cs typeface="Verdana" panose="020B0604030504040204" pitchFamily="34" charset="0"/>
                          </a:rPr>
                          <m:t>2</m:t>
                        </m:r>
                      </m:sup>
                    </m:sSup>
                    <m:r>
                      <a:rPr lang="en-US" sz="2400" i="1" dirty="0">
                        <a:latin typeface="Cambria Math" panose="02040503050406030204" pitchFamily="18" charset="0"/>
                        <a:ea typeface="Verdana" panose="020B0604030504040204" pitchFamily="34" charset="0"/>
                        <a:cs typeface="Verdana" panose="020B0604030504040204" pitchFamily="34" charset="0"/>
                      </a:rPr>
                      <m:t>−6</m:t>
                    </m:r>
                    <m:r>
                      <a:rPr lang="en-US" sz="2400" i="1" dirty="0">
                        <a:latin typeface="Cambria Math" panose="02040503050406030204" pitchFamily="18" charset="0"/>
                        <a:ea typeface="Verdana" panose="020B0604030504040204" pitchFamily="34" charset="0"/>
                        <a:cs typeface="Verdana" panose="020B0604030504040204" pitchFamily="34" charset="0"/>
                      </a:rPr>
                      <m:t>𝑥</m:t>
                    </m:r>
                    <m:r>
                      <a:rPr lang="en-US" sz="2400" i="1" dirty="0">
                        <a:latin typeface="Cambria Math" panose="02040503050406030204" pitchFamily="18" charset="0"/>
                        <a:ea typeface="Verdana" panose="020B0604030504040204" pitchFamily="34" charset="0"/>
                        <a:cs typeface="Verdana" panose="020B0604030504040204" pitchFamily="34" charset="0"/>
                      </a:rPr>
                      <m:t>+5</m:t>
                    </m:r>
                  </m:oMath>
                </a14:m>
                <a:r>
                  <a:rPr lang="en-US" sz="2400" dirty="0">
                    <a:latin typeface="Verdana" panose="020B0604030504040204" pitchFamily="34" charset="0"/>
                    <a:ea typeface="Verdana" panose="020B0604030504040204" pitchFamily="34" charset="0"/>
                    <a:cs typeface="Verdana" panose="020B0604030504040204" pitchFamily="34" charset="0"/>
                  </a:rPr>
                  <a:t> is shown</a:t>
                </a:r>
                <a:r>
                  <a:rPr lang="en-US" sz="2400" dirty="0" smtClean="0">
                    <a:latin typeface="Verdana" panose="020B0604030504040204" pitchFamily="34" charset="0"/>
                    <a:ea typeface="Verdana" panose="020B0604030504040204" pitchFamily="34" charset="0"/>
                    <a:cs typeface="Verdana" panose="020B0604030504040204" pitchFamily="34" charset="0"/>
                  </a:rPr>
                  <a:t>.</a:t>
                </a:r>
              </a:p>
              <a:p>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How many positive</a:t>
                </a:r>
                <a:r>
                  <a:rPr lang="en-US" sz="2400" dirty="0" smtClean="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-unit tiles </a:t>
                </a:r>
                <a:r>
                  <a:rPr lang="en-US" sz="2400" dirty="0" smtClean="0">
                    <a:latin typeface="Verdana" panose="020B0604030504040204" pitchFamily="34" charset="0"/>
                    <a:ea typeface="Verdana" panose="020B0604030504040204" pitchFamily="34" charset="0"/>
                    <a:cs typeface="Verdana" panose="020B0604030504040204" pitchFamily="34" charset="0"/>
                  </a:rPr>
                  <a:t>should </a:t>
                </a:r>
                <a:r>
                  <a:rPr lang="en-US" sz="2400" dirty="0">
                    <a:latin typeface="Verdana" panose="020B0604030504040204" pitchFamily="34" charset="0"/>
                    <a:ea typeface="Verdana" panose="020B0604030504040204" pitchFamily="34" charset="0"/>
                    <a:cs typeface="Verdana" panose="020B0604030504040204" pitchFamily="34" charset="0"/>
                  </a:rPr>
                  <a:t>be added to complete </a:t>
                </a:r>
                <a:r>
                  <a:rPr lang="en-US" sz="2400" dirty="0" smtClean="0">
                    <a:latin typeface="Verdana" panose="020B0604030504040204" pitchFamily="34" charset="0"/>
                    <a:ea typeface="Verdana" panose="020B0604030504040204" pitchFamily="34" charset="0"/>
                    <a:cs typeface="Verdana" panose="020B0604030504040204" pitchFamily="34" charset="0"/>
                  </a:rPr>
                  <a:t>the </a:t>
                </a:r>
                <a:r>
                  <a:rPr lang="en-US" sz="2400" dirty="0">
                    <a:latin typeface="Verdana" panose="020B0604030504040204" pitchFamily="34" charset="0"/>
                    <a:ea typeface="Verdana" panose="020B0604030504040204" pitchFamily="34" charset="0"/>
                    <a:cs typeface="Verdana" panose="020B0604030504040204" pitchFamily="34" charset="0"/>
                  </a:rPr>
                  <a:t>square</a:t>
                </a:r>
                <a:r>
                  <a:rPr lang="en-US" sz="2400" dirty="0" smtClean="0">
                    <a:latin typeface="Verdana" panose="020B0604030504040204" pitchFamily="34" charset="0"/>
                    <a:ea typeface="Verdana" panose="020B0604030504040204" pitchFamily="34" charset="0"/>
                    <a:cs typeface="Verdana" panose="020B0604030504040204" pitchFamily="34" charset="0"/>
                  </a:rPr>
                  <a:t>?</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6" name="TextBox 15">
                <a:extLst>
                  <a:ext uri="{FF2B5EF4-FFF2-40B4-BE49-F238E27FC236}">
                    <a16:creationId xmlns:a14="http://schemas.microsoft.com/office/drawing/2010/main" xmlns:a16="http://schemas.microsoft.com/office/drawing/2014/main" xmlns="" id="{E1D7562E-134F-D14B-AF1A-DF40E11EF758}"/>
                  </a:ext>
                </a:extLst>
              </p:cNvPr>
              <p:cNvSpPr txBox="1">
                <a:spLocks noRot="1" noChangeAspect="1" noMove="1" noResize="1" noEditPoints="1" noAdjustHandles="1" noChangeArrowheads="1" noChangeShapeType="1" noTextEdit="1"/>
              </p:cNvSpPr>
              <p:nvPr/>
            </p:nvSpPr>
            <p:spPr>
              <a:xfrm>
                <a:off x="479008" y="1326087"/>
                <a:ext cx="7893467" cy="1569660"/>
              </a:xfrm>
              <a:prstGeom prst="rect">
                <a:avLst/>
              </a:prstGeom>
              <a:blipFill rotWithShape="1">
                <a:blip r:embed="rId5"/>
                <a:stretch>
                  <a:fillRect l="-1236" t="-3502" b="-8171"/>
                </a:stretch>
              </a:blipFill>
            </p:spPr>
            <p:txBody>
              <a:bodyPr/>
              <a:lstStyle/>
              <a:p>
                <a:r>
                  <a:rPr lang="en-US">
                    <a:noFill/>
                  </a:rPr>
                  <a:t> </a:t>
                </a:r>
              </a:p>
            </p:txBody>
          </p:sp>
        </mc:Fallback>
      </mc:AlternateContent>
      <p:sp>
        <p:nvSpPr>
          <p:cNvPr id="17"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052650" y="275689"/>
            <a:ext cx="108340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9.6.1 Warm-Up: Complete the Square</a:t>
            </a:r>
          </a:p>
        </p:txBody>
      </p:sp>
      <p:pic>
        <p:nvPicPr>
          <p:cNvPr id="18" name="Google Shape;326;g103996e1364_0_25">
            <a:extLst>
              <a:ext uri="{FF2B5EF4-FFF2-40B4-BE49-F238E27FC236}">
                <a16:creationId xmlns="" xmlns:a16="http://schemas.microsoft.com/office/drawing/2014/main" id="{0B25478F-1F7B-DF44-A9BD-898178E878B3}"/>
              </a:ext>
            </a:extLst>
          </p:cNvPr>
          <p:cNvPicPr preferRelativeResize="0"/>
          <p:nvPr/>
        </p:nvPicPr>
        <p:blipFill>
          <a:blip r:embed="rId6">
            <a:alphaModFix/>
          </a:blip>
          <a:stretch>
            <a:fillRect/>
          </a:stretch>
        </p:blipFill>
        <p:spPr>
          <a:xfrm>
            <a:off x="305350" y="197485"/>
            <a:ext cx="747300" cy="74730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282;g104476d1465_1_17">
            <a:extLst>
              <a:ext uri="{FF2B5EF4-FFF2-40B4-BE49-F238E27FC236}">
                <a16:creationId xmlns="" xmlns:a16="http://schemas.microsoft.com/office/drawing/2014/main" id="{91320C37-EA31-CF41-8AA7-D98A5EC775B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89</a:t>
            </a:r>
            <a:endParaRPr i="1" dirty="0">
              <a:latin typeface="Calibri"/>
              <a:ea typeface="Calibri"/>
              <a:cs typeface="Calibri"/>
              <a:sym typeface="Calibri"/>
            </a:endParaRPr>
          </a:p>
        </p:txBody>
      </p:sp>
      <p:pic>
        <p:nvPicPr>
          <p:cNvPr id="3" name="Picture 2" descr="Shape, square&#10;&#10;Description automatically generated">
            <a:extLst>
              <a:ext uri="{FF2B5EF4-FFF2-40B4-BE49-F238E27FC236}">
                <a16:creationId xmlns="" xmlns:a16="http://schemas.microsoft.com/office/drawing/2014/main" id="{DF98A507-EEB8-3D48-859E-7B92CD368A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231895" y="3723236"/>
            <a:ext cx="3511826" cy="65135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C8F82859-BA98-3646-BF3B-9E17E52A2E35}"/>
                  </a:ext>
                </a:extLst>
              </p:cNvPr>
              <p:cNvSpPr txBox="1"/>
              <p:nvPr/>
            </p:nvSpPr>
            <p:spPr>
              <a:xfrm>
                <a:off x="511205" y="533066"/>
                <a:ext cx="10953207" cy="2862322"/>
              </a:xfrm>
              <a:prstGeom prst="rect">
                <a:avLst/>
              </a:prstGeom>
              <a:noFill/>
            </p:spPr>
            <p:txBody>
              <a:bodyPr wrap="square" rtlCol="0">
                <a:spAutoFit/>
              </a:bodyPr>
              <a:lstStyle/>
              <a:p>
                <a:pPr marL="460375"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Adding only the positive unit tiles will completely change the original expression, so how many negative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-unit tiles should be added?</a:t>
                </a:r>
              </a:p>
              <a:p>
                <a:pPr marL="460375"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0375"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0375"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0375"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0375"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0375"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Rewrite </a:t>
                </a:r>
                <a14:m>
                  <m:oMath xmlns:m="http://schemas.openxmlformats.org/officeDocument/2006/math">
                    <m:sSup>
                      <m:sSupPr>
                        <m:ctrlPr>
                          <a:rPr lang="en-US" sz="2000" i="1" dirty="0">
                            <a:latin typeface="Cambria Math"/>
                            <a:ea typeface="Verdana" panose="020B0604030504040204" pitchFamily="34" charset="0"/>
                            <a:cs typeface="Verdana" panose="020B0604030504040204" pitchFamily="34" charset="0"/>
                          </a:rPr>
                        </m:ctrlPr>
                      </m:sSupPr>
                      <m:e>
                        <m:r>
                          <a:rPr lang="es-ES" sz="2000" i="1" dirty="0">
                            <a:latin typeface="Cambria Math" panose="02040503050406030204" pitchFamily="18" charset="0"/>
                            <a:ea typeface="Verdana" panose="020B0604030504040204" pitchFamily="34" charset="0"/>
                            <a:cs typeface="Verdana" panose="020B0604030504040204" pitchFamily="34" charset="0"/>
                          </a:rPr>
                          <m:t>𝑥</m:t>
                        </m:r>
                      </m:e>
                      <m:sup>
                        <m:r>
                          <a:rPr lang="es-ES" sz="2000" i="1" dirty="0">
                            <a:latin typeface="Cambria Math" panose="02040503050406030204" pitchFamily="18" charset="0"/>
                            <a:ea typeface="Verdana" panose="020B0604030504040204" pitchFamily="34" charset="0"/>
                            <a:cs typeface="Verdana" panose="020B0604030504040204" pitchFamily="34" charset="0"/>
                          </a:rPr>
                          <m:t>2</m:t>
                        </m:r>
                      </m:sup>
                    </m:sSup>
                    <m:r>
                      <a:rPr lang="en-US" sz="2000" i="1" dirty="0">
                        <a:latin typeface="Cambria Math" panose="02040503050406030204" pitchFamily="18" charset="0"/>
                        <a:ea typeface="Verdana" panose="020B0604030504040204" pitchFamily="34" charset="0"/>
                        <a:cs typeface="Verdana" panose="020B0604030504040204" pitchFamily="34" charset="0"/>
                      </a:rPr>
                      <m:t>−6</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+5</m:t>
                    </m:r>
                  </m:oMath>
                </a14:m>
                <a:r>
                  <a:rPr lang="en-US" sz="2000" dirty="0">
                    <a:latin typeface="Verdana" panose="020B0604030504040204" pitchFamily="34" charset="0"/>
                    <a:ea typeface="Verdana" panose="020B0604030504040204" pitchFamily="34" charset="0"/>
                    <a:cs typeface="Verdana" panose="020B0604030504040204" pitchFamily="34" charset="0"/>
                  </a:rPr>
                  <a:t> in vertex form by placing a number in each square and a sign in each circle.</a:t>
                </a:r>
              </a:p>
            </p:txBody>
          </p:sp>
        </mc:Choice>
        <mc:Fallback xmlns="">
          <p:sp>
            <p:nvSpPr>
              <p:cNvPr id="7" name="TextBox 6">
                <a:extLst>
                  <a:ext uri="{FF2B5EF4-FFF2-40B4-BE49-F238E27FC236}">
                    <a16:creationId xmlns:a16="http://schemas.microsoft.com/office/drawing/2014/main" xmlns="" xmlns:a14="http://schemas.microsoft.com/office/drawing/2010/main" id="{C8F82859-BA98-3646-BF3B-9E17E52A2E35}"/>
                  </a:ext>
                </a:extLst>
              </p:cNvPr>
              <p:cNvSpPr txBox="1">
                <a:spLocks noRot="1" noChangeAspect="1" noMove="1" noResize="1" noEditPoints="1" noAdjustHandles="1" noChangeArrowheads="1" noChangeShapeType="1" noTextEdit="1"/>
              </p:cNvSpPr>
              <p:nvPr/>
            </p:nvSpPr>
            <p:spPr>
              <a:xfrm>
                <a:off x="511205" y="533066"/>
                <a:ext cx="10953207" cy="2862322"/>
              </a:xfrm>
              <a:prstGeom prst="rect">
                <a:avLst/>
              </a:prstGeom>
              <a:blipFill rotWithShape="1">
                <a:blip r:embed="rId5"/>
                <a:stretch>
                  <a:fillRect l="-556" t="-1277" b="-2766"/>
                </a:stretch>
              </a:blipFill>
            </p:spPr>
            <p:txBody>
              <a:bodyPr/>
              <a:lstStyle/>
              <a:p>
                <a:r>
                  <a:rPr lang="en-US">
                    <a:noFill/>
                  </a:rPr>
                  <a:t> </a:t>
                </a:r>
              </a:p>
            </p:txBody>
          </p:sp>
        </mc:Fallback>
      </mc:AlternateContent>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89</a:t>
            </a:r>
            <a:endParaRPr i="1" dirty="0">
              <a:latin typeface="Calibri"/>
              <a:ea typeface="Calibri"/>
              <a:cs typeface="Calibri"/>
              <a:sym typeface="Calibri"/>
            </a:endParaRPr>
          </a:p>
        </p:txBody>
      </p:sp>
      <p:sp>
        <p:nvSpPr>
          <p:cNvPr id="9"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54B5D1"/>
                </a:solidFill>
                <a:latin typeface="Verdana"/>
                <a:ea typeface="Verdana"/>
                <a:cs typeface="Verdana"/>
                <a:sym typeface="Verdana"/>
              </a:rPr>
              <a:t>Guided Instruction</a:t>
            </a:r>
            <a:endParaRPr lang="en-US" sz="5100" b="1" dirty="0">
              <a:solidFill>
                <a:srgbClr val="54B5D1"/>
              </a:solidFill>
              <a:latin typeface="Verdana"/>
              <a:ea typeface="Verdana"/>
              <a:cs typeface="Verdana"/>
              <a:sym typeface="Verdana"/>
            </a:endParaRPr>
          </a:p>
        </p:txBody>
      </p:sp>
      <p:pic>
        <p:nvPicPr>
          <p:cNvPr id="10" name="image2.png" descr="Icon&#10;&#10;Description automatically generated">
            <a:extLst>
              <a:ext uri="{FF2B5EF4-FFF2-40B4-BE49-F238E27FC236}">
                <a16:creationId xmlns:a16="http://schemas.microsoft.com/office/drawing/2014/main" xmlns="" id="{B8663E50-D763-C343-96E8-FEAEDD7FA21B}"/>
              </a:ext>
            </a:extLst>
          </p:cNvPr>
          <p:cNvPicPr/>
          <p:nvPr/>
        </p:nvPicPr>
        <p:blipFill>
          <a:blip r:embed="rId4"/>
          <a:srcRect/>
          <a:stretch>
            <a:fillRect/>
          </a:stretch>
        </p:blipFill>
        <p:spPr>
          <a:xfrm>
            <a:off x="4506717" y="2849920"/>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89</a:t>
            </a:r>
            <a:endParaRPr i="1" dirty="0">
              <a:latin typeface="Calibri"/>
              <a:ea typeface="Calibri"/>
              <a:cs typeface="Calibri"/>
              <a:sym typeface="Calibri"/>
            </a:endParaRPr>
          </a:p>
        </p:txBody>
      </p:sp>
      <p:pic>
        <p:nvPicPr>
          <p:cNvPr id="8" name="Picture 7" descr="A picture containing graphical user interface&#10;&#10;Description automatically generated">
            <a:extLst>
              <a:ext uri="{FF2B5EF4-FFF2-40B4-BE49-F238E27FC236}">
                <a16:creationId xmlns="" xmlns:a16="http://schemas.microsoft.com/office/drawing/2014/main" id="{BEF77DFD-2CB6-584E-A6BB-D19A4D4329C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182122" y="1300299"/>
            <a:ext cx="3348990" cy="3162300"/>
          </a:xfrm>
          <a:prstGeom prst="rect">
            <a:avLst/>
          </a:prstGeom>
        </p:spPr>
      </p:pic>
      <p:sp>
        <p:nvSpPr>
          <p:cNvPr id="10"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052650" y="62866"/>
            <a:ext cx="10957380"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9.6.2 Guided Instruction: Solving Quadratic Equations by Completing the Square</a:t>
            </a:r>
          </a:p>
        </p:txBody>
      </p:sp>
      <p:pic>
        <p:nvPicPr>
          <p:cNvPr id="11"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5">
            <a:alphaModFix/>
          </a:blip>
          <a:srcRect/>
          <a:stretch/>
        </p:blipFill>
        <p:spPr>
          <a:xfrm>
            <a:off x="305350" y="17856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 xmlns:a16="http://schemas.microsoft.com/office/drawing/2014/main" id="{C01B13E8-EC8D-E443-A329-C5E3593DD13A}"/>
                  </a:ext>
                </a:extLst>
              </p:cNvPr>
              <p:cNvSpPr txBox="1"/>
              <p:nvPr/>
            </p:nvSpPr>
            <p:spPr>
              <a:xfrm>
                <a:off x="545130" y="1386024"/>
                <a:ext cx="10985454" cy="1200329"/>
              </a:xfrm>
              <a:prstGeom prst="rect">
                <a:avLst/>
              </a:prstGeom>
              <a:noFill/>
            </p:spPr>
            <p:txBody>
              <a:bodyPr wrap="square" rtlCol="0">
                <a:spAutoFit/>
              </a:bodyPr>
              <a:lstStyle/>
              <a:p>
                <a:pPr marL="457200" indent="-457200" eaLnBrk="0" fontAlgn="base" hangingPunct="0">
                  <a:spcBef>
                    <a:spcPct val="0"/>
                  </a:spcBef>
                  <a:spcAft>
                    <a:spcPct val="0"/>
                  </a:spcAft>
                  <a:buClrTx/>
                  <a:buFont typeface="+mj-lt"/>
                  <a:buAutoNum type="arabi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expression </a:t>
                </a:r>
                <a14:m>
                  <m:oMath xmlns:m="http://schemas.openxmlformats.org/officeDocument/2006/math">
                    <m:sSup>
                      <m:sSupPr>
                        <m:ctrlPr>
                          <a:rPr lang="en-US" altLang="en-US" sz="2400" i="1" dirty="0">
                            <a:solidFill>
                              <a:schemeClr val="tx1"/>
                            </a:solidFill>
                            <a:latin typeface="Cambria Math"/>
                            <a:cs typeface="Times New Roman" panose="02020603050405020304" pitchFamily="18" charset="0"/>
                          </a:rPr>
                        </m:ctrlPr>
                      </m:sSupPr>
                      <m:e>
                        <m:r>
                          <a:rPr lang="es-ES" altLang="en-US" sz="2400" i="1" dirty="0">
                            <a:solidFill>
                              <a:schemeClr val="tx1"/>
                            </a:solidFill>
                            <a:latin typeface="Cambria Math" panose="02040503050406030204" pitchFamily="18" charset="0"/>
                            <a:cs typeface="Times New Roman" panose="02020603050405020304" pitchFamily="18" charset="0"/>
                          </a:rPr>
                          <m:t>𝑥</m:t>
                        </m:r>
                      </m:e>
                      <m:sup>
                        <m:r>
                          <a:rPr lang="es-ES" altLang="en-US" sz="2400" i="1" dirty="0">
                            <a:solidFill>
                              <a:schemeClr val="tx1"/>
                            </a:solidFill>
                            <a:latin typeface="Cambria Math" panose="02040503050406030204" pitchFamily="18" charset="0"/>
                            <a:cs typeface="Times New Roman" panose="02020603050405020304" pitchFamily="18" charset="0"/>
                          </a:rPr>
                          <m:t>2</m:t>
                        </m:r>
                      </m:sup>
                    </m:sSup>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+8</m:t>
                    </m:r>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𝑥</m:t>
                    </m:r>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+3</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is shown. </a:t>
                </a:r>
              </a:p>
              <a:p>
                <a:pPr marL="457200" eaLnBrk="0" fontAlgn="base" hangingPunct="0">
                  <a:spcBef>
                    <a:spcPct val="0"/>
                  </a:spcBef>
                  <a:spcAft>
                    <a:spcPct val="0"/>
                  </a:spcAft>
                  <a:buClrTx/>
                </a:pPr>
                <a:endParaRPr lang="en-US" altLang="en-US" sz="24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eaLnBrk="0" fontAlgn="base" hangingPunct="0">
                  <a:spcBef>
                    <a:spcPct val="0"/>
                  </a:spcBef>
                  <a:spcAft>
                    <a:spcPct val="0"/>
                  </a:spcAft>
                  <a:buClrTx/>
                </a:pPr>
                <a:r>
                  <a:rPr lang="en-US" altLang="en-US" sz="24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rPr>
                  <a:t>Rewrite </a:t>
                </a: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expression </a:t>
                </a:r>
                <a:r>
                  <a:rPr lang="en-US" altLang="en-US" sz="24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rPr>
                  <a:t>in </a:t>
                </a: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vertex form.</a:t>
                </a:r>
              </a:p>
            </p:txBody>
          </p:sp>
        </mc:Choice>
        <mc:Fallback xmlns="">
          <p:sp>
            <p:nvSpPr>
              <p:cNvPr id="13" name="TextBox 12">
                <a:extLst>
                  <a:ext uri="{FF2B5EF4-FFF2-40B4-BE49-F238E27FC236}">
                    <a16:creationId xmlns:a16="http://schemas.microsoft.com/office/drawing/2014/main" xmlns="" xmlns:a14="http://schemas.microsoft.com/office/drawing/2010/main" id="{C01B13E8-EC8D-E443-A329-C5E3593DD13A}"/>
                  </a:ext>
                </a:extLst>
              </p:cNvPr>
              <p:cNvSpPr txBox="1">
                <a:spLocks noRot="1" noChangeAspect="1" noMove="1" noResize="1" noEditPoints="1" noAdjustHandles="1" noChangeArrowheads="1" noChangeShapeType="1" noTextEdit="1"/>
              </p:cNvSpPr>
              <p:nvPr/>
            </p:nvSpPr>
            <p:spPr>
              <a:xfrm>
                <a:off x="545130" y="1386024"/>
                <a:ext cx="10985454" cy="1200329"/>
              </a:xfrm>
              <a:prstGeom prst="rect">
                <a:avLst/>
              </a:prstGeom>
              <a:blipFill rotWithShape="1">
                <a:blip r:embed="rId6"/>
                <a:stretch>
                  <a:fillRect l="-832" t="-4569" b="-10660"/>
                </a:stretch>
              </a:blipFill>
            </p:spPr>
            <p:txBody>
              <a:bodyPr/>
              <a:lstStyle/>
              <a:p>
                <a:r>
                  <a:rPr lang="en-US">
                    <a:noFill/>
                  </a:rPr>
                  <a:t> </a:t>
                </a:r>
              </a:p>
            </p:txBody>
          </p:sp>
        </mc:Fallback>
      </mc:AlternateContent>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89</a:t>
            </a:r>
            <a:endParaRPr i="1" dirty="0">
              <a:latin typeface="Calibri"/>
              <a:ea typeface="Calibri"/>
              <a:cs typeface="Calibri"/>
              <a:sym typeface="Calibri"/>
            </a:endParaRPr>
          </a:p>
        </p:txBody>
      </p:sp>
      <p:pic>
        <p:nvPicPr>
          <p:cNvPr id="8" name="image15.png" descr="Chart, line chart&#10;&#10;Description automatically generated">
            <a:extLst>
              <a:ext uri="{FF2B5EF4-FFF2-40B4-BE49-F238E27FC236}">
                <a16:creationId xmlns="" xmlns:a16="http://schemas.microsoft.com/office/drawing/2014/main" id="{F85D6090-0913-814E-8DF7-ABB63B9D3E6A}"/>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7686431" y="533066"/>
            <a:ext cx="3777980" cy="4142429"/>
          </a:xfrm>
          <a:prstGeom prst="rect">
            <a:avLst/>
          </a:prstGeom>
          <a:ln/>
        </p:spPr>
      </p:pic>
      <mc:AlternateContent xmlns:mc="http://schemas.openxmlformats.org/markup-compatibility/2006" xmlns:a14="http://schemas.microsoft.com/office/drawing/2010/main">
        <mc:Choice Requires="a14">
          <p:sp>
            <p:nvSpPr>
              <p:cNvPr id="11" name="TextBox 10">
                <a:extLst>
                  <a:ext uri="{FF2B5EF4-FFF2-40B4-BE49-F238E27FC236}">
                    <a16:creationId xmlns="" xmlns:a16="http://schemas.microsoft.com/office/drawing/2014/main" id="{C8F82859-BA98-3646-BF3B-9E17E52A2E35}"/>
                  </a:ext>
                </a:extLst>
              </p:cNvPr>
              <p:cNvSpPr txBox="1"/>
              <p:nvPr/>
            </p:nvSpPr>
            <p:spPr>
              <a:xfrm>
                <a:off x="511204" y="533066"/>
                <a:ext cx="10953207" cy="5324535"/>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The equations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𝑦</m:t>
                    </m:r>
                    <m:r>
                      <a:rPr lang="en-US" sz="2000" i="1" dirty="0">
                        <a:latin typeface="Cambria Math" panose="02040503050406030204" pitchFamily="18" charset="0"/>
                        <a:ea typeface="Verdana" panose="020B0604030504040204" pitchFamily="34" charset="0"/>
                        <a:cs typeface="Verdana" panose="020B0604030504040204" pitchFamily="34" charset="0"/>
                      </a:rPr>
                      <m:t>=</m:t>
                    </m:r>
                    <m:sSup>
                      <m:sSupPr>
                        <m:ctrlPr>
                          <a:rPr lang="en-US" sz="2000" i="1" dirty="0">
                            <a:latin typeface="Cambria Math"/>
                            <a:ea typeface="Verdana" panose="020B0604030504040204" pitchFamily="34" charset="0"/>
                            <a:cs typeface="Verdana" panose="020B0604030504040204" pitchFamily="34" charset="0"/>
                          </a:rPr>
                        </m:ctrlPr>
                      </m:sSupPr>
                      <m:e>
                        <m:r>
                          <a:rPr lang="es-ES" sz="2000" i="1" dirty="0">
                            <a:latin typeface="Cambria Math" panose="02040503050406030204" pitchFamily="18" charset="0"/>
                            <a:ea typeface="Verdana" panose="020B0604030504040204" pitchFamily="34" charset="0"/>
                            <a:cs typeface="Verdana" panose="020B0604030504040204" pitchFamily="34" charset="0"/>
                          </a:rPr>
                          <m:t>𝑥</m:t>
                        </m:r>
                      </m:e>
                      <m:sup>
                        <m:r>
                          <a:rPr lang="es-ES" sz="2000" i="1" dirty="0">
                            <a:latin typeface="Cambria Math" panose="02040503050406030204" pitchFamily="18" charset="0"/>
                            <a:ea typeface="Verdana" panose="020B0604030504040204" pitchFamily="34" charset="0"/>
                            <a:cs typeface="Verdana" panose="020B0604030504040204" pitchFamily="34" charset="0"/>
                          </a:rPr>
                          <m:t>2</m:t>
                        </m:r>
                      </m:sup>
                    </m:sSup>
                    <m:r>
                      <a:rPr lang="en-US" sz="2000" i="1" dirty="0">
                        <a:latin typeface="Cambria Math" panose="02040503050406030204" pitchFamily="18" charset="0"/>
                        <a:ea typeface="Verdana" panose="020B0604030504040204" pitchFamily="34" charset="0"/>
                        <a:cs typeface="Verdana" panose="020B0604030504040204" pitchFamily="34" charset="0"/>
                      </a:rPr>
                      <m:t>+8</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𝑦</m:t>
                    </m:r>
                    <m:r>
                      <a:rPr lang="en-US" sz="2000" i="1" dirty="0">
                        <a:latin typeface="Cambria Math" panose="02040503050406030204" pitchFamily="18" charset="0"/>
                        <a:ea typeface="Verdana" panose="020B0604030504040204" pitchFamily="34" charset="0"/>
                        <a:cs typeface="Verdana" panose="020B0604030504040204" pitchFamily="34" charset="0"/>
                      </a:rPr>
                      <m:t>=−4</m:t>
                    </m:r>
                  </m:oMath>
                </a14:m>
                <a:r>
                  <a:rPr lang="en-US" sz="2000" dirty="0">
                    <a:latin typeface="Verdana" panose="020B0604030504040204" pitchFamily="34" charset="0"/>
                    <a:ea typeface="Verdana" panose="020B0604030504040204" pitchFamily="34" charset="0"/>
                    <a:cs typeface="Verdana" panose="020B0604030504040204" pitchFamily="34" charset="0"/>
                  </a:rPr>
                  <a:t> are </a:t>
                </a: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shown </a:t>
                </a:r>
                <a:r>
                  <a:rPr lang="en-US" sz="2000" dirty="0">
                    <a:latin typeface="Verdana" panose="020B0604030504040204" pitchFamily="34" charset="0"/>
                    <a:ea typeface="Verdana" panose="020B0604030504040204" pitchFamily="34" charset="0"/>
                    <a:cs typeface="Verdana" panose="020B0604030504040204" pitchFamily="34" charset="0"/>
                  </a:rPr>
                  <a:t>on the coordinate grid</a:t>
                </a:r>
                <a:r>
                  <a:rPr lang="en-US" sz="2000" dirty="0" smtClean="0">
                    <a:latin typeface="Verdana" panose="020B0604030504040204" pitchFamily="34" charset="0"/>
                    <a:ea typeface="Verdana" panose="020B0604030504040204" pitchFamily="34" charset="0"/>
                    <a:cs typeface="Verdana" panose="020B0604030504040204" pitchFamily="34" charset="0"/>
                  </a:rPr>
                  <a:t>.</a:t>
                </a:r>
              </a:p>
              <a:p>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Where does the line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𝑦</m:t>
                    </m:r>
                    <m:r>
                      <a:rPr lang="en-US" sz="2000" i="1" dirty="0">
                        <a:latin typeface="Cambria Math" panose="02040503050406030204" pitchFamily="18" charset="0"/>
                        <a:ea typeface="Verdana" panose="020B0604030504040204" pitchFamily="34" charset="0"/>
                        <a:cs typeface="Verdana" panose="020B0604030504040204" pitchFamily="34" charset="0"/>
                      </a:rPr>
                      <m:t>=−4</m:t>
                    </m:r>
                  </m:oMath>
                </a14:m>
                <a:r>
                  <a:rPr lang="en-US" sz="2000" dirty="0">
                    <a:latin typeface="Verdana" panose="020B0604030504040204" pitchFamily="34" charset="0"/>
                    <a:ea typeface="Verdana" panose="020B0604030504040204" pitchFamily="34" charset="0"/>
                    <a:cs typeface="Verdana" panose="020B0604030504040204" pitchFamily="34" charset="0"/>
                  </a:rPr>
                  <a:t> intersect with the </a:t>
                </a: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quadratic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𝑦</m:t>
                    </m:r>
                    <m:r>
                      <a:rPr lang="en-US" sz="2000" i="1" dirty="0">
                        <a:latin typeface="Cambria Math" panose="02040503050406030204" pitchFamily="18" charset="0"/>
                        <a:ea typeface="Verdana" panose="020B0604030504040204" pitchFamily="34" charset="0"/>
                        <a:cs typeface="Verdana" panose="020B0604030504040204" pitchFamily="34" charset="0"/>
                      </a:rPr>
                      <m:t>=</m:t>
                    </m:r>
                    <m:sSup>
                      <m:sSupPr>
                        <m:ctrlPr>
                          <a:rPr lang="en-US" sz="2000" i="1" dirty="0">
                            <a:latin typeface="Cambria Math"/>
                            <a:ea typeface="Verdana" panose="020B0604030504040204" pitchFamily="34" charset="0"/>
                            <a:cs typeface="Verdana" panose="020B0604030504040204" pitchFamily="34" charset="0"/>
                          </a:rPr>
                        </m:ctrlPr>
                      </m:sSupPr>
                      <m:e>
                        <m:r>
                          <a:rPr lang="es-ES" sz="2000" i="1" dirty="0">
                            <a:latin typeface="Cambria Math" panose="02040503050406030204" pitchFamily="18" charset="0"/>
                            <a:ea typeface="Verdana" panose="020B0604030504040204" pitchFamily="34" charset="0"/>
                            <a:cs typeface="Verdana" panose="020B0604030504040204" pitchFamily="34" charset="0"/>
                          </a:rPr>
                          <m:t>𝑥</m:t>
                        </m:r>
                      </m:e>
                      <m:sup>
                        <m:r>
                          <a:rPr lang="es-ES" sz="2000" i="1" dirty="0">
                            <a:latin typeface="Cambria Math" panose="02040503050406030204" pitchFamily="18" charset="0"/>
                            <a:ea typeface="Verdana" panose="020B0604030504040204" pitchFamily="34" charset="0"/>
                            <a:cs typeface="Verdana" panose="020B0604030504040204" pitchFamily="34" charset="0"/>
                          </a:rPr>
                          <m:t>2</m:t>
                        </m:r>
                      </m:sup>
                    </m:sSup>
                    <m:r>
                      <a:rPr lang="en-US" sz="2000" i="1" dirty="0">
                        <a:latin typeface="Cambria Math" panose="02040503050406030204" pitchFamily="18" charset="0"/>
                        <a:ea typeface="Verdana" panose="020B0604030504040204" pitchFamily="34" charset="0"/>
                        <a:cs typeface="Verdana" panose="020B0604030504040204" pitchFamily="34" charset="0"/>
                      </a:rPr>
                      <m:t>+8</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+3</m:t>
                    </m:r>
                  </m:oMath>
                </a14:m>
                <a:r>
                  <a:rPr lang="en-US" sz="2000" dirty="0" smtClean="0">
                    <a:latin typeface="Verdana" panose="020B0604030504040204" pitchFamily="34" charset="0"/>
                    <a:ea typeface="Verdana" panose="020B0604030504040204" pitchFamily="34" charset="0"/>
                    <a:cs typeface="Verdana" panose="020B0604030504040204" pitchFamily="34" charset="0"/>
                  </a:rPr>
                  <a:t>?</a:t>
                </a:r>
              </a:p>
              <a:p>
                <a:pPr marL="457200"/>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457200"/>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457200"/>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457200"/>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457200"/>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457200"/>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The intersections show the solutions to </a:t>
                </a:r>
                <a14:m>
                  <m:oMath xmlns:m="http://schemas.openxmlformats.org/officeDocument/2006/math">
                    <m:sSup>
                      <m:sSupPr>
                        <m:ctrlPr>
                          <a:rPr lang="en-US" sz="2000" i="1" dirty="0">
                            <a:latin typeface="Cambria Math"/>
                            <a:ea typeface="Verdana" panose="020B0604030504040204" pitchFamily="34" charset="0"/>
                            <a:cs typeface="Verdana" panose="020B0604030504040204" pitchFamily="34" charset="0"/>
                          </a:rPr>
                        </m:ctrlPr>
                      </m:sSupPr>
                      <m:e>
                        <m:r>
                          <a:rPr lang="es-ES" sz="2000" i="1" dirty="0">
                            <a:latin typeface="Cambria Math" panose="02040503050406030204" pitchFamily="18" charset="0"/>
                            <a:ea typeface="Verdana" panose="020B0604030504040204" pitchFamily="34" charset="0"/>
                            <a:cs typeface="Verdana" panose="020B0604030504040204" pitchFamily="34" charset="0"/>
                          </a:rPr>
                          <m:t>𝑥</m:t>
                        </m:r>
                      </m:e>
                      <m:sup>
                        <m:r>
                          <a:rPr lang="es-ES" sz="2000" i="1" dirty="0">
                            <a:latin typeface="Cambria Math" panose="02040503050406030204" pitchFamily="18" charset="0"/>
                            <a:ea typeface="Verdana" panose="020B0604030504040204" pitchFamily="34" charset="0"/>
                            <a:cs typeface="Verdana" panose="020B0604030504040204" pitchFamily="34" charset="0"/>
                          </a:rPr>
                          <m:t>2</m:t>
                        </m:r>
                      </m:sup>
                    </m:sSup>
                    <m:r>
                      <a:rPr lang="en-US" sz="2000" i="1" dirty="0">
                        <a:latin typeface="Cambria Math" panose="02040503050406030204" pitchFamily="18" charset="0"/>
                        <a:ea typeface="Verdana" panose="020B0604030504040204" pitchFamily="34" charset="0"/>
                        <a:cs typeface="Verdana" panose="020B0604030504040204" pitchFamily="34" charset="0"/>
                      </a:rPr>
                      <m:t>+8</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+3=−4</m:t>
                    </m:r>
                  </m:oMath>
                </a14:m>
                <a:r>
                  <a:rPr lang="en-US" sz="2000" dirty="0" smtClean="0">
                    <a:latin typeface="Verdana" panose="020B0604030504040204" pitchFamily="34" charset="0"/>
                    <a:ea typeface="Verdana" panose="020B0604030504040204" pitchFamily="34" charset="0"/>
                    <a:cs typeface="Verdana" panose="020B0604030504040204" pitchFamily="34" charset="0"/>
                  </a:rPr>
                  <a: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1" name="TextBox 10">
                <a:extLst>
                  <a:ext uri="{FF2B5EF4-FFF2-40B4-BE49-F238E27FC236}">
                    <a16:creationId xmlns:a16="http://schemas.microsoft.com/office/drawing/2014/main" xmlns="" xmlns:a14="http://schemas.microsoft.com/office/drawing/2010/main" id="{C8F82859-BA98-3646-BF3B-9E17E52A2E35}"/>
                  </a:ext>
                </a:extLst>
              </p:cNvPr>
              <p:cNvSpPr txBox="1">
                <a:spLocks noRot="1" noChangeAspect="1" noMove="1" noResize="1" noEditPoints="1" noAdjustHandles="1" noChangeArrowheads="1" noChangeShapeType="1" noTextEdit="1"/>
              </p:cNvSpPr>
              <p:nvPr/>
            </p:nvSpPr>
            <p:spPr>
              <a:xfrm>
                <a:off x="511204" y="533066"/>
                <a:ext cx="10953207" cy="5324535"/>
              </a:xfrm>
              <a:prstGeom prst="rect">
                <a:avLst/>
              </a:prstGeom>
              <a:blipFill rotWithShape="1">
                <a:blip r:embed="rId5"/>
                <a:stretch>
                  <a:fillRect l="-612" t="-686" b="-1030"/>
                </a:stretch>
              </a:blipFill>
            </p:spPr>
            <p:txBody>
              <a:bodyPr/>
              <a:lstStyle/>
              <a:p>
                <a:r>
                  <a:rPr lang="en-US">
                    <a:noFill/>
                  </a:rPr>
                  <a:t> </a:t>
                </a:r>
              </a:p>
            </p:txBody>
          </p:sp>
        </mc:Fallback>
      </mc:AlternateContent>
    </p:spTree>
    <p:extLst>
      <p:ext uri="{BB962C8B-B14F-4D97-AF65-F5344CB8AC3E}">
        <p14:creationId xmlns:p14="http://schemas.microsoft.com/office/powerpoint/2010/main" val="3393813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90</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C8F82859-BA98-3646-BF3B-9E17E52A2E35}"/>
                  </a:ext>
                </a:extLst>
              </p:cNvPr>
              <p:cNvSpPr txBox="1"/>
              <p:nvPr/>
            </p:nvSpPr>
            <p:spPr>
              <a:xfrm>
                <a:off x="511204" y="533066"/>
                <a:ext cx="10953207" cy="3170099"/>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Daniella tried to solve </a:t>
                </a:r>
                <a14:m>
                  <m:oMath xmlns:m="http://schemas.openxmlformats.org/officeDocument/2006/math">
                    <m:sSup>
                      <m:sSupPr>
                        <m:ctrlPr>
                          <a:rPr lang="en-US" sz="2000" i="1" dirty="0">
                            <a:latin typeface="Cambria Math"/>
                            <a:ea typeface="Verdana" panose="020B0604030504040204" pitchFamily="34" charset="0"/>
                            <a:cs typeface="Verdana" panose="020B0604030504040204" pitchFamily="34" charset="0"/>
                          </a:rPr>
                        </m:ctrlPr>
                      </m:sSupPr>
                      <m:e>
                        <m:r>
                          <a:rPr lang="es-ES" sz="2000" i="1" dirty="0">
                            <a:latin typeface="Cambria Math" panose="02040503050406030204" pitchFamily="18" charset="0"/>
                            <a:ea typeface="Verdana" panose="020B0604030504040204" pitchFamily="34" charset="0"/>
                            <a:cs typeface="Verdana" panose="020B0604030504040204" pitchFamily="34" charset="0"/>
                          </a:rPr>
                          <m:t>𝑥</m:t>
                        </m:r>
                      </m:e>
                      <m:sup>
                        <m:r>
                          <a:rPr lang="es-ES" sz="2000" i="1" dirty="0">
                            <a:latin typeface="Cambria Math" panose="02040503050406030204" pitchFamily="18" charset="0"/>
                            <a:ea typeface="Verdana" panose="020B0604030504040204" pitchFamily="34" charset="0"/>
                            <a:cs typeface="Verdana" panose="020B0604030504040204" pitchFamily="34" charset="0"/>
                          </a:rPr>
                          <m:t>2</m:t>
                        </m:r>
                      </m:sup>
                    </m:sSup>
                    <m:r>
                      <a:rPr lang="en-US" sz="2000" i="1" dirty="0">
                        <a:latin typeface="Cambria Math" panose="02040503050406030204" pitchFamily="18" charset="0"/>
                        <a:ea typeface="Verdana" panose="020B0604030504040204" pitchFamily="34" charset="0"/>
                        <a:cs typeface="Verdana" panose="020B0604030504040204" pitchFamily="34" charset="0"/>
                      </a:rPr>
                      <m:t>+8</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+3=−4</m:t>
                    </m:r>
                  </m:oMath>
                </a14:m>
                <a:r>
                  <a:rPr lang="en-US" sz="2000" dirty="0">
                    <a:latin typeface="Verdana" panose="020B0604030504040204" pitchFamily="34" charset="0"/>
                    <a:ea typeface="Verdana" panose="020B0604030504040204" pitchFamily="34" charset="0"/>
                    <a:cs typeface="Verdana" panose="020B0604030504040204" pitchFamily="34" charset="0"/>
                  </a:rPr>
                  <a:t> by using the square root method. Her steps are shown</a:t>
                </a:r>
                <a:r>
                  <a:rPr lang="en-US" sz="2000" dirty="0" smtClean="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algn="ctr"/>
                <a14:m>
                  <m:oMathPara xmlns:m="http://schemas.openxmlformats.org/officeDocument/2006/math">
                    <m:oMathParaPr>
                      <m:jc m:val="centerGroup"/>
                    </m:oMathParaPr>
                    <m:oMath xmlns:m="http://schemas.openxmlformats.org/officeDocument/2006/math">
                      <m:sSup>
                        <m:sSupPr>
                          <m:ctrlPr>
                            <a:rPr lang="x-none" sz="2000" i="1">
                              <a:latin typeface="Cambria Math"/>
                            </a:rPr>
                          </m:ctrlPr>
                        </m:sSupPr>
                        <m:e>
                          <m:r>
                            <a:rPr lang="en-US" sz="2000">
                              <a:latin typeface="Cambria Math"/>
                            </a:rPr>
                            <m:t>𝑥</m:t>
                          </m:r>
                        </m:e>
                        <m:sup>
                          <m:r>
                            <a:rPr lang="en-US" sz="2000">
                              <a:latin typeface="Cambria Math"/>
                            </a:rPr>
                            <m:t>2</m:t>
                          </m:r>
                        </m:sup>
                      </m:sSup>
                      <m:r>
                        <a:rPr lang="en-US" sz="2000">
                          <a:latin typeface="Cambria Math"/>
                        </a:rPr>
                        <m:t>+8</m:t>
                      </m:r>
                      <m:r>
                        <a:rPr lang="en-US" sz="2000">
                          <a:latin typeface="Cambria Math"/>
                        </a:rPr>
                        <m:t>𝑥</m:t>
                      </m:r>
                      <m:r>
                        <a:rPr lang="en-US" sz="2000">
                          <a:latin typeface="Cambria Math"/>
                        </a:rPr>
                        <m:t>+3=−4</m:t>
                      </m:r>
                    </m:oMath>
                  </m:oMathPara>
                </a14:m>
                <a:endParaRPr lang="en-PH" dirty="0" smtClean="0">
                  <a:latin typeface="Cambria" panose="02040503050406030204" pitchFamily="18" charset="0"/>
                  <a:ea typeface="Times New Roman" panose="02020603050405020304" pitchFamily="18" charset="0"/>
                  <a:cs typeface="Cambria" panose="02040503050406030204" pitchFamily="18" charset="0"/>
                </a:endParaRPr>
              </a:p>
              <a:p>
                <a:pPr lvl="0" algn="ctr">
                  <a:lnSpc>
                    <a:spcPct val="150000"/>
                  </a:lnSpc>
                </a:pPr>
                <a14:m>
                  <m:oMathPara xmlns:m="http://schemas.openxmlformats.org/officeDocument/2006/math">
                    <m:oMathParaPr>
                      <m:jc m:val="centerGroup"/>
                    </m:oMathParaPr>
                    <m:oMath xmlns:m="http://schemas.openxmlformats.org/officeDocument/2006/math">
                      <m:sSup>
                        <m:sSupPr>
                          <m:ctrlPr>
                            <a:rPr lang="x-none" sz="2000" i="1">
                              <a:latin typeface="Cambria Math"/>
                            </a:rPr>
                          </m:ctrlPr>
                        </m:sSupPr>
                        <m:e>
                          <m:r>
                            <a:rPr lang="en-US" sz="2000">
                              <a:latin typeface="Cambria Math"/>
                            </a:rPr>
                            <m:t>𝑥</m:t>
                          </m:r>
                        </m:e>
                        <m:sup>
                          <m:r>
                            <a:rPr lang="en-US" sz="2000">
                              <a:latin typeface="Cambria Math"/>
                            </a:rPr>
                            <m:t>2</m:t>
                          </m:r>
                        </m:sup>
                      </m:sSup>
                      <m:r>
                        <a:rPr lang="en-US" sz="2000">
                          <a:latin typeface="Cambria Math"/>
                        </a:rPr>
                        <m:t>+8</m:t>
                      </m:r>
                      <m:r>
                        <a:rPr lang="en-US" sz="2000">
                          <a:latin typeface="Cambria Math"/>
                        </a:rPr>
                        <m:t>𝑥</m:t>
                      </m:r>
                      <m:r>
                        <a:rPr lang="en-US" sz="2000">
                          <a:latin typeface="Cambria Math"/>
                        </a:rPr>
                        <m:t>=−7</m:t>
                      </m:r>
                    </m:oMath>
                  </m:oMathPara>
                </a14:m>
                <a:endParaRPr lang="en-PH" dirty="0" smtClean="0">
                  <a:latin typeface="Cambria" panose="02040503050406030204" pitchFamily="18" charset="0"/>
                  <a:ea typeface="Times New Roman" panose="02020603050405020304" pitchFamily="18" charset="0"/>
                  <a:cs typeface="Cambria" panose="02040503050406030204" pitchFamily="18" charset="0"/>
                </a:endParaRPr>
              </a:p>
              <a:p>
                <a:pPr lvl="0" algn="ctr">
                  <a:lnSpc>
                    <a:spcPct val="150000"/>
                  </a:lnSpc>
                </a:pPr>
                <a14:m>
                  <m:oMathPara xmlns:m="http://schemas.openxmlformats.org/officeDocument/2006/math">
                    <m:oMathParaPr>
                      <m:jc m:val="centerGroup"/>
                    </m:oMathParaPr>
                    <m:oMath xmlns:m="http://schemas.openxmlformats.org/officeDocument/2006/math">
                      <m:sSup>
                        <m:sSupPr>
                          <m:ctrlPr>
                            <a:rPr lang="x-none" sz="2000" i="1">
                              <a:latin typeface="Cambria Math"/>
                            </a:rPr>
                          </m:ctrlPr>
                        </m:sSupPr>
                        <m:e>
                          <m:r>
                            <a:rPr lang="en-US" sz="2000">
                              <a:latin typeface="Cambria Math"/>
                            </a:rPr>
                            <m:t>𝑥</m:t>
                          </m:r>
                        </m:e>
                        <m:sup>
                          <m:r>
                            <a:rPr lang="en-US" sz="2000">
                              <a:latin typeface="Cambria Math"/>
                            </a:rPr>
                            <m:t>2</m:t>
                          </m:r>
                        </m:sup>
                      </m:sSup>
                      <m:r>
                        <a:rPr lang="en-US" sz="2000">
                          <a:latin typeface="Cambria Math"/>
                        </a:rPr>
                        <m:t>=−7−8</m:t>
                      </m:r>
                      <m:r>
                        <a:rPr lang="en-US" sz="2000">
                          <a:latin typeface="Cambria Math"/>
                        </a:rPr>
                        <m:t>𝑥</m:t>
                      </m:r>
                    </m:oMath>
                  </m:oMathPara>
                </a14:m>
                <a:endParaRPr lang="x-none" dirty="0">
                  <a:latin typeface="Cambria" panose="02040503050406030204" pitchFamily="18" charset="0"/>
                  <a:ea typeface="Times New Roman" panose="02020603050405020304" pitchFamily="18" charset="0"/>
                  <a:cs typeface="Cambria" panose="02040503050406030204" pitchFamily="18" charset="0"/>
                </a:endParaRPr>
              </a:p>
              <a:p>
                <a:pPr marL="457200" indent="-457200">
                  <a:buFont typeface="+mj-lt"/>
                  <a:buAutoNum type="arabicPeriod" startAt="3"/>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488950"/>
                <a:r>
                  <a:rPr lang="en-US" sz="2000" dirty="0">
                    <a:latin typeface="Verdana" panose="020B0604030504040204" pitchFamily="34" charset="0"/>
                    <a:ea typeface="Verdana" panose="020B0604030504040204" pitchFamily="34" charset="0"/>
                    <a:cs typeface="Verdana" panose="020B0604030504040204" pitchFamily="34" charset="0"/>
                  </a:rPr>
                  <a:t>Daniella got stuck on what to do next. Discuss with your partner why Daniella cannot solve </a:t>
                </a:r>
                <a14:m>
                  <m:oMath xmlns:m="http://schemas.openxmlformats.org/officeDocument/2006/math">
                    <m:sSup>
                      <m:sSupPr>
                        <m:ctrlPr>
                          <a:rPr lang="en-US" sz="2000" i="1" dirty="0">
                            <a:latin typeface="Cambria Math"/>
                            <a:ea typeface="Verdana" panose="020B0604030504040204" pitchFamily="34" charset="0"/>
                            <a:cs typeface="Verdana" panose="020B0604030504040204" pitchFamily="34" charset="0"/>
                          </a:rPr>
                        </m:ctrlPr>
                      </m:sSupPr>
                      <m:e>
                        <m:r>
                          <a:rPr lang="es-ES" sz="2000" i="1" dirty="0">
                            <a:latin typeface="Cambria Math" panose="02040503050406030204" pitchFamily="18" charset="0"/>
                            <a:ea typeface="Verdana" panose="020B0604030504040204" pitchFamily="34" charset="0"/>
                            <a:cs typeface="Verdana" panose="020B0604030504040204" pitchFamily="34" charset="0"/>
                          </a:rPr>
                          <m:t>𝑥</m:t>
                        </m:r>
                      </m:e>
                      <m:sup>
                        <m:r>
                          <a:rPr lang="es-ES" sz="2000" i="1" dirty="0">
                            <a:latin typeface="Cambria Math" panose="02040503050406030204" pitchFamily="18" charset="0"/>
                            <a:ea typeface="Verdana" panose="020B0604030504040204" pitchFamily="34" charset="0"/>
                            <a:cs typeface="Verdana" panose="020B0604030504040204" pitchFamily="34" charset="0"/>
                          </a:rPr>
                          <m:t>2</m:t>
                        </m:r>
                      </m:sup>
                    </m:sSup>
                    <m:r>
                      <a:rPr lang="en-US" sz="2000" i="1" dirty="0">
                        <a:latin typeface="Cambria Math" panose="02040503050406030204" pitchFamily="18" charset="0"/>
                        <a:ea typeface="Verdana" panose="020B0604030504040204" pitchFamily="34" charset="0"/>
                        <a:cs typeface="Verdana" panose="020B0604030504040204" pitchFamily="34" charset="0"/>
                      </a:rPr>
                      <m:t>=−7−8</m:t>
                    </m:r>
                    <m:r>
                      <a:rPr lang="en-US" sz="2000" i="1" dirty="0">
                        <a:latin typeface="Cambria Math" panose="02040503050406030204" pitchFamily="18" charset="0"/>
                        <a:ea typeface="Verdana" panose="020B0604030504040204" pitchFamily="34" charset="0"/>
                        <a:cs typeface="Verdana" panose="020B0604030504040204" pitchFamily="34"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 using square roots</a:t>
                </a:r>
                <a:r>
                  <a:rPr lang="en-US" sz="2000" dirty="0" smtClean="0">
                    <a:latin typeface="Verdana" panose="020B0604030504040204" pitchFamily="34" charset="0"/>
                    <a:ea typeface="Verdana" panose="020B0604030504040204" pitchFamily="34" charset="0"/>
                    <a:cs typeface="Verdana" panose="020B0604030504040204" pitchFamily="34" charset="0"/>
                  </a:rPr>
                  <a: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8" name="TextBox 7">
                <a:extLst>
                  <a:ext uri="{FF2B5EF4-FFF2-40B4-BE49-F238E27FC236}">
                    <a16:creationId xmlns:a16="http://schemas.microsoft.com/office/drawing/2014/main" xmlns="" xmlns:a14="http://schemas.microsoft.com/office/drawing/2010/main" id="{C8F82859-BA98-3646-BF3B-9E17E52A2E35}"/>
                  </a:ext>
                </a:extLst>
              </p:cNvPr>
              <p:cNvSpPr txBox="1">
                <a:spLocks noRot="1" noChangeAspect="1" noMove="1" noResize="1" noEditPoints="1" noAdjustHandles="1" noChangeArrowheads="1" noChangeShapeType="1" noTextEdit="1"/>
              </p:cNvSpPr>
              <p:nvPr/>
            </p:nvSpPr>
            <p:spPr>
              <a:xfrm>
                <a:off x="511204" y="533066"/>
                <a:ext cx="10953207" cy="3170099"/>
              </a:xfrm>
              <a:prstGeom prst="rect">
                <a:avLst/>
              </a:prstGeom>
              <a:blipFill rotWithShape="1">
                <a:blip r:embed="rId4"/>
                <a:stretch>
                  <a:fillRect l="-612" t="-1154" b="-2500"/>
                </a:stretch>
              </a:blipFill>
            </p:spPr>
            <p:txBody>
              <a:bodyPr/>
              <a:lstStyle/>
              <a:p>
                <a:r>
                  <a:rPr lang="en-US">
                    <a:noFill/>
                  </a:rPr>
                  <a:t> </a:t>
                </a:r>
              </a:p>
            </p:txBody>
          </p:sp>
        </mc:Fallback>
      </mc:AlternateContent>
    </p:spTree>
    <p:extLst>
      <p:ext uri="{BB962C8B-B14F-4D97-AF65-F5344CB8AC3E}">
        <p14:creationId xmlns:p14="http://schemas.microsoft.com/office/powerpoint/2010/main" val="3051942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90</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 xmlns:a16="http://schemas.microsoft.com/office/drawing/2014/main" id="{E3435684-2875-4F49-9059-9957A5B46220}"/>
                  </a:ext>
                </a:extLst>
              </p:cNvPr>
              <p:cNvGraphicFramePr>
                <a:graphicFrameLocks noGrp="1"/>
              </p:cNvGraphicFramePr>
              <p:nvPr>
                <p:extLst>
                  <p:ext uri="{D42A27DB-BD31-4B8C-83A1-F6EECF244321}">
                    <p14:modId xmlns:p14="http://schemas.microsoft.com/office/powerpoint/2010/main" val="2661938226"/>
                  </p:ext>
                </p:extLst>
              </p:nvPr>
            </p:nvGraphicFramePr>
            <p:xfrm>
              <a:off x="1550712" y="1768844"/>
              <a:ext cx="7725056" cy="2804160"/>
            </p:xfrm>
            <a:graphic>
              <a:graphicData uri="http://schemas.openxmlformats.org/drawingml/2006/table">
                <a:tbl>
                  <a:tblPr bandRow="1">
                    <a:tableStyleId>{A91F0D33-8C57-4600-99A7-42BC86742BE1}</a:tableStyleId>
                  </a:tblPr>
                  <a:tblGrid>
                    <a:gridCol w="3383280">
                      <a:extLst>
                        <a:ext uri="{9D8B030D-6E8A-4147-A177-3AD203B41FA5}">
                          <a16:colId xmlns="" xmlns:a16="http://schemas.microsoft.com/office/drawing/2014/main" val="969827217"/>
                        </a:ext>
                      </a:extLst>
                    </a:gridCol>
                    <a:gridCol w="4341776">
                      <a:extLst>
                        <a:ext uri="{9D8B030D-6E8A-4147-A177-3AD203B41FA5}">
                          <a16:colId xmlns="" xmlns:a16="http://schemas.microsoft.com/office/drawing/2014/main" val="589943971"/>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Original Equation</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rPr>
                                    </m:ctrlPr>
                                  </m:sSupPr>
                                  <m:e>
                                    <m:r>
                                      <a:rPr lang="en-US" sz="2000">
                                        <a:effectLst/>
                                        <a:latin typeface="Cambria Math"/>
                                      </a:rPr>
                                      <m:t>𝑥</m:t>
                                    </m:r>
                                  </m:e>
                                  <m:sup>
                                    <m:r>
                                      <a:rPr lang="en-US" sz="2000">
                                        <a:effectLst/>
                                        <a:latin typeface="Cambria Math"/>
                                      </a:rPr>
                                      <m:t>2</m:t>
                                    </m:r>
                                  </m:sup>
                                </m:sSup>
                                <m:r>
                                  <a:rPr lang="en-US" sz="2000">
                                    <a:effectLst/>
                                    <a:latin typeface="Cambria Math"/>
                                  </a:rPr>
                                  <m:t>+8</m:t>
                                </m:r>
                                <m:r>
                                  <a:rPr lang="en-US" sz="2000">
                                    <a:effectLst/>
                                    <a:latin typeface="Cambria Math"/>
                                  </a:rPr>
                                  <m:t>𝑥</m:t>
                                </m:r>
                                <m:r>
                                  <a:rPr lang="en-US" sz="2000">
                                    <a:effectLst/>
                                    <a:latin typeface="Cambria Math"/>
                                  </a:rPr>
                                  <m:t>+3=−4</m:t>
                                </m:r>
                              </m:oMath>
                            </m:oMathPara>
                          </a14:m>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4050798"/>
                      </a:ext>
                    </a:extLst>
                  </a:tr>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Add </a:t>
                          </a:r>
                          <a14:m>
                            <m:oMath xmlns:m="http://schemas.openxmlformats.org/officeDocument/2006/math">
                              <m:r>
                                <a:rPr lang="en-US" sz="2000" b="1" smtClean="0">
                                  <a:effectLst/>
                                  <a:latin typeface="Cambria Math" panose="02040503050406030204" pitchFamily="18" charset="0"/>
                                </a:rPr>
                                <m:t>𝟒</m:t>
                              </m:r>
                            </m:oMath>
                          </a14:m>
                          <a:r>
                            <a:rPr lang="en-US" sz="2000" b="1" dirty="0">
                              <a:effectLst/>
                              <a:latin typeface="Verdana" panose="020B0604030504040204" pitchFamily="34" charset="0"/>
                              <a:ea typeface="Verdana" panose="020B0604030504040204" pitchFamily="34" charset="0"/>
                              <a:cs typeface="Verdana" panose="020B0604030504040204" pitchFamily="34" charset="0"/>
                            </a:rPr>
                            <a:t> to both sides to set the equation to </a:t>
                          </a:r>
                          <a14:m>
                            <m:oMath xmlns:m="http://schemas.openxmlformats.org/officeDocument/2006/math">
                              <m:r>
                                <a:rPr lang="en-US" sz="2000" b="1" smtClean="0">
                                  <a:effectLst/>
                                  <a:latin typeface="Cambria Math" panose="02040503050406030204" pitchFamily="18" charset="0"/>
                                </a:rPr>
                                <m:t>𝟎</m:t>
                              </m:r>
                            </m:oMath>
                          </a14:m>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rPr>
                                    </m:ctrlPr>
                                  </m:sSupPr>
                                  <m:e>
                                    <m:r>
                                      <a:rPr lang="en-US" sz="2000">
                                        <a:effectLst/>
                                        <a:latin typeface="Cambria Math"/>
                                      </a:rPr>
                                      <m:t>𝑥</m:t>
                                    </m:r>
                                  </m:e>
                                  <m:sup>
                                    <m:r>
                                      <a:rPr lang="en-US" sz="2000">
                                        <a:effectLst/>
                                        <a:latin typeface="Cambria Math"/>
                                      </a:rPr>
                                      <m:t>2</m:t>
                                    </m:r>
                                  </m:sup>
                                </m:sSup>
                                <m:r>
                                  <a:rPr lang="en-US" sz="2000">
                                    <a:effectLst/>
                                    <a:latin typeface="Cambria Math"/>
                                  </a:rPr>
                                  <m:t>+8</m:t>
                                </m:r>
                                <m:r>
                                  <a:rPr lang="en-US" sz="2000">
                                    <a:effectLst/>
                                    <a:latin typeface="Cambria Math"/>
                                  </a:rPr>
                                  <m:t>𝑥</m:t>
                                </m:r>
                                <m:r>
                                  <a:rPr lang="en-US" sz="2000">
                                    <a:effectLst/>
                                    <a:latin typeface="Cambria Math"/>
                                  </a:rPr>
                                  <m:t>+3+4=−4+4</m:t>
                                </m:r>
                              </m:oMath>
                            </m:oMathPara>
                          </a14:m>
                          <a:endParaRPr lang="en-PH" sz="1400" dirty="0" smtClean="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endParaRPr lang="x-none" sz="14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rPr>
                                    </m:ctrlPr>
                                  </m:sSupPr>
                                  <m:e>
                                    <m:r>
                                      <a:rPr lang="en-US" sz="2000">
                                        <a:effectLst/>
                                        <a:latin typeface="Cambria Math"/>
                                      </a:rPr>
                                      <m:t>𝑥</m:t>
                                    </m:r>
                                  </m:e>
                                  <m:sup>
                                    <m:r>
                                      <a:rPr lang="en-US" sz="2000">
                                        <a:effectLst/>
                                        <a:latin typeface="Cambria Math"/>
                                      </a:rPr>
                                      <m:t>2</m:t>
                                    </m:r>
                                  </m:sup>
                                </m:sSup>
                                <m:r>
                                  <a:rPr lang="en-US" sz="2000">
                                    <a:effectLst/>
                                    <a:latin typeface="Cambria Math"/>
                                  </a:rPr>
                                  <m:t>+8</m:t>
                                </m:r>
                                <m:r>
                                  <a:rPr lang="en-US" sz="2000">
                                    <a:effectLst/>
                                    <a:latin typeface="Cambria Math"/>
                                  </a:rPr>
                                  <m:t>𝑥</m:t>
                                </m:r>
                                <m:r>
                                  <a:rPr lang="en-US" sz="2000">
                                    <a:effectLst/>
                                    <a:latin typeface="Cambria Math"/>
                                  </a:rPr>
                                  <m:t>+_____=_______</m:t>
                                </m:r>
                              </m:oMath>
                            </m:oMathPara>
                          </a14:m>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133068796"/>
                      </a:ext>
                    </a:extLst>
                  </a:tr>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Complete the square</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m:t>
                                </m:r>
                                <m:sSup>
                                  <m:sSupPr>
                                    <m:ctrlPr>
                                      <a:rPr lang="x-none" sz="2000" i="1">
                                        <a:effectLst/>
                                        <a:latin typeface="Cambria Math"/>
                                      </a:rPr>
                                    </m:ctrlPr>
                                  </m:sSupPr>
                                  <m:e>
                                    <m:r>
                                      <a:rPr lang="en-US" sz="2000">
                                        <a:effectLst/>
                                        <a:latin typeface="Cambria Math"/>
                                      </a:rPr>
                                      <m:t>𝑥</m:t>
                                    </m:r>
                                  </m:e>
                                  <m:sup>
                                    <m:r>
                                      <a:rPr lang="en-US" sz="2000">
                                        <a:effectLst/>
                                        <a:latin typeface="Cambria Math"/>
                                      </a:rPr>
                                      <m:t>2</m:t>
                                    </m:r>
                                  </m:sup>
                                </m:sSup>
                                <m:r>
                                  <a:rPr lang="en-US" sz="2000">
                                    <a:effectLst/>
                                    <a:latin typeface="Cambria Math"/>
                                  </a:rPr>
                                  <m:t>+8</m:t>
                                </m:r>
                                <m:r>
                                  <a:rPr lang="en-US" sz="2000">
                                    <a:effectLst/>
                                    <a:latin typeface="Cambria Math"/>
                                  </a:rPr>
                                  <m:t>𝑥</m:t>
                                </m:r>
                                <m:r>
                                  <a:rPr lang="en-US" sz="2000">
                                    <a:effectLst/>
                                    <a:latin typeface="Cambria Math"/>
                                  </a:rPr>
                                  <m:t>)+7=0</m:t>
                                </m:r>
                              </m:oMath>
                            </m:oMathPara>
                          </a14:m>
                          <a:endParaRPr lang="en-PH" sz="1400" dirty="0" smtClean="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endParaRPr lang="x-none" sz="14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x-none" sz="2000" i="1">
                                        <a:effectLst/>
                                        <a:latin typeface="Cambria Math"/>
                                      </a:rPr>
                                    </m:ctrlPr>
                                  </m:dPr>
                                  <m:e>
                                    <m:sSup>
                                      <m:sSupPr>
                                        <m:ctrlPr>
                                          <a:rPr lang="x-none" sz="2000" i="1">
                                            <a:effectLst/>
                                            <a:latin typeface="Cambria Math"/>
                                          </a:rPr>
                                        </m:ctrlPr>
                                      </m:sSupPr>
                                      <m:e>
                                        <m:r>
                                          <a:rPr lang="en-US" sz="2000">
                                            <a:effectLst/>
                                            <a:latin typeface="Cambria Math"/>
                                          </a:rPr>
                                          <m:t>𝑥</m:t>
                                        </m:r>
                                      </m:e>
                                      <m:sup>
                                        <m:r>
                                          <a:rPr lang="en-US" sz="2000">
                                            <a:effectLst/>
                                            <a:latin typeface="Cambria Math"/>
                                          </a:rPr>
                                          <m:t>2</m:t>
                                        </m:r>
                                      </m:sup>
                                    </m:sSup>
                                    <m:r>
                                      <a:rPr lang="en-US" sz="2000">
                                        <a:effectLst/>
                                        <a:latin typeface="Cambria Math"/>
                                      </a:rPr>
                                      <m:t>+8</m:t>
                                    </m:r>
                                    <m:r>
                                      <a:rPr lang="en-US" sz="2000">
                                        <a:effectLst/>
                                        <a:latin typeface="Cambria Math"/>
                                      </a:rPr>
                                      <m:t>𝑥</m:t>
                                    </m:r>
                                    <m:r>
                                      <a:rPr lang="en-US" sz="2000">
                                        <a:effectLst/>
                                        <a:latin typeface="Cambria Math"/>
                                      </a:rPr>
                                      <m:t>+_____</m:t>
                                    </m:r>
                                  </m:e>
                                </m:d>
                                <m:r>
                                  <a:rPr lang="en-US" sz="2000">
                                    <a:effectLst/>
                                    <a:latin typeface="Cambria Math"/>
                                  </a:rPr>
                                  <m:t>+7−______=0</m:t>
                                </m:r>
                              </m:oMath>
                            </m:oMathPara>
                          </a14:m>
                          <a:endParaRPr lang="en-PH" sz="1400" dirty="0" smtClean="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endParaRPr lang="x-none" sz="14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rPr>
                                    </m:ctrlPr>
                                  </m:sSupPr>
                                  <m:e>
                                    <m:r>
                                      <a:rPr lang="en-US" sz="2000">
                                        <a:effectLst/>
                                        <a:latin typeface="Cambria Math"/>
                                      </a:rPr>
                                      <m:t>(</m:t>
                                    </m:r>
                                    <m:r>
                                      <a:rPr lang="en-US" sz="2000">
                                        <a:effectLst/>
                                        <a:latin typeface="Cambria Math"/>
                                      </a:rPr>
                                      <m:t>𝑥</m:t>
                                    </m:r>
                                    <m:r>
                                      <a:rPr lang="en-US" sz="2000">
                                        <a:effectLst/>
                                        <a:latin typeface="Cambria Math"/>
                                      </a:rPr>
                                      <m:t>+4)</m:t>
                                    </m:r>
                                  </m:e>
                                  <m:sup>
                                    <m:r>
                                      <a:rPr lang="en-US" sz="2000">
                                        <a:effectLst/>
                                        <a:latin typeface="Cambria Math"/>
                                      </a:rPr>
                                      <m:t>2</m:t>
                                    </m:r>
                                  </m:sup>
                                </m:sSup>
                                <m:r>
                                  <a:rPr lang="en-US" sz="2000">
                                    <a:effectLst/>
                                    <a:latin typeface="Cambria Math"/>
                                  </a:rPr>
                                  <m:t>−9=0</m:t>
                                </m:r>
                              </m:oMath>
                            </m:oMathPara>
                          </a14:m>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598394484"/>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E3435684-2875-4F49-9059-9957A5B46220}"/>
                  </a:ext>
                </a:extLst>
              </p:cNvPr>
              <p:cNvGraphicFramePr>
                <a:graphicFrameLocks noGrp="1"/>
              </p:cNvGraphicFramePr>
              <p:nvPr>
                <p:extLst>
                  <p:ext uri="{D42A27DB-BD31-4B8C-83A1-F6EECF244321}">
                    <p14:modId xmlns:p14="http://schemas.microsoft.com/office/powerpoint/2010/main" val="2661938226"/>
                  </p:ext>
                </p:extLst>
              </p:nvPr>
            </p:nvGraphicFramePr>
            <p:xfrm>
              <a:off x="1550712" y="1768844"/>
              <a:ext cx="7725056" cy="2804160"/>
            </p:xfrm>
            <a:graphic>
              <a:graphicData uri="http://schemas.openxmlformats.org/drawingml/2006/table">
                <a:tbl>
                  <a:tblPr bandRow="1">
                    <a:tableStyleId>{A91F0D33-8C57-4600-99A7-42BC86742BE1}</a:tableStyleId>
                  </a:tblPr>
                  <a:tblGrid>
                    <a:gridCol w="3383280">
                      <a:extLst>
                        <a:ext uri="{9D8B030D-6E8A-4147-A177-3AD203B41FA5}">
                          <a16:colId xmlns:a16="http://schemas.microsoft.com/office/drawing/2014/main" xmlns:a14="http://schemas.microsoft.com/office/drawing/2010/main" xmlns="" val="969827217"/>
                        </a:ext>
                      </a:extLst>
                    </a:gridCol>
                    <a:gridCol w="4341776">
                      <a:extLst>
                        <a:ext uri="{9D8B030D-6E8A-4147-A177-3AD203B41FA5}">
                          <a16:colId xmlns:a16="http://schemas.microsoft.com/office/drawing/2014/main" xmlns:a14="http://schemas.microsoft.com/office/drawing/2010/main" xmlns="" val="589943971"/>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Original Equation</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77840" b="-529333"/>
                          </a:stretch>
                        </a:blipFill>
                      </a:tcPr>
                    </a:tc>
                    <a:extLst>
                      <a:ext uri="{0D108BD9-81ED-4DB2-BD59-A6C34878D82A}">
                        <a16:rowId xmlns:a16="http://schemas.microsoft.com/office/drawing/2014/main" xmlns:a14="http://schemas.microsoft.com/office/drawing/2010/main" xmlns="" val="34050798"/>
                      </a:ext>
                    </a:extLst>
                  </a:tr>
                  <a:tr h="914400">
                    <a:tc>
                      <a:txBody>
                        <a:bodyPr/>
                        <a:lstStyle/>
                        <a:p>
                          <a:endParaRPr lang="en-US"/>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50000" r="-128468" b="-164667"/>
                          </a:stretch>
                        </a:blipFill>
                      </a:tcPr>
                    </a:tc>
                    <a:tc>
                      <a:txBody>
                        <a:bodyPr/>
                        <a:lstStyle/>
                        <a:p>
                          <a:endParaRPr lang="en-US"/>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77840" t="-50000" b="-164667"/>
                          </a:stretch>
                        </a:blipFill>
                      </a:tcPr>
                    </a:tc>
                    <a:extLst>
                      <a:ext uri="{0D108BD9-81ED-4DB2-BD59-A6C34878D82A}">
                        <a16:rowId xmlns:a16="http://schemas.microsoft.com/office/drawing/2014/main" xmlns:a14="http://schemas.microsoft.com/office/drawing/2010/main" xmlns="" val="4133068796"/>
                      </a:ext>
                    </a:extLst>
                  </a:tr>
                  <a:tr h="143256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Complete the square</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77840" t="-95745" b="-5106"/>
                          </a:stretch>
                        </a:blipFill>
                      </a:tcPr>
                    </a:tc>
                    <a:extLst>
                      <a:ext uri="{0D108BD9-81ED-4DB2-BD59-A6C34878D82A}">
                        <a16:rowId xmlns:a16="http://schemas.microsoft.com/office/drawing/2014/main" xmlns:a14="http://schemas.microsoft.com/office/drawing/2010/main" xmlns="" val="1598394484"/>
                      </a:ext>
                    </a:extLst>
                  </a:tr>
                </a:tbl>
              </a:graphicData>
            </a:graphic>
          </p:graphicFrame>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C8F82859-BA98-3646-BF3B-9E17E52A2E35}"/>
                  </a:ext>
                </a:extLst>
              </p:cNvPr>
              <p:cNvSpPr txBox="1"/>
              <p:nvPr/>
            </p:nvSpPr>
            <p:spPr>
              <a:xfrm>
                <a:off x="511204" y="533066"/>
                <a:ext cx="10953207" cy="1015663"/>
              </a:xfrm>
              <a:prstGeom prst="rect">
                <a:avLst/>
              </a:prstGeom>
              <a:noFill/>
            </p:spPr>
            <p:txBody>
              <a:bodyPr wrap="square" rtlCol="0">
                <a:spAutoFit/>
              </a:bodyPr>
              <a:lstStyle/>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One way of solving </a:t>
                </a:r>
                <a14:m>
                  <m:oMath xmlns:m="http://schemas.openxmlformats.org/officeDocument/2006/math">
                    <m:sSup>
                      <m:sSupPr>
                        <m:ctrlPr>
                          <a:rPr lang="en-US" sz="2000" i="1" dirty="0">
                            <a:latin typeface="Cambria Math"/>
                            <a:ea typeface="Verdana" panose="020B0604030504040204" pitchFamily="34" charset="0"/>
                            <a:cs typeface="Verdana" panose="020B0604030504040204" pitchFamily="34" charset="0"/>
                          </a:rPr>
                        </m:ctrlPr>
                      </m:sSupPr>
                      <m:e>
                        <m:r>
                          <a:rPr lang="es-ES" sz="2000" i="1" dirty="0">
                            <a:latin typeface="Cambria Math" panose="02040503050406030204" pitchFamily="18" charset="0"/>
                            <a:ea typeface="Verdana" panose="020B0604030504040204" pitchFamily="34" charset="0"/>
                            <a:cs typeface="Verdana" panose="020B0604030504040204" pitchFamily="34" charset="0"/>
                          </a:rPr>
                          <m:t>𝑥</m:t>
                        </m:r>
                      </m:e>
                      <m:sup>
                        <m:r>
                          <a:rPr lang="es-ES" sz="2000" i="1" dirty="0">
                            <a:latin typeface="Cambria Math" panose="02040503050406030204" pitchFamily="18" charset="0"/>
                            <a:ea typeface="Verdana" panose="020B0604030504040204" pitchFamily="34" charset="0"/>
                            <a:cs typeface="Verdana" panose="020B0604030504040204" pitchFamily="34" charset="0"/>
                          </a:rPr>
                          <m:t>2</m:t>
                        </m:r>
                      </m:sup>
                    </m:sSup>
                    <m:r>
                      <a:rPr lang="en-US" sz="2000" i="1" dirty="0">
                        <a:latin typeface="Cambria Math" panose="02040503050406030204" pitchFamily="18" charset="0"/>
                        <a:ea typeface="Verdana" panose="020B0604030504040204" pitchFamily="34" charset="0"/>
                        <a:cs typeface="Verdana" panose="020B0604030504040204" pitchFamily="34" charset="0"/>
                      </a:rPr>
                      <m:t>+8</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+3=−4</m:t>
                    </m:r>
                  </m:oMath>
                </a14:m>
                <a:r>
                  <a:rPr lang="en-US" sz="2000" dirty="0">
                    <a:latin typeface="Verdana" panose="020B0604030504040204" pitchFamily="34" charset="0"/>
                    <a:ea typeface="Verdana" panose="020B0604030504040204" pitchFamily="34" charset="0"/>
                    <a:cs typeface="Verdana" panose="020B0604030504040204" pitchFamily="34" charset="0"/>
                  </a:rPr>
                  <a:t> is by completing the square</a:t>
                </a:r>
                <a:r>
                  <a:rPr lang="en-US" sz="2000" dirty="0" smtClean="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startAt="4"/>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Complete the steps in the table</a:t>
                </a:r>
                <a:r>
                  <a:rPr lang="en-US" sz="2000" dirty="0" smtClean="0">
                    <a:latin typeface="Verdana" panose="020B0604030504040204" pitchFamily="34" charset="0"/>
                    <a:ea typeface="Verdana" panose="020B0604030504040204" pitchFamily="34" charset="0"/>
                    <a:cs typeface="Verdana" panose="020B0604030504040204" pitchFamily="34" charset="0"/>
                  </a:rPr>
                  <a: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8" name="TextBox 7">
                <a:extLst>
                  <a:ext uri="{FF2B5EF4-FFF2-40B4-BE49-F238E27FC236}">
                    <a16:creationId xmlns:a16="http://schemas.microsoft.com/office/drawing/2014/main" xmlns="" xmlns:a14="http://schemas.microsoft.com/office/drawing/2010/main" id="{C8F82859-BA98-3646-BF3B-9E17E52A2E35}"/>
                  </a:ext>
                </a:extLst>
              </p:cNvPr>
              <p:cNvSpPr txBox="1">
                <a:spLocks noRot="1" noChangeAspect="1" noMove="1" noResize="1" noEditPoints="1" noAdjustHandles="1" noChangeArrowheads="1" noChangeShapeType="1" noTextEdit="1"/>
              </p:cNvSpPr>
              <p:nvPr/>
            </p:nvSpPr>
            <p:spPr>
              <a:xfrm>
                <a:off x="511204" y="533066"/>
                <a:ext cx="10953207" cy="1015663"/>
              </a:xfrm>
              <a:prstGeom prst="rect">
                <a:avLst/>
              </a:prstGeom>
              <a:blipFill rotWithShape="1">
                <a:blip r:embed="rId5"/>
                <a:stretch>
                  <a:fillRect l="-612" t="-3593" b="-9581"/>
                </a:stretch>
              </a:blipFill>
            </p:spPr>
            <p:txBody>
              <a:bodyPr/>
              <a:lstStyle/>
              <a:p>
                <a:r>
                  <a:rPr lang="en-US">
                    <a:noFill/>
                  </a:rPr>
                  <a:t> </a:t>
                </a:r>
              </a:p>
            </p:txBody>
          </p:sp>
        </mc:Fallback>
      </mc:AlternateContent>
    </p:spTree>
    <p:extLst>
      <p:ext uri="{BB962C8B-B14F-4D97-AF65-F5344CB8AC3E}">
        <p14:creationId xmlns:p14="http://schemas.microsoft.com/office/powerpoint/2010/main" val="24009771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90</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 xmlns:a16="http://schemas.microsoft.com/office/drawing/2014/main" id="{D73F402A-0287-FD45-AB8B-658AECA2D30E}"/>
                  </a:ext>
                </a:extLst>
              </p:cNvPr>
              <p:cNvGraphicFramePr>
                <a:graphicFrameLocks noGrp="1"/>
              </p:cNvGraphicFramePr>
              <p:nvPr>
                <p:extLst>
                  <p:ext uri="{D42A27DB-BD31-4B8C-83A1-F6EECF244321}">
                    <p14:modId xmlns:p14="http://schemas.microsoft.com/office/powerpoint/2010/main" val="2355741856"/>
                  </p:ext>
                </p:extLst>
              </p:nvPr>
            </p:nvGraphicFramePr>
            <p:xfrm>
              <a:off x="1514475" y="1137962"/>
              <a:ext cx="6743700" cy="3756724"/>
            </p:xfrm>
            <a:graphic>
              <a:graphicData uri="http://schemas.openxmlformats.org/drawingml/2006/table">
                <a:tbl>
                  <a:tblPr bandRow="1">
                    <a:tableStyleId>{A91F0D33-8C57-4600-99A7-42BC86742BE1}</a:tableStyleId>
                  </a:tblPr>
                  <a:tblGrid>
                    <a:gridCol w="2315210">
                      <a:extLst>
                        <a:ext uri="{9D8B030D-6E8A-4147-A177-3AD203B41FA5}">
                          <a16:colId xmlns="" xmlns:a16="http://schemas.microsoft.com/office/drawing/2014/main" val="2078690450"/>
                        </a:ext>
                      </a:extLst>
                    </a:gridCol>
                    <a:gridCol w="4428490">
                      <a:extLst>
                        <a:ext uri="{9D8B030D-6E8A-4147-A177-3AD203B41FA5}">
                          <a16:colId xmlns="" xmlns:a16="http://schemas.microsoft.com/office/drawing/2014/main" val="1856837940"/>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Add </a:t>
                          </a:r>
                          <a14:m>
                            <m:oMath xmlns:m="http://schemas.openxmlformats.org/officeDocument/2006/math">
                              <m:r>
                                <a:rPr lang="en-US" sz="2000" b="1">
                                  <a:effectLst/>
                                  <a:latin typeface="Cambria Math"/>
                                </a:rPr>
                                <m:t>𝟗</m:t>
                              </m:r>
                            </m:oMath>
                          </a14:m>
                          <a:r>
                            <a:rPr lang="en-US" sz="2000" b="1" dirty="0">
                              <a:effectLst/>
                              <a:latin typeface="Verdana" panose="020B0604030504040204" pitchFamily="34" charset="0"/>
                              <a:ea typeface="Verdana" panose="020B0604030504040204" pitchFamily="34" charset="0"/>
                              <a:cs typeface="Verdana" panose="020B0604030504040204" pitchFamily="34" charset="0"/>
                            </a:rPr>
                            <a:t> to both sides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rPr>
                                    </m:ctrlPr>
                                  </m:sSupPr>
                                  <m:e>
                                    <m:r>
                                      <a:rPr lang="en-US" sz="2000">
                                        <a:effectLst/>
                                        <a:latin typeface="Cambria Math"/>
                                      </a:rPr>
                                      <m:t>(</m:t>
                                    </m:r>
                                    <m:r>
                                      <a:rPr lang="en-US" sz="2000">
                                        <a:effectLst/>
                                        <a:latin typeface="Cambria Math"/>
                                      </a:rPr>
                                      <m:t>𝑥</m:t>
                                    </m:r>
                                    <m:r>
                                      <a:rPr lang="en-US" sz="2000">
                                        <a:effectLst/>
                                        <a:latin typeface="Cambria Math"/>
                                      </a:rPr>
                                      <m:t>+4)</m:t>
                                    </m:r>
                                  </m:e>
                                  <m:sup>
                                    <m:r>
                                      <a:rPr lang="en-US" sz="2000">
                                        <a:effectLst/>
                                        <a:latin typeface="Cambria Math"/>
                                      </a:rPr>
                                      <m:t>2</m:t>
                                    </m:r>
                                  </m:sup>
                                </m:sSup>
                                <m:r>
                                  <a:rPr lang="en-US" sz="2000">
                                    <a:effectLst/>
                                    <a:latin typeface="Cambria Math"/>
                                  </a:rPr>
                                  <m:t>−9=0</m:t>
                                </m:r>
                              </m:oMath>
                            </m:oMathPara>
                          </a14:m>
                          <a:endParaRPr lang="x-none" sz="200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rPr>
                                    </m:ctrlPr>
                                  </m:sSupPr>
                                  <m:e>
                                    <m:r>
                                      <a:rPr lang="en-US" sz="2000">
                                        <a:effectLst/>
                                        <a:latin typeface="Cambria Math"/>
                                      </a:rPr>
                                      <m:t>(</m:t>
                                    </m:r>
                                    <m:r>
                                      <a:rPr lang="en-US" sz="2000">
                                        <a:effectLst/>
                                        <a:latin typeface="Cambria Math"/>
                                      </a:rPr>
                                      <m:t>𝑥</m:t>
                                    </m:r>
                                    <m:r>
                                      <a:rPr lang="en-US" sz="2000">
                                        <a:effectLst/>
                                        <a:latin typeface="Cambria Math"/>
                                      </a:rPr>
                                      <m:t>+4)</m:t>
                                    </m:r>
                                  </m:e>
                                  <m:sup>
                                    <m:r>
                                      <a:rPr lang="en-US" sz="2000">
                                        <a:effectLst/>
                                        <a:latin typeface="Cambria Math"/>
                                      </a:rPr>
                                      <m:t>2</m:t>
                                    </m:r>
                                  </m:sup>
                                </m:sSup>
                                <m:r>
                                  <a:rPr lang="en-US" sz="2000">
                                    <a:effectLst/>
                                    <a:latin typeface="Cambria Math"/>
                                  </a:rPr>
                                  <m:t>−9+_____=0+_____</m:t>
                                </m:r>
                              </m:oMath>
                            </m:oMathPara>
                          </a14:m>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989067509"/>
                      </a:ext>
                    </a:extLst>
                  </a:tr>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Take the square root of both sides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a:rPr>
                                    </m:ctrlPr>
                                  </m:sSupPr>
                                  <m:e>
                                    <m:r>
                                      <a:rPr lang="en-US" sz="2000">
                                        <a:effectLst/>
                                        <a:latin typeface="Cambria Math"/>
                                      </a:rPr>
                                      <m:t>(</m:t>
                                    </m:r>
                                    <m:r>
                                      <a:rPr lang="en-US" sz="2000">
                                        <a:effectLst/>
                                        <a:latin typeface="Cambria Math"/>
                                      </a:rPr>
                                      <m:t>𝑥</m:t>
                                    </m:r>
                                    <m:r>
                                      <a:rPr lang="en-US" sz="2000">
                                        <a:effectLst/>
                                        <a:latin typeface="Cambria Math"/>
                                      </a:rPr>
                                      <m:t>+4)</m:t>
                                    </m:r>
                                  </m:e>
                                  <m:sup>
                                    <m:r>
                                      <a:rPr lang="en-US" sz="2000">
                                        <a:effectLst/>
                                        <a:latin typeface="Cambria Math"/>
                                      </a:rPr>
                                      <m:t>2</m:t>
                                    </m:r>
                                  </m:sup>
                                </m:sSup>
                                <m:r>
                                  <a:rPr lang="en-US" sz="2000">
                                    <a:effectLst/>
                                    <a:latin typeface="Cambria Math"/>
                                  </a:rPr>
                                  <m:t>=9</m:t>
                                </m:r>
                              </m:oMath>
                            </m:oMathPara>
                          </a14:m>
                          <a:endParaRPr lang="x-none" sz="200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ad>
                                  <m:radPr>
                                    <m:degHide m:val="on"/>
                                    <m:ctrlPr>
                                      <a:rPr lang="x-none" sz="2000" i="1">
                                        <a:effectLst/>
                                        <a:latin typeface="Cambria Math"/>
                                      </a:rPr>
                                    </m:ctrlPr>
                                  </m:radPr>
                                  <m:deg/>
                                  <m:e>
                                    <m:r>
                                      <a:rPr lang="en-US" sz="2000">
                                        <a:effectLst/>
                                        <a:latin typeface="Cambria Math"/>
                                      </a:rPr>
                                      <m:t>__________</m:t>
                                    </m:r>
                                  </m:e>
                                </m:rad>
                                <m:r>
                                  <a:rPr lang="en-US" sz="2000">
                                    <a:effectLst/>
                                    <a:latin typeface="Cambria Math"/>
                                  </a:rPr>
                                  <m:t> =</m:t>
                                </m:r>
                                <m:rad>
                                  <m:radPr>
                                    <m:degHide m:val="on"/>
                                    <m:ctrlPr>
                                      <a:rPr lang="x-none" sz="2000" i="1">
                                        <a:effectLst/>
                                        <a:latin typeface="Cambria Math"/>
                                      </a:rPr>
                                    </m:ctrlPr>
                                  </m:radPr>
                                  <m:deg/>
                                  <m:e>
                                    <m:r>
                                      <a:rPr lang="en-US" sz="2000">
                                        <a:effectLst/>
                                        <a:latin typeface="Cambria Math"/>
                                      </a:rPr>
                                      <m:t>____</m:t>
                                    </m:r>
                                  </m:e>
                                </m:rad>
                              </m:oMath>
                            </m:oMathPara>
                          </a14:m>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282896369"/>
                      </a:ext>
                    </a:extLst>
                  </a:tr>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Because </a:t>
                          </a:r>
                          <a14:m>
                            <m:oMath xmlns:m="http://schemas.openxmlformats.org/officeDocument/2006/math">
                              <m:rad>
                                <m:radPr>
                                  <m:degHide m:val="on"/>
                                  <m:ctrlPr>
                                    <a:rPr lang="x-none" sz="2000" b="1" i="1">
                                      <a:effectLst/>
                                      <a:latin typeface="Cambria Math"/>
                                    </a:rPr>
                                  </m:ctrlPr>
                                </m:radPr>
                                <m:deg/>
                                <m:e>
                                  <m:sSup>
                                    <m:sSupPr>
                                      <m:ctrlPr>
                                        <a:rPr lang="x-none" sz="2000" b="1" i="1">
                                          <a:effectLst/>
                                          <a:latin typeface="Cambria Math"/>
                                        </a:rPr>
                                      </m:ctrlPr>
                                    </m:sSupPr>
                                    <m:e>
                                      <m:r>
                                        <a:rPr lang="en-US" sz="2000" b="1" i="1">
                                          <a:effectLst/>
                                          <a:latin typeface="Cambria Math"/>
                                        </a:rPr>
                                        <m:t>𝒂</m:t>
                                      </m:r>
                                    </m:e>
                                    <m:sup>
                                      <m:r>
                                        <a:rPr lang="en-US" sz="2000" b="1">
                                          <a:effectLst/>
                                          <a:latin typeface="Cambria Math"/>
                                        </a:rPr>
                                        <m:t>𝟐</m:t>
                                      </m:r>
                                    </m:sup>
                                  </m:sSup>
                                </m:e>
                              </m:rad>
                              <m:r>
                                <a:rPr lang="en-US" sz="2000" b="1">
                                  <a:effectLst/>
                                  <a:latin typeface="Cambria Math"/>
                                </a:rPr>
                                <m:t>=</m:t>
                              </m:r>
                              <m:d>
                                <m:dPr>
                                  <m:begChr m:val="|"/>
                                  <m:endChr m:val="|"/>
                                  <m:ctrlPr>
                                    <a:rPr lang="x-none" sz="2000" b="1" i="1">
                                      <a:effectLst/>
                                      <a:latin typeface="Cambria Math"/>
                                    </a:rPr>
                                  </m:ctrlPr>
                                </m:dPr>
                                <m:e>
                                  <m:r>
                                    <a:rPr lang="en-US" sz="2000" b="1" i="1">
                                      <a:effectLst/>
                                      <a:latin typeface="Cambria Math"/>
                                    </a:rPr>
                                    <m:t>𝒂</m:t>
                                  </m:r>
                                </m:e>
                              </m:d>
                            </m:oMath>
                          </a14:m>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begChr m:val="|"/>
                                    <m:endChr m:val="|"/>
                                    <m:ctrlPr>
                                      <a:rPr lang="x-none" sz="2000" i="1">
                                        <a:effectLst/>
                                        <a:latin typeface="Cambria Math"/>
                                      </a:rPr>
                                    </m:ctrlPr>
                                  </m:dPr>
                                  <m:e>
                                    <m:r>
                                      <a:rPr lang="en-US" sz="2000">
                                        <a:effectLst/>
                                        <a:latin typeface="Cambria Math"/>
                                      </a:rPr>
                                      <m:t>𝑥</m:t>
                                    </m:r>
                                    <m:r>
                                      <a:rPr lang="en-US" sz="2000">
                                        <a:effectLst/>
                                        <a:latin typeface="Cambria Math"/>
                                      </a:rPr>
                                      <m:t>+4</m:t>
                                    </m:r>
                                  </m:e>
                                </m:d>
                                <m:r>
                                  <a:rPr lang="en-US" sz="2000">
                                    <a:effectLst/>
                                    <a:latin typeface="Cambria Math"/>
                                  </a:rPr>
                                  <m:t>=____</m:t>
                                </m:r>
                              </m:oMath>
                            </m:oMathPara>
                          </a14:m>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322485639"/>
                      </a:ext>
                    </a:extLst>
                  </a:tr>
                  <a:tr h="45720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r>
                                <a:rPr lang="en-US" sz="2000">
                                  <a:effectLst/>
                                  <a:latin typeface="Cambria Math"/>
                                </a:rPr>
                                <m:t>𝑥</m:t>
                              </m:r>
                              <m:r>
                                <a:rPr lang="en-US" sz="2000">
                                  <a:effectLst/>
                                  <a:latin typeface="Cambria Math"/>
                                </a:rPr>
                                <m:t>+4=3</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or </a:t>
                          </a:r>
                          <a14:m>
                            <m:oMath xmlns:m="http://schemas.openxmlformats.org/officeDocument/2006/math">
                              <m:r>
                                <a:rPr lang="en-US" sz="2000">
                                  <a:effectLst/>
                                  <a:latin typeface="Cambria Math"/>
                                </a:rPr>
                                <m:t>𝑥</m:t>
                              </m:r>
                              <m:r>
                                <a:rPr lang="en-US" sz="2000">
                                  <a:effectLst/>
                                  <a:latin typeface="Cambria Math"/>
                                </a:rPr>
                                <m:t>+4=−3</m:t>
                              </m:r>
                            </m:oMath>
                          </a14:m>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868219346"/>
                      </a:ext>
                    </a:extLst>
                  </a:tr>
                  <a:tr h="4572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r>
                                <a:rPr lang="en-US" sz="2000">
                                  <a:effectLst/>
                                  <a:latin typeface="Cambria Math"/>
                                </a:rPr>
                                <m:t>𝑥</m:t>
                              </m:r>
                              <m:r>
                                <a:rPr lang="en-US" sz="2000">
                                  <a:effectLst/>
                                  <a:latin typeface="Cambria Math"/>
                                </a:rPr>
                                <m:t>=________</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or </a:t>
                          </a:r>
                          <a14:m>
                            <m:oMath xmlns:m="http://schemas.openxmlformats.org/officeDocument/2006/math">
                              <m:r>
                                <a:rPr lang="en-US" sz="2000">
                                  <a:effectLst/>
                                  <a:latin typeface="Cambria Math"/>
                                </a:rPr>
                                <m:t>𝑥</m:t>
                              </m:r>
                              <m:r>
                                <a:rPr lang="en-US" sz="2000">
                                  <a:effectLst/>
                                  <a:latin typeface="Cambria Math"/>
                                </a:rPr>
                                <m:t>=________</m:t>
                              </m:r>
                            </m:oMath>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870904705"/>
                      </a:ext>
                    </a:extLst>
                  </a:tr>
                </a:tbl>
              </a:graphicData>
            </a:graphic>
          </p:graphicFrame>
        </mc:Choice>
        <mc:Fallback xmlns="">
          <p:graphicFrame>
            <p:nvGraphicFramePr>
              <p:cNvPr id="2" name="Table 1">
                <a:extLst>
                  <a:ext uri="{FF2B5EF4-FFF2-40B4-BE49-F238E27FC236}">
                    <a16:creationId xmlns:a16="http://schemas.microsoft.com/office/drawing/2014/main" xmlns:a14="http://schemas.microsoft.com/office/drawing/2010/main" xmlns="" id="{D73F402A-0287-FD45-AB8B-658AECA2D30E}"/>
                  </a:ext>
                </a:extLst>
              </p:cNvPr>
              <p:cNvGraphicFramePr>
                <a:graphicFrameLocks noGrp="1"/>
              </p:cNvGraphicFramePr>
              <p:nvPr>
                <p:extLst>
                  <p:ext uri="{D42A27DB-BD31-4B8C-83A1-F6EECF244321}">
                    <p14:modId xmlns:p14="http://schemas.microsoft.com/office/powerpoint/2010/main" val="2355741856"/>
                  </p:ext>
                </p:extLst>
              </p:nvPr>
            </p:nvGraphicFramePr>
            <p:xfrm>
              <a:off x="1514475" y="1137962"/>
              <a:ext cx="6743700" cy="3756724"/>
            </p:xfrm>
            <a:graphic>
              <a:graphicData uri="http://schemas.openxmlformats.org/drawingml/2006/table">
                <a:tbl>
                  <a:tblPr bandRow="1">
                    <a:tableStyleId>{A91F0D33-8C57-4600-99A7-42BC86742BE1}</a:tableStyleId>
                  </a:tblPr>
                  <a:tblGrid>
                    <a:gridCol w="2315210">
                      <a:extLst>
                        <a:ext uri="{9D8B030D-6E8A-4147-A177-3AD203B41FA5}">
                          <a16:colId xmlns:a16="http://schemas.microsoft.com/office/drawing/2014/main" xmlns:a14="http://schemas.microsoft.com/office/drawing/2010/main" xmlns="" val="2078690450"/>
                        </a:ext>
                      </a:extLst>
                    </a:gridCol>
                    <a:gridCol w="4428490">
                      <a:extLst>
                        <a:ext uri="{9D8B030D-6E8A-4147-A177-3AD203B41FA5}">
                          <a16:colId xmlns:a16="http://schemas.microsoft.com/office/drawing/2014/main" xmlns:a14="http://schemas.microsoft.com/office/drawing/2010/main" xmlns="" val="1856837940"/>
                        </a:ext>
                      </a:extLst>
                    </a:gridCol>
                  </a:tblGrid>
                  <a:tr h="1005840">
                    <a:tc>
                      <a:txBody>
                        <a:bodyPr/>
                        <a:lstStyle/>
                        <a:p>
                          <a:endParaRPr lang="en-US"/>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606" r="-191316" b="-281212"/>
                          </a:stretch>
                        </a:blipFill>
                      </a:tcPr>
                    </a:tc>
                    <a:tc>
                      <a:txBody>
                        <a:bodyPr/>
                        <a:lstStyle/>
                        <a:p>
                          <a:endParaRPr lang="en-US"/>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52270" t="-606" b="-281212"/>
                          </a:stretch>
                        </a:blipFill>
                      </a:tcPr>
                    </a:tc>
                    <a:extLst>
                      <a:ext uri="{0D108BD9-81ED-4DB2-BD59-A6C34878D82A}">
                        <a16:rowId xmlns:a16="http://schemas.microsoft.com/office/drawing/2014/main" xmlns:a14="http://schemas.microsoft.com/office/drawing/2010/main" xmlns="" val="989067509"/>
                      </a:ext>
                    </a:extLst>
                  </a:tr>
                  <a:tr h="1091692">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Take the square root of both sides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52270" t="-92737" b="-159218"/>
                          </a:stretch>
                        </a:blipFill>
                      </a:tcPr>
                    </a:tc>
                    <a:extLst>
                      <a:ext uri="{0D108BD9-81ED-4DB2-BD59-A6C34878D82A}">
                        <a16:rowId xmlns:a16="http://schemas.microsoft.com/office/drawing/2014/main" xmlns:a14="http://schemas.microsoft.com/office/drawing/2010/main" xmlns="" val="3282896369"/>
                      </a:ext>
                    </a:extLst>
                  </a:tr>
                  <a:tr h="744792">
                    <a:tc>
                      <a:txBody>
                        <a:bodyPr/>
                        <a:lstStyle/>
                        <a:p>
                          <a:endParaRPr lang="en-US"/>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282787" r="-191316" b="-133607"/>
                          </a:stretch>
                        </a:blipFill>
                      </a:tcPr>
                    </a:tc>
                    <a:tc>
                      <a:txBody>
                        <a:bodyPr/>
                        <a:lstStyle/>
                        <a:p>
                          <a:endParaRPr lang="en-US"/>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52270" t="-282787" b="-133607"/>
                          </a:stretch>
                        </a:blipFill>
                      </a:tcPr>
                    </a:tc>
                    <a:extLst>
                      <a:ext uri="{0D108BD9-81ED-4DB2-BD59-A6C34878D82A}">
                        <a16:rowId xmlns:a16="http://schemas.microsoft.com/office/drawing/2014/main" xmlns:a14="http://schemas.microsoft.com/office/drawing/2010/main" xmlns="" val="2322485639"/>
                      </a:ext>
                    </a:extLst>
                  </a:tr>
                  <a:tr h="45720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52270" t="-622667" b="-117333"/>
                          </a:stretch>
                        </a:blipFill>
                      </a:tcPr>
                    </a:tc>
                    <a:extLst>
                      <a:ext uri="{0D108BD9-81ED-4DB2-BD59-A6C34878D82A}">
                        <a16:rowId xmlns:a16="http://schemas.microsoft.com/office/drawing/2014/main" xmlns:a14="http://schemas.microsoft.com/office/drawing/2010/main" xmlns="" val="2868219346"/>
                      </a:ext>
                    </a:extLst>
                  </a:tr>
                  <a:tr h="4572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52270" t="-722667" b="-17333"/>
                          </a:stretch>
                        </a:blipFill>
                      </a:tcPr>
                    </a:tc>
                    <a:extLst>
                      <a:ext uri="{0D108BD9-81ED-4DB2-BD59-A6C34878D82A}">
                        <a16:rowId xmlns:a16="http://schemas.microsoft.com/office/drawing/2014/main" xmlns:a14="http://schemas.microsoft.com/office/drawing/2010/main" xmlns="" val="2870904705"/>
                      </a:ext>
                    </a:extLst>
                  </a:tr>
                </a:tbl>
              </a:graphicData>
            </a:graphic>
          </p:graphicFrame>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C8F82859-BA98-3646-BF3B-9E17E52A2E35}"/>
                  </a:ext>
                </a:extLst>
              </p:cNvPr>
              <p:cNvSpPr txBox="1"/>
              <p:nvPr/>
            </p:nvSpPr>
            <p:spPr>
              <a:xfrm>
                <a:off x="511204" y="533066"/>
                <a:ext cx="10953207" cy="5016758"/>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Solve </a:t>
                </a:r>
                <a14:m>
                  <m:oMath xmlns:m="http://schemas.openxmlformats.org/officeDocument/2006/math">
                    <m:sSup>
                      <m:sSupPr>
                        <m:ctrlPr>
                          <a:rPr lang="en-US" sz="2000" i="1" dirty="0">
                            <a:latin typeface="Cambria Math"/>
                            <a:ea typeface="Verdana" panose="020B0604030504040204" pitchFamily="34" charset="0"/>
                            <a:cs typeface="Verdana" panose="020B0604030504040204" pitchFamily="34" charset="0"/>
                          </a:rPr>
                        </m:ctrlPr>
                      </m:sSupPr>
                      <m:e>
                        <m:d>
                          <m:dPr>
                            <m:ctrlPr>
                              <a:rPr lang="en-US" sz="2000" i="1" dirty="0">
                                <a:latin typeface="Cambria Math"/>
                                <a:ea typeface="Verdana" panose="020B0604030504040204" pitchFamily="34" charset="0"/>
                                <a:cs typeface="Verdana" panose="020B0604030504040204" pitchFamily="34" charset="0"/>
                              </a:rPr>
                            </m:ctrlPr>
                          </m:dPr>
                          <m:e>
                            <m:r>
                              <a:rPr lang="es-ES" sz="2000" i="1" dirty="0">
                                <a:latin typeface="Cambria Math" panose="02040503050406030204" pitchFamily="18" charset="0"/>
                                <a:ea typeface="Verdana" panose="020B0604030504040204" pitchFamily="34" charset="0"/>
                                <a:cs typeface="Verdana" panose="020B0604030504040204" pitchFamily="34" charset="0"/>
                              </a:rPr>
                              <m:t>𝑥</m:t>
                            </m:r>
                            <m:r>
                              <a:rPr lang="es-ES" sz="2000" i="1" dirty="0">
                                <a:latin typeface="Cambria Math" panose="02040503050406030204" pitchFamily="18" charset="0"/>
                                <a:ea typeface="Verdana" panose="020B0604030504040204" pitchFamily="34" charset="0"/>
                                <a:cs typeface="Verdana" panose="020B0604030504040204" pitchFamily="34" charset="0"/>
                              </a:rPr>
                              <m:t>+4</m:t>
                            </m:r>
                          </m:e>
                        </m:d>
                      </m:e>
                      <m:sup>
                        <m:r>
                          <a:rPr lang="es-ES" sz="2000" i="1" dirty="0">
                            <a:latin typeface="Cambria Math" panose="02040503050406030204" pitchFamily="18" charset="0"/>
                            <a:ea typeface="Verdana" panose="020B0604030504040204" pitchFamily="34" charset="0"/>
                            <a:cs typeface="Verdana" panose="020B0604030504040204" pitchFamily="34" charset="0"/>
                          </a:rPr>
                          <m:t>2</m:t>
                        </m:r>
                      </m:sup>
                    </m:sSup>
                    <m:r>
                      <a:rPr lang="en-US" sz="2000" i="1" dirty="0">
                        <a:latin typeface="Cambria Math" panose="02040503050406030204" pitchFamily="18" charset="0"/>
                        <a:ea typeface="Verdana" panose="020B0604030504040204" pitchFamily="34" charset="0"/>
                        <a:cs typeface="Verdana" panose="020B0604030504040204" pitchFamily="34" charset="0"/>
                      </a:rPr>
                      <m:t>−9=0</m:t>
                    </m:r>
                  </m:oMath>
                </a14:m>
                <a:r>
                  <a:rPr lang="en-US" sz="2000" dirty="0">
                    <a:latin typeface="Verdana" panose="020B0604030504040204" pitchFamily="34" charset="0"/>
                    <a:ea typeface="Verdana" panose="020B0604030504040204" pitchFamily="34" charset="0"/>
                    <a:cs typeface="Verdana" panose="020B0604030504040204" pitchFamily="34" charset="0"/>
                  </a:rPr>
                  <a:t> by completing the steps</a:t>
                </a:r>
                <a:r>
                  <a:rPr lang="en-US" sz="2000" dirty="0" smtClean="0">
                    <a:latin typeface="Verdana" panose="020B0604030504040204" pitchFamily="34" charset="0"/>
                    <a:ea typeface="Verdana" panose="020B0604030504040204" pitchFamily="34" charset="0"/>
                    <a:cs typeface="Verdana" panose="020B0604030504040204" pitchFamily="34" charset="0"/>
                  </a:rPr>
                  <a:t>.</a:t>
                </a:r>
              </a:p>
              <a:p>
                <a:pPr marL="914400" indent="-457200">
                  <a:buFont typeface="+mj-lt"/>
                  <a:buAutoNum type="alphaLcPeriod" startAt="2"/>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000" dirty="0" smtClean="0">
                    <a:latin typeface="Verdana" panose="020B0604030504040204" pitchFamily="34" charset="0"/>
                    <a:ea typeface="Verdana" panose="020B0604030504040204" pitchFamily="34" charset="0"/>
                    <a:cs typeface="Verdana" panose="020B0604030504040204" pitchFamily="34" charset="0"/>
                  </a:rPr>
                  <a:t>Check </a:t>
                </a:r>
                <a:r>
                  <a:rPr lang="en-US" sz="2000" dirty="0">
                    <a:latin typeface="Verdana" panose="020B0604030504040204" pitchFamily="34" charset="0"/>
                    <a:ea typeface="Verdana" panose="020B0604030504040204" pitchFamily="34" charset="0"/>
                    <a:cs typeface="Verdana" panose="020B0604030504040204" pitchFamily="34" charset="0"/>
                  </a:rPr>
                  <a:t>your solutions with the intersections found using the graph</a:t>
                </a:r>
                <a:r>
                  <a:rPr lang="en-US" sz="2000" dirty="0" smtClean="0">
                    <a:latin typeface="Verdana" panose="020B0604030504040204" pitchFamily="34" charset="0"/>
                    <a:ea typeface="Verdana" panose="020B0604030504040204" pitchFamily="34" charset="0"/>
                    <a:cs typeface="Verdana" panose="020B0604030504040204" pitchFamily="34" charset="0"/>
                  </a:rPr>
                  <a: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7" name="TextBox 6">
                <a:extLst>
                  <a:ext uri="{FF2B5EF4-FFF2-40B4-BE49-F238E27FC236}">
                    <a16:creationId xmlns:a16="http://schemas.microsoft.com/office/drawing/2014/main" xmlns="" xmlns:a14="http://schemas.microsoft.com/office/drawing/2010/main" id="{C8F82859-BA98-3646-BF3B-9E17E52A2E35}"/>
                  </a:ext>
                </a:extLst>
              </p:cNvPr>
              <p:cNvSpPr txBox="1">
                <a:spLocks noRot="1" noChangeAspect="1" noMove="1" noResize="1" noEditPoints="1" noAdjustHandles="1" noChangeArrowheads="1" noChangeShapeType="1" noTextEdit="1"/>
              </p:cNvSpPr>
              <p:nvPr/>
            </p:nvSpPr>
            <p:spPr>
              <a:xfrm>
                <a:off x="511204" y="533066"/>
                <a:ext cx="10953207" cy="5016758"/>
              </a:xfrm>
              <a:prstGeom prst="rect">
                <a:avLst/>
              </a:prstGeom>
              <a:blipFill rotWithShape="1">
                <a:blip r:embed="rId5"/>
                <a:stretch>
                  <a:fillRect t="-729" b="-1215"/>
                </a:stretch>
              </a:blipFill>
            </p:spPr>
            <p:txBody>
              <a:bodyPr/>
              <a:lstStyle/>
              <a:p>
                <a:r>
                  <a:rPr lang="en-US">
                    <a:noFill/>
                  </a:rPr>
                  <a:t> </a:t>
                </a:r>
              </a:p>
            </p:txBody>
          </p:sp>
        </mc:Fallback>
      </mc:AlternateContent>
    </p:spTree>
    <p:extLst>
      <p:ext uri="{BB962C8B-B14F-4D97-AF65-F5344CB8AC3E}">
        <p14:creationId xmlns:p14="http://schemas.microsoft.com/office/powerpoint/2010/main" val="256172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90</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 xmlns:a16="http://schemas.microsoft.com/office/drawing/2014/main" id="{C8F82859-BA98-3646-BF3B-9E17E52A2E35}"/>
                  </a:ext>
                </a:extLst>
              </p:cNvPr>
              <p:cNvSpPr txBox="1"/>
              <p:nvPr/>
            </p:nvSpPr>
            <p:spPr>
              <a:xfrm>
                <a:off x="511204" y="533066"/>
                <a:ext cx="10953207" cy="3785652"/>
              </a:xfrm>
              <a:prstGeom prst="rect">
                <a:avLst/>
              </a:prstGeom>
              <a:noFill/>
            </p:spPr>
            <p:txBody>
              <a:bodyPr wrap="square" rtlCol="0">
                <a:spAutoFit/>
              </a:bodyPr>
              <a:lstStyle/>
              <a:p>
                <a:pPr marL="457200" indent="-457200">
                  <a:buFont typeface="+mj-lt"/>
                  <a:buAutoNum type="arabicPeriod" startAt="5"/>
                </a:pPr>
                <a:r>
                  <a:rPr lang="en-US" sz="2000" dirty="0" smtClean="0">
                    <a:latin typeface="Verdana" panose="020B0604030504040204" pitchFamily="34" charset="0"/>
                    <a:ea typeface="Verdana" panose="020B0604030504040204" pitchFamily="34" charset="0"/>
                    <a:cs typeface="Verdana" panose="020B0604030504040204" pitchFamily="34" charset="0"/>
                  </a:rPr>
                  <a:t>Solve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−3</m:t>
                    </m:r>
                    <m:sSup>
                      <m:sSupPr>
                        <m:ctrlPr>
                          <a:rPr lang="en-US" sz="2000" i="1" dirty="0">
                            <a:latin typeface="Cambria Math"/>
                            <a:ea typeface="Verdana" panose="020B0604030504040204" pitchFamily="34" charset="0"/>
                            <a:cs typeface="Verdana" panose="020B0604030504040204" pitchFamily="34" charset="0"/>
                          </a:rPr>
                        </m:ctrlPr>
                      </m:sSupPr>
                      <m:e>
                        <m:d>
                          <m:dPr>
                            <m:ctrlPr>
                              <a:rPr lang="en-US" sz="2000" i="1" dirty="0">
                                <a:latin typeface="Cambria Math"/>
                                <a:ea typeface="Verdana" panose="020B0604030504040204" pitchFamily="34" charset="0"/>
                                <a:cs typeface="Verdana" panose="020B0604030504040204" pitchFamily="34" charset="0"/>
                              </a:rPr>
                            </m:ctrlPr>
                          </m:dPr>
                          <m:e>
                            <m:r>
                              <a:rPr lang="es-ES" sz="2000" i="1" dirty="0">
                                <a:latin typeface="Cambria Math" panose="02040503050406030204" pitchFamily="18" charset="0"/>
                                <a:ea typeface="Verdana" panose="020B0604030504040204" pitchFamily="34" charset="0"/>
                                <a:cs typeface="Verdana" panose="020B0604030504040204" pitchFamily="34" charset="0"/>
                              </a:rPr>
                              <m:t>𝑥</m:t>
                            </m:r>
                            <m:r>
                              <a:rPr lang="es-ES" sz="2000" i="1" dirty="0">
                                <a:latin typeface="Cambria Math" panose="02040503050406030204" pitchFamily="18" charset="0"/>
                                <a:ea typeface="Verdana" panose="020B0604030504040204" pitchFamily="34" charset="0"/>
                                <a:cs typeface="Verdana" panose="020B0604030504040204" pitchFamily="34" charset="0"/>
                              </a:rPr>
                              <m:t>−5</m:t>
                            </m:r>
                          </m:e>
                        </m:d>
                      </m:e>
                      <m:sup>
                        <m:r>
                          <a:rPr lang="es-ES" sz="2000" i="1" dirty="0">
                            <a:latin typeface="Cambria Math" panose="02040503050406030204" pitchFamily="18" charset="0"/>
                            <a:ea typeface="Verdana" panose="020B0604030504040204" pitchFamily="34" charset="0"/>
                            <a:cs typeface="Verdana" panose="020B0604030504040204" pitchFamily="34" charset="0"/>
                          </a:rPr>
                          <m:t>2</m:t>
                        </m:r>
                      </m:sup>
                    </m:sSup>
                    <m:r>
                      <a:rPr lang="en-US" sz="2000" i="1" dirty="0">
                        <a:latin typeface="Cambria Math" panose="02040503050406030204" pitchFamily="18" charset="0"/>
                        <a:ea typeface="Verdana" panose="020B0604030504040204" pitchFamily="34" charset="0"/>
                        <a:cs typeface="Verdana" panose="020B0604030504040204" pitchFamily="34" charset="0"/>
                      </a:rPr>
                      <m:t>+6=−21</m:t>
                    </m:r>
                  </m:oMath>
                </a14:m>
                <a:r>
                  <a:rPr lang="en-US" sz="2000" dirty="0" smtClean="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r>
                  <a:rPr lang="en-US" sz="2000" dirty="0" smtClean="0">
                    <a:latin typeface="Verdana" panose="020B0604030504040204" pitchFamily="34" charset="0"/>
                    <a:ea typeface="Verdana" panose="020B0604030504040204" pitchFamily="34" charset="0"/>
                    <a:cs typeface="Verdana" panose="020B0604030504040204" pitchFamily="34" charset="0"/>
                  </a:rPr>
                  <a:t>Solve </a:t>
                </a:r>
                <a:r>
                  <a:rPr lang="en-US" sz="2000" dirty="0">
                    <a:latin typeface="Verdana" panose="020B0604030504040204" pitchFamily="34" charset="0"/>
                    <a:ea typeface="Verdana" panose="020B0604030504040204" pitchFamily="34" charset="0"/>
                    <a:cs typeface="Verdana" panose="020B0604030504040204" pitchFamily="34" charset="0"/>
                  </a:rPr>
                  <a:t>by completing the square.</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m:t>
                      </m:r>
                      <m:sSup>
                        <m:sSupPr>
                          <m:ctrlPr>
                            <a:rPr lang="en-US" sz="2000" i="1" dirty="0">
                              <a:latin typeface="Cambria Math"/>
                              <a:ea typeface="Verdana" panose="020B0604030504040204" pitchFamily="34" charset="0"/>
                              <a:cs typeface="Verdana" panose="020B0604030504040204" pitchFamily="34" charset="0"/>
                            </a:rPr>
                          </m:ctrlPr>
                        </m:sSupPr>
                        <m:e>
                          <m:r>
                            <a:rPr lang="es-ES" sz="2000" i="1" dirty="0">
                              <a:latin typeface="Cambria Math" panose="02040503050406030204" pitchFamily="18" charset="0"/>
                              <a:ea typeface="Verdana" panose="020B0604030504040204" pitchFamily="34" charset="0"/>
                              <a:cs typeface="Verdana" panose="020B0604030504040204" pitchFamily="34" charset="0"/>
                            </a:rPr>
                            <m:t>𝑥</m:t>
                          </m:r>
                        </m:e>
                        <m:sup>
                          <m:r>
                            <a:rPr lang="es-ES" sz="2000" i="1" dirty="0">
                              <a:latin typeface="Cambria Math" panose="02040503050406030204" pitchFamily="18" charset="0"/>
                              <a:ea typeface="Verdana" panose="020B0604030504040204" pitchFamily="34" charset="0"/>
                              <a:cs typeface="Verdana" panose="020B0604030504040204" pitchFamily="34" charset="0"/>
                            </a:rPr>
                            <m:t>2</m:t>
                          </m:r>
                        </m:sup>
                      </m:sSup>
                      <m:r>
                        <a:rPr lang="en-US" sz="2000" i="1" dirty="0">
                          <a:latin typeface="Cambria Math" panose="02040503050406030204" pitchFamily="18" charset="0"/>
                          <a:ea typeface="Verdana" panose="020B0604030504040204" pitchFamily="34" charset="0"/>
                          <a:cs typeface="Verdana" panose="020B0604030504040204" pitchFamily="34" charset="0"/>
                        </a:rPr>
                        <m:t>−16</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−11=−3</m:t>
                      </m:r>
                    </m:oMath>
                  </m:oMathPara>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6" name="TextBox 5">
                <a:extLst>
                  <a:ext uri="{FF2B5EF4-FFF2-40B4-BE49-F238E27FC236}">
                    <a16:creationId xmlns:a16="http://schemas.microsoft.com/office/drawing/2014/main" xmlns="" xmlns:a14="http://schemas.microsoft.com/office/drawing/2010/main" id="{C8F82859-BA98-3646-BF3B-9E17E52A2E35}"/>
                  </a:ext>
                </a:extLst>
              </p:cNvPr>
              <p:cNvSpPr txBox="1">
                <a:spLocks noRot="1" noChangeAspect="1" noMove="1" noResize="1" noEditPoints="1" noAdjustHandles="1" noChangeArrowheads="1" noChangeShapeType="1" noTextEdit="1"/>
              </p:cNvSpPr>
              <p:nvPr/>
            </p:nvSpPr>
            <p:spPr>
              <a:xfrm>
                <a:off x="511204" y="533066"/>
                <a:ext cx="10953207" cy="3785652"/>
              </a:xfrm>
              <a:prstGeom prst="rect">
                <a:avLst/>
              </a:prstGeom>
              <a:blipFill rotWithShape="1">
                <a:blip r:embed="rId4"/>
                <a:stretch>
                  <a:fillRect l="-612" t="-966"/>
                </a:stretch>
              </a:blipFill>
            </p:spPr>
            <p:txBody>
              <a:bodyPr/>
              <a:lstStyle/>
              <a:p>
                <a:r>
                  <a:rPr lang="en-US">
                    <a:noFill/>
                  </a:rPr>
                  <a:t> </a:t>
                </a:r>
              </a:p>
            </p:txBody>
          </p:sp>
        </mc:Fallback>
      </mc:AlternateContent>
    </p:spTree>
    <p:extLst>
      <p:ext uri="{BB962C8B-B14F-4D97-AF65-F5344CB8AC3E}">
        <p14:creationId xmlns:p14="http://schemas.microsoft.com/office/powerpoint/2010/main" val="347891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91</a:t>
            </a:r>
            <a:endParaRPr i="1" dirty="0">
              <a:latin typeface="Calibri"/>
              <a:ea typeface="Calibri"/>
              <a:cs typeface="Calibri"/>
              <a:sym typeface="Calibri"/>
            </a:endParaRPr>
          </a:p>
        </p:txBody>
      </p:sp>
      <p:sp>
        <p:nvSpPr>
          <p:cNvPr id="7" name="Google Shape;313;g104476d1465_1_39"/>
          <p:cNvSpPr txBox="1">
            <a:spLocks/>
          </p:cNvSpPr>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54B5D1"/>
                </a:solidFill>
                <a:latin typeface="Verdana"/>
                <a:ea typeface="Verdana"/>
                <a:cs typeface="Verdana"/>
                <a:sym typeface="Verdana"/>
              </a:rPr>
              <a:t>Guided Practice</a:t>
            </a:r>
            <a:endParaRPr lang="en-US" sz="5100" b="1" dirty="0">
              <a:solidFill>
                <a:srgbClr val="54B5D1"/>
              </a:solidFill>
              <a:latin typeface="Verdana"/>
              <a:ea typeface="Verdana"/>
              <a:cs typeface="Verdana"/>
              <a:sym typeface="Verdana"/>
            </a:endParaRPr>
          </a:p>
        </p:txBody>
      </p:sp>
      <p:pic>
        <p:nvPicPr>
          <p:cNvPr id="10" name="Picture 2" descr="Icon&#10;&#10;Description automatically generated">
            <a:extLst>
              <a:ext uri="{FF2B5EF4-FFF2-40B4-BE49-F238E27FC236}">
                <a16:creationId xmlns=""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18889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91</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31D40250-DEDD-2C41-8538-3D4DD18CCC4A}"/>
                  </a:ext>
                </a:extLst>
              </p:cNvPr>
              <p:cNvSpPr txBox="1"/>
              <p:nvPr/>
            </p:nvSpPr>
            <p:spPr>
              <a:xfrm>
                <a:off x="731519" y="1348544"/>
                <a:ext cx="10758527" cy="1200329"/>
              </a:xfrm>
              <a:prstGeom prst="rect">
                <a:avLst/>
              </a:prstGeom>
              <a:noFill/>
            </p:spPr>
            <p:txBody>
              <a:bodyPr wrap="square" rtlCol="0">
                <a:spAutoFit/>
              </a:bodyPr>
              <a:lstStyle/>
              <a:p>
                <a:pPr marL="457200" indent="-457200" eaLnBrk="0" fontAlgn="base" hangingPunct="0">
                  <a:spcBef>
                    <a:spcPct val="0"/>
                  </a:spcBef>
                  <a:spcAft>
                    <a:spcPct val="0"/>
                  </a:spcAft>
                  <a:buClrTx/>
                  <a:buFont typeface="+mj-lt"/>
                  <a:buAutoNum type="arabi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Solve by completing the square. Show your work.</a:t>
                </a: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14:m>
                  <m:oMathPara xmlns:m="http://schemas.openxmlformats.org/officeDocument/2006/math">
                    <m:oMathParaPr>
                      <m:jc m:val="centerGroup"/>
                    </m:oMathParaPr>
                    <m:oMath xmlns:m="http://schemas.openxmlformats.org/officeDocument/2006/math">
                      <m:sSup>
                        <m:sSupPr>
                          <m:ctrlPr>
                            <a:rPr lang="en-US" altLang="en-US" sz="2400" i="1" dirty="0">
                              <a:solidFill>
                                <a:schemeClr val="tx1"/>
                              </a:solidFill>
                              <a:latin typeface="Cambria Math"/>
                              <a:cs typeface="Times New Roman" panose="02020603050405020304" pitchFamily="18" charset="0"/>
                            </a:rPr>
                          </m:ctrlPr>
                        </m:sSupPr>
                        <m:e>
                          <m:r>
                            <a:rPr lang="es-ES" altLang="en-US" sz="2400" i="1" dirty="0">
                              <a:solidFill>
                                <a:schemeClr val="tx1"/>
                              </a:solidFill>
                              <a:latin typeface="Cambria Math" panose="02040503050406030204" pitchFamily="18" charset="0"/>
                              <a:cs typeface="Times New Roman" panose="02020603050405020304" pitchFamily="18" charset="0"/>
                            </a:rPr>
                            <m:t>𝑥</m:t>
                          </m:r>
                        </m:e>
                        <m:sup>
                          <m:r>
                            <a:rPr lang="es-ES" altLang="en-US" sz="2400" i="1" dirty="0">
                              <a:solidFill>
                                <a:schemeClr val="tx1"/>
                              </a:solidFill>
                              <a:latin typeface="Cambria Math" panose="02040503050406030204" pitchFamily="18" charset="0"/>
                              <a:cs typeface="Times New Roman" panose="02020603050405020304" pitchFamily="18" charset="0"/>
                            </a:rPr>
                            <m:t>2</m:t>
                          </m:r>
                        </m:sup>
                      </m:sSup>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−12</m:t>
                      </m:r>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𝑥</m:t>
                      </m:r>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+7=−17</m:t>
                      </m:r>
                    </m:oMath>
                  </m:oMathPara>
                </a14:m>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xmlns="" xmlns:a14="http://schemas.microsoft.com/office/drawing/2010/main" id="{31D40250-DEDD-2C41-8538-3D4DD18CCC4A}"/>
                  </a:ext>
                </a:extLst>
              </p:cNvPr>
              <p:cNvSpPr txBox="1">
                <a:spLocks noRot="1" noChangeAspect="1" noMove="1" noResize="1" noEditPoints="1" noAdjustHandles="1" noChangeArrowheads="1" noChangeShapeType="1" noTextEdit="1"/>
              </p:cNvSpPr>
              <p:nvPr/>
            </p:nvSpPr>
            <p:spPr>
              <a:xfrm>
                <a:off x="731519" y="1348544"/>
                <a:ext cx="10758527" cy="1200329"/>
              </a:xfrm>
              <a:prstGeom prst="rect">
                <a:avLst/>
              </a:prstGeom>
              <a:blipFill rotWithShape="1">
                <a:blip r:embed="rId4"/>
                <a:stretch>
                  <a:fillRect l="-850" t="-4061"/>
                </a:stretch>
              </a:blipFill>
            </p:spPr>
            <p:txBody>
              <a:bodyPr/>
              <a:lstStyle/>
              <a:p>
                <a:r>
                  <a:rPr lang="en-US">
                    <a:noFill/>
                  </a:rPr>
                  <a:t> </a:t>
                </a:r>
              </a:p>
            </p:txBody>
          </p:sp>
        </mc:Fallback>
      </mc:AlternateContent>
      <p:sp>
        <p:nvSpPr>
          <p:cNvPr id="9"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052649" y="136174"/>
            <a:ext cx="10681747"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9.6.3 Guided Practice: Solving Quadratic Equations by Completing the Square</a:t>
            </a:r>
          </a:p>
        </p:txBody>
      </p:sp>
      <p:pic>
        <p:nvPicPr>
          <p:cNvPr id="10" name="Picture 2" descr="Icon&#10;&#10;Description automatically generated">
            <a:extLst>
              <a:ext uri="{FF2B5EF4-FFF2-40B4-BE49-F238E27FC236}">
                <a16:creationId xmlns:a16="http://schemas.microsoft.com/office/drawing/2014/main" xmlns="" id="{B3C42596-1BDF-794D-A82A-7C54635CB812}"/>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02842" y="250614"/>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94051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92</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 xmlns:a16="http://schemas.microsoft.com/office/drawing/2014/main" id="{C8F82859-BA98-3646-BF3B-9E17E52A2E35}"/>
                  </a:ext>
                </a:extLst>
              </p:cNvPr>
              <p:cNvSpPr txBox="1"/>
              <p:nvPr/>
            </p:nvSpPr>
            <p:spPr>
              <a:xfrm>
                <a:off x="511204" y="533066"/>
                <a:ext cx="10953207" cy="2554545"/>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The function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𝑓</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)=−3</m:t>
                    </m:r>
                    <m:sSup>
                      <m:sSupPr>
                        <m:ctrlPr>
                          <a:rPr lang="en-US" sz="2000" i="1" dirty="0">
                            <a:latin typeface="Cambria Math"/>
                            <a:cs typeface="Times New Roman" panose="02020603050405020304" pitchFamily="18" charset="0"/>
                          </a:rPr>
                        </m:ctrlPr>
                      </m:sSupPr>
                      <m:e>
                        <m:r>
                          <a:rPr lang="es-ES" sz="2000" i="1" dirty="0">
                            <a:latin typeface="Cambria Math" panose="02040503050406030204" pitchFamily="18" charset="0"/>
                            <a:cs typeface="Times New Roman" panose="02020603050405020304" pitchFamily="18" charset="0"/>
                          </a:rPr>
                          <m:t>𝑥</m:t>
                        </m:r>
                      </m:e>
                      <m:sup>
                        <m:r>
                          <a:rPr lang="es-ES" sz="2000" i="1" dirty="0">
                            <a:latin typeface="Cambria Math" panose="02040503050406030204" pitchFamily="18" charset="0"/>
                            <a:cs typeface="Times New Roman" panose="02020603050405020304" pitchFamily="18" charset="0"/>
                          </a:rPr>
                          <m:t>2</m:t>
                        </m:r>
                      </m:sup>
                    </m:sSup>
                    <m:r>
                      <a:rPr lang="en-US" sz="2000" i="1" dirty="0">
                        <a:latin typeface="Cambria Math" panose="02040503050406030204" pitchFamily="18" charset="0"/>
                        <a:ea typeface="Times New Roman" panose="02020603050405020304" pitchFamily="18" charset="0"/>
                        <a:cs typeface="Times New Roman" panose="02020603050405020304" pitchFamily="18" charset="0"/>
                      </a:rPr>
                      <m:t>+54</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+83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models the sales of music cassette tapes for the years 1980 to 2000, in tens of millions of dollars, where 𝑥 is the number of years since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1980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A step is shown below in the process of rewriting the function </a:t>
                </a:r>
                <a:r>
                  <a:rPr lang="en-US" sz="2000" dirty="0" smtClean="0">
                    <a:latin typeface="Verdana" panose="020B0604030504040204" pitchFamily="34" charset="0"/>
                    <a:ea typeface="Times New Roman" panose="02020603050405020304" pitchFamily="18" charset="0"/>
                    <a:cs typeface="Times New Roman" panose="02020603050405020304" pitchFamily="18" charset="0"/>
                  </a:rPr>
                  <a:t/>
                </a:r>
                <a:br>
                  <a:rPr lang="en-US" sz="2000" dirty="0" smtClean="0">
                    <a:latin typeface="Verdana" panose="020B0604030504040204" pitchFamily="34" charset="0"/>
                    <a:ea typeface="Times New Roman" panose="02020603050405020304" pitchFamily="18" charset="0"/>
                    <a:cs typeface="Times New Roman" panose="02020603050405020304" pitchFamily="18" charset="0"/>
                  </a:rPr>
                </a:b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𝑓</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)=−3</m:t>
                    </m:r>
                    <m:sSup>
                      <m:sSupPr>
                        <m:ctrlPr>
                          <a:rPr lang="en-US" sz="2000" i="1" dirty="0">
                            <a:latin typeface="Cambria Math"/>
                            <a:cs typeface="Times New Roman" panose="02020603050405020304" pitchFamily="18" charset="0"/>
                          </a:rPr>
                        </m:ctrlPr>
                      </m:sSupPr>
                      <m:e>
                        <m:r>
                          <a:rPr lang="es-ES" sz="2000" i="1" dirty="0">
                            <a:latin typeface="Cambria Math" panose="02040503050406030204" pitchFamily="18" charset="0"/>
                            <a:cs typeface="Times New Roman" panose="02020603050405020304" pitchFamily="18" charset="0"/>
                          </a:rPr>
                          <m:t>𝑥</m:t>
                        </m:r>
                      </m:e>
                      <m:sup>
                        <m:r>
                          <a:rPr lang="es-ES" sz="2000" i="1" dirty="0">
                            <a:latin typeface="Cambria Math" panose="02040503050406030204" pitchFamily="18" charset="0"/>
                            <a:cs typeface="Times New Roman" panose="02020603050405020304" pitchFamily="18" charset="0"/>
                          </a:rPr>
                          <m:t>2</m:t>
                        </m:r>
                      </m:sup>
                    </m:sSup>
                    <m:r>
                      <a:rPr lang="en-US" sz="2000" i="1" dirty="0">
                        <a:latin typeface="Cambria Math" panose="02040503050406030204" pitchFamily="18" charset="0"/>
                        <a:ea typeface="Times New Roman" panose="02020603050405020304" pitchFamily="18" charset="0"/>
                        <a:cs typeface="Times New Roman" panose="02020603050405020304" pitchFamily="18" charset="0"/>
                      </a:rPr>
                      <m:t>+54</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+83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Complete the step.</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𝑓</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)=−3(</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  ____    ______)2+ 83 ___ ________</m:t>
                      </m:r>
                    </m:oMath>
                  </m:oMathPara>
                </a14:m>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xmlns="" xmlns:a14="http://schemas.microsoft.com/office/drawing/2010/main" id="{C8F82859-BA98-3646-BF3B-9E17E52A2E35}"/>
                  </a:ext>
                </a:extLst>
              </p:cNvPr>
              <p:cNvSpPr txBox="1">
                <a:spLocks noRot="1" noChangeAspect="1" noMove="1" noResize="1" noEditPoints="1" noAdjustHandles="1" noChangeArrowheads="1" noChangeShapeType="1" noTextEdit="1"/>
              </p:cNvSpPr>
              <p:nvPr/>
            </p:nvSpPr>
            <p:spPr>
              <a:xfrm>
                <a:off x="511204" y="533066"/>
                <a:ext cx="10953207" cy="2554545"/>
              </a:xfrm>
              <a:prstGeom prst="rect">
                <a:avLst/>
              </a:prstGeom>
              <a:blipFill rotWithShape="1">
                <a:blip r:embed="rId4"/>
                <a:stretch>
                  <a:fillRect l="-612" t="-1432" b="-1909"/>
                </a:stretch>
              </a:blipFill>
            </p:spPr>
            <p:txBody>
              <a:bodyPr/>
              <a:lstStyle/>
              <a:p>
                <a:r>
                  <a:rPr lang="en-US">
                    <a:noFill/>
                  </a:rPr>
                  <a:t> </a:t>
                </a:r>
              </a:p>
            </p:txBody>
          </p:sp>
        </mc:Fallback>
      </mc:AlternateContent>
    </p:spTree>
    <p:extLst>
      <p:ext uri="{BB962C8B-B14F-4D97-AF65-F5344CB8AC3E}">
        <p14:creationId xmlns:p14="http://schemas.microsoft.com/office/powerpoint/2010/main" val="202851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92</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 xmlns:a16="http://schemas.microsoft.com/office/drawing/2014/main" id="{C8F82859-BA98-3646-BF3B-9E17E52A2E35}"/>
                  </a:ext>
                </a:extLst>
              </p:cNvPr>
              <p:cNvSpPr txBox="1"/>
              <p:nvPr/>
            </p:nvSpPr>
            <p:spPr>
              <a:xfrm>
                <a:off x="511204" y="533066"/>
                <a:ext cx="10953207" cy="2554545"/>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The function, 𝑓, models the sales in tens of millions of dollars. How many tens of millions of dollars is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$40,000,000</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Solve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−3</m:t>
                    </m:r>
                    <m:sSup>
                      <m:sSupPr>
                        <m:ctrlPr>
                          <a:rPr lang="en-US" sz="2000" i="1" dirty="0">
                            <a:latin typeface="Cambria Math"/>
                            <a:ea typeface="Verdana" panose="020B0604030504040204" pitchFamily="34" charset="0"/>
                            <a:cs typeface="Verdana" panose="020B0604030504040204" pitchFamily="34" charset="0"/>
                          </a:rPr>
                        </m:ctrlPr>
                      </m:sSupPr>
                      <m:e>
                        <m:r>
                          <a:rPr lang="es-ES" sz="2000" i="1" dirty="0">
                            <a:latin typeface="Cambria Math" panose="02040503050406030204" pitchFamily="18" charset="0"/>
                            <a:ea typeface="Verdana" panose="020B0604030504040204" pitchFamily="34" charset="0"/>
                            <a:cs typeface="Verdana" panose="020B0604030504040204" pitchFamily="34" charset="0"/>
                          </a:rPr>
                          <m:t>𝑥</m:t>
                        </m:r>
                      </m:e>
                      <m:sup>
                        <m:r>
                          <a:rPr lang="es-ES" sz="2000" i="1" dirty="0">
                            <a:latin typeface="Cambria Math" panose="02040503050406030204" pitchFamily="18" charset="0"/>
                            <a:ea typeface="Verdana" panose="020B0604030504040204" pitchFamily="34" charset="0"/>
                            <a:cs typeface="Verdana" panose="020B0604030504040204" pitchFamily="34" charset="0"/>
                          </a:rPr>
                          <m:t>2</m:t>
                        </m:r>
                      </m:sup>
                    </m:sSup>
                    <m:r>
                      <a:rPr lang="en-US" sz="2000" i="1" dirty="0">
                        <a:latin typeface="Cambria Math" panose="02040503050406030204" pitchFamily="18" charset="0"/>
                        <a:ea typeface="Verdana" panose="020B0604030504040204" pitchFamily="34" charset="0"/>
                        <a:cs typeface="Verdana" panose="020B0604030504040204" pitchFamily="34" charset="0"/>
                      </a:rPr>
                      <m:t>+54</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+83=4</m:t>
                    </m:r>
                  </m:oMath>
                </a14:m>
                <a:r>
                  <a:rPr lang="en-US" sz="2000" dirty="0">
                    <a:latin typeface="Verdana" panose="020B0604030504040204" pitchFamily="34" charset="0"/>
                    <a:ea typeface="Verdana" panose="020B0604030504040204" pitchFamily="34" charset="0"/>
                    <a:cs typeface="Verdana" panose="020B0604030504040204" pitchFamily="34" charset="0"/>
                  </a:rPr>
                  <a:t> by completing the square.</a:t>
                </a:r>
              </a:p>
            </p:txBody>
          </p:sp>
        </mc:Choice>
        <mc:Fallback xmlns="">
          <p:sp>
            <p:nvSpPr>
              <p:cNvPr id="6" name="TextBox 5">
                <a:extLst>
                  <a:ext uri="{FF2B5EF4-FFF2-40B4-BE49-F238E27FC236}">
                    <a16:creationId xmlns:a16="http://schemas.microsoft.com/office/drawing/2014/main" xmlns="" xmlns:a14="http://schemas.microsoft.com/office/drawing/2010/main" id="{C8F82859-BA98-3646-BF3B-9E17E52A2E35}"/>
                  </a:ext>
                </a:extLst>
              </p:cNvPr>
              <p:cNvSpPr txBox="1">
                <a:spLocks noRot="1" noChangeAspect="1" noMove="1" noResize="1" noEditPoints="1" noAdjustHandles="1" noChangeArrowheads="1" noChangeShapeType="1" noTextEdit="1"/>
              </p:cNvSpPr>
              <p:nvPr/>
            </p:nvSpPr>
            <p:spPr>
              <a:xfrm>
                <a:off x="511204" y="533066"/>
                <a:ext cx="10953207" cy="2554545"/>
              </a:xfrm>
              <a:prstGeom prst="rect">
                <a:avLst/>
              </a:prstGeom>
              <a:blipFill rotWithShape="1">
                <a:blip r:embed="rId4"/>
                <a:stretch>
                  <a:fillRect t="-1432" b="-3341"/>
                </a:stretch>
              </a:blipFill>
            </p:spPr>
            <p:txBody>
              <a:bodyPr/>
              <a:lstStyle/>
              <a:p>
                <a:r>
                  <a:rPr lang="en-US">
                    <a:noFill/>
                  </a:rPr>
                  <a:t> </a:t>
                </a:r>
              </a:p>
            </p:txBody>
          </p:sp>
        </mc:Fallback>
      </mc:AlternateContent>
    </p:spTree>
    <p:extLst>
      <p:ext uri="{BB962C8B-B14F-4D97-AF65-F5344CB8AC3E}">
        <p14:creationId xmlns:p14="http://schemas.microsoft.com/office/powerpoint/2010/main" val="38140894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92</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 xmlns:a16="http://schemas.microsoft.com/office/drawing/2014/main" id="{C8F82859-BA98-3646-BF3B-9E17E52A2E35}"/>
                  </a:ext>
                </a:extLst>
              </p:cNvPr>
              <p:cNvSpPr txBox="1"/>
              <p:nvPr/>
            </p:nvSpPr>
            <p:spPr>
              <a:xfrm>
                <a:off x="511204" y="533066"/>
                <a:ext cx="10953207" cy="3477875"/>
              </a:xfrm>
              <a:prstGeom prst="rect">
                <a:avLst/>
              </a:prstGeom>
              <a:noFill/>
            </p:spPr>
            <p:txBody>
              <a:bodyPr wrap="square" rtlCol="0">
                <a:spAutoFit/>
              </a:bodyPr>
              <a:lstStyle/>
              <a:p>
                <a:pPr marL="914400" indent="-457200">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Determine which solution is not viable.</a:t>
                </a: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Justify why that solution is not viable.</a:t>
                </a: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In what year were the sales of cassette tapes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$40,000,000</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6" name="TextBox 5">
                <a:extLst>
                  <a:ext uri="{FF2B5EF4-FFF2-40B4-BE49-F238E27FC236}">
                    <a16:creationId xmlns:a16="http://schemas.microsoft.com/office/drawing/2014/main" xmlns="" xmlns:a14="http://schemas.microsoft.com/office/drawing/2010/main" id="{C8F82859-BA98-3646-BF3B-9E17E52A2E35}"/>
                  </a:ext>
                </a:extLst>
              </p:cNvPr>
              <p:cNvSpPr txBox="1">
                <a:spLocks noRot="1" noChangeAspect="1" noMove="1" noResize="1" noEditPoints="1" noAdjustHandles="1" noChangeArrowheads="1" noChangeShapeType="1" noTextEdit="1"/>
              </p:cNvSpPr>
              <p:nvPr/>
            </p:nvSpPr>
            <p:spPr>
              <a:xfrm>
                <a:off x="511204" y="533066"/>
                <a:ext cx="10953207" cy="3477875"/>
              </a:xfrm>
              <a:prstGeom prst="rect">
                <a:avLst/>
              </a:prstGeom>
              <a:blipFill rotWithShape="1">
                <a:blip r:embed="rId4"/>
                <a:stretch>
                  <a:fillRect t="-1051" b="-2102"/>
                </a:stretch>
              </a:blipFill>
            </p:spPr>
            <p:txBody>
              <a:bodyPr/>
              <a:lstStyle/>
              <a:p>
                <a:r>
                  <a:rPr lang="en-US">
                    <a:noFill/>
                  </a:rPr>
                  <a:t> </a:t>
                </a:r>
              </a:p>
            </p:txBody>
          </p:sp>
        </mc:Fallback>
      </mc:AlternateContent>
    </p:spTree>
    <p:extLst>
      <p:ext uri="{BB962C8B-B14F-4D97-AF65-F5344CB8AC3E}">
        <p14:creationId xmlns:p14="http://schemas.microsoft.com/office/powerpoint/2010/main" val="21221471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92</a:t>
            </a:r>
            <a:endParaRPr i="1" dirty="0">
              <a:latin typeface="Calibri"/>
              <a:ea typeface="Calibri"/>
              <a:cs typeface="Calibri"/>
              <a:sym typeface="Calibri"/>
            </a:endParaRPr>
          </a:p>
        </p:txBody>
      </p:sp>
      <p:sp>
        <p:nvSpPr>
          <p:cNvPr id="7"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E24E5F"/>
                </a:solidFill>
                <a:latin typeface="Verdana"/>
                <a:ea typeface="Verdana"/>
                <a:cs typeface="Verdana"/>
                <a:sym typeface="Verdana"/>
              </a:rPr>
              <a:t>Your Turn</a:t>
            </a:r>
            <a:endParaRPr lang="en-US" sz="5100" b="1" dirty="0">
              <a:solidFill>
                <a:srgbClr val="E24E5F"/>
              </a:solidFill>
              <a:latin typeface="Verdana"/>
              <a:ea typeface="Verdana"/>
              <a:cs typeface="Verdana"/>
              <a:sym typeface="Verdana"/>
            </a:endParaRPr>
          </a:p>
        </p:txBody>
      </p:sp>
      <p:pic>
        <p:nvPicPr>
          <p:cNvPr id="10" name="Google Shape;423;g103996e1364_0_416">
            <a:extLst>
              <a:ext uri="{FF2B5EF4-FFF2-40B4-BE49-F238E27FC236}">
                <a16:creationId xmlns="" xmlns:a16="http://schemas.microsoft.com/office/drawing/2014/main"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5363419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92</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759C3E41-93EC-B84D-963F-86A3B15AC1C6}"/>
                  </a:ext>
                </a:extLst>
              </p:cNvPr>
              <p:cNvSpPr txBox="1"/>
              <p:nvPr/>
            </p:nvSpPr>
            <p:spPr>
              <a:xfrm>
                <a:off x="730266" y="1313636"/>
                <a:ext cx="10800318" cy="3170099"/>
              </a:xfrm>
              <a:prstGeom prst="rect">
                <a:avLst/>
              </a:prstGeom>
              <a:noFill/>
            </p:spPr>
            <p:txBody>
              <a:bodyPr wrap="square" rtlCol="0">
                <a:spAutoFit/>
              </a:bodyPr>
              <a:lstStyle/>
              <a:p>
                <a:pPr lvl="0"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Solve by completing the square. Show your work.</a:t>
                </a:r>
              </a:p>
              <a:p>
                <a:pPr lvl="0"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p>
              <a:p>
                <a:pPr marL="457200" indent="-457200" eaLnBrk="0" fontAlgn="base" hangingPunct="0">
                  <a:spcBef>
                    <a:spcPct val="0"/>
                  </a:spcBef>
                  <a:spcAft>
                    <a:spcPct val="0"/>
                  </a:spcAft>
                  <a:buClrTx/>
                  <a:buFont typeface="+mj-lt"/>
                  <a:buAutoNum type="arabi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altLang="en-US" sz="2000" i="1" dirty="0">
                            <a:solidFill>
                              <a:schemeClr val="tx1"/>
                            </a:solidFill>
                            <a:latin typeface="Cambria Math"/>
                            <a:cs typeface="Times New Roman" panose="02020603050405020304" pitchFamily="18" charset="0"/>
                          </a:rPr>
                        </m:ctrlPr>
                      </m:sSupPr>
                      <m:e>
                        <m:r>
                          <a:rPr lang="es-ES" altLang="en-US" sz="2000" i="1" dirty="0">
                            <a:solidFill>
                              <a:schemeClr val="tx1"/>
                            </a:solidFill>
                            <a:latin typeface="Cambria Math" panose="02040503050406030204" pitchFamily="18" charset="0"/>
                            <a:cs typeface="Times New Roman" panose="02020603050405020304" pitchFamily="18" charset="0"/>
                          </a:rPr>
                          <m:t>𝑥</m:t>
                        </m:r>
                      </m:e>
                      <m:sup>
                        <m:r>
                          <a:rPr lang="es-ES" altLang="en-US" sz="2000" i="1" dirty="0">
                            <a:solidFill>
                              <a:schemeClr val="tx1"/>
                            </a:solidFill>
                            <a:latin typeface="Cambria Math" panose="02040503050406030204" pitchFamily="18" charset="0"/>
                            <a:cs typeface="Times New Roman" panose="02020603050405020304" pitchFamily="18" charset="0"/>
                          </a:rPr>
                          <m:t>2</m:t>
                        </m:r>
                      </m:sup>
                    </m:sSup>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+10</m:t>
                    </m:r>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𝑥</m:t>
                    </m:r>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+8=−6</m:t>
                    </m:r>
                  </m:oMath>
                </a14:m>
                <a:endParaRPr lang="en-US" altLang="en-US" sz="20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a:pPr>
                <a:endParaRPr lang="en-PH" altLang="en-US" sz="20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a:pPr>
                <a:endParaRPr lang="en-PH" altLang="en-US" sz="20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a:pPr>
                <a:endParaRPr lang="en-PH" altLang="en-US" sz="20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6</m:t>
                    </m:r>
                    <m:sSup>
                      <m:sSupPr>
                        <m:ctrlPr>
                          <a:rPr lang="en-US" altLang="en-US" sz="2000" i="1" dirty="0">
                            <a:solidFill>
                              <a:schemeClr val="tx1"/>
                            </a:solidFill>
                            <a:latin typeface="Cambria Math"/>
                            <a:cs typeface="Times New Roman" panose="02020603050405020304" pitchFamily="18" charset="0"/>
                          </a:rPr>
                        </m:ctrlPr>
                      </m:sSupPr>
                      <m:e>
                        <m:r>
                          <a:rPr lang="es-ES" altLang="en-US" sz="2000" i="1" dirty="0">
                            <a:solidFill>
                              <a:schemeClr val="tx1"/>
                            </a:solidFill>
                            <a:latin typeface="Cambria Math" panose="02040503050406030204" pitchFamily="18" charset="0"/>
                            <a:cs typeface="Times New Roman" panose="02020603050405020304" pitchFamily="18" charset="0"/>
                          </a:rPr>
                          <m:t>𝑥</m:t>
                        </m:r>
                      </m:e>
                      <m:sup>
                        <m:r>
                          <a:rPr lang="es-ES" altLang="en-US" sz="2000" i="1" dirty="0">
                            <a:solidFill>
                              <a:schemeClr val="tx1"/>
                            </a:solidFill>
                            <a:latin typeface="Cambria Math" panose="02040503050406030204" pitchFamily="18" charset="0"/>
                            <a:cs typeface="Times New Roman" panose="02020603050405020304" pitchFamily="18" charset="0"/>
                          </a:rPr>
                          <m:t>2</m:t>
                        </m:r>
                      </m:sup>
                    </m:sSup>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−48</m:t>
                    </m:r>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𝑥</m:t>
                    </m:r>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−2=4</m:t>
                    </m:r>
                  </m:oMath>
                </a14:m>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a14="http://schemas.microsoft.com/office/drawing/2010/main" xmlns:a16="http://schemas.microsoft.com/office/drawing/2014/main" xmlns="" id="{759C3E41-93EC-B84D-963F-86A3B15AC1C6}"/>
                  </a:ext>
                </a:extLst>
              </p:cNvPr>
              <p:cNvSpPr txBox="1">
                <a:spLocks noRot="1" noChangeAspect="1" noMove="1" noResize="1" noEditPoints="1" noAdjustHandles="1" noChangeArrowheads="1" noChangeShapeType="1" noTextEdit="1"/>
              </p:cNvSpPr>
              <p:nvPr/>
            </p:nvSpPr>
            <p:spPr>
              <a:xfrm>
                <a:off x="730266" y="1313636"/>
                <a:ext cx="10800318" cy="3170099"/>
              </a:xfrm>
              <a:prstGeom prst="rect">
                <a:avLst/>
              </a:prstGeom>
              <a:blipFill rotWithShape="1">
                <a:blip r:embed="rId4"/>
                <a:stretch>
                  <a:fillRect l="-621" t="-960" b="-2303"/>
                </a:stretch>
              </a:blipFill>
            </p:spPr>
            <p:txBody>
              <a:bodyPr/>
              <a:lstStyle/>
              <a:p>
                <a:r>
                  <a:rPr lang="en-US">
                    <a:noFill/>
                  </a:rPr>
                  <a:t> </a:t>
                </a:r>
              </a:p>
            </p:txBody>
          </p:sp>
        </mc:Fallback>
      </mc:AlternateContent>
      <p:sp>
        <p:nvSpPr>
          <p:cNvPr id="9"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103916" y="20116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4400" b="1" smtClean="0">
                <a:solidFill>
                  <a:srgbClr val="E24E5F"/>
                </a:solidFill>
                <a:latin typeface="Verdana"/>
                <a:ea typeface="Verdana"/>
                <a:cs typeface="Verdana"/>
                <a:sym typeface="Verdana"/>
              </a:rPr>
              <a:t>9.6.4 </a:t>
            </a:r>
            <a:r>
              <a:rPr lang="en-US" sz="4400" b="1" dirty="0">
                <a:solidFill>
                  <a:srgbClr val="E24E5F"/>
                </a:solidFill>
                <a:latin typeface="Verdana"/>
                <a:ea typeface="Verdana"/>
                <a:cs typeface="Verdana"/>
                <a:sym typeface="Verdana"/>
              </a:rPr>
              <a:t>Your Turn!</a:t>
            </a:r>
          </a:p>
        </p:txBody>
      </p:sp>
      <p:pic>
        <p:nvPicPr>
          <p:cNvPr id="10"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5">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480712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93</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13;g104476d1465_1_39"/>
          <p:cNvSpPr txBox="1">
            <a:spLocks/>
          </p:cNvSpPr>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F2A67"/>
                </a:solidFill>
                <a:latin typeface="Verdana"/>
                <a:ea typeface="Verdana"/>
                <a:cs typeface="Verdana"/>
                <a:sym typeface="Verdana"/>
              </a:rPr>
              <a:t>Wrap-Up</a:t>
            </a:r>
            <a:endParaRPr lang="en-US" sz="5100" b="1" dirty="0">
              <a:solidFill>
                <a:srgbClr val="3F2A67"/>
              </a:solidFill>
              <a:latin typeface="Verdana"/>
              <a:ea typeface="Verdana"/>
              <a:cs typeface="Verdana"/>
              <a:sym typeface="Verdana"/>
            </a:endParaRPr>
          </a:p>
        </p:txBody>
      </p:sp>
      <p:pic>
        <p:nvPicPr>
          <p:cNvPr id="9" name="Google Shape;450;g103996e1364_0_457">
            <a:extLst>
              <a:ext uri="{FF2B5EF4-FFF2-40B4-BE49-F238E27FC236}">
                <a16:creationId xmlns=""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93</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TextBox 7">
            <a:extLst>
              <a:ext uri="{FF2B5EF4-FFF2-40B4-BE49-F238E27FC236}">
                <a16:creationId xmlns="" xmlns:a16="http://schemas.microsoft.com/office/drawing/2014/main" xmlns:a14="http://schemas.microsoft.com/office/drawing/2010/main" xmlns:mc="http://schemas.openxmlformats.org/markup-compatibility/2006" id="{0370EDB7-6994-3D43-ABF9-E04CBAFB9CD9}"/>
              </a:ext>
            </a:extLst>
          </p:cNvPr>
          <p:cNvSpPr txBox="1"/>
          <p:nvPr/>
        </p:nvSpPr>
        <p:spPr>
          <a:xfrm>
            <a:off x="730266" y="1376212"/>
            <a:ext cx="10800845" cy="1631216"/>
          </a:xfrm>
          <a:prstGeom prst="rect">
            <a:avLst/>
          </a:prstGeom>
          <a:noFill/>
        </p:spPr>
        <p:txBody>
          <a:bodyPr wrap="square" rtlCol="0">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“You may encounter many defeats, but you must not be defeated. In fact, it may be necessary to encounter the defeats, so you can know who you are, what you can rise from, how you can still come out of it.” ― Maya Angelou</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What was the toughest part of today’s lesson for you? </a:t>
            </a:r>
          </a:p>
        </p:txBody>
      </p:sp>
      <p:sp>
        <p:nvSpPr>
          <p:cNvPr id="10" name="Google Shape;468;p34"/>
          <p:cNvSpPr txBox="1"/>
          <p:nvPr/>
        </p:nvSpPr>
        <p:spPr>
          <a:xfrm>
            <a:off x="1142999" y="284833"/>
            <a:ext cx="10669510"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9.6.5 Wrap-Up: Growth Mindset</a:t>
            </a:r>
          </a:p>
        </p:txBody>
      </p:sp>
      <p:pic>
        <p:nvPicPr>
          <p:cNvPr id="11" name="Google Shape;469;p34"/>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p:spTree>
    <p:extLst>
      <p:ext uri="{BB962C8B-B14F-4D97-AF65-F5344CB8AC3E}">
        <p14:creationId xmlns:p14="http://schemas.microsoft.com/office/powerpoint/2010/main" val="5539956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664AC"/>
          </a:solidFill>
          <a:ln w="9525" cap="flat" cmpd="sng">
            <a:solidFill>
              <a:srgbClr val="1765A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93</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6" name="TextBox 5">
            <a:extLst>
              <a:ext uri="{FF2B5EF4-FFF2-40B4-BE49-F238E27FC236}">
                <a16:creationId xmlns:mc="http://schemas.openxmlformats.org/markup-compatibility/2006" xmlns:a14="http://schemas.microsoft.com/office/drawing/2010/main" xmlns="" xmlns:a16="http://schemas.microsoft.com/office/drawing/2014/main" id="{C8F82859-BA98-3646-BF3B-9E17E52A2E35}"/>
              </a:ext>
            </a:extLst>
          </p:cNvPr>
          <p:cNvSpPr txBox="1"/>
          <p:nvPr/>
        </p:nvSpPr>
        <p:spPr>
          <a:xfrm>
            <a:off x="511204" y="533066"/>
            <a:ext cx="10953207" cy="2554545"/>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How did you keep going when things got tough?</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Write a short note to yourself or draw a picture that celebrates your perseverance through the tough part of today’s lesson.</a:t>
            </a:r>
          </a:p>
        </p:txBody>
      </p:sp>
    </p:spTree>
    <p:extLst>
      <p:ext uri="{BB962C8B-B14F-4D97-AF65-F5344CB8AC3E}">
        <p14:creationId xmlns:p14="http://schemas.microsoft.com/office/powerpoint/2010/main" val="1447143901"/>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3108</TotalTime>
  <Words>1004</Words>
  <Application>Microsoft Office PowerPoint</Application>
  <PresentationFormat>Custom</PresentationFormat>
  <Paragraphs>218</Paragraphs>
  <Slides>24</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Arial</vt:lpstr>
      <vt:lpstr>Cambria</vt:lpstr>
      <vt:lpstr>Arial Black</vt:lpstr>
      <vt:lpstr>Verdana</vt:lpstr>
      <vt:lpstr>Calibri</vt:lpstr>
      <vt:lpstr>Times New Roman</vt:lpstr>
      <vt:lpstr>Century Gothic</vt:lpstr>
      <vt:lpstr>Wingdings</vt:lpstr>
      <vt:lpstr>Cambria Math</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37</cp:revision>
  <dcterms:created xsi:type="dcterms:W3CDTF">2015-03-17T18:51:18Z</dcterms:created>
  <dcterms:modified xsi:type="dcterms:W3CDTF">2022-06-28T10:29:41Z</dcterms:modified>
</cp:coreProperties>
</file>