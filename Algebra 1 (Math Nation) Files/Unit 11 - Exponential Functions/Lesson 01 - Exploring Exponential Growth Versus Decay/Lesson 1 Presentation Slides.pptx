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embeddedFontLst>
    <p:embeddedFont>
      <p:font typeface="Arial Black" panose="020B0A04020102020204" pitchFamily="34" charset="0"/>
      <p:regular r:id="rId34"/>
      <p:bold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jtm2ez1Qz1Hiq0AybwEXaxK3N7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66708E-2272-4DE2-B27A-F621E8298771}">
  <a:tblStyle styleId="{7166708E-2272-4DE2-B27A-F621E82987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1" d="100"/>
          <a:sy n="81" d="100"/>
        </p:scale>
        <p:origin x="82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" name="Google Shape;42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5" name="Google Shape;44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5" name="Google Shape;455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10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1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Exploring Exponential Growth Versus Decay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155</a:t>
            </a:r>
            <a:endParaRPr sz="2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sp>
        <p:nvSpPr>
          <p:cNvPr id="115" name="Google Shape;115;g104476d1465_0_0"/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762" y="1850136"/>
            <a:ext cx="3090582" cy="360273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00" y="2307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917369" y="1556485"/>
            <a:ext cx="933103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MA.912.AR.5.3 </a:t>
            </a:r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66725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a mathematical or real-world context, classify exponential functions as representing growth or decay.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929" y="22314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388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121229" y="-57102"/>
            <a:ext cx="100178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sz="1600"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898988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155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121230" y="1453887"/>
            <a:ext cx="91034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sz="2400" dirty="0"/>
          </a:p>
          <a:p>
            <a:pPr marL="457200"/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2400" dirty="0"/>
          </a:p>
          <a:p>
            <a:pPr marL="457200"/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sz="2400" dirty="0"/>
          </a:p>
          <a:p>
            <a:pPr marL="457200"/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2400" dirty="0"/>
          </a:p>
          <a:p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102200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900" y="18923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102200" y="1600200"/>
            <a:ext cx="911057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3550" indent="-463550">
              <a:buSzPts val="2400"/>
              <a:buFont typeface="Noto Sans Symbols"/>
              <a:buChar char="❑"/>
            </a:pPr>
            <a:r>
              <a:rPr lang="en-US" sz="2800" dirty="0">
                <a:latin typeface="Verdana"/>
                <a:ea typeface="Verdana"/>
                <a:cs typeface="Verdana"/>
                <a:sym typeface="Verdana"/>
              </a:rPr>
              <a:t>I can classify a function as representing exponential growth or decay from a graph. </a:t>
            </a:r>
            <a:endParaRPr sz="2800" dirty="0"/>
          </a:p>
          <a:p>
            <a:pPr marL="463550" indent="-463550">
              <a:buSzPts val="2400"/>
              <a:buFont typeface="Noto Sans Symbols"/>
              <a:buChar char="❑"/>
            </a:pPr>
            <a:endParaRPr lang="en-US" sz="2800" dirty="0">
              <a:latin typeface="Verdana"/>
              <a:ea typeface="Verdana"/>
              <a:cs typeface="Verdana"/>
              <a:sym typeface="Verdana"/>
            </a:endParaRPr>
          </a:p>
          <a:p>
            <a:pPr marL="463550" indent="-463550">
              <a:buSzPts val="2400"/>
              <a:buFont typeface="Noto Sans Symbols"/>
              <a:buChar char="❑"/>
            </a:pPr>
            <a:r>
              <a:rPr lang="en-US" sz="2800" dirty="0">
                <a:latin typeface="Verdana"/>
                <a:ea typeface="Verdana"/>
                <a:cs typeface="Verdana"/>
                <a:sym typeface="Verdana"/>
              </a:rPr>
              <a:t>I can classify a function as representing exponential growth or decay from a table. </a:t>
            </a:r>
            <a:endParaRPr sz="2800" dirty="0"/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CF881D66-02D8-FC1E-1799-F01F49828723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g104476d1465_1_39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>
            <a:extLst>
              <a:ext uri="{FF2B5EF4-FFF2-40B4-BE49-F238E27FC236}">
                <a16:creationId xmlns:a16="http://schemas.microsoft.com/office/drawing/2014/main" id="{501CFF5E-7299-DFD8-2E99-03FFFA9F385B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86;p6">
            <a:extLst>
              <a:ext uri="{FF2B5EF4-FFF2-40B4-BE49-F238E27FC236}">
                <a16:creationId xmlns:a16="http://schemas.microsoft.com/office/drawing/2014/main" id="{592939D5-E43A-C59F-DCE9-5675CA8565D6}"/>
              </a:ext>
            </a:extLst>
          </p:cNvPr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496291" y="20802"/>
            <a:ext cx="991589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11.1.1 Warm-Up: Invasive Snakes</a:t>
            </a:r>
            <a:endParaRPr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508" y="31000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1163983" y="1346502"/>
            <a:ext cx="3733786" cy="53245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796" t="-685" r="-3594" b="-102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171" name="Google Shape;17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4235" y="1386026"/>
            <a:ext cx="4662587" cy="3694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6;g104476d1465_1_17">
            <a:extLst>
              <a:ext uri="{FF2B5EF4-FFF2-40B4-BE49-F238E27FC236}">
                <a16:creationId xmlns:a16="http://schemas.microsoft.com/office/drawing/2014/main" id="{C440DE0D-006E-36FB-E0E7-3CD1CABF9CFE}"/>
              </a:ext>
            </a:extLst>
          </p:cNvPr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59;g104476d1465_1_39">
            <a:extLst>
              <a:ext uri="{FF2B5EF4-FFF2-40B4-BE49-F238E27FC236}">
                <a16:creationId xmlns:a16="http://schemas.microsoft.com/office/drawing/2014/main" id="{FB28AB96-E969-A410-5EC4-0F8726CE1E46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1441400" y="816288"/>
            <a:ext cx="7876181" cy="34778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50" t="-1050" b="-210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7" name="Google Shape;126;g104476d1465_1_17">
            <a:extLst>
              <a:ext uri="{FF2B5EF4-FFF2-40B4-BE49-F238E27FC236}">
                <a16:creationId xmlns:a16="http://schemas.microsoft.com/office/drawing/2014/main" id="{227CB95B-F4D8-2FCD-039C-D37827A54C5B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59;g104476d1465_1_39">
            <a:extLst>
              <a:ext uri="{FF2B5EF4-FFF2-40B4-BE49-F238E27FC236}">
                <a16:creationId xmlns:a16="http://schemas.microsoft.com/office/drawing/2014/main" id="{1EEEACE1-B3E5-0CE8-6035-4D8A57F02C33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8" name="Google Shape;188;p6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0" name="Google Shape;190;p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A4B097E5-29DB-8743-06EC-DF748268A5B5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59;g104476d1465_1_39">
            <a:extLst>
              <a:ext uri="{FF2B5EF4-FFF2-40B4-BE49-F238E27FC236}">
                <a16:creationId xmlns:a16="http://schemas.microsoft.com/office/drawing/2014/main" id="{4D124CA1-1AFB-0CB5-13A9-3EADF1DB273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1496291" y="21028"/>
            <a:ext cx="966651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11.1.2 Exploration: Dominoes and Stickers</a:t>
            </a:r>
            <a:endParaRPr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0" name="Google Shape;200;p7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4727" y="201027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1" name="Google Shape;201;p7"/>
          <p:cNvSpPr txBox="1"/>
          <p:nvPr/>
        </p:nvSpPr>
        <p:spPr>
          <a:xfrm>
            <a:off x="1141824" y="1405675"/>
            <a:ext cx="4563872" cy="330545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68" t="-1104" r="-2667" b="-220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02" name="Google Shape;20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7200" y="1386026"/>
            <a:ext cx="3502249" cy="231600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1598509" y="4711132"/>
            <a:ext cx="7793642" cy="188769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860" t="-1934" b="-483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10" name="Google Shape;125;g104476d1465_1_17">
            <a:extLst>
              <a:ext uri="{FF2B5EF4-FFF2-40B4-BE49-F238E27FC236}">
                <a16:creationId xmlns:a16="http://schemas.microsoft.com/office/drawing/2014/main" id="{84AC1FC4-9719-BA43-62CF-88E2474DA6F7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>
            <a:extLst>
              <a:ext uri="{FF2B5EF4-FFF2-40B4-BE49-F238E27FC236}">
                <a16:creationId xmlns:a16="http://schemas.microsoft.com/office/drawing/2014/main" id="{D29EB00E-1F20-DA35-D2FF-C548ABAB76DE}"/>
              </a:ext>
            </a:extLst>
          </p:cNvPr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828629" y="236285"/>
            <a:ext cx="9349514" cy="2554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4" t="-1431" r="-950" b="-333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graphicFrame>
        <p:nvGraphicFramePr>
          <p:cNvPr id="213" name="Google Shape;213;p8"/>
          <p:cNvGraphicFramePr/>
          <p:nvPr>
            <p:extLst>
              <p:ext uri="{D42A27DB-BD31-4B8C-83A1-F6EECF244321}">
                <p14:modId xmlns:p14="http://schemas.microsoft.com/office/powerpoint/2010/main" val="4134631073"/>
              </p:ext>
            </p:extLst>
          </p:nvPr>
        </p:nvGraphicFramePr>
        <p:xfrm>
          <a:off x="3522511" y="2984785"/>
          <a:ext cx="3961750" cy="1676400"/>
        </p:xfrm>
        <a:graphic>
          <a:graphicData uri="http://schemas.openxmlformats.org/drawingml/2006/table">
            <a:tbl>
              <a:tblPr>
                <a:noFill/>
                <a:tableStyleId>{7166708E-2272-4DE2-B27A-F621E8298771}</a:tableStyleId>
              </a:tblPr>
              <a:tblGrid>
                <a:gridCol w="20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Domino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Height (ft)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i="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13</a:t>
                      </a:r>
                      <a:r>
                        <a:rPr lang="en-US" sz="2000" i="0" baseline="30000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</a:t>
                      </a:r>
                      <a:endParaRPr sz="2000" i="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3.2</a:t>
                      </a:r>
                      <a:endParaRPr sz="2000" i="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i="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14</a:t>
                      </a:r>
                      <a:r>
                        <a:rPr lang="en-US" sz="2000" i="0" baseline="30000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</a:t>
                      </a:r>
                      <a:endParaRPr sz="2000" i="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 </a:t>
                      </a:r>
                      <a:endParaRPr sz="2000" i="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i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15</a:t>
                      </a:r>
                      <a:r>
                        <a:rPr lang="en-US" sz="2000" i="0" baseline="300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</a:t>
                      </a:r>
                      <a:endParaRPr sz="2000" i="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 </a:t>
                      </a:r>
                      <a:endParaRPr sz="2000" i="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4" name="Google Shape;214;p8"/>
          <p:cNvSpPr/>
          <p:nvPr/>
        </p:nvSpPr>
        <p:spPr>
          <a:xfrm>
            <a:off x="1338074" y="4855141"/>
            <a:ext cx="9157788" cy="176657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32" t="-2421" r="-529" b="-553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8" name="Google Shape;125;g104476d1465_1_17">
            <a:extLst>
              <a:ext uri="{FF2B5EF4-FFF2-40B4-BE49-F238E27FC236}">
                <a16:creationId xmlns:a16="http://schemas.microsoft.com/office/drawing/2014/main" id="{5E4922CD-C438-92F9-A38D-86B4D9E72CED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>
            <a:extLst>
              <a:ext uri="{FF2B5EF4-FFF2-40B4-BE49-F238E27FC236}">
                <a16:creationId xmlns:a16="http://schemas.microsoft.com/office/drawing/2014/main" id="{0FFA086E-CC1E-75AB-EDC9-C0E7E5EA6910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Google Shape;223;p9"/>
              <p:cNvSpPr/>
              <p:nvPr/>
            </p:nvSpPr>
            <p:spPr>
              <a:xfrm>
                <a:off x="843148" y="325310"/>
                <a:ext cx="10284031" cy="10156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457200" indent="-457200">
                  <a:buClr>
                    <a:schemeClr val="dk1"/>
                  </a:buClr>
                  <a:buSzPts val="2000"/>
                  <a:buFont typeface="Arial"/>
                  <a:buAutoNum type="arabicPeriod" startAt="3"/>
                </a:pPr>
                <a:r>
                  <a:rPr lang="en-US" sz="2000" dirty="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Ashley used a copy machine to make copies of a Math Nation sticker to observe how the size changes. Before making copies, she pressed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75% </m:t>
                    </m:r>
                  </m:oMath>
                </a14:m>
                <a:r>
                  <a:rPr lang="en-US" sz="2000" dirty="0">
                    <a:solidFill>
                      <a:schemeClr val="dk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zoom button </a:t>
                </a:r>
                <a:endParaRPr dirty="0"/>
              </a:p>
            </p:txBody>
          </p:sp>
        </mc:Choice>
        <mc:Fallback>
          <p:sp>
            <p:nvSpPr>
              <p:cNvPr id="223" name="Google Shape;223;p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325310"/>
                <a:ext cx="10284031" cy="1015622"/>
              </a:xfrm>
              <a:prstGeom prst="rect">
                <a:avLst/>
              </a:prstGeom>
              <a:blipFill>
                <a:blip r:embed="rId3"/>
                <a:stretch>
                  <a:fillRect l="-652" t="-3593" b="-10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Google Shape;224;p9"/>
          <p:cNvSpPr/>
          <p:nvPr/>
        </p:nvSpPr>
        <p:spPr>
          <a:xfrm>
            <a:off x="843149" y="3795474"/>
            <a:ext cx="1028403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795338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She made the first copy of the sticker. </a:t>
            </a:r>
            <a:endParaRPr dirty="0"/>
          </a:p>
          <a:p>
            <a:pPr marL="795338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make the second copy, she removed the original sticker from the copy machine and replaced it with the first copy of the sticker. She then pressed copy.</a:t>
            </a:r>
            <a:endParaRPr dirty="0"/>
          </a:p>
          <a:p>
            <a:pPr marL="795338" indent="-342900"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make the third copy, she removed the first copy of the sticker and replaced it with the second copy of the sticker. She then pressed copy.</a:t>
            </a:r>
            <a:endParaRPr dirty="0"/>
          </a:p>
          <a:p>
            <a:pPr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</a:t>
            </a:r>
            <a:endParaRPr dirty="0"/>
          </a:p>
          <a:p>
            <a:pPr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is each copy of the sticker related to the copy that was made before? </a:t>
            </a:r>
            <a:endParaRPr dirty="0"/>
          </a:p>
        </p:txBody>
      </p:sp>
      <p:pic>
        <p:nvPicPr>
          <p:cNvPr id="225" name="Google Shape;22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58349" y="1398387"/>
            <a:ext cx="4728354" cy="20264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g104476d1465_1_17">
            <a:extLst>
              <a:ext uri="{FF2B5EF4-FFF2-40B4-BE49-F238E27FC236}">
                <a16:creationId xmlns:a16="http://schemas.microsoft.com/office/drawing/2014/main" id="{1DDF66A1-65F9-0F0D-8E6B-9CF7C9B034E1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>
            <a:extLst>
              <a:ext uri="{FF2B5EF4-FFF2-40B4-BE49-F238E27FC236}">
                <a16:creationId xmlns:a16="http://schemas.microsoft.com/office/drawing/2014/main" id="{0DB7B3AD-9DD3-1A21-CF55-2743AE27B699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3" name="Google Shape;233;p10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5" name="Google Shape;23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>
            <a:extLst>
              <a:ext uri="{FF2B5EF4-FFF2-40B4-BE49-F238E27FC236}">
                <a16:creationId xmlns:a16="http://schemas.microsoft.com/office/drawing/2014/main" id="{CF41103B-965A-44ED-2466-4A3DAAFF5C6D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6EE179F3-4FF3-F409-E2A9-19D3A00DF49F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1496290" y="3072"/>
            <a:ext cx="101318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11.1.3 Collaboration: Graphs and Tables</a:t>
            </a:r>
            <a:endParaRPr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850" y="23268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46" name="Google Shape;246;p11"/>
          <p:cNvSpPr txBox="1"/>
          <p:nvPr/>
        </p:nvSpPr>
        <p:spPr>
          <a:xfrm>
            <a:off x="855023" y="1386025"/>
            <a:ext cx="1026028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There are two types of exponential functions: exponential growth and exponential decay. </a:t>
            </a:r>
            <a:endParaRPr sz="1600" dirty="0"/>
          </a:p>
        </p:txBody>
      </p:sp>
      <p:sp>
        <p:nvSpPr>
          <p:cNvPr id="247" name="Google Shape;247;p11"/>
          <p:cNvSpPr/>
          <p:nvPr/>
        </p:nvSpPr>
        <p:spPr>
          <a:xfrm>
            <a:off x="2748412" y="2364055"/>
            <a:ext cx="6629400" cy="1139268"/>
          </a:xfrm>
          <a:prstGeom prst="roundRect">
            <a:avLst>
              <a:gd name="adj" fmla="val 16667"/>
            </a:avLst>
          </a:prstGeom>
          <a:solidFill>
            <a:srgbClr val="E2EFD4"/>
          </a:solidFill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23925"/>
            <a:r>
              <a:rPr lang="en-US" sz="2000" dirty="0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An </a:t>
            </a:r>
            <a:r>
              <a:rPr lang="en-US" sz="2000" b="1" i="1" dirty="0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exponential function</a:t>
            </a:r>
            <a:r>
              <a:rPr lang="en-US" sz="2000" b="1" dirty="0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dirty="0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is a function with a constant percent rate of change. </a:t>
            </a:r>
            <a:endParaRPr dirty="0"/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77520" y="2572781"/>
            <a:ext cx="495393" cy="506782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49" name="Google Shape;249;p11"/>
          <p:cNvSpPr/>
          <p:nvPr/>
        </p:nvSpPr>
        <p:spPr>
          <a:xfrm>
            <a:off x="2748412" y="4025785"/>
            <a:ext cx="6629400" cy="1546604"/>
          </a:xfrm>
          <a:prstGeom prst="roundRect">
            <a:avLst>
              <a:gd name="adj" fmla="val 16667"/>
            </a:avLst>
          </a:pr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 </a:t>
            </a:r>
            <a:endParaRPr dirty="0"/>
          </a:p>
        </p:txBody>
      </p:sp>
      <p:pic>
        <p:nvPicPr>
          <p:cNvPr id="250" name="Google Shape;250;p11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66000" y="4290162"/>
            <a:ext cx="518433" cy="506782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Google Shape;125;g104476d1465_1_17">
            <a:extLst>
              <a:ext uri="{FF2B5EF4-FFF2-40B4-BE49-F238E27FC236}">
                <a16:creationId xmlns:a16="http://schemas.microsoft.com/office/drawing/2014/main" id="{D8F23D78-F4B0-61A8-0420-46D19B929030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>
            <a:extLst>
              <a:ext uri="{FF2B5EF4-FFF2-40B4-BE49-F238E27FC236}">
                <a16:creationId xmlns:a16="http://schemas.microsoft.com/office/drawing/2014/main" id="{544946B5-1AB3-54F1-ADD0-9D743C355EC3}"/>
              </a:ext>
            </a:extLst>
          </p:cNvPr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2961772" y="649050"/>
            <a:ext cx="6629400" cy="1521767"/>
          </a:xfrm>
          <a:prstGeom prst="roundRect">
            <a:avLst>
              <a:gd name="adj" fmla="val 16667"/>
            </a:avLst>
          </a:prstGeom>
          <a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60" name="Google Shape;260;p12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79360" y="857776"/>
            <a:ext cx="518433" cy="506782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>
            <a:extLst>
              <a:ext uri="{FF2B5EF4-FFF2-40B4-BE49-F238E27FC236}">
                <a16:creationId xmlns:a16="http://schemas.microsoft.com/office/drawing/2014/main" id="{15E73E40-480A-85A2-9A2E-EC502965CA1B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5BFB17B3-A94E-0471-EFF5-F26AB57DEB8F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69" name="Google Shape;269;p13"/>
          <p:cNvSpPr txBox="1"/>
          <p:nvPr/>
        </p:nvSpPr>
        <p:spPr>
          <a:xfrm>
            <a:off x="843148" y="410666"/>
            <a:ext cx="1027215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Use the descriptions of exponential growth and decay to determine what the orange graph represents and what the blue graph represents.</a:t>
            </a:r>
          </a:p>
          <a:p>
            <a:pPr marL="517525"/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517525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Orange: </a:t>
            </a:r>
            <a:endParaRPr sz="2400" dirty="0"/>
          </a:p>
          <a:p>
            <a:pPr marL="923925" indent="-406400">
              <a:buSzPts val="20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Exponential growth</a:t>
            </a:r>
            <a:endParaRPr sz="2400" dirty="0"/>
          </a:p>
          <a:p>
            <a:pPr marL="923925" indent="-406400">
              <a:buSzPts val="20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Exponential decay</a:t>
            </a:r>
            <a:endParaRPr sz="2400" dirty="0"/>
          </a:p>
          <a:p>
            <a:pPr marL="517525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sz="2400" dirty="0"/>
          </a:p>
          <a:p>
            <a:pPr marL="517525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Blue:</a:t>
            </a:r>
            <a:endParaRPr sz="2400" dirty="0"/>
          </a:p>
          <a:p>
            <a:pPr marL="923925" indent="-406400">
              <a:buSzPts val="20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Exponential growth</a:t>
            </a:r>
            <a:endParaRPr sz="2400" dirty="0"/>
          </a:p>
          <a:p>
            <a:pPr marL="923925" indent="-406400">
              <a:buSzPts val="2000"/>
              <a:buFont typeface="Courier New"/>
              <a:buChar char="o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Exponential decay </a:t>
            </a:r>
            <a:endParaRPr sz="2400" dirty="0"/>
          </a:p>
        </p:txBody>
      </p:sp>
      <p:pic>
        <p:nvPicPr>
          <p:cNvPr id="270" name="Google Shape;27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9226" y="1704059"/>
            <a:ext cx="4102100" cy="42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>
            <a:extLst>
              <a:ext uri="{FF2B5EF4-FFF2-40B4-BE49-F238E27FC236}">
                <a16:creationId xmlns:a16="http://schemas.microsoft.com/office/drawing/2014/main" id="{BFFE2F17-19B9-FA15-883E-886B918371A2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AF97684E-AC5C-72C5-F086-7B8A2E740B45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843147" y="432437"/>
            <a:ext cx="9749643" cy="48520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4" t="-830" r="-1756" b="-152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6" name="Google Shape;125;g104476d1465_1_17">
            <a:extLst>
              <a:ext uri="{FF2B5EF4-FFF2-40B4-BE49-F238E27FC236}">
                <a16:creationId xmlns:a16="http://schemas.microsoft.com/office/drawing/2014/main" id="{B21763B4-57F1-A010-1F91-AA8D8F6C0AE8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>
            <a:extLst>
              <a:ext uri="{FF2B5EF4-FFF2-40B4-BE49-F238E27FC236}">
                <a16:creationId xmlns:a16="http://schemas.microsoft.com/office/drawing/2014/main" id="{09FF1889-DF3C-D9B4-3F89-88ECB88FEA9A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855023" y="410666"/>
            <a:ext cx="10295908" cy="124577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4" t="-3590" r="-364" b="-95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graphicFrame>
        <p:nvGraphicFramePr>
          <p:cNvPr id="289" name="Google Shape;289;p15"/>
          <p:cNvGraphicFramePr/>
          <p:nvPr>
            <p:extLst>
              <p:ext uri="{D42A27DB-BD31-4B8C-83A1-F6EECF244321}">
                <p14:modId xmlns:p14="http://schemas.microsoft.com/office/powerpoint/2010/main" val="4260965799"/>
              </p:ext>
            </p:extLst>
          </p:nvPr>
        </p:nvGraphicFramePr>
        <p:xfrm>
          <a:off x="6671752" y="1689947"/>
          <a:ext cx="1782750" cy="4493900"/>
        </p:xfrm>
        <a:graphic>
          <a:graphicData uri="http://schemas.openxmlformats.org/drawingml/2006/table">
            <a:tbl>
              <a:tblPr>
                <a:noFill/>
                <a:tableStyleId>{7166708E-2272-4DE2-B27A-F621E8298771}</a:tableStyleId>
              </a:tblPr>
              <a:tblGrid>
                <a:gridCol w="89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6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Table 1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x</a:t>
                      </a:r>
                      <a:endParaRPr sz="180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y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0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 sz="180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 sz="180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5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 </a:t>
                      </a:r>
                      <a:endParaRPr sz="180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90" name="Google Shape;290;p15"/>
          <p:cNvGraphicFramePr/>
          <p:nvPr>
            <p:extLst>
              <p:ext uri="{D42A27DB-BD31-4B8C-83A1-F6EECF244321}">
                <p14:modId xmlns:p14="http://schemas.microsoft.com/office/powerpoint/2010/main" val="223146792"/>
              </p:ext>
            </p:extLst>
          </p:nvPr>
        </p:nvGraphicFramePr>
        <p:xfrm>
          <a:off x="8647116" y="1689897"/>
          <a:ext cx="1781250" cy="4493950"/>
        </p:xfrm>
        <a:graphic>
          <a:graphicData uri="http://schemas.openxmlformats.org/drawingml/2006/table">
            <a:tbl>
              <a:tblPr>
                <a:noFill/>
                <a:tableStyleId>{7166708E-2272-4DE2-B27A-F621E8298771}</a:tableStyleId>
              </a:tblPr>
              <a:tblGrid>
                <a:gridCol w="8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5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Table 2</a:t>
                      </a:r>
                      <a:endParaRPr sz="16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6600" marR="6660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x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y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0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6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6600" marR="6660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6600" marR="6660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6600" marR="6660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6600" marR="6660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6600" marR="6660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5</a:t>
                      </a:r>
                      <a:endParaRPr sz="18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6675" marR="666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6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6600" marR="6660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1" name="Google Shape;291;p15"/>
          <p:cNvSpPr/>
          <p:nvPr/>
        </p:nvSpPr>
        <p:spPr>
          <a:xfrm>
            <a:off x="1387174" y="1784720"/>
            <a:ext cx="5091964" cy="494858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6" t="-976" r="-3635" b="-16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5726" y="3095378"/>
            <a:ext cx="3333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6676" y="3708642"/>
            <a:ext cx="3714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21438" y="4393728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02388" y="5009579"/>
            <a:ext cx="4000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705751" y="3047753"/>
            <a:ext cx="4095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696226" y="3713403"/>
            <a:ext cx="4286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700988" y="4403253"/>
            <a:ext cx="4191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678775" y="5019054"/>
            <a:ext cx="463520" cy="43776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5;g104476d1465_1_17">
            <a:extLst>
              <a:ext uri="{FF2B5EF4-FFF2-40B4-BE49-F238E27FC236}">
                <a16:creationId xmlns:a16="http://schemas.microsoft.com/office/drawing/2014/main" id="{F4CE1D49-D765-B255-EF35-8E78A7479B6B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26;g104476d1465_1_17">
            <a:extLst>
              <a:ext uri="{FF2B5EF4-FFF2-40B4-BE49-F238E27FC236}">
                <a16:creationId xmlns:a16="http://schemas.microsoft.com/office/drawing/2014/main" id="{C13D818A-8512-06E4-AFD3-177C00B32B4F}"/>
              </a:ext>
            </a:extLst>
          </p:cNvPr>
          <p:cNvPicPr preferRelativeResize="0"/>
          <p:nvPr/>
        </p:nvPicPr>
        <p:blipFill rotWithShape="1">
          <a:blip r:embed="rId1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855023" y="413508"/>
            <a:ext cx="9479878" cy="23062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3" t="-1886" b="-471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1403783" y="2976947"/>
            <a:ext cx="8262731" cy="268758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83" t="-1354" r="-861" b="-379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10" name="Google Shape;310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3586" y="2833269"/>
            <a:ext cx="1880235" cy="852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74056" y="3887270"/>
            <a:ext cx="1892458" cy="866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158712" y="4955736"/>
            <a:ext cx="3124544" cy="89979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5;g104476d1465_1_17">
            <a:extLst>
              <a:ext uri="{FF2B5EF4-FFF2-40B4-BE49-F238E27FC236}">
                <a16:creationId xmlns:a16="http://schemas.microsoft.com/office/drawing/2014/main" id="{BF8D7637-C7DD-7D1E-6517-DE9B5C183FDA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>
            <a:extLst>
              <a:ext uri="{FF2B5EF4-FFF2-40B4-BE49-F238E27FC236}">
                <a16:creationId xmlns:a16="http://schemas.microsoft.com/office/drawing/2014/main" id="{0FD62377-28E2-032F-2538-D9FF7BC487AC}"/>
              </a:ext>
            </a:extLst>
          </p:cNvPr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9" name="Google Shape;319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162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0" name="Google Shape;320;p17"/>
          <p:cNvSpPr txBox="1"/>
          <p:nvPr/>
        </p:nvSpPr>
        <p:spPr>
          <a:xfrm>
            <a:off x="898762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913222" y="407697"/>
            <a:ext cx="9548939" cy="237112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31" t="-1354" b="-379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22" name="Google Shape;322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6601" y="196452"/>
            <a:ext cx="1715810" cy="80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6998" y="2076087"/>
            <a:ext cx="1903835" cy="95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1624" y="2015034"/>
            <a:ext cx="3691995" cy="97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/>
          <p:nvPr/>
        </p:nvSpPr>
        <p:spPr>
          <a:xfrm>
            <a:off x="0" y="-9409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2" name="Google Shape;332;p18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4" name="Google Shape;334;p1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5255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>
            <a:extLst>
              <a:ext uri="{FF2B5EF4-FFF2-40B4-BE49-F238E27FC236}">
                <a16:creationId xmlns:a16="http://schemas.microsoft.com/office/drawing/2014/main" id="{D9C08C41-1828-A861-A102-707C65DB8C0E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9303EFE4-1E58-70B4-E0EE-445B65D2DAD2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"/>
          <p:cNvSpPr/>
          <p:nvPr/>
        </p:nvSpPr>
        <p:spPr>
          <a:xfrm>
            <a:off x="0" y="-12827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1" name="Google Shape;341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4870" y="619599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2" name="Google Shape;342;p19"/>
          <p:cNvSpPr txBox="1"/>
          <p:nvPr/>
        </p:nvSpPr>
        <p:spPr>
          <a:xfrm>
            <a:off x="1472539" y="-12827"/>
            <a:ext cx="1009774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11.1.4 Bring It Together: Exponential Equations</a:t>
            </a:r>
            <a:endParaRPr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1932432" y="3261985"/>
            <a:ext cx="8327136" cy="22467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31" r="-656" b="-379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45" name="Google Shape;345;p19" descr="Icon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717" y="275119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46" name="Google Shape;346;p19"/>
          <p:cNvSpPr/>
          <p:nvPr/>
        </p:nvSpPr>
        <p:spPr>
          <a:xfrm>
            <a:off x="2880492" y="1531492"/>
            <a:ext cx="6629400" cy="1521767"/>
          </a:xfrm>
          <a:prstGeom prst="roundRect">
            <a:avLst>
              <a:gd name="adj" fmla="val 16667"/>
            </a:avLst>
          </a:prstGeom>
          <a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47" name="Google Shape;347;p19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98080" y="1740218"/>
            <a:ext cx="518433" cy="506782"/>
          </a:xfrm>
          <a:prstGeom prst="rect">
            <a:avLst/>
          </a:prstGeom>
          <a:noFill/>
          <a:ln>
            <a:noFill/>
          </a:ln>
          <a:effectLst>
            <a:outerShdw blurRad="50800" dist="762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Google Shape;125;g104476d1465_1_17">
            <a:extLst>
              <a:ext uri="{FF2B5EF4-FFF2-40B4-BE49-F238E27FC236}">
                <a16:creationId xmlns:a16="http://schemas.microsoft.com/office/drawing/2014/main" id="{0AF3E2AB-A144-ED79-317D-9F0BF94DFB39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20"/>
          <p:cNvGrpSpPr/>
          <p:nvPr/>
        </p:nvGrpSpPr>
        <p:grpSpPr>
          <a:xfrm>
            <a:off x="1490125" y="4657861"/>
            <a:ext cx="1584093" cy="870712"/>
            <a:chOff x="848211" y="4788586"/>
            <a:chExt cx="1584093" cy="870712"/>
          </a:xfrm>
        </p:grpSpPr>
        <p:pic>
          <p:nvPicPr>
            <p:cNvPr id="354" name="Google Shape;354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8211" y="4788586"/>
              <a:ext cx="1433490" cy="8707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20"/>
            <p:cNvSpPr/>
            <p:nvPr/>
          </p:nvSpPr>
          <p:spPr>
            <a:xfrm>
              <a:off x="2272557" y="5010912"/>
              <a:ext cx="159747" cy="54864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843148" y="435049"/>
            <a:ext cx="10272156" cy="9019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31" t="-4308" b="-146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60" name="Google Shape;360;p20"/>
              <p:cNvGraphicFramePr/>
              <p:nvPr>
                <p:extLst>
                  <p:ext uri="{D42A27DB-BD31-4B8C-83A1-F6EECF244321}">
                    <p14:modId xmlns:p14="http://schemas.microsoft.com/office/powerpoint/2010/main" val="1959335817"/>
                  </p:ext>
                </p:extLst>
              </p:nvPr>
            </p:nvGraphicFramePr>
            <p:xfrm>
              <a:off x="2561125" y="1394102"/>
              <a:ext cx="6729100" cy="1790700"/>
            </p:xfrm>
            <a:graphic>
              <a:graphicData uri="http://schemas.openxmlformats.org/drawingml/2006/table">
                <a:tbl>
                  <a:tblPr>
                    <a:noFill/>
                    <a:tableStyleId>{7166708E-2272-4DE2-B27A-F621E8298771}</a:tableStyleId>
                  </a:tblPr>
                  <a:tblGrid>
                    <a:gridCol w="33794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496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Exponential Growth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Exponential Decay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is the growth factor</a:t>
                          </a:r>
                          <a:endParaRPr sz="2000" u="none" strike="noStrike" cap="none" dirty="0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100"/>
                            <a:buFont typeface="Arial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chemeClr val="dk1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 is the decay factor</a:t>
                          </a:r>
                          <a:endParaRPr sz="2000" u="none" strike="noStrike" cap="none" dirty="0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51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endParaRPr sz="2000" u="none" strike="noStrike" cap="none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89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60" name="Google Shape;360;p20"/>
              <p:cNvGraphicFramePr/>
              <p:nvPr>
                <p:extLst>
                  <p:ext uri="{D42A27DB-BD31-4B8C-83A1-F6EECF244321}">
                    <p14:modId xmlns:p14="http://schemas.microsoft.com/office/powerpoint/2010/main" val="1959335817"/>
                  </p:ext>
                </p:extLst>
              </p:nvPr>
            </p:nvGraphicFramePr>
            <p:xfrm>
              <a:off x="2561125" y="1394102"/>
              <a:ext cx="6729100" cy="1790700"/>
            </p:xfrm>
            <a:graphic>
              <a:graphicData uri="http://schemas.openxmlformats.org/drawingml/2006/table">
                <a:tbl>
                  <a:tblPr>
                    <a:noFill/>
                    <a:tableStyleId>{7166708E-2272-4DE2-B27A-F621E8298771}</a:tableStyleId>
                  </a:tblPr>
                  <a:tblGrid>
                    <a:gridCol w="33794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496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Exponential Growth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Exponential Decay</a:t>
                          </a:r>
                          <a:endParaRPr sz="2000" u="none" strike="noStrike" cap="none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81" t="-121667" r="-99819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>
                          <a:blip r:embed="rId5"/>
                          <a:stretch>
                            <a:fillRect l="-100909" t="-121667" r="-545" b="-29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51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  <a:buNone/>
                          </a:pPr>
                          <a:endParaRPr sz="2000" u="none" strike="noStrike" cap="none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89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000" u="none" strike="noStrike" cap="none" dirty="0"/>
                        </a:p>
                      </a:txBody>
                      <a:tcPr marL="68575" marR="68575" marT="0" marB="0">
                        <a:lnL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61" name="Google Shape;361;p20"/>
          <p:cNvSpPr/>
          <p:nvPr/>
        </p:nvSpPr>
        <p:spPr>
          <a:xfrm>
            <a:off x="1385858" y="3918195"/>
            <a:ext cx="8969829" cy="224676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841" t="-1354" b="-379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1045029" y="3364793"/>
            <a:ext cx="46339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SzPct val="1000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statement.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63" name="Google Shape;363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0915" y="5428827"/>
            <a:ext cx="1773399" cy="897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64320" y="2181384"/>
            <a:ext cx="29146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87125" y="2181375"/>
            <a:ext cx="2771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79195" y="2799123"/>
            <a:ext cx="16383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34495" y="2803897"/>
            <a:ext cx="16764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5;g104476d1465_1_17">
            <a:extLst>
              <a:ext uri="{FF2B5EF4-FFF2-40B4-BE49-F238E27FC236}">
                <a16:creationId xmlns:a16="http://schemas.microsoft.com/office/drawing/2014/main" id="{D7270AB2-1319-765E-CFE7-400A6533C683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26;g104476d1465_1_17">
            <a:extLst>
              <a:ext uri="{FF2B5EF4-FFF2-40B4-BE49-F238E27FC236}">
                <a16:creationId xmlns:a16="http://schemas.microsoft.com/office/drawing/2014/main" id="{B52663AE-C9B6-48F0-026E-644041924E43}"/>
              </a:ext>
            </a:extLst>
          </p:cNvPr>
          <p:cNvPicPr preferRelativeResize="0"/>
          <p:nvPr/>
        </p:nvPicPr>
        <p:blipFill rotWithShape="1">
          <a:blip r:embed="rId1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843148" y="435048"/>
            <a:ext cx="9832770" cy="24506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03" t="-1827" b="-457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6" name="Google Shape;125;g104476d1465_1_17">
            <a:extLst>
              <a:ext uri="{FF2B5EF4-FFF2-40B4-BE49-F238E27FC236}">
                <a16:creationId xmlns:a16="http://schemas.microsoft.com/office/drawing/2014/main" id="{04738183-EBC1-B23E-87CC-A5606C71590D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>
            <a:extLst>
              <a:ext uri="{FF2B5EF4-FFF2-40B4-BE49-F238E27FC236}">
                <a16:creationId xmlns:a16="http://schemas.microsoft.com/office/drawing/2014/main" id="{4AB59B88-F138-3A85-B837-53E916612CCC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/>
          <p:nvPr/>
        </p:nvSpPr>
        <p:spPr>
          <a:xfrm>
            <a:off x="0" y="-1593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84" name="Google Shape;384;p22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85" name="Google Shape;38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>
            <a:extLst>
              <a:ext uri="{FF2B5EF4-FFF2-40B4-BE49-F238E27FC236}">
                <a16:creationId xmlns:a16="http://schemas.microsoft.com/office/drawing/2014/main" id="{23BA5644-EE32-C0FC-E559-DFD30D38F6CA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9BBCDCFE-2366-EFA2-0E5C-6ABA7DD4A5BB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94" name="Google Shape;394;p23"/>
          <p:cNvSpPr txBox="1"/>
          <p:nvPr/>
        </p:nvSpPr>
        <p:spPr>
          <a:xfrm>
            <a:off x="1508166" y="258469"/>
            <a:ext cx="7626616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11.1.5 Your Turn!</a:t>
            </a:r>
            <a:endParaRPr sz="1600" dirty="0"/>
          </a:p>
        </p:txBody>
      </p:sp>
      <p:pic>
        <p:nvPicPr>
          <p:cNvPr id="395" name="Google Shape;39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247" y="18715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3"/>
          <p:cNvSpPr txBox="1"/>
          <p:nvPr/>
        </p:nvSpPr>
        <p:spPr>
          <a:xfrm>
            <a:off x="855024" y="1195773"/>
            <a:ext cx="10307782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Determine if each representation of a function is an example of exponential decay or exponential growth. Justify your selection.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61963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		</a:t>
            </a:r>
          </a:p>
          <a:p>
            <a:pPr marL="919163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endParaRPr sz="2400" dirty="0"/>
          </a:p>
        </p:txBody>
      </p:sp>
      <p:graphicFrame>
        <p:nvGraphicFramePr>
          <p:cNvPr id="397" name="Google Shape;397;p23"/>
          <p:cNvGraphicFramePr/>
          <p:nvPr>
            <p:extLst>
              <p:ext uri="{D42A27DB-BD31-4B8C-83A1-F6EECF244321}">
                <p14:modId xmlns:p14="http://schemas.microsoft.com/office/powerpoint/2010/main" val="3222350085"/>
              </p:ext>
            </p:extLst>
          </p:nvPr>
        </p:nvGraphicFramePr>
        <p:xfrm>
          <a:off x="2010319" y="2485150"/>
          <a:ext cx="6419981" cy="4092124"/>
        </p:xfrm>
        <a:graphic>
          <a:graphicData uri="http://schemas.openxmlformats.org/drawingml/2006/table">
            <a:tbl>
              <a:tblPr>
                <a:noFill/>
                <a:tableStyleId>{7166708E-2272-4DE2-B27A-F621E8298771}</a:tableStyleId>
              </a:tblPr>
              <a:tblGrid>
                <a:gridCol w="2914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9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Representation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50" marR="5485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Type of Exponential Function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50" marR="548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92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50" marR="5485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 decay</a:t>
                      </a:r>
                      <a:endParaRPr dirty="0"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 growth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50" marR="5485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95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Justification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50" marR="5485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957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50" marR="5485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98" name="Google Shape;398;p23" descr="Chart, line chart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13490" y="3206505"/>
            <a:ext cx="2718354" cy="26494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5;g104476d1465_1_17">
            <a:extLst>
              <a:ext uri="{FF2B5EF4-FFF2-40B4-BE49-F238E27FC236}">
                <a16:creationId xmlns:a16="http://schemas.microsoft.com/office/drawing/2014/main" id="{FE27D5FB-92D7-F8F1-7C4F-EC238243CB2D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>
            <a:extLst>
              <a:ext uri="{FF2B5EF4-FFF2-40B4-BE49-F238E27FC236}">
                <a16:creationId xmlns:a16="http://schemas.microsoft.com/office/drawing/2014/main" id="{801E3E44-F273-243F-EA0F-30C27D2962BE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4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08" name="Google Shape;408;p24"/>
          <p:cNvSpPr txBox="1"/>
          <p:nvPr/>
        </p:nvSpPr>
        <p:spPr>
          <a:xfrm>
            <a:off x="843148" y="695357"/>
            <a:ext cx="94164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409" name="Google Shape;409;p24"/>
          <p:cNvGraphicFramePr/>
          <p:nvPr>
            <p:extLst>
              <p:ext uri="{D42A27DB-BD31-4B8C-83A1-F6EECF244321}">
                <p14:modId xmlns:p14="http://schemas.microsoft.com/office/powerpoint/2010/main" val="3089474440"/>
              </p:ext>
            </p:extLst>
          </p:nvPr>
        </p:nvGraphicFramePr>
        <p:xfrm>
          <a:off x="1932432" y="778484"/>
          <a:ext cx="6729100" cy="2816850"/>
        </p:xfrm>
        <a:graphic>
          <a:graphicData uri="http://schemas.openxmlformats.org/drawingml/2006/table">
            <a:tbl>
              <a:tblPr>
                <a:noFill/>
                <a:tableStyleId>{7166708E-2272-4DE2-B27A-F621E8298771}</a:tableStyleId>
              </a:tblPr>
              <a:tblGrid>
                <a:gridCol w="359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Representation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Type of Exponential Function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 decay</a:t>
                      </a:r>
                      <a:endParaRPr sz="2000" dirty="0"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 growth</a:t>
                      </a:r>
                      <a:endParaRPr sz="20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Justification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80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10" name="Google Shape;4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550" y="1552785"/>
            <a:ext cx="21907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g104476d1465_1_17">
            <a:extLst>
              <a:ext uri="{FF2B5EF4-FFF2-40B4-BE49-F238E27FC236}">
                <a16:creationId xmlns:a16="http://schemas.microsoft.com/office/drawing/2014/main" id="{A35F4F79-5F8E-646A-8954-F7FBD729964C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>
            <a:extLst>
              <a:ext uri="{FF2B5EF4-FFF2-40B4-BE49-F238E27FC236}">
                <a16:creationId xmlns:a16="http://schemas.microsoft.com/office/drawing/2014/main" id="{6773C74C-C9A0-CEDC-FF65-395F4A2717FF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19" name="Google Shape;419;p25"/>
          <p:cNvSpPr txBox="1"/>
          <p:nvPr/>
        </p:nvSpPr>
        <p:spPr>
          <a:xfrm>
            <a:off x="843148" y="698876"/>
            <a:ext cx="94164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0" name="Google Shape;42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2432" y="802235"/>
            <a:ext cx="6985604" cy="552981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>
            <a:extLst>
              <a:ext uri="{FF2B5EF4-FFF2-40B4-BE49-F238E27FC236}">
                <a16:creationId xmlns:a16="http://schemas.microsoft.com/office/drawing/2014/main" id="{30F995F3-D0E1-0D60-276B-FB7B0D90F7CE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47F356BC-3C5A-1250-0903-291941163E70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9" name="Google Shape;429;p26"/>
          <p:cNvSpPr txBox="1"/>
          <p:nvPr/>
        </p:nvSpPr>
        <p:spPr>
          <a:xfrm>
            <a:off x="855023" y="766608"/>
            <a:ext cx="94045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430" name="Google Shape;430;p26"/>
          <p:cNvGraphicFramePr/>
          <p:nvPr>
            <p:extLst>
              <p:ext uri="{D42A27DB-BD31-4B8C-83A1-F6EECF244321}">
                <p14:modId xmlns:p14="http://schemas.microsoft.com/office/powerpoint/2010/main" val="8917011"/>
              </p:ext>
            </p:extLst>
          </p:nvPr>
        </p:nvGraphicFramePr>
        <p:xfrm>
          <a:off x="1932432" y="766608"/>
          <a:ext cx="6729100" cy="3896375"/>
        </p:xfrm>
        <a:graphic>
          <a:graphicData uri="http://schemas.openxmlformats.org/drawingml/2006/table">
            <a:tbl>
              <a:tblPr>
                <a:noFill/>
                <a:tableStyleId>{7166708E-2272-4DE2-B27A-F621E8298771}</a:tableStyleId>
              </a:tblPr>
              <a:tblGrid>
                <a:gridCol w="359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Representation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Type of Exponential Function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 decay</a:t>
                      </a:r>
                      <a:endParaRPr/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Char char="o"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Exponential growth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Justification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07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1" name="Google Shape;4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7975" y="1519456"/>
            <a:ext cx="17907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g104476d1465_1_17">
            <a:extLst>
              <a:ext uri="{FF2B5EF4-FFF2-40B4-BE49-F238E27FC236}">
                <a16:creationId xmlns:a16="http://schemas.microsoft.com/office/drawing/2014/main" id="{00C9E684-05E3-F1F4-4F61-CAB7AEDD4B87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>
            <a:extLst>
              <a:ext uri="{FF2B5EF4-FFF2-40B4-BE49-F238E27FC236}">
                <a16:creationId xmlns:a16="http://schemas.microsoft.com/office/drawing/2014/main" id="{A59C7270-3BC5-37A6-99C9-0472143E39F8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7"/>
          <p:cNvSpPr/>
          <p:nvPr/>
        </p:nvSpPr>
        <p:spPr>
          <a:xfrm>
            <a:off x="0" y="-17616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40" name="Google Shape;440;p27"/>
          <p:cNvSpPr txBox="1"/>
          <p:nvPr/>
        </p:nvSpPr>
        <p:spPr>
          <a:xfrm>
            <a:off x="843148" y="635978"/>
            <a:ext cx="94164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Font typeface="+mj-lt"/>
              <a:buAutoNum type="alphaLcPeriod" startAt="5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41" name="Google Shape;44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8207" y="521120"/>
            <a:ext cx="6136780" cy="61367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>
            <a:extLst>
              <a:ext uri="{FF2B5EF4-FFF2-40B4-BE49-F238E27FC236}">
                <a16:creationId xmlns:a16="http://schemas.microsoft.com/office/drawing/2014/main" id="{D90AEF1D-1AE1-8EA0-66A9-8B42FFD82701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0F63D9DA-5A04-498B-C38B-7B122B79A515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8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0" name="Google Shape;450;p28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1" name="Google Shape;45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>
            <a:extLst>
              <a:ext uri="{FF2B5EF4-FFF2-40B4-BE49-F238E27FC236}">
                <a16:creationId xmlns:a16="http://schemas.microsoft.com/office/drawing/2014/main" id="{392B2047-485A-74F0-1666-185929C7927B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>
            <a:extLst>
              <a:ext uri="{FF2B5EF4-FFF2-40B4-BE49-F238E27FC236}">
                <a16:creationId xmlns:a16="http://schemas.microsoft.com/office/drawing/2014/main" id="{2C593701-705D-7532-9EF5-BD4A0BA3D57A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"/>
          <p:cNvSpPr/>
          <p:nvPr/>
        </p:nvSpPr>
        <p:spPr>
          <a:xfrm>
            <a:off x="2168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60" name="Google Shape;460;p29"/>
          <p:cNvSpPr txBox="1"/>
          <p:nvPr/>
        </p:nvSpPr>
        <p:spPr>
          <a:xfrm>
            <a:off x="1472540" y="-70149"/>
            <a:ext cx="94290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11.1.6 Wrap-Up: Reflection</a:t>
            </a:r>
            <a:endParaRPr sz="44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61" name="Google Shape;46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754" y="196969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9"/>
          <p:cNvSpPr txBox="1"/>
          <p:nvPr/>
        </p:nvSpPr>
        <p:spPr>
          <a:xfrm>
            <a:off x="905893" y="1282638"/>
            <a:ext cx="942900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ct val="1000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Complete the table.</a:t>
            </a:r>
            <a:endParaRPr sz="1600" dirty="0"/>
          </a:p>
        </p:txBody>
      </p:sp>
      <p:graphicFrame>
        <p:nvGraphicFramePr>
          <p:cNvPr id="463" name="Google Shape;463;p29"/>
          <p:cNvGraphicFramePr/>
          <p:nvPr>
            <p:extLst>
              <p:ext uri="{D42A27DB-BD31-4B8C-83A1-F6EECF244321}">
                <p14:modId xmlns:p14="http://schemas.microsoft.com/office/powerpoint/2010/main" val="2574993087"/>
              </p:ext>
            </p:extLst>
          </p:nvPr>
        </p:nvGraphicFramePr>
        <p:xfrm>
          <a:off x="2015807" y="2086037"/>
          <a:ext cx="6964300" cy="4114562"/>
        </p:xfrm>
        <a:graphic>
          <a:graphicData uri="http://schemas.openxmlformats.org/drawingml/2006/table">
            <a:tbl>
              <a:tblPr>
                <a:noFill/>
                <a:tableStyleId>{7166708E-2272-4DE2-B27A-F621E8298771}</a:tableStyleId>
              </a:tblPr>
              <a:tblGrid>
                <a:gridCol w="234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92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terms and information used in the lesson that I knew were …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75" marR="380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Something I wondered during the lesson was …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75" marR="380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Something I learned during the lesson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was …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75" marR="380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75" marR="380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75" marR="380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38075" marR="380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125;g104476d1465_1_17">
            <a:extLst>
              <a:ext uri="{FF2B5EF4-FFF2-40B4-BE49-F238E27FC236}">
                <a16:creationId xmlns:a16="http://schemas.microsoft.com/office/drawing/2014/main" id="{2A9C3844-79CC-0DA2-FBD3-8A79EDBE66C3}"/>
              </a:ext>
            </a:extLst>
          </p:cNvPr>
          <p:cNvSpPr txBox="1"/>
          <p:nvPr/>
        </p:nvSpPr>
        <p:spPr>
          <a:xfrm>
            <a:off x="89865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>
            <a:extLst>
              <a:ext uri="{FF2B5EF4-FFF2-40B4-BE49-F238E27FC236}">
                <a16:creationId xmlns:a16="http://schemas.microsoft.com/office/drawing/2014/main" id="{AAA3EB48-8572-7C24-B722-6454ACDE22A6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051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773</Words>
  <Application>Microsoft Office PowerPoint</Application>
  <PresentationFormat>Widescreen</PresentationFormat>
  <Paragraphs>196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Calibri</vt:lpstr>
      <vt:lpstr>Arial Black</vt:lpstr>
      <vt:lpstr>Noto Sans Symbols</vt:lpstr>
      <vt:lpstr>Cambria Math</vt:lpstr>
      <vt:lpstr>Courier New</vt:lpstr>
      <vt:lpstr>Arial</vt:lpstr>
      <vt:lpstr>Cambria</vt:lpstr>
      <vt:lpstr>Verdana</vt:lpstr>
      <vt:lpstr>1_Office Theme</vt:lpstr>
      <vt:lpstr>Algebra 1  Unit 11, Lesson 1  Exploring Exponential Growth Versus Decay  Volume 2, pg. 155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1  Unit 11, Lesson 1  Exploring Exponential Growth Versus Decay  Volume 2, pg. 155</dc:title>
  <dc:creator>Karen McKenzie</dc:creator>
  <cp:lastModifiedBy>Natasha Dease</cp:lastModifiedBy>
  <cp:revision>5</cp:revision>
  <dcterms:created xsi:type="dcterms:W3CDTF">2015-03-17T18:51:18Z</dcterms:created>
  <dcterms:modified xsi:type="dcterms:W3CDTF">2022-06-29T12:51:10Z</dcterms:modified>
</cp:coreProperties>
</file>