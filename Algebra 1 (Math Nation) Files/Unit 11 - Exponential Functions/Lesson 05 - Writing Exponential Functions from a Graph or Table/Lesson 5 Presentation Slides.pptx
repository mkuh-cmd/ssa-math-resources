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Arial Black" panose="020B0A04020102020204" pitchFamily="34" charset="0"/>
      <p:regular r:id="rId23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jvmitbv6wtO4BPYK3GD6mT7GNj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97A14C-A1D0-4ABC-B46F-3829F4FC09D9}">
  <a:tblStyle styleId="{4B97A14C-A1D0-4ABC-B46F-3829F4FC09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81" d="100"/>
          <a:sy n="81" d="100"/>
        </p:scale>
        <p:origin x="82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5" name="Google Shape;30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8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5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Exponential Functions from a Graph or Table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181</a:t>
            </a:r>
            <a:endParaRPr sz="28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>
              <a:solidFill>
                <a:srgbClr val="417DBF"/>
              </a:solidFill>
            </a:endParaRPr>
          </a:p>
        </p:txBody>
      </p:sp>
      <p:sp>
        <p:nvSpPr>
          <p:cNvPr id="115" name="Google Shape;115;g104476d1465_0_0"/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762" y="1627632"/>
            <a:ext cx="3090582" cy="360273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2200" y="-13606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900" y="15313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068780" y="1327068"/>
            <a:ext cx="917962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525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2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MA.912.AR.5.4 </a:t>
            </a:r>
            <a:endParaRPr sz="2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0375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2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an exponential function to represent a relationship between two quantities from a graph, a written description, or a table of values within a mathematical or real-world context.</a:t>
            </a:r>
            <a:endParaRPr sz="1600" dirty="0"/>
          </a:p>
        </p:txBody>
      </p:sp>
      <p:sp>
        <p:nvSpPr>
          <p:cNvPr id="8" name="Google Shape;137;p1">
            <a:extLst>
              <a:ext uri="{FF2B5EF4-FFF2-40B4-BE49-F238E27FC236}">
                <a16:creationId xmlns:a16="http://schemas.microsoft.com/office/drawing/2014/main" id="{ECF18FFB-2177-DF1F-5B39-1F92E6B32B3F}"/>
              </a:ext>
            </a:extLst>
          </p:cNvPr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618" y="14963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35" name="Google Shape;135;p1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6" name="Google Shape;136;p1"/>
          <p:cNvSpPr txBox="1"/>
          <p:nvPr/>
        </p:nvSpPr>
        <p:spPr>
          <a:xfrm>
            <a:off x="1110793" y="0"/>
            <a:ext cx="10512726" cy="1197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 sz="1600" dirty="0"/>
          </a:p>
        </p:txBody>
      </p:sp>
      <p:sp>
        <p:nvSpPr>
          <p:cNvPr id="137" name="Google Shape;137;p1"/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098918" y="1299507"/>
            <a:ext cx="914948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sz="2000" dirty="0"/>
          </a:p>
          <a:p>
            <a:pPr marL="457200"/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sz="2000" dirty="0"/>
          </a:p>
          <a:p>
            <a:pPr marL="457200"/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sz="2000" dirty="0"/>
          </a:p>
          <a:p>
            <a:pPr marL="457200"/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sz="2000" dirty="0"/>
          </a:p>
          <a:p>
            <a:pPr marL="457200"/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sz="2000" dirty="0"/>
          </a:p>
          <a:p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sz="2000" dirty="0"/>
          </a:p>
          <a:p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5486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1104943" y="0"/>
            <a:ext cx="7958400" cy="109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5768" y="15360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898866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1104943" y="1337954"/>
            <a:ext cx="910585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SzPts val="2400"/>
              <a:buFont typeface="Noto Sans Symbols"/>
              <a:buChar char="❑"/>
            </a:pPr>
            <a:r>
              <a:rPr lang="en-US" sz="2800" dirty="0">
                <a:latin typeface="Verdana"/>
                <a:ea typeface="Verdana"/>
                <a:cs typeface="Verdana"/>
                <a:sym typeface="Verdana"/>
              </a:rPr>
              <a:t>I can write an exponential function from a graph.</a:t>
            </a:r>
            <a:endParaRPr sz="2800" dirty="0"/>
          </a:p>
          <a:p>
            <a:pPr marL="342900" indent="-342900">
              <a:buSzPts val="2400"/>
              <a:buFont typeface="Noto Sans Symbols"/>
              <a:buChar char="❑"/>
            </a:pPr>
            <a:endParaRPr lang="en-US" sz="2800" dirty="0"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>
              <a:buSzPts val="2400"/>
              <a:buFont typeface="Noto Sans Symbols"/>
              <a:buChar char="❑"/>
            </a:pPr>
            <a:r>
              <a:rPr lang="en-US" sz="2800" dirty="0">
                <a:latin typeface="Verdana"/>
                <a:ea typeface="Verdana"/>
                <a:cs typeface="Verdana"/>
                <a:sym typeface="Verdana"/>
              </a:rPr>
              <a:t>I can write an exponential function from a table. </a:t>
            </a:r>
            <a:endParaRPr sz="2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126;g104476d1465_1_17">
            <a:extLst>
              <a:ext uri="{FF2B5EF4-FFF2-40B4-BE49-F238E27FC236}">
                <a16:creationId xmlns:a16="http://schemas.microsoft.com/office/drawing/2014/main" id="{BBA25BF8-3CC0-1DFA-1091-0E010DB5C5EF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37;p1">
            <a:extLst>
              <a:ext uri="{FF2B5EF4-FFF2-40B4-BE49-F238E27FC236}">
                <a16:creationId xmlns:a16="http://schemas.microsoft.com/office/drawing/2014/main" id="{6E5EFE39-F2A6-0B30-F742-C4A5FA5D9F49}"/>
              </a:ext>
            </a:extLst>
          </p:cNvPr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>
            <a:extLst>
              <a:ext uri="{FF2B5EF4-FFF2-40B4-BE49-F238E27FC236}">
                <a16:creationId xmlns:a16="http://schemas.microsoft.com/office/drawing/2014/main" id="{41A93C47-FF54-11BE-DC0E-B09AC190C7C0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1508166" y="-8225"/>
            <a:ext cx="971401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11.5.1 Warm-Up: Growth Mindset</a:t>
            </a:r>
            <a:endParaRPr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1408" y="28097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0" name="Google Shape;170;p4"/>
          <p:cNvSpPr txBox="1"/>
          <p:nvPr/>
        </p:nvSpPr>
        <p:spPr>
          <a:xfrm>
            <a:off x="855022" y="1386025"/>
            <a:ext cx="10272157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ct val="1000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It’s crucial to create an environment where failure, errors, and mistakes are seen as a natural part of learning. Making that environment all starts with you; more specifically, your self-talk. 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47675">
              <a:buSzPct val="100000"/>
              <a:buFont typeface="Arial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When you make a mistake, what do you say to yourself? </a:t>
            </a:r>
          </a:p>
          <a:p>
            <a:pPr marL="914400" indent="-447675">
              <a:buSzPct val="100000"/>
              <a:buFont typeface="Arial"/>
              <a:buAutoNum type="alphaLcPeriod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47675">
              <a:buSzPct val="100000"/>
              <a:buFont typeface="Arial"/>
              <a:buAutoNum type="alphaLcPeriod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47675">
              <a:buSzPct val="100000"/>
              <a:buFont typeface="Arial"/>
              <a:buAutoNum type="alphaLcPeriod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447675">
              <a:buSzPct val="100000"/>
              <a:buFont typeface="Arial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Explain if what you say to yourself reflects a growth or fixed mindset.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37;p1">
            <a:extLst>
              <a:ext uri="{FF2B5EF4-FFF2-40B4-BE49-F238E27FC236}">
                <a16:creationId xmlns:a16="http://schemas.microsoft.com/office/drawing/2014/main" id="{7BA995DA-804B-15E6-D4F2-57D1A69E80DC}"/>
              </a:ext>
            </a:extLst>
          </p:cNvPr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>
            <a:extLst>
              <a:ext uri="{FF2B5EF4-FFF2-40B4-BE49-F238E27FC236}">
                <a16:creationId xmlns:a16="http://schemas.microsoft.com/office/drawing/2014/main" id="{B9CBC603-102A-BC76-EC27-92CB2D719702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9" name="Google Shape;17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37;p1">
            <a:extLst>
              <a:ext uri="{FF2B5EF4-FFF2-40B4-BE49-F238E27FC236}">
                <a16:creationId xmlns:a16="http://schemas.microsoft.com/office/drawing/2014/main" id="{047C3FCD-2C21-A021-79C9-11B25945900F}"/>
              </a:ext>
            </a:extLst>
          </p:cNvPr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>
            <a:extLst>
              <a:ext uri="{FF2B5EF4-FFF2-40B4-BE49-F238E27FC236}">
                <a16:creationId xmlns:a16="http://schemas.microsoft.com/office/drawing/2014/main" id="{4F44A0CF-406A-292A-7749-D73A65238B0F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1520042" y="37188"/>
            <a:ext cx="1010111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11.5.2 Guided Instruction: Writing an Exponential Function from Graphs and Tables</a:t>
            </a:r>
            <a:endParaRPr sz="32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9" name="Google Shape;18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5179" y="19921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1" name="Google Shape;191;p6"/>
          <p:cNvSpPr txBox="1"/>
          <p:nvPr/>
        </p:nvSpPr>
        <p:spPr>
          <a:xfrm>
            <a:off x="855022" y="1446985"/>
            <a:ext cx="953256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ct val="1000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The graph of an exponential function is shown. </a:t>
            </a:r>
            <a:endParaRPr sz="1600" dirty="0"/>
          </a:p>
        </p:txBody>
      </p:sp>
      <p:sp>
        <p:nvSpPr>
          <p:cNvPr id="192" name="Google Shape;192;p6"/>
          <p:cNvSpPr/>
          <p:nvPr/>
        </p:nvSpPr>
        <p:spPr>
          <a:xfrm>
            <a:off x="769687" y="2193725"/>
            <a:ext cx="5072314" cy="34114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961" b="-24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193" name="Google Shape;193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42000" y="1841853"/>
            <a:ext cx="4210976" cy="416210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37;p1">
            <a:extLst>
              <a:ext uri="{FF2B5EF4-FFF2-40B4-BE49-F238E27FC236}">
                <a16:creationId xmlns:a16="http://schemas.microsoft.com/office/drawing/2014/main" id="{C04B32AA-D9CB-4210-B1C2-EF95544706EC}"/>
              </a:ext>
            </a:extLst>
          </p:cNvPr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>
            <a:extLst>
              <a:ext uri="{FF2B5EF4-FFF2-40B4-BE49-F238E27FC236}">
                <a16:creationId xmlns:a16="http://schemas.microsoft.com/office/drawing/2014/main" id="{2809480C-0EDD-6174-5094-85ADEFDD6051}"/>
              </a:ext>
            </a:extLst>
          </p:cNvPr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02" name="Google Shape;202;p7"/>
          <p:cNvSpPr txBox="1"/>
          <p:nvPr/>
        </p:nvSpPr>
        <p:spPr>
          <a:xfrm>
            <a:off x="1187532" y="561876"/>
            <a:ext cx="9963398" cy="94823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58" t="-5171" b="-1465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203" name="Google Shape;20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8043" y="1913874"/>
            <a:ext cx="24892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/>
          <p:nvPr/>
        </p:nvSpPr>
        <p:spPr>
          <a:xfrm>
            <a:off x="5201920" y="1127760"/>
            <a:ext cx="477520" cy="23368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8" name="Google Shape;137;p1">
            <a:extLst>
              <a:ext uri="{FF2B5EF4-FFF2-40B4-BE49-F238E27FC236}">
                <a16:creationId xmlns:a16="http://schemas.microsoft.com/office/drawing/2014/main" id="{4D185B56-F45D-8403-7B0D-25678E6E952D}"/>
              </a:ext>
            </a:extLst>
          </p:cNvPr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>
            <a:extLst>
              <a:ext uri="{FF2B5EF4-FFF2-40B4-BE49-F238E27FC236}">
                <a16:creationId xmlns:a16="http://schemas.microsoft.com/office/drawing/2014/main" id="{1CE3B766-9AD7-BFFF-5997-C0312FB9C90C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13" name="Google Shape;213;p8"/>
          <p:cNvSpPr txBox="1"/>
          <p:nvPr/>
        </p:nvSpPr>
        <p:spPr>
          <a:xfrm>
            <a:off x="1175657" y="288746"/>
            <a:ext cx="9963398" cy="49363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53" t="-830" r="-155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214" name="Google Shape;21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0037" y="2857500"/>
            <a:ext cx="2819400" cy="1143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9831E6F8-5EEE-C76D-9C6A-AF37FD1102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1737558"/>
                  </p:ext>
                </p:extLst>
              </p:nvPr>
            </p:nvGraphicFramePr>
            <p:xfrm>
              <a:off x="3054338" y="4930263"/>
              <a:ext cx="5838066" cy="1822292"/>
            </p:xfrm>
            <a:graphic>
              <a:graphicData uri="http://schemas.openxmlformats.org/drawingml/2006/table">
                <a:tbl>
                  <a:tblPr firstRow="1" bandRow="1">
                    <a:tableStyleId>{4B97A14C-A1D0-4ABC-B46F-3829F4FC09D9}</a:tableStyleId>
                  </a:tblPr>
                  <a:tblGrid>
                    <a:gridCol w="2919033">
                      <a:extLst>
                        <a:ext uri="{9D8B030D-6E8A-4147-A177-3AD203B41FA5}">
                          <a16:colId xmlns:a16="http://schemas.microsoft.com/office/drawing/2014/main" val="2841508149"/>
                        </a:ext>
                      </a:extLst>
                    </a:gridCol>
                    <a:gridCol w="2919033">
                      <a:extLst>
                        <a:ext uri="{9D8B030D-6E8A-4147-A177-3AD203B41FA5}">
                          <a16:colId xmlns:a16="http://schemas.microsoft.com/office/drawing/2014/main" val="1374210686"/>
                        </a:ext>
                      </a:extLst>
                    </a:gridCol>
                  </a:tblGrid>
                  <a:tr h="680368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(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𝒃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𝒙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1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(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  <m:t>±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  <m:t>𝒓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𝒙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1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0962098"/>
                      </a:ext>
                    </a:extLst>
                  </a:tr>
                  <a:tr h="1141924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3194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9831E6F8-5EEE-C76D-9C6A-AF37FD1102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1737558"/>
                  </p:ext>
                </p:extLst>
              </p:nvPr>
            </p:nvGraphicFramePr>
            <p:xfrm>
              <a:off x="3054338" y="4930263"/>
              <a:ext cx="5838066" cy="1822292"/>
            </p:xfrm>
            <a:graphic>
              <a:graphicData uri="http://schemas.openxmlformats.org/drawingml/2006/table">
                <a:tbl>
                  <a:tblPr firstRow="1" bandRow="1">
                    <a:tableStyleId>{4B97A14C-A1D0-4ABC-B46F-3829F4FC09D9}</a:tableStyleId>
                  </a:tblPr>
                  <a:tblGrid>
                    <a:gridCol w="2919033">
                      <a:extLst>
                        <a:ext uri="{9D8B030D-6E8A-4147-A177-3AD203B41FA5}">
                          <a16:colId xmlns:a16="http://schemas.microsoft.com/office/drawing/2014/main" val="2841508149"/>
                        </a:ext>
                      </a:extLst>
                    </a:gridCol>
                    <a:gridCol w="2919033">
                      <a:extLst>
                        <a:ext uri="{9D8B030D-6E8A-4147-A177-3AD203B41FA5}">
                          <a16:colId xmlns:a16="http://schemas.microsoft.com/office/drawing/2014/main" val="1374210686"/>
                        </a:ext>
                      </a:extLst>
                    </a:gridCol>
                  </a:tblGrid>
                  <a:tr h="6803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18" t="-893" r="-100418" b="-169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418" t="-893" r="-418" b="-1696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0962098"/>
                      </a:ext>
                    </a:extLst>
                  </a:tr>
                  <a:tr h="1141924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3194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137;p1">
            <a:extLst>
              <a:ext uri="{FF2B5EF4-FFF2-40B4-BE49-F238E27FC236}">
                <a16:creationId xmlns:a16="http://schemas.microsoft.com/office/drawing/2014/main" id="{F7BA8827-EEA6-6186-3305-5B54FE4DA7E6}"/>
              </a:ext>
            </a:extLst>
          </p:cNvPr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>
            <a:extLst>
              <a:ext uri="{FF2B5EF4-FFF2-40B4-BE49-F238E27FC236}">
                <a16:creationId xmlns:a16="http://schemas.microsoft.com/office/drawing/2014/main" id="{86A9CA78-7288-62EC-ADAA-C1E57CCD7AC8}"/>
              </a:ext>
            </a:extLst>
          </p:cNvPr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26" name="Google Shape;226;p9"/>
          <p:cNvSpPr txBox="1"/>
          <p:nvPr/>
        </p:nvSpPr>
        <p:spPr>
          <a:xfrm>
            <a:off x="855023" y="289650"/>
            <a:ext cx="5759533" cy="378358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665" t="-1276" r="-3332" b="-276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1563915" y="4499812"/>
            <a:ext cx="9470571" cy="196608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871" t="-2611" b="-559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228" name="Google Shape;228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87003" y="219466"/>
            <a:ext cx="4035700" cy="407585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7;p1">
            <a:extLst>
              <a:ext uri="{FF2B5EF4-FFF2-40B4-BE49-F238E27FC236}">
                <a16:creationId xmlns:a16="http://schemas.microsoft.com/office/drawing/2014/main" id="{166D461B-A256-C5D5-8CB1-E3BBD7CE5A1C}"/>
              </a:ext>
            </a:extLst>
          </p:cNvPr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>
            <a:extLst>
              <a:ext uri="{FF2B5EF4-FFF2-40B4-BE49-F238E27FC236}">
                <a16:creationId xmlns:a16="http://schemas.microsoft.com/office/drawing/2014/main" id="{C0FA9B97-2E5D-B04D-6BAD-349674BC602E}"/>
              </a:ext>
            </a:extLst>
          </p:cNvPr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37" name="Google Shape;237;p10"/>
          <p:cNvSpPr txBox="1"/>
          <p:nvPr/>
        </p:nvSpPr>
        <p:spPr>
          <a:xfrm>
            <a:off x="1591291" y="654524"/>
            <a:ext cx="9072036" cy="34305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60" t="-1153" b="-269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6" name="Google Shape;137;p1">
            <a:extLst>
              <a:ext uri="{FF2B5EF4-FFF2-40B4-BE49-F238E27FC236}">
                <a16:creationId xmlns:a16="http://schemas.microsoft.com/office/drawing/2014/main" id="{61E3542E-889E-C30F-DDF2-819F1865A6D4}"/>
              </a:ext>
            </a:extLst>
          </p:cNvPr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>
            <a:extLst>
              <a:ext uri="{FF2B5EF4-FFF2-40B4-BE49-F238E27FC236}">
                <a16:creationId xmlns:a16="http://schemas.microsoft.com/office/drawing/2014/main" id="{2EE9232E-333F-8C8B-3894-F6BDE6AF3F21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46" name="Google Shape;246;p11"/>
          <p:cNvSpPr txBox="1"/>
          <p:nvPr/>
        </p:nvSpPr>
        <p:spPr>
          <a:xfrm>
            <a:off x="866899" y="288746"/>
            <a:ext cx="9392669" cy="143776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03" t="-2764" b="-737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1432957" y="4163467"/>
            <a:ext cx="9392669" cy="183357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858" t="-2611" b="-559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248" name="Google Shape;248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47729" y="1950592"/>
            <a:ext cx="8293100" cy="19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1"/>
          <p:cNvSpPr/>
          <p:nvPr/>
        </p:nvSpPr>
        <p:spPr>
          <a:xfrm>
            <a:off x="1619945" y="1844888"/>
            <a:ext cx="126887" cy="206150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0042622" y="1969016"/>
            <a:ext cx="126887" cy="206150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10" name="Google Shape;137;p1">
            <a:extLst>
              <a:ext uri="{FF2B5EF4-FFF2-40B4-BE49-F238E27FC236}">
                <a16:creationId xmlns:a16="http://schemas.microsoft.com/office/drawing/2014/main" id="{9D57908C-300D-CB8C-BD82-FB32922703A3}"/>
              </a:ext>
            </a:extLst>
          </p:cNvPr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>
            <a:extLst>
              <a:ext uri="{FF2B5EF4-FFF2-40B4-BE49-F238E27FC236}">
                <a16:creationId xmlns:a16="http://schemas.microsoft.com/office/drawing/2014/main" id="{5A4BFC9B-1354-0091-C3E6-9D9E6F65D3F6}"/>
              </a:ext>
            </a:extLst>
          </p:cNvPr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59" name="Google Shape;259;p12"/>
          <p:cNvSpPr txBox="1"/>
          <p:nvPr/>
        </p:nvSpPr>
        <p:spPr>
          <a:xfrm>
            <a:off x="1436914" y="573753"/>
            <a:ext cx="9322130" cy="124317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54" t="-3589" r="-621" b="-4969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6" name="Google Shape;137;p1">
            <a:extLst>
              <a:ext uri="{FF2B5EF4-FFF2-40B4-BE49-F238E27FC236}">
                <a16:creationId xmlns:a16="http://schemas.microsoft.com/office/drawing/2014/main" id="{9FA10A97-4372-D805-75A5-3E9FD14F737D}"/>
              </a:ext>
            </a:extLst>
          </p:cNvPr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>
            <a:extLst>
              <a:ext uri="{FF2B5EF4-FFF2-40B4-BE49-F238E27FC236}">
                <a16:creationId xmlns:a16="http://schemas.microsoft.com/office/drawing/2014/main" id="{B71EE4C9-9C58-92D2-8FF3-F13DC8EBE370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68" name="Google Shape;268;p13"/>
          <p:cNvSpPr txBox="1"/>
          <p:nvPr/>
        </p:nvSpPr>
        <p:spPr>
          <a:xfrm>
            <a:off x="831273" y="162686"/>
            <a:ext cx="10200904" cy="115799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03" t="-3590" b="-957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269" name="Google Shape;26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20698" y="1320675"/>
            <a:ext cx="5528936" cy="53746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37;p1">
            <a:extLst>
              <a:ext uri="{FF2B5EF4-FFF2-40B4-BE49-F238E27FC236}">
                <a16:creationId xmlns:a16="http://schemas.microsoft.com/office/drawing/2014/main" id="{6F5D4C22-DD4A-937F-C01D-B208C0B77F6E}"/>
              </a:ext>
            </a:extLst>
          </p:cNvPr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>
            <a:extLst>
              <a:ext uri="{FF2B5EF4-FFF2-40B4-BE49-F238E27FC236}">
                <a16:creationId xmlns:a16="http://schemas.microsoft.com/office/drawing/2014/main" id="{8CFCBE3A-9BC2-6EEC-A915-C1B881B8E4CF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"/>
          <p:cNvSpPr/>
          <p:nvPr/>
        </p:nvSpPr>
        <p:spPr>
          <a:xfrm>
            <a:off x="0" y="-23750"/>
            <a:ext cx="2731200" cy="68707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77" name="Google Shape;277;p14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9" name="Google Shape;279;p14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37;p1">
            <a:extLst>
              <a:ext uri="{FF2B5EF4-FFF2-40B4-BE49-F238E27FC236}">
                <a16:creationId xmlns:a16="http://schemas.microsoft.com/office/drawing/2014/main" id="{2BB3CA69-6641-E09A-6496-842F8042380E}"/>
              </a:ext>
            </a:extLst>
          </p:cNvPr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>
            <a:extLst>
              <a:ext uri="{FF2B5EF4-FFF2-40B4-BE49-F238E27FC236}">
                <a16:creationId xmlns:a16="http://schemas.microsoft.com/office/drawing/2014/main" id="{21552F39-E098-2546-7F27-AC2900533C8C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87" name="Google Shape;287;p15"/>
          <p:cNvSpPr txBox="1"/>
          <p:nvPr/>
        </p:nvSpPr>
        <p:spPr>
          <a:xfrm>
            <a:off x="1531916" y="0"/>
            <a:ext cx="963088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11.5.3 Guided Practice: Writing Exponential Functions</a:t>
            </a:r>
            <a:endParaRPr sz="36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9" name="Google Shape;289;p15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01" y="231151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90" name="Google Shape;290;p15"/>
          <p:cNvSpPr txBox="1"/>
          <p:nvPr/>
        </p:nvSpPr>
        <p:spPr>
          <a:xfrm>
            <a:off x="843148" y="1386026"/>
            <a:ext cx="472326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ct val="1000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Write the exponential function for each graph. </a:t>
            </a:r>
            <a:endParaRPr sz="1600" dirty="0"/>
          </a:p>
        </p:txBody>
      </p:sp>
      <p:pic>
        <p:nvPicPr>
          <p:cNvPr id="291" name="Google Shape;29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88284" y="1374575"/>
            <a:ext cx="4569827" cy="528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37;p1">
            <a:extLst>
              <a:ext uri="{FF2B5EF4-FFF2-40B4-BE49-F238E27FC236}">
                <a16:creationId xmlns:a16="http://schemas.microsoft.com/office/drawing/2014/main" id="{501F5641-8783-A1AC-7D08-E5E9D085A65F}"/>
              </a:ext>
            </a:extLst>
          </p:cNvPr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>
            <a:extLst>
              <a:ext uri="{FF2B5EF4-FFF2-40B4-BE49-F238E27FC236}">
                <a16:creationId xmlns:a16="http://schemas.microsoft.com/office/drawing/2014/main" id="{21331C8D-A10A-8D4D-1CD4-F66F66BA0C57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900093" y="386281"/>
            <a:ext cx="464568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ct val="100000"/>
              <a:buFont typeface="Arial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Write an exponential function for each table of values.</a:t>
            </a:r>
            <a:endParaRPr sz="1600" dirty="0"/>
          </a:p>
        </p:txBody>
      </p:sp>
      <p:pic>
        <p:nvPicPr>
          <p:cNvPr id="301" name="Google Shape;30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1986" y="258030"/>
            <a:ext cx="5275580" cy="622120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37;p1">
            <a:extLst>
              <a:ext uri="{FF2B5EF4-FFF2-40B4-BE49-F238E27FC236}">
                <a16:creationId xmlns:a16="http://schemas.microsoft.com/office/drawing/2014/main" id="{B0BBE0DB-409D-0D76-7F28-BA5148DABD0F}"/>
              </a:ext>
            </a:extLst>
          </p:cNvPr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>
            <a:extLst>
              <a:ext uri="{FF2B5EF4-FFF2-40B4-BE49-F238E27FC236}">
                <a16:creationId xmlns:a16="http://schemas.microsoft.com/office/drawing/2014/main" id="{4B03EA65-3389-0CB4-62CE-658CB843A5A0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10" name="Google Shape;310;p17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1" name="Google Shape;31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37;p1">
            <a:extLst>
              <a:ext uri="{FF2B5EF4-FFF2-40B4-BE49-F238E27FC236}">
                <a16:creationId xmlns:a16="http://schemas.microsoft.com/office/drawing/2014/main" id="{ECA5915F-2145-EE70-601F-B8E9211E32D9}"/>
              </a:ext>
            </a:extLst>
          </p:cNvPr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>
            <a:extLst>
              <a:ext uri="{FF2B5EF4-FFF2-40B4-BE49-F238E27FC236}">
                <a16:creationId xmlns:a16="http://schemas.microsoft.com/office/drawing/2014/main" id="{823E80A4-39A5-307A-1509-A405172E7EEE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20" name="Google Shape;320;p18"/>
          <p:cNvSpPr txBox="1"/>
          <p:nvPr/>
        </p:nvSpPr>
        <p:spPr>
          <a:xfrm>
            <a:off x="1389413" y="27830"/>
            <a:ext cx="1065216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11.5.4 Wrap-Up: Ticket Out the Door</a:t>
            </a:r>
            <a:endParaRPr sz="40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21" name="Google Shape;3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8318" y="22202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8"/>
          <p:cNvSpPr txBox="1"/>
          <p:nvPr/>
        </p:nvSpPr>
        <p:spPr>
          <a:xfrm>
            <a:off x="831273" y="1353530"/>
            <a:ext cx="1052153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ct val="1000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Write the exponential function represented by the graph and the exponential function represented in the table of values.  </a:t>
            </a:r>
            <a:endParaRPr sz="1600" dirty="0"/>
          </a:p>
        </p:txBody>
      </p:sp>
      <p:pic>
        <p:nvPicPr>
          <p:cNvPr id="323" name="Google Shape;323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31042" y="2159704"/>
            <a:ext cx="5992994" cy="467046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37;p1">
            <a:extLst>
              <a:ext uri="{FF2B5EF4-FFF2-40B4-BE49-F238E27FC236}">
                <a16:creationId xmlns:a16="http://schemas.microsoft.com/office/drawing/2014/main" id="{B3E74426-7E85-9D50-66E4-D3F80DBCB751}"/>
              </a:ext>
            </a:extLst>
          </p:cNvPr>
          <p:cNvSpPr txBox="1"/>
          <p:nvPr/>
        </p:nvSpPr>
        <p:spPr>
          <a:xfrm>
            <a:off x="8989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>
            <a:extLst>
              <a:ext uri="{FF2B5EF4-FFF2-40B4-BE49-F238E27FC236}">
                <a16:creationId xmlns:a16="http://schemas.microsoft.com/office/drawing/2014/main" id="{733C3C89-1647-7842-E8CA-93DFC8C85164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09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505</Words>
  <Application>Microsoft Office PowerPoint</Application>
  <PresentationFormat>Widescreen</PresentationFormat>
  <Paragraphs>92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Verdana</vt:lpstr>
      <vt:lpstr>Calibri</vt:lpstr>
      <vt:lpstr>Arial Black</vt:lpstr>
      <vt:lpstr>Cambria Math</vt:lpstr>
      <vt:lpstr>Arial</vt:lpstr>
      <vt:lpstr>Noto Sans Symbols</vt:lpstr>
      <vt:lpstr>1_Office Theme</vt:lpstr>
      <vt:lpstr>Algebra 1  Unit 11, Lesson 5  Writing Exponential Functions from a Graph or Table  Volume 2, pg. 181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1  Unit 11, Lesson 5  Writing Exponential Functions from a Graph or Table  Volume 2, pg. 181</dc:title>
  <dc:creator>Karen McKenzie</dc:creator>
  <cp:lastModifiedBy>Natasha Dease</cp:lastModifiedBy>
  <cp:revision>4</cp:revision>
  <dcterms:created xsi:type="dcterms:W3CDTF">2015-03-17T18:51:18Z</dcterms:created>
  <dcterms:modified xsi:type="dcterms:W3CDTF">2022-06-29T19:53:12Z</dcterms:modified>
</cp:coreProperties>
</file>