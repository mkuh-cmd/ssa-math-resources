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311" r:id="rId9"/>
    <p:sldId id="312" r:id="rId10"/>
    <p:sldId id="333" r:id="rId11"/>
    <p:sldId id="342" r:id="rId12"/>
    <p:sldId id="343" r:id="rId13"/>
    <p:sldId id="344" r:id="rId14"/>
    <p:sldId id="345" r:id="rId15"/>
    <p:sldId id="346" r:id="rId16"/>
    <p:sldId id="289" r:id="rId17"/>
    <p:sldId id="290" r:id="rId18"/>
    <p:sldId id="336" r:id="rId19"/>
    <p:sldId id="347" r:id="rId20"/>
    <p:sldId id="348" r:id="rId21"/>
    <p:sldId id="323" r:id="rId22"/>
    <p:sldId id="324" r:id="rId23"/>
    <p:sldId id="337" r:id="rId24"/>
    <p:sldId id="302" r:id="rId25"/>
    <p:sldId id="303" r:id="rId26"/>
    <p:sldId id="306" r:id="rId27"/>
    <p:sldId id="307"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926" autoAdjust="0"/>
    <p:restoredTop sz="94695"/>
  </p:normalViewPr>
  <p:slideViewPr>
    <p:cSldViewPr snapToGrid="0">
      <p:cViewPr varScale="1">
        <p:scale>
          <a:sx n="84" d="100"/>
          <a:sy n="84" d="100"/>
        </p:scale>
        <p:origin x="192" y="7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55" Type="http://customschemas.google.com/relationships/presentationmetadata" Target="metadata"/><Relationship Id="rId56" Type="http://schemas.openxmlformats.org/officeDocument/2006/relationships/presProps" Target="presProps.xml"/><Relationship Id="rId57"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9" Type="http://schemas.openxmlformats.org/officeDocument/2006/relationships/slide" Target="slides/slide8.xml"/><Relationship Id="rId7" Type="http://schemas.openxmlformats.org/officeDocument/2006/relationships/slide" Target="slides/slide6.xml"/><Relationship Id="rId8" Type="http://schemas.openxmlformats.org/officeDocument/2006/relationships/slide" Target="slides/slide7.xml"/><Relationship Id="rId58" Type="http://schemas.openxmlformats.org/officeDocument/2006/relationships/theme" Target="theme/theme1.xml"/><Relationship Id="rId5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19512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729398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48273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395207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4108123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3947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360831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0.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4.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6.png"/><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82938" y="-9144"/>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Factoring and the Distributive Property</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357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5815"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357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047850" y="1600200"/>
            <a:ext cx="978244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MA.912.AR.1.7</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Rewrite a polynomial expression as a product of polynomials over the real number system. </a:t>
            </a:r>
          </a:p>
          <a:p>
            <a:pPr indent="0">
              <a:buNone/>
            </a:pP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200"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1262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357</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068779" y="1596390"/>
            <a:ext cx="959526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endParaRPr lang="en-US" sz="1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9" name="Google Shape;283;g104476d1465_1_17">
            <a:extLst>
              <a:ext uri="{FF2B5EF4-FFF2-40B4-BE49-F238E27FC236}">
                <a16:creationId xmlns:a16="http://schemas.microsoft.com/office/drawing/2014/main" xmlns="" id="{A7E36D93-782F-7DF3-9912-3D487979E36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070643"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288481"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070642" y="1600200"/>
            <a:ext cx="960527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rewrite a polynomial using the distributive property by factoring out a common factor.</a:t>
            </a:r>
          </a:p>
          <a:p>
            <a:pPr marL="457200" indent="-45720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determine the greatest common monomial factor.</a:t>
            </a:r>
          </a:p>
          <a:p>
            <a:pPr marL="457200" indent="-450850">
              <a:buClr>
                <a:srgbClr val="434343"/>
              </a:buClr>
              <a:buSzPts val="3500"/>
              <a:buFont typeface="Verdana"/>
              <a:buChar char="❏"/>
            </a:pPr>
            <a:endParaRPr lang="en-US" sz="3500" dirty="0">
              <a:solidFill>
                <a:schemeClr val="tx1"/>
              </a:solidFill>
              <a:latin typeface="Verdana"/>
              <a:ea typeface="Verdana"/>
              <a:cs typeface="Verdana"/>
              <a:sym typeface="Verdana"/>
            </a:endParaRPr>
          </a:p>
        </p:txBody>
      </p:sp>
      <p:pic>
        <p:nvPicPr>
          <p:cNvPr id="8" name="Google Shape;283;g104476d1465_1_17">
            <a:extLst>
              <a:ext uri="{FF2B5EF4-FFF2-40B4-BE49-F238E27FC236}">
                <a16:creationId xmlns:a16="http://schemas.microsoft.com/office/drawing/2014/main" xmlns="" id="{00545F48-4458-34C3-3655-471001302DD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02A70EE1-224C-797F-97A3-C108A2761FEE}"/>
              </a:ext>
            </a:extLst>
          </p:cNvPr>
          <p:cNvSpPr txBox="1"/>
          <p:nvPr/>
        </p:nvSpPr>
        <p:spPr>
          <a:xfrm>
            <a:off x="881262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357</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87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133528"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4232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D0B87696-D4DC-D244-CFE2-389070D52CBB}"/>
              </a:ext>
            </a:extLst>
          </p:cNvPr>
          <p:cNvSpPr txBox="1"/>
          <p:nvPr/>
        </p:nvSpPr>
        <p:spPr>
          <a:xfrm>
            <a:off x="881262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357</a:t>
            </a:r>
          </a:p>
        </p:txBody>
      </p:sp>
      <p:pic>
        <p:nvPicPr>
          <p:cNvPr id="9" name="Google Shape;283;g104476d1465_1_17">
            <a:extLst>
              <a:ext uri="{FF2B5EF4-FFF2-40B4-BE49-F238E27FC236}">
                <a16:creationId xmlns:a16="http://schemas.microsoft.com/office/drawing/2014/main" xmlns="" id="{2BE758BD-99BE-0CDC-F356-D5A9BBF8020D}"/>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09918" y="60325"/>
            <a:ext cx="1043670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7.1.1 Warm-Up: Electric Motorcycle Engineer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262618"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357</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855022" y="1386026"/>
            <a:ext cx="10284033" cy="437042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Marc </a:t>
            </a:r>
            <a:r>
              <a:rPr lang="en-US" sz="2400" dirty="0" err="1">
                <a:latin typeface="Verdana" panose="020B0604030504040204" pitchFamily="34" charset="0"/>
                <a:ea typeface="Verdana" panose="020B0604030504040204" pitchFamily="34" charset="0"/>
                <a:cs typeface="Verdana" panose="020B0604030504040204" pitchFamily="34" charset="0"/>
              </a:rPr>
              <a:t>Fenigstein</a:t>
            </a:r>
            <a:r>
              <a:rPr lang="en-US" sz="2400" dirty="0">
                <a:latin typeface="Verdana" panose="020B0604030504040204" pitchFamily="34" charset="0"/>
                <a:ea typeface="Verdana" panose="020B0604030504040204" pitchFamily="34" charset="0"/>
                <a:cs typeface="Verdana" panose="020B0604030504040204" pitchFamily="34" charset="0"/>
              </a:rPr>
              <a:t> says, “Open-ended problems are the problems students will face in the real world … Forcing students to learn how to function in ambiguity and find their own answers … and that there isn’t necessarily any one right answer, but there might be better or worse answers … I think that is really valuable. Don’t be afraid to find your own path … You’re not going to get it right on the first try, but you can make almost any job your dream job by looking for opportunities to do more, to go beyond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stands out to you the most in this statement? </a:t>
            </a:r>
          </a:p>
          <a:p>
            <a:pPr lvl="0"/>
            <a:endParaRPr lang="en-US" sz="1600" dirty="0"/>
          </a:p>
        </p:txBody>
      </p:sp>
      <p:sp>
        <p:nvSpPr>
          <p:cNvPr id="9" name="Google Shape;278;g104476d1465_1_17">
            <a:extLst>
              <a:ext uri="{FF2B5EF4-FFF2-40B4-BE49-F238E27FC236}">
                <a16:creationId xmlns:a16="http://schemas.microsoft.com/office/drawing/2014/main" xmlns="" id="{F1992A8F-F621-054D-B71E-96605FF7377D}"/>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43147" y="520393"/>
            <a:ext cx="10284032" cy="461665"/>
          </a:xfrm>
          <a:prstGeom prst="rect">
            <a:avLst/>
          </a:prstGeom>
          <a:noFill/>
        </p:spPr>
        <p:txBody>
          <a:bodyPr wrap="square" rtlCol="0">
            <a:spAutoFit/>
          </a:bodyPr>
          <a:lstStyle/>
          <a:p>
            <a:pPr marL="914400" indent="-44926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Why does that part of the statement stand out to you? </a:t>
            </a:r>
          </a:p>
        </p:txBody>
      </p:sp>
      <p:sp>
        <p:nvSpPr>
          <p:cNvPr id="6" name="Google Shape;278;g104476d1465_1_17">
            <a:extLst>
              <a:ext uri="{FF2B5EF4-FFF2-40B4-BE49-F238E27FC236}">
                <a16:creationId xmlns:a16="http://schemas.microsoft.com/office/drawing/2014/main" xmlns="" id="{15F1D98C-071D-7E4F-AC26-9D72783C5693}"/>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8" name="Google Shape;283;g104476d1465_1_17">
            <a:extLst>
              <a:ext uri="{FF2B5EF4-FFF2-40B4-BE49-F238E27FC236}">
                <a16:creationId xmlns:a16="http://schemas.microsoft.com/office/drawing/2014/main" xmlns="" id="{6130C116-2859-5CFC-3B97-D327E8C7FB9F}"/>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0178B563-0DF8-0BD0-0EB8-58E95EED331B}"/>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357</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87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269176"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055776"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282;g104476d1465_1_17">
            <a:extLst>
              <a:ext uri="{FF2B5EF4-FFF2-40B4-BE49-F238E27FC236}">
                <a16:creationId xmlns:a16="http://schemas.microsoft.com/office/drawing/2014/main" xmlns="" id="{B41D70EF-F0FE-2039-6269-129BB4D9DF53}"/>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358</a:t>
            </a:r>
          </a:p>
        </p:txBody>
      </p:sp>
      <p:pic>
        <p:nvPicPr>
          <p:cNvPr id="10" name="Google Shape;283;g104476d1465_1_17">
            <a:extLst>
              <a:ext uri="{FF2B5EF4-FFF2-40B4-BE49-F238E27FC236}">
                <a16:creationId xmlns:a16="http://schemas.microsoft.com/office/drawing/2014/main" xmlns="" id="{9178A653-2B28-1767-8D20-A11B89130F80}"/>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1"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09917" y="60325"/>
            <a:ext cx="1075852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7.1.2 Exploration: The Distributive Property in Factoring</a:t>
            </a: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3620"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152D1D4D-DCB8-A246-B186-D40316579D77}"/>
                  </a:ext>
                </a:extLst>
              </p:cNvPr>
              <p:cNvSpPr txBox="1"/>
              <p:nvPr/>
            </p:nvSpPr>
            <p:spPr>
              <a:xfrm>
                <a:off x="843147" y="1386025"/>
                <a:ext cx="10338935"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Multiply </a:t>
                </a:r>
                <a14:m>
                  <m:oMath xmlns:m="http://schemas.openxmlformats.org/officeDocument/2006/math">
                    <m:r>
                      <a:rPr lang="en-US" sz="2400" i="1">
                        <a:latin typeface="Cambria Math" panose="02040503050406030204" pitchFamily="18" charset="0"/>
                        <a:ea typeface="Cambria Math" panose="02040503050406030204" pitchFamily="18" charset="0"/>
                      </a:rPr>
                      <m:t>9</m:t>
                    </m:r>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10+6</m:t>
                        </m:r>
                      </m:e>
                    </m:d>
                  </m:oMath>
                </a14:m>
                <a:r>
                  <a:rPr lang="en-US" sz="2400" dirty="0">
                    <a:latin typeface="Verdana" panose="020B0604030504040204" pitchFamily="34" charset="0"/>
                    <a:ea typeface="Verdana" panose="020B0604030504040204" pitchFamily="34" charset="0"/>
                    <a:cs typeface="Verdana" panose="020B0604030504040204" pitchFamily="34" charset="0"/>
                  </a:rPr>
                  <a:t> using the distributive property.</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a:t>
                </a:r>
                <a14:m>
                  <m:oMath xmlns:m="http://schemas.openxmlformats.org/officeDocument/2006/math">
                    <m:r>
                      <a:rPr lang="en-US" sz="2400" i="1">
                        <a:latin typeface="Cambria Math" panose="02040503050406030204" pitchFamily="18" charset="0"/>
                        <a:ea typeface="Cambria Math" panose="02040503050406030204" pitchFamily="18" charset="0"/>
                      </a:rPr>
                      <m:t>9</m:t>
                    </m:r>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10+6</m:t>
                        </m:r>
                      </m:e>
                    </m:d>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shows that </a:t>
                </a:r>
                <a14:m>
                  <m:oMath xmlns:m="http://schemas.openxmlformats.org/officeDocument/2006/math">
                    <m:r>
                      <a:rPr lang="en-US" sz="2400" i="1">
                        <a:latin typeface="Cambria Math" panose="02040503050406030204" pitchFamily="18" charset="0"/>
                        <a:ea typeface="Cambria Math" panose="02040503050406030204" pitchFamily="18" charset="0"/>
                      </a:rPr>
                      <m:t>9</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ea typeface="Cambria Math" panose="02040503050406030204" pitchFamily="18" charset="0"/>
                      </a:rPr>
                      <m:t>16</m:t>
                    </m:r>
                  </m:oMath>
                </a14:m>
                <a:r>
                  <a:rPr lang="en-US" sz="2400" dirty="0">
                    <a:latin typeface="Verdana" panose="020B0604030504040204" pitchFamily="34" charset="0"/>
                    <a:ea typeface="Verdana" panose="020B0604030504040204" pitchFamily="34" charset="0"/>
                    <a:cs typeface="Verdana" panose="020B0604030504040204" pitchFamily="34" charset="0"/>
                  </a:rPr>
                  <a:t> are factors of </a:t>
                </a:r>
                <a14:m>
                  <m:oMath xmlns:m="http://schemas.openxmlformats.org/officeDocument/2006/math">
                    <m:r>
                      <a:rPr lang="en-US" sz="2400" i="1">
                        <a:latin typeface="Cambria Math" panose="02040503050406030204" pitchFamily="18" charset="0"/>
                        <a:ea typeface="Cambria Math" panose="02040503050406030204" pitchFamily="18" charset="0"/>
                      </a:rPr>
                      <m:t>144</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multiplying </a:t>
                </a:r>
                <a14:m>
                  <m:oMath xmlns:m="http://schemas.openxmlformats.org/officeDocument/2006/math">
                    <m:r>
                      <a:rPr lang="en-US" sz="2400" i="1">
                        <a:latin typeface="Cambria Math" panose="02040503050406030204" pitchFamily="18" charset="0"/>
                        <a:ea typeface="Cambria Math" panose="02040503050406030204" pitchFamily="18" charset="0"/>
                      </a:rPr>
                      <m:t>8(287)</m:t>
                    </m:r>
                  </m:oMath>
                </a14:m>
                <a:r>
                  <a:rPr lang="en-US" sz="2400" dirty="0">
                    <a:latin typeface="Verdana" panose="020B0604030504040204" pitchFamily="34" charset="0"/>
                    <a:ea typeface="Verdana" panose="020B0604030504040204" pitchFamily="34" charset="0"/>
                    <a:cs typeface="Verdana" panose="020B0604030504040204" pitchFamily="34" charset="0"/>
                  </a:rPr>
                  <a:t> can be done more easily using the distributive property. Explain or show your work.</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843147" y="1386025"/>
                <a:ext cx="10338935" cy="4524315"/>
              </a:xfrm>
              <a:prstGeom prst="rect">
                <a:avLst/>
              </a:prstGeom>
              <a:blipFill>
                <a:blip r:embed="rId5"/>
                <a:stretch>
                  <a:fillRect l="-884" t="-1211" r="-59" b="-2019"/>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xmlns="" id="{D672544D-2ABA-1343-B9BB-B0296BB0511F}"/>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1" name="Google Shape;282;g104476d1465_1_17">
            <a:extLst>
              <a:ext uri="{FF2B5EF4-FFF2-40B4-BE49-F238E27FC236}">
                <a16:creationId xmlns:a16="http://schemas.microsoft.com/office/drawing/2014/main" xmlns="" id="{52529ADC-8D32-1E2B-E481-328A0F2F3EC9}"/>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358</a:t>
            </a:r>
          </a:p>
        </p:txBody>
      </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31273" y="520393"/>
                <a:ext cx="10307782" cy="830997"/>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Rewrite the expression </a:t>
                </a:r>
                <a14:m>
                  <m:oMath xmlns:m="http://schemas.openxmlformats.org/officeDocument/2006/math">
                    <m:r>
                      <a:rPr lang="en-US" sz="2400" i="1">
                        <a:latin typeface="Cambria Math" panose="02040503050406030204" pitchFamily="18" charset="0"/>
                        <a:ea typeface="Cambria Math" panose="02040503050406030204" pitchFamily="18" charset="0"/>
                      </a:rPr>
                      <m:t>−7</m:t>
                    </m:r>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−5</m:t>
                        </m:r>
                      </m:e>
                    </m:d>
                    <m:r>
                      <a:rPr lang="en-US" sz="2400" i="1">
                        <a:latin typeface="Cambria Math" panose="02040503050406030204" pitchFamily="18" charset="0"/>
                        <a:ea typeface="Cambria Math" panose="02040503050406030204" pitchFamily="18"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using the distributive property.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31273" y="520393"/>
                <a:ext cx="10307782" cy="830997"/>
              </a:xfrm>
              <a:prstGeom prst="rect">
                <a:avLst/>
              </a:prstGeom>
              <a:blipFill>
                <a:blip r:embed="rId3"/>
                <a:stretch>
                  <a:fillRect l="-887" t="-6569" b="-1532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6760BDC3-AF44-C94E-BD05-E61FF805DD32}"/>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7" name="Google Shape;283;g104476d1465_1_17">
            <a:extLst>
              <a:ext uri="{FF2B5EF4-FFF2-40B4-BE49-F238E27FC236}">
                <a16:creationId xmlns:a16="http://schemas.microsoft.com/office/drawing/2014/main" xmlns="" id="{5219ED6D-CB02-5A8E-7D2F-E8527318072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83A47DFE-669E-9DEF-BE74-A0A18AE2CDF5}"/>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358</a:t>
            </a:r>
          </a:p>
        </p:txBody>
      </p:sp>
    </p:spTree>
    <p:extLst>
      <p:ext uri="{BB962C8B-B14F-4D97-AF65-F5344CB8AC3E}">
        <p14:creationId xmlns:p14="http://schemas.microsoft.com/office/powerpoint/2010/main" val="155251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43147" y="520393"/>
            <a:ext cx="10260281" cy="461665"/>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p:sp>
        <p:nvSpPr>
          <p:cNvPr id="6" name="Google Shape;278;g104476d1465_1_17">
            <a:extLst>
              <a:ext uri="{FF2B5EF4-FFF2-40B4-BE49-F238E27FC236}">
                <a16:creationId xmlns:a16="http://schemas.microsoft.com/office/drawing/2014/main" xmlns="" id="{6760BDC3-AF44-C94E-BD05-E61FF805DD32}"/>
              </a:ext>
            </a:extLst>
          </p:cNvPr>
          <p:cNvSpPr/>
          <p:nvPr/>
        </p:nvSpPr>
        <p:spPr>
          <a:xfrm>
            <a:off x="7631"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3B371DD8-213F-3E44-A4E4-186B6E5013C5}"/>
                  </a:ext>
                </a:extLst>
              </p:cNvPr>
              <p:cNvGraphicFramePr>
                <a:graphicFrameLocks noGrp="1"/>
              </p:cNvGraphicFramePr>
              <p:nvPr>
                <p:extLst>
                  <p:ext uri="{D42A27DB-BD31-4B8C-83A1-F6EECF244321}">
                    <p14:modId xmlns:p14="http://schemas.microsoft.com/office/powerpoint/2010/main" val="1599526503"/>
                  </p:ext>
                </p:extLst>
              </p:nvPr>
            </p:nvGraphicFramePr>
            <p:xfrm>
              <a:off x="1246359" y="1265444"/>
              <a:ext cx="7396116" cy="4908844"/>
            </p:xfrm>
            <a:graphic>
              <a:graphicData uri="http://schemas.openxmlformats.org/drawingml/2006/table">
                <a:tbl>
                  <a:tblPr firstRow="1" firstCol="1" bandRow="1">
                    <a:tableStyleId>{A91F0D33-8C57-4600-99A7-42BC86742BE1}</a:tableStyleId>
                  </a:tblPr>
                  <a:tblGrid>
                    <a:gridCol w="2489659">
                      <a:extLst>
                        <a:ext uri="{9D8B030D-6E8A-4147-A177-3AD203B41FA5}">
                          <a16:colId xmlns:a16="http://schemas.microsoft.com/office/drawing/2014/main" xmlns="" val="3548912405"/>
                        </a:ext>
                      </a:extLst>
                    </a:gridCol>
                    <a:gridCol w="2447042">
                      <a:extLst>
                        <a:ext uri="{9D8B030D-6E8A-4147-A177-3AD203B41FA5}">
                          <a16:colId xmlns:a16="http://schemas.microsoft.com/office/drawing/2014/main" xmlns="" val="742405730"/>
                        </a:ext>
                      </a:extLst>
                    </a:gridCol>
                    <a:gridCol w="2459415">
                      <a:extLst>
                        <a:ext uri="{9D8B030D-6E8A-4147-A177-3AD203B41FA5}">
                          <a16:colId xmlns:a16="http://schemas.microsoft.com/office/drawing/2014/main" xmlns="" val="740505251"/>
                        </a:ext>
                      </a:extLst>
                    </a:gridCol>
                  </a:tblGrid>
                  <a:tr h="621056">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Product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937728325"/>
                      </a:ext>
                    </a:extLst>
                  </a:tr>
                  <a:tr h="621056">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m:t>
                                </m:r>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10+6</m:t>
                                    </m:r>
                                  </m:e>
                                </m:d>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9</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and</a:t>
                          </a: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16</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144</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92562324"/>
                      </a:ext>
                    </a:extLst>
                  </a:tr>
                  <a:tr h="601188">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m:t>
                                </m:r>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−5</m:t>
                                    </m:r>
                                  </m:e>
                                </m:d>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−7</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and</a:t>
                          </a: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−5</m:t>
                              </m:r>
                            </m:oMath>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2857050"/>
                      </a:ext>
                    </a:extLst>
                  </a:tr>
                  <a:tr h="621056">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8−4</m:t>
                                    </m:r>
                                    <m:r>
                                      <a:rPr lang="en-US" sz="2000">
                                        <a:effectLst/>
                                        <a:latin typeface="Cambria Math" panose="02040503050406030204" pitchFamily="18" charset="0"/>
                                        <a:ea typeface="Cambria Math" panose="02040503050406030204" pitchFamily="18" charset="0"/>
                                      </a:rPr>
                                      <m:t>𝑥</m:t>
                                    </m:r>
                                  </m:e>
                                </m:d>
                                <m:r>
                                  <a:rPr lang="en-US" sz="2000">
                                    <a:effectLst/>
                                    <a:latin typeface="Cambria Math" panose="02040503050406030204" pitchFamily="18" charset="0"/>
                                    <a:ea typeface="Cambria Math" panose="02040503050406030204" pitchFamily="18" charset="0"/>
                                  </a:rPr>
                                  <m:t>10</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29507987"/>
                      </a:ext>
                    </a:extLst>
                  </a:tr>
                  <a:tr h="621056">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7−3</m:t>
                                    </m:r>
                                    <m:r>
                                      <a:rPr lang="en-US" sz="2000">
                                        <a:effectLst/>
                                        <a:latin typeface="Cambria Math" panose="02040503050406030204" pitchFamily="18" charset="0"/>
                                        <a:ea typeface="Cambria Math" panose="02040503050406030204" pitchFamily="18" charset="0"/>
                                      </a:rPr>
                                      <m:t>𝑥</m:t>
                                    </m:r>
                                  </m:e>
                                </m:d>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99788858"/>
                      </a:ext>
                    </a:extLst>
                  </a:tr>
                  <a:tr h="601188">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d>
                                  <m:dPr>
                                    <m:ctrlPr>
                                      <a:rPr lang="en-US" sz="2000" i="1">
                                        <a:effectLst/>
                                        <a:latin typeface="Cambria Math"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𝑥</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+8</m:t>
                                    </m:r>
                                    <m:r>
                                      <a:rPr lang="en-US" sz="2000">
                                        <a:effectLst/>
                                        <a:latin typeface="Cambria Math" panose="02040503050406030204" pitchFamily="18" charset="0"/>
                                        <a:ea typeface="Cambria Math" panose="02040503050406030204" pitchFamily="18" charset="0"/>
                                      </a:rPr>
                                      <m:t>𝑥</m:t>
                                    </m:r>
                                  </m:e>
                                </m:d>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22948983"/>
                      </a:ext>
                    </a:extLst>
                  </a:tr>
                  <a:tr h="621056">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(3</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+4)</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35407924"/>
                      </a:ext>
                    </a:extLst>
                  </a:tr>
                  <a:tr h="601188">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+8)∙2</m:t>
                                </m:r>
                                <m:r>
                                  <a:rPr lang="en-US" sz="2000">
                                    <a:effectLst/>
                                    <a:latin typeface="Cambria Math" panose="02040503050406030204" pitchFamily="18" charset="0"/>
                                    <a:ea typeface="Cambria Math" panose="02040503050406030204" pitchFamily="18" charset="0"/>
                                  </a:rPr>
                                  <m:t>𝑥</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34576969"/>
                      </a:ext>
                    </a:extLst>
                  </a:tr>
                </a:tbl>
              </a:graphicData>
            </a:graphic>
          </p:graphicFrame>
        </mc:Choice>
        <mc:Fallback xmlns="">
          <p:graphicFrame>
            <p:nvGraphicFramePr>
              <p:cNvPr id="2" name="Table 1">
                <a:extLst>
                  <a:ext uri="{FF2B5EF4-FFF2-40B4-BE49-F238E27FC236}">
                    <a16:creationId xmlns:a16="http://schemas.microsoft.com/office/drawing/2014/main" id="{3B371DD8-213F-3E44-A4E4-186B6E5013C5}"/>
                  </a:ext>
                </a:extLst>
              </p:cNvPr>
              <p:cNvGraphicFramePr>
                <a:graphicFrameLocks noGrp="1"/>
              </p:cNvGraphicFramePr>
              <p:nvPr>
                <p:extLst>
                  <p:ext uri="{D42A27DB-BD31-4B8C-83A1-F6EECF244321}">
                    <p14:modId xmlns:p14="http://schemas.microsoft.com/office/powerpoint/2010/main" val="1599526503"/>
                  </p:ext>
                </p:extLst>
              </p:nvPr>
            </p:nvGraphicFramePr>
            <p:xfrm>
              <a:off x="1246359" y="1265444"/>
              <a:ext cx="7396116" cy="4908844"/>
            </p:xfrm>
            <a:graphic>
              <a:graphicData uri="http://schemas.openxmlformats.org/drawingml/2006/table">
                <a:tbl>
                  <a:tblPr firstRow="1" firstCol="1" bandRow="1">
                    <a:tableStyleId>{A91F0D33-8C57-4600-99A7-42BC86742BE1}</a:tableStyleId>
                  </a:tblPr>
                  <a:tblGrid>
                    <a:gridCol w="2489659">
                      <a:extLst>
                        <a:ext uri="{9D8B030D-6E8A-4147-A177-3AD203B41FA5}">
                          <a16:colId xmlns:a16="http://schemas.microsoft.com/office/drawing/2014/main" val="3548912405"/>
                        </a:ext>
                      </a:extLst>
                    </a:gridCol>
                    <a:gridCol w="2447042">
                      <a:extLst>
                        <a:ext uri="{9D8B030D-6E8A-4147-A177-3AD203B41FA5}">
                          <a16:colId xmlns:a16="http://schemas.microsoft.com/office/drawing/2014/main" val="742405730"/>
                        </a:ext>
                      </a:extLst>
                    </a:gridCol>
                    <a:gridCol w="2459415">
                      <a:extLst>
                        <a:ext uri="{9D8B030D-6E8A-4147-A177-3AD203B41FA5}">
                          <a16:colId xmlns:a16="http://schemas.microsoft.com/office/drawing/2014/main" val="740505251"/>
                        </a:ext>
                      </a:extLst>
                    </a:gridCol>
                  </a:tblGrid>
                  <a:tr h="621056">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Product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37728325"/>
                      </a:ext>
                    </a:extLst>
                  </a:tr>
                  <a:tr h="62105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4" t="-100980" r="-197311" b="-59215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244" t="-100980" r="-101247" b="-59215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43" t="-100980" r="-495" b="-592157"/>
                          </a:stretch>
                        </a:blipFill>
                      </a:tcPr>
                    </a:tc>
                    <a:extLst>
                      <a:ext uri="{0D108BD9-81ED-4DB2-BD59-A6C34878D82A}">
                        <a16:rowId xmlns:a16="http://schemas.microsoft.com/office/drawing/2014/main" val="3492562324"/>
                      </a:ext>
                    </a:extLst>
                  </a:tr>
                  <a:tr h="60118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4" t="-207071" r="-197311" b="-51010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244" t="-207071" r="-101247" b="-510101"/>
                          </a:stretch>
                        </a:blipFill>
                      </a:tcPr>
                    </a:tc>
                    <a:tc>
                      <a:txBody>
                        <a:bodyPr/>
                        <a:lstStyle/>
                        <a:p>
                          <a:pPr marL="0" marR="0" algn="ctr">
                            <a:lnSpc>
                              <a:spcPct val="115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2857050"/>
                      </a:ext>
                    </a:extLst>
                  </a:tr>
                  <a:tr h="62105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4" t="-298039" r="-197311" b="-395098"/>
                          </a:stretch>
                        </a:blipFill>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9507987"/>
                      </a:ext>
                    </a:extLst>
                  </a:tr>
                  <a:tr h="62105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4" t="-398039" r="-197311" b="-295098"/>
                          </a:stretch>
                        </a:blipFill>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88858"/>
                      </a:ext>
                    </a:extLst>
                  </a:tr>
                  <a:tr h="60118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4" t="-518367" r="-197311" b="-207143"/>
                          </a:stretch>
                        </a:blipFill>
                      </a:tcPr>
                    </a:tc>
                    <a:tc>
                      <a:txBody>
                        <a:bodyPr/>
                        <a:lstStyle/>
                        <a:p>
                          <a:pPr marL="0" marR="0" algn="ctr">
                            <a:lnSpc>
                              <a:spcPct val="115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2948983"/>
                      </a:ext>
                    </a:extLst>
                  </a:tr>
                  <a:tr h="62105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4" t="-594118" r="-197311" b="-99020"/>
                          </a:stretch>
                        </a:blipFill>
                      </a:tcPr>
                    </a:tc>
                    <a:tc>
                      <a:txBody>
                        <a:bodyPr/>
                        <a:lstStyle/>
                        <a:p>
                          <a:pPr marL="0" marR="0" algn="ctr">
                            <a:lnSpc>
                              <a:spcPct val="115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5407924"/>
                      </a:ext>
                    </a:extLst>
                  </a:tr>
                  <a:tr h="60118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4" t="-715152" r="-197311" b="-2020"/>
                          </a:stretch>
                        </a:blipFill>
                      </a:tcPr>
                    </a:tc>
                    <a:tc>
                      <a:txBody>
                        <a:bodyPr/>
                        <a:lstStyle/>
                        <a:p>
                          <a:pPr marL="0" marR="0" algn="ctr">
                            <a:lnSpc>
                              <a:spcPct val="115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4576969"/>
                      </a:ext>
                    </a:extLst>
                  </a:tr>
                </a:tbl>
              </a:graphicData>
            </a:graphic>
          </p:graphicFrame>
        </mc:Fallback>
      </mc:AlternateContent>
      <p:sp>
        <p:nvSpPr>
          <p:cNvPr id="7" name="Google Shape;282;g104476d1465_1_17">
            <a:extLst>
              <a:ext uri="{FF2B5EF4-FFF2-40B4-BE49-F238E27FC236}">
                <a16:creationId xmlns:a16="http://schemas.microsoft.com/office/drawing/2014/main" xmlns="" id="{D6CCFA52-CA49-EFDF-00BE-4332191E465A}"/>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358</a:t>
            </a:r>
          </a:p>
        </p:txBody>
      </p:sp>
      <p:pic>
        <p:nvPicPr>
          <p:cNvPr id="8" name="Google Shape;283;g104476d1465_1_17">
            <a:extLst>
              <a:ext uri="{FF2B5EF4-FFF2-40B4-BE49-F238E27FC236}">
                <a16:creationId xmlns:a16="http://schemas.microsoft.com/office/drawing/2014/main" xmlns="" id="{B3E6B060-16AB-C0FE-9656-CFEF539691AA}"/>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11210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55023" y="520393"/>
                <a:ext cx="10272156" cy="830997"/>
              </a:xfrm>
              <a:prstGeom prst="rect">
                <a:avLst/>
              </a:prstGeom>
              <a:noFill/>
            </p:spPr>
            <p:txBody>
              <a:bodyPr wrap="square" rtlCol="0">
                <a:spAutoFit/>
              </a:bodyPr>
              <a:lstStyle/>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product of each of the expressions </a:t>
                </a:r>
                <a14:m>
                  <m:oMath xmlns:m="http://schemas.openxmlformats.org/officeDocument/2006/math">
                    <m:r>
                      <a:rPr lang="en-US" sz="2400" i="1">
                        <a:latin typeface="Cambria Math" panose="02040503050406030204" pitchFamily="18" charset="0"/>
                        <a:ea typeface="Cambria Math" panose="02040503050406030204" pitchFamily="18" charset="0"/>
                      </a:rPr>
                      <m:t>2</m:t>
                    </m:r>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6</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+8</m:t>
                        </m:r>
                        <m:r>
                          <a:rPr lang="en-US" sz="2400" i="1">
                            <a:latin typeface="Cambria Math" panose="02040503050406030204" pitchFamily="18" charset="0"/>
                            <a:ea typeface="Cambria Math" panose="02040503050406030204" pitchFamily="18" charset="0"/>
                          </a:rPr>
                          <m:t>𝑥</m:t>
                        </m:r>
                      </m:e>
                    </m:d>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a:t>
                </a:r>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400" i="1">
                        <a:latin typeface="Cambria Math" panose="02040503050406030204" pitchFamily="18" charset="0"/>
                      </a:rPr>
                      <m:t>(6</m:t>
                    </m:r>
                    <m:r>
                      <a:rPr lang="en-US" sz="2400" i="1">
                        <a:latin typeface="Cambria Math" panose="02040503050406030204" pitchFamily="18" charset="0"/>
                      </a:rPr>
                      <m:t>𝑥</m:t>
                    </m:r>
                    <m:r>
                      <a:rPr lang="en-US" sz="2400" i="1">
                        <a:latin typeface="Cambria Math" panose="02040503050406030204" pitchFamily="18" charset="0"/>
                      </a:rPr>
                      <m:t>+8)∙2</m:t>
                    </m:r>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55023" y="520393"/>
                <a:ext cx="10272156" cy="830997"/>
              </a:xfrm>
              <a:prstGeom prst="rect">
                <a:avLst/>
              </a:prstGeom>
              <a:blipFill>
                <a:blip r:embed="rId3"/>
                <a:stretch>
                  <a:fillRect l="-890" t="-5839" b="-1459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6760BDC3-AF44-C94E-BD05-E61FF805DD32}"/>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pSp>
        <p:nvGrpSpPr>
          <p:cNvPr id="13" name="Group 12">
            <a:extLst>
              <a:ext uri="{FF2B5EF4-FFF2-40B4-BE49-F238E27FC236}">
                <a16:creationId xmlns:a16="http://schemas.microsoft.com/office/drawing/2014/main" xmlns="" id="{B6A82891-7B2E-CD40-9B19-B14D19263913}"/>
              </a:ext>
            </a:extLst>
          </p:cNvPr>
          <p:cNvGrpSpPr/>
          <p:nvPr/>
        </p:nvGrpSpPr>
        <p:grpSpPr>
          <a:xfrm>
            <a:off x="1223866" y="2287343"/>
            <a:ext cx="8157640" cy="1741952"/>
            <a:chOff x="2031300" y="3149593"/>
            <a:chExt cx="8157640" cy="1742584"/>
          </a:xfrm>
        </p:grpSpPr>
        <p:sp>
          <p:nvSpPr>
            <p:cNvPr id="15" name="Rectangle 14">
              <a:extLst>
                <a:ext uri="{FF2B5EF4-FFF2-40B4-BE49-F238E27FC236}">
                  <a16:creationId xmlns:a16="http://schemas.microsoft.com/office/drawing/2014/main" xmlns="" id="{BD9FA9C0-2905-8D47-8AA6-D1EA23453B3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6" name="Group 15">
              <a:extLst>
                <a:ext uri="{FF2B5EF4-FFF2-40B4-BE49-F238E27FC236}">
                  <a16:creationId xmlns:a16="http://schemas.microsoft.com/office/drawing/2014/main" xmlns="" id="{0682D4A1-E0D6-CE43-9A3D-6D90029CED79}"/>
                </a:ext>
              </a:extLst>
            </p:cNvPr>
            <p:cNvGrpSpPr/>
            <p:nvPr/>
          </p:nvGrpSpPr>
          <p:grpSpPr>
            <a:xfrm>
              <a:off x="2031300" y="3149593"/>
              <a:ext cx="8157640" cy="1742584"/>
              <a:chOff x="0" y="-224007"/>
              <a:chExt cx="8157640" cy="1742584"/>
            </a:xfrm>
          </p:grpSpPr>
          <p:sp>
            <p:nvSpPr>
              <p:cNvPr id="17" name="Rectangle 16">
                <a:extLst>
                  <a:ext uri="{FF2B5EF4-FFF2-40B4-BE49-F238E27FC236}">
                    <a16:creationId xmlns:a16="http://schemas.microsoft.com/office/drawing/2014/main" xmlns="" id="{8E200247-876F-F549-A922-7FC5554FA9FA}"/>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8" name="Rounded Rectangle 17">
                <a:extLst>
                  <a:ext uri="{FF2B5EF4-FFF2-40B4-BE49-F238E27FC236}">
                    <a16:creationId xmlns:a16="http://schemas.microsoft.com/office/drawing/2014/main" xmlns="" id="{406DBD61-6F33-AA4F-8933-7C13AB02C30A}"/>
                  </a:ext>
                </a:extLst>
              </p:cNvPr>
              <p:cNvSpPr/>
              <p:nvPr/>
            </p:nvSpPr>
            <p:spPr>
              <a:xfrm>
                <a:off x="1018013" y="-224007"/>
                <a:ext cx="7139627" cy="174258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lnSpc>
                    <a:spcPct val="107000"/>
                  </a:lnSpc>
                  <a:spcAft>
                    <a:spcPts val="1000"/>
                  </a:spcAft>
                </a:pPr>
                <a:endPar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a:lnSpc>
                    <a:spcPct val="107000"/>
                  </a:lnSpc>
                  <a:spcAft>
                    <a:spcPts val="1000"/>
                  </a:spcAft>
                </a:pPr>
                <a:endPar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a:lnSpc>
                    <a:spcPct val="107000"/>
                  </a:lnSpc>
                  <a:spcAft>
                    <a:spcPts val="1000"/>
                  </a:spcAft>
                </a:pPr>
                <a:endPar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a:lnSpc>
                    <a:spcPct val="107000"/>
                  </a:lnSpc>
                  <a:spcAft>
                    <a:spcPts val="1000"/>
                  </a:spcAft>
                </a:pPr>
                <a:r>
                  <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rPr>
                  <a:t>Expressions are </a:t>
                </a:r>
                <a:r>
                  <a:rPr lang="en-US" sz="2400" b="1" i="1" dirty="0">
                    <a:solidFill>
                      <a:srgbClr val="6C993D"/>
                    </a:solidFill>
                    <a:latin typeface="Verdana" panose="020B0604030504040204" pitchFamily="34" charset="0"/>
                    <a:ea typeface="Verdana" panose="020B0604030504040204" pitchFamily="34" charset="0"/>
                    <a:cs typeface="Verdana" panose="020B0604030504040204" pitchFamily="34" charset="0"/>
                  </a:rPr>
                  <a:t>equivalent</a:t>
                </a:r>
                <a:r>
                  <a:rPr lang="en-US" sz="24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rPr>
                  <a:t>if they have the same value no matter what number is substituted in for each of the variables.</a:t>
                </a:r>
                <a:endParaRPr lang="en-US" sz="2400" dirty="0">
                  <a:latin typeface="Verdana" panose="020B0604030504040204" pitchFamily="34" charset="0"/>
                  <a:ea typeface="Verdana" panose="020B0604030504040204" pitchFamily="34" charset="0"/>
                  <a:cs typeface="Verdana" panose="020B0604030504040204" pitchFamily="34" charset="0"/>
                </a:endParaRPr>
              </a:p>
              <a:p>
                <a:pPr>
                  <a:lnSpc>
                    <a:spcPct val="107000"/>
                  </a:lnSpc>
                  <a:spcAft>
                    <a:spcPts val="1000"/>
                  </a:spcAft>
                </a:pPr>
                <a:r>
                  <a:rPr lang="en-US" sz="2400" dirty="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571500" indent="-171450">
                  <a:lnSpc>
                    <a:spcPct val="107000"/>
                  </a:lnSpc>
                  <a:spcAft>
                    <a:spcPts val="1000"/>
                  </a:spcAft>
                </a:pPr>
                <a:r>
                  <a:rPr lang="en-US" sz="24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685800">
                  <a:spcAft>
                    <a:spcPts val="1000"/>
                  </a:spcAft>
                </a:pPr>
                <a:r>
                  <a:rPr lang="en-US" sz="2400" dirty="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11" name="Google Shape;283;g104476d1465_1_17">
            <a:extLst>
              <a:ext uri="{FF2B5EF4-FFF2-40B4-BE49-F238E27FC236}">
                <a16:creationId xmlns:a16="http://schemas.microsoft.com/office/drawing/2014/main" xmlns="" id="{987E36FD-A089-65AC-6691-1CDDC55E99E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19" name="Google Shape;282;g104476d1465_1_17">
            <a:extLst>
              <a:ext uri="{FF2B5EF4-FFF2-40B4-BE49-F238E27FC236}">
                <a16:creationId xmlns:a16="http://schemas.microsoft.com/office/drawing/2014/main" xmlns="" id="{3084123E-9F25-2048-70F9-3D96F84392DF}"/>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358</a:t>
            </a:r>
          </a:p>
        </p:txBody>
      </p:sp>
    </p:spTree>
    <p:extLst>
      <p:ext uri="{BB962C8B-B14F-4D97-AF65-F5344CB8AC3E}">
        <p14:creationId xmlns:p14="http://schemas.microsoft.com/office/powerpoint/2010/main" val="2961511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55022" y="520394"/>
                <a:ext cx="10284033" cy="2923877"/>
              </a:xfrm>
              <a:prstGeom prst="rect">
                <a:avLst/>
              </a:prstGeom>
              <a:noFill/>
            </p:spPr>
            <p:txBody>
              <a:bodyPr wrap="square" rtlCol="0">
                <a:spAutoFit/>
              </a:bodyPr>
              <a:lstStyle/>
              <a:p>
                <a:pPr marL="457200" indent="-457200">
                  <a:buFont typeface="+mj-lt"/>
                  <a:buAutoNum type="arabicPeriod" startAt="7"/>
                </a:pPr>
                <a:r>
                  <a:rPr lang="en-US" sz="2400" dirty="0">
                    <a:latin typeface="Verdana" panose="020B0604030504040204" pitchFamily="34" charset="0"/>
                    <a:ea typeface="Verdana" panose="020B0604030504040204" pitchFamily="34" charset="0"/>
                    <a:cs typeface="Verdana" panose="020B0604030504040204" pitchFamily="34" charset="0"/>
                  </a:rPr>
                  <a:t>The expression </a:t>
                </a:r>
                <a14:m>
                  <m:oMath xmlns:m="http://schemas.openxmlformats.org/officeDocument/2006/math">
                    <m:r>
                      <a:rPr lang="en-US" sz="2400" i="1">
                        <a:latin typeface="Cambria Math" panose="02040503050406030204" pitchFamily="18" charset="0"/>
                        <a:ea typeface="Cambria Math" panose="02040503050406030204" pitchFamily="18" charset="0"/>
                      </a:rPr>
                      <m:t>14</m:t>
                    </m:r>
                    <m:r>
                      <a:rPr lang="en-US" sz="2400" i="1">
                        <a:latin typeface="Cambria Math" panose="02040503050406030204" pitchFamily="18" charset="0"/>
                        <a:ea typeface="Cambria Math" panose="02040503050406030204" pitchFamily="18" charset="0"/>
                      </a:rPr>
                      <m:t>𝑥</m:t>
                    </m:r>
                    <m:r>
                      <a:rPr lang="en-US" sz="2400" i="1" baseline="30000">
                        <a:latin typeface="Cambria Math" panose="02040503050406030204" pitchFamily="18" charset="0"/>
                        <a:ea typeface="Cambria Math" panose="02040503050406030204" pitchFamily="18" charset="0"/>
                      </a:rPr>
                      <m:t>²</m:t>
                    </m:r>
                    <m:r>
                      <a:rPr lang="en-US" sz="2400" i="1">
                        <a:latin typeface="Cambria Math" panose="02040503050406030204" pitchFamily="18" charset="0"/>
                        <a:ea typeface="Cambria Math" panose="02040503050406030204" pitchFamily="18" charset="0"/>
                      </a:rPr>
                      <m:t> + 28</m:t>
                    </m:r>
                    <m:sSup>
                      <m:sSupPr>
                        <m:ctrlPr>
                          <a:rPr lang="en-US" sz="2400" i="1" baseline="30000">
                            <a:latin typeface="Cambria Math" charset="0"/>
                            <a:ea typeface="Cambria Math" panose="02040503050406030204" pitchFamily="18" charset="0"/>
                          </a:rPr>
                        </m:ctrlPr>
                      </m:sSupPr>
                      <m:e>
                        <m:r>
                          <a:rPr lang="en-US" sz="2400" i="1" baseline="30000">
                            <a:latin typeface="Cambria Math" panose="02040503050406030204" pitchFamily="18" charset="0"/>
                            <a:ea typeface="Cambria Math" panose="02040503050406030204" pitchFamily="18" charset="0"/>
                          </a:rPr>
                          <m:t>𝑥</m:t>
                        </m:r>
                      </m:e>
                      <m:sup>
                        <m:r>
                          <a:rPr lang="en-US" sz="2400" i="1" baseline="30000">
                            <a:latin typeface="Cambria Math" panose="02040503050406030204" pitchFamily="18" charset="0"/>
                            <a:ea typeface="Cambria Math" panose="02040503050406030204" pitchFamily="18" charset="0"/>
                          </a:rPr>
                          <m:t>3</m:t>
                        </m:r>
                      </m:sup>
                    </m:sSup>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is the product of each of the following expressions.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List the factors for each expression.</a:t>
                </a:r>
              </a:p>
              <a:p>
                <a:pPr lvl="0"/>
                <a:endParaRPr lang="en-US" sz="1600" dirty="0"/>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55022" y="520394"/>
                <a:ext cx="10284033" cy="2923877"/>
              </a:xfrm>
              <a:prstGeom prst="rect">
                <a:avLst/>
              </a:prstGeom>
              <a:blipFill>
                <a:blip r:embed="rId3"/>
                <a:stretch>
                  <a:fillRect l="-889" t="-208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6760BDC3-AF44-C94E-BD05-E61FF805DD32}"/>
              </a:ext>
            </a:extLst>
          </p:cNvPr>
          <p:cNvSpPr/>
          <p:nvPr/>
        </p:nvSpPr>
        <p:spPr>
          <a:xfrm>
            <a:off x="-18495"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pSp>
        <p:nvGrpSpPr>
          <p:cNvPr id="13" name="Group 12">
            <a:extLst>
              <a:ext uri="{FF2B5EF4-FFF2-40B4-BE49-F238E27FC236}">
                <a16:creationId xmlns:a16="http://schemas.microsoft.com/office/drawing/2014/main" xmlns="" id="{B6A82891-7B2E-CD40-9B19-B14D19263913}"/>
              </a:ext>
            </a:extLst>
          </p:cNvPr>
          <p:cNvGrpSpPr/>
          <p:nvPr/>
        </p:nvGrpSpPr>
        <p:grpSpPr>
          <a:xfrm>
            <a:off x="2781300" y="2911470"/>
            <a:ext cx="6629400" cy="812505"/>
            <a:chOff x="2031300" y="3373600"/>
            <a:chExt cx="6629400" cy="812800"/>
          </a:xfrm>
        </p:grpSpPr>
        <p:sp>
          <p:nvSpPr>
            <p:cNvPr id="15" name="Rectangle 14">
              <a:extLst>
                <a:ext uri="{FF2B5EF4-FFF2-40B4-BE49-F238E27FC236}">
                  <a16:creationId xmlns:a16="http://schemas.microsoft.com/office/drawing/2014/main" xmlns="" id="{BD9FA9C0-2905-8D47-8AA6-D1EA23453B3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7" name="Rectangle 16">
              <a:extLst>
                <a:ext uri="{FF2B5EF4-FFF2-40B4-BE49-F238E27FC236}">
                  <a16:creationId xmlns:a16="http://schemas.microsoft.com/office/drawing/2014/main" xmlns="" id="{8E200247-876F-F549-A922-7FC5554FA9FA}"/>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xmlns="" id="{57691962-DE07-8543-A41C-33C792D22A18}"/>
                  </a:ext>
                </a:extLst>
              </p:cNvPr>
              <p:cNvGraphicFramePr>
                <a:graphicFrameLocks noGrp="1"/>
              </p:cNvGraphicFramePr>
              <p:nvPr>
                <p:extLst>
                  <p:ext uri="{D42A27DB-BD31-4B8C-83A1-F6EECF244321}">
                    <p14:modId xmlns:p14="http://schemas.microsoft.com/office/powerpoint/2010/main" val="2997848543"/>
                  </p:ext>
                </p:extLst>
              </p:nvPr>
            </p:nvGraphicFramePr>
            <p:xfrm>
              <a:off x="1537825" y="3548355"/>
              <a:ext cx="7536826" cy="2001473"/>
            </p:xfrm>
            <a:graphic>
              <a:graphicData uri="http://schemas.openxmlformats.org/drawingml/2006/table">
                <a:tbl>
                  <a:tblPr firstRow="1" firstCol="1" bandRow="1">
                    <a:tableStyleId>{A91F0D33-8C57-4600-99A7-42BC86742BE1}</a:tableStyleId>
                  </a:tblPr>
                  <a:tblGrid>
                    <a:gridCol w="1225807">
                      <a:extLst>
                        <a:ext uri="{9D8B030D-6E8A-4147-A177-3AD203B41FA5}">
                          <a16:colId xmlns:a16="http://schemas.microsoft.com/office/drawing/2014/main" xmlns="" val="4112087325"/>
                        </a:ext>
                      </a:extLst>
                    </a:gridCol>
                    <a:gridCol w="1246724">
                      <a:extLst>
                        <a:ext uri="{9D8B030D-6E8A-4147-A177-3AD203B41FA5}">
                          <a16:colId xmlns:a16="http://schemas.microsoft.com/office/drawing/2014/main" xmlns="" val="3438428112"/>
                        </a:ext>
                      </a:extLst>
                    </a:gridCol>
                    <a:gridCol w="1285075">
                      <a:extLst>
                        <a:ext uri="{9D8B030D-6E8A-4147-A177-3AD203B41FA5}">
                          <a16:colId xmlns:a16="http://schemas.microsoft.com/office/drawing/2014/main" xmlns="" val="2557257044"/>
                        </a:ext>
                      </a:extLst>
                    </a:gridCol>
                    <a:gridCol w="1246724">
                      <a:extLst>
                        <a:ext uri="{9D8B030D-6E8A-4147-A177-3AD203B41FA5}">
                          <a16:colId xmlns:a16="http://schemas.microsoft.com/office/drawing/2014/main" xmlns="" val="22199710"/>
                        </a:ext>
                      </a:extLst>
                    </a:gridCol>
                    <a:gridCol w="1285772">
                      <a:extLst>
                        <a:ext uri="{9D8B030D-6E8A-4147-A177-3AD203B41FA5}">
                          <a16:colId xmlns:a16="http://schemas.microsoft.com/office/drawing/2014/main" xmlns="" val="814060465"/>
                        </a:ext>
                      </a:extLst>
                    </a:gridCol>
                    <a:gridCol w="1246724">
                      <a:extLst>
                        <a:ext uri="{9D8B030D-6E8A-4147-A177-3AD203B41FA5}">
                          <a16:colId xmlns:a16="http://schemas.microsoft.com/office/drawing/2014/main" xmlns="" val="3412347671"/>
                        </a:ext>
                      </a:extLst>
                    </a:gridCol>
                  </a:tblGrid>
                  <a:tr h="825789">
                    <a:tc gridSpan="2">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Factors of </a:t>
                          </a:r>
                          <a14:m>
                            <m:oMath xmlns:m="http://schemas.openxmlformats.org/officeDocument/2006/math">
                              <m:r>
                                <a:rPr lang="en-US" sz="2000" b="1" i="1">
                                  <a:effectLst/>
                                  <a:latin typeface="Cambria Math" panose="02040503050406030204" pitchFamily="18" charset="0"/>
                                  <a:ea typeface="Cambria Math" panose="02040503050406030204" pitchFamily="18" charset="0"/>
                                </a:rPr>
                                <m:t>𝟐</m:t>
                              </m:r>
                              <m:r>
                                <a:rPr lang="en-US" sz="2000" b="1" i="1">
                                  <a:effectLst/>
                                  <a:latin typeface="Cambria Math" panose="02040503050406030204" pitchFamily="18" charset="0"/>
                                  <a:ea typeface="Cambria Math" panose="02040503050406030204" pitchFamily="18" charset="0"/>
                                </a:rPr>
                                <m:t>(</m:t>
                              </m:r>
                              <m:r>
                                <a:rPr lang="en-US" sz="2000" b="1" i="1">
                                  <a:effectLst/>
                                  <a:latin typeface="Cambria Math" panose="02040503050406030204" pitchFamily="18" charset="0"/>
                                  <a:ea typeface="Cambria Math" panose="02040503050406030204" pitchFamily="18" charset="0"/>
                                </a:rPr>
                                <m:t>𝟕</m:t>
                              </m:r>
                              <m:sSup>
                                <m:sSupPr>
                                  <m:ctrlPr>
                                    <a:rPr lang="en-US" sz="2000" b="1" i="1" baseline="30000">
                                      <a:effectLst/>
                                      <a:latin typeface="Cambria Math" charset="0"/>
                                      <a:ea typeface="Cambria Math" panose="02040503050406030204" pitchFamily="18" charset="0"/>
                                    </a:rPr>
                                  </m:ctrlPr>
                                </m:sSupPr>
                                <m:e>
                                  <m:r>
                                    <a:rPr lang="en-US" sz="2000" b="1" i="1" baseline="30000">
                                      <a:effectLst/>
                                      <a:latin typeface="Cambria Math" panose="02040503050406030204" pitchFamily="18" charset="0"/>
                                      <a:ea typeface="Cambria Math" panose="02040503050406030204" pitchFamily="18" charset="0"/>
                                    </a:rPr>
                                    <m:t>𝒙</m:t>
                                  </m:r>
                                </m:e>
                                <m:sup>
                                  <m:r>
                                    <a:rPr lang="en-US" sz="2000" b="1" i="1" baseline="30000">
                                      <a:effectLst/>
                                      <a:latin typeface="Cambria Math" panose="02040503050406030204" pitchFamily="18" charset="0"/>
                                      <a:ea typeface="Cambria Math" panose="02040503050406030204" pitchFamily="18" charset="0"/>
                                    </a:rPr>
                                    <m:t>𝟐</m:t>
                                  </m:r>
                                </m:sup>
                              </m:sSup>
                              <m:r>
                                <a:rPr lang="en-US" sz="2000" b="1" i="1">
                                  <a:effectLst/>
                                  <a:latin typeface="Cambria Math" panose="02040503050406030204" pitchFamily="18" charset="0"/>
                                  <a:ea typeface="Cambria Math" panose="02040503050406030204" pitchFamily="18" charset="0"/>
                                </a:rPr>
                                <m:t>+</m:t>
                              </m:r>
                              <m:r>
                                <a:rPr lang="en-US" sz="2000" b="1" i="1">
                                  <a:effectLst/>
                                  <a:latin typeface="Cambria Math" panose="02040503050406030204" pitchFamily="18" charset="0"/>
                                  <a:ea typeface="Cambria Math" panose="02040503050406030204" pitchFamily="18" charset="0"/>
                                </a:rPr>
                                <m:t>𝟏𝟒</m:t>
                              </m:r>
                              <m:sSup>
                                <m:sSupPr>
                                  <m:ctrlPr>
                                    <a:rPr lang="en-US" sz="2000" b="1" i="1">
                                      <a:effectLst/>
                                      <a:latin typeface="Cambria Math" charset="0"/>
                                      <a:ea typeface="Cambria Math" panose="02040503050406030204" pitchFamily="18" charset="0"/>
                                    </a:rPr>
                                  </m:ctrlPr>
                                </m:sSupPr>
                                <m:e>
                                  <m:r>
                                    <a:rPr lang="en-US" sz="2000" b="1" i="1">
                                      <a:effectLst/>
                                      <a:latin typeface="Cambria Math" panose="02040503050406030204" pitchFamily="18" charset="0"/>
                                      <a:ea typeface="Cambria Math" panose="02040503050406030204" pitchFamily="18" charset="0"/>
                                    </a:rPr>
                                    <m:t>𝒙</m:t>
                                  </m:r>
                                </m:e>
                                <m:sup>
                                  <m:r>
                                    <a:rPr lang="en-US" sz="2000" b="1" i="1">
                                      <a:effectLst/>
                                      <a:latin typeface="Cambria Math" panose="02040503050406030204" pitchFamily="18" charset="0"/>
                                      <a:ea typeface="Cambria Math" panose="02040503050406030204" pitchFamily="18" charset="0"/>
                                    </a:rPr>
                                    <m:t>𝟑</m:t>
                                  </m:r>
                                </m:sup>
                              </m:sSup>
                              <m:r>
                                <a:rPr lang="en-US" sz="2000" b="1" i="1">
                                  <a:effectLst/>
                                  <a:latin typeface="Cambria Math" panose="02040503050406030204" pitchFamily="18" charset="0"/>
                                  <a:ea typeface="Cambria Math" panose="02040503050406030204" pitchFamily="18" charset="0"/>
                                </a:rPr>
                                <m:t>)</m:t>
                              </m:r>
                            </m:oMath>
                          </a14:m>
                          <a:endParaRPr lang="en-US" sz="2000" b="1"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gridSpan="2">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Factors of </a:t>
                          </a:r>
                          <a14:m>
                            <m:oMath xmlns:m="http://schemas.openxmlformats.org/officeDocument/2006/math">
                              <m:sSup>
                                <m:sSupPr>
                                  <m:ctrlPr>
                                    <a:rPr lang="en-US" sz="2000" b="1" i="1">
                                      <a:effectLst/>
                                      <a:latin typeface="Cambria Math" charset="0"/>
                                      <a:ea typeface="Cambria Math" panose="02040503050406030204" pitchFamily="18" charset="0"/>
                                    </a:rPr>
                                  </m:ctrlPr>
                                </m:sSupPr>
                                <m:e>
                                  <m:r>
                                    <a:rPr lang="en-US" sz="2000" b="1" i="1">
                                      <a:effectLst/>
                                      <a:latin typeface="Cambria Math" panose="02040503050406030204" pitchFamily="18" charset="0"/>
                                      <a:ea typeface="Cambria Math" panose="02040503050406030204" pitchFamily="18" charset="0"/>
                                    </a:rPr>
                                    <m:t>𝒙</m:t>
                                  </m:r>
                                </m:e>
                                <m:sup>
                                  <m:r>
                                    <a:rPr lang="en-US" sz="2000" b="1" i="1">
                                      <a:effectLst/>
                                      <a:latin typeface="Cambria Math" panose="02040503050406030204" pitchFamily="18" charset="0"/>
                                      <a:ea typeface="Cambria Math" panose="02040503050406030204" pitchFamily="18" charset="0"/>
                                    </a:rPr>
                                    <m:t>𝟐</m:t>
                                  </m:r>
                                </m:sup>
                              </m:sSup>
                              <m:r>
                                <a:rPr lang="en-US" sz="2000" b="1" i="1">
                                  <a:effectLst/>
                                  <a:latin typeface="Cambria Math" panose="02040503050406030204" pitchFamily="18" charset="0"/>
                                  <a:ea typeface="Cambria Math" panose="02040503050406030204" pitchFamily="18" charset="0"/>
                                </a:rPr>
                                <m:t>(</m:t>
                              </m:r>
                              <m:r>
                                <a:rPr lang="en-US" sz="2000" b="1" i="1">
                                  <a:effectLst/>
                                  <a:latin typeface="Cambria Math" panose="02040503050406030204" pitchFamily="18" charset="0"/>
                                  <a:ea typeface="Cambria Math" panose="02040503050406030204" pitchFamily="18" charset="0"/>
                                </a:rPr>
                                <m:t>𝟏𝟒</m:t>
                              </m:r>
                              <m:r>
                                <a:rPr lang="en-US" sz="2000" b="1" i="1">
                                  <a:effectLst/>
                                  <a:latin typeface="Cambria Math" panose="02040503050406030204" pitchFamily="18" charset="0"/>
                                  <a:ea typeface="Cambria Math" panose="02040503050406030204" pitchFamily="18" charset="0"/>
                                </a:rPr>
                                <m:t>+</m:t>
                              </m:r>
                              <m:r>
                                <a:rPr lang="en-US" sz="2000" b="1" i="1">
                                  <a:effectLst/>
                                  <a:latin typeface="Cambria Math" panose="02040503050406030204" pitchFamily="18" charset="0"/>
                                  <a:ea typeface="Cambria Math" panose="02040503050406030204" pitchFamily="18" charset="0"/>
                                </a:rPr>
                                <m:t>𝟐𝟖</m:t>
                              </m:r>
                              <m:r>
                                <a:rPr lang="en-US" sz="2000" b="1" i="1">
                                  <a:effectLst/>
                                  <a:latin typeface="Cambria Math" panose="02040503050406030204" pitchFamily="18" charset="0"/>
                                  <a:ea typeface="Cambria Math" panose="02040503050406030204" pitchFamily="18" charset="0"/>
                                </a:rPr>
                                <m:t>𝒙</m:t>
                              </m:r>
                              <m:r>
                                <a:rPr lang="en-US" sz="2000" b="1" i="1">
                                  <a:effectLst/>
                                  <a:latin typeface="Cambria Math" panose="02040503050406030204" pitchFamily="18" charset="0"/>
                                  <a:ea typeface="Cambria Math" panose="02040503050406030204" pitchFamily="18" charset="0"/>
                                </a:rPr>
                                <m:t>)</m:t>
                              </m:r>
                            </m:oMath>
                          </a14:m>
                          <a:endParaRPr lang="en-US" sz="2000" b="1"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gridSpan="2">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Factors of </a:t>
                          </a:r>
                          <a14:m>
                            <m:oMath xmlns:m="http://schemas.openxmlformats.org/officeDocument/2006/math">
                              <m:r>
                                <a:rPr lang="en-US" sz="2000" b="1" i="1">
                                  <a:effectLst/>
                                  <a:latin typeface="Cambria Math" panose="02040503050406030204" pitchFamily="18" charset="0"/>
                                  <a:ea typeface="Cambria Math" panose="02040503050406030204" pitchFamily="18" charset="0"/>
                                </a:rPr>
                                <m:t>𝟕</m:t>
                              </m:r>
                              <m:sSup>
                                <m:sSupPr>
                                  <m:ctrlPr>
                                    <a:rPr lang="en-US" sz="2000" b="1" i="1">
                                      <a:effectLst/>
                                      <a:latin typeface="Cambria Math" charset="0"/>
                                      <a:ea typeface="Cambria Math" panose="02040503050406030204" pitchFamily="18" charset="0"/>
                                    </a:rPr>
                                  </m:ctrlPr>
                                </m:sSupPr>
                                <m:e>
                                  <m:r>
                                    <a:rPr lang="en-US" sz="2000" b="1" i="1">
                                      <a:effectLst/>
                                      <a:latin typeface="Cambria Math" panose="02040503050406030204" pitchFamily="18" charset="0"/>
                                      <a:ea typeface="Cambria Math" panose="02040503050406030204" pitchFamily="18" charset="0"/>
                                    </a:rPr>
                                    <m:t>𝒙</m:t>
                                  </m:r>
                                </m:e>
                                <m:sup>
                                  <m:r>
                                    <a:rPr lang="en-US" sz="2000" b="1" i="1">
                                      <a:effectLst/>
                                      <a:latin typeface="Cambria Math" panose="02040503050406030204" pitchFamily="18" charset="0"/>
                                      <a:ea typeface="Cambria Math" panose="02040503050406030204" pitchFamily="18" charset="0"/>
                                    </a:rPr>
                                    <m:t>𝟐</m:t>
                                  </m:r>
                                </m:sup>
                              </m:sSup>
                              <m:r>
                                <a:rPr lang="en-US" sz="2000" b="1" i="1">
                                  <a:effectLst/>
                                  <a:latin typeface="Cambria Math" panose="02040503050406030204" pitchFamily="18" charset="0"/>
                                  <a:ea typeface="Cambria Math" panose="02040503050406030204" pitchFamily="18" charset="0"/>
                                </a:rPr>
                                <m:t>(</m:t>
                              </m:r>
                              <m:r>
                                <a:rPr lang="en-US" sz="2000" b="1" i="1">
                                  <a:effectLst/>
                                  <a:latin typeface="Cambria Math" panose="02040503050406030204" pitchFamily="18" charset="0"/>
                                  <a:ea typeface="Cambria Math" panose="02040503050406030204" pitchFamily="18" charset="0"/>
                                </a:rPr>
                                <m:t>𝟐</m:t>
                              </m:r>
                              <m:r>
                                <a:rPr lang="en-US" sz="2000" b="1" i="1">
                                  <a:effectLst/>
                                  <a:latin typeface="Cambria Math" panose="02040503050406030204" pitchFamily="18" charset="0"/>
                                  <a:ea typeface="Cambria Math" panose="02040503050406030204" pitchFamily="18" charset="0"/>
                                </a:rPr>
                                <m:t>+</m:t>
                              </m:r>
                              <m:r>
                                <a:rPr lang="en-US" sz="2000" b="1" i="1">
                                  <a:effectLst/>
                                  <a:latin typeface="Cambria Math" panose="02040503050406030204" pitchFamily="18" charset="0"/>
                                  <a:ea typeface="Cambria Math" panose="02040503050406030204" pitchFamily="18" charset="0"/>
                                </a:rPr>
                                <m:t>𝟒</m:t>
                              </m:r>
                              <m:r>
                                <a:rPr lang="en-US" sz="2000" b="1" i="1">
                                  <a:effectLst/>
                                  <a:latin typeface="Cambria Math" panose="02040503050406030204" pitchFamily="18" charset="0"/>
                                  <a:ea typeface="Cambria Math" panose="02040503050406030204" pitchFamily="18" charset="0"/>
                                </a:rPr>
                                <m:t>𝒙</m:t>
                              </m:r>
                              <m:r>
                                <a:rPr lang="en-US" sz="2000" b="1" i="1">
                                  <a:effectLst/>
                                  <a:latin typeface="Cambria Math" panose="02040503050406030204" pitchFamily="18" charset="0"/>
                                  <a:ea typeface="Cambria Math" panose="02040503050406030204" pitchFamily="18" charset="0"/>
                                </a:rPr>
                                <m:t>)</m:t>
                              </m:r>
                            </m:oMath>
                          </a14:m>
                          <a:endParaRPr lang="en-US" sz="2000" b="1"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xmlns="" val="2127668661"/>
                      </a:ext>
                    </a:extLst>
                  </a:tr>
                  <a:tr h="1175684">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4427701"/>
                      </a:ext>
                    </a:extLst>
                  </a:tr>
                </a:tbl>
              </a:graphicData>
            </a:graphic>
          </p:graphicFrame>
        </mc:Choice>
        <mc:Fallback xmlns="">
          <p:graphicFrame>
            <p:nvGraphicFramePr>
              <p:cNvPr id="7" name="Table 6">
                <a:extLst>
                  <a:ext uri="{FF2B5EF4-FFF2-40B4-BE49-F238E27FC236}">
                    <a16:creationId xmlns:a16="http://schemas.microsoft.com/office/drawing/2014/main" id="{57691962-DE07-8543-A41C-33C792D22A18}"/>
                  </a:ext>
                </a:extLst>
              </p:cNvPr>
              <p:cNvGraphicFramePr>
                <a:graphicFrameLocks noGrp="1"/>
              </p:cNvGraphicFramePr>
              <p:nvPr>
                <p:extLst>
                  <p:ext uri="{D42A27DB-BD31-4B8C-83A1-F6EECF244321}">
                    <p14:modId xmlns:p14="http://schemas.microsoft.com/office/powerpoint/2010/main" val="2997848543"/>
                  </p:ext>
                </p:extLst>
              </p:nvPr>
            </p:nvGraphicFramePr>
            <p:xfrm>
              <a:off x="1537825" y="3548355"/>
              <a:ext cx="7536826" cy="2001473"/>
            </p:xfrm>
            <a:graphic>
              <a:graphicData uri="http://schemas.openxmlformats.org/drawingml/2006/table">
                <a:tbl>
                  <a:tblPr firstRow="1" firstCol="1" bandRow="1">
                    <a:tableStyleId>{A91F0D33-8C57-4600-99A7-42BC86742BE1}</a:tableStyleId>
                  </a:tblPr>
                  <a:tblGrid>
                    <a:gridCol w="1225807">
                      <a:extLst>
                        <a:ext uri="{9D8B030D-6E8A-4147-A177-3AD203B41FA5}">
                          <a16:colId xmlns:a16="http://schemas.microsoft.com/office/drawing/2014/main" val="4112087325"/>
                        </a:ext>
                      </a:extLst>
                    </a:gridCol>
                    <a:gridCol w="1246724">
                      <a:extLst>
                        <a:ext uri="{9D8B030D-6E8A-4147-A177-3AD203B41FA5}">
                          <a16:colId xmlns:a16="http://schemas.microsoft.com/office/drawing/2014/main" val="3438428112"/>
                        </a:ext>
                      </a:extLst>
                    </a:gridCol>
                    <a:gridCol w="1285075">
                      <a:extLst>
                        <a:ext uri="{9D8B030D-6E8A-4147-A177-3AD203B41FA5}">
                          <a16:colId xmlns:a16="http://schemas.microsoft.com/office/drawing/2014/main" val="2557257044"/>
                        </a:ext>
                      </a:extLst>
                    </a:gridCol>
                    <a:gridCol w="1246724">
                      <a:extLst>
                        <a:ext uri="{9D8B030D-6E8A-4147-A177-3AD203B41FA5}">
                          <a16:colId xmlns:a16="http://schemas.microsoft.com/office/drawing/2014/main" val="22199710"/>
                        </a:ext>
                      </a:extLst>
                    </a:gridCol>
                    <a:gridCol w="1285772">
                      <a:extLst>
                        <a:ext uri="{9D8B030D-6E8A-4147-A177-3AD203B41FA5}">
                          <a16:colId xmlns:a16="http://schemas.microsoft.com/office/drawing/2014/main" val="814060465"/>
                        </a:ext>
                      </a:extLst>
                    </a:gridCol>
                    <a:gridCol w="1246724">
                      <a:extLst>
                        <a:ext uri="{9D8B030D-6E8A-4147-A177-3AD203B41FA5}">
                          <a16:colId xmlns:a16="http://schemas.microsoft.com/office/drawing/2014/main" val="3412347671"/>
                        </a:ext>
                      </a:extLst>
                    </a:gridCol>
                  </a:tblGrid>
                  <a:tr h="825789">
                    <a:tc gridSpan="2">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46" t="-735" r="-205172" b="-143382"/>
                          </a:stretch>
                        </a:blipFill>
                      </a:tcPr>
                    </a:tc>
                    <a:tc hMerge="1">
                      <a:txBody>
                        <a:bodyPr/>
                        <a:lstStyle/>
                        <a:p>
                          <a:endParaRPr lang="en-US"/>
                        </a:p>
                      </a:txBody>
                      <a:tcPr/>
                    </a:tc>
                    <a:tc gridSpan="2">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8072" t="-735" r="-100723" b="-143382"/>
                          </a:stretch>
                        </a:blipFill>
                      </a:tcPr>
                    </a:tc>
                    <a:tc hMerge="1">
                      <a:txBody>
                        <a:bodyPr/>
                        <a:lstStyle/>
                        <a:p>
                          <a:endParaRPr lang="en-US"/>
                        </a:p>
                      </a:txBody>
                      <a:tcPr/>
                    </a:tc>
                    <a:tc gridSpan="2">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7596" t="-735" r="-481" b="-143382"/>
                          </a:stretch>
                        </a:blipFill>
                      </a:tcPr>
                    </a:tc>
                    <a:tc hMerge="1">
                      <a:txBody>
                        <a:bodyPr/>
                        <a:lstStyle/>
                        <a:p>
                          <a:endParaRPr lang="en-US"/>
                        </a:p>
                      </a:txBody>
                      <a:tcPr/>
                    </a:tc>
                    <a:extLst>
                      <a:ext uri="{0D108BD9-81ED-4DB2-BD59-A6C34878D82A}">
                        <a16:rowId xmlns:a16="http://schemas.microsoft.com/office/drawing/2014/main" val="2127668661"/>
                      </a:ext>
                    </a:extLst>
                  </a:tr>
                  <a:tr h="1175684">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4277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xmlns="" id="{F5E6B140-B94B-8B4A-9FEB-B6E798FF51F8}"/>
                  </a:ext>
                </a:extLst>
              </p:cNvPr>
              <p:cNvGraphicFramePr>
                <a:graphicFrameLocks noGrp="1"/>
              </p:cNvGraphicFramePr>
              <p:nvPr>
                <p:extLst>
                  <p:ext uri="{D42A27DB-BD31-4B8C-83A1-F6EECF244321}">
                    <p14:modId xmlns:p14="http://schemas.microsoft.com/office/powerpoint/2010/main" val="3826075462"/>
                  </p:ext>
                </p:extLst>
              </p:nvPr>
            </p:nvGraphicFramePr>
            <p:xfrm>
              <a:off x="1308601" y="1621029"/>
              <a:ext cx="7766050" cy="420624"/>
            </p:xfrm>
            <a:graphic>
              <a:graphicData uri="http://schemas.openxmlformats.org/drawingml/2006/table">
                <a:tbl>
                  <a:tblPr firstRow="1" firstCol="1" bandRow="1">
                    <a:tableStyleId>{A91F0D33-8C57-4600-99A7-42BC86742BE1}</a:tableStyleId>
                  </a:tblPr>
                  <a:tblGrid>
                    <a:gridCol w="2588260">
                      <a:extLst>
                        <a:ext uri="{9D8B030D-6E8A-4147-A177-3AD203B41FA5}">
                          <a16:colId xmlns:a16="http://schemas.microsoft.com/office/drawing/2014/main" xmlns="" val="3859419094"/>
                        </a:ext>
                      </a:extLst>
                    </a:gridCol>
                    <a:gridCol w="2588895">
                      <a:extLst>
                        <a:ext uri="{9D8B030D-6E8A-4147-A177-3AD203B41FA5}">
                          <a16:colId xmlns:a16="http://schemas.microsoft.com/office/drawing/2014/main" xmlns="" val="3029320489"/>
                        </a:ext>
                      </a:extLst>
                    </a:gridCol>
                    <a:gridCol w="2588895">
                      <a:extLst>
                        <a:ext uri="{9D8B030D-6E8A-4147-A177-3AD203B41FA5}">
                          <a16:colId xmlns:a16="http://schemas.microsoft.com/office/drawing/2014/main" xmlns="" val="827709570"/>
                        </a:ext>
                      </a:extLst>
                    </a:gridCol>
                  </a:tblGrid>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ea typeface="Cambria Math" panose="02040503050406030204" pitchFamily="18" charset="0"/>
                                  </a:rPr>
                                  <m:t>2(7</m:t>
                                </m:r>
                                <m:sSup>
                                  <m:sSupPr>
                                    <m:ctrlPr>
                                      <a:rPr lang="en-US" sz="2400" i="1" baseline="30000">
                                        <a:effectLst/>
                                        <a:latin typeface="Cambria Math" charset="0"/>
                                        <a:ea typeface="Cambria Math" panose="02040503050406030204" pitchFamily="18" charset="0"/>
                                      </a:rPr>
                                    </m:ctrlPr>
                                  </m:sSupPr>
                                  <m:e>
                                    <m:r>
                                      <a:rPr lang="en-US" sz="2400" baseline="30000">
                                        <a:effectLst/>
                                        <a:latin typeface="Cambria Math" panose="02040503050406030204" pitchFamily="18" charset="0"/>
                                        <a:ea typeface="Cambria Math" panose="02040503050406030204" pitchFamily="18" charset="0"/>
                                      </a:rPr>
                                      <m:t>𝑥</m:t>
                                    </m:r>
                                  </m:e>
                                  <m:sup>
                                    <m:r>
                                      <a:rPr lang="en-US" sz="2400" baseline="30000">
                                        <a:effectLst/>
                                        <a:latin typeface="Cambria Math" panose="02040503050406030204" pitchFamily="18" charset="0"/>
                                        <a:ea typeface="Cambria Math" panose="02040503050406030204" pitchFamily="18" charset="0"/>
                                      </a:rPr>
                                      <m:t>2</m:t>
                                    </m:r>
                                  </m:sup>
                                </m:sSup>
                                <m:r>
                                  <a:rPr lang="en-US" sz="2400">
                                    <a:effectLst/>
                                    <a:latin typeface="Cambria Math" panose="02040503050406030204" pitchFamily="18" charset="0"/>
                                    <a:ea typeface="Cambria Math" panose="02040503050406030204" pitchFamily="18" charset="0"/>
                                  </a:rPr>
                                  <m:t>+14</m:t>
                                </m:r>
                                <m:sSup>
                                  <m:sSupPr>
                                    <m:ctrlPr>
                                      <a:rPr lang="en-US" sz="2400" i="1">
                                        <a:effectLst/>
                                        <a:latin typeface="Cambria Math" charset="0"/>
                                        <a:ea typeface="Cambria Math" panose="02040503050406030204" pitchFamily="18" charset="0"/>
                                      </a:rPr>
                                    </m:ctrlPr>
                                  </m:sSupPr>
                                  <m:e>
                                    <m:r>
                                      <a:rPr lang="en-US" sz="2400">
                                        <a:effectLst/>
                                        <a:latin typeface="Cambria Math" panose="02040503050406030204" pitchFamily="18" charset="0"/>
                                        <a:ea typeface="Cambria Math" panose="02040503050406030204" pitchFamily="18" charset="0"/>
                                      </a:rPr>
                                      <m:t>𝑥</m:t>
                                    </m:r>
                                  </m:e>
                                  <m:sup>
                                    <m:r>
                                      <a:rPr lang="en-US" sz="2400">
                                        <a:effectLst/>
                                        <a:latin typeface="Cambria Math" panose="02040503050406030204" pitchFamily="18" charset="0"/>
                                        <a:ea typeface="Cambria Math" panose="02040503050406030204" pitchFamily="18" charset="0"/>
                                      </a:rPr>
                                      <m:t>3</m:t>
                                    </m:r>
                                  </m:sup>
                                </m:sSup>
                                <m:r>
                                  <a:rPr lang="en-US" sz="2400">
                                    <a:effectLst/>
                                    <a:latin typeface="Cambria Math" panose="02040503050406030204" pitchFamily="18" charset="0"/>
                                    <a:ea typeface="Cambria Math" panose="02040503050406030204" pitchFamily="18" charset="0"/>
                                  </a:rPr>
                                  <m:t>)</m:t>
                                </m:r>
                              </m:oMath>
                            </m:oMathPara>
                          </a14:m>
                          <a:endParaRPr lang="en-US"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400" i="1">
                                        <a:effectLst/>
                                        <a:latin typeface="Cambria Math" charset="0"/>
                                        <a:ea typeface="Cambria Math" panose="02040503050406030204" pitchFamily="18" charset="0"/>
                                      </a:rPr>
                                    </m:ctrlPr>
                                  </m:sSupPr>
                                  <m:e>
                                    <m:r>
                                      <a:rPr lang="en-US" sz="2400">
                                        <a:effectLst/>
                                        <a:latin typeface="Cambria Math" panose="02040503050406030204" pitchFamily="18" charset="0"/>
                                        <a:ea typeface="Cambria Math" panose="02040503050406030204" pitchFamily="18" charset="0"/>
                                      </a:rPr>
                                      <m:t>𝑥</m:t>
                                    </m:r>
                                  </m:e>
                                  <m:sup>
                                    <m:r>
                                      <a:rPr lang="en-US" sz="2400">
                                        <a:effectLst/>
                                        <a:latin typeface="Cambria Math" panose="02040503050406030204" pitchFamily="18" charset="0"/>
                                        <a:ea typeface="Cambria Math" panose="02040503050406030204" pitchFamily="18" charset="0"/>
                                      </a:rPr>
                                      <m:t>2</m:t>
                                    </m:r>
                                  </m:sup>
                                </m:sSup>
                                <m:r>
                                  <a:rPr lang="en-US" sz="2400">
                                    <a:effectLst/>
                                    <a:latin typeface="Cambria Math" panose="02040503050406030204" pitchFamily="18" charset="0"/>
                                    <a:ea typeface="Cambria Math" panose="02040503050406030204" pitchFamily="18" charset="0"/>
                                  </a:rPr>
                                  <m:t>(14+28</m:t>
                                </m:r>
                                <m:r>
                                  <a:rPr lang="en-US" sz="2400">
                                    <a:effectLst/>
                                    <a:latin typeface="Cambria Math" panose="02040503050406030204" pitchFamily="18" charset="0"/>
                                    <a:ea typeface="Cambria Math" panose="02040503050406030204" pitchFamily="18" charset="0"/>
                                  </a:rPr>
                                  <m:t>𝑥</m:t>
                                </m:r>
                                <m:r>
                                  <a:rPr lang="en-US" sz="2400">
                                    <a:effectLst/>
                                    <a:latin typeface="Cambria Math" panose="02040503050406030204" pitchFamily="18" charset="0"/>
                                    <a:ea typeface="Cambria Math" panose="02040503050406030204" pitchFamily="18" charset="0"/>
                                  </a:rPr>
                                  <m:t>)</m:t>
                                </m:r>
                              </m:oMath>
                            </m:oMathPara>
                          </a14:m>
                          <a:endParaRPr lang="en-US"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ea typeface="Cambria Math" panose="02040503050406030204" pitchFamily="18" charset="0"/>
                                  </a:rPr>
                                  <m:t>7</m:t>
                                </m:r>
                                <m:sSup>
                                  <m:sSupPr>
                                    <m:ctrlPr>
                                      <a:rPr lang="en-US" sz="2400" i="1">
                                        <a:effectLst/>
                                        <a:latin typeface="Cambria Math" charset="0"/>
                                        <a:ea typeface="Cambria Math" panose="02040503050406030204" pitchFamily="18" charset="0"/>
                                      </a:rPr>
                                    </m:ctrlPr>
                                  </m:sSupPr>
                                  <m:e>
                                    <m:r>
                                      <a:rPr lang="en-US" sz="2400">
                                        <a:effectLst/>
                                        <a:latin typeface="Cambria Math" panose="02040503050406030204" pitchFamily="18" charset="0"/>
                                        <a:ea typeface="Cambria Math" panose="02040503050406030204" pitchFamily="18" charset="0"/>
                                      </a:rPr>
                                      <m:t>𝑥</m:t>
                                    </m:r>
                                  </m:e>
                                  <m:sup>
                                    <m:r>
                                      <a:rPr lang="en-US" sz="2400">
                                        <a:effectLst/>
                                        <a:latin typeface="Cambria Math" panose="02040503050406030204" pitchFamily="18" charset="0"/>
                                        <a:ea typeface="Cambria Math" panose="02040503050406030204" pitchFamily="18" charset="0"/>
                                      </a:rPr>
                                      <m:t>2</m:t>
                                    </m:r>
                                  </m:sup>
                                </m:sSup>
                                <m:r>
                                  <a:rPr lang="en-US" sz="2400">
                                    <a:effectLst/>
                                    <a:latin typeface="Cambria Math" panose="02040503050406030204" pitchFamily="18" charset="0"/>
                                    <a:ea typeface="Cambria Math" panose="02040503050406030204" pitchFamily="18" charset="0"/>
                                  </a:rPr>
                                  <m:t>(2+4</m:t>
                                </m:r>
                                <m:r>
                                  <a:rPr lang="en-US" sz="2400">
                                    <a:effectLst/>
                                    <a:latin typeface="Cambria Math" panose="02040503050406030204" pitchFamily="18" charset="0"/>
                                    <a:ea typeface="Cambria Math" panose="02040503050406030204" pitchFamily="18" charset="0"/>
                                  </a:rPr>
                                  <m:t>𝑥</m:t>
                                </m:r>
                                <m:r>
                                  <a:rPr lang="en-US" sz="2400">
                                    <a:effectLst/>
                                    <a:latin typeface="Cambria Math" panose="02040503050406030204" pitchFamily="18" charset="0"/>
                                    <a:ea typeface="Cambria Math" panose="02040503050406030204" pitchFamily="18" charset="0"/>
                                  </a:rPr>
                                  <m:t>)</m:t>
                                </m:r>
                              </m:oMath>
                            </m:oMathPara>
                          </a14:m>
                          <a:endParaRPr lang="en-US"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1794571108"/>
                      </a:ext>
                    </a:extLst>
                  </a:tr>
                </a:tbl>
              </a:graphicData>
            </a:graphic>
          </p:graphicFrame>
        </mc:Choice>
        <mc:Fallback xmlns="">
          <p:graphicFrame>
            <p:nvGraphicFramePr>
              <p:cNvPr id="8" name="Table 7">
                <a:extLst>
                  <a:ext uri="{FF2B5EF4-FFF2-40B4-BE49-F238E27FC236}">
                    <a16:creationId xmlns:a16="http://schemas.microsoft.com/office/drawing/2014/main" id="{F5E6B140-B94B-8B4A-9FEB-B6E798FF51F8}"/>
                  </a:ext>
                </a:extLst>
              </p:cNvPr>
              <p:cNvGraphicFramePr>
                <a:graphicFrameLocks noGrp="1"/>
              </p:cNvGraphicFramePr>
              <p:nvPr>
                <p:extLst>
                  <p:ext uri="{D42A27DB-BD31-4B8C-83A1-F6EECF244321}">
                    <p14:modId xmlns:p14="http://schemas.microsoft.com/office/powerpoint/2010/main" val="3826075462"/>
                  </p:ext>
                </p:extLst>
              </p:nvPr>
            </p:nvGraphicFramePr>
            <p:xfrm>
              <a:off x="1308601" y="1621029"/>
              <a:ext cx="7766050" cy="420624"/>
            </p:xfrm>
            <a:graphic>
              <a:graphicData uri="http://schemas.openxmlformats.org/drawingml/2006/table">
                <a:tbl>
                  <a:tblPr firstRow="1" firstCol="1" bandRow="1">
                    <a:tableStyleId>{A91F0D33-8C57-4600-99A7-42BC86742BE1}</a:tableStyleId>
                  </a:tblPr>
                  <a:tblGrid>
                    <a:gridCol w="2588260">
                      <a:extLst>
                        <a:ext uri="{9D8B030D-6E8A-4147-A177-3AD203B41FA5}">
                          <a16:colId xmlns:a16="http://schemas.microsoft.com/office/drawing/2014/main" val="3859419094"/>
                        </a:ext>
                      </a:extLst>
                    </a:gridCol>
                    <a:gridCol w="2588895">
                      <a:extLst>
                        <a:ext uri="{9D8B030D-6E8A-4147-A177-3AD203B41FA5}">
                          <a16:colId xmlns:a16="http://schemas.microsoft.com/office/drawing/2014/main" val="3029320489"/>
                        </a:ext>
                      </a:extLst>
                    </a:gridCol>
                    <a:gridCol w="2588895">
                      <a:extLst>
                        <a:ext uri="{9D8B030D-6E8A-4147-A177-3AD203B41FA5}">
                          <a16:colId xmlns:a16="http://schemas.microsoft.com/office/drawing/2014/main" val="827709570"/>
                        </a:ext>
                      </a:extLst>
                    </a:gridCol>
                  </a:tblGrid>
                  <a:tr h="420624">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5714" r="-200000"/>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100000" t="-15714" r="-100000"/>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00000" t="-15714"/>
                          </a:stretch>
                        </a:blipFill>
                      </a:tcPr>
                    </a:tc>
                    <a:extLst>
                      <a:ext uri="{0D108BD9-81ED-4DB2-BD59-A6C34878D82A}">
                        <a16:rowId xmlns:a16="http://schemas.microsoft.com/office/drawing/2014/main" val="1794571108"/>
                      </a:ext>
                    </a:extLst>
                  </a:tr>
                </a:tbl>
              </a:graphicData>
            </a:graphic>
          </p:graphicFrame>
        </mc:Fallback>
      </mc:AlternateContent>
      <p:sp>
        <p:nvSpPr>
          <p:cNvPr id="11" name="Google Shape;282;g104476d1465_1_17">
            <a:extLst>
              <a:ext uri="{FF2B5EF4-FFF2-40B4-BE49-F238E27FC236}">
                <a16:creationId xmlns:a16="http://schemas.microsoft.com/office/drawing/2014/main" xmlns="" id="{50996B48-343F-62D5-DF1A-C0AC0C4E6422}"/>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359</a:t>
            </a:r>
          </a:p>
        </p:txBody>
      </p:sp>
      <p:pic>
        <p:nvPicPr>
          <p:cNvPr id="16" name="Google Shape;283;g104476d1465_1_17">
            <a:extLst>
              <a:ext uri="{FF2B5EF4-FFF2-40B4-BE49-F238E27FC236}">
                <a16:creationId xmlns:a16="http://schemas.microsoft.com/office/drawing/2014/main" xmlns="" id="{10F0CD16-4253-B2E5-7DA1-B5479AD092F8}"/>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27298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43147" y="520393"/>
                <a:ext cx="10295907" cy="3631763"/>
              </a:xfrm>
              <a:prstGeom prst="rect">
                <a:avLst/>
              </a:prstGeom>
              <a:noFill/>
            </p:spPr>
            <p:txBody>
              <a:bodyPr wrap="square" rtlCol="0">
                <a:spAutoFit/>
              </a:bodyPr>
              <a:lstStyle/>
              <a:p>
                <a:pPr marL="4572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Write two more expressions that are equivalent to </a:t>
                </a:r>
                <a14:m>
                  <m:oMath xmlns:m="http://schemas.openxmlformats.org/officeDocument/2006/math">
                    <m:r>
                      <a:rPr lang="en-US" sz="2400" i="1">
                        <a:latin typeface="Cambria Math" panose="02040503050406030204" pitchFamily="18" charset="0"/>
                        <a:ea typeface="Cambria Math" panose="02040503050406030204" pitchFamily="18" charset="0"/>
                      </a:rPr>
                      <m:t>14</m:t>
                    </m:r>
                    <m:r>
                      <a:rPr lang="en-US" sz="2400" i="1">
                        <a:latin typeface="Cambria Math" panose="02040503050406030204" pitchFamily="18" charset="0"/>
                        <a:ea typeface="Cambria Math" panose="02040503050406030204" pitchFamily="18" charset="0"/>
                      </a:rPr>
                      <m:t>𝑥</m:t>
                    </m:r>
                    <m:r>
                      <a:rPr lang="en-US" sz="2400" i="1" baseline="30000">
                        <a:latin typeface="Cambria Math" panose="02040503050406030204" pitchFamily="18" charset="0"/>
                        <a:ea typeface="Cambria Math" panose="02040503050406030204" pitchFamily="18" charset="0"/>
                      </a:rPr>
                      <m:t>²</m:t>
                    </m:r>
                    <m:r>
                      <a:rPr lang="en-US" sz="2400" i="1">
                        <a:latin typeface="Cambria Math" panose="02040503050406030204" pitchFamily="18" charset="0"/>
                        <a:ea typeface="Cambria Math" panose="02040503050406030204" pitchFamily="18" charset="0"/>
                      </a:rPr>
                      <m:t> + 28</m:t>
                    </m:r>
                    <m:sSup>
                      <m:sSupPr>
                        <m:ctrlPr>
                          <a:rPr lang="en-US" sz="2400" i="1" baseline="30000">
                            <a:latin typeface="Cambria Math" charset="0"/>
                            <a:ea typeface="Cambria Math" panose="02040503050406030204" pitchFamily="18" charset="0"/>
                          </a:rPr>
                        </m:ctrlPr>
                      </m:sSupPr>
                      <m:e>
                        <m:r>
                          <a:rPr lang="en-US" sz="2400" i="1" baseline="30000">
                            <a:latin typeface="Cambria Math" panose="02040503050406030204" pitchFamily="18" charset="0"/>
                            <a:ea typeface="Cambria Math" panose="02040503050406030204" pitchFamily="18" charset="0"/>
                          </a:rPr>
                          <m:t>𝑥</m:t>
                        </m:r>
                      </m:e>
                      <m:sup>
                        <m:r>
                          <a:rPr lang="en-US" sz="2400" i="1" baseline="30000">
                            <a:latin typeface="Cambria Math" panose="02040503050406030204" pitchFamily="18" charset="0"/>
                            <a:ea typeface="Cambria Math" panose="02040503050406030204" pitchFamily="18" charset="0"/>
                          </a:rPr>
                          <m:t>3</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9"/>
                </a:pPr>
                <a:r>
                  <a:rPr lang="en-US" sz="2400" dirty="0">
                    <a:latin typeface="Verdana" panose="020B0604030504040204" pitchFamily="34" charset="0"/>
                    <a:ea typeface="Verdana" panose="020B0604030504040204" pitchFamily="34" charset="0"/>
                    <a:cs typeface="Verdana" panose="020B0604030504040204" pitchFamily="34" charset="0"/>
                  </a:rPr>
                  <a:t>Compare your expressions with your partner’s expression. Write the expressions that you and your partner do not have in common.</a:t>
                </a:r>
              </a:p>
              <a:p>
                <a:pPr lvl="0"/>
                <a:endParaRPr lang="en-US" sz="1600" dirty="0"/>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43147" y="520393"/>
                <a:ext cx="10295907" cy="3631763"/>
              </a:xfrm>
              <a:prstGeom prst="rect">
                <a:avLst/>
              </a:prstGeom>
              <a:blipFill>
                <a:blip r:embed="rId3"/>
                <a:stretch>
                  <a:fillRect l="-888" t="-1678" r="-136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6760BDC3-AF44-C94E-BD05-E61FF805DD32}"/>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pSp>
        <p:nvGrpSpPr>
          <p:cNvPr id="13" name="Group 12">
            <a:extLst>
              <a:ext uri="{FF2B5EF4-FFF2-40B4-BE49-F238E27FC236}">
                <a16:creationId xmlns:a16="http://schemas.microsoft.com/office/drawing/2014/main" xmlns="" id="{B6A82891-7B2E-CD40-9B19-B14D19263913}"/>
              </a:ext>
            </a:extLst>
          </p:cNvPr>
          <p:cNvGrpSpPr/>
          <p:nvPr/>
        </p:nvGrpSpPr>
        <p:grpSpPr>
          <a:xfrm>
            <a:off x="2781300" y="2911470"/>
            <a:ext cx="6629400" cy="812505"/>
            <a:chOff x="2031300" y="3373600"/>
            <a:chExt cx="6629400" cy="812800"/>
          </a:xfrm>
        </p:grpSpPr>
        <p:sp>
          <p:nvSpPr>
            <p:cNvPr id="15" name="Rectangle 14">
              <a:extLst>
                <a:ext uri="{FF2B5EF4-FFF2-40B4-BE49-F238E27FC236}">
                  <a16:creationId xmlns:a16="http://schemas.microsoft.com/office/drawing/2014/main" xmlns="" id="{BD9FA9C0-2905-8D47-8AA6-D1EA23453B3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7" name="Rectangle 16">
              <a:extLst>
                <a:ext uri="{FF2B5EF4-FFF2-40B4-BE49-F238E27FC236}">
                  <a16:creationId xmlns:a16="http://schemas.microsoft.com/office/drawing/2014/main" xmlns="" id="{8E200247-876F-F549-A922-7FC5554FA9FA}"/>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pic>
        <p:nvPicPr>
          <p:cNvPr id="9" name="Google Shape;283;g104476d1465_1_17">
            <a:extLst>
              <a:ext uri="{FF2B5EF4-FFF2-40B4-BE49-F238E27FC236}">
                <a16:creationId xmlns:a16="http://schemas.microsoft.com/office/drawing/2014/main" xmlns="" id="{4602C686-4E85-8E88-AAEC-67329A17405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CE890FB1-C4CC-4495-6C61-F3BDEE168E64}"/>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359</a:t>
            </a:r>
          </a:p>
        </p:txBody>
      </p:sp>
    </p:spTree>
    <p:extLst>
      <p:ext uri="{BB962C8B-B14F-4D97-AF65-F5344CB8AC3E}">
        <p14:creationId xmlns:p14="http://schemas.microsoft.com/office/powerpoint/2010/main" val="553322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43147" y="520393"/>
                <a:ext cx="10295908" cy="1077218"/>
              </a:xfrm>
              <a:prstGeom prst="rect">
                <a:avLst/>
              </a:prstGeom>
              <a:noFill/>
            </p:spPr>
            <p:txBody>
              <a:bodyPr wrap="square" rtlCol="0">
                <a:spAutoFit/>
              </a:bodyPr>
              <a:lstStyle/>
              <a:p>
                <a:pPr marL="569913" indent="-569913">
                  <a:buFont typeface="+mj-lt"/>
                  <a:buAutoNum type="arabicPeriod" startAt="10"/>
                </a:pPr>
                <a:r>
                  <a:rPr lang="en-US" sz="2400" dirty="0">
                    <a:latin typeface="Verdana" panose="020B0604030504040204" pitchFamily="34" charset="0"/>
                    <a:ea typeface="Verdana" panose="020B0604030504040204" pitchFamily="34" charset="0"/>
                    <a:cs typeface="Verdana" panose="020B0604030504040204" pitchFamily="34" charset="0"/>
                  </a:rPr>
                  <a:t>Complete the table for the factors of </a:t>
                </a:r>
                <a14:m>
                  <m:oMath xmlns:m="http://schemas.openxmlformats.org/officeDocument/2006/math">
                    <m:r>
                      <a:rPr lang="en-US" sz="2400" i="1">
                        <a:latin typeface="Cambria Math" panose="02040503050406030204" pitchFamily="18" charset="0"/>
                        <a:ea typeface="Cambria Math" panose="02040503050406030204" pitchFamily="18" charset="0"/>
                      </a:rPr>
                      <m:t>14</m:t>
                    </m:r>
                    <m:sSup>
                      <m:sSupPr>
                        <m:ctrlPr>
                          <a:rPr lang="en-US" sz="2400" i="1" baseline="30000">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baseline="30000">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+ 28</m:t>
                    </m:r>
                    <m:sSup>
                      <m:sSupPr>
                        <m:ctrlPr>
                          <a:rPr lang="en-US" sz="2400" i="1" baseline="30000">
                            <a:latin typeface="Cambria Math" charset="0"/>
                            <a:ea typeface="Cambria Math" panose="02040503050406030204" pitchFamily="18" charset="0"/>
                          </a:rPr>
                        </m:ctrlPr>
                      </m:sSupPr>
                      <m:e>
                        <m:r>
                          <a:rPr lang="en-US" sz="2400" i="1" baseline="30000">
                            <a:latin typeface="Cambria Math" panose="02040503050406030204" pitchFamily="18" charset="0"/>
                            <a:ea typeface="Cambria Math" panose="02040503050406030204" pitchFamily="18" charset="0"/>
                          </a:rPr>
                          <m:t>𝑥</m:t>
                        </m:r>
                      </m:e>
                      <m:sup>
                        <m:r>
                          <a:rPr lang="en-US" sz="2400" i="1" baseline="30000">
                            <a:latin typeface="Cambria Math" panose="02040503050406030204" pitchFamily="18" charset="0"/>
                            <a:ea typeface="Cambria Math" panose="02040503050406030204" pitchFamily="18" charset="0"/>
                          </a:rPr>
                          <m:t>3</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using two other expressions you created.</a:t>
                </a:r>
              </a:p>
              <a:p>
                <a:pPr lvl="0"/>
                <a:endParaRPr lang="en-US" sz="1600" dirty="0"/>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43147" y="520393"/>
                <a:ext cx="10295908" cy="1077218"/>
              </a:xfrm>
              <a:prstGeom prst="rect">
                <a:avLst/>
              </a:prstGeom>
              <a:blipFill>
                <a:blip r:embed="rId3"/>
                <a:stretch>
                  <a:fillRect l="-888" t="-565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6760BDC3-AF44-C94E-BD05-E61FF805DD32}"/>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pSp>
        <p:nvGrpSpPr>
          <p:cNvPr id="13" name="Group 12">
            <a:extLst>
              <a:ext uri="{FF2B5EF4-FFF2-40B4-BE49-F238E27FC236}">
                <a16:creationId xmlns:a16="http://schemas.microsoft.com/office/drawing/2014/main" xmlns="" id="{B6A82891-7B2E-CD40-9B19-B14D19263913}"/>
              </a:ext>
            </a:extLst>
          </p:cNvPr>
          <p:cNvGrpSpPr/>
          <p:nvPr/>
        </p:nvGrpSpPr>
        <p:grpSpPr>
          <a:xfrm>
            <a:off x="2781300" y="2911470"/>
            <a:ext cx="6629400" cy="812505"/>
            <a:chOff x="2031300" y="3373600"/>
            <a:chExt cx="6629400" cy="812800"/>
          </a:xfrm>
        </p:grpSpPr>
        <p:sp>
          <p:nvSpPr>
            <p:cNvPr id="15" name="Rectangle 14">
              <a:extLst>
                <a:ext uri="{FF2B5EF4-FFF2-40B4-BE49-F238E27FC236}">
                  <a16:creationId xmlns:a16="http://schemas.microsoft.com/office/drawing/2014/main" xmlns="" id="{BD9FA9C0-2905-8D47-8AA6-D1EA23453B3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7" name="Rectangle 16">
              <a:extLst>
                <a:ext uri="{FF2B5EF4-FFF2-40B4-BE49-F238E27FC236}">
                  <a16:creationId xmlns:a16="http://schemas.microsoft.com/office/drawing/2014/main" xmlns="" id="{8E200247-876F-F549-A922-7FC5554FA9FA}"/>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5EB2AA7A-3CDA-5D42-8F6D-DE4939AE332D}"/>
                  </a:ext>
                </a:extLst>
              </p:cNvPr>
              <p:cNvGraphicFramePr>
                <a:graphicFrameLocks noGrp="1"/>
              </p:cNvGraphicFramePr>
              <p:nvPr>
                <p:extLst>
                  <p:ext uri="{D42A27DB-BD31-4B8C-83A1-F6EECF244321}">
                    <p14:modId xmlns:p14="http://schemas.microsoft.com/office/powerpoint/2010/main" val="62699321"/>
                  </p:ext>
                </p:extLst>
              </p:nvPr>
            </p:nvGraphicFramePr>
            <p:xfrm>
              <a:off x="2386583" y="1717882"/>
              <a:ext cx="6629400" cy="4619521"/>
            </p:xfrm>
            <a:graphic>
              <a:graphicData uri="http://schemas.openxmlformats.org/drawingml/2006/table">
                <a:tbl>
                  <a:tblPr firstRow="1" firstCol="1" bandRow="1">
                    <a:tableStyleId>{A91F0D33-8C57-4600-99A7-42BC86742BE1}</a:tableStyleId>
                  </a:tblPr>
                  <a:tblGrid>
                    <a:gridCol w="3314700">
                      <a:extLst>
                        <a:ext uri="{9D8B030D-6E8A-4147-A177-3AD203B41FA5}">
                          <a16:colId xmlns:a16="http://schemas.microsoft.com/office/drawing/2014/main" xmlns="" val="4267882772"/>
                        </a:ext>
                      </a:extLst>
                    </a:gridCol>
                    <a:gridCol w="3314700">
                      <a:extLst>
                        <a:ext uri="{9D8B030D-6E8A-4147-A177-3AD203B41FA5}">
                          <a16:colId xmlns:a16="http://schemas.microsoft.com/office/drawing/2014/main" xmlns="" val="3439656859"/>
                        </a:ext>
                      </a:extLst>
                    </a:gridCol>
                  </a:tblGrid>
                  <a:tr h="68028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Monomial</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Binomial</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66024861"/>
                      </a:ext>
                    </a:extLst>
                  </a:tr>
                  <a:tr h="7801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m:t>
                                </m:r>
                                <m:sSup>
                                  <m:sSupPr>
                                    <m:ctrlPr>
                                      <a:rPr lang="en-US" sz="2000" i="1" baseline="30000">
                                        <a:effectLst/>
                                        <a:latin typeface="Cambria Math" charset="0"/>
                                        <a:ea typeface="Cambria Math" panose="02040503050406030204" pitchFamily="18" charset="0"/>
                                      </a:rPr>
                                    </m:ctrlPr>
                                  </m:sSupPr>
                                  <m:e>
                                    <m:r>
                                      <a:rPr lang="en-US" sz="2000" baseline="30000">
                                        <a:effectLst/>
                                        <a:latin typeface="Cambria Math" panose="02040503050406030204" pitchFamily="18" charset="0"/>
                                        <a:ea typeface="Cambria Math" panose="02040503050406030204" pitchFamily="18" charset="0"/>
                                      </a:rPr>
                                      <m:t>𝑥</m:t>
                                    </m:r>
                                  </m:e>
                                  <m:sup>
                                    <m:r>
                                      <a:rPr lang="en-US" sz="2000" baseline="30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+14</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𝑥</m:t>
                                    </m:r>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31564125"/>
                      </a:ext>
                    </a:extLst>
                  </a:tr>
                  <a:tr h="7801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𝑥</m:t>
                                    </m:r>
                                  </m:e>
                                  <m:sup>
                                    <m:r>
                                      <a:rPr lang="en-US" sz="2000">
                                        <a:effectLst/>
                                        <a:latin typeface="Cambria Math" panose="02040503050406030204" pitchFamily="18" charset="0"/>
                                        <a:ea typeface="Cambria Math" panose="02040503050406030204" pitchFamily="18" charset="0"/>
                                      </a:rPr>
                                      <m:t>2</m:t>
                                    </m:r>
                                  </m:sup>
                                </m:sSup>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(14+28</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3183543"/>
                      </a:ext>
                    </a:extLst>
                  </a:tr>
                  <a:tr h="7801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𝑥</m:t>
                                    </m:r>
                                  </m:e>
                                  <m:sup>
                                    <m:r>
                                      <a:rPr lang="en-US" sz="2000">
                                        <a:effectLst/>
                                        <a:latin typeface="Cambria Math" panose="02040503050406030204" pitchFamily="18" charset="0"/>
                                        <a:ea typeface="Cambria Math" panose="02040503050406030204" pitchFamily="18" charset="0"/>
                                      </a:rPr>
                                      <m:t>2</m:t>
                                    </m:r>
                                  </m:sup>
                                </m:sSup>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(2+4</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15809337"/>
                      </a:ext>
                    </a:extLst>
                  </a:tr>
                  <a:tr h="799338">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62642352"/>
                      </a:ext>
                    </a:extLst>
                  </a:tr>
                  <a:tr h="799338">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27375115"/>
                      </a:ext>
                    </a:extLst>
                  </a:tr>
                </a:tbl>
              </a:graphicData>
            </a:graphic>
          </p:graphicFrame>
        </mc:Choice>
        <mc:Fallback xmlns="">
          <p:graphicFrame>
            <p:nvGraphicFramePr>
              <p:cNvPr id="2" name="Table 1">
                <a:extLst>
                  <a:ext uri="{FF2B5EF4-FFF2-40B4-BE49-F238E27FC236}">
                    <a16:creationId xmlns:a16="http://schemas.microsoft.com/office/drawing/2014/main" id="{5EB2AA7A-3CDA-5D42-8F6D-DE4939AE332D}"/>
                  </a:ext>
                </a:extLst>
              </p:cNvPr>
              <p:cNvGraphicFramePr>
                <a:graphicFrameLocks noGrp="1"/>
              </p:cNvGraphicFramePr>
              <p:nvPr>
                <p:extLst>
                  <p:ext uri="{D42A27DB-BD31-4B8C-83A1-F6EECF244321}">
                    <p14:modId xmlns:p14="http://schemas.microsoft.com/office/powerpoint/2010/main" val="62699321"/>
                  </p:ext>
                </p:extLst>
              </p:nvPr>
            </p:nvGraphicFramePr>
            <p:xfrm>
              <a:off x="2386583" y="1717882"/>
              <a:ext cx="6629400" cy="4619521"/>
            </p:xfrm>
            <a:graphic>
              <a:graphicData uri="http://schemas.openxmlformats.org/drawingml/2006/table">
                <a:tbl>
                  <a:tblPr firstRow="1" firstCol="1" bandRow="1">
                    <a:tableStyleId>{A91F0D33-8C57-4600-99A7-42BC86742BE1}</a:tableStyleId>
                  </a:tblPr>
                  <a:tblGrid>
                    <a:gridCol w="3314700">
                      <a:extLst>
                        <a:ext uri="{9D8B030D-6E8A-4147-A177-3AD203B41FA5}">
                          <a16:colId xmlns:a16="http://schemas.microsoft.com/office/drawing/2014/main" val="4267882772"/>
                        </a:ext>
                      </a:extLst>
                    </a:gridCol>
                    <a:gridCol w="3314700">
                      <a:extLst>
                        <a:ext uri="{9D8B030D-6E8A-4147-A177-3AD203B41FA5}">
                          <a16:colId xmlns:a16="http://schemas.microsoft.com/office/drawing/2014/main" val="3439656859"/>
                        </a:ext>
                      </a:extLst>
                    </a:gridCol>
                  </a:tblGrid>
                  <a:tr h="68028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Monomial</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Binomial</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66024861"/>
                      </a:ext>
                    </a:extLst>
                  </a:tr>
                  <a:tr h="78018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4" t="-96875" r="-100551" b="-40703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84" t="-96875" r="-551" b="-407031"/>
                          </a:stretch>
                        </a:blipFill>
                      </a:tcPr>
                    </a:tc>
                    <a:extLst>
                      <a:ext uri="{0D108BD9-81ED-4DB2-BD59-A6C34878D82A}">
                        <a16:rowId xmlns:a16="http://schemas.microsoft.com/office/drawing/2014/main" val="2631564125"/>
                      </a:ext>
                    </a:extLst>
                  </a:tr>
                  <a:tr h="78018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4" t="-196875" r="-100551" b="-30703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84" t="-196875" r="-551" b="-307031"/>
                          </a:stretch>
                        </a:blipFill>
                      </a:tcPr>
                    </a:tc>
                    <a:extLst>
                      <a:ext uri="{0D108BD9-81ED-4DB2-BD59-A6C34878D82A}">
                        <a16:rowId xmlns:a16="http://schemas.microsoft.com/office/drawing/2014/main" val="113183543"/>
                      </a:ext>
                    </a:extLst>
                  </a:tr>
                  <a:tr h="78018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4" t="-296875" r="-100551" b="-20703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84" t="-296875" r="-551" b="-207031"/>
                          </a:stretch>
                        </a:blipFill>
                      </a:tcPr>
                    </a:tc>
                    <a:extLst>
                      <a:ext uri="{0D108BD9-81ED-4DB2-BD59-A6C34878D82A}">
                        <a16:rowId xmlns:a16="http://schemas.microsoft.com/office/drawing/2014/main" val="1115809337"/>
                      </a:ext>
                    </a:extLst>
                  </a:tr>
                  <a:tr h="799338">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2642352"/>
                      </a:ext>
                    </a:extLst>
                  </a:tr>
                  <a:tr h="799338">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7375115"/>
                      </a:ext>
                    </a:extLst>
                  </a:tr>
                </a:tbl>
              </a:graphicData>
            </a:graphic>
          </p:graphicFrame>
        </mc:Fallback>
      </mc:AlternateContent>
      <p:sp>
        <p:nvSpPr>
          <p:cNvPr id="10" name="Google Shape;282;g104476d1465_1_17">
            <a:extLst>
              <a:ext uri="{FF2B5EF4-FFF2-40B4-BE49-F238E27FC236}">
                <a16:creationId xmlns:a16="http://schemas.microsoft.com/office/drawing/2014/main" xmlns="" id="{EF615FBC-183F-E6DC-B935-CD3A47DF2D89}"/>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359</a:t>
            </a:r>
          </a:p>
        </p:txBody>
      </p:sp>
      <p:pic>
        <p:nvPicPr>
          <p:cNvPr id="11" name="Google Shape;283;g104476d1465_1_17">
            <a:extLst>
              <a:ext uri="{FF2B5EF4-FFF2-40B4-BE49-F238E27FC236}">
                <a16:creationId xmlns:a16="http://schemas.microsoft.com/office/drawing/2014/main" xmlns="" id="{534C8962-9B45-5AB7-0E46-C74816649BA3}"/>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13272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2116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3065875" y="2849920"/>
            <a:ext cx="1145792" cy="1158150"/>
          </a:xfrm>
          <a:prstGeom prst="rect">
            <a:avLst/>
          </a:prstGeom>
          <a:noFill/>
          <a:ln>
            <a:noFill/>
          </a:ln>
          <a:effectLst>
            <a:outerShdw blurRad="50800" dist="38100" dir="2700000" algn="tl" rotWithShape="0">
              <a:prstClr val="black">
                <a:alpha val="40000"/>
              </a:prstClr>
            </a:outerShdw>
          </a:effectLst>
        </p:spPr>
      </p:pic>
      <p:pic>
        <p:nvPicPr>
          <p:cNvPr id="9" name="Google Shape;283;g104476d1465_1_17">
            <a:extLst>
              <a:ext uri="{FF2B5EF4-FFF2-40B4-BE49-F238E27FC236}">
                <a16:creationId xmlns:a16="http://schemas.microsoft.com/office/drawing/2014/main" xmlns="" id="{A848CCB0-BAAF-CB8D-68EC-2863BF1757A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1BBEA5EB-EC96-155C-07A6-38787B290169}"/>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360</a:t>
            </a:r>
          </a:p>
        </p:txBody>
      </p:sp>
    </p:spTree>
    <p:extLst>
      <p:ext uri="{BB962C8B-B14F-4D97-AF65-F5344CB8AC3E}">
        <p14:creationId xmlns:p14="http://schemas.microsoft.com/office/powerpoint/2010/main" val="370261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09917" y="121285"/>
            <a:ext cx="10829781" cy="99499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7.1.3 Guided Instruction: Common Monomial Factors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262618" y="1212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843147" y="1386025"/>
                <a:ext cx="10295907" cy="415498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table in the exploration shows there are several different ways to rewrite the expression </a:t>
                </a:r>
                <a14:m>
                  <m:oMath xmlns:m="http://schemas.openxmlformats.org/officeDocument/2006/math">
                    <m:r>
                      <a:rPr lang="en-US" sz="2400" i="1">
                        <a:latin typeface="Cambria Math" panose="02040503050406030204" pitchFamily="18" charset="0"/>
                      </a:rPr>
                      <m:t>14</m:t>
                    </m:r>
                    <m:r>
                      <a:rPr lang="en-US" sz="2400" i="1">
                        <a:latin typeface="Cambria Math" panose="02040503050406030204" pitchFamily="18" charset="0"/>
                      </a:rPr>
                      <m:t>𝑥</m:t>
                    </m:r>
                    <m:r>
                      <a:rPr lang="en-US" sz="2400" i="1" baseline="30000">
                        <a:latin typeface="Cambria Math" panose="02040503050406030204" pitchFamily="18" charset="0"/>
                      </a:rPr>
                      <m:t>²</m:t>
                    </m:r>
                    <m:r>
                      <a:rPr lang="en-US" sz="2400" i="1">
                        <a:latin typeface="Cambria Math" panose="02040503050406030204" pitchFamily="18" charset="0"/>
                      </a:rPr>
                      <m:t> + 28</m:t>
                    </m:r>
                    <m:sSup>
                      <m:sSupPr>
                        <m:ctrlPr>
                          <a:rPr lang="en-US" sz="2400" i="1" baseline="30000">
                            <a:latin typeface="Cambria Math" charset="0"/>
                          </a:rPr>
                        </m:ctrlPr>
                      </m:sSupPr>
                      <m:e>
                        <m:r>
                          <a:rPr lang="en-US" sz="2400" i="1" baseline="30000">
                            <a:latin typeface="Cambria Math" panose="02040503050406030204" pitchFamily="18" charset="0"/>
                          </a:rPr>
                          <m:t>𝑥</m:t>
                        </m:r>
                      </m:e>
                      <m:sup>
                        <m:r>
                          <a:rPr lang="en-US" sz="2400" i="1" baseline="30000">
                            <a:latin typeface="Cambria Math" panose="02040503050406030204" pitchFamily="18" charset="0"/>
                          </a:rPr>
                          <m:t>3</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monomial factor is the greatest common monomial factor of </a:t>
                </a:r>
                <a14:m>
                  <m:oMath xmlns:m="http://schemas.openxmlformats.org/officeDocument/2006/math">
                    <m:r>
                      <a:rPr lang="en-US" sz="2400" i="1">
                        <a:latin typeface="Cambria Math" panose="02040503050406030204" pitchFamily="18" charset="0"/>
                      </a:rPr>
                      <m:t>14</m:t>
                    </m:r>
                    <m:r>
                      <a:rPr lang="en-US" sz="2400" i="1">
                        <a:latin typeface="Cambria Math" panose="02040503050406030204" pitchFamily="18" charset="0"/>
                      </a:rPr>
                      <m:t>𝑥</m:t>
                    </m:r>
                    <m:r>
                      <a:rPr lang="en-US" sz="2400" i="1" baseline="30000">
                        <a:latin typeface="Cambria Math" panose="02040503050406030204" pitchFamily="18" charset="0"/>
                      </a:rPr>
                      <m:t>²</m:t>
                    </m:r>
                    <m:r>
                      <a:rPr lang="en-US" sz="2400" i="1">
                        <a:latin typeface="Cambria Math" panose="02040503050406030204" pitchFamily="18" charset="0"/>
                      </a:rPr>
                      <m:t> + 28</m:t>
                    </m:r>
                    <m:sSup>
                      <m:sSupPr>
                        <m:ctrlPr>
                          <a:rPr lang="en-US" sz="2400" i="1" baseline="30000">
                            <a:latin typeface="Cambria Math" charset="0"/>
                          </a:rPr>
                        </m:ctrlPr>
                      </m:sSupPr>
                      <m:e>
                        <m:r>
                          <a:rPr lang="en-US" sz="2400" i="1" baseline="30000">
                            <a:latin typeface="Cambria Math" panose="02040503050406030204" pitchFamily="18" charset="0"/>
                          </a:rPr>
                          <m:t>𝑥</m:t>
                        </m:r>
                      </m:e>
                      <m:sup>
                        <m:r>
                          <a:rPr lang="en-US" sz="2400" i="1" baseline="30000">
                            <a:latin typeface="Cambria Math" panose="02040503050406030204" pitchFamily="18" charset="0"/>
                          </a:rPr>
                          <m:t>3</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to determine if a monomial factor is the greatest common monomial factor of a given polynomial. Summarize your discussion.</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843147" y="1386025"/>
                <a:ext cx="10295907" cy="4154984"/>
              </a:xfrm>
              <a:prstGeom prst="rect">
                <a:avLst/>
              </a:prstGeom>
              <a:blipFill>
                <a:blip r:embed="rId4"/>
                <a:stretch>
                  <a:fillRect l="-888" t="-1173" b="-2346"/>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xmlns="" id="{2B75021C-9817-6449-B54A-E1D9EB71417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282;g104476d1465_1_17">
            <a:extLst>
              <a:ext uri="{FF2B5EF4-FFF2-40B4-BE49-F238E27FC236}">
                <a16:creationId xmlns:a16="http://schemas.microsoft.com/office/drawing/2014/main" xmlns="" id="{3E435091-1D05-72B4-D507-9B975A38CC14}"/>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360</a:t>
            </a:r>
          </a:p>
        </p:txBody>
      </p:sp>
      <p:pic>
        <p:nvPicPr>
          <p:cNvPr id="11" name="Google Shape;283;g104476d1465_1_17">
            <a:extLst>
              <a:ext uri="{FF2B5EF4-FFF2-40B4-BE49-F238E27FC236}">
                <a16:creationId xmlns:a16="http://schemas.microsoft.com/office/drawing/2014/main" xmlns="" id="{82FF10BD-30B4-63C6-12F0-170F329C597D}"/>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43147" y="520394"/>
                <a:ext cx="10307783" cy="415498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Determine the greatest common factor for </a:t>
                </a:r>
                <a14:m>
                  <m:oMath xmlns:m="http://schemas.openxmlformats.org/officeDocument/2006/math">
                    <m:r>
                      <a:rPr lang="en-US" sz="2400" i="1">
                        <a:latin typeface="Cambria Math" panose="02040503050406030204" pitchFamily="18" charset="0"/>
                        <a:ea typeface="Cambria Math" panose="02040503050406030204" pitchFamily="18" charset="0"/>
                      </a:rPr>
                      <m:t>24</m:t>
                    </m:r>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rPr>
                      <m:t>−36</m:t>
                    </m:r>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rPr>
                      <m:t>−54</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Determine the greatest common factor for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7</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10</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𝑥</m:t>
                        </m:r>
                      </m:e>
                      <m:sup>
                        <m:r>
                          <a:rPr lang="en-US" sz="2400" i="1">
                            <a:latin typeface="Cambria Math" panose="02040503050406030204" pitchFamily="18" charset="0"/>
                            <a:ea typeface="Cambria Math" panose="02040503050406030204" pitchFamily="18" charset="0"/>
                          </a:rPr>
                          <m:t>13</m:t>
                        </m:r>
                      </m:sup>
                    </m:sSup>
                    <m:r>
                      <a:rPr lang="en-US" sz="2400" i="1">
                        <a:latin typeface="Cambria Math" panose="02040503050406030204" pitchFamily="18" charset="0"/>
                      </a:rPr>
                      <m:t>.</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43147" y="520394"/>
                <a:ext cx="10307783" cy="4154984"/>
              </a:xfrm>
              <a:prstGeom prst="rect">
                <a:avLst/>
              </a:prstGeom>
              <a:blipFill>
                <a:blip r:embed="rId3"/>
                <a:stretch>
                  <a:fillRect l="-887" t="-132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7" name="Google Shape;283;g104476d1465_1_17">
            <a:extLst>
              <a:ext uri="{FF2B5EF4-FFF2-40B4-BE49-F238E27FC236}">
                <a16:creationId xmlns:a16="http://schemas.microsoft.com/office/drawing/2014/main" xmlns="" id="{5F569415-CE9D-1414-0D50-3A742FB4B11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CCEB9A9C-D73B-B372-7BC9-763933BFC5A8}"/>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360</a:t>
            </a:r>
          </a:p>
        </p:txBody>
      </p:sp>
    </p:spTree>
    <p:extLst>
      <p:ext uri="{BB962C8B-B14F-4D97-AF65-F5344CB8AC3E}">
        <p14:creationId xmlns:p14="http://schemas.microsoft.com/office/powerpoint/2010/main" val="1617750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55023" y="520393"/>
                <a:ext cx="10319658" cy="1938992"/>
              </a:xfrm>
              <a:prstGeom prst="rect">
                <a:avLst/>
              </a:prstGeom>
              <a:noFill/>
            </p:spPr>
            <p:txBody>
              <a:bodyPr wrap="square" rtlCol="0">
                <a:spAutoFit/>
              </a:bodyPr>
              <a:lstStyle/>
              <a:p>
                <a:pPr marL="457200" indent="-457200">
                  <a:buFont typeface="+mj-lt"/>
                  <a:buAutoNum type="arabicPeriod" startAt="5"/>
                </a:pPr>
                <a:r>
                  <a:rPr lang="en-US" sz="2400" dirty="0"/>
                  <a:t> </a:t>
                </a:r>
                <a:r>
                  <a:rPr lang="en-US" sz="2400" dirty="0">
                    <a:latin typeface="Verdana" panose="020B0604030504040204" pitchFamily="34" charset="0"/>
                    <a:ea typeface="Verdana" panose="020B0604030504040204" pitchFamily="34" charset="0"/>
                    <a:cs typeface="Verdana" panose="020B0604030504040204" pitchFamily="34" charset="0"/>
                  </a:rPr>
                  <a:t>Determine the greatest common factor for </a:t>
                </a:r>
                <a14:m>
                  <m:oMath xmlns:m="http://schemas.openxmlformats.org/officeDocument/2006/math">
                    <m:sSup>
                      <m:sSupPr>
                        <m:ctrlPr>
                          <a:rPr lang="en-US" sz="2400" i="1">
                            <a:latin typeface="Cambria Math" charset="0"/>
                          </a:rPr>
                        </m:ctrlPr>
                      </m:sSupPr>
                      <m:e>
                        <m:r>
                          <a:rPr lang="en-US" sz="2400" i="1">
                            <a:latin typeface="Cambria Math" panose="02040503050406030204" pitchFamily="18" charset="0"/>
                          </a:rPr>
                          <m:t>𝑥</m:t>
                        </m:r>
                      </m:e>
                      <m:sup>
                        <m:r>
                          <a:rPr lang="en-US" sz="2400" i="1">
                            <a:latin typeface="Cambria Math" panose="02040503050406030204" pitchFamily="18" charset="0"/>
                          </a:rPr>
                          <m:t>3</m:t>
                        </m:r>
                      </m:sup>
                    </m:sSup>
                    <m:sSup>
                      <m:sSupPr>
                        <m:ctrlPr>
                          <a:rPr lang="en-US" sz="2400" i="1">
                            <a:latin typeface="Cambria Math" charset="0"/>
                          </a:rPr>
                        </m:ctrlPr>
                      </m:sSupPr>
                      <m:e>
                        <m:r>
                          <a:rPr lang="en-US" sz="2400" i="1">
                            <a:latin typeface="Cambria Math" panose="02040503050406030204" pitchFamily="18" charset="0"/>
                          </a:rPr>
                          <m:t>𝑦</m:t>
                        </m:r>
                      </m:e>
                      <m:sup>
                        <m:r>
                          <a:rPr lang="en-US" sz="2400" i="1">
                            <a:latin typeface="Cambria Math" panose="02040503050406030204" pitchFamily="18" charset="0"/>
                          </a:rPr>
                          <m:t>3</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400" i="1">
                            <a:latin typeface="Cambria Math"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sSup>
                      <m:sSupPr>
                        <m:ctrlPr>
                          <a:rPr lang="en-US" sz="2400" i="1">
                            <a:latin typeface="Cambria Math" charset="0"/>
                          </a:rPr>
                        </m:ctrlPr>
                      </m:sSupPr>
                      <m:e>
                        <m:r>
                          <a:rPr lang="en-US" sz="2400" i="1">
                            <a:latin typeface="Cambria Math" panose="02040503050406030204" pitchFamily="18" charset="0"/>
                          </a:rPr>
                          <m:t>𝑦</m:t>
                        </m:r>
                      </m:e>
                      <m:sup>
                        <m:r>
                          <a:rPr lang="en-US" sz="2400" i="1">
                            <a:latin typeface="Cambria Math" panose="02040503050406030204" pitchFamily="18" charset="0"/>
                          </a:rPr>
                          <m:t>8</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𝑥</m:t>
                    </m:r>
                    <m:sSup>
                      <m:sSupPr>
                        <m:ctrlPr>
                          <a:rPr lang="en-US" sz="2400" i="1">
                            <a:latin typeface="Cambria Math" charset="0"/>
                          </a:rPr>
                        </m:ctrlPr>
                      </m:sSupPr>
                      <m:e>
                        <m:r>
                          <a:rPr lang="en-US" sz="2400" i="1">
                            <a:latin typeface="Cambria Math" panose="02040503050406030204" pitchFamily="18" charset="0"/>
                          </a:rPr>
                          <m:t>𝑦</m:t>
                        </m:r>
                      </m:e>
                      <m:sup>
                        <m:r>
                          <a:rPr lang="en-US" sz="2400" i="1">
                            <a:latin typeface="Cambria Math" panose="02040503050406030204" pitchFamily="18" charset="0"/>
                          </a:rPr>
                          <m:t>4</m:t>
                        </m:r>
                      </m:sup>
                    </m:sSup>
                    <m:r>
                      <a:rPr lang="en-US" sz="2400" i="1">
                        <a:latin typeface="Cambria Math" panose="02040503050406030204" pitchFamily="18" charset="0"/>
                      </a:rPr>
                      <m:t>.</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55023" y="520393"/>
                <a:ext cx="10319658" cy="1938992"/>
              </a:xfrm>
              <a:prstGeom prst="rect">
                <a:avLst/>
              </a:prstGeom>
              <a:blipFill>
                <a:blip r:embed="rId3"/>
                <a:stretch>
                  <a:fillRect l="-768" t="-283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a:extLst>
              <a:ext uri="{FF2B5EF4-FFF2-40B4-BE49-F238E27FC236}">
                <a16:creationId xmlns:a16="http://schemas.microsoft.com/office/drawing/2014/main" xmlns="" id="{A90C2092-AE72-8924-36A0-3DB2751B204F}"/>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360</a:t>
            </a:r>
          </a:p>
        </p:txBody>
      </p:sp>
      <p:pic>
        <p:nvPicPr>
          <p:cNvPr id="8" name="Google Shape;283;g104476d1465_1_17">
            <a:extLst>
              <a:ext uri="{FF2B5EF4-FFF2-40B4-BE49-F238E27FC236}">
                <a16:creationId xmlns:a16="http://schemas.microsoft.com/office/drawing/2014/main" xmlns="" id="{A81CD811-539D-B57A-BA18-972FF4EF9E1D}"/>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66917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31273" y="520394"/>
            <a:ext cx="10295906" cy="1938992"/>
          </a:xfrm>
          <a:prstGeom prst="rect">
            <a:avLst/>
          </a:prstGeom>
          <a:noFill/>
        </p:spPr>
        <p:txBody>
          <a:bodyPr wrap="square" rtlCol="0">
            <a:spAutoFit/>
          </a:bodyPr>
          <a:lstStyle/>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 If an expression does not have one of the greatest common factors listed, write N/A.</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39AE838F-1801-FA44-8857-5DB5173D4390}"/>
                  </a:ext>
                </a:extLst>
              </p:cNvPr>
              <p:cNvGraphicFramePr>
                <a:graphicFrameLocks noGrp="1"/>
              </p:cNvGraphicFramePr>
              <p:nvPr>
                <p:extLst>
                  <p:ext uri="{D42A27DB-BD31-4B8C-83A1-F6EECF244321}">
                    <p14:modId xmlns:p14="http://schemas.microsoft.com/office/powerpoint/2010/main" val="2955943778"/>
                  </p:ext>
                </p:extLst>
              </p:nvPr>
            </p:nvGraphicFramePr>
            <p:xfrm>
              <a:off x="1353395" y="1339061"/>
              <a:ext cx="8978139" cy="5133591"/>
            </p:xfrm>
            <a:graphic>
              <a:graphicData uri="http://schemas.openxmlformats.org/drawingml/2006/table">
                <a:tbl>
                  <a:tblPr firstRow="1" firstCol="1" bandRow="1">
                    <a:tableStyleId>{A91F0D33-8C57-4600-99A7-42BC86742BE1}</a:tableStyleId>
                  </a:tblPr>
                  <a:tblGrid>
                    <a:gridCol w="3181070">
                      <a:extLst>
                        <a:ext uri="{9D8B030D-6E8A-4147-A177-3AD203B41FA5}">
                          <a16:colId xmlns:a16="http://schemas.microsoft.com/office/drawing/2014/main" xmlns="" val="1149299094"/>
                        </a:ext>
                      </a:extLst>
                    </a:gridCol>
                    <a:gridCol w="1961596">
                      <a:extLst>
                        <a:ext uri="{9D8B030D-6E8A-4147-A177-3AD203B41FA5}">
                          <a16:colId xmlns:a16="http://schemas.microsoft.com/office/drawing/2014/main" xmlns="" val="518072310"/>
                        </a:ext>
                      </a:extLst>
                    </a:gridCol>
                    <a:gridCol w="2010044">
                      <a:extLst>
                        <a:ext uri="{9D8B030D-6E8A-4147-A177-3AD203B41FA5}">
                          <a16:colId xmlns:a16="http://schemas.microsoft.com/office/drawing/2014/main" xmlns="" val="1871532364"/>
                        </a:ext>
                      </a:extLst>
                    </a:gridCol>
                    <a:gridCol w="1825429">
                      <a:extLst>
                        <a:ext uri="{9D8B030D-6E8A-4147-A177-3AD203B41FA5}">
                          <a16:colId xmlns:a16="http://schemas.microsoft.com/office/drawing/2014/main" xmlns="" val="880425210"/>
                        </a:ext>
                      </a:extLst>
                    </a:gridCol>
                  </a:tblGrid>
                  <a:tr h="147599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Greatest</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Common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Numeric</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Greatest</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Common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Variable</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Greatest</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Common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Monomial Factor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091664788"/>
                      </a:ext>
                    </a:extLst>
                  </a:tr>
                  <a:tr h="88063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b="0" i="1" u="none" strike="noStrike" cap="none" baseline="0" smtClean="0">
                                    <a:solidFill>
                                      <a:srgbClr val="000000"/>
                                    </a:solidFill>
                                    <a:effectLst/>
                                    <a:latin typeface="Cambria Math" panose="02040503050406030204" pitchFamily="18" charset="0"/>
                                    <a:ea typeface="Cambria Math" panose="02040503050406030204" pitchFamily="18" charset="0"/>
                                    <a:cs typeface="Arial"/>
                                    <a:sym typeface="Arial"/>
                                  </a:rPr>
                                  <m:t>25</m:t>
                                </m:r>
                                <m:sSup>
                                  <m:sSupPr>
                                    <m:ctrlPr>
                                      <a:rPr lang="en-US" sz="2000" b="0" i="1" u="none" strike="noStrike" cap="none" baseline="0">
                                        <a:solidFill>
                                          <a:srgbClr val="000000"/>
                                        </a:solidFill>
                                        <a:effectLst/>
                                        <a:latin typeface="Cambria Math" charset="0"/>
                                        <a:ea typeface="Cambria Math" panose="02040503050406030204" pitchFamily="18" charset="0"/>
                                        <a:cs typeface="Arial"/>
                                        <a:sym typeface="Arial"/>
                                      </a:rPr>
                                    </m:ctrlPr>
                                  </m:sSupPr>
                                  <m:e>
                                    <m:r>
                                      <a:rPr lang="en-US" sz="2000" b="0" i="1" u="none" strike="noStrike" cap="none" baseline="0">
                                        <a:solidFill>
                                          <a:srgbClr val="000000"/>
                                        </a:solidFill>
                                        <a:effectLst/>
                                        <a:latin typeface="Cambria Math" panose="02040503050406030204" pitchFamily="18" charset="0"/>
                                        <a:ea typeface="Cambria Math" panose="02040503050406030204" pitchFamily="18" charset="0"/>
                                        <a:cs typeface="Arial"/>
                                        <a:sym typeface="Arial"/>
                                      </a:rPr>
                                      <m:t>𝑤</m:t>
                                    </m:r>
                                  </m:e>
                                  <m:sup>
                                    <m:r>
                                      <a:rPr lang="en-US" sz="2000" b="0" i="1" u="none" strike="noStrike" cap="none" baseline="0">
                                        <a:solidFill>
                                          <a:srgbClr val="000000"/>
                                        </a:solidFill>
                                        <a:effectLst/>
                                        <a:latin typeface="Cambria Math" panose="02040503050406030204" pitchFamily="18" charset="0"/>
                                        <a:ea typeface="Cambria Math" panose="02040503050406030204" pitchFamily="18" charset="0"/>
                                        <a:cs typeface="Arial"/>
                                        <a:sym typeface="Arial"/>
                                      </a:rPr>
                                      <m:t>3</m:t>
                                    </m:r>
                                  </m:sup>
                                </m:sSup>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−40</m:t>
                                </m:r>
                                <m:sSup>
                                  <m:sSupPr>
                                    <m:ctrlPr>
                                      <a:rPr lang="en-US" sz="2000" b="0" i="1" u="none" strike="noStrike" cap="none">
                                        <a:solidFill>
                                          <a:srgbClr val="000000"/>
                                        </a:solidFill>
                                        <a:effectLst/>
                                        <a:latin typeface="Cambria Math" charset="0"/>
                                        <a:ea typeface="Cambria Math" panose="02040503050406030204" pitchFamily="18" charset="0"/>
                                        <a:cs typeface="Arial"/>
                                        <a:sym typeface="Arial"/>
                                      </a:rPr>
                                    </m:ctrlPr>
                                  </m:sSupPr>
                                  <m:e>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𝑤</m:t>
                                    </m:r>
                                  </m:e>
                                  <m:sup>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2</m:t>
                                    </m:r>
                                  </m:sup>
                                </m:sSup>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+60</m:t>
                                </m:r>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𝑤</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aseline="30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71948418"/>
                      </a:ext>
                    </a:extLst>
                  </a:tr>
                  <a:tr h="88063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81</m:t>
                                </m:r>
                                <m:r>
                                  <a:rPr lang="en-US" sz="2000">
                                    <a:effectLst/>
                                    <a:latin typeface="Cambria Math" panose="02040503050406030204" pitchFamily="18" charset="0"/>
                                    <a:ea typeface="Cambria Math" panose="02040503050406030204" pitchFamily="18" charset="0"/>
                                  </a:rPr>
                                  <m:t>𝑔</m:t>
                                </m:r>
                                <m:r>
                                  <a:rPr lang="en-US" sz="2000">
                                    <a:effectLst/>
                                    <a:latin typeface="Cambria Math" panose="02040503050406030204" pitchFamily="18" charset="0"/>
                                    <a:ea typeface="Cambria Math" panose="02040503050406030204" pitchFamily="18" charset="0"/>
                                  </a:rPr>
                                  <m:t>+108</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𝑔</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−12</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𝑔</m:t>
                                    </m:r>
                                  </m:e>
                                  <m:sup>
                                    <m:r>
                                      <a:rPr lang="en-US" sz="2000">
                                        <a:effectLst/>
                                        <a:latin typeface="Cambria Math" panose="02040503050406030204" pitchFamily="18" charset="0"/>
                                        <a:ea typeface="Cambria Math" panose="02040503050406030204" pitchFamily="18" charset="0"/>
                                      </a:rPr>
                                      <m:t>4</m:t>
                                    </m:r>
                                  </m:sup>
                                </m:sSup>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20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34656896"/>
                      </a:ext>
                    </a:extLst>
                  </a:tr>
                  <a:tr h="88063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𝑚</m:t>
                                    </m:r>
                                  </m:e>
                                  <m:sup>
                                    <m:r>
                                      <a:rPr lang="en-US" sz="2000">
                                        <a:effectLst/>
                                        <a:latin typeface="Cambria Math" panose="02040503050406030204" pitchFamily="18" charset="0"/>
                                        <a:ea typeface="Cambria Math" panose="02040503050406030204" pitchFamily="18" charset="0"/>
                                      </a:rPr>
                                      <m:t>3</m:t>
                                    </m:r>
                                  </m:sup>
                                </m:sSup>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𝑛</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+56</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𝑚</m:t>
                                    </m:r>
                                  </m:e>
                                  <m:sup>
                                    <m:r>
                                      <a:rPr lang="en-US" sz="2000">
                                        <a:effectLst/>
                                        <a:latin typeface="Cambria Math" panose="02040503050406030204" pitchFamily="18" charset="0"/>
                                        <a:ea typeface="Cambria Math" panose="02040503050406030204" pitchFamily="18" charset="0"/>
                                      </a:rPr>
                                      <m:t>2</m:t>
                                    </m:r>
                                  </m:sup>
                                </m:sSup>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𝑛</m:t>
                                    </m:r>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−21</m:t>
                                </m:r>
                                <m:r>
                                  <a:rPr lang="en-US" sz="2000">
                                    <a:effectLst/>
                                    <a:latin typeface="Cambria Math" panose="02040503050406030204" pitchFamily="18" charset="0"/>
                                    <a:ea typeface="Cambria Math" panose="02040503050406030204" pitchFamily="18" charset="0"/>
                                  </a:rPr>
                                  <m:t>𝑚𝑛</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baseline="30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41767242"/>
                      </a:ext>
                    </a:extLst>
                  </a:tr>
                  <a:tr h="880638">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𝑝</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𝑞</m:t>
                                </m:r>
                                <m:r>
                                  <a:rPr lang="en-US" sz="2000">
                                    <a:effectLst/>
                                    <a:latin typeface="Cambria Math" panose="02040503050406030204" pitchFamily="18" charset="0"/>
                                    <a:ea typeface="Cambria Math" panose="02040503050406030204" pitchFamily="18" charset="0"/>
                                  </a:rPr>
                                  <m:t>+16</m:t>
                                </m:r>
                                <m:sSup>
                                  <m:sSupPr>
                                    <m:ctrlPr>
                                      <a:rPr lang="en-US" sz="2000" i="1">
                                        <a:effectLst/>
                                        <a:latin typeface="Cambria Math"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𝑞</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−64</m:t>
                                </m:r>
                                <m:r>
                                  <a:rPr lang="en-US" sz="2000">
                                    <a:effectLst/>
                                    <a:latin typeface="Cambria Math" panose="02040503050406030204" pitchFamily="18" charset="0"/>
                                    <a:ea typeface="Cambria Math" panose="02040503050406030204" pitchFamily="18" charset="0"/>
                                  </a:rPr>
                                  <m:t>𝑝</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87863953"/>
                      </a:ext>
                    </a:extLst>
                  </a:tr>
                </a:tbl>
              </a:graphicData>
            </a:graphic>
          </p:graphicFrame>
        </mc:Choice>
        <mc:Fallback xmlns="">
          <p:graphicFrame>
            <p:nvGraphicFramePr>
              <p:cNvPr id="2" name="Table 1">
                <a:extLst>
                  <a:ext uri="{FF2B5EF4-FFF2-40B4-BE49-F238E27FC236}">
                    <a16:creationId xmlns:a16="http://schemas.microsoft.com/office/drawing/2014/main" id="{39AE838F-1801-FA44-8857-5DB5173D4390}"/>
                  </a:ext>
                </a:extLst>
              </p:cNvPr>
              <p:cNvGraphicFramePr>
                <a:graphicFrameLocks noGrp="1"/>
              </p:cNvGraphicFramePr>
              <p:nvPr>
                <p:extLst>
                  <p:ext uri="{D42A27DB-BD31-4B8C-83A1-F6EECF244321}">
                    <p14:modId xmlns:p14="http://schemas.microsoft.com/office/powerpoint/2010/main" val="2955943778"/>
                  </p:ext>
                </p:extLst>
              </p:nvPr>
            </p:nvGraphicFramePr>
            <p:xfrm>
              <a:off x="1353395" y="1339061"/>
              <a:ext cx="8978139" cy="5133591"/>
            </p:xfrm>
            <a:graphic>
              <a:graphicData uri="http://schemas.openxmlformats.org/drawingml/2006/table">
                <a:tbl>
                  <a:tblPr firstRow="1" firstCol="1" bandRow="1">
                    <a:tableStyleId>{A91F0D33-8C57-4600-99A7-42BC86742BE1}</a:tableStyleId>
                  </a:tblPr>
                  <a:tblGrid>
                    <a:gridCol w="3181070">
                      <a:extLst>
                        <a:ext uri="{9D8B030D-6E8A-4147-A177-3AD203B41FA5}">
                          <a16:colId xmlns:a16="http://schemas.microsoft.com/office/drawing/2014/main" val="1149299094"/>
                        </a:ext>
                      </a:extLst>
                    </a:gridCol>
                    <a:gridCol w="1961596">
                      <a:extLst>
                        <a:ext uri="{9D8B030D-6E8A-4147-A177-3AD203B41FA5}">
                          <a16:colId xmlns:a16="http://schemas.microsoft.com/office/drawing/2014/main" val="518072310"/>
                        </a:ext>
                      </a:extLst>
                    </a:gridCol>
                    <a:gridCol w="2010044">
                      <a:extLst>
                        <a:ext uri="{9D8B030D-6E8A-4147-A177-3AD203B41FA5}">
                          <a16:colId xmlns:a16="http://schemas.microsoft.com/office/drawing/2014/main" val="1871532364"/>
                        </a:ext>
                      </a:extLst>
                    </a:gridCol>
                    <a:gridCol w="1825429">
                      <a:extLst>
                        <a:ext uri="{9D8B030D-6E8A-4147-A177-3AD203B41FA5}">
                          <a16:colId xmlns:a16="http://schemas.microsoft.com/office/drawing/2014/main" val="880425210"/>
                        </a:ext>
                      </a:extLst>
                    </a:gridCol>
                  </a:tblGrid>
                  <a:tr h="147599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Greatest</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Common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Numeric</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Greatest</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Common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Variable</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Factor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Greatest</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Common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Monomial Factor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91664788"/>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83" t="-160927" r="-182567" b="-299338"/>
                          </a:stretch>
                        </a:blipFill>
                      </a:tcPr>
                    </a:tc>
                    <a:tc>
                      <a:txBody>
                        <a:bodyPr/>
                        <a:lstStyle/>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baseline="30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948418"/>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83" t="-262667" r="-182567" b="-201333"/>
                          </a:stretch>
                        </a:blipFill>
                      </a:tcPr>
                    </a:tc>
                    <a:tc>
                      <a:txBody>
                        <a:bodyPr/>
                        <a:lstStyle/>
                        <a:p>
                          <a:pPr marL="0" marR="0" algn="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120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4656896"/>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83" t="-362667" r="-182567" b="-101333"/>
                          </a:stretch>
                        </a:blipFill>
                      </a:tcPr>
                    </a:tc>
                    <a:tc>
                      <a:txBody>
                        <a:bodyPr/>
                        <a:lstStyle/>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baseline="30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1767242"/>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83" t="-462667" r="-182567" b="-1333"/>
                          </a:stretch>
                        </a:blipFill>
                      </a:tcPr>
                    </a:tc>
                    <a:tc>
                      <a:txBody>
                        <a:bodyPr/>
                        <a:lstStyle/>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7863953"/>
                      </a:ext>
                    </a:extLst>
                  </a:tr>
                </a:tbl>
              </a:graphicData>
            </a:graphic>
          </p:graphicFrame>
        </mc:Fallback>
      </mc:AlternateContent>
      <p:sp>
        <p:nvSpPr>
          <p:cNvPr id="7" name="Google Shape;282;g104476d1465_1_17">
            <a:extLst>
              <a:ext uri="{FF2B5EF4-FFF2-40B4-BE49-F238E27FC236}">
                <a16:creationId xmlns:a16="http://schemas.microsoft.com/office/drawing/2014/main" xmlns="" id="{311451D5-C0A0-2690-9620-BDEBE2969F78}"/>
              </a:ext>
            </a:extLst>
          </p:cNvPr>
          <p:cNvSpPr txBox="1"/>
          <p:nvPr/>
        </p:nvSpPr>
        <p:spPr>
          <a:xfrm>
            <a:off x="8812625"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360</a:t>
            </a:r>
          </a:p>
        </p:txBody>
      </p:sp>
      <p:pic>
        <p:nvPicPr>
          <p:cNvPr id="8" name="Google Shape;283;g104476d1465_1_17">
            <a:extLst>
              <a:ext uri="{FF2B5EF4-FFF2-40B4-BE49-F238E27FC236}">
                <a16:creationId xmlns:a16="http://schemas.microsoft.com/office/drawing/2014/main" xmlns="" id="{95055AEC-D652-6924-1563-63548EAA1A24}"/>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65217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727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361</a:t>
            </a: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95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09918" y="-37211"/>
            <a:ext cx="1053222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400" b="1" dirty="0">
                <a:solidFill>
                  <a:srgbClr val="54B5D1"/>
                </a:solidFill>
                <a:latin typeface="Verdana"/>
                <a:ea typeface="Verdana"/>
                <a:cs typeface="Verdana"/>
                <a:sym typeface="Verdana"/>
              </a:rPr>
              <a:t>7.1.4 Guided Practice: Factoring </a:t>
            </a:r>
            <a:r>
              <a:rPr lang="en-US" sz="3400" b="1" dirty="0" smtClean="0">
                <a:solidFill>
                  <a:srgbClr val="54B5D1"/>
                </a:solidFill>
                <a:latin typeface="Verdana"/>
                <a:ea typeface="Verdana"/>
                <a:cs typeface="Verdana"/>
                <a:sym typeface="Verdana"/>
              </a:rPr>
              <a:t>With </a:t>
            </a:r>
            <a:r>
              <a:rPr lang="en-US" sz="3400" b="1" dirty="0">
                <a:solidFill>
                  <a:srgbClr val="54B5D1"/>
                </a:solidFill>
                <a:latin typeface="Verdana"/>
                <a:ea typeface="Verdana"/>
                <a:cs typeface="Verdana"/>
                <a:sym typeface="Verdana"/>
              </a:rPr>
              <a:t>the Distributive Property</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60110"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31D40250-DEDD-2C41-8538-3D4DD18CCC4A}"/>
                  </a:ext>
                </a:extLst>
              </p:cNvPr>
              <p:cNvSpPr txBox="1"/>
              <p:nvPr/>
            </p:nvSpPr>
            <p:spPr>
              <a:xfrm>
                <a:off x="855022" y="1386025"/>
                <a:ext cx="10295908" cy="4493538"/>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Which of the following expressions are equivalent to </a:t>
                </a:r>
                <a14:m>
                  <m:oMath xmlns:m="http://schemas.openxmlformats.org/officeDocument/2006/math">
                    <m:r>
                      <a:rPr lang="en-US" sz="2200" i="1">
                        <a:latin typeface="Cambria Math" panose="02040503050406030204" pitchFamily="18" charset="0"/>
                      </a:rPr>
                      <m:t>8</m:t>
                    </m:r>
                    <m:sSup>
                      <m:sSupPr>
                        <m:ctrlPr>
                          <a:rPr lang="en-US" sz="2200" i="1">
                            <a:latin typeface="Cambria Math" charset="0"/>
                          </a:rPr>
                        </m:ctrlPr>
                      </m:sSupPr>
                      <m:e>
                        <m:r>
                          <a:rPr lang="en-US" sz="2200" i="1">
                            <a:latin typeface="Cambria Math" panose="02040503050406030204" pitchFamily="18" charset="0"/>
                          </a:rPr>
                          <m:t>𝑎</m:t>
                        </m:r>
                      </m:e>
                      <m:sup>
                        <m:r>
                          <a:rPr lang="en-US" sz="2200" i="1">
                            <a:latin typeface="Cambria Math" panose="02040503050406030204" pitchFamily="18" charset="0"/>
                          </a:rPr>
                          <m:t>3</m:t>
                        </m:r>
                      </m:sup>
                    </m:sSup>
                    <m:r>
                      <a:rPr lang="en-US" sz="2200" i="1">
                        <a:latin typeface="Cambria Math" panose="02040503050406030204" pitchFamily="18" charset="0"/>
                      </a:rPr>
                      <m:t>−98</m:t>
                    </m:r>
                    <m:r>
                      <a:rPr lang="en-US" sz="2200" i="1">
                        <a:latin typeface="Cambria Math" panose="02040503050406030204" pitchFamily="18" charset="0"/>
                      </a:rPr>
                      <m:t>𝑎</m:t>
                    </m:r>
                  </m:oMath>
                </a14:m>
                <a:r>
                  <a:rPr lang="en-US" sz="2200" dirty="0">
                    <a:latin typeface="Verdana" panose="020B0604030504040204" pitchFamily="34" charset="0"/>
                    <a:ea typeface="Verdana" panose="020B0604030504040204" pitchFamily="34" charset="0"/>
                    <a:cs typeface="Verdana" panose="020B0604030504040204" pitchFamily="34" charset="0"/>
                  </a:rPr>
                  <a:t>? Select all that apply.   </a:t>
                </a:r>
              </a:p>
              <a:p>
                <a:pPr lvl="0"/>
                <a:endParaRPr lang="en-US" sz="2200" dirty="0"/>
              </a:p>
              <a:p>
                <a:pPr marL="914400" indent="-457200">
                  <a:buFont typeface="Wingdings" pitchFamily="2" charset="2"/>
                  <a:buChar char="q"/>
                </a:pPr>
                <a14:m>
                  <m:oMath xmlns:m="http://schemas.openxmlformats.org/officeDocument/2006/math">
                    <m:r>
                      <a:rPr lang="en-US" sz="2200" i="1">
                        <a:latin typeface="Cambria Math" panose="02040503050406030204" pitchFamily="18" charset="0"/>
                        <a:ea typeface="Cambria Math" panose="02040503050406030204" pitchFamily="18" charset="0"/>
                      </a:rPr>
                      <m:t>𝑎</m:t>
                    </m:r>
                    <m:d>
                      <m:dPr>
                        <m:ctrlPr>
                          <a:rPr lang="en-US" sz="2200" i="1">
                            <a:latin typeface="Cambria Math"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8</m:t>
                        </m:r>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𝑎</m:t>
                            </m:r>
                          </m:e>
                          <m:sup>
                            <m:r>
                              <a:rPr lang="en-US" sz="2200" i="1">
                                <a:latin typeface="Cambria Math" panose="02040503050406030204" pitchFamily="18" charset="0"/>
                                <a:ea typeface="Cambria Math" panose="02040503050406030204" pitchFamily="18" charset="0"/>
                              </a:rPr>
                              <m:t>2</m:t>
                            </m:r>
                          </m:sup>
                        </m:sSup>
                        <m:r>
                          <a:rPr lang="en-US" sz="2200" i="1">
                            <a:latin typeface="Cambria Math" panose="02040503050406030204" pitchFamily="18" charset="0"/>
                            <a:ea typeface="Cambria Math" panose="02040503050406030204" pitchFamily="18" charset="0"/>
                          </a:rPr>
                          <m:t>−98</m:t>
                        </m:r>
                      </m:e>
                    </m:d>
                  </m:oMath>
                </a14:m>
                <a:endParaRPr lang="en-US" sz="22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200" i="1">
                        <a:latin typeface="Cambria Math" panose="02040503050406030204" pitchFamily="18" charset="0"/>
                        <a:ea typeface="Cambria Math" panose="02040503050406030204" pitchFamily="18" charset="0"/>
                      </a:rPr>
                      <m:t>2</m:t>
                    </m:r>
                    <m:d>
                      <m:dPr>
                        <m:ctrlPr>
                          <a:rPr lang="en-US" sz="2200" i="1">
                            <a:latin typeface="Cambria Math"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4</m:t>
                        </m:r>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𝑎</m:t>
                            </m:r>
                          </m:e>
                          <m:sup>
                            <m:r>
                              <a:rPr lang="en-US" sz="2200" i="1">
                                <a:latin typeface="Cambria Math" panose="02040503050406030204" pitchFamily="18" charset="0"/>
                                <a:ea typeface="Cambria Math" panose="02040503050406030204" pitchFamily="18" charset="0"/>
                              </a:rPr>
                              <m:t>3</m:t>
                            </m:r>
                          </m:sup>
                        </m:sSup>
                        <m:r>
                          <a:rPr lang="en-US" sz="2200" i="1">
                            <a:latin typeface="Cambria Math" panose="02040503050406030204" pitchFamily="18" charset="0"/>
                            <a:ea typeface="Cambria Math" panose="02040503050406030204" pitchFamily="18" charset="0"/>
                          </a:rPr>
                          <m:t>−49</m:t>
                        </m:r>
                        <m:r>
                          <a:rPr lang="en-US" sz="2200" i="1">
                            <a:latin typeface="Cambria Math" panose="02040503050406030204" pitchFamily="18" charset="0"/>
                            <a:ea typeface="Cambria Math" panose="02040503050406030204" pitchFamily="18" charset="0"/>
                          </a:rPr>
                          <m:t>𝑎</m:t>
                        </m:r>
                      </m:e>
                    </m:d>
                  </m:oMath>
                </a14:m>
                <a:endParaRPr lang="en-US" sz="22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200" i="1">
                        <a:latin typeface="Cambria Math" panose="02040503050406030204" pitchFamily="18" charset="0"/>
                        <a:ea typeface="Cambria Math" panose="02040503050406030204" pitchFamily="18" charset="0"/>
                      </a:rPr>
                      <m:t>2</m:t>
                    </m:r>
                    <m:r>
                      <a:rPr lang="en-US" sz="2200" i="1">
                        <a:latin typeface="Cambria Math" panose="02040503050406030204" pitchFamily="18" charset="0"/>
                        <a:ea typeface="Cambria Math" panose="02040503050406030204" pitchFamily="18" charset="0"/>
                      </a:rPr>
                      <m:t>𝑎</m:t>
                    </m:r>
                    <m:d>
                      <m:dPr>
                        <m:ctrlPr>
                          <a:rPr lang="en-US" sz="2200" i="1">
                            <a:latin typeface="Cambria Math"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4</m:t>
                        </m:r>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𝑎</m:t>
                            </m:r>
                          </m:e>
                          <m:sup>
                            <m:r>
                              <a:rPr lang="en-US" sz="2200" i="1">
                                <a:latin typeface="Cambria Math" panose="02040503050406030204" pitchFamily="18" charset="0"/>
                                <a:ea typeface="Cambria Math" panose="02040503050406030204" pitchFamily="18" charset="0"/>
                              </a:rPr>
                              <m:t>2</m:t>
                            </m:r>
                          </m:sup>
                        </m:sSup>
                        <m:r>
                          <a:rPr lang="en-US" sz="2200" i="1">
                            <a:latin typeface="Cambria Math" panose="02040503050406030204" pitchFamily="18" charset="0"/>
                            <a:ea typeface="Cambria Math" panose="02040503050406030204" pitchFamily="18" charset="0"/>
                          </a:rPr>
                          <m:t>−49</m:t>
                        </m:r>
                      </m:e>
                    </m:d>
                  </m:oMath>
                </a14:m>
                <a:endParaRPr lang="en-US" sz="22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200" i="1">
                        <a:latin typeface="Cambria Math" panose="02040503050406030204" pitchFamily="18" charset="0"/>
                        <a:ea typeface="Cambria Math" panose="02040503050406030204" pitchFamily="18" charset="0"/>
                      </a:rPr>
                      <m:t>2</m:t>
                    </m:r>
                    <m:r>
                      <a:rPr lang="en-US" sz="2200" i="1">
                        <a:latin typeface="Cambria Math" panose="02040503050406030204" pitchFamily="18" charset="0"/>
                        <a:ea typeface="Cambria Math" panose="02040503050406030204" pitchFamily="18" charset="0"/>
                      </a:rPr>
                      <m:t>𝑎</m:t>
                    </m:r>
                    <m:d>
                      <m:dPr>
                        <m:ctrlPr>
                          <a:rPr lang="en-US" sz="2200" i="1">
                            <a:latin typeface="Cambria Math"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4</m:t>
                        </m:r>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𝑎</m:t>
                            </m:r>
                          </m:e>
                          <m:sup>
                            <m:r>
                              <a:rPr lang="en-US" sz="2200" i="1">
                                <a:latin typeface="Cambria Math" panose="02040503050406030204" pitchFamily="18" charset="0"/>
                                <a:ea typeface="Cambria Math" panose="02040503050406030204" pitchFamily="18" charset="0"/>
                              </a:rPr>
                              <m:t>3</m:t>
                            </m:r>
                          </m:sup>
                        </m:sSup>
                        <m:r>
                          <a:rPr lang="en-US" sz="2200" i="1">
                            <a:latin typeface="Cambria Math" panose="02040503050406030204" pitchFamily="18" charset="0"/>
                            <a:ea typeface="Cambria Math" panose="02040503050406030204" pitchFamily="18" charset="0"/>
                          </a:rPr>
                          <m:t>−49</m:t>
                        </m:r>
                        <m:r>
                          <a:rPr lang="en-US" sz="2200" i="1">
                            <a:latin typeface="Cambria Math" panose="02040503050406030204" pitchFamily="18" charset="0"/>
                            <a:ea typeface="Cambria Math" panose="02040503050406030204" pitchFamily="18" charset="0"/>
                          </a:rPr>
                          <m:t>𝑎</m:t>
                        </m:r>
                      </m:e>
                    </m:d>
                  </m:oMath>
                </a14:m>
                <a:endParaRPr lang="en-US" sz="22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200" i="1">
                        <a:latin typeface="Cambria Math" panose="02040503050406030204" pitchFamily="18" charset="0"/>
                        <a:ea typeface="Cambria Math" panose="02040503050406030204" pitchFamily="18" charset="0"/>
                      </a:rPr>
                      <m:t>4</m:t>
                    </m:r>
                    <m:r>
                      <a:rPr lang="en-US" sz="2200" i="1">
                        <a:latin typeface="Cambria Math" panose="02040503050406030204" pitchFamily="18" charset="0"/>
                        <a:ea typeface="Cambria Math" panose="02040503050406030204" pitchFamily="18" charset="0"/>
                      </a:rPr>
                      <m:t>𝑎</m:t>
                    </m:r>
                    <m:d>
                      <m:dPr>
                        <m:ctrlPr>
                          <a:rPr lang="en-US" sz="2200" i="1">
                            <a:latin typeface="Cambria Math"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2</m:t>
                        </m:r>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𝑎</m:t>
                            </m:r>
                          </m:e>
                          <m:sup>
                            <m:r>
                              <a:rPr lang="en-US" sz="2200" i="1">
                                <a:latin typeface="Cambria Math" panose="02040503050406030204" pitchFamily="18" charset="0"/>
                                <a:ea typeface="Cambria Math" panose="02040503050406030204" pitchFamily="18" charset="0"/>
                              </a:rPr>
                              <m:t>2</m:t>
                            </m:r>
                          </m:sup>
                        </m:sSup>
                        <m:r>
                          <a:rPr lang="en-US" sz="2200" i="1">
                            <a:latin typeface="Cambria Math" panose="02040503050406030204" pitchFamily="18" charset="0"/>
                            <a:ea typeface="Cambria Math" panose="02040503050406030204" pitchFamily="18" charset="0"/>
                          </a:rPr>
                          <m:t>−49</m:t>
                        </m:r>
                        <m:r>
                          <a:rPr lang="en-US" sz="2200" i="1">
                            <a:latin typeface="Cambria Math" panose="02040503050406030204" pitchFamily="18" charset="0"/>
                            <a:ea typeface="Cambria Math" panose="02040503050406030204" pitchFamily="18" charset="0"/>
                          </a:rPr>
                          <m:t>𝑎</m:t>
                        </m:r>
                      </m:e>
                    </m:d>
                  </m:oMath>
                </a14:m>
                <a:endParaRPr lang="en-US" sz="22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200" i="1">
                        <a:latin typeface="Cambria Math" panose="02040503050406030204" pitchFamily="18" charset="0"/>
                        <a:ea typeface="Cambria Math" panose="02040503050406030204" pitchFamily="18" charset="0"/>
                      </a:rPr>
                      <m:t>8</m:t>
                    </m:r>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𝑎</m:t>
                        </m:r>
                      </m:e>
                      <m:sup>
                        <m:r>
                          <a:rPr lang="en-US" sz="2200" i="1">
                            <a:latin typeface="Cambria Math" panose="02040503050406030204" pitchFamily="18" charset="0"/>
                            <a:ea typeface="Cambria Math" panose="02040503050406030204" pitchFamily="18" charset="0"/>
                          </a:rPr>
                          <m:t>3</m:t>
                        </m:r>
                      </m:sup>
                    </m:sSup>
                    <m:r>
                      <a:rPr lang="en-US" sz="2200" i="1">
                        <a:latin typeface="Cambria Math" panose="02040503050406030204" pitchFamily="18" charset="0"/>
                        <a:ea typeface="Cambria Math" panose="02040503050406030204" pitchFamily="18" charset="0"/>
                      </a:rPr>
                      <m:t>(2−98</m:t>
                    </m:r>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oMath>
                </a14:m>
                <a:endParaRPr lang="en-US" sz="2200" dirty="0">
                  <a:latin typeface="Cambria Math" panose="02040503050406030204" pitchFamily="18" charset="0"/>
                  <a:ea typeface="Cambria Math" panose="02040503050406030204" pitchFamily="18" charset="0"/>
                </a:endParaRPr>
              </a:p>
              <a:p>
                <a:endParaRPr lang="en-US" sz="2200" dirty="0"/>
              </a:p>
              <a:p>
                <a:endParaRPr lang="en-US" sz="2200" dirty="0"/>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Write three equivalent expressions for </a:t>
                </a:r>
                <a14:m>
                  <m:oMath xmlns:m="http://schemas.openxmlformats.org/officeDocument/2006/math">
                    <m:r>
                      <a:rPr lang="en-US" sz="2200" i="1">
                        <a:latin typeface="Cambria Math" panose="02040503050406030204" pitchFamily="18" charset="0"/>
                        <a:ea typeface="Cambria Math" panose="02040503050406030204" pitchFamily="18" charset="0"/>
                      </a:rPr>
                      <m:t>18</m:t>
                    </m:r>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𝑥</m:t>
                        </m:r>
                      </m:e>
                      <m:sup>
                        <m:r>
                          <a:rPr lang="en-US" sz="2200" i="1">
                            <a:latin typeface="Cambria Math" panose="02040503050406030204" pitchFamily="18" charset="0"/>
                            <a:ea typeface="Cambria Math" panose="02040503050406030204" pitchFamily="18" charset="0"/>
                          </a:rPr>
                          <m:t>3</m:t>
                        </m:r>
                      </m:sup>
                    </m:sSup>
                    <m:r>
                      <a:rPr lang="en-US" sz="2200" i="1">
                        <a:latin typeface="Cambria Math" panose="02040503050406030204" pitchFamily="18" charset="0"/>
                        <a:ea typeface="Cambria Math" panose="02040503050406030204" pitchFamily="18" charset="0"/>
                      </a:rPr>
                      <m:t>−9</m:t>
                    </m:r>
                    <m:sSup>
                      <m:sSupPr>
                        <m:ctrlPr>
                          <a:rPr lang="en-US" sz="2200" i="1">
                            <a:latin typeface="Cambria Math" charset="0"/>
                            <a:ea typeface="Cambria Math" panose="02040503050406030204" pitchFamily="18" charset="0"/>
                          </a:rPr>
                        </m:ctrlPr>
                      </m:sSupPr>
                      <m:e>
                        <m:r>
                          <a:rPr lang="en-US" sz="2200" i="1">
                            <a:latin typeface="Cambria Math" panose="02040503050406030204" pitchFamily="18" charset="0"/>
                            <a:ea typeface="Cambria Math" panose="02040503050406030204" pitchFamily="18" charset="0"/>
                          </a:rPr>
                          <m:t>𝑥</m:t>
                        </m:r>
                      </m:e>
                      <m:sup>
                        <m:r>
                          <a:rPr lang="en-US" sz="2200" i="1">
                            <a:latin typeface="Cambria Math" panose="02040503050406030204" pitchFamily="18" charset="0"/>
                            <a:ea typeface="Cambria Math" panose="02040503050406030204" pitchFamily="18" charset="0"/>
                          </a:rPr>
                          <m:t>2</m:t>
                        </m:r>
                      </m:sup>
                    </m:sSup>
                    <m:r>
                      <a:rPr lang="en-US" sz="2200" i="1">
                        <a:latin typeface="Cambria Math" panose="02040503050406030204" pitchFamily="18" charset="0"/>
                        <a:ea typeface="Cambria Math" panose="02040503050406030204" pitchFamily="18" charset="0"/>
                      </a:rPr>
                      <m:t>−15</m:t>
                    </m:r>
                    <m:r>
                      <a:rPr lang="en-US" sz="2200" i="1">
                        <a:latin typeface="Cambria Math" panose="02040503050406030204" pitchFamily="18" charset="0"/>
                        <a:ea typeface="Cambria Math" panose="020405030504060302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 One of the expressions should include the greatest common monomial factor.</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855022" y="1386025"/>
                <a:ext cx="10295908" cy="4493538"/>
              </a:xfrm>
              <a:prstGeom prst="rect">
                <a:avLst/>
              </a:prstGeom>
              <a:blipFill>
                <a:blip r:embed="rId4"/>
                <a:stretch>
                  <a:fillRect l="-770" t="-1085" b="-2035"/>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xmlns="" id="{DC83FE6C-2A92-0840-AA21-B0B38F631C93}"/>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1" name="Google Shape;283;g104476d1465_1_17">
            <a:extLst>
              <a:ext uri="{FF2B5EF4-FFF2-40B4-BE49-F238E27FC236}">
                <a16:creationId xmlns:a16="http://schemas.microsoft.com/office/drawing/2014/main" xmlns="" id="{67BE247D-D0F9-4506-81AA-2E1A470197EF}"/>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8FF72DF1-A4F0-60D0-87DE-D4DBBCB8E0D7}"/>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361</a:t>
            </a:r>
          </a:p>
        </p:txBody>
      </p:sp>
    </p:spTree>
    <p:extLst>
      <p:ext uri="{BB962C8B-B14F-4D97-AF65-F5344CB8AC3E}">
        <p14:creationId xmlns:p14="http://schemas.microsoft.com/office/powerpoint/2010/main" val="745523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31273" y="520394"/>
                <a:ext cx="10295906" cy="1569660"/>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Write an equivalent expression for </a:t>
                </a:r>
                <a14:m>
                  <m:oMath xmlns:m="http://schemas.openxmlformats.org/officeDocument/2006/math">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𝑐</m:t>
                        </m:r>
                      </m:e>
                      <m:sup>
                        <m:r>
                          <a:rPr lang="en-US" sz="2400" i="1">
                            <a:latin typeface="Cambria Math" panose="02040503050406030204" pitchFamily="18" charset="0"/>
                            <a:ea typeface="Cambria Math" panose="02040503050406030204" pitchFamily="18" charset="0"/>
                          </a:rPr>
                          <m:t>3</m:t>
                        </m:r>
                      </m:sup>
                    </m:sSup>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𝑑</m:t>
                        </m:r>
                      </m:e>
                      <m:sup>
                        <m:r>
                          <a:rPr lang="en-US" sz="2400" i="1">
                            <a:latin typeface="Cambria Math" panose="02040503050406030204" pitchFamily="18" charset="0"/>
                            <a:ea typeface="Cambria Math" panose="02040503050406030204" pitchFamily="18" charset="0"/>
                          </a:rPr>
                          <m:t>3</m:t>
                        </m:r>
                      </m:sup>
                    </m:sSup>
                    <m:r>
                      <a:rPr lang="en-US" sz="2400" i="1">
                        <a:latin typeface="Cambria Math" panose="02040503050406030204" pitchFamily="18" charset="0"/>
                        <a:ea typeface="Cambria Math" panose="02040503050406030204" pitchFamily="18" charset="0"/>
                      </a:rPr>
                      <m:t>+14</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𝑐</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𝑑</m:t>
                    </m:r>
                    <m:r>
                      <a:rPr lang="en-US" sz="2400" i="1">
                        <a:latin typeface="Cambria Math" panose="02040503050406030204" pitchFamily="18" charset="0"/>
                        <a:ea typeface="Cambria Math" panose="02040503050406030204" pitchFamily="18" charset="0"/>
                      </a:rPr>
                      <m:t>+18</m:t>
                    </m:r>
                    <m:r>
                      <a:rPr lang="en-US" sz="2400" i="1">
                        <a:latin typeface="Cambria Math" panose="02040503050406030204" pitchFamily="18" charset="0"/>
                        <a:ea typeface="Cambria Math" panose="02040503050406030204" pitchFamily="18" charset="0"/>
                      </a:rPr>
                      <m:t>𝑐𝑑</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that uses the greatest common monomial factor.</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31273" y="520394"/>
                <a:ext cx="10295906" cy="1569660"/>
              </a:xfrm>
              <a:prstGeom prst="rect">
                <a:avLst/>
              </a:prstGeom>
              <a:blipFill>
                <a:blip r:embed="rId3"/>
                <a:stretch>
                  <a:fillRect l="-888" t="-348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DCFC9A26-671E-2C45-82EC-8B136C03E0A5}"/>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a:extLst>
              <a:ext uri="{FF2B5EF4-FFF2-40B4-BE49-F238E27FC236}">
                <a16:creationId xmlns:a16="http://schemas.microsoft.com/office/drawing/2014/main" xmlns="" id="{F30B5DB7-175E-6C7E-3AD9-7D776DE6D9BA}"/>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361</a:t>
            </a:r>
          </a:p>
        </p:txBody>
      </p:sp>
      <p:pic>
        <p:nvPicPr>
          <p:cNvPr id="8" name="Google Shape;283;g104476d1465_1_17">
            <a:extLst>
              <a:ext uri="{FF2B5EF4-FFF2-40B4-BE49-F238E27FC236}">
                <a16:creationId xmlns:a16="http://schemas.microsoft.com/office/drawing/2014/main" xmlns="" id="{3A3F199F-3E80-F23C-7311-CECDD0816425}"/>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6837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16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29595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EE3C8BB3-D8AE-154C-9B2D-B1D7451436FE}"/>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361</a:t>
            </a:r>
          </a:p>
        </p:txBody>
      </p:sp>
    </p:spTree>
    <p:extLst>
      <p:ext uri="{BB962C8B-B14F-4D97-AF65-F5344CB8AC3E}">
        <p14:creationId xmlns:p14="http://schemas.microsoft.com/office/powerpoint/2010/main" val="179083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430810" y="603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7.1.5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505902" y="60325"/>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831272" y="1180439"/>
                <a:ext cx="10561622" cy="489781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three equivalent expressions for </a:t>
                </a:r>
                <a14:m>
                  <m:oMath xmlns:m="http://schemas.openxmlformats.org/officeDocument/2006/math">
                    <m:r>
                      <a:rPr lang="en-US" sz="2400" i="1">
                        <a:latin typeface="Cambria Math" panose="02040503050406030204" pitchFamily="18" charset="0"/>
                        <a:ea typeface="Cambria Math" panose="02040503050406030204" pitchFamily="18" charset="0"/>
                      </a:rPr>
                      <m:t>72</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𝑏</m:t>
                        </m:r>
                      </m:e>
                      <m:sup>
                        <m:r>
                          <a:rPr lang="en-US" sz="2400" i="1">
                            <a:latin typeface="Cambria Math" panose="02040503050406030204" pitchFamily="18" charset="0"/>
                            <a:ea typeface="Cambria Math" panose="02040503050406030204" pitchFamily="18" charset="0"/>
                          </a:rPr>
                          <m:t>2</m:t>
                        </m:r>
                      </m:sup>
                    </m:sSup>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𝑘</m:t>
                        </m:r>
                      </m:e>
                      <m:sup>
                        <m:r>
                          <a:rPr lang="en-US" sz="2400" i="1">
                            <a:latin typeface="Cambria Math" panose="02040503050406030204" pitchFamily="18" charset="0"/>
                            <a:ea typeface="Cambria Math" panose="02040503050406030204" pitchFamily="18" charset="0"/>
                          </a:rPr>
                          <m:t>3</m:t>
                        </m:r>
                      </m:sup>
                    </m:sSup>
                    <m:r>
                      <a:rPr lang="en-US" sz="2400" i="1">
                        <a:latin typeface="Cambria Math" panose="02040503050406030204" pitchFamily="18" charset="0"/>
                        <a:ea typeface="Cambria Math" panose="02040503050406030204" pitchFamily="18" charset="0"/>
                      </a:rPr>
                      <m:t>−64</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𝑏</m:t>
                        </m:r>
                      </m:e>
                      <m:sup>
                        <m:r>
                          <a:rPr lang="en-US" sz="2400" i="1">
                            <a:latin typeface="Cambria Math" panose="02040503050406030204" pitchFamily="18" charset="0"/>
                            <a:ea typeface="Cambria Math" panose="02040503050406030204" pitchFamily="18" charset="0"/>
                          </a:rPr>
                          <m:t>5</m:t>
                        </m:r>
                      </m:sup>
                    </m:sSup>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𝑘</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+32</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𝑏</m:t>
                        </m:r>
                      </m:e>
                      <m:sup>
                        <m:r>
                          <a:rPr lang="en-US" sz="2400" i="1">
                            <a:latin typeface="Cambria Math" panose="02040503050406030204" pitchFamily="18" charset="0"/>
                            <a:ea typeface="Cambria Math" panose="02040503050406030204" pitchFamily="18" charset="0"/>
                          </a:rPr>
                          <m:t>8</m:t>
                        </m:r>
                      </m:sup>
                    </m:sSup>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𝑘</m:t>
                        </m:r>
                      </m:e>
                      <m:sup>
                        <m:r>
                          <a:rPr lang="en-US" sz="2400" i="1">
                            <a:latin typeface="Cambria Math" panose="02040503050406030204" pitchFamily="18" charset="0"/>
                            <a:ea typeface="Cambria Math" panose="02040503050406030204" pitchFamily="18" charset="0"/>
                          </a:rPr>
                          <m:t>6</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One of the expressions should include the greatest common monomial factor. </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Which expressions are equivalent to </a:t>
                </a:r>
                <a14:m>
                  <m:oMath xmlns:m="http://schemas.openxmlformats.org/officeDocument/2006/math">
                    <m:r>
                      <a:rPr lang="en-US" sz="2400" i="1">
                        <a:latin typeface="Cambria Math" panose="02040503050406030204" pitchFamily="18" charset="0"/>
                        <a:ea typeface="Cambria Math" panose="02040503050406030204" pitchFamily="18" charset="0"/>
                      </a:rPr>
                      <m:t>48</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3</m:t>
                        </m:r>
                      </m:sup>
                    </m:sSup>
                    <m:r>
                      <a:rPr lang="en-US" sz="2400" i="1">
                        <a:latin typeface="Cambria Math" panose="02040503050406030204" pitchFamily="18" charset="0"/>
                        <a:ea typeface="Cambria Math" panose="02040503050406030204" pitchFamily="18" charset="0"/>
                      </a:rPr>
                      <m:t>+18</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Select all that apply.  </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Wingdings" pitchFamily="2" charset="2"/>
                  <a:buChar char="q"/>
                </a:pPr>
                <a14:m>
                  <m:oMath xmlns:m="http://schemas.openxmlformats.org/officeDocument/2006/math">
                    <m:r>
                      <a:rPr lang="en-US" sz="2400" i="1">
                        <a:latin typeface="Cambria Math" panose="02040503050406030204" pitchFamily="18" charset="0"/>
                        <a:ea typeface="Cambria Math" panose="02040503050406030204" pitchFamily="18" charset="0"/>
                      </a:rPr>
                      <m:t>3</m:t>
                    </m:r>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16</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3</m:t>
                            </m:r>
                          </m:sup>
                        </m:sSup>
                        <m:r>
                          <a:rPr lang="en-US" sz="2400" i="1">
                            <a:latin typeface="Cambria Math" panose="02040503050406030204" pitchFamily="18" charset="0"/>
                            <a:ea typeface="Cambria Math" panose="02040503050406030204" pitchFamily="18" charset="0"/>
                          </a:rPr>
                          <m:t>+6</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2</m:t>
                            </m:r>
                          </m:sup>
                        </m:sSup>
                      </m:e>
                    </m:d>
                  </m:oMath>
                </a14:m>
                <a:endParaRPr lang="en-US" sz="24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400" i="1">
                        <a:latin typeface="Cambria Math" panose="02040503050406030204" pitchFamily="18" charset="0"/>
                        <a:ea typeface="Cambria Math" panose="02040503050406030204" pitchFamily="18" charset="0"/>
                      </a:rPr>
                      <m:t>6</m:t>
                    </m:r>
                    <m:r>
                      <a:rPr lang="en-US" sz="2400" i="1">
                        <a:latin typeface="Cambria Math" panose="02040503050406030204" pitchFamily="18" charset="0"/>
                        <a:ea typeface="Cambria Math" panose="02040503050406030204" pitchFamily="18" charset="0"/>
                      </a:rPr>
                      <m:t>𝑟</m:t>
                    </m:r>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8</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𝑟</m:t>
                        </m:r>
                      </m:e>
                    </m:d>
                  </m:oMath>
                </a14:m>
                <a:endParaRPr lang="en-US" sz="24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400" i="1">
                        <a:latin typeface="Cambria Math" panose="02040503050406030204" pitchFamily="18" charset="0"/>
                        <a:ea typeface="Cambria Math" panose="02040503050406030204" pitchFamily="18" charset="0"/>
                      </a:rPr>
                      <m:t>2</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2</m:t>
                        </m:r>
                      </m:sup>
                    </m:sSup>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24</m:t>
                        </m:r>
                        <m:r>
                          <a:rPr lang="en-US" sz="2400" i="1">
                            <a:latin typeface="Cambria Math" panose="02040503050406030204" pitchFamily="18" charset="0"/>
                            <a:ea typeface="Cambria Math" panose="02040503050406030204" pitchFamily="18" charset="0"/>
                          </a:rPr>
                          <m:t>𝑟</m:t>
                        </m:r>
                        <m:r>
                          <a:rPr lang="en-US" sz="2400" i="1">
                            <a:latin typeface="Cambria Math" panose="02040503050406030204" pitchFamily="18" charset="0"/>
                            <a:ea typeface="Cambria Math" panose="02040503050406030204" pitchFamily="18" charset="0"/>
                          </a:rPr>
                          <m:t>+9</m:t>
                        </m:r>
                      </m:e>
                    </m:d>
                  </m:oMath>
                </a14:m>
                <a:endParaRPr lang="en-US" sz="24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400" i="1">
                        <a:latin typeface="Cambria Math" panose="02040503050406030204" pitchFamily="18" charset="0"/>
                        <a:ea typeface="Cambria Math" panose="02040503050406030204" pitchFamily="18" charset="0"/>
                      </a:rPr>
                      <m:t>4</m:t>
                    </m:r>
                    <m:d>
                      <m:dPr>
                        <m:ctrlPr>
                          <a:rPr lang="en-US" sz="2400" i="1">
                            <a:latin typeface="Cambria Math"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12</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3</m:t>
                            </m:r>
                          </m:sup>
                        </m:sSup>
                        <m:r>
                          <a:rPr lang="en-US" sz="2400" i="1">
                            <a:latin typeface="Cambria Math" panose="02040503050406030204" pitchFamily="18" charset="0"/>
                            <a:ea typeface="Cambria Math" panose="02040503050406030204" pitchFamily="18" charset="0"/>
                          </a:rPr>
                          <m:t>+4</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2</m:t>
                            </m:r>
                          </m:sup>
                        </m:sSup>
                      </m:e>
                    </m:d>
                  </m:oMath>
                </a14:m>
                <a:endParaRPr lang="en-US" sz="2400" i="1" dirty="0">
                  <a:latin typeface="Cambria Math" panose="02040503050406030204" pitchFamily="18" charset="0"/>
                  <a:ea typeface="Cambria Math" panose="02040503050406030204" pitchFamily="18" charset="0"/>
                </a:endParaRPr>
              </a:p>
              <a:p>
                <a:pPr marL="914400" indent="-457200">
                  <a:buFont typeface="Wingdings" pitchFamily="2" charset="2"/>
                  <a:buChar char="q"/>
                </a:pPr>
                <a14:m>
                  <m:oMath xmlns:m="http://schemas.openxmlformats.org/officeDocument/2006/math">
                    <m:r>
                      <a:rPr lang="en-US" sz="2400" i="1">
                        <a:latin typeface="Cambria Math" panose="02040503050406030204" pitchFamily="18" charset="0"/>
                        <a:ea typeface="Cambria Math" panose="02040503050406030204" pitchFamily="18" charset="0"/>
                      </a:rPr>
                      <m:t>6</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𝑟</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(8</m:t>
                    </m:r>
                    <m:r>
                      <a:rPr lang="en-US" sz="2400" i="1">
                        <a:latin typeface="Cambria Math" panose="02040503050406030204" pitchFamily="18" charset="0"/>
                        <a:ea typeface="Cambria Math" panose="02040503050406030204" pitchFamily="18" charset="0"/>
                      </a:rPr>
                      <m:t>𝑟</m:t>
                    </m:r>
                    <m:r>
                      <a:rPr lang="en-US" sz="2400" i="1">
                        <a:latin typeface="Cambria Math" panose="02040503050406030204" pitchFamily="18" charset="0"/>
                        <a:ea typeface="Cambria Math" panose="02040503050406030204" pitchFamily="18" charset="0"/>
                      </a:rPr>
                      <m:t>+3)</m:t>
                    </m:r>
                  </m:oMath>
                </a14:m>
                <a:endParaRPr lang="en-US" sz="2400" dirty="0">
                  <a:latin typeface="Cambria Math" panose="02040503050406030204" pitchFamily="18" charset="0"/>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831272" y="1180439"/>
                <a:ext cx="10561622" cy="4897816"/>
              </a:xfrm>
              <a:prstGeom prst="rect">
                <a:avLst/>
              </a:prstGeom>
              <a:blipFill>
                <a:blip r:embed="rId4"/>
                <a:stretch>
                  <a:fillRect l="-866" t="-996" r="-289" b="-1619"/>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xmlns="" id="{EDD7E546-9334-CD4B-9098-7FA33B42DB04}"/>
              </a:ext>
            </a:extLst>
          </p:cNvPr>
          <p:cNvSpPr/>
          <p:nvPr/>
        </p:nvSpPr>
        <p:spPr>
          <a:xfrm>
            <a:off x="-18495"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0" name="Google Shape;283;g104476d1465_1_17">
            <a:extLst>
              <a:ext uri="{FF2B5EF4-FFF2-40B4-BE49-F238E27FC236}">
                <a16:creationId xmlns:a16="http://schemas.microsoft.com/office/drawing/2014/main" xmlns="" id="{BAB6D628-02C1-A1FD-642C-FFE428E1BC69}"/>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74A508B2-ED63-EFEE-6568-3D516EDB80CC}"/>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361</a:t>
            </a:r>
          </a:p>
        </p:txBody>
      </p:sp>
    </p:spTree>
    <p:extLst>
      <p:ext uri="{BB962C8B-B14F-4D97-AF65-F5344CB8AC3E}">
        <p14:creationId xmlns:p14="http://schemas.microsoft.com/office/powerpoint/2010/main" val="310129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362</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971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29761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092068" y="1"/>
            <a:ext cx="10837314" cy="124312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7.1.6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283984" y="18571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0370EDB7-6994-3D43-ABF9-E04CBAFB9CD9}"/>
                  </a:ext>
                </a:extLst>
              </p:cNvPr>
              <p:cNvSpPr txBox="1"/>
              <p:nvPr/>
            </p:nvSpPr>
            <p:spPr>
              <a:xfrm>
                <a:off x="843147" y="1386026"/>
                <a:ext cx="10319657" cy="15738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three equivalent expressions for </a:t>
                </a:r>
                <a14:m>
                  <m:oMath xmlns:m="http://schemas.openxmlformats.org/officeDocument/2006/math">
                    <m:r>
                      <a:rPr lang="en-US" sz="2400" i="1">
                        <a:latin typeface="Cambria Math" panose="02040503050406030204" pitchFamily="18" charset="0"/>
                        <a:ea typeface="Cambria Math" panose="02040503050406030204" pitchFamily="18" charset="0"/>
                      </a:rPr>
                      <m:t>12</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𝑎</m:t>
                        </m:r>
                      </m:e>
                      <m:sup>
                        <m:r>
                          <a:rPr lang="en-US" sz="2400" i="1">
                            <a:latin typeface="Cambria Math" panose="02040503050406030204" pitchFamily="18" charset="0"/>
                            <a:ea typeface="Cambria Math" panose="02040503050406030204" pitchFamily="18" charset="0"/>
                          </a:rPr>
                          <m:t>3</m:t>
                        </m:r>
                      </m:sup>
                    </m:sSup>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𝑏</m:t>
                        </m:r>
                      </m:e>
                      <m:sup>
                        <m:r>
                          <a:rPr lang="en-US" sz="2400" i="1">
                            <a:latin typeface="Cambria Math" panose="02040503050406030204" pitchFamily="18" charset="0"/>
                            <a:ea typeface="Cambria Math" panose="02040503050406030204" pitchFamily="18" charset="0"/>
                          </a:rPr>
                          <m:t>5</m:t>
                        </m:r>
                      </m:sup>
                    </m:sSup>
                    <m:r>
                      <a:rPr lang="en-US" sz="2400" i="1">
                        <a:latin typeface="Cambria Math" panose="02040503050406030204" pitchFamily="18" charset="0"/>
                        <a:ea typeface="Cambria Math" panose="02040503050406030204" pitchFamily="18" charset="0"/>
                      </a:rPr>
                      <m:t>−16</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𝑎</m:t>
                        </m:r>
                      </m:e>
                      <m:sup>
                        <m:r>
                          <a:rPr lang="en-US" sz="2400" i="1">
                            <a:latin typeface="Cambria Math" panose="02040503050406030204" pitchFamily="18" charset="0"/>
                            <a:ea typeface="Cambria Math" panose="02040503050406030204" pitchFamily="18" charset="0"/>
                          </a:rPr>
                          <m:t>2</m:t>
                        </m:r>
                      </m:sup>
                    </m:sSup>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𝑏</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+20</m:t>
                    </m:r>
                    <m:sSup>
                      <m:sSupPr>
                        <m:ctrlPr>
                          <a:rPr lang="en-US" sz="2400" i="1">
                            <a:latin typeface="Cambria Math"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𝑎</m:t>
                        </m:r>
                      </m:e>
                      <m:sup>
                        <m:r>
                          <a:rPr lang="en-US" sz="2400" i="1">
                            <a:latin typeface="Cambria Math" panose="02040503050406030204" pitchFamily="18" charset="0"/>
                            <a:ea typeface="Cambria Math" panose="02040503050406030204" pitchFamily="18" charset="0"/>
                          </a:rPr>
                          <m:t>3</m:t>
                        </m:r>
                      </m:sup>
                    </m:sSup>
                    <m:r>
                      <a:rPr lang="en-US" sz="2400" i="1">
                        <a:latin typeface="Cambria Math" panose="02040503050406030204" pitchFamily="18" charset="0"/>
                        <a:ea typeface="Cambria Math" panose="02040503050406030204" pitchFamily="18" charset="0"/>
                      </a:rPr>
                      <m:t>𝑏</m:t>
                    </m:r>
                  </m:oMath>
                </a14:m>
                <a:r>
                  <a:rPr lang="en-US" sz="2400" dirty="0">
                    <a:latin typeface="Verdana" panose="020B0604030504040204" pitchFamily="34" charset="0"/>
                    <a:ea typeface="Verdana" panose="020B0604030504040204" pitchFamily="34" charset="0"/>
                    <a:cs typeface="Verdana" panose="020B0604030504040204" pitchFamily="34" charset="0"/>
                  </a:rPr>
                  <a:t>. One of the expressions should include the greatest common monomial factor. </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843147" y="1386026"/>
                <a:ext cx="10319657" cy="1573829"/>
              </a:xfrm>
              <a:prstGeom prst="rect">
                <a:avLst/>
              </a:prstGeom>
              <a:blipFill>
                <a:blip r:embed="rId4"/>
                <a:stretch>
                  <a:fillRect l="-886" t="-3089" r="-1063"/>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xmlns="" id="{C9825640-5649-F74D-866E-EC8F188D5640}"/>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282;g104476d1465_1_17">
            <a:extLst>
              <a:ext uri="{FF2B5EF4-FFF2-40B4-BE49-F238E27FC236}">
                <a16:creationId xmlns:a16="http://schemas.microsoft.com/office/drawing/2014/main" xmlns="" id="{6F67B712-D84E-4813-DFB1-2686F6F22AC3}"/>
              </a:ext>
            </a:extLst>
          </p:cNvPr>
          <p:cNvSpPr txBox="1"/>
          <p:nvPr/>
        </p:nvSpPr>
        <p:spPr>
          <a:xfrm>
            <a:off x="8812624"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362</a:t>
            </a:r>
          </a:p>
        </p:txBody>
      </p:sp>
      <p:pic>
        <p:nvPicPr>
          <p:cNvPr id="11" name="Google Shape;311;g104476d1465_1_39">
            <a:extLst>
              <a:ext uri="{FF2B5EF4-FFF2-40B4-BE49-F238E27FC236}">
                <a16:creationId xmlns:a16="http://schemas.microsoft.com/office/drawing/2014/main" xmlns="" id="{4317A2D1-98AF-7498-DE48-792CC0FCD94E}"/>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0850"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1339</TotalTime>
  <Words>1262</Words>
  <Application>Microsoft Macintosh PowerPoint</Application>
  <PresentationFormat>Widescreen</PresentationFormat>
  <Paragraphs>263</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 Black</vt:lpstr>
      <vt:lpstr>Century Gothic</vt:lpstr>
      <vt:lpstr>Cambria Math</vt:lpstr>
      <vt:lpstr>Times New Roman</vt:lpstr>
      <vt:lpstr>Verdana</vt:lpstr>
      <vt:lpstr>Cambria</vt:lpstr>
      <vt:lpstr>Wingdings</vt:lpstr>
      <vt:lpstr>Arial</vt:lpstr>
      <vt:lpstr>Calibri</vt:lpstr>
      <vt:lpstr>1_Office Theme</vt:lpstr>
      <vt:lpstr>Algebra 1  Unit 7, Lesson 1  Factoring and the Distributive Property  Volume 1, pg. 357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22</cp:revision>
  <dcterms:created xsi:type="dcterms:W3CDTF">2015-03-17T18:51:18Z</dcterms:created>
  <dcterms:modified xsi:type="dcterms:W3CDTF">2022-07-29T23:18:06Z</dcterms:modified>
</cp:coreProperties>
</file>