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36" r:id="rId11"/>
    <p:sldId id="342" r:id="rId12"/>
    <p:sldId id="343" r:id="rId13"/>
    <p:sldId id="346" r:id="rId14"/>
    <p:sldId id="347" r:id="rId15"/>
    <p:sldId id="344" r:id="rId16"/>
    <p:sldId id="323" r:id="rId17"/>
    <p:sldId id="324" r:id="rId18"/>
    <p:sldId id="337" r:id="rId19"/>
    <p:sldId id="345" r:id="rId20"/>
    <p:sldId id="320" r:id="rId21"/>
    <p:sldId id="321" r:id="rId22"/>
    <p:sldId id="302" r:id="rId23"/>
    <p:sldId id="303" r:id="rId24"/>
    <p:sldId id="306" r:id="rId25"/>
    <p:sldId id="30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98" autoAdjust="0"/>
    <p:restoredTop sz="94695"/>
  </p:normalViewPr>
  <p:slideViewPr>
    <p:cSldViewPr snapToGrid="0">
      <p:cViewPr varScale="1">
        <p:scale>
          <a:sx n="92" d="100"/>
          <a:sy n="92" d="100"/>
        </p:scale>
        <p:origin x="192" y="5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55" Type="http://customschemas.google.com/relationships/presentationmetadata" Target="metadata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33923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488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0001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1660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7287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0936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13636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1807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0696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2417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49551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4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5.jpg"/><Relationship Id="rId6" Type="http://schemas.openxmlformats.org/officeDocument/2006/relationships/hyperlink" Target="http://www.vecteezy.com/spills-splatters/6375-splatter-pack-2" TargetMode="External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9144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Factoring a 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Trinomial </a:t>
            </a:r>
            <a:r>
              <a:rPr lang="en-US" sz="3800" b="1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With 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 Leading Coefficient Greater Than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375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47850" y="1600200"/>
            <a:ext cx="91886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MA.912.AR.1.7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a polynomial expression as a product of polynomials over the real number system.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667"/>
            <a:ext cx="1033013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47849" y="1596390"/>
            <a:ext cx="917680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7FCFA279-A73E-21D2-745D-0EF19A8D0E9B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xmlns="" id="{3879F3C4-4814-E970-24E5-269BD9605AC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70643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481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xmlns="" id="{9B7C98EC-F13C-9146-B728-D7044DB424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0642" y="1600200"/>
                <a:ext cx="9154013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use algebra tiles to factor a trinomial with a leading coefficient greater than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factor a trinomial with a leading coefficient greater than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8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/>
                </a:endParaRPr>
              </a:p>
            </p:txBody>
          </p:sp>
        </mc:Choice>
        <mc:Fallback xmlns="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id="{9B7C98EC-F13C-9146-B728-D7044DB4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642" y="1600200"/>
                <a:ext cx="9154013" cy="4205700"/>
              </a:xfrm>
              <a:prstGeom prst="rect">
                <a:avLst/>
              </a:prstGeom>
              <a:blipFill>
                <a:blip r:embed="rId4"/>
                <a:stretch>
                  <a:fillRect l="-1199" t="-15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258A0193-556B-BD4C-98B5-3E07E3218F80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xmlns="" id="{05017433-840F-D50C-0370-05DFB3C1BD84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3528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4232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DA251981-8D0A-2956-9C5C-9EC4C2EEC0EB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37234" y="60325"/>
            <a:ext cx="1059214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7.4.1 Warm-Up: Growth Mindset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516" y="349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843148" y="1386026"/>
            <a:ext cx="10295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Each statement describes the celebrity indicated.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F1992A8F-F621-054D-B71E-96605FF7377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1207051"/>
                  </p:ext>
                </p:extLst>
              </p:nvPr>
            </p:nvGraphicFramePr>
            <p:xfrm>
              <a:off x="1781299" y="2106114"/>
              <a:ext cx="7880678" cy="410829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00067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980611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3187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Statement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Celebrity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26317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He was never offered a top Division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scholarship. Scouting Reports said his explosiveness and athleticism were below standard.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Steph Curry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26317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His first book was rejected by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27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different publishers. They said his material was too different and would never sell.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Dr. Seuss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126317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He was fired from a newspaper for not being creative enough. They said he lacked imagination and had no good ideas.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Walt Disney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1207051"/>
                  </p:ext>
                </p:extLst>
              </p:nvPr>
            </p:nvGraphicFramePr>
            <p:xfrm>
              <a:off x="1781299" y="2106114"/>
              <a:ext cx="7880678" cy="410829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0006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61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187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Statement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Celebrity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631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3" t="-30288" r="-33884" b="-200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Steph Curry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631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3" t="-130918" r="-33884" b="-1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Dr. Seuss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6317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He was fired from a newspaper for not being creative enough. They said he lacked imagination and had no good ideas.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Walt Disney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90B90B6-6484-7A65-9E78-365D2F894F88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xmlns="" id="{05A9363C-3039-C88B-4A4C-BD588E51D6FF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843147" y="520394"/>
            <a:ext cx="102959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did a growth mindset help these celebrities? 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can you do to maintain a growth mindset if you get frustrated with today’s (or any day’s) lesson to help you keep a growth mindset?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15F1D98C-071D-7E4F-AC26-9D72783C569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6134985-65BB-FA43-1D96-3FF932CB5B58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1A60A33B-AB99-6755-DBB9-6B0AE5EF473E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58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5F261E5A-ECA1-486E-81FE-008B40157B51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xmlns="" id="{64EDBE4E-4C71-084C-CF4C-E9FFB4955DDC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43;g103996e1364_0_321">
                <a:extLst>
                  <a:ext uri="{FF2B5EF4-FFF2-40B4-BE49-F238E27FC236}">
                    <a16:creationId xmlns:a16="http://schemas.microsoft.com/office/drawing/2014/main" xmlns="" id="{21B1DF8E-16A0-FA4E-8CEB-434668DFA6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3164" y="-1"/>
                <a:ext cx="10616540" cy="1239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90000"/>
                  </a:lnSpc>
                  <a:buClr>
                    <a:schemeClr val="dk1"/>
                  </a:buClr>
                  <a:buSzPts val="5400"/>
                  <a:buFont typeface="Century Gothic"/>
                  <a:buNone/>
                </a:pPr>
                <a:r>
                  <a:rPr lang="en-US" sz="3200" b="1" dirty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7.4.2 Guided Instruction: Factoring Trinomials Where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𝒂</m:t>
                    </m:r>
                    <m:r>
                      <a:rPr lang="en-US" sz="3200" b="1" i="1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rPr>
                      <m:t>≠</m:t>
                    </m:r>
                    <m:r>
                      <a:rPr lang="en-US" sz="3200" b="1" i="1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rPr>
                      <m:t>𝟏</m:t>
                    </m:r>
                  </m:oMath>
                </a14:m>
                <a:endParaRPr lang="en-US" sz="3200" b="1" dirty="0">
                  <a:solidFill>
                    <a:srgbClr val="54B5D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7" name="Google Shape;343;g103996e1364_0_321">
                <a:extLst>
                  <a:ext uri="{FF2B5EF4-FFF2-40B4-BE49-F238E27FC236}">
                    <a16:creationId xmlns:a16="http://schemas.microsoft.com/office/drawing/2014/main" id="{21B1DF8E-16A0-FA4E-8CEB-434668DFA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164" y="-1"/>
                <a:ext cx="10616540" cy="1239721"/>
              </a:xfrm>
              <a:prstGeom prst="rect">
                <a:avLst/>
              </a:prstGeom>
              <a:blipFill>
                <a:blip r:embed="rId3"/>
                <a:stretch>
                  <a:fillRect l="-1493" b="-49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497" y="19192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843147" y="1386026"/>
                <a:ext cx="1029590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algebra tiles to determine the two binomials that are factors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+17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1386026"/>
                <a:ext cx="10295907" cy="830997"/>
              </a:xfrm>
              <a:prstGeom prst="rect">
                <a:avLst/>
              </a:prstGeom>
              <a:blipFill>
                <a:blip r:embed="rId5"/>
                <a:stretch>
                  <a:fillRect l="-888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2B75021C-9817-6449-B54A-E1D9EB71417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0" name="Picture 9" descr="A picture containing text, crossword puzzle, cabinet, square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80277" y="2301773"/>
            <a:ext cx="3830955" cy="4406900"/>
          </a:xfrm>
          <a:prstGeom prst="rect">
            <a:avLst/>
          </a:prstGeom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F99B194C-A9F9-DACD-E748-813D18E74CEC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xmlns="" id="{4A4D9641-8004-8EDE-44B0-2485A6E7A11A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772385" y="246074"/>
                <a:ext cx="10366670" cy="6247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any differences you notice between the binomial factors in question 1 and factoring trinomials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Summarize your discussion.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steps for applying the distributive property to multiply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(3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+2)(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shown.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Based on the results in the table, what is the product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(3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+2)(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85" y="246074"/>
                <a:ext cx="10366670" cy="6247864"/>
              </a:xfrm>
              <a:prstGeom prst="rect">
                <a:avLst/>
              </a:prstGeom>
              <a:blipFill>
                <a:blip r:embed="rId3"/>
                <a:stretch>
                  <a:fillRect l="-647" t="-585" r="-294" b="-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AEBEA3-B321-FF43-939E-DBF04267F34A}"/>
              </a:ext>
            </a:extLst>
          </p:cNvPr>
          <p:cNvSpPr/>
          <p:nvPr/>
        </p:nvSpPr>
        <p:spPr>
          <a:xfrm>
            <a:off x="-4725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9648" y="2187917"/>
            <a:ext cx="5632704" cy="3526479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991486C3-7FA3-4AD1-9D59-BBBD63D81614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F81BF9F6-7F22-3D1A-C616-F7320833EA2C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5023" y="520393"/>
                <a:ext cx="10284032" cy="5509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algebra tiles diagram models the result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(3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+2)(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−5)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rectangle around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2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𝟏𝟓</m:t>
                    </m:r>
                    <m:r>
                      <a:rPr lang="en-US" sz="22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2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algebra tiles diagram for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2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−13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3" y="520393"/>
                <a:ext cx="10284032" cy="5509200"/>
              </a:xfrm>
              <a:prstGeom prst="rect">
                <a:avLst/>
              </a:prstGeom>
              <a:blipFill>
                <a:blip r:embed="rId3"/>
                <a:stretch>
                  <a:fillRect t="-885" b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AEBEA3-B321-FF43-939E-DBF04267F34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7" name="Picture 6" descr="Chart, table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5870" y="1040453"/>
            <a:ext cx="2954655" cy="3909695"/>
          </a:xfrm>
          <a:prstGeom prst="rect">
            <a:avLst/>
          </a:prstGeom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68B3E207-6B5E-F9E7-479C-2E69E10E0E48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xmlns="" id="{1CDAED68-D5D8-9E50-5F5C-0536E5D5FEBE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784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3147" y="520393"/>
                <a:ext cx="10284032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algebra tiles diagram demonstrates the distribution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Summarize your discussion.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Compare the algebra tiles diagram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+17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the algebra tiles diagram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Describe the differences.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Factoring trinomials of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resulted in the factored form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520393"/>
                <a:ext cx="10284032" cy="4893647"/>
              </a:xfrm>
              <a:prstGeom prst="rect">
                <a:avLst/>
              </a:prstGeom>
              <a:blipFill>
                <a:blip r:embed="rId3"/>
                <a:stretch>
                  <a:fillRect l="-889" t="-996" r="-830" b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AEBEA3-B321-FF43-939E-DBF04267F34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F9835575-6BAE-0DEE-A330-DB4EB4FF158D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40B09F06-E719-452D-C739-7F62DE1570B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9874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3148" y="520393"/>
                <a:ext cx="1027215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examples in the table to explore factoring trinomials of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Summarize the similarities and differences of the factored forms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520393"/>
                <a:ext cx="10272156" cy="1569660"/>
              </a:xfrm>
              <a:prstGeom prst="rect">
                <a:avLst/>
              </a:prstGeom>
              <a:blipFill>
                <a:blip r:embed="rId3"/>
                <a:stretch>
                  <a:fillRect l="-890" t="-3101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AEBEA3-B321-FF43-939E-DBF04267F34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3277440"/>
                  </p:ext>
                </p:extLst>
              </p:nvPr>
            </p:nvGraphicFramePr>
            <p:xfrm>
              <a:off x="2437566" y="2177902"/>
              <a:ext cx="6387403" cy="435133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166204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110008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111191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36261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Trinomial</a:t>
                          </a:r>
                        </a:p>
                      </a:txBody>
                      <a:tcPr marL="63886" marR="63886" marT="0" marB="0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+17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86" marR="63886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86" marR="63886" marT="0" marB="0"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form</a:t>
                          </a:r>
                        </a:p>
                      </a:txBody>
                      <a:tcPr marL="63886" marR="63886" marT="0" marB="0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+2)(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+5)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86" marR="63886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+2)(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−5)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86" marR="63886" marT="0" marB="0"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81305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Similarities</a:t>
                          </a:r>
                        </a:p>
                      </a:txBody>
                      <a:tcPr marL="63886" marR="63886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86" marR="63886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181305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Differences</a:t>
                          </a:r>
                        </a:p>
                      </a:txBody>
                      <a:tcPr marL="63886" marR="63886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86" marR="63886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3277440"/>
                  </p:ext>
                </p:extLst>
              </p:nvPr>
            </p:nvGraphicFramePr>
            <p:xfrm>
              <a:off x="2437566" y="2177902"/>
              <a:ext cx="6387403" cy="435133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1662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1000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1119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261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Trinomial</a:t>
                          </a:r>
                        </a:p>
                      </a:txBody>
                      <a:tcPr marL="63886" marR="63886" marT="0" marB="0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886" marR="63886" marT="0" marB="0">
                        <a:blipFill>
                          <a:blip r:embed="rId4"/>
                          <a:stretch>
                            <a:fillRect l="-103179" t="-21667" r="-100867" b="-10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886" marR="63886" marT="0" marB="0">
                        <a:blipFill>
                          <a:blip r:embed="rId4"/>
                          <a:stretch>
                            <a:fillRect l="-202594" t="-21667" r="-576" b="-109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form</a:t>
                          </a:r>
                        </a:p>
                      </a:txBody>
                      <a:tcPr marL="63886" marR="63886" marT="0" marB="0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886" marR="63886" marT="0" marB="0">
                        <a:blipFill>
                          <a:blip r:embed="rId4"/>
                          <a:stretch>
                            <a:fillRect l="-103179" t="-123729" r="-100867" b="-1013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886" marR="63886" marT="0" marB="0">
                        <a:blipFill>
                          <a:blip r:embed="rId4"/>
                          <a:stretch>
                            <a:fillRect l="-202594" t="-123729" r="-576" b="-10135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1305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Similarities</a:t>
                          </a:r>
                        </a:p>
                      </a:txBody>
                      <a:tcPr marL="63886" marR="63886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86" marR="63886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1305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Differences</a:t>
                          </a:r>
                        </a:p>
                      </a:txBody>
                      <a:tcPr marL="63886" marR="63886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86" marR="63886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F2B01425-9292-2C55-3CFC-289DC17D27E8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70D415EB-54B3-57BC-7A15-855AAA7656CD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8685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31273" y="520394"/>
                <a:ext cx="10307782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factoring quadratics of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coefficient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sum of factors of the product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+17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products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respectively.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69963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List all the pairs of factors for both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3" y="520394"/>
                <a:ext cx="10307782" cy="2677656"/>
              </a:xfrm>
              <a:prstGeom prst="rect">
                <a:avLst/>
              </a:prstGeom>
              <a:blipFill>
                <a:blip r:embed="rId3"/>
                <a:stretch>
                  <a:fillRect l="-887" t="-2045" r="-1360" b="-3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AEBEA3-B321-FF43-939E-DBF04267F34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2706111"/>
                  </p:ext>
                </p:extLst>
              </p:nvPr>
            </p:nvGraphicFramePr>
            <p:xfrm>
              <a:off x="2413087" y="3573725"/>
              <a:ext cx="6316282" cy="250827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89584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4626698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3942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Pairs of Factors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0570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0570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2706111"/>
                  </p:ext>
                </p:extLst>
              </p:nvPr>
            </p:nvGraphicFramePr>
            <p:xfrm>
              <a:off x="2413087" y="3573725"/>
              <a:ext cx="6316282" cy="250827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895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266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42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Pairs of Factors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570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61" t="-40462" r="-275451" b="-1017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570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61" t="-139655" r="-275451" b="-1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D8C9D0F6-92D5-ABDB-1DDC-32EFA01E1A90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8833B860-F103-D169-C86D-C433809840A2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767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34787" y="520394"/>
                <a:ext cx="10204268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the factor pair for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whose sum is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the factor pair for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whose sum is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−13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factor pairs can be used to factor by grouping. Complete the steps for factoring by grouping for each trinomial expression.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787" y="520394"/>
                <a:ext cx="10204268" cy="2800767"/>
              </a:xfrm>
              <a:prstGeom prst="rect">
                <a:avLst/>
              </a:prstGeom>
              <a:blipFill>
                <a:blip r:embed="rId3"/>
                <a:stretch>
                  <a:fillRect t="-1739" b="-3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AEBEA3-B321-FF43-939E-DBF04267F34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0286706"/>
                  </p:ext>
                </p:extLst>
              </p:nvPr>
            </p:nvGraphicFramePr>
            <p:xfrm>
              <a:off x="2166583" y="3424825"/>
              <a:ext cx="7453228" cy="298411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726614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726614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7969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𝟏𝟕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932" marR="57932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𝟏𝟑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932" marR="57932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62610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+15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932" marR="5793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−15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932" marR="57932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62610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932" marR="5793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932" marR="57932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62610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+_______)+2(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+_______)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932" marR="57932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−_______)+2(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−_______)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932" marR="57932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62610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+2)(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+5)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932" marR="57932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+2)(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−5)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932" marR="57932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0286706"/>
                  </p:ext>
                </p:extLst>
              </p:nvPr>
            </p:nvGraphicFramePr>
            <p:xfrm>
              <a:off x="2166583" y="3424825"/>
              <a:ext cx="7453228" cy="298411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7266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2661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796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932" marR="57932" marT="0" marB="0" anchor="ctr">
                        <a:blipFill>
                          <a:blip r:embed="rId4"/>
                          <a:stretch>
                            <a:fillRect l="-163" t="-1266" r="-100327" b="-5240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932" marR="57932" marT="0" marB="0" anchor="ctr">
                        <a:blipFill>
                          <a:blip r:embed="rId4"/>
                          <a:stretch>
                            <a:fillRect l="-100163" t="-1266" r="-327" b="-5240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61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932" marR="57932" marT="0" marB="0" anchor="ctr">
                        <a:blipFill>
                          <a:blip r:embed="rId4"/>
                          <a:stretch>
                            <a:fillRect l="-163" t="-77670" r="-100327" b="-30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932" marR="57932" marT="0" marB="0" anchor="ctr">
                        <a:blipFill>
                          <a:blip r:embed="rId4"/>
                          <a:stretch>
                            <a:fillRect l="-100163" t="-77670" r="-327" b="-3019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610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932" marR="5793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932" marR="57932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61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932" marR="57932" marT="0" marB="0" anchor="ctr">
                        <a:blipFill>
                          <a:blip r:embed="rId4"/>
                          <a:stretch>
                            <a:fillRect l="-163" t="-277670" r="-100327" b="-10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932" marR="57932" marT="0" marB="0" anchor="ctr">
                        <a:blipFill>
                          <a:blip r:embed="rId4"/>
                          <a:stretch>
                            <a:fillRect l="-100163" t="-277670" r="-327" b="-1019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261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932" marR="57932" marT="0" marB="0" anchor="ctr">
                        <a:blipFill>
                          <a:blip r:embed="rId4"/>
                          <a:stretch>
                            <a:fillRect l="-163" t="-377670" r="-100327" b="-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932" marR="57932" marT="0" marB="0" anchor="ctr">
                        <a:blipFill>
                          <a:blip r:embed="rId4"/>
                          <a:stretch>
                            <a:fillRect l="-100163" t="-377670" r="-327" b="-19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B05BA0A4-4B75-2A6C-0DF1-D0008B897A56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E269C620-6E2B-9C40-F150-D2CA7F583CC0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4631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727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95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5DCAC4C0-3865-AABD-F4A9-4ECEF5D9FD87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23ABF370-159C-C11C-9FDB-B1881258F982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43;g103996e1364_0_321">
                <a:extLst>
                  <a:ext uri="{FF2B5EF4-FFF2-40B4-BE49-F238E27FC236}">
                    <a16:creationId xmlns:a16="http://schemas.microsoft.com/office/drawing/2014/main" xmlns="" id="{21B1DF8E-16A0-FA4E-8CEB-434668DFA6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4865" y="-37211"/>
                <a:ext cx="10093050" cy="132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90000"/>
                  </a:lnSpc>
                  <a:buClr>
                    <a:schemeClr val="dk1"/>
                  </a:buClr>
                  <a:buSzPts val="5400"/>
                  <a:buFont typeface="Century Gothic"/>
                  <a:buNone/>
                </a:pPr>
                <a:r>
                  <a:rPr lang="en-US" sz="3200" b="1" dirty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7.4.3 Guided Practice: Factoring Trinomials Where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𝒂</m:t>
                    </m:r>
                    <m:r>
                      <a:rPr lang="en-US" sz="3200" b="1" i="1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rPr>
                      <m:t>≠</m:t>
                    </m:r>
                    <m:r>
                      <a:rPr lang="en-US" sz="3200" b="1" i="1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rPr>
                      <m:t>𝟏</m:t>
                    </m:r>
                  </m:oMath>
                </a14:m>
                <a:endParaRPr lang="en-US" sz="3200" b="1" dirty="0">
                  <a:solidFill>
                    <a:srgbClr val="54B5D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7" name="Google Shape;343;g103996e1364_0_321">
                <a:extLst>
                  <a:ext uri="{FF2B5EF4-FFF2-40B4-BE49-F238E27FC236}">
                    <a16:creationId xmlns:a16="http://schemas.microsoft.com/office/drawing/2014/main" id="{21B1DF8E-16A0-FA4E-8CEB-434668DFA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865" y="-37211"/>
                <a:ext cx="10093050" cy="1325700"/>
              </a:xfrm>
              <a:prstGeom prst="rect">
                <a:avLst/>
              </a:prstGeom>
              <a:blipFill>
                <a:blip r:embed="rId3"/>
                <a:stretch>
                  <a:fillRect l="-1571" r="-2779" b="-13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944" y="15297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878773" y="1203146"/>
                <a:ext cx="10260282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3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sz="23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+6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</m:t>
                    </m:r>
                  </m:oMath>
                </a14:m>
                <a:r>
                  <a:rPr lang="en-US" sz="23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grouping.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3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3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3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trinomial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3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−13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−10.</m:t>
                    </m:r>
                  </m:oMath>
                </a14:m>
                <a:endParaRPr lang="en-US" sz="23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3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3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by choosing the appropriate values.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73" y="1203146"/>
                <a:ext cx="10260282" cy="2215991"/>
              </a:xfrm>
              <a:prstGeom prst="rect">
                <a:avLst/>
              </a:prstGeom>
              <a:blipFill>
                <a:blip r:embed="rId5"/>
                <a:stretch>
                  <a:fillRect l="-832" t="-2198" b="-4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DC83FE6C-2A92-0840-AA21-B0B38F631C93}"/>
              </a:ext>
            </a:extLst>
          </p:cNvPr>
          <p:cNvSpPr/>
          <p:nvPr/>
        </p:nvSpPr>
        <p:spPr>
          <a:xfrm>
            <a:off x="-4244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7569" y="3419137"/>
            <a:ext cx="5444145" cy="3295889"/>
          </a:xfrm>
          <a:prstGeom prst="rect">
            <a:avLst/>
          </a:prstGeom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075F0D4A-98A2-D312-C8EB-E6A9CB0FA846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xmlns="" id="{BABD8BF8-E29A-B55F-9C5D-78B54052F076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843147" y="520394"/>
            <a:ext cx="102840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values to complete the area model.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CFC9A26-671E-2C45-82EC-8B136C03E0A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397" y="1423117"/>
            <a:ext cx="8229600" cy="3599655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BA26E148-5160-10D6-D453-16685BEBBCBA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16396985-1554-C706-0CF1-743D78C96570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6837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31273" y="520394"/>
                <a:ext cx="103077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the area model.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3" y="520394"/>
                <a:ext cx="10307782" cy="461665"/>
              </a:xfrm>
              <a:prstGeom prst="rect">
                <a:avLst/>
              </a:prstGeom>
              <a:blipFill>
                <a:blip r:embed="rId3"/>
                <a:stretch>
                  <a:fillRect l="-88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AEBEA3-B321-FF43-939E-DBF04267F34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455" y="1457858"/>
            <a:ext cx="7745506" cy="3933934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B4241E35-2DBD-7D2E-CB3B-7ED9AF66FF47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1312A9ED-FEE7-17F0-886A-512E5B633A19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3708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592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89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324;g103996e1364_0_25">
                <a:extLst>
                  <a:ext uri="{FF2B5EF4-FFF2-40B4-BE49-F238E27FC236}">
                    <a16:creationId xmlns:a16="http://schemas.microsoft.com/office/drawing/2014/main" xmlns="" id="{DB5796CA-12EB-BB4C-8338-B127D750A0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3164" y="60325"/>
                <a:ext cx="9856518" cy="132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90000"/>
                  </a:lnSpc>
                  <a:buClr>
                    <a:schemeClr val="dk1"/>
                  </a:buClr>
                  <a:buSzPts val="5400"/>
                  <a:buFont typeface="Century Gothic"/>
                  <a:buNone/>
                </a:pPr>
                <a:r>
                  <a:rPr lang="en-US" sz="3600" b="1" dirty="0">
                    <a:solidFill>
                      <a:srgbClr val="33BEA6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7.4.4 Try It: </a:t>
                </a:r>
                <a:r>
                  <a:rPr lang="en-US" sz="3600" b="1" dirty="0">
                    <a:solidFill>
                      <a:srgbClr val="41BFAC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Factoring Trinomials Where </a:t>
                </a:r>
                <a14:m>
                  <m:oMath xmlns:m="http://schemas.openxmlformats.org/officeDocument/2006/math">
                    <m:r>
                      <a:rPr lang="en-US" sz="3600" b="1" i="1">
                        <a:solidFill>
                          <a:srgbClr val="41BFAC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𝒂</m:t>
                    </m:r>
                    <m:r>
                      <a:rPr lang="en-US" sz="3600" b="1" i="1">
                        <a:solidFill>
                          <a:srgbClr val="41BFA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rPr>
                      <m:t>≠</m:t>
                    </m:r>
                    <m:r>
                      <a:rPr lang="en-US" sz="3600" b="1" i="1">
                        <a:solidFill>
                          <a:srgbClr val="41BFA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rPr>
                      <m:t>𝟏</m:t>
                    </m:r>
                  </m:oMath>
                </a14:m>
                <a:endParaRPr lang="en-US" sz="3600" b="1" dirty="0">
                  <a:solidFill>
                    <a:srgbClr val="41BFAC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8" name="Google Shape;324;g103996e1364_0_25">
                <a:extLst>
                  <a:ext uri="{FF2B5EF4-FFF2-40B4-BE49-F238E27FC236}">
                    <a16:creationId xmlns:a16="http://schemas.microsoft.com/office/drawing/2014/main" id="{DB5796CA-12EB-BB4C-8338-B127D750A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164" y="60325"/>
                <a:ext cx="9856518" cy="1325700"/>
              </a:xfrm>
              <a:prstGeom prst="rect">
                <a:avLst/>
              </a:prstGeom>
              <a:blipFill>
                <a:blip r:embed="rId3"/>
                <a:stretch>
                  <a:fillRect l="-1917" t="-1843" b="-82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8244" y="2613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843148" y="1386026"/>
                <a:ext cx="8034504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−21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−36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−23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1386026"/>
                <a:ext cx="8034504" cy="3139321"/>
              </a:xfrm>
              <a:prstGeom prst="rect">
                <a:avLst/>
              </a:prstGeom>
              <a:blipFill>
                <a:blip r:embed="rId5"/>
                <a:stretch>
                  <a:fillRect l="-986" t="-1553" b="-3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440AE1AA-6F88-2440-A824-BEA9B94BEF8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DA3A16D1-21EF-630B-E5F4-13F90EB65731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xmlns="" id="{D285D253-CE66-8CE8-632A-CC42D8C14E9D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95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02B32133-80EE-49ED-41EF-5D91B58BEF6C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25038" y="60325"/>
            <a:ext cx="7604179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7.4.5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2892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843147" y="1170877"/>
                <a:ext cx="10248405" cy="5170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quadratic expression.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US" sz="2200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+21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+18</m:t>
                      </m:r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using the area model.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by grouping.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1170877"/>
                <a:ext cx="10248405" cy="5170646"/>
              </a:xfrm>
              <a:prstGeom prst="rect">
                <a:avLst/>
              </a:prstGeom>
              <a:blipFill>
                <a:blip r:embed="rId5"/>
                <a:stretch>
                  <a:fillRect l="-773" t="-825" b="-1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EDD7E546-9334-CD4B-9098-7FA33B42DB0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696880"/>
              </p:ext>
            </p:extLst>
          </p:nvPr>
        </p:nvGraphicFramePr>
        <p:xfrm>
          <a:off x="1878743" y="2999513"/>
          <a:ext cx="4439958" cy="26876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99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199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43805">
                <a:tc>
                  <a:txBody>
                    <a:bodyPr/>
                    <a:lstStyle/>
                    <a:p>
                      <a:endParaRPr lang="en-US" sz="12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43805">
                <a:tc>
                  <a:txBody>
                    <a:bodyPr/>
                    <a:lstStyle/>
                    <a:p>
                      <a:endParaRPr lang="en-US" sz="12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14927BC-0CCE-4870-CAE4-820A0FD54514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971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1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920E2AE8-5F28-46D9-170C-9F422E866089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xmlns="" id="{24903754-38D7-5210-92B6-499390032891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13163" y="-82571"/>
            <a:ext cx="874023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7.4.6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516" y="17881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843147" y="1386025"/>
                <a:ext cx="1033153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was the </a:t>
                </a:r>
                <a:r>
                  <a:rPr lang="en-US" sz="24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muddiest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(most difficult or confusing) point in today’s lesson on factoring trinomials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1386025"/>
                <a:ext cx="10331533" cy="830997"/>
              </a:xfrm>
              <a:prstGeom prst="rect">
                <a:avLst/>
              </a:prstGeom>
              <a:blipFill>
                <a:blip r:embed="rId4"/>
                <a:stretch>
                  <a:fillRect l="-885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C9825640-5649-F74D-866E-EC8F188D5640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0" name="Picture 9" descr="Splatter pack 2 - Download Free Vector Art, Stock Graphics ..."/>
          <p:cNvPicPr/>
          <p:nvPr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3802055" y="2359918"/>
            <a:ext cx="3632200" cy="2540000"/>
          </a:xfrm>
          <a:prstGeom prst="rect">
            <a:avLst/>
          </a:prstGeom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11F2CBF7-1BE6-9717-28B5-AE7AAF77BAD7}"/>
              </a:ext>
            </a:extLst>
          </p:cNvPr>
          <p:cNvSpPr txBox="1"/>
          <p:nvPr/>
        </p:nvSpPr>
        <p:spPr>
          <a:xfrm>
            <a:off x="88126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xmlns="" id="{902D22CC-6677-F68A-EF50-1B2D77B678A3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1368</TotalTime>
  <Words>973</Words>
  <Application>Microsoft Macintosh PowerPoint</Application>
  <PresentationFormat>Widescreen</PresentationFormat>
  <Paragraphs>203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 Black</vt:lpstr>
      <vt:lpstr>Century Gothic</vt:lpstr>
      <vt:lpstr>Cambria Math</vt:lpstr>
      <vt:lpstr>Times New Roman</vt:lpstr>
      <vt:lpstr>Verdana</vt:lpstr>
      <vt:lpstr>Cambria</vt:lpstr>
      <vt:lpstr>Wingdings</vt:lpstr>
      <vt:lpstr>Arial</vt:lpstr>
      <vt:lpstr>Calibri</vt:lpstr>
      <vt:lpstr>1_Office Theme</vt:lpstr>
      <vt:lpstr>Algebra 1  Unit 7, Lesson 4  Factoring a Trinomial With a Leading Coefficient Greater Than 1  Volume 1, pg. 375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Try It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jslater9816@gmail.com</cp:lastModifiedBy>
  <cp:revision>28</cp:revision>
  <dcterms:created xsi:type="dcterms:W3CDTF">2015-03-17T18:51:18Z</dcterms:created>
  <dcterms:modified xsi:type="dcterms:W3CDTF">2022-07-29T23:42:19Z</dcterms:modified>
</cp:coreProperties>
</file>