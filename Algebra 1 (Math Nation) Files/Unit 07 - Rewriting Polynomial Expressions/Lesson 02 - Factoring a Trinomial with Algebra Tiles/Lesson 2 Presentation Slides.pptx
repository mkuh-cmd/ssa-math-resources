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33" r:id="rId11"/>
    <p:sldId id="342" r:id="rId12"/>
    <p:sldId id="343" r:id="rId13"/>
    <p:sldId id="344" r:id="rId14"/>
    <p:sldId id="345" r:id="rId15"/>
    <p:sldId id="346" r:id="rId16"/>
    <p:sldId id="347" r:id="rId17"/>
    <p:sldId id="348" r:id="rId18"/>
    <p:sldId id="349" r:id="rId19"/>
    <p:sldId id="350" r:id="rId20"/>
    <p:sldId id="354" r:id="rId21"/>
    <p:sldId id="351" r:id="rId22"/>
    <p:sldId id="352" r:id="rId23"/>
    <p:sldId id="353" r:id="rId24"/>
    <p:sldId id="323" r:id="rId25"/>
    <p:sldId id="324" r:id="rId26"/>
    <p:sldId id="337" r:id="rId27"/>
    <p:sldId id="302" r:id="rId28"/>
    <p:sldId id="303" r:id="rId29"/>
    <p:sldId id="306" r:id="rId30"/>
    <p:sldId id="307" r:id="rId3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00FF"/>
    <a:srgbClr val="41BFAC"/>
    <a:srgbClr val="B399C8"/>
    <a:srgbClr val="276C46"/>
    <a:srgbClr val="C9DF6F"/>
    <a:srgbClr val="417DBF"/>
    <a:srgbClr val="3F2A67"/>
    <a:srgbClr val="E24E5F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31"/>
    <p:restoredTop sz="94695"/>
  </p:normalViewPr>
  <p:slideViewPr>
    <p:cSldViewPr snapToGrid="0">
      <p:cViewPr varScale="1">
        <p:scale>
          <a:sx n="102" d="100"/>
          <a:sy n="102" d="100"/>
        </p:scale>
        <p:origin x="192" y="31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55" Type="http://customschemas.google.com/relationships/presentationmetadata" Target="metadata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119672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32110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583160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943366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7839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12680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94352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186897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4717933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35039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277912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469557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954967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0307196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324178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Relationship Id="rId6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-9144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Factoring a Trinomial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Algebra Tiles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362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8753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1124049" y="1600200"/>
            <a:ext cx="945686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MA.912.AR.1.7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Rewrite a polynomial expression as a product of polynomials over the real number system. </a:t>
            </a:r>
          </a:p>
          <a:p>
            <a:pPr indent="0">
              <a:buNone/>
            </a:pPr>
            <a:endParaRPr lang="en-US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200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59" y="1596390"/>
            <a:ext cx="9455405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xmlns="" id="{2AA758E6-2316-6DE6-EADC-8EB7064E75CC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xmlns="" id="{FF08B9D0-C470-5587-3C3E-7B8327C0FC3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70643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481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xmlns="" id="{9B7C98EC-F13C-9146-B728-D7044DB4247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070642" y="1600200"/>
                <a:ext cx="9498397" cy="4205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>
                <a:def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</a:defPPr>
                <a:lvl1pPr marR="0" lvl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  <a:lvl2pPr marR="0" lvl="1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2pPr>
                <a:lvl3pPr marR="0" lvl="2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3pPr>
                <a:lvl4pPr marR="0" lvl="3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4pPr>
                <a:lvl5pPr marR="0" lvl="4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5pPr>
                <a:lvl6pPr marR="0" lvl="5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6pPr>
                <a:lvl7pPr marR="0" lvl="6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7pPr>
                <a:lvl8pPr marR="0" lvl="7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8pPr>
                <a:lvl9pPr marR="0" lvl="8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  <a:def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defRPr>
                </a:lvl9pPr>
              </a:lstStyle>
              <a:p>
                <a:pPr marL="457200" indent="-450850">
                  <a:buClr>
                    <a:srgbClr val="434343"/>
                  </a:buClr>
                  <a:buSzPts val="3500"/>
                  <a:buFont typeface="Verdana"/>
                  <a:buChar char="❏"/>
                </a:pPr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I can use algebra tiles to factor a trinomial with a leading coefficient of </a:t>
                </a:r>
                <a14:m>
                  <m:oMath xmlns:m="http://schemas.openxmlformats.org/officeDocument/2006/math">
                    <m:r>
                      <a:rPr lang="en-US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32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Google Shape;302;g103996e1364_0_16">
                <a:extLst>
                  <a:ext uri="{FF2B5EF4-FFF2-40B4-BE49-F238E27FC236}">
                    <a16:creationId xmlns:a16="http://schemas.microsoft.com/office/drawing/2014/main" id="{9B7C98EC-F13C-9146-B728-D7044DB424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0642" y="1600200"/>
                <a:ext cx="9498397" cy="4205700"/>
              </a:xfrm>
              <a:prstGeom prst="rect">
                <a:avLst/>
              </a:prstGeom>
              <a:blipFill>
                <a:blip r:embed="rId4"/>
                <a:stretch>
                  <a:fillRect l="-2118" t="-4499" r="-186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BAB67E7F-8F24-4EE4-DC7F-A567F751A641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71EFC93E-2D10-856F-98DD-0228B3E3F738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3528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4232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1F01FC50-7621-488C-3F7D-A3C67BD25741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07C68087-1952-5F8E-B26C-5BD603693C4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325"/>
            <a:ext cx="1017663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7.2.1 Warm-Up: Multiplying Binomials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18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xmlns="" id="{E1D7562E-134F-D14B-AF1A-DF40E11EF758}"/>
              </a:ext>
            </a:extLst>
          </p:cNvPr>
          <p:cNvSpPr txBox="1"/>
          <p:nvPr/>
        </p:nvSpPr>
        <p:spPr>
          <a:xfrm>
            <a:off x="855022" y="1386025"/>
            <a:ext cx="103270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An algebra tile mat is shown with two binomial factors.</a:t>
            </a:r>
          </a:p>
        </p:txBody>
      </p:sp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F1992A8F-F621-054D-B71E-96605FF7377D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Picture 9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xmlns="" id="{BDFF9C24-E232-7641-B98F-ECC6EC19FDC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2155"/>
          <a:stretch/>
        </p:blipFill>
        <p:spPr bwMode="auto">
          <a:xfrm>
            <a:off x="2164284" y="2039288"/>
            <a:ext cx="4707255" cy="405066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78504092-5443-A2EF-1FC3-27A1E7D9FF17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xmlns="" id="{A3D4E33F-1379-622E-EF80-EA6963F1F5B4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43147" y="520393"/>
            <a:ext cx="1031965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are the two binomials represented? 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57200">
              <a:buFont typeface="+mj-lt"/>
              <a:buAutoNum type="alphaLcPeriod" startAt="2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is the product of the two binomials?</a:t>
            </a:r>
          </a:p>
          <a:p>
            <a:pPr marL="914400" indent="-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/>
            </a:r>
            <a:b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</a:b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15F1D98C-071D-7E4F-AC26-9D72783C5693}"/>
              </a:ext>
            </a:extLst>
          </p:cNvPr>
          <p:cNvSpPr/>
          <p:nvPr/>
        </p:nvSpPr>
        <p:spPr>
          <a:xfrm>
            <a:off x="2089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6448E4BF-A5A9-0496-2C27-277A80E13C9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C84000B2-38F8-7C3B-4771-3F8D0074FB6C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320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06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F11F89FE-FAA4-3A48-DB07-469ADD186EF7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CDD22EFB-317B-7A63-3FBF-5A14441EEBB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09918" y="60325"/>
            <a:ext cx="1063156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7.2.2 Exploration: Model </a:t>
            </a:r>
            <a:r>
              <a:rPr lang="en-US" sz="36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Factoring </a:t>
            </a:r>
            <a:r>
              <a:rPr lang="en-US" sz="3600" b="1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With </a:t>
            </a: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Algebra Tiles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3620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843148" y="1386025"/>
                <a:ext cx="10338934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 algebra tile mat is shown, where the product is 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one of its factors is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+4</m:t>
                        </m:r>
                      </m:e>
                    </m: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386025"/>
                <a:ext cx="10338934" cy="830997"/>
              </a:xfrm>
              <a:prstGeom prst="rect">
                <a:avLst/>
              </a:prstGeom>
              <a:blipFill>
                <a:blip r:embed="rId4"/>
                <a:stretch>
                  <a:fillRect l="-884" t="-5839" b="-145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D672544D-2ABA-1343-B9BB-B0296BB0511F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3" name="Picture 2" descr="Chart&#10;&#10;Description automatically generated with medium confidence">
            <a:extLst>
              <a:ext uri="{FF2B5EF4-FFF2-40B4-BE49-F238E27FC236}">
                <a16:creationId xmlns:a16="http://schemas.microsoft.com/office/drawing/2014/main" xmlns="" id="{710D5B2F-90BF-6E49-B1BD-E5363F90E4C6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454664" y="2219432"/>
            <a:ext cx="5106502" cy="4578243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8C7F2452-9544-83FB-D0B1-EBCA0AC79DF3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283;g104476d1465_1_17">
            <a:extLst>
              <a:ext uri="{FF2B5EF4-FFF2-40B4-BE49-F238E27FC236}">
                <a16:creationId xmlns:a16="http://schemas.microsoft.com/office/drawing/2014/main" xmlns="" id="{903FED56-7FFD-71E6-6D4A-A8CB877E0D19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31272" y="520394"/>
            <a:ext cx="103196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Diego and Maria Jose both justified how they determined what belonged in the </a:t>
            </a:r>
            <a:r>
              <a:rPr lang="en-US" sz="2400" b="1" dirty="0">
                <a:solidFill>
                  <a:srgbClr val="FF00FF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pink</a:t>
            </a: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box in the following ways.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FC6B6B96-9E1E-A948-9CF2-C4EAEA12FB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056587"/>
                  </p:ext>
                </p:extLst>
              </p:nvPr>
            </p:nvGraphicFramePr>
            <p:xfrm>
              <a:off x="1721766" y="2070446"/>
              <a:ext cx="7531523" cy="203352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66804">
                      <a:extLst>
                        <a:ext uri="{9D8B030D-6E8A-4147-A177-3AD203B41FA5}">
                          <a16:colId xmlns:a16="http://schemas.microsoft.com/office/drawing/2014/main" xmlns="" val="2307440815"/>
                        </a:ext>
                      </a:extLst>
                    </a:gridCol>
                    <a:gridCol w="3764719">
                      <a:extLst>
                        <a:ext uri="{9D8B030D-6E8A-4147-A177-3AD203B41FA5}">
                          <a16:colId xmlns:a16="http://schemas.microsoft.com/office/drawing/2014/main" xmlns="" val="1168267018"/>
                        </a:ext>
                      </a:extLst>
                    </a:gridCol>
                  </a:tblGrid>
                  <a:tr h="311703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Diego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Maria Jose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758033143"/>
                      </a:ext>
                    </a:extLst>
                  </a:tr>
                  <a:tr h="142130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found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4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sz="2400" i="1">
                                          <a:effectLst/>
                                          <a:latin typeface="Cambria Math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en-US" sz="2400">
                                          <a:effectLst/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because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 </a:t>
                          </a: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is the product of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and something else.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I asked myself what times </a:t>
                          </a:r>
                          <a14:m>
                            <m:oMath xmlns:m="http://schemas.openxmlformats.org/officeDocument/2006/math">
                              <m:r>
                                <a:rPr lang="en-US" sz="24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would give me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sz="2400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24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. 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39511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C6B6B96-9E1E-A948-9CF2-C4EAEA12FB2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79056587"/>
                  </p:ext>
                </p:extLst>
              </p:nvPr>
            </p:nvGraphicFramePr>
            <p:xfrm>
              <a:off x="1721766" y="2070446"/>
              <a:ext cx="7531523" cy="203352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3766804">
                      <a:extLst>
                        <a:ext uri="{9D8B030D-6E8A-4147-A177-3AD203B41FA5}">
                          <a16:colId xmlns:a16="http://schemas.microsoft.com/office/drawing/2014/main" val="2307440815"/>
                        </a:ext>
                      </a:extLst>
                    </a:gridCol>
                    <a:gridCol w="3764719">
                      <a:extLst>
                        <a:ext uri="{9D8B030D-6E8A-4147-A177-3AD203B41FA5}">
                          <a16:colId xmlns:a16="http://schemas.microsoft.com/office/drawing/2014/main" val="1168267018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Diego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Maria Jose</a:t>
                          </a: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58033143"/>
                      </a:ext>
                    </a:extLst>
                  </a:tr>
                  <a:tr h="1667764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62" t="-27273" r="-100485" b="-7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162" t="-27273" r="-485" b="-7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3951141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7D99AC12-4ED0-4209-B666-1AF3C63B1A34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57A70534-F5B7-79C1-6304-BE7519871D66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5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43147" y="520394"/>
            <a:ext cx="1030778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with your partner both justifications.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Use one of the methods to complete the binomial for the top bar of the algebra tile mat.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2089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xmlns="" id="{F62D2718-3348-D04E-B667-4F361BA554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0303699"/>
                  </p:ext>
                </p:extLst>
              </p:nvPr>
            </p:nvGraphicFramePr>
            <p:xfrm>
              <a:off x="1656890" y="2980537"/>
              <a:ext cx="7595103" cy="35715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706710">
                      <a:extLst>
                        <a:ext uri="{9D8B030D-6E8A-4147-A177-3AD203B41FA5}">
                          <a16:colId xmlns:a16="http://schemas.microsoft.com/office/drawing/2014/main" xmlns="" val="1177981274"/>
                        </a:ext>
                      </a:extLst>
                    </a:gridCol>
                    <a:gridCol w="3535977">
                      <a:extLst>
                        <a:ext uri="{9D8B030D-6E8A-4147-A177-3AD203B41FA5}">
                          <a16:colId xmlns:a16="http://schemas.microsoft.com/office/drawing/2014/main" xmlns="" val="3498244150"/>
                        </a:ext>
                      </a:extLst>
                    </a:gridCol>
                    <a:gridCol w="2352416">
                      <a:extLst>
                        <a:ext uri="{9D8B030D-6E8A-4147-A177-3AD203B41FA5}">
                          <a16:colId xmlns:a16="http://schemas.microsoft.com/office/drawing/2014/main" xmlns="" val="2748931051"/>
                        </a:ext>
                      </a:extLst>
                    </a:gridCol>
                  </a:tblGrid>
                  <a:tr h="66576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Drawing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Representation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46500337"/>
                      </a:ext>
                    </a:extLst>
                  </a:tr>
                  <a:tr h="9685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FF00F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Pink Box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solidFill>
                              <a:srgbClr val="FF00F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436069383"/>
                      </a:ext>
                    </a:extLst>
                  </a:tr>
                  <a:tr h="9685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FF66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Orange Box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30779405"/>
                      </a:ext>
                    </a:extLst>
                  </a:tr>
                  <a:tr h="9685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Binomial Factor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69684055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F62D2718-3348-D04E-B667-4F361BA5549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60303699"/>
                  </p:ext>
                </p:extLst>
              </p:nvPr>
            </p:nvGraphicFramePr>
            <p:xfrm>
              <a:off x="1656890" y="2980537"/>
              <a:ext cx="7595103" cy="357154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706710">
                      <a:extLst>
                        <a:ext uri="{9D8B030D-6E8A-4147-A177-3AD203B41FA5}">
                          <a16:colId xmlns:a16="http://schemas.microsoft.com/office/drawing/2014/main" val="1177981274"/>
                        </a:ext>
                      </a:extLst>
                    </a:gridCol>
                    <a:gridCol w="3535977">
                      <a:extLst>
                        <a:ext uri="{9D8B030D-6E8A-4147-A177-3AD203B41FA5}">
                          <a16:colId xmlns:a16="http://schemas.microsoft.com/office/drawing/2014/main" val="3498244150"/>
                        </a:ext>
                      </a:extLst>
                    </a:gridCol>
                    <a:gridCol w="2352416">
                      <a:extLst>
                        <a:ext uri="{9D8B030D-6E8A-4147-A177-3AD203B41FA5}">
                          <a16:colId xmlns:a16="http://schemas.microsoft.com/office/drawing/2014/main" val="2748931051"/>
                        </a:ext>
                      </a:extLst>
                    </a:gridCol>
                  </a:tblGrid>
                  <a:tr h="66576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Drawing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Algebraic Representation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00337"/>
                      </a:ext>
                    </a:extLst>
                  </a:tr>
                  <a:tr h="9685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FF00FF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Pink Box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en-US" sz="2000" dirty="0">
                            <a:solidFill>
                              <a:srgbClr val="FF00FF"/>
                            </a:solidFill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3316" t="-75625" r="-518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6069383"/>
                      </a:ext>
                    </a:extLst>
                  </a:tr>
                  <a:tr h="9685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FF66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Orange Box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30779405"/>
                      </a:ext>
                    </a:extLst>
                  </a:tr>
                  <a:tr h="9685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Binomial Factor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7667" marR="47667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96840554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9409AAE-138C-AD44-ABFF-43578FF95A7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50279" y="3693927"/>
            <a:ext cx="2320290" cy="831850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A3ADD353-73B1-1989-FA71-540A80F3D20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6016E3FC-D20C-AC32-715A-AB0B1CB3F7DA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603755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3"/>
                <a:ext cx="10390910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to determine the two binomial factors when only given the product. Summarize your discussion.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two binomials are the factors of the trinomial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The process of finding the two binomials is called </a:t>
                </a:r>
                <a:r>
                  <a:rPr lang="en-US" sz="2400" b="1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factoring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3"/>
                <a:ext cx="10390910" cy="6001643"/>
              </a:xfrm>
              <a:prstGeom prst="rect">
                <a:avLst/>
              </a:prstGeom>
              <a:blipFill>
                <a:blip r:embed="rId3"/>
                <a:stretch>
                  <a:fillRect l="-880" t="-812" b="-13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8" name="Picture 7" descr="Chart&#10;&#10;Description automatically generated with medium confidence">
            <a:extLst>
              <a:ext uri="{FF2B5EF4-FFF2-40B4-BE49-F238E27FC236}">
                <a16:creationId xmlns:a16="http://schemas.microsoft.com/office/drawing/2014/main" xmlns="" id="{350E37F8-2F8C-E04F-A389-33D5C83082E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55154" y="1741166"/>
            <a:ext cx="4097371" cy="3560096"/>
          </a:xfrm>
          <a:prstGeom prst="rect">
            <a:avLst/>
          </a:prstGeom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6C20550-B956-D5DD-569F-3571E4EB70EE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4518C160-A2F4-74B1-AD9D-E9D8F8AF20DF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10505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3"/>
                <a:ext cx="102959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algebra tiles shown represent 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3"/>
                <a:ext cx="10295907" cy="461665"/>
              </a:xfrm>
              <a:prstGeom prst="rect">
                <a:avLst/>
              </a:prstGeom>
              <a:blipFill>
                <a:blip r:embed="rId3"/>
                <a:stretch>
                  <a:fillRect l="-8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Picture 6" descr="Table&#10;&#10;Description automatically generated with medium confidence">
            <a:extLst>
              <a:ext uri="{FF2B5EF4-FFF2-40B4-BE49-F238E27FC236}">
                <a16:creationId xmlns:a16="http://schemas.microsoft.com/office/drawing/2014/main" xmlns="" id="{D55C1D81-2300-CC4E-902A-B661BD68BF7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87426" y="1240982"/>
            <a:ext cx="3679843" cy="5216693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E28E87EF-CC33-ED0F-ACB2-98F5E72810C9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A06BBC7F-8B13-F39E-049A-D4D1E639E0E6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31796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4"/>
                <a:ext cx="10286943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what the similarities and differences are between the algebra tiles that represent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+20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your discussion.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4"/>
                <a:ext cx="10286943" cy="1200329"/>
              </a:xfrm>
              <a:prstGeom prst="rect">
                <a:avLst/>
              </a:prstGeom>
              <a:blipFill>
                <a:blip r:embed="rId3"/>
                <a:stretch>
                  <a:fillRect t="-4061" b="-10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6840CCC8-523D-8349-A2B8-C2B8E7FE7F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0726798"/>
              </p:ext>
            </p:extLst>
          </p:nvPr>
        </p:nvGraphicFramePr>
        <p:xfrm>
          <a:off x="2023810" y="2056980"/>
          <a:ext cx="7388784" cy="3731054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1990563">
                  <a:extLst>
                    <a:ext uri="{9D8B030D-6E8A-4147-A177-3AD203B41FA5}">
                      <a16:colId xmlns:a16="http://schemas.microsoft.com/office/drawing/2014/main" xmlns="" val="244306020"/>
                    </a:ext>
                  </a:extLst>
                </a:gridCol>
                <a:gridCol w="5398221">
                  <a:extLst>
                    <a:ext uri="{9D8B030D-6E8A-4147-A177-3AD203B41FA5}">
                      <a16:colId xmlns:a16="http://schemas.microsoft.com/office/drawing/2014/main" xmlns="" val="368365687"/>
                    </a:ext>
                  </a:extLst>
                </a:gridCol>
              </a:tblGrid>
              <a:tr h="186552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Similarities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effectLst/>
                        </a:rPr>
                        <a:t> </a:t>
                      </a:r>
                      <a:endParaRPr lang="en-US" sz="12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3721310990"/>
                  </a:ext>
                </a:extLst>
              </a:tr>
              <a:tr h="1865527"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Differences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US" sz="12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728815876"/>
                  </a:ext>
                </a:extLst>
              </a:tr>
            </a:tbl>
          </a:graphicData>
        </a:graphic>
      </p:graphicFrame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80CF0016-1683-2700-B0FC-9F9D85409F1E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1410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3" y="520393"/>
                <a:ext cx="103196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two binomials that are factors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+9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3" y="520393"/>
                <a:ext cx="10319658" cy="461665"/>
              </a:xfrm>
              <a:prstGeom prst="rect">
                <a:avLst/>
              </a:prstGeom>
              <a:blipFill>
                <a:blip r:embed="rId3"/>
                <a:stretch>
                  <a:fillRect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39BFB420-5069-04E3-6D8B-D0E4F716E2E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7333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66899" y="520394"/>
            <a:ext cx="102721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4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table shows the algebra tile representation for two trinomials. Work with your partner to determine the two binomial factors.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 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6F69F1FC-7410-3844-BC7E-DC7B3AFEC8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0561342"/>
                  </p:ext>
                </p:extLst>
              </p:nvPr>
            </p:nvGraphicFramePr>
            <p:xfrm>
              <a:off x="1508401" y="1952520"/>
              <a:ext cx="7791999" cy="470525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67208">
                      <a:extLst>
                        <a:ext uri="{9D8B030D-6E8A-4147-A177-3AD203B41FA5}">
                          <a16:colId xmlns:a16="http://schemas.microsoft.com/office/drawing/2014/main" xmlns="" val="3777248492"/>
                        </a:ext>
                      </a:extLst>
                    </a:gridCol>
                    <a:gridCol w="2987608">
                      <a:extLst>
                        <a:ext uri="{9D8B030D-6E8A-4147-A177-3AD203B41FA5}">
                          <a16:colId xmlns:a16="http://schemas.microsoft.com/office/drawing/2014/main" xmlns="" val="4213167433"/>
                        </a:ext>
                      </a:extLst>
                    </a:gridCol>
                    <a:gridCol w="3237183">
                      <a:extLst>
                        <a:ext uri="{9D8B030D-6E8A-4147-A177-3AD203B41FA5}">
                          <a16:colId xmlns:a16="http://schemas.microsoft.com/office/drawing/2014/main" xmlns="" val="3640977805"/>
                        </a:ext>
                      </a:extLst>
                    </a:gridCol>
                  </a:tblGrid>
                  <a:tr h="4186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Trinomial</a:t>
                          </a: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b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b="0" i="1">
                                        <a:effectLst/>
                                        <a:latin typeface="Cambria Math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b="0" smtClean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000" b="0"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1">
                                    <a:effectLst/>
                                    <a:latin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620545098"/>
                      </a:ext>
                    </a:extLst>
                  </a:tr>
                  <a:tr h="239879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 Tiles</a:t>
                          </a:r>
                        </a:p>
                      </a:txBody>
                      <a:tcPr marL="41390" marR="413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314787256"/>
                      </a:ext>
                    </a:extLst>
                  </a:tr>
                  <a:tr h="18877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Binomial Factors</a:t>
                          </a:r>
                        </a:p>
                      </a:txBody>
                      <a:tcPr marL="41390" marR="413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52627672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6F69F1FC-7410-3844-BC7E-DC7B3AFEC83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00561342"/>
                  </p:ext>
                </p:extLst>
              </p:nvPr>
            </p:nvGraphicFramePr>
            <p:xfrm>
              <a:off x="1508401" y="1952520"/>
              <a:ext cx="7791999" cy="4705255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1567208">
                      <a:extLst>
                        <a:ext uri="{9D8B030D-6E8A-4147-A177-3AD203B41FA5}">
                          <a16:colId xmlns:a16="http://schemas.microsoft.com/office/drawing/2014/main" val="3777248492"/>
                        </a:ext>
                      </a:extLst>
                    </a:gridCol>
                    <a:gridCol w="2987608">
                      <a:extLst>
                        <a:ext uri="{9D8B030D-6E8A-4147-A177-3AD203B41FA5}">
                          <a16:colId xmlns:a16="http://schemas.microsoft.com/office/drawing/2014/main" val="4213167433"/>
                        </a:ext>
                      </a:extLst>
                    </a:gridCol>
                    <a:gridCol w="3237183">
                      <a:extLst>
                        <a:ext uri="{9D8B030D-6E8A-4147-A177-3AD203B41FA5}">
                          <a16:colId xmlns:a16="http://schemas.microsoft.com/office/drawing/2014/main" val="3640977805"/>
                        </a:ext>
                      </a:extLst>
                    </a:gridCol>
                  </a:tblGrid>
                  <a:tr h="4186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Trinomial</a:t>
                          </a: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2546" t="-18841" r="-108554" b="-102318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1055" t="-18841" r="-377" b="-102318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20545098"/>
                      </a:ext>
                    </a:extLst>
                  </a:tr>
                  <a:tr h="239879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Algebra Tiles</a:t>
                          </a:r>
                        </a:p>
                      </a:txBody>
                      <a:tcPr marL="41390" marR="413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endParaRPr lang="en-US" sz="20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14787256"/>
                      </a:ext>
                    </a:extLst>
                  </a:tr>
                  <a:tr h="188779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Binomial Factors</a:t>
                          </a:r>
                        </a:p>
                      </a:txBody>
                      <a:tcPr marL="41390" marR="4139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600"/>
                            </a:spcBef>
                            <a:spcAft>
                              <a:spcPts val="60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41390" marR="4139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6276726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13" name="Picture 12" descr="A picture containing table&#10;&#10;Description automatically generated">
            <a:extLst>
              <a:ext uri="{FF2B5EF4-FFF2-40B4-BE49-F238E27FC236}">
                <a16:creationId xmlns:a16="http://schemas.microsoft.com/office/drawing/2014/main" xmlns="" id="{C7739A23-FC20-6C41-B0F0-21DF3E428CA2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12"/>
          <a:stretch/>
        </p:blipFill>
        <p:spPr bwMode="auto">
          <a:xfrm>
            <a:off x="3849455" y="2413220"/>
            <a:ext cx="1554945" cy="23448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15" name="Picture 14" descr="Chart&#10;&#10;Description automatically generated">
            <a:extLst>
              <a:ext uri="{FF2B5EF4-FFF2-40B4-BE49-F238E27FC236}">
                <a16:creationId xmlns:a16="http://schemas.microsoft.com/office/drawing/2014/main" xmlns="" id="{05EBC327-E7D1-374D-B76B-46DCCD42AE6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14"/>
          <a:stretch/>
        </p:blipFill>
        <p:spPr bwMode="auto">
          <a:xfrm>
            <a:off x="6877205" y="2413220"/>
            <a:ext cx="1736498" cy="235196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12F2308C-3B98-2078-5E7B-0F54D350D4D8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14969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366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55023" y="520394"/>
            <a:ext cx="1028403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One common attribute of all of the algebra tile representations is that they are all rectangles.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Consider the following algebra tile representation.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> 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9" name="Picture 8" descr="A picture containing shape&#10;&#10;Description automatically generated">
            <a:extLst>
              <a:ext uri="{FF2B5EF4-FFF2-40B4-BE49-F238E27FC236}">
                <a16:creationId xmlns:a16="http://schemas.microsoft.com/office/drawing/2014/main" xmlns="" id="{4E07C7D7-1F35-AD48-8C29-42F5EC5900C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99828" y="2209968"/>
            <a:ext cx="2905760" cy="4319270"/>
          </a:xfrm>
          <a:prstGeom prst="rect">
            <a:avLst/>
          </a:prstGeom>
        </p:spPr>
      </p:pic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95A5A76B-B034-06DD-0CA6-5C69053D1691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1939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4"/>
                <a:ext cx="10260282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algebra tile representation of a trinomial by drawing and labeling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tiles.</a:t>
                </a:r>
              </a:p>
              <a:p>
                <a:pPr marL="914400" indent="-4492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trinomial that is represented by the completed drawing?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are the binomial factors of the trinomial?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4"/>
                <a:ext cx="10260282" cy="5262979"/>
              </a:xfrm>
              <a:prstGeom prst="rect">
                <a:avLst/>
              </a:prstGeom>
              <a:blipFill>
                <a:blip r:embed="rId3"/>
                <a:stretch>
                  <a:fillRect t="-926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E0D1FFA3-3AD0-D09B-0B44-50668FDC03E7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56059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866899" y="520394"/>
            <a:ext cx="102093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6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 algebra tile representation of two different trinomials is shown. </a:t>
            </a: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914400" indent="-449263">
              <a:buFont typeface="+mj-lt"/>
              <a:buAutoNum type="alphaLcPeriod"/>
            </a:pPr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200" dirty="0"/>
              <a:t/>
            </a:r>
            <a:br>
              <a:rPr lang="en-US" sz="2200" dirty="0"/>
            </a:br>
            <a:r>
              <a:rPr lang="en-US" sz="2200" dirty="0"/>
              <a:t> </a:t>
            </a:r>
          </a:p>
          <a:p>
            <a:pPr marL="457200" indent="-457200">
              <a:buFont typeface="+mj-lt"/>
              <a:buAutoNum type="arabicPeriod" startAt="2"/>
            </a:pPr>
            <a:endParaRPr lang="en-US" sz="22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en-US" sz="22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xmlns="" id="{46409278-8F32-D74F-AAA6-E635891AC1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703823"/>
              </p:ext>
            </p:extLst>
          </p:nvPr>
        </p:nvGraphicFramePr>
        <p:xfrm>
          <a:off x="2549212" y="1847950"/>
          <a:ext cx="6337971" cy="4693160"/>
        </p:xfrm>
        <a:graphic>
          <a:graphicData uri="http://schemas.openxmlformats.org/drawingml/2006/table">
            <a:tbl>
              <a:tblPr firstRow="1" firstCol="1" bandRow="1">
                <a:tableStyleId>{A91F0D33-8C57-4600-99A7-42BC86742BE1}</a:tableStyleId>
              </a:tblPr>
              <a:tblGrid>
                <a:gridCol w="2531681">
                  <a:extLst>
                    <a:ext uri="{9D8B030D-6E8A-4147-A177-3AD203B41FA5}">
                      <a16:colId xmlns:a16="http://schemas.microsoft.com/office/drawing/2014/main" xmlns="" val="1734260725"/>
                    </a:ext>
                  </a:extLst>
                </a:gridCol>
                <a:gridCol w="1992852">
                  <a:extLst>
                    <a:ext uri="{9D8B030D-6E8A-4147-A177-3AD203B41FA5}">
                      <a16:colId xmlns:a16="http://schemas.microsoft.com/office/drawing/2014/main" xmlns="" val="3996125399"/>
                    </a:ext>
                  </a:extLst>
                </a:gridCol>
                <a:gridCol w="1813438">
                  <a:extLst>
                    <a:ext uri="{9D8B030D-6E8A-4147-A177-3AD203B41FA5}">
                      <a16:colId xmlns:a16="http://schemas.microsoft.com/office/drawing/2014/main" xmlns="" val="1374638671"/>
                    </a:ext>
                  </a:extLst>
                </a:gridCol>
              </a:tblGrid>
              <a:tr h="37370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Algebra Tiles</a:t>
                      </a: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Trinomial</a:t>
                      </a: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Factors</a:t>
                      </a: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439545170"/>
                  </a:ext>
                </a:extLst>
              </a:tr>
              <a:tr h="204240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2155154065"/>
                  </a:ext>
                </a:extLst>
              </a:tr>
              <a:tr h="2277046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2000" b="1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</a:p>
                  </a:txBody>
                  <a:tcPr marL="47866" marR="47866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546204420"/>
                  </a:ext>
                </a:extLst>
              </a:tr>
            </a:tbl>
          </a:graphicData>
        </a:graphic>
      </p:graphicFrame>
      <p:pic>
        <p:nvPicPr>
          <p:cNvPr id="9" name="Picture 8" descr="A picture containing table&#10;&#10;Description automatically generated">
            <a:extLst>
              <a:ext uri="{FF2B5EF4-FFF2-40B4-BE49-F238E27FC236}">
                <a16:creationId xmlns:a16="http://schemas.microsoft.com/office/drawing/2014/main" xmlns="" id="{87EDC600-1D2D-6A4B-8C95-F7D4ACF7774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98881" y="2233616"/>
            <a:ext cx="1606731" cy="2008414"/>
          </a:xfrm>
          <a:prstGeom prst="rect">
            <a:avLst/>
          </a:prstGeom>
        </p:spPr>
      </p:pic>
      <p:pic>
        <p:nvPicPr>
          <p:cNvPr id="10" name="Picture 9" descr="A picture containing chart&#10;&#10;Description automatically generated">
            <a:extLst>
              <a:ext uri="{FF2B5EF4-FFF2-40B4-BE49-F238E27FC236}">
                <a16:creationId xmlns:a16="http://schemas.microsoft.com/office/drawing/2014/main" xmlns="" id="{81DC10F8-FDB2-E24D-B551-B51B2A6B9ADF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8093" y="4305839"/>
            <a:ext cx="1645522" cy="2151836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DF2DC751-5845-36A3-20BE-EEFB23BC883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xmlns="" id="{EC562825-A4AE-C236-12FC-09A8115AE392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907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4"/>
                <a:ext cx="10284033" cy="34719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Each of the trinomials in the table has either twenty-four unit squares,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sPre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or twenty-four negative unit squares,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e>
                    </m:sPre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Also, each trinomial has some combination of four and six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or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400" dirty="0">
                    <a:latin typeface="Cambria Math" panose="02040503050406030204" pitchFamily="18" charset="0"/>
                    <a:ea typeface="Cambria Math" panose="02040503050406030204" pitchFamily="18" charset="0"/>
                    <a:cs typeface="Verdana" panose="020B0604030504040204" pitchFamily="34" charset="0"/>
                  </a:rPr>
                  <a:t> 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tiles. 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/>
                  <a:t/>
                </a:r>
                <a:br>
                  <a:rPr lang="en-US" sz="2400" dirty="0"/>
                </a:br>
                <a:r>
                  <a:rPr lang="en-US" sz="2400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4"/>
                <a:ext cx="10284033" cy="3471976"/>
              </a:xfrm>
              <a:prstGeom prst="rect">
                <a:avLst/>
              </a:prstGeom>
              <a:blipFill>
                <a:blip r:embed="rId3"/>
                <a:stretch>
                  <a:fillRect l="-889" t="-1404" r="-16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5255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7EF097B-DD96-72CA-1957-5154E4581227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A1DA479A-7AAE-2093-E350-4D3A35057B1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030552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31272" y="520394"/>
                <a:ext cx="10260541" cy="57325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 of each trinomial relates to the four and six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tiles. 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/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the constant term,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of each trinomial relates to the four and six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tiles. 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7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Consider 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−24.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  <a:p>
                <a:pPr marL="914400" indent="-44926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Work with your partner to determine how many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tiles are needed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</a:rPr>
                      <m:t>−5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r>
                  <a:rPr lang="en-US" dirty="0"/>
                  <a:t> </a:t>
                </a: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272" y="520394"/>
                <a:ext cx="10260541" cy="5732531"/>
              </a:xfrm>
              <a:prstGeom prst="rect">
                <a:avLst/>
              </a:prstGeom>
              <a:blipFill>
                <a:blip r:embed="rId3"/>
                <a:stretch>
                  <a:fillRect l="-653" t="-6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="" id="{B36C129E-A5A7-1941-98D3-6430B32865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4349538"/>
                  </p:ext>
                </p:extLst>
              </p:nvPr>
            </p:nvGraphicFramePr>
            <p:xfrm>
              <a:off x="2643978" y="4765716"/>
              <a:ext cx="5610774" cy="158958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05387">
                      <a:extLst>
                        <a:ext uri="{9D8B030D-6E8A-4147-A177-3AD203B41FA5}">
                          <a16:colId xmlns:a16="http://schemas.microsoft.com/office/drawing/2014/main" xmlns="" val="2553787002"/>
                        </a:ext>
                      </a:extLst>
                    </a:gridCol>
                    <a:gridCol w="2805387">
                      <a:extLst>
                        <a:ext uri="{9D8B030D-6E8A-4147-A177-3AD203B41FA5}">
                          <a16:colId xmlns:a16="http://schemas.microsoft.com/office/drawing/2014/main" xmlns="" val="1620898123"/>
                        </a:ext>
                      </a:extLst>
                    </a:gridCol>
                  </a:tblGrid>
                  <a:tr h="4933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1800" b="1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18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sPre>
                            </m:oMath>
                          </a14:m>
                          <a:r>
                            <a:rPr lang="en-US" sz="1800" b="1" dirty="0">
                              <a:effectLst/>
                            </a:rPr>
                            <a:t> </a:t>
                          </a: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en-US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sPre>
                                <m:sPrePr>
                                  <m:ctrlPr>
                                    <a:rPr lang="en-US" sz="1800" b="1" i="1">
                                      <a:effectLst/>
                                      <a:latin typeface="Cambria Math" charset="0"/>
                                      <a:ea typeface="Cambria Math" panose="02040503050406030204" pitchFamily="18" charset="0"/>
                                    </a:rPr>
                                  </m:ctrlPr>
                                </m:sPrePr>
                                <m:sub/>
                                <m:sup>
                                  <m:r>
                                    <a:rPr lang="en-US" sz="1800" b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−</m:t>
                                  </m:r>
                                </m:sup>
                                <m:e>
                                  <m:r>
                                    <a:rPr lang="en-US" sz="1800" b="1" i="1">
                                      <a:effectLst/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𝐱</m:t>
                                  </m:r>
                                </m:e>
                              </m:sPre>
                            </m:oMath>
                          </a14:m>
                          <a:r>
                            <a:rPr lang="en-US" sz="1800" b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 </a:t>
                          </a:r>
                          <a:r>
                            <a:rPr lang="en-US" sz="18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tiles</a:t>
                          </a:r>
                          <a:endParaRPr lang="en-US" sz="1200" b="1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998574654"/>
                      </a:ext>
                    </a:extLst>
                  </a:tr>
                  <a:tr h="10961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78942708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B36C129E-A5A7-1941-98D3-6430B32865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34349538"/>
                  </p:ext>
                </p:extLst>
              </p:nvPr>
            </p:nvGraphicFramePr>
            <p:xfrm>
              <a:off x="2643978" y="4765716"/>
              <a:ext cx="5610774" cy="158958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2805387">
                      <a:extLst>
                        <a:ext uri="{9D8B030D-6E8A-4147-A177-3AD203B41FA5}">
                          <a16:colId xmlns:a16="http://schemas.microsoft.com/office/drawing/2014/main" val="2553787002"/>
                        </a:ext>
                      </a:extLst>
                    </a:gridCol>
                    <a:gridCol w="2805387">
                      <a:extLst>
                        <a:ext uri="{9D8B030D-6E8A-4147-A177-3AD203B41FA5}">
                          <a16:colId xmlns:a16="http://schemas.microsoft.com/office/drawing/2014/main" val="1620898123"/>
                        </a:ext>
                      </a:extLst>
                    </a:gridCol>
                  </a:tblGrid>
                  <a:tr h="49339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17" t="-1235" r="-100434" b="-2259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0217" t="-1235" r="-434" b="-2259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98574654"/>
                      </a:ext>
                    </a:extLst>
                  </a:tr>
                  <a:tr h="1096189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8942708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C85AF621-A381-21A9-1E91-812F45BC6773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80738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43147" y="520393"/>
                <a:ext cx="10272157" cy="39319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Draw a diagram of the algebra tiles that show 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49263">
                  <a:buFont typeface="+mj-lt"/>
                  <a:buAutoNum type="alphaL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49263">
                  <a:buFont typeface="+mj-lt"/>
                  <a:buAutoNum type="alphaL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Use your algebra tiles diagram to choose the number of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or 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sz="20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</m:sup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</m:sPre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tiles that match your diagram. Then, fill in each blank with the appropriate values.</a:t>
                </a:r>
              </a:p>
              <a:p>
                <a:pPr marL="465137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dirty="0"/>
                  <a:t/>
                </a:r>
                <a:br>
                  <a:rPr lang="en-US" dirty="0"/>
                </a:br>
                <a:r>
                  <a:rPr lang="en-US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7" y="520393"/>
                <a:ext cx="10272157" cy="3931910"/>
              </a:xfrm>
              <a:prstGeom prst="rect">
                <a:avLst/>
              </a:prstGeom>
              <a:blipFill>
                <a:blip r:embed="rId3"/>
                <a:stretch>
                  <a:fillRect t="-9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E82259FA-8F04-2E49-BB2D-0595F17A17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779172"/>
                  </p:ext>
                </p:extLst>
              </p:nvPr>
            </p:nvGraphicFramePr>
            <p:xfrm>
              <a:off x="1858329" y="2646998"/>
              <a:ext cx="8241792" cy="361061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50240">
                      <a:extLst>
                        <a:ext uri="{9D8B030D-6E8A-4147-A177-3AD203B41FA5}">
                          <a16:colId xmlns:a16="http://schemas.microsoft.com/office/drawing/2014/main" xmlns="" val="736382508"/>
                        </a:ext>
                      </a:extLst>
                    </a:gridCol>
                    <a:gridCol w="799719">
                      <a:extLst>
                        <a:ext uri="{9D8B030D-6E8A-4147-A177-3AD203B41FA5}">
                          <a16:colId xmlns:a16="http://schemas.microsoft.com/office/drawing/2014/main" xmlns="" val="2224676290"/>
                        </a:ext>
                      </a:extLst>
                    </a:gridCol>
                    <a:gridCol w="971169">
                      <a:extLst>
                        <a:ext uri="{9D8B030D-6E8A-4147-A177-3AD203B41FA5}">
                          <a16:colId xmlns:a16="http://schemas.microsoft.com/office/drawing/2014/main" xmlns="" val="2449727768"/>
                        </a:ext>
                      </a:extLst>
                    </a:gridCol>
                    <a:gridCol w="926719">
                      <a:extLst>
                        <a:ext uri="{9D8B030D-6E8A-4147-A177-3AD203B41FA5}">
                          <a16:colId xmlns:a16="http://schemas.microsoft.com/office/drawing/2014/main" xmlns="" val="1509923755"/>
                        </a:ext>
                      </a:extLst>
                    </a:gridCol>
                    <a:gridCol w="1098169">
                      <a:extLst>
                        <a:ext uri="{9D8B030D-6E8A-4147-A177-3AD203B41FA5}">
                          <a16:colId xmlns:a16="http://schemas.microsoft.com/office/drawing/2014/main" xmlns="" val="3893593860"/>
                        </a:ext>
                      </a:extLst>
                    </a:gridCol>
                    <a:gridCol w="799719">
                      <a:extLst>
                        <a:ext uri="{9D8B030D-6E8A-4147-A177-3AD203B41FA5}">
                          <a16:colId xmlns:a16="http://schemas.microsoft.com/office/drawing/2014/main" xmlns="" val="1844538476"/>
                        </a:ext>
                      </a:extLst>
                    </a:gridCol>
                    <a:gridCol w="971169">
                      <a:extLst>
                        <a:ext uri="{9D8B030D-6E8A-4147-A177-3AD203B41FA5}">
                          <a16:colId xmlns:a16="http://schemas.microsoft.com/office/drawing/2014/main" xmlns="" val="1041016843"/>
                        </a:ext>
                      </a:extLst>
                    </a:gridCol>
                    <a:gridCol w="926719">
                      <a:extLst>
                        <a:ext uri="{9D8B030D-6E8A-4147-A177-3AD203B41FA5}">
                          <a16:colId xmlns:a16="http://schemas.microsoft.com/office/drawing/2014/main" xmlns="" val="2944362828"/>
                        </a:ext>
                      </a:extLst>
                    </a:gridCol>
                    <a:gridCol w="1098169">
                      <a:extLst>
                        <a:ext uri="{9D8B030D-6E8A-4147-A177-3AD203B41FA5}">
                          <a16:colId xmlns:a16="http://schemas.microsoft.com/office/drawing/2014/main" xmlns="" val="77114723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164283840"/>
                      </a:ext>
                    </a:extLst>
                  </a:tr>
                  <a:tr h="13481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25384561"/>
                      </a:ext>
                    </a:extLst>
                  </a:tr>
                  <a:tr h="13481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−24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Verdana" panose="020B0604030504040204" pitchFamily="34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367741955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E82259FA-8F04-2E49-BB2D-0595F17A17B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3779172"/>
                  </p:ext>
                </p:extLst>
              </p:nvPr>
            </p:nvGraphicFramePr>
            <p:xfrm>
              <a:off x="1858329" y="2646998"/>
              <a:ext cx="8241792" cy="3610610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50240">
                      <a:extLst>
                        <a:ext uri="{9D8B030D-6E8A-4147-A177-3AD203B41FA5}">
                          <a16:colId xmlns:a16="http://schemas.microsoft.com/office/drawing/2014/main" val="736382508"/>
                        </a:ext>
                      </a:extLst>
                    </a:gridCol>
                    <a:gridCol w="799719">
                      <a:extLst>
                        <a:ext uri="{9D8B030D-6E8A-4147-A177-3AD203B41FA5}">
                          <a16:colId xmlns:a16="http://schemas.microsoft.com/office/drawing/2014/main" val="2224676290"/>
                        </a:ext>
                      </a:extLst>
                    </a:gridCol>
                    <a:gridCol w="971169">
                      <a:extLst>
                        <a:ext uri="{9D8B030D-6E8A-4147-A177-3AD203B41FA5}">
                          <a16:colId xmlns:a16="http://schemas.microsoft.com/office/drawing/2014/main" val="2449727768"/>
                        </a:ext>
                      </a:extLst>
                    </a:gridCol>
                    <a:gridCol w="926719">
                      <a:extLst>
                        <a:ext uri="{9D8B030D-6E8A-4147-A177-3AD203B41FA5}">
                          <a16:colId xmlns:a16="http://schemas.microsoft.com/office/drawing/2014/main" val="1509923755"/>
                        </a:ext>
                      </a:extLst>
                    </a:gridCol>
                    <a:gridCol w="1098169">
                      <a:extLst>
                        <a:ext uri="{9D8B030D-6E8A-4147-A177-3AD203B41FA5}">
                          <a16:colId xmlns:a16="http://schemas.microsoft.com/office/drawing/2014/main" val="3893593860"/>
                        </a:ext>
                      </a:extLst>
                    </a:gridCol>
                    <a:gridCol w="799719">
                      <a:extLst>
                        <a:ext uri="{9D8B030D-6E8A-4147-A177-3AD203B41FA5}">
                          <a16:colId xmlns:a16="http://schemas.microsoft.com/office/drawing/2014/main" val="1844538476"/>
                        </a:ext>
                      </a:extLst>
                    </a:gridCol>
                    <a:gridCol w="971169">
                      <a:extLst>
                        <a:ext uri="{9D8B030D-6E8A-4147-A177-3AD203B41FA5}">
                          <a16:colId xmlns:a16="http://schemas.microsoft.com/office/drawing/2014/main" val="1041016843"/>
                        </a:ext>
                      </a:extLst>
                    </a:gridCol>
                    <a:gridCol w="926719">
                      <a:extLst>
                        <a:ext uri="{9D8B030D-6E8A-4147-A177-3AD203B41FA5}">
                          <a16:colId xmlns:a16="http://schemas.microsoft.com/office/drawing/2014/main" val="2944362828"/>
                        </a:ext>
                      </a:extLst>
                    </a:gridCol>
                    <a:gridCol w="1098169">
                      <a:extLst>
                        <a:ext uri="{9D8B030D-6E8A-4147-A177-3AD203B41FA5}">
                          <a16:colId xmlns:a16="http://schemas.microsoft.com/office/drawing/2014/main" val="771147233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dirty="0">
                              <a:effectLst/>
                            </a:rPr>
                            <a:t> </a:t>
                          </a:r>
                          <a:endParaRPr lang="en-US" sz="1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335" t="-667" r="-100321" b="-30666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________</a:t>
                          </a:r>
                        </a:p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 </a:t>
                          </a:r>
                        </a:p>
                      </a:txBody>
                      <a:tcPr marL="68580" marR="68580" marT="0" marB="0" anchor="b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64283840"/>
                      </a:ext>
                    </a:extLst>
                  </a:tr>
                  <a:tr h="134810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35" t="-68018" r="-1166355" b="-107207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7335" t="-68018" r="-100321" b="-10720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58015" t="-68018" r="-377099" b="-107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38750" t="-68018" r="-208750" b="-107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72368" t="-68018" r="-119737" b="-10720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52222" t="-68018" r="-1111" b="-10720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5384561"/>
                      </a:ext>
                    </a:extLst>
                  </a:tr>
                  <a:tr h="134810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Verdana" panose="020B0604030504040204" pitchFamily="34" charset="0"/>
                            </a:rPr>
                            <a:t>___</a:t>
                          </a: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2443" t="-168778" r="-852672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0314" t="-168778" r="-602516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60131" t="-168778" r="-526144" b="-769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6111" t="-168778" r="-347222" b="-7692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7335" t="-168778" r="-321" b="-7692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677419557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D8D9ED12-11CF-6F54-7667-399DE699115E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65227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82496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367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66898" y="520393"/>
                <a:ext cx="10319657" cy="489364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49263">
                  <a:buFont typeface="+mj-lt"/>
                  <a:buAutoNum type="alphaLcPeriod" startAt="4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Discuss with your partner how using the factors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the value of the coefficient of the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-term,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is helpful when factoring the trinomial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−5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Summarize your discussion. </a:t>
                </a:r>
              </a:p>
              <a:p>
                <a:r>
                  <a:rPr lang="en-US" sz="2400" dirty="0"/>
                  <a:t/>
                </a:r>
                <a:br>
                  <a:rPr lang="en-US" sz="2400" dirty="0"/>
                </a:br>
                <a:r>
                  <a:rPr lang="en-US" sz="2400" dirty="0"/>
                  <a:t> </a:t>
                </a:r>
              </a:p>
              <a:p>
                <a:pPr marL="465137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/>
                  <a:t/>
                </a:r>
                <a:br>
                  <a:rPr lang="en-US" sz="2400" dirty="0"/>
                </a:br>
                <a:r>
                  <a:rPr lang="en-US" sz="2400" dirty="0"/>
                  <a:t> </a:t>
                </a: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898" y="520393"/>
                <a:ext cx="10319657" cy="4893647"/>
              </a:xfrm>
              <a:prstGeom prst="rect">
                <a:avLst/>
              </a:prstGeom>
              <a:blipFill>
                <a:blip r:embed="rId3"/>
                <a:stretch>
                  <a:fillRect t="-1121" r="-19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6760BDC3-AF44-C94E-BD05-E61FF805DD32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7" name="Google Shape;283;g104476d1465_1_17">
            <a:extLst>
              <a:ext uri="{FF2B5EF4-FFF2-40B4-BE49-F238E27FC236}">
                <a16:creationId xmlns:a16="http://schemas.microsoft.com/office/drawing/2014/main" xmlns="" id="{63A32268-D676-199E-FE4F-71643D30580D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54879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727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595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820FF72A-EBCA-5F8F-5E28-56DD41D73E8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0CA42D16-8C7E-3D5B-BDDC-AD1474476E95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09918" y="-37211"/>
            <a:ext cx="10532224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7.2.3 Guided Practice: Factoring Trinomials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xmlns="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110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843148" y="1386026"/>
                <a:ext cx="1031965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−40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148" y="1386026"/>
                <a:ext cx="10319657" cy="461665"/>
              </a:xfrm>
              <a:prstGeom prst="rect">
                <a:avLst/>
              </a:prstGeom>
              <a:blipFill>
                <a:blip r:embed="rId4"/>
                <a:stretch>
                  <a:fillRect l="-886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278;g104476d1465_1_17">
            <a:extLst>
              <a:ext uri="{FF2B5EF4-FFF2-40B4-BE49-F238E27FC236}">
                <a16:creationId xmlns:a16="http://schemas.microsoft.com/office/drawing/2014/main" xmlns="" id="{DC83FE6C-2A92-0840-AA21-B0B38F631C93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1E229983-5CEA-9248-8620-D708D0D92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9031478"/>
                  </p:ext>
                </p:extLst>
              </p:nvPr>
            </p:nvGraphicFramePr>
            <p:xfrm>
              <a:off x="1406100" y="2353525"/>
              <a:ext cx="8327138" cy="354494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84550">
                      <a:extLst>
                        <a:ext uri="{9D8B030D-6E8A-4147-A177-3AD203B41FA5}">
                          <a16:colId xmlns:a16="http://schemas.microsoft.com/office/drawing/2014/main" xmlns="" val="548475039"/>
                        </a:ext>
                      </a:extLst>
                    </a:gridCol>
                    <a:gridCol w="794497">
                      <a:extLst>
                        <a:ext uri="{9D8B030D-6E8A-4147-A177-3AD203B41FA5}">
                          <a16:colId xmlns:a16="http://schemas.microsoft.com/office/drawing/2014/main" xmlns="" val="706657544"/>
                        </a:ext>
                      </a:extLst>
                    </a:gridCol>
                    <a:gridCol w="979178">
                      <a:extLst>
                        <a:ext uri="{9D8B030D-6E8A-4147-A177-3AD203B41FA5}">
                          <a16:colId xmlns:a16="http://schemas.microsoft.com/office/drawing/2014/main" xmlns="" val="3911803385"/>
                        </a:ext>
                      </a:extLst>
                    </a:gridCol>
                    <a:gridCol w="931469">
                      <a:extLst>
                        <a:ext uri="{9D8B030D-6E8A-4147-A177-3AD203B41FA5}">
                          <a16:colId xmlns:a16="http://schemas.microsoft.com/office/drawing/2014/main" xmlns="" val="1737836906"/>
                        </a:ext>
                      </a:extLst>
                    </a:gridCol>
                    <a:gridCol w="1116150">
                      <a:extLst>
                        <a:ext uri="{9D8B030D-6E8A-4147-A177-3AD203B41FA5}">
                          <a16:colId xmlns:a16="http://schemas.microsoft.com/office/drawing/2014/main" xmlns="" val="1006858523"/>
                        </a:ext>
                      </a:extLst>
                    </a:gridCol>
                    <a:gridCol w="794497">
                      <a:extLst>
                        <a:ext uri="{9D8B030D-6E8A-4147-A177-3AD203B41FA5}">
                          <a16:colId xmlns:a16="http://schemas.microsoft.com/office/drawing/2014/main" xmlns="" val="2251109176"/>
                        </a:ext>
                      </a:extLst>
                    </a:gridCol>
                    <a:gridCol w="979178">
                      <a:extLst>
                        <a:ext uri="{9D8B030D-6E8A-4147-A177-3AD203B41FA5}">
                          <a16:colId xmlns:a16="http://schemas.microsoft.com/office/drawing/2014/main" xmlns="" val="1341260419"/>
                        </a:ext>
                      </a:extLst>
                    </a:gridCol>
                    <a:gridCol w="931469">
                      <a:extLst>
                        <a:ext uri="{9D8B030D-6E8A-4147-A177-3AD203B41FA5}">
                          <a16:colId xmlns:a16="http://schemas.microsoft.com/office/drawing/2014/main" xmlns="" val="371340218"/>
                        </a:ext>
                      </a:extLst>
                    </a:gridCol>
                    <a:gridCol w="1116150">
                      <a:extLst>
                        <a:ext uri="{9D8B030D-6E8A-4147-A177-3AD203B41FA5}">
                          <a16:colId xmlns:a16="http://schemas.microsoft.com/office/drawing/2014/main" xmlns="" val="2402450556"/>
                        </a:ext>
                      </a:extLst>
                    </a:gridCol>
                  </a:tblGrid>
                  <a:tr h="91449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306606454"/>
                      </a:ext>
                    </a:extLst>
                  </a:tr>
                  <a:tr h="13152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−10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−40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3493029792"/>
                      </a:ext>
                    </a:extLst>
                  </a:tr>
                  <a:tr h="13152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−5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−40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−40</m:t>
                                </m:r>
                              </m:oMath>
                            </m:oMathPara>
                          </a14:m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9778271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1E229983-5CEA-9248-8620-D708D0D92AB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9031478"/>
                  </p:ext>
                </p:extLst>
              </p:nvPr>
            </p:nvGraphicFramePr>
            <p:xfrm>
              <a:off x="1406100" y="2353525"/>
              <a:ext cx="8327138" cy="3544948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84550">
                      <a:extLst>
                        <a:ext uri="{9D8B030D-6E8A-4147-A177-3AD203B41FA5}">
                          <a16:colId xmlns:a16="http://schemas.microsoft.com/office/drawing/2014/main" val="548475039"/>
                        </a:ext>
                      </a:extLst>
                    </a:gridCol>
                    <a:gridCol w="794497">
                      <a:extLst>
                        <a:ext uri="{9D8B030D-6E8A-4147-A177-3AD203B41FA5}">
                          <a16:colId xmlns:a16="http://schemas.microsoft.com/office/drawing/2014/main" val="706657544"/>
                        </a:ext>
                      </a:extLst>
                    </a:gridCol>
                    <a:gridCol w="979178">
                      <a:extLst>
                        <a:ext uri="{9D8B030D-6E8A-4147-A177-3AD203B41FA5}">
                          <a16:colId xmlns:a16="http://schemas.microsoft.com/office/drawing/2014/main" val="3911803385"/>
                        </a:ext>
                      </a:extLst>
                    </a:gridCol>
                    <a:gridCol w="931469">
                      <a:extLst>
                        <a:ext uri="{9D8B030D-6E8A-4147-A177-3AD203B41FA5}">
                          <a16:colId xmlns:a16="http://schemas.microsoft.com/office/drawing/2014/main" val="1737836906"/>
                        </a:ext>
                      </a:extLst>
                    </a:gridCol>
                    <a:gridCol w="1116150">
                      <a:extLst>
                        <a:ext uri="{9D8B030D-6E8A-4147-A177-3AD203B41FA5}">
                          <a16:colId xmlns:a16="http://schemas.microsoft.com/office/drawing/2014/main" val="1006858523"/>
                        </a:ext>
                      </a:extLst>
                    </a:gridCol>
                    <a:gridCol w="794497">
                      <a:extLst>
                        <a:ext uri="{9D8B030D-6E8A-4147-A177-3AD203B41FA5}">
                          <a16:colId xmlns:a16="http://schemas.microsoft.com/office/drawing/2014/main" val="2251109176"/>
                        </a:ext>
                      </a:extLst>
                    </a:gridCol>
                    <a:gridCol w="979178">
                      <a:extLst>
                        <a:ext uri="{9D8B030D-6E8A-4147-A177-3AD203B41FA5}">
                          <a16:colId xmlns:a16="http://schemas.microsoft.com/office/drawing/2014/main" val="1341260419"/>
                        </a:ext>
                      </a:extLst>
                    </a:gridCol>
                    <a:gridCol w="931469">
                      <a:extLst>
                        <a:ext uri="{9D8B030D-6E8A-4147-A177-3AD203B41FA5}">
                          <a16:colId xmlns:a16="http://schemas.microsoft.com/office/drawing/2014/main" val="371340218"/>
                        </a:ext>
                      </a:extLst>
                    </a:gridCol>
                    <a:gridCol w="1116150">
                      <a:extLst>
                        <a:ext uri="{9D8B030D-6E8A-4147-A177-3AD203B41FA5}">
                          <a16:colId xmlns:a16="http://schemas.microsoft.com/office/drawing/2014/main" val="2402450556"/>
                        </a:ext>
                      </a:extLst>
                    </a:gridCol>
                  </a:tblGrid>
                  <a:tr h="91449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94" t="-667" r="-100159" b="-301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06606454"/>
                      </a:ext>
                    </a:extLst>
                  </a:tr>
                  <a:tr h="13152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93" t="-69907" r="-1122321" b="-109259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94" t="-69907" r="-100159" b="-1092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70000" t="-69907" r="-383846" b="-1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540994" t="-69907" r="-209938" b="-1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74510" t="-69907" r="-120915" b="-10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647541" t="-69907" r="-1093" b="-1092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029792"/>
                      </a:ext>
                    </a:extLst>
                  </a:tr>
                  <a:tr h="131522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86260" t="-169907" r="-859542" b="-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151553" t="-169907" r="-599379" b="-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266447" t="-169907" r="-534868" b="-92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 l="-302717" t="-169907" r="-341848" b="-9259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8182" t="-169907" r="-319" b="-925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9778271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BB8E3FB8-F713-78B1-881E-82F550D7799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xmlns="" id="{0FD852FC-D15E-65A9-5E7B-C237D3F6849D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855022" y="520394"/>
                <a:ext cx="10295907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+12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+32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022" y="520394"/>
                <a:ext cx="10295907" cy="461665"/>
              </a:xfrm>
              <a:prstGeom prst="rect">
                <a:avLst/>
              </a:prstGeom>
              <a:blipFill>
                <a:blip r:embed="rId3"/>
                <a:stretch>
                  <a:fillRect l="-88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78;g104476d1465_1_17">
            <a:extLst>
              <a:ext uri="{FF2B5EF4-FFF2-40B4-BE49-F238E27FC236}">
                <a16:creationId xmlns:a16="http://schemas.microsoft.com/office/drawing/2014/main" xmlns="" id="{DCFC9A26-671E-2C45-82EC-8B136C03E0A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5A57CB84-304E-8642-A6FD-D59A0302E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405999"/>
                  </p:ext>
                </p:extLst>
              </p:nvPr>
            </p:nvGraphicFramePr>
            <p:xfrm>
              <a:off x="1404564" y="1560231"/>
              <a:ext cx="8096308" cy="308521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68320">
                      <a:extLst>
                        <a:ext uri="{9D8B030D-6E8A-4147-A177-3AD203B41FA5}">
                          <a16:colId xmlns:a16="http://schemas.microsoft.com/office/drawing/2014/main" xmlns="" val="3084245760"/>
                        </a:ext>
                      </a:extLst>
                    </a:gridCol>
                    <a:gridCol w="772188">
                      <a:extLst>
                        <a:ext uri="{9D8B030D-6E8A-4147-A177-3AD203B41FA5}">
                          <a16:colId xmlns:a16="http://schemas.microsoft.com/office/drawing/2014/main" xmlns="" val="3880755578"/>
                        </a:ext>
                      </a:extLst>
                    </a:gridCol>
                    <a:gridCol w="951683">
                      <a:extLst>
                        <a:ext uri="{9D8B030D-6E8A-4147-A177-3AD203B41FA5}">
                          <a16:colId xmlns:a16="http://schemas.microsoft.com/office/drawing/2014/main" xmlns="" val="234733020"/>
                        </a:ext>
                      </a:extLst>
                    </a:gridCol>
                    <a:gridCol w="905314">
                      <a:extLst>
                        <a:ext uri="{9D8B030D-6E8A-4147-A177-3AD203B41FA5}">
                          <a16:colId xmlns:a16="http://schemas.microsoft.com/office/drawing/2014/main" xmlns="" val="2144127008"/>
                        </a:ext>
                      </a:extLst>
                    </a:gridCol>
                    <a:gridCol w="1084809">
                      <a:extLst>
                        <a:ext uri="{9D8B030D-6E8A-4147-A177-3AD203B41FA5}">
                          <a16:colId xmlns:a16="http://schemas.microsoft.com/office/drawing/2014/main" xmlns="" val="3577236670"/>
                        </a:ext>
                      </a:extLst>
                    </a:gridCol>
                    <a:gridCol w="772188">
                      <a:extLst>
                        <a:ext uri="{9D8B030D-6E8A-4147-A177-3AD203B41FA5}">
                          <a16:colId xmlns:a16="http://schemas.microsoft.com/office/drawing/2014/main" xmlns="" val="2667340243"/>
                        </a:ext>
                      </a:extLst>
                    </a:gridCol>
                    <a:gridCol w="951683">
                      <a:extLst>
                        <a:ext uri="{9D8B030D-6E8A-4147-A177-3AD203B41FA5}">
                          <a16:colId xmlns:a16="http://schemas.microsoft.com/office/drawing/2014/main" xmlns="" val="855297684"/>
                        </a:ext>
                      </a:extLst>
                    </a:gridCol>
                    <a:gridCol w="905314">
                      <a:extLst>
                        <a:ext uri="{9D8B030D-6E8A-4147-A177-3AD203B41FA5}">
                          <a16:colId xmlns:a16="http://schemas.microsoft.com/office/drawing/2014/main" xmlns="" val="2974256044"/>
                        </a:ext>
                      </a:extLst>
                    </a:gridCol>
                    <a:gridCol w="1084809">
                      <a:extLst>
                        <a:ext uri="{9D8B030D-6E8A-4147-A177-3AD203B41FA5}">
                          <a16:colId xmlns:a16="http://schemas.microsoft.com/office/drawing/2014/main" xmlns="" val="4241174710"/>
                        </a:ext>
                      </a:extLst>
                    </a:gridCol>
                  </a:tblGrid>
                  <a:tr h="85362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670373674"/>
                      </a:ext>
                    </a:extLst>
                  </a:tr>
                  <a:tr h="10854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1" i="1" smtClean="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2251954080"/>
                      </a:ext>
                    </a:extLst>
                  </a:tr>
                  <a:tr h="10854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−4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32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56258901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5A57CB84-304E-8642-A6FD-D59A0302EB7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21405999"/>
                  </p:ext>
                </p:extLst>
              </p:nvPr>
            </p:nvGraphicFramePr>
            <p:xfrm>
              <a:off x="1404564" y="1560231"/>
              <a:ext cx="8096308" cy="308521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68320">
                      <a:extLst>
                        <a:ext uri="{9D8B030D-6E8A-4147-A177-3AD203B41FA5}">
                          <a16:colId xmlns:a16="http://schemas.microsoft.com/office/drawing/2014/main" val="3084245760"/>
                        </a:ext>
                      </a:extLst>
                    </a:gridCol>
                    <a:gridCol w="772188">
                      <a:extLst>
                        <a:ext uri="{9D8B030D-6E8A-4147-A177-3AD203B41FA5}">
                          <a16:colId xmlns:a16="http://schemas.microsoft.com/office/drawing/2014/main" val="3880755578"/>
                        </a:ext>
                      </a:extLst>
                    </a:gridCol>
                    <a:gridCol w="951683">
                      <a:extLst>
                        <a:ext uri="{9D8B030D-6E8A-4147-A177-3AD203B41FA5}">
                          <a16:colId xmlns:a16="http://schemas.microsoft.com/office/drawing/2014/main" val="234733020"/>
                        </a:ext>
                      </a:extLst>
                    </a:gridCol>
                    <a:gridCol w="905314">
                      <a:extLst>
                        <a:ext uri="{9D8B030D-6E8A-4147-A177-3AD203B41FA5}">
                          <a16:colId xmlns:a16="http://schemas.microsoft.com/office/drawing/2014/main" val="2144127008"/>
                        </a:ext>
                      </a:extLst>
                    </a:gridCol>
                    <a:gridCol w="1084809">
                      <a:extLst>
                        <a:ext uri="{9D8B030D-6E8A-4147-A177-3AD203B41FA5}">
                          <a16:colId xmlns:a16="http://schemas.microsoft.com/office/drawing/2014/main" val="3577236670"/>
                        </a:ext>
                      </a:extLst>
                    </a:gridCol>
                    <a:gridCol w="772188">
                      <a:extLst>
                        <a:ext uri="{9D8B030D-6E8A-4147-A177-3AD203B41FA5}">
                          <a16:colId xmlns:a16="http://schemas.microsoft.com/office/drawing/2014/main" val="2667340243"/>
                        </a:ext>
                      </a:extLst>
                    </a:gridCol>
                    <a:gridCol w="951683">
                      <a:extLst>
                        <a:ext uri="{9D8B030D-6E8A-4147-A177-3AD203B41FA5}">
                          <a16:colId xmlns:a16="http://schemas.microsoft.com/office/drawing/2014/main" val="855297684"/>
                        </a:ext>
                      </a:extLst>
                    </a:gridCol>
                    <a:gridCol w="905314">
                      <a:extLst>
                        <a:ext uri="{9D8B030D-6E8A-4147-A177-3AD203B41FA5}">
                          <a16:colId xmlns:a16="http://schemas.microsoft.com/office/drawing/2014/main" val="2974256044"/>
                        </a:ext>
                      </a:extLst>
                    </a:gridCol>
                    <a:gridCol w="1084809">
                      <a:extLst>
                        <a:ext uri="{9D8B030D-6E8A-4147-A177-3AD203B41FA5}">
                          <a16:colId xmlns:a16="http://schemas.microsoft.com/office/drawing/2014/main" val="4241174710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27" t="-662" r="-100493" b="-24569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________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70373674"/>
                      </a:ext>
                    </a:extLst>
                  </a:tr>
                  <a:tr h="108540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09" t="-85393" r="-1110000" b="-108427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8227" t="-85393" r="-100493" b="-1084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66929" t="-85393" r="-381890" b="-108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542949" t="-85393" r="-210897" b="-108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73154" t="-85393" r="-120805" b="-10842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647191" t="-85393" r="-1124" b="-1084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51954080"/>
                      </a:ext>
                    </a:extLst>
                  </a:tr>
                  <a:tr h="108540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i="1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b="1" i="1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88095" t="-184358" r="-869048" b="-7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150955" t="-184358" r="-597452" b="-7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266216" t="-184358" r="-533784" b="-78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4"/>
                          <a:stretch>
                            <a:fillRect l="-304494" t="-184358" r="-343820" b="-7821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18033" t="-184358" r="-328" b="-7821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56258901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EF34623A-D243-2D9C-0156-17D0A0C20178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>
            <a:extLst>
              <a:ext uri="{FF2B5EF4-FFF2-40B4-BE49-F238E27FC236}">
                <a16:creationId xmlns:a16="http://schemas.microsoft.com/office/drawing/2014/main" xmlns="" id="{7853741E-1130-3981-DD1A-157C2A0C3F81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068378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59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2116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xmlns="" id="{93D338D9-F4F3-AC46-BAB5-0DC7D391667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595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CAD20383-A44D-430C-D2B4-169B7477C72E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>
            <a:extLst>
              <a:ext uri="{FF2B5EF4-FFF2-40B4-BE49-F238E27FC236}">
                <a16:creationId xmlns:a16="http://schemas.microsoft.com/office/drawing/2014/main" xmlns="" id="{2DCFD83F-3F86-6619-4A53-40CA14E27ABB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xmlns="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09918" y="6032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7.2.4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xmlns="" id="{032D5487-B5A9-DE4B-AE87-33198BE1614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618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858350" y="1386026"/>
                <a:ext cx="1029258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−11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+18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350" y="1386026"/>
                <a:ext cx="10292580" cy="461665"/>
              </a:xfrm>
              <a:prstGeom prst="rect">
                <a:avLst/>
              </a:prstGeom>
              <a:blipFill>
                <a:blip r:embed="rId4"/>
                <a:stretch>
                  <a:fillRect l="-948" t="-11842" b="-276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EDD7E546-9334-CD4B-9098-7FA33B42DB04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xmlns="" id="{F3BFF2B4-0A85-DD44-94EB-7B5D21065D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3638168"/>
                  </p:ext>
                </p:extLst>
              </p:nvPr>
            </p:nvGraphicFramePr>
            <p:xfrm>
              <a:off x="1257494" y="2404133"/>
              <a:ext cx="7992528" cy="350267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48900">
                      <a:extLst>
                        <a:ext uri="{9D8B030D-6E8A-4147-A177-3AD203B41FA5}">
                          <a16:colId xmlns:a16="http://schemas.microsoft.com/office/drawing/2014/main" xmlns="" val="1330913081"/>
                        </a:ext>
                      </a:extLst>
                    </a:gridCol>
                    <a:gridCol w="763418">
                      <a:extLst>
                        <a:ext uri="{9D8B030D-6E8A-4147-A177-3AD203B41FA5}">
                          <a16:colId xmlns:a16="http://schemas.microsoft.com/office/drawing/2014/main" xmlns="" val="4229367403"/>
                        </a:ext>
                      </a:extLst>
                    </a:gridCol>
                    <a:gridCol w="940875">
                      <a:extLst>
                        <a:ext uri="{9D8B030D-6E8A-4147-A177-3AD203B41FA5}">
                          <a16:colId xmlns:a16="http://schemas.microsoft.com/office/drawing/2014/main" xmlns="" val="227737685"/>
                        </a:ext>
                      </a:extLst>
                    </a:gridCol>
                    <a:gridCol w="895032">
                      <a:extLst>
                        <a:ext uri="{9D8B030D-6E8A-4147-A177-3AD203B41FA5}">
                          <a16:colId xmlns:a16="http://schemas.microsoft.com/office/drawing/2014/main" xmlns="" val="299744415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xmlns="" val="341388441"/>
                        </a:ext>
                      </a:extLst>
                    </a:gridCol>
                    <a:gridCol w="763418">
                      <a:extLst>
                        <a:ext uri="{9D8B030D-6E8A-4147-A177-3AD203B41FA5}">
                          <a16:colId xmlns:a16="http://schemas.microsoft.com/office/drawing/2014/main" xmlns="" val="3468687279"/>
                        </a:ext>
                      </a:extLst>
                    </a:gridCol>
                    <a:gridCol w="940875">
                      <a:extLst>
                        <a:ext uri="{9D8B030D-6E8A-4147-A177-3AD203B41FA5}">
                          <a16:colId xmlns:a16="http://schemas.microsoft.com/office/drawing/2014/main" xmlns="" val="1755439702"/>
                        </a:ext>
                      </a:extLst>
                    </a:gridCol>
                    <a:gridCol w="895032">
                      <a:extLst>
                        <a:ext uri="{9D8B030D-6E8A-4147-A177-3AD203B41FA5}">
                          <a16:colId xmlns:a16="http://schemas.microsoft.com/office/drawing/2014/main" xmlns="" val="931370179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xmlns="" val="2235058390"/>
                        </a:ext>
                      </a:extLst>
                    </a:gridCol>
                  </a:tblGrid>
                  <a:tr h="86395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u="sng" dirty="0"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1956906907"/>
                      </a:ext>
                    </a:extLst>
                  </a:tr>
                  <a:tr h="129413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𝒙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US" sz="20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930381351"/>
                      </a:ext>
                    </a:extLst>
                  </a:tr>
                  <a:tr h="1294137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u="sng">
                                    <a:effectLst/>
                                    <a:uFill>
                                      <a:solidFill>
                                        <a:srgbClr val="000000"/>
                                      </a:solidFill>
                                    </a:u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____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−2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−3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−6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−9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342900" marR="0" lvl="0" indent="-34290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14:m>
                            <m:oMath xmlns:m="http://schemas.openxmlformats.org/officeDocument/2006/math"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−18</m:t>
                              </m:r>
                              <m:r>
                                <a:rPr lang="en-US" sz="20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𝑥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="" val="6598355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F3BFF2B4-0A85-DD44-94EB-7B5D21065DA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13638168"/>
                  </p:ext>
                </p:extLst>
              </p:nvPr>
            </p:nvGraphicFramePr>
            <p:xfrm>
              <a:off x="1257494" y="2404133"/>
              <a:ext cx="7992528" cy="3502674"/>
            </p:xfrm>
            <a:graphic>
              <a:graphicData uri="http://schemas.openxmlformats.org/drawingml/2006/table">
                <a:tbl>
                  <a:tblPr firstRow="1" firstCol="1" bandRow="1">
                    <a:tableStyleId>{A91F0D33-8C57-4600-99A7-42BC86742BE1}</a:tableStyleId>
                  </a:tblPr>
                  <a:tblGrid>
                    <a:gridCol w="648900">
                      <a:extLst>
                        <a:ext uri="{9D8B030D-6E8A-4147-A177-3AD203B41FA5}">
                          <a16:colId xmlns:a16="http://schemas.microsoft.com/office/drawing/2014/main" val="1330913081"/>
                        </a:ext>
                      </a:extLst>
                    </a:gridCol>
                    <a:gridCol w="763418">
                      <a:extLst>
                        <a:ext uri="{9D8B030D-6E8A-4147-A177-3AD203B41FA5}">
                          <a16:colId xmlns:a16="http://schemas.microsoft.com/office/drawing/2014/main" val="4229367403"/>
                        </a:ext>
                      </a:extLst>
                    </a:gridCol>
                    <a:gridCol w="940875">
                      <a:extLst>
                        <a:ext uri="{9D8B030D-6E8A-4147-A177-3AD203B41FA5}">
                          <a16:colId xmlns:a16="http://schemas.microsoft.com/office/drawing/2014/main" val="227737685"/>
                        </a:ext>
                      </a:extLst>
                    </a:gridCol>
                    <a:gridCol w="895032">
                      <a:extLst>
                        <a:ext uri="{9D8B030D-6E8A-4147-A177-3AD203B41FA5}">
                          <a16:colId xmlns:a16="http://schemas.microsoft.com/office/drawing/2014/main" val="299744415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val="341388441"/>
                        </a:ext>
                      </a:extLst>
                    </a:gridCol>
                    <a:gridCol w="763418">
                      <a:extLst>
                        <a:ext uri="{9D8B030D-6E8A-4147-A177-3AD203B41FA5}">
                          <a16:colId xmlns:a16="http://schemas.microsoft.com/office/drawing/2014/main" val="3468687279"/>
                        </a:ext>
                      </a:extLst>
                    </a:gridCol>
                    <a:gridCol w="940875">
                      <a:extLst>
                        <a:ext uri="{9D8B030D-6E8A-4147-A177-3AD203B41FA5}">
                          <a16:colId xmlns:a16="http://schemas.microsoft.com/office/drawing/2014/main" val="1755439702"/>
                        </a:ext>
                      </a:extLst>
                    </a:gridCol>
                    <a:gridCol w="895032">
                      <a:extLst>
                        <a:ext uri="{9D8B030D-6E8A-4147-A177-3AD203B41FA5}">
                          <a16:colId xmlns:a16="http://schemas.microsoft.com/office/drawing/2014/main" val="931370179"/>
                        </a:ext>
                      </a:extLst>
                    </a:gridCol>
                    <a:gridCol w="1072489">
                      <a:extLst>
                        <a:ext uri="{9D8B030D-6E8A-4147-A177-3AD203B41FA5}">
                          <a16:colId xmlns:a16="http://schemas.microsoft.com/office/drawing/2014/main" val="2235058390"/>
                        </a:ext>
                      </a:extLst>
                    </a:gridCol>
                  </a:tblGrid>
                  <a:tr h="9144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solidFill>
                          <a:schemeClr val="bg1"/>
                        </a:solid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40" t="-667" r="-100498" b="-285333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gridSpan="4"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u="sng" dirty="0">
                              <a:effectLst/>
                              <a:uFill>
                                <a:solidFill>
                                  <a:srgbClr val="000000"/>
                                </a:solidFill>
                              </a:u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____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956906907"/>
                      </a:ext>
                    </a:extLst>
                  </a:tr>
                  <a:tr h="12941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35" t="-70892" r="-1128037" b="-100939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7940" t="-70892" r="-100498" b="-10093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63492" t="-70892" r="-380159" b="-100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542857" t="-70892" r="-211039" b="-100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73469" t="-70892" r="-121088" b="-1009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646023" t="-70892" r="-1136" b="-1009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30381351"/>
                      </a:ext>
                    </a:extLst>
                  </a:tr>
                  <a:tr h="129413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35" t="-171698" r="-1128037" b="-1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86400" t="-171698" r="-865600" b="-1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51299" t="-171698" r="-602597" b="-1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63265" t="-171698" r="-531293" b="-141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03409" t="-171698" r="-343750" b="-1415"/>
                          </a:stretch>
                        </a:blipFill>
                      </a:tcPr>
                    </a:tc>
                    <a:tc gridSpan="4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17745" t="-171698" r="-332" b="-1415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598355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62ECBC83-3E8E-AD17-9453-9FAF1748AA6D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xmlns="" id="{3EBBD3E3-BEBE-0446-0576-21DF6CF58833}"/>
              </a:ext>
            </a:extLst>
          </p:cNvPr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187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7971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761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86D6AF51-32C1-46AE-8634-3B90409D152A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>
            <a:extLst>
              <a:ext uri="{FF2B5EF4-FFF2-40B4-BE49-F238E27FC236}">
                <a16:creationId xmlns:a16="http://schemas.microsoft.com/office/drawing/2014/main" xmlns="" id="{31FB7DD6-AC28-8775-7B6C-B94B191A38C2}"/>
              </a:ext>
            </a:extLst>
          </p:cNvPr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82281" y="0"/>
            <a:ext cx="9296753" cy="1045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4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7.2.5 Wrap-Up: Reflection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2832" y="14289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xmlns="" id="{0370EDB7-6994-3D43-ABF9-E04CBAFB9CD9}"/>
              </a:ext>
            </a:extLst>
          </p:cNvPr>
          <p:cNvSpPr txBox="1"/>
          <p:nvPr/>
        </p:nvSpPr>
        <p:spPr>
          <a:xfrm>
            <a:off x="866898" y="1386025"/>
            <a:ext cx="102840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How “in the zone” do you feel right now about factoring trinomials?</a:t>
            </a:r>
          </a:p>
        </p:txBody>
      </p:sp>
      <p:sp>
        <p:nvSpPr>
          <p:cNvPr id="8" name="Google Shape;278;g104476d1465_1_17">
            <a:extLst>
              <a:ext uri="{FF2B5EF4-FFF2-40B4-BE49-F238E27FC236}">
                <a16:creationId xmlns:a16="http://schemas.microsoft.com/office/drawing/2014/main" xmlns="" id="{C9825640-5649-F74D-866E-EC8F188D5640}"/>
              </a:ext>
            </a:extLst>
          </p:cNvPr>
          <p:cNvSpPr/>
          <p:nvPr/>
        </p:nvSpPr>
        <p:spPr>
          <a:xfrm>
            <a:off x="432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Picture 9" descr="A yellow sign with black text&#10;&#10;Description automatically generated with low confidence">
            <a:extLst>
              <a:ext uri="{FF2B5EF4-FFF2-40B4-BE49-F238E27FC236}">
                <a16:creationId xmlns:a16="http://schemas.microsoft.com/office/drawing/2014/main" xmlns="" id="{2D51BA28-D759-2C49-B7A7-E37BB40A8C7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80064" y="1915109"/>
            <a:ext cx="4229100" cy="4285615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xmlns="" id="{3C61649C-C1FD-ABBF-DC3D-AF7856A772A7}"/>
              </a:ext>
            </a:extLst>
          </p:cNvPr>
          <p:cNvSpPr txBox="1"/>
          <p:nvPr/>
        </p:nvSpPr>
        <p:spPr>
          <a:xfrm>
            <a:off x="8821333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>
            <a:extLst>
              <a:ext uri="{FF2B5EF4-FFF2-40B4-BE49-F238E27FC236}">
                <a16:creationId xmlns:a16="http://schemas.microsoft.com/office/drawing/2014/main" xmlns="" id="{0BCC608F-4340-C2D7-BE86-422D87F4F4B5}"/>
              </a:ext>
            </a:extLst>
          </p:cNvPr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9559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1400</TotalTime>
  <Words>1269</Words>
  <Application>Microsoft Macintosh PowerPoint</Application>
  <PresentationFormat>Widescreen</PresentationFormat>
  <Paragraphs>380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0" baseType="lpstr">
      <vt:lpstr>Arial Black</vt:lpstr>
      <vt:lpstr>Century Gothic</vt:lpstr>
      <vt:lpstr>Courier New</vt:lpstr>
      <vt:lpstr>Cambria Math</vt:lpstr>
      <vt:lpstr>Times New Roman</vt:lpstr>
      <vt:lpstr>Verdana</vt:lpstr>
      <vt:lpstr>Cambria</vt:lpstr>
      <vt:lpstr>Arial</vt:lpstr>
      <vt:lpstr>Calibri</vt:lpstr>
      <vt:lpstr>1_Office Theme</vt:lpstr>
      <vt:lpstr>Algebra 1  Unit 7, Lesson 2  Factoring a Trinomial With Algebra Tiles  Volume 1, pg. 362  </vt:lpstr>
      <vt:lpstr>Benchmark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Your Turn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jslater9816@gmail.com</cp:lastModifiedBy>
  <cp:revision>23</cp:revision>
  <dcterms:created xsi:type="dcterms:W3CDTF">2015-03-17T18:51:18Z</dcterms:created>
  <dcterms:modified xsi:type="dcterms:W3CDTF">2022-07-29T23:30:34Z</dcterms:modified>
</cp:coreProperties>
</file>