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288" r:id="rId10"/>
    <p:sldId id="332" r:id="rId11"/>
    <p:sldId id="344" r:id="rId12"/>
    <p:sldId id="345" r:id="rId13"/>
    <p:sldId id="342" r:id="rId14"/>
    <p:sldId id="343" r:id="rId15"/>
    <p:sldId id="289" r:id="rId16"/>
    <p:sldId id="290" r:id="rId17"/>
    <p:sldId id="346" r:id="rId18"/>
    <p:sldId id="323" r:id="rId19"/>
    <p:sldId id="324" r:id="rId20"/>
    <p:sldId id="337" r:id="rId21"/>
    <p:sldId id="302" r:id="rId22"/>
    <p:sldId id="303" r:id="rId23"/>
    <p:sldId id="306" r:id="rId24"/>
    <p:sldId id="307" r:id="rId25"/>
    <p:sldId id="341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88" autoAdjust="0"/>
    <p:restoredTop sz="94719"/>
  </p:normalViewPr>
  <p:slideViewPr>
    <p:cSldViewPr snapToGrid="0">
      <p:cViewPr varScale="1">
        <p:scale>
          <a:sx n="81" d="100"/>
          <a:sy n="81" d="100"/>
        </p:scale>
        <p:origin x="28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74961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156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662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7692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4913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0999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7888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2911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14533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9144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Factoring Perfect Square Trinomials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391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47849" y="1600200"/>
            <a:ext cx="917680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MA.912.AR.1.7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a polynomial expression as a product of polynomials over the real number system.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978822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47849" y="1596390"/>
            <a:ext cx="917680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FA12BEDF-660B-6318-EAF4-41EE64B986D5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9B6A0636-9151-0CE7-056A-E0FA74BC8DB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81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0642" y="1600200"/>
            <a:ext cx="918963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factor perfect square trinomials.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90A606E-E868-B952-2CFD-A4820A73F2F0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9FB7CC56-C272-3043-07B7-5F819C2615E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528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F5EA9D5-BE36-8FB9-25E0-8D92D19C8279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E3F70BC-EC76-A068-7F1B-E9A56D08507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84415" y="60325"/>
            <a:ext cx="1020090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7.7.1 Warm-Up: Critical Thinking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516" y="26507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43147" y="1386026"/>
            <a:ext cx="102840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blanks with an integer so that the quadratic expression is factorable. Then, complete the factored form.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893237"/>
                  </p:ext>
                </p:extLst>
              </p:nvPr>
            </p:nvGraphicFramePr>
            <p:xfrm>
              <a:off x="1484415" y="2763430"/>
              <a:ext cx="7552536" cy="314783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7696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828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658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476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+_______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+36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+_______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476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−_______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−_______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476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+_______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−36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−_______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893237"/>
                  </p:ext>
                </p:extLst>
              </p:nvPr>
            </p:nvGraphicFramePr>
            <p:xfrm>
              <a:off x="1484415" y="2763430"/>
              <a:ext cx="7552536" cy="314783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7696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828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476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2" t="-40385" r="-100646" b="-200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99839" t="-40385" r="-322" b="-2006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476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2" t="-141290" r="-100646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99839" t="-141290" r="-322" b="-101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476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62" t="-239744" r="-100646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99839" t="-239744" r="-32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A907928A-7064-9628-E545-9E01C724CB7F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188B2C59-5E28-39EE-08C3-CE53B7AB854D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41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9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867465-A6EF-E0DB-F903-C08478C668B4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EC3A98D0-4E04-4979-E6FA-CFD6EEC59E7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60664" y="68550"/>
            <a:ext cx="1008147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7.7.2 Collaboration: Perfect Square Trinomials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0516" y="2695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831272" y="1394251"/>
            <a:ext cx="10367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quadratic expressions represented by algebra tiles are perfect square trinomials.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319" y="2385933"/>
            <a:ext cx="7262051" cy="3857724"/>
          </a:xfrm>
          <a:prstGeom prst="rect">
            <a:avLst/>
          </a:prstGeom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5820A24C-167B-7CAB-9738-D7AD1847177F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4841ADE2-0F6C-9470-5175-D0A4E0003051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66898" y="319226"/>
            <a:ext cx="1028403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why these quadratic expressions are called perfect square trinomials.</a:t>
            </a: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trinomials represented by the algebra tiles.</a:t>
            </a: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algebra tile representations to write the factored form of each trinomial.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5F1D98C-071D-7E4F-AC26-9D72783C56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849786"/>
              </p:ext>
            </p:extLst>
          </p:nvPr>
        </p:nvGraphicFramePr>
        <p:xfrm>
          <a:off x="1823055" y="2148539"/>
          <a:ext cx="6879251" cy="17254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12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6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191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Trinomial A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Trinomial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062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312243"/>
              </p:ext>
            </p:extLst>
          </p:nvPr>
        </p:nvGraphicFramePr>
        <p:xfrm>
          <a:off x="1804619" y="4812764"/>
          <a:ext cx="6916124" cy="18932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30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Factored</a:t>
                      </a:r>
                      <a:r>
                        <a:rPr lang="en-US" sz="2000" b="1" baseline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Form of </a:t>
                      </a: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Trinomial A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Factored Form of Trinomial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361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A82CEBC-F391-3DFE-4413-A5FE20D24DE9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45C097D6-985C-B836-EF22-BDE4B40BD20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66899" y="520394"/>
                <a:ext cx="1026028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quadratic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represented by the algebra tiles.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99" y="520394"/>
                <a:ext cx="10260280" cy="830997"/>
              </a:xfrm>
              <a:prstGeom prst="rect">
                <a:avLst/>
              </a:prstGeom>
              <a:blipFill>
                <a:blip r:embed="rId3"/>
                <a:stretch>
                  <a:fillRect l="-891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Pictur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9084" y="1671153"/>
            <a:ext cx="3810000" cy="3721100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0CF4854-2A0C-37C3-C2E5-21ED417362C5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E7016A4-15C2-04C0-C0F5-95DAA066ADF6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3" y="520393"/>
                <a:ext cx="10272156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Pranjal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used the algebra tiles to write the factored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+5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Pranjal’s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work by completing the steps.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+5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+5)(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+5)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+5</m:t>
                        </m:r>
                      </m:e>
                    </m:d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+5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__________________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writing the factored form of the quadratic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+5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relates to the expression being called a perfect square trinomial. Summarize your discussion.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520393"/>
                <a:ext cx="10272156" cy="5262979"/>
              </a:xfrm>
              <a:prstGeom prst="rect">
                <a:avLst/>
              </a:prstGeom>
              <a:blipFill>
                <a:blip r:embed="rId3"/>
                <a:stretch>
                  <a:fillRect t="-926" r="-653" b="-1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05E91FF-B582-1CE6-34F2-FF9A904EE765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19A978F4-582E-7DB9-ACED-33A5BF22468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6138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771894" y="532269"/>
            <a:ext cx="10367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determine which quadratic expressions are perfect square trinomials.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473" y="1431245"/>
            <a:ext cx="4778121" cy="5226530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FA8B074-3D66-B3F8-9F12-682D00621298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E943227A-F2CA-ACA4-E21B-F2A71F70460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839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060" y="266775"/>
            <a:ext cx="5893118" cy="6391000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FE30770-A04F-3565-B507-4165C57436B9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A6C1D6E6-0962-CF9D-2D03-3E763C5D24B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23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7" y="4507177"/>
            <a:ext cx="10284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some key characteristics of perfect square trinomials by relating both the representation of a quadratic expression using algebra tiles and the trinomial.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517" y="717285"/>
            <a:ext cx="6191250" cy="3267075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CF8C44A-624C-FF06-A808-906CC3F8A6AE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B920155B-9714-556D-A7AC-D592D0C12DA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4399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58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DF86071-E3E0-69B9-4169-FDB89AAC63CE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2BEA545D-022D-256A-A113-0A37D4003E0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6913" y="-85979"/>
            <a:ext cx="1036715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7.7.3 Guided Instruction: Factoring Perfect Square Trinomials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406" y="1395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866898" y="2940506"/>
                <a:ext cx="10260281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quadratic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perfect square trinomial. Rewrite the trinomial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Perfect square trinomials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factored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98" y="2940506"/>
                <a:ext cx="10260281" cy="3416320"/>
              </a:xfrm>
              <a:prstGeom prst="rect">
                <a:avLst/>
              </a:prstGeom>
              <a:blipFill>
                <a:blip r:embed="rId4"/>
                <a:stretch>
                  <a:fillRect l="-891" t="-1604"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280578" y="1521468"/>
            <a:ext cx="6974078" cy="1137291"/>
            <a:chOff x="0" y="0"/>
            <a:chExt cx="6629400" cy="7863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 10"/>
            <p:cNvSpPr/>
            <p:nvPr/>
          </p:nvSpPr>
          <p:spPr>
            <a:xfrm>
              <a:off x="0" y="0"/>
              <a:ext cx="6629400" cy="786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/>
                <p:cNvSpPr/>
                <p:nvPr/>
              </p:nvSpPr>
              <p:spPr>
                <a:xfrm>
                  <a:off x="0" y="0"/>
                  <a:ext cx="6629400" cy="78638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45720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</a:t>
                  </a:r>
                  <a:r>
                    <a:rPr lang="en-US" sz="20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perfect square trinomial</a:t>
                  </a:r>
                  <a:r>
                    <a:rPr lang="en-US" sz="20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is a trinomial of the form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+2</m:t>
                      </m:r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𝑎𝑏</m:t>
                      </m:r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or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−2</m:t>
                      </m:r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𝑎𝑏</m:t>
                      </m:r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4" name="Rounded 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6629400" cy="786384"/>
                </a:xfrm>
                <a:prstGeom prst="roundRect">
                  <a:avLst>
                    <a:gd name="adj" fmla="val 16667"/>
                  </a:avLst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1855E3A5-933D-CB1B-0B6E-FECC9E2103F8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>
            <a:extLst>
              <a:ext uri="{FF2B5EF4-FFF2-40B4-BE49-F238E27FC236}">
                <a16:creationId xmlns:a16="http://schemas.microsoft.com/office/drawing/2014/main" id="{36DCE19B-FDB7-FA99-BC9B-4AEDCA912240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31272" y="520393"/>
                <a:ext cx="10319657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quadratic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perfect square trinomial. Rewrite the trinomial in the form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Perfect square trinomials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factored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2" y="520393"/>
                <a:ext cx="10319657" cy="4524315"/>
              </a:xfrm>
              <a:prstGeom prst="rect">
                <a:avLst/>
              </a:prstGeom>
              <a:blipFill>
                <a:blip r:embed="rId3"/>
                <a:stretch>
                  <a:fillRect l="-886" t="-1211" r="-2008" b="-1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A243D77-D14E-2A98-2835-C6F079EE9C94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8C3D12AA-5C76-FAD2-90DF-878D7F9FC66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4859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727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95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48CDDFE-0265-FBA6-4CAE-F7E5F25A2EEA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16563309-F84D-1198-220D-355791B3401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72539" y="-37211"/>
            <a:ext cx="1009065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7.7.4 Guided Practice: Factoring Perfect Square Trinomials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7833" y="16128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855022" y="1386026"/>
                <a:ext cx="1028403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Place a check mark in the appropriate columns of the table to indicate whether or not each quadratic expression is a perfect square trinomial. If it is a perfect square, write its factored form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1386026"/>
                <a:ext cx="10284033" cy="1569660"/>
              </a:xfrm>
              <a:prstGeom prst="rect">
                <a:avLst/>
              </a:prstGeom>
              <a:blipFill>
                <a:blip r:embed="rId4"/>
                <a:stretch>
                  <a:fillRect l="-889" t="-3101" r="-830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7814682"/>
                  </p:ext>
                </p:extLst>
              </p:nvPr>
            </p:nvGraphicFramePr>
            <p:xfrm>
              <a:off x="1472539" y="3391308"/>
              <a:ext cx="8327136" cy="302947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292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58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64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7401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3904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6085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Term Is a Perfect Square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Third Term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a Perfect Square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Second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𝐚𝐛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𝐚𝐛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045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045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+49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7814682"/>
                  </p:ext>
                </p:extLst>
              </p:nvPr>
            </p:nvGraphicFramePr>
            <p:xfrm>
              <a:off x="1472539" y="3391308"/>
              <a:ext cx="8327136" cy="302947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0292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58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64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7401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3904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6085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Term Is a Perfect Square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Third Term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a Perfect Square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60952" t="-2273" r="-191429" b="-89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04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00" t="-230769" r="-311111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04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00" t="-330769" r="-311111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345ACE02-83D2-0F4B-6DCC-B1B179AE71EA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AAEEE850-CB7B-0168-546B-31D4D79A6938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1656450"/>
                  </p:ext>
                </p:extLst>
              </p:nvPr>
            </p:nvGraphicFramePr>
            <p:xfrm>
              <a:off x="1509763" y="705536"/>
              <a:ext cx="8409039" cy="543857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537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71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384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865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630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7617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2443" marR="6244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Term Is a Perfect Square</a:t>
                          </a:r>
                        </a:p>
                      </a:txBody>
                      <a:tcPr marL="62443" marR="6244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Third Term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a Perfect Square</a:t>
                          </a:r>
                        </a:p>
                      </a:txBody>
                      <a:tcPr marL="62443" marR="6244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Second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Term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𝐚𝐛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𝐚𝐛</m:t>
                              </m:r>
                            </m:oMath>
                          </a14:m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2443" marR="6244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2443" marR="6244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91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91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191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191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𝑞𝑧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1656450"/>
                  </p:ext>
                </p:extLst>
              </p:nvPr>
            </p:nvGraphicFramePr>
            <p:xfrm>
              <a:off x="1509763" y="705536"/>
              <a:ext cx="8409039" cy="543857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537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71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384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865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4630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76179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2443" marR="6244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Term Is a Perfect Square</a:t>
                          </a:r>
                        </a:p>
                      </a:txBody>
                      <a:tcPr marL="62443" marR="6244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Third Term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a Perfect Square</a:t>
                          </a:r>
                        </a:p>
                      </a:txBody>
                      <a:tcPr marL="62443" marR="6244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3" marR="62443" marT="0" marB="0" anchor="ctr">
                        <a:blipFill>
                          <a:blip r:embed="rId3"/>
                          <a:stretch>
                            <a:fillRect l="-361321" t="-346" r="-191509" b="-2096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2443" marR="6244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91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3" marR="62443" marT="0" marB="0" anchor="ctr">
                        <a:blipFill>
                          <a:blip r:embed="rId3"/>
                          <a:stretch>
                            <a:fillRect l="-270" t="-192053" r="-273784" b="-30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91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3" marR="62443" marT="0" marB="0" anchor="ctr">
                        <a:blipFill>
                          <a:blip r:embed="rId3"/>
                          <a:stretch>
                            <a:fillRect l="-270" t="-292053" r="-273784" b="-20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191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3" marR="62443" marT="0" marB="0" anchor="ctr">
                        <a:blipFill>
                          <a:blip r:embed="rId3"/>
                          <a:stretch>
                            <a:fillRect l="-270" t="-392053" r="-273784" b="-10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191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443" marR="62443" marT="0" marB="0" anchor="ctr">
                        <a:blipFill>
                          <a:blip r:embed="rId3"/>
                          <a:stretch>
                            <a:fillRect l="-270" t="-492053" r="-273784" b="-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2443" marR="6244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047EF08-378E-D158-CFDC-DB292322D51F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DD002542-85C0-28AE-195B-DB5F57AFBEE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95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D7034EB-1D9C-F47C-B174-A53AD495196B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6F166FF6-973F-482C-C251-749010A098B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48790" y="60325"/>
            <a:ext cx="7580428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7.7.5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516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843147" y="1386026"/>
                <a:ext cx="1031965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1386026"/>
                <a:ext cx="10319657" cy="3046988"/>
              </a:xfrm>
              <a:prstGeom prst="rect">
                <a:avLst/>
              </a:prstGeom>
              <a:blipFill>
                <a:blip r:embed="rId4"/>
                <a:stretch>
                  <a:fillRect l="-886" t="-180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33D492-6C64-92F2-2235-6BE7F0FF4FEF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954E9E52-9BB7-322E-9FFF-3685F3C293D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1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FB798DA-9C31-541E-1A7E-BFAC85CF922B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E6028C12-8903-6FD9-BDBE-1F06B98CDB4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72539" y="206629"/>
            <a:ext cx="951213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7.7.6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516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866898" y="1276298"/>
            <a:ext cx="10236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the emoji that reflects your understanding of factoring perfect square trinomials.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33" y="2664325"/>
            <a:ext cx="7077456" cy="2086381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7107EB7-78F7-11DF-E28B-106EFBF74593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D1EFF112-FC34-4448-1926-AB8745AC68AA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43147" y="520394"/>
            <a:ext cx="10284032" cy="366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dirty="0"/>
              <a:t>I chose this emoji because </a:t>
            </a:r>
            <a:r>
              <a:rPr lang="en-US" sz="2400" u="sng" dirty="0"/>
              <a:t>				___							_________	_____			      			__________	_____________________________	 .</a:t>
            </a:r>
            <a:endParaRPr lang="en-US" sz="2400" dirty="0"/>
          </a:p>
          <a:p>
            <a:pPr>
              <a:lnSpc>
                <a:spcPct val="200000"/>
              </a:lnSpc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513ABD8-4288-F244-A3F2-80C31058217B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F75D6E7-54FA-AA65-3B98-4C7F38E49DB3}"/>
              </a:ext>
            </a:extLst>
          </p:cNvPr>
          <p:cNvSpPr txBox="1"/>
          <p:nvPr/>
        </p:nvSpPr>
        <p:spPr>
          <a:xfrm>
            <a:off x="874360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A4FEE65B-27B1-BE84-6708-7EB10BF1C36F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953</Words>
  <Application>Microsoft Office PowerPoint</Application>
  <PresentationFormat>Widescreen</PresentationFormat>
  <Paragraphs>201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Cambria</vt:lpstr>
      <vt:lpstr>Verdana</vt:lpstr>
      <vt:lpstr>Century Gothic</vt:lpstr>
      <vt:lpstr>Calibri</vt:lpstr>
      <vt:lpstr>Arial Black</vt:lpstr>
      <vt:lpstr>Cambria Math</vt:lpstr>
      <vt:lpstr>1_Office Theme</vt:lpstr>
      <vt:lpstr>Algebra 1  Unit 7, Lesson 7  Factoring Perfect Square Trinomials  Volume 1, pg. 391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27</cp:revision>
  <dcterms:created xsi:type="dcterms:W3CDTF">2015-03-17T18:51:18Z</dcterms:created>
  <dcterms:modified xsi:type="dcterms:W3CDTF">2022-06-28T17:01:32Z</dcterms:modified>
</cp:coreProperties>
</file>