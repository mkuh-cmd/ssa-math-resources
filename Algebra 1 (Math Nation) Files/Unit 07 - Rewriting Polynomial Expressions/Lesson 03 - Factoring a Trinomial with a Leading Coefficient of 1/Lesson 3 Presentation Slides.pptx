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32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289" r:id="rId18"/>
    <p:sldId id="290" r:id="rId19"/>
    <p:sldId id="336" r:id="rId20"/>
    <p:sldId id="349" r:id="rId21"/>
    <p:sldId id="350" r:id="rId22"/>
    <p:sldId id="302" r:id="rId23"/>
    <p:sldId id="303" r:id="rId24"/>
    <p:sldId id="306" r:id="rId25"/>
    <p:sldId id="30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B050"/>
    <a:srgbClr val="41BFAC"/>
    <a:srgbClr val="B399C8"/>
    <a:srgbClr val="276C46"/>
    <a:srgbClr val="C9DF6F"/>
    <a:srgbClr val="417DBF"/>
    <a:srgbClr val="3F2A67"/>
    <a:srgbClr val="E24E5F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02" autoAdjust="0"/>
    <p:restoredTop sz="94695"/>
  </p:normalViewPr>
  <p:slideViewPr>
    <p:cSldViewPr snapToGrid="0">
      <p:cViewPr varScale="1">
        <p:scale>
          <a:sx n="89" d="100"/>
          <a:sy n="89" d="100"/>
        </p:scale>
        <p:origin x="176" y="5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55" Type="http://customschemas.google.com/relationships/presentationmetadata" Target="metadata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0536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6154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73492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05313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3264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9176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90477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5973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29335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6" Type="http://schemas.openxmlformats.org/officeDocument/2006/relationships/image" Target="../media/image310.png"/><Relationship Id="rId7" Type="http://schemas.openxmlformats.org/officeDocument/2006/relationships/image" Target="../media/image22.png"/><Relationship Id="rId8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9144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Factoring a Trinomial </a:t>
            </a:r>
            <a:r>
              <a:rPr lang="en-US" sz="38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With 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 Leading Coefficient of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369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843148" y="1600200"/>
            <a:ext cx="935775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MA.912.AR.1.7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a polynomial expression as a product of polynomials over the real number system. </a:t>
            </a: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266D0780-B855-A7C5-E56B-B9A7D2DB3699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369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92529" y="1596390"/>
            <a:ext cx="913212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02ED2B85-860E-8677-7D13-4B2D6567B259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70643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81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70642" y="1600200"/>
            <a:ext cx="916588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factor a trinomial with a leading coefficient of 1.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F2ECC4B0-93B0-CD13-AA2F-CD97189BA6AB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369</a:t>
            </a: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F7DBBF4B-31E2-F4FF-1746-947173EB8E70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4819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33619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1262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8" y="60325"/>
            <a:ext cx="8019300" cy="1143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7.3.1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18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009918" y="1386026"/>
                <a:ext cx="78677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918" y="1386026"/>
                <a:ext cx="7867734" cy="461665"/>
              </a:xfrm>
              <a:prstGeom prst="rect">
                <a:avLst/>
              </a:prstGeom>
              <a:blipFill>
                <a:blip r:embed="rId4"/>
                <a:stretch>
                  <a:fillRect l="-124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F1992A8F-F621-054D-B71E-96605FF7377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370ECE60-59F4-5543-ADEB-87DBE9C874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3214701"/>
                  </p:ext>
                </p:extLst>
              </p:nvPr>
            </p:nvGraphicFramePr>
            <p:xfrm>
              <a:off x="1526919" y="2343809"/>
              <a:ext cx="8241383" cy="328254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707021">
                      <a:extLst>
                        <a:ext uri="{9D8B030D-6E8A-4147-A177-3AD203B41FA5}">
                          <a16:colId xmlns:a16="http://schemas.microsoft.com/office/drawing/2014/main" xmlns="" val="1678621210"/>
                        </a:ext>
                      </a:extLst>
                    </a:gridCol>
                    <a:gridCol w="783246">
                      <a:extLst>
                        <a:ext uri="{9D8B030D-6E8A-4147-A177-3AD203B41FA5}">
                          <a16:colId xmlns:a16="http://schemas.microsoft.com/office/drawing/2014/main" xmlns="" val="2997151030"/>
                        </a:ext>
                      </a:extLst>
                    </a:gridCol>
                    <a:gridCol w="965312">
                      <a:extLst>
                        <a:ext uri="{9D8B030D-6E8A-4147-A177-3AD203B41FA5}">
                          <a16:colId xmlns:a16="http://schemas.microsoft.com/office/drawing/2014/main" xmlns="" val="850418468"/>
                        </a:ext>
                      </a:extLst>
                    </a:gridCol>
                    <a:gridCol w="918279">
                      <a:extLst>
                        <a:ext uri="{9D8B030D-6E8A-4147-A177-3AD203B41FA5}">
                          <a16:colId xmlns:a16="http://schemas.microsoft.com/office/drawing/2014/main" xmlns="" val="2654735064"/>
                        </a:ext>
                      </a:extLst>
                    </a:gridCol>
                    <a:gridCol w="1100344">
                      <a:extLst>
                        <a:ext uri="{9D8B030D-6E8A-4147-A177-3AD203B41FA5}">
                          <a16:colId xmlns:a16="http://schemas.microsoft.com/office/drawing/2014/main" xmlns="" val="3969036370"/>
                        </a:ext>
                      </a:extLst>
                    </a:gridCol>
                    <a:gridCol w="783246">
                      <a:extLst>
                        <a:ext uri="{9D8B030D-6E8A-4147-A177-3AD203B41FA5}">
                          <a16:colId xmlns:a16="http://schemas.microsoft.com/office/drawing/2014/main" xmlns="" val="2926348632"/>
                        </a:ext>
                      </a:extLst>
                    </a:gridCol>
                    <a:gridCol w="965312">
                      <a:extLst>
                        <a:ext uri="{9D8B030D-6E8A-4147-A177-3AD203B41FA5}">
                          <a16:colId xmlns:a16="http://schemas.microsoft.com/office/drawing/2014/main" xmlns="" val="3358542908"/>
                        </a:ext>
                      </a:extLst>
                    </a:gridCol>
                    <a:gridCol w="918279">
                      <a:extLst>
                        <a:ext uri="{9D8B030D-6E8A-4147-A177-3AD203B41FA5}">
                          <a16:colId xmlns:a16="http://schemas.microsoft.com/office/drawing/2014/main" xmlns="" val="2485795947"/>
                        </a:ext>
                      </a:extLst>
                    </a:gridCol>
                    <a:gridCol w="1100344">
                      <a:extLst>
                        <a:ext uri="{9D8B030D-6E8A-4147-A177-3AD203B41FA5}">
                          <a16:colId xmlns:a16="http://schemas.microsoft.com/office/drawing/2014/main" xmlns="" val="2690986240"/>
                        </a:ext>
                      </a:extLst>
                    </a:gridCol>
                  </a:tblGrid>
                  <a:tr h="876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________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789408875"/>
                      </a:ext>
                    </a:extLst>
                  </a:tr>
                  <a:tr h="118407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−9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732009545"/>
                      </a:ext>
                    </a:extLst>
                  </a:tr>
                  <a:tr h="118407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___</a:t>
                          </a: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−9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41974679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70ECE60-59F4-5543-ADEB-87DBE9C874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3214701"/>
                  </p:ext>
                </p:extLst>
              </p:nvPr>
            </p:nvGraphicFramePr>
            <p:xfrm>
              <a:off x="1526919" y="2343809"/>
              <a:ext cx="8241383" cy="328254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707021">
                      <a:extLst>
                        <a:ext uri="{9D8B030D-6E8A-4147-A177-3AD203B41FA5}">
                          <a16:colId xmlns:a16="http://schemas.microsoft.com/office/drawing/2014/main" val="1678621210"/>
                        </a:ext>
                      </a:extLst>
                    </a:gridCol>
                    <a:gridCol w="783246">
                      <a:extLst>
                        <a:ext uri="{9D8B030D-6E8A-4147-A177-3AD203B41FA5}">
                          <a16:colId xmlns:a16="http://schemas.microsoft.com/office/drawing/2014/main" val="2997151030"/>
                        </a:ext>
                      </a:extLst>
                    </a:gridCol>
                    <a:gridCol w="965312">
                      <a:extLst>
                        <a:ext uri="{9D8B030D-6E8A-4147-A177-3AD203B41FA5}">
                          <a16:colId xmlns:a16="http://schemas.microsoft.com/office/drawing/2014/main" val="850418468"/>
                        </a:ext>
                      </a:extLst>
                    </a:gridCol>
                    <a:gridCol w="918279">
                      <a:extLst>
                        <a:ext uri="{9D8B030D-6E8A-4147-A177-3AD203B41FA5}">
                          <a16:colId xmlns:a16="http://schemas.microsoft.com/office/drawing/2014/main" val="2654735064"/>
                        </a:ext>
                      </a:extLst>
                    </a:gridCol>
                    <a:gridCol w="1100344">
                      <a:extLst>
                        <a:ext uri="{9D8B030D-6E8A-4147-A177-3AD203B41FA5}">
                          <a16:colId xmlns:a16="http://schemas.microsoft.com/office/drawing/2014/main" val="3969036370"/>
                        </a:ext>
                      </a:extLst>
                    </a:gridCol>
                    <a:gridCol w="783246">
                      <a:extLst>
                        <a:ext uri="{9D8B030D-6E8A-4147-A177-3AD203B41FA5}">
                          <a16:colId xmlns:a16="http://schemas.microsoft.com/office/drawing/2014/main" val="2926348632"/>
                        </a:ext>
                      </a:extLst>
                    </a:gridCol>
                    <a:gridCol w="965312">
                      <a:extLst>
                        <a:ext uri="{9D8B030D-6E8A-4147-A177-3AD203B41FA5}">
                          <a16:colId xmlns:a16="http://schemas.microsoft.com/office/drawing/2014/main" val="3358542908"/>
                        </a:ext>
                      </a:extLst>
                    </a:gridCol>
                    <a:gridCol w="918279">
                      <a:extLst>
                        <a:ext uri="{9D8B030D-6E8A-4147-A177-3AD203B41FA5}">
                          <a16:colId xmlns:a16="http://schemas.microsoft.com/office/drawing/2014/main" val="2485795947"/>
                        </a:ext>
                      </a:extLst>
                    </a:gridCol>
                    <a:gridCol w="1100344">
                      <a:extLst>
                        <a:ext uri="{9D8B030D-6E8A-4147-A177-3AD203B41FA5}">
                          <a16:colId xmlns:a16="http://schemas.microsoft.com/office/drawing/2014/main" val="2690986240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901" t="-667" r="-100162" b="-263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________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9408875"/>
                      </a:ext>
                    </a:extLst>
                  </a:tr>
                  <a:tr h="11840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62" t="-77436" r="-1068103" b="-102564"/>
                          </a:stretch>
                        </a:blip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901" t="-77436" r="-100162" b="-10256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75000" t="-77436" r="-384375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43396" t="-77436" r="-209434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82000" t="-77436" r="-122000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48066" t="-77436" r="-1105" b="-1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2009545"/>
                      </a:ext>
                    </a:extLst>
                  </a:tr>
                  <a:tr h="118407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___</a:t>
                          </a: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0698" t="-178351" r="-860465" b="-3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55696" t="-178351" r="-602532" b="-3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67550" t="-178351" r="-530464" b="-3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6630" t="-178351" r="-342541" b="-3093"/>
                          </a:stretch>
                        </a:blip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9094" t="-178351" r="-324" b="-309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746794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xmlns="" id="{4C3AD88C-37D2-C298-C8E7-CD694D578879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A5F3CD0C-FA72-DAFC-588E-03D49AAEF6EE}"/>
              </a:ext>
            </a:extLst>
          </p:cNvPr>
          <p:cNvSpPr txBox="1"/>
          <p:nvPr/>
        </p:nvSpPr>
        <p:spPr>
          <a:xfrm>
            <a:off x="881262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370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41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89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43FDF939-02C6-38C9-EDA8-63954417CA78}"/>
              </a:ext>
            </a:extLst>
          </p:cNvPr>
          <p:cNvSpPr txBox="1"/>
          <p:nvPr/>
        </p:nvSpPr>
        <p:spPr>
          <a:xfrm>
            <a:off x="881262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370</a:t>
            </a: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E0CE1BEA-1D1F-417D-3703-E70AB081567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8" y="60325"/>
            <a:ext cx="1054093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7.3.2 Collaboration: Different Methods of Factoring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110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866898" y="1386025"/>
                <a:ext cx="1031518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Garcelle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trying to factor the trinomial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algebra tiles.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98" y="1386025"/>
                <a:ext cx="10315184" cy="830997"/>
              </a:xfrm>
              <a:prstGeom prst="rect">
                <a:avLst/>
              </a:prstGeom>
              <a:blipFill>
                <a:blip r:embed="rId5"/>
                <a:stretch>
                  <a:fillRect l="-887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50C37AA2-8B34-A044-9CF0-D6F9EE42846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2" name="Picture 1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xmlns="" id="{A6244F64-9E6F-BC4D-AC01-B97786DD2DA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7494" y="2166906"/>
            <a:ext cx="5512083" cy="4630769"/>
          </a:xfrm>
          <a:prstGeom prst="rect">
            <a:avLst/>
          </a:prstGeom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A77BB722-9836-57A2-8076-9C23430A1C40}"/>
              </a:ext>
            </a:extLst>
          </p:cNvPr>
          <p:cNvSpPr txBox="1"/>
          <p:nvPr/>
        </p:nvSpPr>
        <p:spPr>
          <a:xfrm>
            <a:off x="881262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370</a:t>
            </a: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831272" y="520394"/>
            <a:ext cx="10390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672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the mistake that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Garcelle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made. Write a note to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Garcelle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 explain her mistake and how she can fix it.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05BF6E12-17B3-8E43-8B6E-796EA62AEB3F}"/>
              </a:ext>
            </a:extLst>
          </p:cNvPr>
          <p:cNvSpPr/>
          <p:nvPr/>
        </p:nvSpPr>
        <p:spPr>
          <a:xfrm>
            <a:off x="3958479" y="1681069"/>
            <a:ext cx="4619851" cy="4426769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 i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en-US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C9A6B63C-C5D0-6B4F-8907-B28C5253573B}"/>
              </a:ext>
            </a:extLst>
          </p:cNvPr>
          <p:cNvSpPr/>
          <p:nvPr/>
        </p:nvSpPr>
        <p:spPr>
          <a:xfrm>
            <a:off x="1115748" y="2329263"/>
            <a:ext cx="2209346" cy="3335204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DB2B2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eans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F2575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E9923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tart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FACD1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7BA43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cquire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24B7D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nowledge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1B74B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xperience 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4A2B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kills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lnSpc>
                <a:spcPct val="115000"/>
              </a:lnSpc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51D46EFB-501D-E1A4-710A-0C1F12015CDF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2A4B6C2F-9511-BD23-F969-5EF163967696}"/>
              </a:ext>
            </a:extLst>
          </p:cNvPr>
          <p:cNvSpPr txBox="1"/>
          <p:nvPr/>
        </p:nvSpPr>
        <p:spPr>
          <a:xfrm>
            <a:off x="881262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370</a:t>
            </a:r>
          </a:p>
        </p:txBody>
      </p:sp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7" y="520394"/>
                <a:ext cx="10284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520394"/>
                <a:ext cx="10284032" cy="461665"/>
              </a:xfrm>
              <a:prstGeom prst="rect">
                <a:avLst/>
              </a:prstGeom>
              <a:blipFill>
                <a:blip r:embed="rId3"/>
                <a:stretch>
                  <a:fillRect l="-88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9A71BC08-C472-324A-81F4-291E2F9E8E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7627137"/>
                  </p:ext>
                </p:extLst>
              </p:nvPr>
            </p:nvGraphicFramePr>
            <p:xfrm>
              <a:off x="1351713" y="1385452"/>
              <a:ext cx="8206462" cy="355398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73710">
                      <a:extLst>
                        <a:ext uri="{9D8B030D-6E8A-4147-A177-3AD203B41FA5}">
                          <a16:colId xmlns:a16="http://schemas.microsoft.com/office/drawing/2014/main" xmlns="" val="2972622743"/>
                        </a:ext>
                      </a:extLst>
                    </a:gridCol>
                    <a:gridCol w="806673">
                      <a:extLst>
                        <a:ext uri="{9D8B030D-6E8A-4147-A177-3AD203B41FA5}">
                          <a16:colId xmlns:a16="http://schemas.microsoft.com/office/drawing/2014/main" xmlns="" val="4072500536"/>
                        </a:ext>
                      </a:extLst>
                    </a:gridCol>
                    <a:gridCol w="990314">
                      <a:extLst>
                        <a:ext uri="{9D8B030D-6E8A-4147-A177-3AD203B41FA5}">
                          <a16:colId xmlns:a16="http://schemas.microsoft.com/office/drawing/2014/main" xmlns="" val="1231903958"/>
                        </a:ext>
                      </a:extLst>
                    </a:gridCol>
                    <a:gridCol w="942874">
                      <a:extLst>
                        <a:ext uri="{9D8B030D-6E8A-4147-A177-3AD203B41FA5}">
                          <a16:colId xmlns:a16="http://schemas.microsoft.com/office/drawing/2014/main" xmlns="" val="2167777856"/>
                        </a:ext>
                      </a:extLst>
                    </a:gridCol>
                    <a:gridCol w="1126515">
                      <a:extLst>
                        <a:ext uri="{9D8B030D-6E8A-4147-A177-3AD203B41FA5}">
                          <a16:colId xmlns:a16="http://schemas.microsoft.com/office/drawing/2014/main" xmlns="" val="677359866"/>
                        </a:ext>
                      </a:extLst>
                    </a:gridCol>
                    <a:gridCol w="806673">
                      <a:extLst>
                        <a:ext uri="{9D8B030D-6E8A-4147-A177-3AD203B41FA5}">
                          <a16:colId xmlns:a16="http://schemas.microsoft.com/office/drawing/2014/main" xmlns="" val="1276799484"/>
                        </a:ext>
                      </a:extLst>
                    </a:gridCol>
                    <a:gridCol w="990314">
                      <a:extLst>
                        <a:ext uri="{9D8B030D-6E8A-4147-A177-3AD203B41FA5}">
                          <a16:colId xmlns:a16="http://schemas.microsoft.com/office/drawing/2014/main" xmlns="" val="4157204540"/>
                        </a:ext>
                      </a:extLst>
                    </a:gridCol>
                    <a:gridCol w="942874">
                      <a:extLst>
                        <a:ext uri="{9D8B030D-6E8A-4147-A177-3AD203B41FA5}">
                          <a16:colId xmlns:a16="http://schemas.microsoft.com/office/drawing/2014/main" xmlns="" val="1028375145"/>
                        </a:ext>
                      </a:extLst>
                    </a:gridCol>
                    <a:gridCol w="1126515">
                      <a:extLst>
                        <a:ext uri="{9D8B030D-6E8A-4147-A177-3AD203B41FA5}">
                          <a16:colId xmlns:a16="http://schemas.microsoft.com/office/drawing/2014/main" xmlns="" val="2828054776"/>
                        </a:ext>
                      </a:extLst>
                    </a:gridCol>
                  </a:tblGrid>
                  <a:tr h="89561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𝒈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________</a:t>
                          </a: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590674866"/>
                      </a:ext>
                    </a:extLst>
                  </a:tr>
                  <a:tr h="131979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𝒈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57030430"/>
                      </a:ext>
                    </a:extLst>
                  </a:tr>
                  <a:tr h="131979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___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7705642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A71BC08-C472-324A-81F4-291E2F9E8E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7627137"/>
                  </p:ext>
                </p:extLst>
              </p:nvPr>
            </p:nvGraphicFramePr>
            <p:xfrm>
              <a:off x="1351713" y="1385452"/>
              <a:ext cx="8206462" cy="355398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73710">
                      <a:extLst>
                        <a:ext uri="{9D8B030D-6E8A-4147-A177-3AD203B41FA5}">
                          <a16:colId xmlns:a16="http://schemas.microsoft.com/office/drawing/2014/main" val="2972622743"/>
                        </a:ext>
                      </a:extLst>
                    </a:gridCol>
                    <a:gridCol w="806673">
                      <a:extLst>
                        <a:ext uri="{9D8B030D-6E8A-4147-A177-3AD203B41FA5}">
                          <a16:colId xmlns:a16="http://schemas.microsoft.com/office/drawing/2014/main" val="4072500536"/>
                        </a:ext>
                      </a:extLst>
                    </a:gridCol>
                    <a:gridCol w="990314">
                      <a:extLst>
                        <a:ext uri="{9D8B030D-6E8A-4147-A177-3AD203B41FA5}">
                          <a16:colId xmlns:a16="http://schemas.microsoft.com/office/drawing/2014/main" val="1231903958"/>
                        </a:ext>
                      </a:extLst>
                    </a:gridCol>
                    <a:gridCol w="942874">
                      <a:extLst>
                        <a:ext uri="{9D8B030D-6E8A-4147-A177-3AD203B41FA5}">
                          <a16:colId xmlns:a16="http://schemas.microsoft.com/office/drawing/2014/main" val="2167777856"/>
                        </a:ext>
                      </a:extLst>
                    </a:gridCol>
                    <a:gridCol w="1126515">
                      <a:extLst>
                        <a:ext uri="{9D8B030D-6E8A-4147-A177-3AD203B41FA5}">
                          <a16:colId xmlns:a16="http://schemas.microsoft.com/office/drawing/2014/main" val="677359866"/>
                        </a:ext>
                      </a:extLst>
                    </a:gridCol>
                    <a:gridCol w="806673">
                      <a:extLst>
                        <a:ext uri="{9D8B030D-6E8A-4147-A177-3AD203B41FA5}">
                          <a16:colId xmlns:a16="http://schemas.microsoft.com/office/drawing/2014/main" val="1276799484"/>
                        </a:ext>
                      </a:extLst>
                    </a:gridCol>
                    <a:gridCol w="990314">
                      <a:extLst>
                        <a:ext uri="{9D8B030D-6E8A-4147-A177-3AD203B41FA5}">
                          <a16:colId xmlns:a16="http://schemas.microsoft.com/office/drawing/2014/main" val="4157204540"/>
                        </a:ext>
                      </a:extLst>
                    </a:gridCol>
                    <a:gridCol w="942874">
                      <a:extLst>
                        <a:ext uri="{9D8B030D-6E8A-4147-A177-3AD203B41FA5}">
                          <a16:colId xmlns:a16="http://schemas.microsoft.com/office/drawing/2014/main" val="1028375145"/>
                        </a:ext>
                      </a:extLst>
                    </a:gridCol>
                    <a:gridCol w="1126515">
                      <a:extLst>
                        <a:ext uri="{9D8B030D-6E8A-4147-A177-3AD203B41FA5}">
                          <a16:colId xmlns:a16="http://schemas.microsoft.com/office/drawing/2014/main" val="2828054776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461" t="-667" r="-100631" b="-291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________</a:t>
                          </a: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90674866"/>
                      </a:ext>
                    </a:extLst>
                  </a:tr>
                  <a:tr h="13197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82" t="-69585" r="-1630769" b="-101382"/>
                          </a:stretch>
                        </a:blip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461" t="-69585" r="-100631" b="-10138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36090" t="-69585" r="-379699" b="-10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22222" t="-69585" r="-211728" b="-10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50323" t="-69585" r="-121290" b="-10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28649" t="-69585" r="-1622" b="-1013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030430"/>
                      </a:ext>
                    </a:extLst>
                  </a:tr>
                  <a:tr h="131979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___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9848" t="-169585" r="-863636" b="-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29448" t="-169585" r="-599387" b="-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42857" t="-169585" r="-534416" b="-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85405" t="-169585" r="-344865" b="-1382"/>
                          </a:stretch>
                        </a:blip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2283" t="-169585" r="-472" b="-138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05642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294DF107-5AA4-EBBC-2D9E-E9BC127D149E}"/>
              </a:ext>
            </a:extLst>
          </p:cNvPr>
          <p:cNvSpPr txBox="1"/>
          <p:nvPr/>
        </p:nvSpPr>
        <p:spPr>
          <a:xfrm>
            <a:off x="881262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371</a:t>
            </a: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xmlns="" id="{C63FC0B7-F56E-4CB1-C560-451FD44F106F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7430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61861" y="520393"/>
                <a:ext cx="9932809" cy="2923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are the two binomial factors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+8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+12=</m:t>
                      </m:r>
                      <m:d>
                        <m:dPr>
                          <m:ctrlPr>
                            <a:rPr lang="en-US" sz="2400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           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         )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Felix showed </a:t>
                </a: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Garcelle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how to use the </a:t>
                </a:r>
                <a:r>
                  <a:rPr lang="en-US" sz="24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area model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+12.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61" y="520393"/>
                <a:ext cx="9932809" cy="2923877"/>
              </a:xfrm>
              <a:prstGeom prst="rect">
                <a:avLst/>
              </a:prstGeom>
              <a:blipFill>
                <a:blip r:embed="rId3"/>
                <a:stretch>
                  <a:fillRect l="-920" t="-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D98303C4-0322-224F-ADA6-BEEA40B56493}"/>
              </a:ext>
            </a:extLst>
          </p:cNvPr>
          <p:cNvGrpSpPr/>
          <p:nvPr/>
        </p:nvGrpSpPr>
        <p:grpSpPr>
          <a:xfrm>
            <a:off x="2282354" y="4190877"/>
            <a:ext cx="6629400" cy="1520190"/>
            <a:chOff x="43543" y="-282425"/>
            <a:chExt cx="6629400" cy="152019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xmlns="" id="{E78AE834-A396-0D40-B619-F64951283937}"/>
                </a:ext>
              </a:extLst>
            </p:cNvPr>
            <p:cNvSpPr/>
            <p:nvPr/>
          </p:nvSpPr>
          <p:spPr>
            <a:xfrm>
              <a:off x="43543" y="-282425"/>
              <a:ext cx="6629400" cy="1520190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742950">
                <a:spcAft>
                  <a:spcPts val="1000"/>
                </a:spcAft>
              </a:pPr>
              <a:endPara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742950">
                <a:spcAft>
                  <a:spcPts val="1000"/>
                </a:spcAft>
              </a:pP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The </a:t>
              </a:r>
              <a:r>
                <a:rPr lang="en-US" sz="2000" b="1" i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area model</a:t>
              </a: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is a rectangular diagram that utilizes the decomposition of side lengths by place value to multiply numbers using the distributive property.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685800" indent="685800">
                <a:spcAft>
                  <a:spcPts val="1000"/>
                </a:spcAft>
              </a:pPr>
              <a:r>
                <a: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pic>
          <p:nvPicPr>
            <p:cNvPr id="9" name="Shape 7" descr="Icon&#10;&#10;Description automatically generated">
              <a:extLst>
                <a:ext uri="{FF2B5EF4-FFF2-40B4-BE49-F238E27FC236}">
                  <a16:creationId xmlns:a16="http://schemas.microsoft.com/office/drawing/2014/main" xmlns="" id="{8CD64B2D-7D59-854F-869C-A29F332274E0}"/>
                </a:ext>
              </a:extLst>
            </p:cNvPr>
            <p:cNvPicPr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6220" y="-109903"/>
              <a:ext cx="539750" cy="53975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DFBFCAA5-13D6-B818-0761-2E8FBED058A9}"/>
              </a:ext>
            </a:extLst>
          </p:cNvPr>
          <p:cNvSpPr txBox="1"/>
          <p:nvPr/>
        </p:nvSpPr>
        <p:spPr>
          <a:xfrm>
            <a:off x="881262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371</a:t>
            </a: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xmlns="" id="{671C7374-4D81-1C29-25C1-47703F908804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8858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7" y="520394"/>
                <a:ext cx="945275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Fill in the missing information for the </a:t>
                </a:r>
                <a:r>
                  <a:rPr lang="en-US" sz="24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area model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520394"/>
                <a:ext cx="9452759" cy="1077218"/>
              </a:xfrm>
              <a:prstGeom prst="rect">
                <a:avLst/>
              </a:prstGeom>
              <a:blipFill>
                <a:blip r:embed="rId3"/>
                <a:stretch>
                  <a:fillRect l="-967" t="-4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AB8AA2A2-817C-8948-AC0D-CD60671D44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0345972"/>
                  </p:ext>
                </p:extLst>
              </p:nvPr>
            </p:nvGraphicFramePr>
            <p:xfrm>
              <a:off x="2042507" y="1812175"/>
              <a:ext cx="6190135" cy="295249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271761">
                      <a:extLst>
                        <a:ext uri="{9D8B030D-6E8A-4147-A177-3AD203B41FA5}">
                          <a16:colId xmlns:a16="http://schemas.microsoft.com/office/drawing/2014/main" xmlns="" val="1730250124"/>
                        </a:ext>
                      </a:extLst>
                    </a:gridCol>
                    <a:gridCol w="2489547">
                      <a:extLst>
                        <a:ext uri="{9D8B030D-6E8A-4147-A177-3AD203B41FA5}">
                          <a16:colId xmlns:a16="http://schemas.microsoft.com/office/drawing/2014/main" xmlns="" val="2239373385"/>
                        </a:ext>
                      </a:extLst>
                    </a:gridCol>
                    <a:gridCol w="2428827">
                      <a:extLst>
                        <a:ext uri="{9D8B030D-6E8A-4147-A177-3AD203B41FA5}">
                          <a16:colId xmlns:a16="http://schemas.microsoft.com/office/drawing/2014/main" xmlns="" val="1622163154"/>
                        </a:ext>
                      </a:extLst>
                    </a:gridCol>
                  </a:tblGrid>
                  <a:tr h="38293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𝒈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72052553"/>
                      </a:ext>
                    </a:extLst>
                  </a:tr>
                  <a:tr h="128478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𝒈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𝒈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603399412"/>
                      </a:ext>
                    </a:extLst>
                  </a:tr>
                  <a:tr h="128478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420701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B8AA2A2-817C-8948-AC0D-CD60671D44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0345972"/>
                  </p:ext>
                </p:extLst>
              </p:nvPr>
            </p:nvGraphicFramePr>
            <p:xfrm>
              <a:off x="2042507" y="1812175"/>
              <a:ext cx="6190135" cy="295249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271761">
                      <a:extLst>
                        <a:ext uri="{9D8B030D-6E8A-4147-A177-3AD203B41FA5}">
                          <a16:colId xmlns:a16="http://schemas.microsoft.com/office/drawing/2014/main" val="1730250124"/>
                        </a:ext>
                      </a:extLst>
                    </a:gridCol>
                    <a:gridCol w="2489547">
                      <a:extLst>
                        <a:ext uri="{9D8B030D-6E8A-4147-A177-3AD203B41FA5}">
                          <a16:colId xmlns:a16="http://schemas.microsoft.com/office/drawing/2014/main" val="2239373385"/>
                        </a:ext>
                      </a:extLst>
                    </a:gridCol>
                    <a:gridCol w="2428827">
                      <a:extLst>
                        <a:ext uri="{9D8B030D-6E8A-4147-A177-3AD203B41FA5}">
                          <a16:colId xmlns:a16="http://schemas.microsoft.com/office/drawing/2014/main" val="1622163154"/>
                        </a:ext>
                      </a:extLst>
                    </a:gridCol>
                  </a:tblGrid>
                  <a:tr h="38293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1225" r="-98284" b="-6730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4637" r="-501" b="-6730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2052553"/>
                      </a:ext>
                    </a:extLst>
                  </a:tr>
                  <a:tr h="12847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9858" r="-387081" b="-1009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4637" t="-29858" r="-501" b="-1009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3399412"/>
                      </a:ext>
                    </a:extLst>
                  </a:tr>
                  <a:tr h="12847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29858" r="-387081" b="-9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420701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FC9E4127-04AE-B01D-C6D1-BED1D50D2FF7}"/>
              </a:ext>
            </a:extLst>
          </p:cNvPr>
          <p:cNvSpPr txBox="1"/>
          <p:nvPr/>
        </p:nvSpPr>
        <p:spPr>
          <a:xfrm>
            <a:off x="881262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371</a:t>
            </a: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xmlns="" id="{503163E7-1EEE-418E-2508-C7682C722564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1431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66898" y="520394"/>
                <a:ext cx="9987149" cy="32624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Garcelle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asked Felix how to determine the monomial that belongs in the orange boxes when creating the area model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Felix said that he rewrites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−28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−7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because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−7∙4=−28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−7+4=−3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He knows that one of the orange boxes should result in the product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−7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the other should result in the product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area model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98" y="520394"/>
                <a:ext cx="9987149" cy="3262432"/>
              </a:xfrm>
              <a:prstGeom prst="rect">
                <a:avLst/>
              </a:prstGeom>
              <a:blipFill>
                <a:blip r:embed="rId3"/>
                <a:stretch>
                  <a:fillRect l="-915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5B857E21-14F1-9C47-B2E8-32DB537DBF85}"/>
              </a:ext>
            </a:extLst>
          </p:cNvPr>
          <p:cNvSpPr/>
          <p:nvPr/>
        </p:nvSpPr>
        <p:spPr>
          <a:xfrm>
            <a:off x="-5829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AC96A0CA-9579-494D-A4DF-CD9890703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0615" y="3728267"/>
            <a:ext cx="7377876" cy="2783967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1712269C-8B02-0952-8F6F-29FCE186F535}"/>
              </a:ext>
            </a:extLst>
          </p:cNvPr>
          <p:cNvSpPr txBox="1"/>
          <p:nvPr/>
        </p:nvSpPr>
        <p:spPr>
          <a:xfrm>
            <a:off x="881262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371</a:t>
            </a: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xmlns="" id="{13335F1F-C247-13D6-F601-CA4F74BD81E9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1859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5022" y="520394"/>
                <a:ext cx="10284033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are the two binomial factors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−28=</m:t>
                      </m:r>
                      <m:d>
                        <m:dPr>
                          <m:ctrlPr>
                            <a:rPr lang="en-US" sz="2400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)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Lori uses a different method of factoring. Like Felix, she rewrote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−28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−7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but instead paired the terms as shown.</a:t>
                </a:r>
              </a:p>
              <a:p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−7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−28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400" dirty="0"/>
                  <a:t> 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520394"/>
                <a:ext cx="10284033" cy="4524315"/>
              </a:xfrm>
              <a:prstGeom prst="rect">
                <a:avLst/>
              </a:prstGeom>
              <a:blipFill>
                <a:blip r:embed="rId3"/>
                <a:stretch>
                  <a:fillRect t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E6A6656C-9142-9716-41C8-3523D08B3A07}"/>
              </a:ext>
            </a:extLst>
          </p:cNvPr>
          <p:cNvSpPr txBox="1"/>
          <p:nvPr/>
        </p:nvSpPr>
        <p:spPr>
          <a:xfrm>
            <a:off x="881262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372</a:t>
            </a: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xmlns="" id="{A72BB745-E9AC-32C7-2EDF-F9D2D99B39EF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6364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855022" y="520393"/>
            <a:ext cx="102959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finish factoring using Lori’s method, known as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factoring by grouping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using the following steps.</a:t>
            </a:r>
          </a:p>
          <a:p>
            <a:endParaRPr lang="en-US" sz="2400" dirty="0"/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5B857E21-14F1-9C47-B2E8-32DB537DBF85}"/>
              </a:ext>
            </a:extLst>
          </p:cNvPr>
          <p:cNvSpPr/>
          <p:nvPr/>
        </p:nvSpPr>
        <p:spPr>
          <a:xfrm>
            <a:off x="-4725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CB8F2C3D-ACFA-6740-A07D-296BFC730C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729885"/>
                  </p:ext>
                </p:extLst>
              </p:nvPr>
            </p:nvGraphicFramePr>
            <p:xfrm>
              <a:off x="2218714" y="2279545"/>
              <a:ext cx="6886575" cy="315849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183255">
                      <a:extLst>
                        <a:ext uri="{9D8B030D-6E8A-4147-A177-3AD203B41FA5}">
                          <a16:colId xmlns:a16="http://schemas.microsoft.com/office/drawing/2014/main" xmlns="" val="2354244977"/>
                        </a:ext>
                      </a:extLst>
                    </a:gridCol>
                    <a:gridCol w="3703320">
                      <a:extLst>
                        <a:ext uri="{9D8B030D-6E8A-4147-A177-3AD203B41FA5}">
                          <a16:colId xmlns:a16="http://schemas.microsoft.com/office/drawing/2014/main" xmlns="" val="187190949"/>
                        </a:ext>
                      </a:extLst>
                    </a:gridCol>
                  </a:tblGrid>
                  <a:tr h="105283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b="1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b="1" i="1">
                                            <a:effectLst/>
                                            <a:latin typeface="Cambria Math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1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  <m:sup>
                                        <m:r>
                                          <a:rPr lang="en-US" sz="2000" b="1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𝟕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</m:d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2000" b="1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𝟐𝟖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63412822"/>
                      </a:ext>
                    </a:extLst>
                  </a:tr>
                  <a:tr h="10528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 out the greatest common factor from each pair of terms.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smtClean="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sz="2000" smtClean="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smtClean="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𝟕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_____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smtClean="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sz="2000" smtClean="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smtClean="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𝟕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74657026"/>
                      </a:ext>
                    </a:extLst>
                  </a:tr>
                  <a:tr h="10528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binomial,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is common so the sum can be rewritten.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 smtClean="0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smtClean="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sz="2000" smtClean="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smtClean="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𝟕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+_______)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292018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B8F2C3D-ACFA-6740-A07D-296BFC730C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729885"/>
                  </p:ext>
                </p:extLst>
              </p:nvPr>
            </p:nvGraphicFramePr>
            <p:xfrm>
              <a:off x="2218714" y="2279545"/>
              <a:ext cx="6886575" cy="315849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183255">
                      <a:extLst>
                        <a:ext uri="{9D8B030D-6E8A-4147-A177-3AD203B41FA5}">
                          <a16:colId xmlns:a16="http://schemas.microsoft.com/office/drawing/2014/main" val="2354244977"/>
                        </a:ext>
                      </a:extLst>
                    </a:gridCol>
                    <a:gridCol w="3703320">
                      <a:extLst>
                        <a:ext uri="{9D8B030D-6E8A-4147-A177-3AD203B41FA5}">
                          <a16:colId xmlns:a16="http://schemas.microsoft.com/office/drawing/2014/main" val="187190949"/>
                        </a:ext>
                      </a:extLst>
                    </a:gridCol>
                  </a:tblGrid>
                  <a:tr h="105283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8" t="-578" r="-177" b="-20809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3412822"/>
                      </a:ext>
                    </a:extLst>
                  </a:tr>
                  <a:tr h="10528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 out the greatest common factor from each pair of terms.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184" t="-100000" r="-329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657026"/>
                      </a:ext>
                    </a:extLst>
                  </a:tr>
                  <a:tr h="10528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1" t="-201156" r="-116635" b="-7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184" t="-201156" r="-329" b="-7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1897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xmlns="" id="{F7F7A5B3-30EC-07A9-7D27-591316326746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2BCB0DBF-461F-10C4-39F9-326162627EB9}"/>
              </a:ext>
            </a:extLst>
          </p:cNvPr>
          <p:cNvSpPr txBox="1"/>
          <p:nvPr/>
        </p:nvSpPr>
        <p:spPr>
          <a:xfrm>
            <a:off x="881262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372</a:t>
            </a:r>
          </a:p>
        </p:txBody>
      </p:sp>
    </p:spTree>
    <p:extLst>
      <p:ext uri="{BB962C8B-B14F-4D97-AF65-F5344CB8AC3E}">
        <p14:creationId xmlns:p14="http://schemas.microsoft.com/office/powerpoint/2010/main" val="666873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5023" y="520393"/>
                <a:ext cx="10284032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There are many different methods for factoring trinomials. Relating factoring to algebra tiles or the area model is useful for understanding why the factors of a trinomial of the form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two binomials.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algebra tiles or the area model is also helpful in understanding the relationship the factors of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-term have with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-term.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the relationship the factors of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-term have with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-term based on the expressions explored in the previous problems.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3" y="520393"/>
                <a:ext cx="10284032" cy="5262979"/>
              </a:xfrm>
              <a:prstGeom prst="rect">
                <a:avLst/>
              </a:prstGeom>
              <a:blipFill>
                <a:blip r:embed="rId3"/>
                <a:stretch>
                  <a:fillRect l="-889" t="-926" r="-830" b="-1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4540A1C8-5984-7F8D-3774-2C0366E6AD1D}"/>
              </a:ext>
            </a:extLst>
          </p:cNvPr>
          <p:cNvSpPr txBox="1"/>
          <p:nvPr/>
        </p:nvSpPr>
        <p:spPr>
          <a:xfrm>
            <a:off x="881262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372</a:t>
            </a: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xmlns="" id="{8A702CBF-4062-861D-DFF9-298FFBB7C0C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5258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58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9E2947CB-740C-543E-8429-227E1F9096D1}"/>
              </a:ext>
            </a:extLst>
          </p:cNvPr>
          <p:cNvSpPr txBox="1"/>
          <p:nvPr/>
        </p:nvSpPr>
        <p:spPr>
          <a:xfrm>
            <a:off x="881262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373</a:t>
            </a: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xmlns="" id="{029BA973-078D-9557-4BAA-1E46D03A3C19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09918" y="-85979"/>
            <a:ext cx="1054093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4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7.3.3 Guided Instruction: Factoring Trinomials Where </a:t>
            </a:r>
            <a:r>
              <a:rPr lang="en-US" sz="3400" b="1" i="1" dirty="0">
                <a:solidFill>
                  <a:srgbClr val="54B5D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  <a:sym typeface="Verdana"/>
              </a:rPr>
              <a:t>a = 1</a:t>
            </a:r>
            <a:endParaRPr lang="en-US" sz="3400" b="1" dirty="0">
              <a:solidFill>
                <a:srgbClr val="54B5D1"/>
              </a:solidFill>
              <a:latin typeface="Cambria Math" panose="02040503050406030204" pitchFamily="18" charset="0"/>
              <a:ea typeface="Cambria Math" panose="02040503050406030204" pitchFamily="18" charset="0"/>
              <a:cs typeface="Verdana" panose="020B0604030504040204" pitchFamily="34" charset="0"/>
              <a:sym typeface="Verdana"/>
            </a:endParaRP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618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126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855022" y="1386026"/>
                <a:ext cx="1026028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Factoring quadratic expressions in the form of trinomials 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results in the factors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where,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Later in this unit, factoring trinomials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value other than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will be explored.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1386026"/>
                <a:ext cx="10260282" cy="3785652"/>
              </a:xfrm>
              <a:prstGeom prst="rect">
                <a:avLst/>
              </a:prstGeom>
              <a:blipFill>
                <a:blip r:embed="rId4"/>
                <a:stretch>
                  <a:fillRect l="-891" r="-1070" b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2B75021C-9817-6449-B54A-E1D9EB71417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CF36EBB-56D8-9142-8922-3F8CEE33911D}"/>
              </a:ext>
            </a:extLst>
          </p:cNvPr>
          <p:cNvGrpSpPr/>
          <p:nvPr/>
        </p:nvGrpSpPr>
        <p:grpSpPr>
          <a:xfrm>
            <a:off x="1954429" y="1515553"/>
            <a:ext cx="6629400" cy="1350010"/>
            <a:chOff x="2031300" y="3330468"/>
            <a:chExt cx="6629400" cy="135049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xmlns="" id="{1F99B58C-86EB-B541-B01E-95A61E98B85D}"/>
                </a:ext>
              </a:extLst>
            </p:cNvPr>
            <p:cNvGrpSpPr/>
            <p:nvPr/>
          </p:nvGrpSpPr>
          <p:grpSpPr>
            <a:xfrm>
              <a:off x="2031300" y="3330468"/>
              <a:ext cx="6629400" cy="1350498"/>
              <a:chOff x="2031300" y="3330468"/>
              <a:chExt cx="6629400" cy="1350498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xmlns="" id="{BF06427A-BC8D-B145-8DC5-5E52DA078684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xmlns="" id="{CD08192C-3499-D540-835D-2D0CF5E379C1}"/>
                  </a:ext>
                </a:extLst>
              </p:cNvPr>
              <p:cNvGrpSpPr/>
              <p:nvPr/>
            </p:nvGrpSpPr>
            <p:grpSpPr>
              <a:xfrm>
                <a:off x="2031300" y="3330468"/>
                <a:ext cx="6629400" cy="1350498"/>
                <a:chOff x="0" y="-43132"/>
                <a:chExt cx="6629400" cy="1350498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xmlns="" id="{A8CEC4EB-3E35-934D-8116-65A4FCBAF5B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ounded Rectangle 16">
                      <a:extLst>
                        <a:ext uri="{FF2B5EF4-FFF2-40B4-BE49-F238E27FC236}">
                          <a16:creationId xmlns:a16="http://schemas.microsoft.com/office/drawing/2014/main" xmlns="" id="{CCF8326F-59BE-1540-AAA0-820279B0E2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-43132"/>
                      <a:ext cx="6629400" cy="1350498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742950">
                        <a:spcAft>
                          <a:spcPts val="1000"/>
                        </a:spcAft>
                      </a:pPr>
                      <a:endPara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742950"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 </a:t>
                      </a:r>
                      <a:r>
                        <a:rPr lang="en-US" sz="2000" b="1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quadratic expression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or</a:t>
                      </a:r>
                      <a:r>
                        <a:rPr lang="en-US" sz="2000" b="1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quadratic equation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is a polynomial expression or equation that contains a term of degree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2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but no term of higher degree.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685800">
                        <a:spcAft>
                          <a:spcPts val="1000"/>
                        </a:spcAft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p:txBody>
                </p:sp>
              </mc:Choice>
              <mc:Fallback xmlns="">
                <p:sp>
                  <p:nvSpPr>
                    <p:cNvPr id="17" name="Rounded Rectangle 16">
                      <a:extLst>
                        <a:ext uri="{FF2B5EF4-FFF2-40B4-BE49-F238E27FC236}">
                          <a16:creationId xmlns:a16="http://schemas.microsoft.com/office/drawing/2014/main" id="{CCF8326F-59BE-1540-AAA0-820279B0E23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-43132"/>
                      <a:ext cx="6629400" cy="1350498"/>
                    </a:xfrm>
                    <a:prstGeom prst="roundRect">
                      <a:avLst>
                        <a:gd name="adj" fmla="val 16667"/>
                      </a:avLst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18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xmlns="" id="{A6F09768-1620-534B-827A-8C54B69B332D}"/>
                    </a:ext>
                  </a:extLst>
                </p:cNvPr>
                <p:cNvPicPr preferRelativeResize="0"/>
                <p:nvPr/>
              </p:nvPicPr>
              <p:blipFill rotWithShape="1">
                <a:blip r:embed="rId7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38545" y="92367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pic>
        <p:nvPicPr>
          <p:cNvPr id="19" name="Google Shape;283;g104476d1465_1_17">
            <a:extLst>
              <a:ext uri="{FF2B5EF4-FFF2-40B4-BE49-F238E27FC236}">
                <a16:creationId xmlns:a16="http://schemas.microsoft.com/office/drawing/2014/main" xmlns="" id="{D8F92D00-B7CD-68B5-D41F-2DF15D71D8BE}"/>
              </a:ext>
            </a:extLst>
          </p:cNvPr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7" y="520393"/>
                <a:ext cx="10284032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trinomials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</a:p>
              <a:p>
                <a:pPr marL="457200"/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each trinomial.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any similarities between the four trinomials.</a:t>
                </a:r>
              </a:p>
              <a:p>
                <a:r>
                  <a:rPr lang="en-US" sz="2400" dirty="0"/>
                  <a:t> 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520393"/>
                <a:ext cx="10284032" cy="6001643"/>
              </a:xfrm>
              <a:prstGeom prst="rect">
                <a:avLst/>
              </a:prstGeom>
              <a:blipFill>
                <a:blip r:embed="rId3"/>
                <a:stretch>
                  <a:fillRect l="-889" t="-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99ABEFE8-F2DB-E54B-8F66-964D817BF1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5421715"/>
                  </p:ext>
                </p:extLst>
              </p:nvPr>
            </p:nvGraphicFramePr>
            <p:xfrm>
              <a:off x="1737016" y="2226389"/>
              <a:ext cx="7639327" cy="280258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72677">
                      <a:extLst>
                        <a:ext uri="{9D8B030D-6E8A-4147-A177-3AD203B41FA5}">
                          <a16:colId xmlns:a16="http://schemas.microsoft.com/office/drawing/2014/main" xmlns="" val="3561555833"/>
                        </a:ext>
                      </a:extLst>
                    </a:gridCol>
                    <a:gridCol w="1953924">
                      <a:extLst>
                        <a:ext uri="{9D8B030D-6E8A-4147-A177-3AD203B41FA5}">
                          <a16:colId xmlns:a16="http://schemas.microsoft.com/office/drawing/2014/main" xmlns="" val="975460099"/>
                        </a:ext>
                      </a:extLst>
                    </a:gridCol>
                    <a:gridCol w="1954639">
                      <a:extLst>
                        <a:ext uri="{9D8B030D-6E8A-4147-A177-3AD203B41FA5}">
                          <a16:colId xmlns:a16="http://schemas.microsoft.com/office/drawing/2014/main" xmlns="" val="3745111452"/>
                        </a:ext>
                      </a:extLst>
                    </a:gridCol>
                    <a:gridCol w="1858087">
                      <a:extLst>
                        <a:ext uri="{9D8B030D-6E8A-4147-A177-3AD203B41FA5}">
                          <a16:colId xmlns:a16="http://schemas.microsoft.com/office/drawing/2014/main" xmlns="" val="2688624701"/>
                        </a:ext>
                      </a:extLst>
                    </a:gridCol>
                  </a:tblGrid>
                  <a:tr h="44674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𝟐𝟒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𝟐𝟒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𝟐𝟒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𝟐𝟒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36180470"/>
                      </a:ext>
                    </a:extLst>
                  </a:tr>
                  <a:tr h="235583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6193742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9ABEFE8-F2DB-E54B-8F66-964D817BF1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5421715"/>
                  </p:ext>
                </p:extLst>
              </p:nvPr>
            </p:nvGraphicFramePr>
            <p:xfrm>
              <a:off x="1737016" y="2226389"/>
              <a:ext cx="7639327" cy="280258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72677">
                      <a:extLst>
                        <a:ext uri="{9D8B030D-6E8A-4147-A177-3AD203B41FA5}">
                          <a16:colId xmlns:a16="http://schemas.microsoft.com/office/drawing/2014/main" val="3561555833"/>
                        </a:ext>
                      </a:extLst>
                    </a:gridCol>
                    <a:gridCol w="1953924">
                      <a:extLst>
                        <a:ext uri="{9D8B030D-6E8A-4147-A177-3AD203B41FA5}">
                          <a16:colId xmlns:a16="http://schemas.microsoft.com/office/drawing/2014/main" val="975460099"/>
                        </a:ext>
                      </a:extLst>
                    </a:gridCol>
                    <a:gridCol w="1954639">
                      <a:extLst>
                        <a:ext uri="{9D8B030D-6E8A-4147-A177-3AD203B41FA5}">
                          <a16:colId xmlns:a16="http://schemas.microsoft.com/office/drawing/2014/main" val="3745111452"/>
                        </a:ext>
                      </a:extLst>
                    </a:gridCol>
                    <a:gridCol w="1858087">
                      <a:extLst>
                        <a:ext uri="{9D8B030D-6E8A-4147-A177-3AD203B41FA5}">
                          <a16:colId xmlns:a16="http://schemas.microsoft.com/office/drawing/2014/main" val="2688624701"/>
                        </a:ext>
                      </a:extLst>
                    </a:gridCol>
                  </a:tblGrid>
                  <a:tr h="4467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5" t="-1370" r="-308117" b="-534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6262" t="-1370" r="-195639" b="-534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6262" t="-1370" r="-95639" b="-534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11803" t="-1370" r="-656" b="-534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180470"/>
                      </a:ext>
                    </a:extLst>
                  </a:tr>
                  <a:tr h="235583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1937421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xmlns="" id="{4044F50A-C091-7721-8E85-C6CAD5E41D62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BF096509-D959-F8E5-54E4-634BF4FEEEFC}"/>
              </a:ext>
            </a:extLst>
          </p:cNvPr>
          <p:cNvSpPr txBox="1"/>
          <p:nvPr/>
        </p:nvSpPr>
        <p:spPr>
          <a:xfrm>
            <a:off x="88126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373</a:t>
            </a:r>
          </a:p>
        </p:txBody>
      </p:sp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7" y="520394"/>
                <a:ext cx="10319658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any similarities between the factored forms of the four trinomials.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trinomial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the area model.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520394"/>
                <a:ext cx="10319658" cy="3785652"/>
              </a:xfrm>
              <a:prstGeom prst="rect">
                <a:avLst/>
              </a:prstGeom>
              <a:blipFill>
                <a:blip r:embed="rId3"/>
                <a:stretch>
                  <a:fillRect l="-886" t="-1288" r="-8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xmlns="" id="{F8B39F12-BD96-CD47-B3BB-7371696FED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922"/>
          <a:stretch/>
        </p:blipFill>
        <p:spPr>
          <a:xfrm>
            <a:off x="1956990" y="3728249"/>
            <a:ext cx="7262949" cy="2364584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C07ACD1C-C446-EC17-90D0-956816D2243F}"/>
              </a:ext>
            </a:extLst>
          </p:cNvPr>
          <p:cNvSpPr txBox="1"/>
          <p:nvPr/>
        </p:nvSpPr>
        <p:spPr>
          <a:xfrm>
            <a:off x="88126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373</a:t>
            </a: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xmlns="" id="{E722A241-376C-09BD-12A9-B4B7EA5E352B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589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19397" y="520394"/>
                <a:ext cx="10319658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factoring by grouping.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to check that the two binomials of the factored form are correct.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397" y="520394"/>
                <a:ext cx="10319658" cy="4524315"/>
              </a:xfrm>
              <a:prstGeom prst="rect">
                <a:avLst/>
              </a:prstGeom>
              <a:blipFill>
                <a:blip r:embed="rId3"/>
                <a:stretch>
                  <a:fillRect t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6C79528B-5280-201B-6252-58E17EDEC28F}"/>
              </a:ext>
            </a:extLst>
          </p:cNvPr>
          <p:cNvSpPr txBox="1"/>
          <p:nvPr/>
        </p:nvSpPr>
        <p:spPr>
          <a:xfrm>
            <a:off x="88126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373</a:t>
            </a: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xmlns="" id="{0C638EE7-6D6C-26C5-7D5D-86B347DB2CF4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1166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74386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2247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CAF82845-2996-E7DC-BE70-ABB4A586B481}"/>
              </a:ext>
            </a:extLst>
          </p:cNvPr>
          <p:cNvSpPr txBox="1"/>
          <p:nvPr/>
        </p:nvSpPr>
        <p:spPr>
          <a:xfrm>
            <a:off x="88126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374</a:t>
            </a: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xmlns="" id="{73E80499-6DDC-64AE-A6FB-C94BEAA1F521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09918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7.3.4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618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90397" y="982176"/>
                <a:ext cx="10292580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each quadratic expression using the method of your choice.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+11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+24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−9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+14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−96</m:t>
                    </m:r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97" y="982176"/>
                <a:ext cx="10292580" cy="4893647"/>
              </a:xfrm>
              <a:prstGeom prst="rect">
                <a:avLst/>
              </a:prstGeom>
              <a:blipFill>
                <a:blip r:embed="rId4"/>
                <a:stretch>
                  <a:fillRect l="-948" t="-9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EDD7E546-9334-CD4B-9098-7FA33B42DB0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xmlns="" id="{97A3504F-8451-2217-5EEC-BEA5936CB87E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16C92AC0-A3A9-BD09-C943-88A9B26B89A3}"/>
              </a:ext>
            </a:extLst>
          </p:cNvPr>
          <p:cNvSpPr txBox="1"/>
          <p:nvPr/>
        </p:nvSpPr>
        <p:spPr>
          <a:xfrm>
            <a:off x="88126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374</a:t>
            </a: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97139" y="277492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133" y="2929520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xmlns="" id="{0C672B11-1995-29AC-4879-821FD112612A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874C8A5C-9D0A-67BE-BA89-BF34F8A82A50}"/>
              </a:ext>
            </a:extLst>
          </p:cNvPr>
          <p:cNvSpPr txBox="1"/>
          <p:nvPr/>
        </p:nvSpPr>
        <p:spPr>
          <a:xfrm>
            <a:off x="88126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374</a:t>
            </a: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92067" y="-82571"/>
            <a:ext cx="979760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7.3.5 </a:t>
            </a: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618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819396" y="1386025"/>
            <a:ext cx="102508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short note to a friend who missed class summarizing today’s lesson. Include something you learned and a mistake you learned from.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C9825640-5649-F74D-866E-EC8F188D5640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xmlns="" id="{5888891B-03C8-69F0-4148-F86245A97F1B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51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3D61B6D0-87E6-E446-38FE-05E53BE2E897}"/>
              </a:ext>
            </a:extLst>
          </p:cNvPr>
          <p:cNvSpPr txBox="1"/>
          <p:nvPr/>
        </p:nvSpPr>
        <p:spPr>
          <a:xfrm>
            <a:off x="88126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374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1354</TotalTime>
  <Words>1139</Words>
  <Application>Microsoft Macintosh PowerPoint</Application>
  <PresentationFormat>Widescreen</PresentationFormat>
  <Paragraphs>267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 Black</vt:lpstr>
      <vt:lpstr>Century Gothic</vt:lpstr>
      <vt:lpstr>Courier New</vt:lpstr>
      <vt:lpstr>Cambria Math</vt:lpstr>
      <vt:lpstr>Times New Roman</vt:lpstr>
      <vt:lpstr>Verdana</vt:lpstr>
      <vt:lpstr>Cambria</vt:lpstr>
      <vt:lpstr>Arial</vt:lpstr>
      <vt:lpstr>Calibri</vt:lpstr>
      <vt:lpstr>1_Office Theme</vt:lpstr>
      <vt:lpstr>Algebra 1  Unit 7, Lesson 3  Factoring a Trinomial With a Leading Coefficient of 1  Volume 1, pg. 369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jslater9816@gmail.com</cp:lastModifiedBy>
  <cp:revision>21</cp:revision>
  <dcterms:created xsi:type="dcterms:W3CDTF">2015-03-17T18:51:18Z</dcterms:created>
  <dcterms:modified xsi:type="dcterms:W3CDTF">2022-07-29T23:37:39Z</dcterms:modified>
</cp:coreProperties>
</file>