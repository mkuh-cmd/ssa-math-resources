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85" r:id="rId4"/>
    <p:sldId id="286" r:id="rId5"/>
    <p:sldId id="261" r:id="rId6"/>
    <p:sldId id="287" r:id="rId7"/>
    <p:sldId id="311" r:id="rId8"/>
    <p:sldId id="312" r:id="rId9"/>
    <p:sldId id="288" r:id="rId10"/>
    <p:sldId id="333" r:id="rId11"/>
    <p:sldId id="342" r:id="rId12"/>
    <p:sldId id="343" r:id="rId13"/>
    <p:sldId id="344" r:id="rId14"/>
    <p:sldId id="345" r:id="rId15"/>
    <p:sldId id="323" r:id="rId16"/>
    <p:sldId id="324" r:id="rId17"/>
    <p:sldId id="337" r:id="rId18"/>
    <p:sldId id="320" r:id="rId19"/>
    <p:sldId id="321" r:id="rId20"/>
    <p:sldId id="302" r:id="rId21"/>
    <p:sldId id="303" r:id="rId22"/>
    <p:sldId id="306" r:id="rId23"/>
    <p:sldId id="307" r:id="rId24"/>
  </p:sldIdLst>
  <p:sldSz cx="12192000" cy="6858000"/>
  <p:notesSz cx="6858000" cy="9144000"/>
  <p:embeddedFontLst>
    <p:embeddedFont>
      <p:font typeface="Arial Black" panose="020B0A04020102020204" pitchFamily="34" charset="0"/>
      <p:bold r:id="rId26"/>
    </p:embeddedFont>
    <p:embeddedFont>
      <p:font typeface="Calibri" panose="020F0502020204030204" pitchFamily="34" charset="0"/>
      <p:regular r:id="rId27"/>
      <p:bold r:id="rId28"/>
      <p:italic r:id="rId29"/>
      <p:boldItalic r:id="rId30"/>
    </p:embeddedFont>
    <p:embeddedFont>
      <p:font typeface="Cambria" panose="02040503050406030204" pitchFamily="18" charset="0"/>
      <p:regular r:id="rId31"/>
      <p:bold r:id="rId32"/>
      <p:italic r:id="rId33"/>
      <p:boldItalic r:id="rId34"/>
    </p:embeddedFont>
    <p:embeddedFont>
      <p:font typeface="Cambria Math" panose="02040503050406030204" pitchFamily="18" charset="0"/>
      <p:regular r:id="rId35"/>
    </p:embeddedFont>
    <p:embeddedFont>
      <p:font typeface="Century Gothic" panose="020B0502020202020204" pitchFamily="34" charset="0"/>
      <p:regular r:id="rId36"/>
      <p:bold r:id="rId37"/>
      <p:italic r:id="rId38"/>
      <p:boldItalic r:id="rId39"/>
    </p:embeddedFont>
    <p:embeddedFont>
      <p:font typeface="Verdana" panose="020B0604030504040204" pitchFamily="34" charset="0"/>
      <p:regular r:id="rId40"/>
      <p:bold r:id="rId41"/>
      <p:italic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4B5D1"/>
    <a:srgbClr val="41BFAC"/>
    <a:srgbClr val="B399C8"/>
    <a:srgbClr val="276C46"/>
    <a:srgbClr val="C9DF6F"/>
    <a:srgbClr val="417DBF"/>
    <a:srgbClr val="3F2A67"/>
    <a:srgbClr val="E24E5F"/>
    <a:srgbClr val="26B7D4"/>
    <a:srgbClr val="33B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81"/>
    <p:restoredTop sz="94719"/>
  </p:normalViewPr>
  <p:slideViewPr>
    <p:cSldViewPr snapToGrid="0">
      <p:cViewPr varScale="1">
        <p:scale>
          <a:sx n="81" d="100"/>
          <a:sy n="81" d="100"/>
        </p:scale>
        <p:origin x="456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42" Type="http://schemas.openxmlformats.org/officeDocument/2006/relationships/font" Target="fonts/font17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font" Target="fonts/font13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41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font" Target="fonts/font15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43" Type="http://schemas.openxmlformats.org/officeDocument/2006/relationships/font" Target="fonts/font18.fntdata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7915976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875588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525861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431878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119672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768147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867962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91988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233347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332417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165849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3073590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0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10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-65521" y="-9144"/>
            <a:ext cx="4094106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Algebra 1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7, Lesson 8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Factoring the Difference of Two Squares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397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3232" y="1522577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24050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21333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397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9559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1047849" y="1600200"/>
            <a:ext cx="9164929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MA.912.AR.1.7</a:t>
            </a:r>
          </a:p>
          <a:p>
            <a:pPr indent="0">
              <a:buNone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Rewrite a polynomial expression as a product of polynomials over the real number system.</a:t>
            </a: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25200" y="129667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04404" y="1596390"/>
            <a:ext cx="9132126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2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 marL="457200">
              <a:buSzPts val="523"/>
            </a:pPr>
            <a:endParaRPr lang="en-US" sz="2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37AE25EA-1D12-D7A8-28F3-E56E7DCA5DBD}"/>
              </a:ext>
            </a:extLst>
          </p:cNvPr>
          <p:cNvSpPr txBox="1"/>
          <p:nvPr/>
        </p:nvSpPr>
        <p:spPr>
          <a:xfrm>
            <a:off x="8821333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397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>
            <a:extLst>
              <a:ext uri="{FF2B5EF4-FFF2-40B4-BE49-F238E27FC236}">
                <a16:creationId xmlns:a16="http://schemas.microsoft.com/office/drawing/2014/main" id="{103FEEE9-4E41-B1DD-7175-5E0752425B75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9559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070643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481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1070642" y="1600200"/>
            <a:ext cx="9165888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factor a difference of two squares.  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28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rewrite a polynomial expression as a product of polynomials by factoring.</a:t>
            </a: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03C93343-8596-925E-6A55-82684313A8A2}"/>
              </a:ext>
            </a:extLst>
          </p:cNvPr>
          <p:cNvSpPr txBox="1"/>
          <p:nvPr/>
        </p:nvSpPr>
        <p:spPr>
          <a:xfrm>
            <a:off x="8821333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397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>
            <a:extLst>
              <a:ext uri="{FF2B5EF4-FFF2-40B4-BE49-F238E27FC236}">
                <a16:creationId xmlns:a16="http://schemas.microsoft.com/office/drawing/2014/main" id="{70052665-E2B1-4ECD-50B4-A0A4BBD90A03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9559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9559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33528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342328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C7014980-2875-4AA1-9881-19040B808575}"/>
              </a:ext>
            </a:extLst>
          </p:cNvPr>
          <p:cNvSpPr txBox="1"/>
          <p:nvPr/>
        </p:nvSpPr>
        <p:spPr>
          <a:xfrm>
            <a:off x="8821333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398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84416" y="60325"/>
            <a:ext cx="856697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0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7.8.1 Warm-Up: Bell Work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8016" y="265076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843147" y="1386026"/>
                <a:ext cx="10319657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Factor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36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−12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Factor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+30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+25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147" y="1386026"/>
                <a:ext cx="10319657" cy="2677656"/>
              </a:xfrm>
              <a:prstGeom prst="rect">
                <a:avLst/>
              </a:prstGeom>
              <a:blipFill>
                <a:blip r:embed="rId4"/>
                <a:stretch>
                  <a:fillRect l="-886" t="-2045" b="-38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F1992A8F-F621-054D-B71E-96605FF7377D}"/>
              </a:ext>
            </a:extLst>
          </p:cNvPr>
          <p:cNvSpPr/>
          <p:nvPr/>
        </p:nvSpPr>
        <p:spPr>
          <a:xfrm>
            <a:off x="-11160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AFA2B78F-4242-3266-2861-C6379ED7B7E6}"/>
              </a:ext>
            </a:extLst>
          </p:cNvPr>
          <p:cNvSpPr txBox="1"/>
          <p:nvPr/>
        </p:nvSpPr>
        <p:spPr>
          <a:xfrm>
            <a:off x="8821333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398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>
            <a:extLst>
              <a:ext uri="{FF2B5EF4-FFF2-40B4-BE49-F238E27FC236}">
                <a16:creationId xmlns:a16="http://schemas.microsoft.com/office/drawing/2014/main" id="{6031DF88-88AE-030D-736B-7F61CA7E6BC5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9559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320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106950" y="2814305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110F9E1C-4B75-6D08-0622-1052ADCD40DC}"/>
              </a:ext>
            </a:extLst>
          </p:cNvPr>
          <p:cNvSpPr txBox="1"/>
          <p:nvPr/>
        </p:nvSpPr>
        <p:spPr>
          <a:xfrm>
            <a:off x="8821333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398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id="{C74D3C49-39E3-C14A-9424-4B42790E8C13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9559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520042" y="60325"/>
            <a:ext cx="9666514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7.8.2 Exploration: What Is a Difference of Two Squares?</a:t>
            </a:r>
          </a:p>
        </p:txBody>
      </p:sp>
      <p:pic>
        <p:nvPicPr>
          <p:cNvPr id="7" name="Picture 2" descr="Icon&#10;&#10;Description automatically generated">
            <a:extLst>
              <a:ext uri="{FF2B5EF4-FFF2-40B4-BE49-F238E27FC236}">
                <a16:creationId xmlns:a16="http://schemas.microsoft.com/office/drawing/2014/main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15902" y="285354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52D1D4D-DCB8-A246-B186-D40316579D77}"/>
              </a:ext>
            </a:extLst>
          </p:cNvPr>
          <p:cNvSpPr txBox="1"/>
          <p:nvPr/>
        </p:nvSpPr>
        <p:spPr>
          <a:xfrm>
            <a:off x="855022" y="1386026"/>
            <a:ext cx="1033153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table shows two algebra tile models and their corresponding expressions.</a:t>
            </a: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D672544D-2ABA-1343-B9BB-B0296BB0511F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89730" y="2347137"/>
            <a:ext cx="5780568" cy="3366107"/>
          </a:xfrm>
          <a:prstGeom prst="rect">
            <a:avLst/>
          </a:prstGeom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486717CA-10A3-1768-1D8F-156066E2C9A5}"/>
              </a:ext>
            </a:extLst>
          </p:cNvPr>
          <p:cNvSpPr txBox="1"/>
          <p:nvPr/>
        </p:nvSpPr>
        <p:spPr>
          <a:xfrm>
            <a:off x="8821333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398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>
            <a:extLst>
              <a:ext uri="{FF2B5EF4-FFF2-40B4-BE49-F238E27FC236}">
                <a16:creationId xmlns:a16="http://schemas.microsoft.com/office/drawing/2014/main" id="{476B08C4-AAF7-A468-0F20-246C8EDF3F78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9559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855022" y="520394"/>
                <a:ext cx="10355284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quadratic expression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−12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+9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a perfect square trinomial. 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with your partner why the quadratic expression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−9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not a perfect square trinomial, even though the algebra tile model is a square. Summarize your discussion.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022" y="520394"/>
                <a:ext cx="10355284" cy="2308324"/>
              </a:xfrm>
              <a:prstGeom prst="rect">
                <a:avLst/>
              </a:prstGeom>
              <a:blipFill>
                <a:blip r:embed="rId3"/>
                <a:stretch>
                  <a:fillRect l="-883" t="-2375" b="-50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15F1D98C-071D-7E4F-AC26-9D72783C5693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103732A-2E0C-C537-65B6-12F5FD943C73}"/>
              </a:ext>
            </a:extLst>
          </p:cNvPr>
          <p:cNvSpPr txBox="1"/>
          <p:nvPr/>
        </p:nvSpPr>
        <p:spPr>
          <a:xfrm>
            <a:off x="8821333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398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id="{0701F212-1CCC-BD22-B36D-C41C04DCB1C7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9559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843147" y="520393"/>
                <a:ext cx="10331534" cy="5632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the algebra tile models to factor each quadratic expression.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do you notice about the two factored forms?</a:t>
                </a: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quadratic expression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−9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a difference of two squares. Discuss with your partner why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−9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called a “difference.”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147" y="520393"/>
                <a:ext cx="10331534" cy="5632311"/>
              </a:xfrm>
              <a:prstGeom prst="rect">
                <a:avLst/>
              </a:prstGeom>
              <a:blipFill>
                <a:blip r:embed="rId3"/>
                <a:stretch>
                  <a:fillRect l="-885" t="-866"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6760BDC3-AF44-C94E-BD05-E61FF805DD32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92082233"/>
                  </p:ext>
                </p:extLst>
              </p:nvPr>
            </p:nvGraphicFramePr>
            <p:xfrm>
              <a:off x="1420180" y="1538437"/>
              <a:ext cx="6743700" cy="1534097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338264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36105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𝟒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𝟏𝟐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𝟗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𝟒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𝟗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22237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</a:rPr>
                            <a:t> </a:t>
                          </a:r>
                          <a:endParaRPr lang="en-US" sz="1200">
                            <a:effectLst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</a:rPr>
                            <a:t> </a:t>
                          </a:r>
                          <a:endParaRPr lang="en-US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92082233"/>
                  </p:ext>
                </p:extLst>
              </p:nvPr>
            </p:nvGraphicFramePr>
            <p:xfrm>
              <a:off x="1420180" y="1538437"/>
              <a:ext cx="6743700" cy="1534097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338264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36105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117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180" t="-1961" r="-99640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100906" t="-1961" r="-362" b="-4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22237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</a:rPr>
                            <a:t> </a:t>
                          </a:r>
                          <a:endParaRPr lang="en-US" sz="1200">
                            <a:effectLst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</a:rPr>
                            <a:t> </a:t>
                          </a:r>
                          <a:endParaRPr lang="en-US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4302C298-1093-FBA1-6495-CE9ABF7C20DE}"/>
              </a:ext>
            </a:extLst>
          </p:cNvPr>
          <p:cNvSpPr txBox="1"/>
          <p:nvPr/>
        </p:nvSpPr>
        <p:spPr>
          <a:xfrm>
            <a:off x="8821333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399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id="{8AD59CF6-D0DC-9734-67C2-376214F58165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9559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52515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855022" y="520394"/>
                <a:ext cx="10331533" cy="31393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5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two squares shown represent each term of the binomial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4</m:t>
                    </m:r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−9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  <a:p>
                <a:pPr marL="457200" indent="-457200">
                  <a:buFont typeface="+mj-lt"/>
                  <a:buAutoNum type="arabicPeriod" startAt="5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5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5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5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5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the side length of each square?</a:t>
                </a:r>
              </a:p>
              <a:p>
                <a:pPr lvl="0"/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022" y="520394"/>
                <a:ext cx="10331533" cy="3139321"/>
              </a:xfrm>
              <a:prstGeom prst="rect">
                <a:avLst/>
              </a:prstGeom>
              <a:blipFill>
                <a:blip r:embed="rId3"/>
                <a:stretch>
                  <a:fillRect l="-767" t="-1553" r="-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6760BDC3-AF44-C94E-BD05-E61FF805DD32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/>
              <p:cNvSpPr/>
              <p:nvPr/>
            </p:nvSpPr>
            <p:spPr>
              <a:xfrm>
                <a:off x="2735560" y="1495694"/>
                <a:ext cx="1188720" cy="1188720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Aft>
                    <a:spcPts val="10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𝟒</m:t>
                      </m:r>
                      <m:sSup>
                        <m:sSupPr>
                          <m:ctrlPr>
                            <a:rPr 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sz="1200" dirty="0"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5560" y="1495694"/>
                <a:ext cx="1188720" cy="11887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5804818" y="1517904"/>
                <a:ext cx="1188720" cy="1188720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Aft>
                    <a:spcPts val="10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𝟗</m:t>
                      </m:r>
                    </m:oMath>
                  </m:oMathPara>
                </a14:m>
                <a:endParaRPr lang="en-US" sz="1200"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4818" y="1517904"/>
                <a:ext cx="1188720" cy="11887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accent3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94861742"/>
                  </p:ext>
                </p:extLst>
              </p:nvPr>
            </p:nvGraphicFramePr>
            <p:xfrm>
              <a:off x="1479211" y="3968496"/>
              <a:ext cx="7345758" cy="137160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377811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56764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𝟒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𝟗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Side Length </a:t>
                          </a: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= ________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Side Length </a:t>
                          </a: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= ________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94861742"/>
                  </p:ext>
                </p:extLst>
              </p:nvPr>
            </p:nvGraphicFramePr>
            <p:xfrm>
              <a:off x="1479211" y="3968496"/>
              <a:ext cx="7345758" cy="137160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377811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56764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7"/>
                          <a:stretch>
                            <a:fillRect l="-161" t="-2667" r="-94839" b="-2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7"/>
                          <a:stretch>
                            <a:fillRect l="-105973" t="-2667" r="-341" b="-204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Side Length </a:t>
                          </a: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= ________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Side Length </a:t>
                          </a: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= ________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Google Shape;282;g104476d1465_1_17"/>
          <p:cNvSpPr txBox="1"/>
          <p:nvPr/>
        </p:nvSpPr>
        <p:spPr>
          <a:xfrm>
            <a:off x="882496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399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>
            <a:extLst>
              <a:ext uri="{FF2B5EF4-FFF2-40B4-BE49-F238E27FC236}">
                <a16:creationId xmlns:a16="http://schemas.microsoft.com/office/drawing/2014/main" id="{AA09C69F-39BD-32D4-1484-A2B1E77D942B}"/>
              </a:ext>
            </a:extLst>
          </p:cNvPr>
          <p:cNvPicPr preferRelativeResize="0"/>
          <p:nvPr/>
        </p:nvPicPr>
        <p:blipFill>
          <a:blip r:embed="rId8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9559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511945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63195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850743" y="520394"/>
                <a:ext cx="10300187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squares are a geometric representation of each term. The quadratic expression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−9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can be rewritten with each term as a monomial squared, as shown. 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 startAt="6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with your partner how the factored form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−9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reflects the expression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(2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(3)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Summarize your discussion.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743" y="520394"/>
                <a:ext cx="10300187" cy="3785652"/>
              </a:xfrm>
              <a:prstGeom prst="rect">
                <a:avLst/>
              </a:prstGeom>
              <a:blipFill>
                <a:blip r:embed="rId4"/>
                <a:stretch>
                  <a:fillRect l="-947" t="-1288" r="-1717" b="-27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6760BDC3-AF44-C94E-BD05-E61FF805DD32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2544698" y="4762960"/>
            <a:ext cx="7102603" cy="1694715"/>
            <a:chOff x="-1" y="-85726"/>
            <a:chExt cx="7102603" cy="169534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Rounded Rectangle 7"/>
                <p:cNvSpPr/>
                <p:nvPr/>
              </p:nvSpPr>
              <p:spPr>
                <a:xfrm>
                  <a:off x="-1" y="-85726"/>
                  <a:ext cx="7102603" cy="1695349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B8E6F5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742950">
                    <a:spcAft>
                      <a:spcPts val="1000"/>
                    </a:spcAft>
                  </a:pPr>
                  <a:r>
                    <a:rPr lang="en-US" sz="2000" dirty="0">
                      <a:solidFill>
                        <a:srgbClr val="0075BF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The </a:t>
                  </a:r>
                  <a:r>
                    <a:rPr lang="en-US" sz="2000" b="1" dirty="0">
                      <a:solidFill>
                        <a:srgbClr val="0075BF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difference of two squares</a:t>
                  </a:r>
                  <a:r>
                    <a:rPr lang="en-US" sz="2000" dirty="0">
                      <a:solidFill>
                        <a:srgbClr val="0075BF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 is a binomial of the form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2000" i="1">
                              <a:solidFill>
                                <a:srgbClr val="0075BF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i="1">
                                  <a:solidFill>
                                    <a:srgbClr val="0075BF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solidFill>
                                    <a:srgbClr val="0075BF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𝑎</m:t>
                              </m:r>
                            </m:e>
                          </m:d>
                        </m:e>
                        <m:sup>
                          <m:r>
                            <a:rPr lang="en-US" sz="2000" i="1">
                              <a:solidFill>
                                <a:srgbClr val="0075BF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en-US" sz="2000" i="1">
                          <a:solidFill>
                            <a:srgbClr val="0075BF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−</m:t>
                      </m:r>
                      <m:sSup>
                        <m:sSupPr>
                          <m:ctrlPr>
                            <a:rPr lang="en-US" sz="2000" i="1">
                              <a:solidFill>
                                <a:srgbClr val="0075BF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i="1">
                                  <a:solidFill>
                                    <a:srgbClr val="0075BF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solidFill>
                                    <a:srgbClr val="0075BF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𝑏</m:t>
                              </m:r>
                            </m:e>
                          </m:d>
                        </m:e>
                        <m:sup>
                          <m:r>
                            <a:rPr lang="en-US" sz="2000" i="1">
                              <a:solidFill>
                                <a:srgbClr val="0075BF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2</m:t>
                          </m:r>
                        </m:sup>
                      </m:sSup>
                    </m:oMath>
                  </a14:m>
                  <a:r>
                    <a:rPr lang="en-US" sz="2000" dirty="0">
                      <a:solidFill>
                        <a:srgbClr val="0075BF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, where </a:t>
                  </a:r>
                  <a14:m>
                    <m:oMath xmlns:m="http://schemas.openxmlformats.org/officeDocument/2006/math">
                      <m:r>
                        <a:rPr lang="en-US" sz="2000" i="1">
                          <a:solidFill>
                            <a:srgbClr val="0075BF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𝑎</m:t>
                      </m:r>
                    </m:oMath>
                  </a14:m>
                  <a:r>
                    <a:rPr lang="en-US" sz="2000" dirty="0">
                      <a:solidFill>
                        <a:srgbClr val="0075BF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 and </a:t>
                  </a:r>
                  <a14:m>
                    <m:oMath xmlns:m="http://schemas.openxmlformats.org/officeDocument/2006/math">
                      <m:r>
                        <a:rPr lang="en-US" sz="2000" i="1">
                          <a:solidFill>
                            <a:srgbClr val="0075BF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𝑏</m:t>
                      </m:r>
                    </m:oMath>
                  </a14:m>
                  <a:r>
                    <a:rPr lang="en-US" sz="2000" dirty="0">
                      <a:solidFill>
                        <a:srgbClr val="0075BF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 can represent a monomial expression or any value except </a:t>
                  </a:r>
                  <a14:m>
                    <m:oMath xmlns:m="http://schemas.openxmlformats.org/officeDocument/2006/math">
                      <m:r>
                        <a:rPr lang="en-US" sz="2000" i="1">
                          <a:solidFill>
                            <a:srgbClr val="0075BF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0</m:t>
                      </m:r>
                    </m:oMath>
                  </a14:m>
                  <a:r>
                    <a:rPr lang="en-US" sz="2000" dirty="0">
                      <a:solidFill>
                        <a:srgbClr val="0075BF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. The factored form is </a:t>
                  </a:r>
                  <a14:m>
                    <m:oMath xmlns:m="http://schemas.openxmlformats.org/officeDocument/2006/math">
                      <m:r>
                        <a:rPr lang="en-US" sz="2000" i="1">
                          <a:solidFill>
                            <a:srgbClr val="0075BF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(</m:t>
                      </m:r>
                      <m:r>
                        <a:rPr lang="en-US" sz="2000" i="1">
                          <a:solidFill>
                            <a:srgbClr val="0075BF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𝑎</m:t>
                      </m:r>
                      <m:r>
                        <a:rPr lang="en-US" sz="2000" i="1">
                          <a:solidFill>
                            <a:srgbClr val="0075BF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+</m:t>
                      </m:r>
                      <m:r>
                        <a:rPr lang="en-US" sz="2000" i="1">
                          <a:solidFill>
                            <a:srgbClr val="0075BF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𝑏</m:t>
                      </m:r>
                      <m:r>
                        <a:rPr lang="en-US" sz="2000" i="1">
                          <a:solidFill>
                            <a:srgbClr val="0075BF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)(</m:t>
                      </m:r>
                      <m:r>
                        <a:rPr lang="en-US" sz="2000" i="1">
                          <a:solidFill>
                            <a:srgbClr val="0075BF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𝑎</m:t>
                      </m:r>
                      <m:r>
                        <a:rPr lang="en-US" sz="2000" i="1">
                          <a:solidFill>
                            <a:srgbClr val="0075BF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−</m:t>
                      </m:r>
                      <m:r>
                        <a:rPr lang="en-US" sz="2000" i="1">
                          <a:solidFill>
                            <a:srgbClr val="0075BF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𝑏</m:t>
                      </m:r>
                      <m:r>
                        <a:rPr lang="en-US" sz="2000" i="1">
                          <a:solidFill>
                            <a:srgbClr val="0075BF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)</m:t>
                      </m:r>
                    </m:oMath>
                  </a14:m>
                  <a:r>
                    <a:rPr lang="en-US" sz="2000" dirty="0">
                      <a:solidFill>
                        <a:srgbClr val="0075BF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.</a:t>
                  </a:r>
                  <a:endPara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8" name="Rounded Rectangle 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" y="-85726"/>
                  <a:ext cx="7102603" cy="1695349"/>
                </a:xfrm>
                <a:prstGeom prst="roundRect">
                  <a:avLst>
                    <a:gd name="adj" fmla="val 16667"/>
                  </a:avLst>
                </a:prstGeom>
                <a:blipFill rotWithShape="0">
                  <a:blip r:embed="rId5"/>
                  <a:stretch>
                    <a:fillRect/>
                  </a:stretch>
                </a:blip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9" name="Picture 8" descr="Icon&#10;&#10;Description automatically generated"/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7075" y="111597"/>
              <a:ext cx="539750" cy="53975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10" name="Google Shape;282;g104476d1465_1_17"/>
          <p:cNvSpPr txBox="1"/>
          <p:nvPr/>
        </p:nvSpPr>
        <p:spPr>
          <a:xfrm>
            <a:off x="882496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399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214887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63195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843147" y="520394"/>
            <a:ext cx="102959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7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Use the table to determine if each expression is a difference of two squares.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6760BDC3-AF44-C94E-BD05-E61FF805DD32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36058009"/>
                  </p:ext>
                </p:extLst>
              </p:nvPr>
            </p:nvGraphicFramePr>
            <p:xfrm>
              <a:off x="1412233" y="1735106"/>
              <a:ext cx="8327136" cy="3902643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37918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207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92122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81937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1628763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Quadratic Expression</a:t>
                          </a:r>
                        </a:p>
                      </a:txBody>
                      <a:tcPr marL="68580" marR="68580" marT="0" marB="0" anchor="ctr"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The Expression Is a Binomial That Can Be Written As a Difference</a:t>
                          </a:r>
                        </a:p>
                      </a:txBody>
                      <a:tcPr marL="68580" marR="68580" marT="0" marB="0" anchor="ctr"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First Term Is a Perfect Square </a:t>
                          </a:r>
                        </a:p>
                      </a:txBody>
                      <a:tcPr marL="68580" marR="68580" marT="0" marB="0" anchor="ctr"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Second Term Is 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 Perfect Square</a:t>
                          </a:r>
                        </a:p>
                      </a:txBody>
                      <a:tcPr marL="68580" marR="68580" marT="0" marB="0" anchor="ctr"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91281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−100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𝑔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91281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16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−100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91281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+25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36058009"/>
                  </p:ext>
                </p:extLst>
              </p:nvPr>
            </p:nvGraphicFramePr>
            <p:xfrm>
              <a:off x="1412233" y="1735106"/>
              <a:ext cx="8327136" cy="3902643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37918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207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92122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81937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1828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Quadratic Expression</a:t>
                          </a:r>
                        </a:p>
                      </a:txBody>
                      <a:tcPr marL="68580" marR="68580" marT="0" marB="0" anchor="ctr"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The Expression Is a Binomial That Can Be Written As a Difference</a:t>
                          </a:r>
                        </a:p>
                      </a:txBody>
                      <a:tcPr marL="68580" marR="68580" marT="0" marB="0" anchor="ctr"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First Term Is a Perfect Square </a:t>
                          </a:r>
                        </a:p>
                      </a:txBody>
                      <a:tcPr marL="68580" marR="68580" marT="0" marB="0" anchor="ctr"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Second Term Is 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 Perfect Square</a:t>
                          </a:r>
                        </a:p>
                      </a:txBody>
                      <a:tcPr marL="68580" marR="68580" marT="0" marB="0" anchor="ctr"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9128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256" t="-273684" r="-250128" b="-2122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9128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256" t="-376991" r="-250128" b="-1141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9128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256" t="-472807" r="-250128" b="-131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82496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400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929162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63195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801595" y="4872937"/>
            <a:ext cx="1033746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table.</a:t>
            </a:r>
          </a:p>
          <a:p>
            <a:pPr marL="9144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Circle the expressions in the table that are considered a difference of two squares, based on your check marks.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6760BDC3-AF44-C94E-BD05-E61FF805DD32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88039277"/>
                  </p:ext>
                </p:extLst>
              </p:nvPr>
            </p:nvGraphicFramePr>
            <p:xfrm>
              <a:off x="1407237" y="405903"/>
              <a:ext cx="8023374" cy="426720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29239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12683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85114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75300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1416909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Quadratic Expression</a:t>
                          </a:r>
                        </a:p>
                      </a:txBody>
                      <a:tcPr marL="68580" marR="68580" marT="0" marB="0" anchor="ctr"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The Expression Is a Binomial That Can Be Written As a Difference</a:t>
                          </a:r>
                        </a:p>
                      </a:txBody>
                      <a:tcPr marL="68580" marR="68580" marT="0" marB="0" anchor="ctr"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First Term Is a Perfect Square </a:t>
                          </a:r>
                        </a:p>
                      </a:txBody>
                      <a:tcPr marL="68580" marR="68580" marT="0" marB="0" anchor="ctr"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Second Term Is 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 Perfect Square</a:t>
                          </a:r>
                        </a:p>
                      </a:txBody>
                      <a:tcPr marL="68580" marR="68580" marT="0" marB="0" anchor="ctr"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01366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25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−40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𝑤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+16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01366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9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−4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01366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−2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𝑞𝑧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601366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49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𝑔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−81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88039277"/>
                  </p:ext>
                </p:extLst>
              </p:nvPr>
            </p:nvGraphicFramePr>
            <p:xfrm>
              <a:off x="1407237" y="405903"/>
              <a:ext cx="8023374" cy="426720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29239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12683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85114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75300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1828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Quadratic Expression</a:t>
                          </a:r>
                        </a:p>
                      </a:txBody>
                      <a:tcPr marL="68580" marR="68580" marT="0" marB="0" anchor="ctr"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The Expression Is a Binomial That Can Be Written As a Difference</a:t>
                          </a:r>
                        </a:p>
                      </a:txBody>
                      <a:tcPr marL="68580" marR="68580" marT="0" marB="0" anchor="ctr"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First Term Is a Perfect Square </a:t>
                          </a:r>
                        </a:p>
                      </a:txBody>
                      <a:tcPr marL="68580" marR="68580" marT="0" marB="0" anchor="ctr"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Second Term Is 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 Perfect Square</a:t>
                          </a:r>
                        </a:p>
                      </a:txBody>
                      <a:tcPr marL="68580" marR="68580" marT="0" marB="0" anchor="ctr"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09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265" t="-308911" r="-250133" b="-3247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09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265" t="-413000" r="-250133" b="-22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09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265" t="-513000" r="-250133" b="-12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609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265" t="-613000" r="-250133" b="-2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82496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400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362758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3801048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87816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A85B9EDD-7F23-55F9-7781-ED97A44A4B31}"/>
              </a:ext>
            </a:extLst>
          </p:cNvPr>
          <p:cNvSpPr txBox="1"/>
          <p:nvPr/>
        </p:nvSpPr>
        <p:spPr>
          <a:xfrm>
            <a:off x="882496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400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id="{E0974F28-F1FA-22EF-DEDB-82ED7D16CB3F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9559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508166" y="-37211"/>
            <a:ext cx="9844644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7.8.3 Guided Practice: Factoring a Difference of Two Squares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50516" y="171527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/>
              <p:nvPr/>
            </p:nvSpPr>
            <p:spPr>
              <a:xfrm>
                <a:off x="843147" y="1331161"/>
                <a:ext cx="9844643" cy="53553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Consider the expression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49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−81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Rewrite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49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−81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as a difference of two squares.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__________</m:t>
                              </m:r>
                            </m:e>
                          </m:d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__________</m:t>
                              </m:r>
                            </m:e>
                          </m:d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Factor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49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−81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Consider the expression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9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−4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Rewrite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9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−4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as a difference of two squares.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__________</m:t>
                              </m:r>
                            </m:e>
                          </m:d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__________</m:t>
                              </m:r>
                            </m:e>
                          </m:d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Factor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9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−4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          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147" y="1331161"/>
                <a:ext cx="9844643" cy="5355312"/>
              </a:xfrm>
              <a:prstGeom prst="rect">
                <a:avLst/>
              </a:prstGeom>
              <a:blipFill>
                <a:blip r:embed="rId4"/>
                <a:stretch>
                  <a:fillRect l="-681" t="-683" b="-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DC83FE6C-2A92-0840-AA21-B0B38F631C93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0BC5ACC7-75E7-ABD0-3895-8BB9B6910706}"/>
              </a:ext>
            </a:extLst>
          </p:cNvPr>
          <p:cNvSpPr txBox="1"/>
          <p:nvPr/>
        </p:nvSpPr>
        <p:spPr>
          <a:xfrm>
            <a:off x="882496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400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>
            <a:extLst>
              <a:ext uri="{FF2B5EF4-FFF2-40B4-BE49-F238E27FC236}">
                <a16:creationId xmlns:a16="http://schemas.microsoft.com/office/drawing/2014/main" id="{CD378F40-E633-9407-8242-30FBCD272863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9559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843147" y="520393"/>
                <a:ext cx="10284032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Both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−121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+81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−1+16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are differences of two squares. Discuss with your partner how to rewrite them as a difference of two squares. Then, work together to factor each.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147" y="520393"/>
                <a:ext cx="10284032" cy="1200329"/>
              </a:xfrm>
              <a:prstGeom prst="rect">
                <a:avLst/>
              </a:prstGeom>
              <a:blipFill>
                <a:blip r:embed="rId3"/>
                <a:stretch>
                  <a:fillRect l="-889" t="-4569" r="-1897" b="-10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CFC9A26-671E-2C45-82EC-8B136C03E0A5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3430066"/>
                  </p:ext>
                </p:extLst>
              </p:nvPr>
            </p:nvGraphicFramePr>
            <p:xfrm>
              <a:off x="1635840" y="2106279"/>
              <a:ext cx="6800850" cy="2637092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342265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3782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𝟏𝟐𝟏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𝟖𝟏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𝟏𝟔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32537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200" dirty="0">
                            <a:effectLst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200" dirty="0">
                            <a:effectLst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3430066"/>
                  </p:ext>
                </p:extLst>
              </p:nvPr>
            </p:nvGraphicFramePr>
            <p:xfrm>
              <a:off x="1635840" y="2106279"/>
              <a:ext cx="6800850" cy="2637092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342265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3782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117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178" t="-1961" r="-99110" b="-7549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101625" t="-1961" r="-542" b="-75490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32537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200" dirty="0">
                            <a:effectLst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200" dirty="0">
                            <a:effectLst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82496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401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>
            <a:extLst>
              <a:ext uri="{FF2B5EF4-FFF2-40B4-BE49-F238E27FC236}">
                <a16:creationId xmlns:a16="http://schemas.microsoft.com/office/drawing/2014/main" id="{FC11A854-17DC-76F8-6DDD-F0B4271DE4D3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9559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068378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3592285" y="2766150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Try It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B098E9CE-9B4F-0D4F-9369-4E0B8D4E3D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89171" y="2852928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F72E09A2-210A-0300-43FA-4CEDD5E7A0B6}"/>
              </a:ext>
            </a:extLst>
          </p:cNvPr>
          <p:cNvSpPr txBox="1"/>
          <p:nvPr/>
        </p:nvSpPr>
        <p:spPr>
          <a:xfrm>
            <a:off x="882496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401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id="{0AD1B321-B660-577D-C07F-08CEEA08033D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9559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068580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84416" y="60325"/>
            <a:ext cx="9630888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7.8.4 Try It: Factoring Polynomials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E0B7508E-1910-D441-91B6-6EA6022F2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50516" y="348271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AB6A3A1-5A0D-C84F-AC89-57E6782F43E5}"/>
              </a:ext>
            </a:extLst>
          </p:cNvPr>
          <p:cNvSpPr txBox="1"/>
          <p:nvPr/>
        </p:nvSpPr>
        <p:spPr>
          <a:xfrm>
            <a:off x="855022" y="1386025"/>
            <a:ext cx="10260282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This is a mixed practice, which includes all of the different types of polynomials factored in this unit. If necessary, review previous lessons for examples of how to factor each type.</a:t>
            </a:r>
          </a:p>
          <a:p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Factor each expression.</a:t>
            </a:r>
          </a:p>
        </p:txBody>
      </p:sp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id="{440AE1AA-6F88-2440-A824-BEA9B94BEF8D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46378375"/>
                  </p:ext>
                </p:extLst>
              </p:nvPr>
            </p:nvGraphicFramePr>
            <p:xfrm>
              <a:off x="1377198" y="3483627"/>
              <a:ext cx="8817454" cy="2377888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476073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4426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91245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823184">
                    <a:tc>
                      <a:txBody>
                        <a:bodyPr/>
                        <a:lstStyle/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lphaLcPeriod"/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4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49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US" sz="24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4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−42</m:t>
                              </m:r>
                              <m:r>
                                <a:rPr lang="en-US" sz="24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4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+9</m:t>
                              </m:r>
                            </m:oMath>
                          </a14:m>
                          <a:endParaRPr lang="en-US" sz="24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85090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49693" marR="49693" marT="0" marB="0"/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49693" marR="49693" marT="0" marB="0"/>
                    </a:tc>
                    <a:tc>
                      <a:txBody>
                        <a:bodyPr/>
                        <a:lstStyle/>
                        <a:p>
                          <a:pPr marL="457200" marR="0" lvl="0" indent="-4572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lphaLcPeriod" startAt="2"/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4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1−25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p>
                                  <m:r>
                                    <a:rPr lang="en-US" sz="24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en-US" sz="24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49693" marR="49693" marT="0" marB="0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823184">
                    <a:tc>
                      <a:txBody>
                        <a:bodyPr/>
                        <a:lstStyle/>
                        <a:p>
                          <a:pPr marL="457200" marR="0" lvl="0" indent="-4572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lphaLcPeriod" startAt="3"/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36</m:t>
                                  </m:r>
                                  <m:r>
                                    <a:rPr lang="en-US" sz="24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4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7</m:t>
                                  </m:r>
                                </m:sup>
                              </m:sSup>
                              <m:r>
                                <a:rPr lang="en-US" sz="24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−48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4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r>
                                <a:rPr lang="en-US" sz="24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+12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4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oMath>
                          </a14:m>
                          <a:endParaRPr lang="en-US" sz="24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85090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49693" marR="49693" marT="0" marB="0"/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49693" marR="49693" marT="0" marB="0"/>
                    </a:tc>
                    <a:tc>
                      <a:txBody>
                        <a:bodyPr/>
                        <a:lstStyle/>
                        <a:p>
                          <a:pPr marL="457200" marR="0" lvl="0" indent="-4572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lphaLcPeriod" startAt="4"/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4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12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p>
                                  <m:r>
                                    <a:rPr lang="en-US" sz="24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4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+3</m:t>
                              </m:r>
                              <m:r>
                                <a:rPr lang="en-US" sz="24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4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−15</m:t>
                              </m:r>
                            </m:oMath>
                          </a14:m>
                          <a:endParaRPr lang="en-US" sz="24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49693" marR="49693" marT="0" marB="0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7091">
                    <a:tc>
                      <a:txBody>
                        <a:bodyPr/>
                        <a:lstStyle/>
                        <a:p>
                          <a:pPr marL="457200" lvl="0" indent="-4572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lphaLcPeriod" startAt="5"/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p>
                                  <m:r>
                                    <a:rPr lang="en-US" sz="24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4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sz="24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−42</m:t>
                              </m:r>
                            </m:oMath>
                          </a14:m>
                          <a:endParaRPr lang="en-US" sz="24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49693" marR="49693" marT="0" marB="0"/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49693" marR="49693" marT="0" marB="0"/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49693" marR="49693" marT="0" marB="0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46378375"/>
                  </p:ext>
                </p:extLst>
              </p:nvPr>
            </p:nvGraphicFramePr>
            <p:xfrm>
              <a:off x="1377198" y="3483627"/>
              <a:ext cx="8817454" cy="2377888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476073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4426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91245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82318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9693" marR="49693" marT="0" marB="0">
                        <a:blipFill>
                          <a:blip r:embed="rId4"/>
                          <a:stretch>
                            <a:fillRect t="-11852" r="-85166" b="-1896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49693" marR="49693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9693" marR="49693" marT="0" marB="0">
                        <a:blipFill>
                          <a:blip r:embed="rId4"/>
                          <a:stretch>
                            <a:fillRect l="-125194" t="-11852" b="-1896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82318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9693" marR="49693" marT="0" marB="0">
                        <a:blipFill>
                          <a:blip r:embed="rId4"/>
                          <a:stretch>
                            <a:fillRect t="-111029" r="-85166" b="-88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49693" marR="49693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9693" marR="49693" marT="0" marB="0">
                        <a:blipFill>
                          <a:blip r:embed="rId4"/>
                          <a:stretch>
                            <a:fillRect l="-125194" t="-111029" b="-882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315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9693" marR="49693" marT="0" marB="0">
                        <a:blipFill>
                          <a:blip r:embed="rId4"/>
                          <a:stretch>
                            <a:fillRect t="-239167" r="-8516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49693" marR="49693" marT="0" marB="0"/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49693" marR="49693" marT="0" marB="0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822570C0-DDE0-24EE-63CE-AA91E3808AEA}"/>
              </a:ext>
            </a:extLst>
          </p:cNvPr>
          <p:cNvSpPr txBox="1"/>
          <p:nvPr/>
        </p:nvSpPr>
        <p:spPr>
          <a:xfrm>
            <a:off x="882496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401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>
            <a:extLst>
              <a:ext uri="{FF2B5EF4-FFF2-40B4-BE49-F238E27FC236}">
                <a16:creationId xmlns:a16="http://schemas.microsoft.com/office/drawing/2014/main" id="{BC1BA5C6-52F9-5860-1F65-9CD0F01B9D8F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9559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403594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2116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595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39C160D4-D123-341C-06DA-EB19EE6FE63E}"/>
              </a:ext>
            </a:extLst>
          </p:cNvPr>
          <p:cNvSpPr txBox="1"/>
          <p:nvPr/>
        </p:nvSpPr>
        <p:spPr>
          <a:xfrm>
            <a:off x="882496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402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>
            <a:extLst>
              <a:ext uri="{FF2B5EF4-FFF2-40B4-BE49-F238E27FC236}">
                <a16:creationId xmlns:a16="http://schemas.microsoft.com/office/drawing/2014/main" id="{6F4A73D0-CFD3-F941-DE04-3F499BC406F1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9559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484415" y="60325"/>
            <a:ext cx="7552433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4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7.8.5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3899" y="60325"/>
            <a:ext cx="747300" cy="74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59C3E41-93EC-B84D-963F-86A3B15AC1C6}"/>
              </a:ext>
            </a:extLst>
          </p:cNvPr>
          <p:cNvSpPr txBox="1"/>
          <p:nvPr/>
        </p:nvSpPr>
        <p:spPr>
          <a:xfrm>
            <a:off x="843147" y="1386026"/>
            <a:ext cx="80421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Factor each expression.</a:t>
            </a: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EDD7E546-9334-CD4B-9098-7FA33B42DB04}"/>
              </a:ext>
            </a:extLst>
          </p:cNvPr>
          <p:cNvSpPr/>
          <p:nvPr/>
        </p:nvSpPr>
        <p:spPr>
          <a:xfrm>
            <a:off x="-16119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32293669"/>
                  </p:ext>
                </p:extLst>
              </p:nvPr>
            </p:nvGraphicFramePr>
            <p:xfrm>
              <a:off x="1369234" y="2280999"/>
              <a:ext cx="7626942" cy="2703302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406368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7904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38420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1351651">
                    <a:tc>
                      <a:txBody>
                        <a:bodyPr/>
                        <a:lstStyle/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lphaLcPeriod"/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  <m:r>
                                <a:rPr lang="en-US" sz="2400" b="0" i="0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5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m</m:t>
                                  </m:r>
                                </m:e>
                                <m:sup>
                                  <m:r>
                                    <a:rPr lang="en-US" sz="24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400" b="0" i="0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+20</m:t>
                              </m:r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</m:t>
                              </m:r>
                              <m:r>
                                <a:rPr lang="en-US" sz="24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b="0" i="0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oMath>
                          </a14:m>
                          <a:endParaRPr lang="en-US" sz="24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85090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49693" marR="49693" marT="0" marB="0"/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49693" marR="49693" marT="0" marB="0"/>
                    </a:tc>
                    <a:tc>
                      <a:txBody>
                        <a:bodyPr/>
                        <a:lstStyle/>
                        <a:p>
                          <a:pPr marL="457200" marR="0" lvl="0" indent="-4572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lphaLcPeriod" startAt="2"/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dirty="0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2400" i="1" dirty="0" smtClean="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dirty="0" smtClean="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𝑔</m:t>
                                  </m:r>
                                </m:e>
                                <m:sup>
                                  <m:r>
                                    <a:rPr lang="en-US" sz="2400" b="0" i="1" dirty="0" smtClean="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400" b="0" i="0" dirty="0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+3</m:t>
                              </m:r>
                              <m:r>
                                <m:rPr>
                                  <m:sty m:val="p"/>
                                </m:rPr>
                                <a:rPr lang="en-US" sz="2400" b="0" i="0" dirty="0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g</m:t>
                              </m:r>
                              <m:r>
                                <a:rPr lang="en-US" sz="2400" b="0" i="0" dirty="0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−20</m:t>
                              </m:r>
                            </m:oMath>
                          </a14:m>
                          <a:endParaRPr lang="en-US" sz="24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49693" marR="49693" marT="0" marB="0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351651">
                    <a:tc>
                      <a:txBody>
                        <a:bodyPr/>
                        <a:lstStyle/>
                        <a:p>
                          <a:pPr marL="457200" marR="0" lvl="0" indent="-4572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lphaLcPeriod" startAt="3"/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y</m:t>
                                  </m:r>
                                </m:e>
                                <m:sup>
                                  <m:r>
                                    <a:rPr lang="en-US" sz="24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400" b="0" i="0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−5</m:t>
                              </m:r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y</m:t>
                              </m:r>
                              <m:r>
                                <a:rPr lang="en-US" sz="2400" b="0" i="0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−84</m:t>
                              </m:r>
                            </m:oMath>
                          </a14:m>
                          <a:endParaRPr lang="en-US" sz="24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85090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49693" marR="49693" marT="0" marB="0"/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49693" marR="49693" marT="0" marB="0"/>
                    </a:tc>
                    <a:tc>
                      <a:txBody>
                        <a:bodyPr/>
                        <a:lstStyle/>
                        <a:p>
                          <a:pPr marL="457200" marR="0" lvl="0" indent="-4572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lphaLcPeriod" startAt="4"/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0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49</m:t>
                              </m:r>
                              <m:sSup>
                                <m:sSupPr>
                                  <m:ctrlPr>
                                    <a:rPr lang="en-US" sz="2400" b="0" i="1" smtClean="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r>
                                <a:rPr lang="en-US" sz="24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  <m:r>
                                <a:rPr lang="en-US" sz="2400" b="0" i="0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6</m:t>
                              </m:r>
                              <m:sSup>
                                <m:sSupPr>
                                  <m:ctrlPr>
                                    <a:rPr lang="en-US" sz="2400" b="0" i="1" smtClean="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oMath>
                          </a14:m>
                          <a:endParaRPr lang="en-US" sz="24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49693" marR="49693" marT="0" marB="0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32293669"/>
                  </p:ext>
                </p:extLst>
              </p:nvPr>
            </p:nvGraphicFramePr>
            <p:xfrm>
              <a:off x="1369234" y="2280999"/>
              <a:ext cx="7626942" cy="2703302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406368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7904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38420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13516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9693" marR="49693" marT="0" marB="0">
                        <a:blipFill>
                          <a:blip r:embed="rId4"/>
                          <a:stretch>
                            <a:fillRect t="-7207" r="-87706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49693" marR="49693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9693" marR="49693" marT="0" marB="0">
                        <a:blipFill>
                          <a:blip r:embed="rId4"/>
                          <a:stretch>
                            <a:fillRect l="-125180" t="-7207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3516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9693" marR="49693" marT="0" marB="0">
                        <a:blipFill>
                          <a:blip r:embed="rId4"/>
                          <a:stretch>
                            <a:fillRect t="-107207" r="-877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49693" marR="49693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9693" marR="49693" marT="0" marB="0">
                        <a:blipFill>
                          <a:blip r:embed="rId4"/>
                          <a:stretch>
                            <a:fillRect l="-125180" t="-10720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72407C67-F23A-F81D-64ED-58E8F37C177B}"/>
              </a:ext>
            </a:extLst>
          </p:cNvPr>
          <p:cNvSpPr txBox="1"/>
          <p:nvPr/>
        </p:nvSpPr>
        <p:spPr>
          <a:xfrm>
            <a:off x="882496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402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>
            <a:extLst>
              <a:ext uri="{FF2B5EF4-FFF2-40B4-BE49-F238E27FC236}">
                <a16:creationId xmlns:a16="http://schemas.microsoft.com/office/drawing/2014/main" id="{E7614D6B-06BB-1FB4-423F-5442E41E558B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9559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37971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761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0FF98621-EE6D-AAF8-C3FA-0D078D733BE3}"/>
              </a:ext>
            </a:extLst>
          </p:cNvPr>
          <p:cNvSpPr txBox="1"/>
          <p:nvPr/>
        </p:nvSpPr>
        <p:spPr>
          <a:xfrm>
            <a:off x="882496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402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>
            <a:extLst>
              <a:ext uri="{FF2B5EF4-FFF2-40B4-BE49-F238E27FC236}">
                <a16:creationId xmlns:a16="http://schemas.microsoft.com/office/drawing/2014/main" id="{EE295618-4051-DBDC-B71B-AB1001659159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9559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508166" y="177983"/>
            <a:ext cx="9250878" cy="973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4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7.8.6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0516" y="29129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843147" y="1386026"/>
            <a:ext cx="102840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Circle the icon that best describes your understanding of each concept.</a:t>
            </a: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C9825640-5649-F74D-866E-EC8F188D5640}"/>
              </a:ext>
            </a:extLst>
          </p:cNvPr>
          <p:cNvSpPr/>
          <p:nvPr/>
        </p:nvSpPr>
        <p:spPr>
          <a:xfrm>
            <a:off x="0" y="-810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60847" y="2217023"/>
            <a:ext cx="6766560" cy="4351640"/>
          </a:xfrm>
          <a:prstGeom prst="rect">
            <a:avLst/>
          </a:prstGeom>
        </p:spPr>
      </p:pic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62AFB960-6C67-53B8-51BF-57C044325133}"/>
              </a:ext>
            </a:extLst>
          </p:cNvPr>
          <p:cNvSpPr txBox="1"/>
          <p:nvPr/>
        </p:nvSpPr>
        <p:spPr>
          <a:xfrm>
            <a:off x="882496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402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>
            <a:extLst>
              <a:ext uri="{FF2B5EF4-FFF2-40B4-BE49-F238E27FC236}">
                <a16:creationId xmlns:a16="http://schemas.microsoft.com/office/drawing/2014/main" id="{F860F8A8-CFA8-99C5-8810-DEF0570A375D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9559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1324</TotalTime>
  <Words>1078</Words>
  <Application>Microsoft Office PowerPoint</Application>
  <PresentationFormat>Widescreen</PresentationFormat>
  <Paragraphs>249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3" baseType="lpstr">
      <vt:lpstr>Verdana</vt:lpstr>
      <vt:lpstr>Wingdings</vt:lpstr>
      <vt:lpstr>Century Gothic</vt:lpstr>
      <vt:lpstr>Calibri</vt:lpstr>
      <vt:lpstr>Arial Black</vt:lpstr>
      <vt:lpstr>Cambria Math</vt:lpstr>
      <vt:lpstr>Courier New</vt:lpstr>
      <vt:lpstr>Arial</vt:lpstr>
      <vt:lpstr>Cambria</vt:lpstr>
      <vt:lpstr>1_Office Theme</vt:lpstr>
      <vt:lpstr>Algebra 1  Unit 7, Lesson 8  Factoring the Difference of Two Squares  Volume 1, pg. 397  </vt:lpstr>
      <vt:lpstr>Benchmark</vt:lpstr>
      <vt:lpstr>PowerPoint Presentation</vt:lpstr>
      <vt:lpstr>PowerPoint Presentation</vt:lpstr>
      <vt:lpstr>Warm-Up</vt:lpstr>
      <vt:lpstr>PowerPoint Presentation</vt:lpstr>
      <vt:lpstr>Exploration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Try It</vt:lpstr>
      <vt:lpstr>PowerPoint Presentation</vt:lpstr>
      <vt:lpstr>Your Turn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Natasha Dease</cp:lastModifiedBy>
  <cp:revision>27</cp:revision>
  <dcterms:created xsi:type="dcterms:W3CDTF">2015-03-17T18:51:18Z</dcterms:created>
  <dcterms:modified xsi:type="dcterms:W3CDTF">2022-06-28T17:45:05Z</dcterms:modified>
</cp:coreProperties>
</file>