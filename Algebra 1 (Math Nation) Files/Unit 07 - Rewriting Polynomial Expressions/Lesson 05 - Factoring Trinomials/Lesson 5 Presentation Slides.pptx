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33" r:id="rId11"/>
    <p:sldId id="342" r:id="rId12"/>
    <p:sldId id="343" r:id="rId13"/>
    <p:sldId id="317" r:id="rId14"/>
    <p:sldId id="318" r:id="rId15"/>
    <p:sldId id="334" r:id="rId16"/>
    <p:sldId id="289" r:id="rId17"/>
    <p:sldId id="290" r:id="rId18"/>
    <p:sldId id="336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00" autoAdjust="0"/>
    <p:restoredTop sz="94719"/>
  </p:normalViewPr>
  <p:slideViewPr>
    <p:cSldViewPr snapToGrid="0">
      <p:cViewPr varScale="1">
        <p:scale>
          <a:sx n="81" d="100"/>
          <a:sy n="81" d="100"/>
        </p:scale>
        <p:origin x="30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85788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8213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6224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40704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18739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15933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39680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5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Trinomials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382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047850" y="1600200"/>
            <a:ext cx="91886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1001385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068779" y="1596390"/>
            <a:ext cx="91558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147F9E5-6D10-8A76-DAB3-9E5ABC4A7CD6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CD555ED9-AE61-3404-2000-67DFBF6DBE6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070643" y="1600200"/>
            <a:ext cx="911838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57200">
              <a:buClr>
                <a:srgbClr val="434343"/>
              </a:buClr>
              <a:buSzPts val="3500"/>
              <a:buFont typeface="Wingdings" panose="05000000000000000000" pitchFamily="2" charset="2"/>
              <a:buChar char="q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factor trinomials.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C2BD01DA-C727-2EEF-3498-93F1F4BD262A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67E30347-BAE9-D5EF-ABF3-4C3874FB43E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55668" y="60325"/>
            <a:ext cx="995598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7.5.1 Warm-Up: Walking Florida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442" y="34830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855022" y="1386025"/>
                <a:ext cx="10295908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Florida has the longest coastline,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1197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miles, in the contiguous United States. The distance from Key West to the farthest west Florida border on I-10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839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miles. The average person walks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miles per hour (mph).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many hours would it take someone walking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mph to walk from Key West to Florida’s western border?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How much longer, in days, would it take someone to walk along Florida’s coastline than to walk from Key West to Florida’s western border?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386025"/>
                <a:ext cx="10295908" cy="4524315"/>
              </a:xfrm>
              <a:prstGeom prst="rect">
                <a:avLst/>
              </a:prstGeom>
              <a:blipFill>
                <a:blip r:embed="rId4"/>
                <a:stretch>
                  <a:fillRect l="-888" t="-1211" r="-1776" b="-2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FCB2440-34DA-729C-237B-2F4B0ED012A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2AEFF376-597D-BAE4-F754-E08CF0F1081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FF6C57BA-C7CD-8D0F-8724-C477ACF144AB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6914" y="125569"/>
            <a:ext cx="10113936" cy="1077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7.5.2 Exploration: Relating Terms and Factors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3026" y="27278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855022" y="1203145"/>
                <a:ext cx="9155877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steps for using the distributive property to multiply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+3)(2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the results in the table, what quadratic expression is the product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+3)(2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203145"/>
                <a:ext cx="9155877" cy="5324535"/>
              </a:xfrm>
              <a:prstGeom prst="rect">
                <a:avLst/>
              </a:prstGeom>
              <a:blipFill>
                <a:blip r:embed="rId4"/>
                <a:stretch>
                  <a:fillRect l="-732" t="-686" r="-866" b="-1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D672544D-2ABA-1343-B9BB-B0296BB0511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5240" y="1946185"/>
            <a:ext cx="6175439" cy="3511374"/>
          </a:xfrm>
          <a:prstGeom prst="rect">
            <a:avLst/>
          </a:prstGeom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F51A5C21-7411-4655-96CD-D61177B0FC6C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D27EB884-C9B4-AA6A-455D-7E2ED7D24F67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3"/>
                <a:ext cx="10695828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Tyra and Min-</a:t>
                </a:r>
                <a:r>
                  <a:rPr lang="en-US" sz="21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Joon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were discussing how to find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of the quadratic expression for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+3)(2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both students’ strategies.</a:t>
                </a:r>
              </a:p>
              <a:p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 students have made a mistake. Describe to Tyra and Min-</a:t>
                </a:r>
                <a:r>
                  <a:rPr lang="en-US" sz="21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Joon</a:t>
                </a: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how to find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of the quadratic expression for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+3)(2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1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whether or not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of the quadratic expression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different from the </a:t>
                </a:r>
                <a14:m>
                  <m:oMath xmlns:m="http://schemas.openxmlformats.org/officeDocument/2006/math"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of the quadratic expression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e>
                    </m:d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1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2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1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Summarize your discussion.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3"/>
                <a:ext cx="10695828" cy="5262979"/>
              </a:xfrm>
              <a:prstGeom prst="rect">
                <a:avLst/>
              </a:prstGeom>
              <a:blipFill>
                <a:blip r:embed="rId3"/>
                <a:stretch>
                  <a:fillRect t="-810" b="-1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15F1D98C-071D-7E4F-AC26-9D72783C56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1623373"/>
                  </p:ext>
                </p:extLst>
              </p:nvPr>
            </p:nvGraphicFramePr>
            <p:xfrm>
              <a:off x="1890424" y="1332982"/>
              <a:ext cx="7511088" cy="164148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37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737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673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Tyra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Min-</a:t>
                          </a: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Joon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36686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-term of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+3)(2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can be quickly found by adding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Looking at the table, the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-term of the quadratic expression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I think you could just use what repeats.</a:t>
                          </a: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61623373"/>
                  </p:ext>
                </p:extLst>
              </p:nvPr>
            </p:nvGraphicFramePr>
            <p:xfrm>
              <a:off x="1890424" y="1332982"/>
              <a:ext cx="7511088" cy="1641486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37373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737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Tyra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Min-</a:t>
                          </a: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Joon</a:t>
                          </a: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3366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163" t="-28182" r="-101140" b="-2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4"/>
                          <a:stretch>
                            <a:fillRect l="-99354" t="-28182" r="-323" b="-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0D685BF-B82A-A278-3606-CC1B285F8669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E666B70A-65FD-C424-92C7-2BFE80D3170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8618"/>
                <a:ext cx="1029590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trinomials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algebra tiles to factor each trinomial.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8618"/>
                <a:ext cx="10295908" cy="1200329"/>
              </a:xfrm>
              <a:prstGeom prst="rect">
                <a:avLst/>
              </a:prstGeom>
              <a:blipFill>
                <a:blip r:embed="rId3"/>
                <a:stretch>
                  <a:fillRect l="-888" t="-4569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 descr="Chart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39638" y="2668436"/>
            <a:ext cx="3314700" cy="2921000"/>
          </a:xfrm>
          <a:prstGeom prst="rect">
            <a:avLst/>
          </a:prstGeom>
        </p:spPr>
      </p:pic>
      <p:pic>
        <p:nvPicPr>
          <p:cNvPr id="8" name="Picture 7" descr="Chart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90828" y="2626601"/>
            <a:ext cx="1094885" cy="30046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4643510"/>
                  </p:ext>
                </p:extLst>
              </p:nvPr>
            </p:nvGraphicFramePr>
            <p:xfrm>
              <a:off x="1927220" y="2096347"/>
              <a:ext cx="7549897" cy="36975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127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406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648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06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+5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−6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68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4643510"/>
                  </p:ext>
                </p:extLst>
              </p:nvPr>
            </p:nvGraphicFramePr>
            <p:xfrm>
              <a:off x="1927220" y="2096347"/>
              <a:ext cx="7549897" cy="3697505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5127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4060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9648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206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38485" t="-4348" r="-53478" b="-7840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6"/>
                          <a:stretch>
                            <a:fillRect l="-260465" t="-4348" r="-581" b="-7840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688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68580" marR="68580" marT="0" marB="0" anchor="ctr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49168187-7A25-6743-D888-45098532C284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>
            <a:extLst>
              <a:ext uri="{FF2B5EF4-FFF2-40B4-BE49-F238E27FC236}">
                <a16:creationId xmlns:a16="http://schemas.microsoft.com/office/drawing/2014/main" id="{27CF93AE-263B-2C7E-5D10-87092E810ABF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3812233"/>
                <a:ext cx="1031965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trinomials have the same leading term,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List the two ways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factored.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List the factor pairs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 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3812233"/>
                <a:ext cx="10319658" cy="2308324"/>
              </a:xfrm>
              <a:prstGeom prst="rect">
                <a:avLst/>
              </a:prstGeom>
              <a:blipFill>
                <a:blip r:embed="rId3"/>
                <a:stretch>
                  <a:fillRect t="-2375" b="-4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102821"/>
              </p:ext>
            </p:extLst>
          </p:nvPr>
        </p:nvGraphicFramePr>
        <p:xfrm>
          <a:off x="1894440" y="710835"/>
          <a:ext cx="7096783" cy="27139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22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4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0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139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Factored Form</a:t>
                      </a:r>
                    </a:p>
                  </a:txBody>
                  <a:tcPr marL="68580" marR="68580" marT="0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FDE7F16B-8A34-8A16-873A-BA0E4A2782A0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572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6899" y="520394"/>
                <a:ext cx="10272156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pair of factors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add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pair of factors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that add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related to the factored form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the factors along the algebra tiles.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9" y="520394"/>
                <a:ext cx="10272156" cy="2677656"/>
              </a:xfrm>
              <a:prstGeom prst="rect">
                <a:avLst/>
              </a:prstGeom>
              <a:blipFill>
                <a:blip r:embed="rId3"/>
                <a:stretch>
                  <a:fillRect t="-2045" r="-890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 descr="Chart&#10;&#10;Description automatically generated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92671" y="3367362"/>
            <a:ext cx="3314700" cy="2921000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722442D7-DF94-9FE1-B2D7-B9835D90C97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313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84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EB2E2CFB-1D8E-E595-7333-3FB9475CAB19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AED887C6-3533-A0DB-81BF-63BB62379C4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6914" y="60449"/>
            <a:ext cx="97496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7.5.3 Activity: Card Sort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1016" y="34839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866898" y="1386150"/>
            <a:ext cx="10319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sort the cards. Write the letter of the matching card for each representation.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E335EDC-9A7C-E240-A274-C7457343831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4157427"/>
                  </p:ext>
                </p:extLst>
              </p:nvPr>
            </p:nvGraphicFramePr>
            <p:xfrm>
              <a:off x="1436914" y="2443538"/>
              <a:ext cx="7565136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656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89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00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943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09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84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 Model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84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4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84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−7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84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−11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84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+11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740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−13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64157427"/>
                  </p:ext>
                </p:extLst>
              </p:nvPr>
            </p:nvGraphicFramePr>
            <p:xfrm>
              <a:off x="1436914" y="2443538"/>
              <a:ext cx="7565136" cy="42672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76568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3898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2006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0943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53096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09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Quadratic Expression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Area Model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Factored Form</a:t>
                          </a:r>
                        </a:p>
                      </a:txBody>
                      <a:tcPr marL="68580" marR="68580" marT="0" marB="0"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112000" r="-328966" b="-503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212000" r="-328966" b="-403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308911" r="-328966" b="-2990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413000" r="-328966" b="-2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513000" r="-328966" b="-10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4"/>
                          <a:stretch>
                            <a:fillRect l="-345" t="-613000" r="-328966" b="-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9C98979C-3F7C-4CCA-D58B-A723463C6AA8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>
            <a:extLst>
              <a:ext uri="{FF2B5EF4-FFF2-40B4-BE49-F238E27FC236}">
                <a16:creationId xmlns:a16="http://schemas.microsoft.com/office/drawing/2014/main" id="{E95D9BB7-04D8-485E-DAE2-B59ACE4639A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855022" y="520394"/>
            <a:ext cx="102959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one strategy you and your partner used to sort the cards.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307FF70B-9DD6-5740-B43B-698B43CC299B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id="{197B477E-70B0-7AC1-989A-363D69141165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764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658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005289E-0772-3147-A061-76109BB5937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CDB2223D-F1B9-45A1-A1AB-8BE7B6AC022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77538" y="42037"/>
                <a:ext cx="10462160" cy="132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>
                  <a:lnSpc>
                    <a:spcPct val="90000"/>
                  </a:lnSpc>
                  <a:buClr>
                    <a:schemeClr val="dk1"/>
                  </a:buClr>
                  <a:buSzPts val="5400"/>
                  <a:buFont typeface="Century Gothic"/>
                  <a:buNone/>
                </a:pPr>
                <a:r>
                  <a:rPr lang="en-US" sz="30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7.5.4 Guided Instruction: Factoring Trinomials in the Form </a:t>
                </a:r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  <m:sSup>
                      <m:sSupPr>
                        <m:ctrlPr>
                          <a:rPr lang="en-US" sz="30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sSupPr>
                      <m:e>
                        <m:r>
                          <a:rPr lang="en-US" sz="30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𝒙</m:t>
                        </m:r>
                      </m:e>
                      <m:sup>
                        <m:r>
                          <a:rPr lang="en-US" sz="3000" b="1" i="1">
                            <a:solidFill>
                              <a:srgbClr val="54B5D1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𝟐</m:t>
                        </m:r>
                      </m:sup>
                    </m:sSup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+</m:t>
                    </m:r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𝒃𝒙</m:t>
                    </m:r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+</m:t>
                    </m:r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𝒄</m:t>
                    </m:r>
                  </m:oMath>
                </a14:m>
                <a:r>
                  <a:rPr lang="en-US" sz="30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3000" b="1" i="1">
                        <a:solidFill>
                          <a:srgbClr val="54B5D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𝒂</m:t>
                    </m:r>
                  </m:oMath>
                </a14:m>
                <a:r>
                  <a:rPr lang="en-US" sz="3000" b="1" dirty="0">
                    <a:solidFill>
                      <a:srgbClr val="54B5D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 Has Multiple Factors</a:t>
                </a:r>
              </a:p>
            </p:txBody>
          </p:sp>
        </mc:Choice>
        <mc:Fallback>
          <p:sp>
            <p:nvSpPr>
              <p:cNvPr id="7" name="Google Shape;343;g103996e1364_0_321">
                <a:extLst>
                  <a:ext uri="{FF2B5EF4-FFF2-40B4-BE49-F238E27FC236}">
                    <a16:creationId xmlns:a16="http://schemas.microsoft.com/office/drawing/2014/main" id="{21B1DF8E-16A0-FA4E-8CEB-434668DFA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538" y="42037"/>
                <a:ext cx="10462160" cy="1325700"/>
              </a:xfrm>
              <a:prstGeom prst="rect">
                <a:avLst/>
              </a:prstGeom>
              <a:blipFill>
                <a:blip r:embed="rId3"/>
                <a:stretch>
                  <a:fillRect l="-1399" t="-9677" b="-147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516" y="15691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855022" y="1459177"/>
                <a:ext cx="1030778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 trinomials of the form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the value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multiple factors, requires all of the factors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be considered when factoring using algebra tiles or the area model.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1459177"/>
                <a:ext cx="10307783" cy="1938992"/>
              </a:xfrm>
              <a:prstGeom prst="rect">
                <a:avLst/>
              </a:prstGeom>
              <a:blipFill>
                <a:blip r:embed="rId5"/>
                <a:stretch>
                  <a:fillRect l="-887" t="-2830" b="-5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7538" y="3558549"/>
            <a:ext cx="6467856" cy="297899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7D35168-7D16-DCEE-90C0-ED91DECC0F6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id="{1B1092C2-39B2-9873-D251-51A2A7E0EC16}"/>
              </a:ext>
            </a:extLst>
          </p:cNvPr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3" y="520394"/>
                <a:ext cx="10284032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expanded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could be used to factor the expression by grouping?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08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−6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pPr marL="914400" indent="-4508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+6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085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342900">
                  <a:buFont typeface="Courier New" panose="02070309020205020404" pitchFamily="49" charset="0"/>
                  <a:buChar char="o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expanded form to factor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520394"/>
                <a:ext cx="10284032" cy="3785652"/>
              </a:xfrm>
              <a:prstGeom prst="rect">
                <a:avLst/>
              </a:prstGeom>
              <a:blipFill>
                <a:blip r:embed="rId3"/>
                <a:stretch>
                  <a:fillRect l="-889" t="-1449" b="-25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B40FD3B-941A-A462-8205-13D8A7609A82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id="{F9E7AD3F-F36D-340B-2497-3AD0136374F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5E1EB454-6C72-1A9D-945E-9150D5BD1B81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id="{1EFEE597-FA82-564A-7C2F-4103E31C67C4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496290" y="-82571"/>
            <a:ext cx="972589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7.5.5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168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775390" y="1386026"/>
            <a:ext cx="8102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9794497"/>
              </p:ext>
            </p:extLst>
          </p:nvPr>
        </p:nvGraphicFramePr>
        <p:xfrm>
          <a:off x="1092380" y="2040645"/>
          <a:ext cx="7468279" cy="4576644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24496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4222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terms and information used in the exploration and activity that I knew were …</a:t>
                      </a:r>
                    </a:p>
                  </a:txBody>
                  <a:tcPr marL="49952" marR="49952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wondered during the exploration or activity was …</a:t>
                      </a:r>
                    </a:p>
                  </a:txBody>
                  <a:tcPr marL="49952" marR="49952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Something I learned during the exploration or activity was …</a:t>
                      </a:r>
                    </a:p>
                  </a:txBody>
                  <a:tcPr marL="49952" marR="49952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442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952" marR="4995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952" marR="49952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9952" marR="49952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BBD9F41C-ADE8-DFE1-C65A-D57282984A7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386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id="{901E687C-A891-0DD2-5801-697F597B9703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1038</Words>
  <Application>Microsoft Office PowerPoint</Application>
  <PresentationFormat>Widescreen</PresentationFormat>
  <Paragraphs>195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Cambria</vt:lpstr>
      <vt:lpstr>Verdana</vt:lpstr>
      <vt:lpstr>Wingdings</vt:lpstr>
      <vt:lpstr>Century Gothic</vt:lpstr>
      <vt:lpstr>Calibri</vt:lpstr>
      <vt:lpstr>Arial Black</vt:lpstr>
      <vt:lpstr>Cambria Math</vt:lpstr>
      <vt:lpstr>Courier New</vt:lpstr>
      <vt:lpstr>1_Office Theme</vt:lpstr>
      <vt:lpstr>Algebra 1  Unit 7, Lesson 5  Factoring Trinomials  Volume 1, pg. 382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Guided Instruction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29</cp:revision>
  <dcterms:created xsi:type="dcterms:W3CDTF">2015-03-17T18:51:18Z</dcterms:created>
  <dcterms:modified xsi:type="dcterms:W3CDTF">2022-06-28T14:52:01Z</dcterms:modified>
</cp:coreProperties>
</file>