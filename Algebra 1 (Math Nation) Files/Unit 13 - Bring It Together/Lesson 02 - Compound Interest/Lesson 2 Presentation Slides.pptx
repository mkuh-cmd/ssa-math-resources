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embeddedFontLst>
    <p:embeddedFont>
      <p:font typeface="Arial Black" panose="020B0604020202020204" pitchFamily="34" charset="0"/>
      <p:bold r:id="rId25"/>
    </p:embeddedFont>
    <p:embeddedFont>
      <p:font typeface="Calibri" panose="020F0502020204030204" pitchFamily="34" charset="0"/>
      <p:regular r:id="rId26"/>
      <p:bold r:id="rId27"/>
      <p:italic r:id="rId28"/>
      <p:boldItalic r:id="rId29"/>
    </p:embeddedFon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g9dk1ftW9PZuPDHlPlBc/y9bBVC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ED9B209-D8D8-40D3-85A7-A46AD64EC929}">
  <a:tblStyle styleId="{EED9B209-D8D8-40D3-85A7-A46AD64EC92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206846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13,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Compound Interest</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241</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480" y="1522577"/>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250779" y="5205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438559" y="287828"/>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97112" y="64659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241</a:t>
            </a:r>
            <a:endParaRPr i="1">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8825"/>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541538" y="1475260"/>
            <a:ext cx="10515600" cy="4205700"/>
          </a:xfrm>
          <a:prstGeom prst="rect">
            <a:avLst/>
          </a:prstGeom>
          <a:noFill/>
          <a:ln>
            <a:noFill/>
          </a:ln>
        </p:spPr>
        <p:txBody>
          <a:bodyPr spcFirstLastPara="1" wrap="square" lIns="91425" tIns="45700" rIns="91425" bIns="45700" anchor="t" anchorCtr="0">
            <a:noAutofit/>
          </a:bodyPr>
          <a:lstStyle/>
          <a:p>
            <a:pPr>
              <a:lnSpc>
                <a:spcPct val="90000"/>
              </a:lnSpc>
              <a:spcBef>
                <a:spcPts val="750"/>
              </a:spcBef>
              <a:buClr>
                <a:schemeClr val="dk1"/>
              </a:buClr>
              <a:buSzPts val="1100"/>
            </a:pPr>
            <a:r>
              <a:rPr lang="en-US" sz="2000" dirty="0">
                <a:solidFill>
                  <a:schemeClr val="dk1"/>
                </a:solidFill>
                <a:latin typeface="Verdana" pitchFamily="34" charset="0"/>
                <a:ea typeface="Verdana" pitchFamily="34" charset="0"/>
                <a:cs typeface="Verdana"/>
                <a:sym typeface="Verdana"/>
              </a:rPr>
              <a:t>MA.912.FL.3.2</a:t>
            </a:r>
            <a:endParaRPr sz="2000" dirty="0">
              <a:latin typeface="Verdana" pitchFamily="34" charset="0"/>
              <a:ea typeface="Verdana" pitchFamily="34" charset="0"/>
            </a:endParaRPr>
          </a:p>
          <a:p>
            <a:pPr marL="457200">
              <a:lnSpc>
                <a:spcPct val="90000"/>
              </a:lnSpc>
              <a:spcBef>
                <a:spcPts val="750"/>
              </a:spcBef>
              <a:buClr>
                <a:schemeClr val="dk1"/>
              </a:buClr>
              <a:buSzPts val="2100"/>
            </a:pPr>
            <a:r>
              <a:rPr lang="en-US" sz="2000" dirty="0">
                <a:solidFill>
                  <a:schemeClr val="dk1"/>
                </a:solidFill>
                <a:latin typeface="Verdana" pitchFamily="34" charset="0"/>
                <a:ea typeface="Verdana" pitchFamily="34" charset="0"/>
                <a:cs typeface="Verdana"/>
                <a:sym typeface="Verdana"/>
              </a:rPr>
              <a:t>Solve real-world problems involving simple, compound, and continuously compounded interest.</a:t>
            </a:r>
          </a:p>
          <a:p>
            <a:pPr marL="457200">
              <a:lnSpc>
                <a:spcPct val="90000"/>
              </a:lnSpc>
              <a:spcBef>
                <a:spcPts val="750"/>
              </a:spcBef>
              <a:buClr>
                <a:schemeClr val="dk1"/>
              </a:buClr>
              <a:buSzPts val="2100"/>
            </a:pPr>
            <a:endParaRPr sz="2000" dirty="0">
              <a:latin typeface="Verdana" pitchFamily="34" charset="0"/>
              <a:ea typeface="Verdana" pitchFamily="34" charset="0"/>
            </a:endParaRPr>
          </a:p>
          <a:p>
            <a:pPr>
              <a:lnSpc>
                <a:spcPct val="90000"/>
              </a:lnSpc>
              <a:spcBef>
                <a:spcPts val="750"/>
              </a:spcBef>
              <a:buClr>
                <a:schemeClr val="dk1"/>
              </a:buClr>
              <a:buSzPts val="1100"/>
            </a:pPr>
            <a:r>
              <a:rPr lang="en-US" sz="2000" dirty="0">
                <a:solidFill>
                  <a:schemeClr val="dk1"/>
                </a:solidFill>
                <a:latin typeface="Verdana" pitchFamily="34" charset="0"/>
                <a:ea typeface="Verdana" pitchFamily="34" charset="0"/>
                <a:cs typeface="Verdana"/>
                <a:sym typeface="Verdana"/>
              </a:rPr>
              <a:t>MA.912.FL.3.4</a:t>
            </a:r>
            <a:endParaRPr sz="2000" dirty="0">
              <a:latin typeface="Verdana" pitchFamily="34" charset="0"/>
              <a:ea typeface="Verdana" pitchFamily="34" charset="0"/>
            </a:endParaRPr>
          </a:p>
          <a:p>
            <a:pPr marL="457200">
              <a:lnSpc>
                <a:spcPct val="90000"/>
              </a:lnSpc>
              <a:spcBef>
                <a:spcPts val="750"/>
              </a:spcBef>
              <a:buClr>
                <a:schemeClr val="dk1"/>
              </a:buClr>
              <a:buSzPts val="2100"/>
            </a:pPr>
            <a:r>
              <a:rPr lang="en-US" sz="2000" dirty="0">
                <a:solidFill>
                  <a:schemeClr val="dk1"/>
                </a:solidFill>
                <a:latin typeface="Verdana" pitchFamily="34" charset="0"/>
                <a:ea typeface="Verdana" pitchFamily="34" charset="0"/>
                <a:cs typeface="Verdana"/>
                <a:sym typeface="Verdana"/>
              </a:rPr>
              <a:t>Explain the relationship between simple interest and linear growth. Explain the relationship between compound interest and exponential growth, and the relationship between continuously compounded interest and exponential growth.</a:t>
            </a:r>
          </a:p>
          <a:p>
            <a:pPr marL="457200">
              <a:lnSpc>
                <a:spcPct val="90000"/>
              </a:lnSpc>
              <a:spcBef>
                <a:spcPts val="750"/>
              </a:spcBef>
              <a:buClr>
                <a:schemeClr val="dk1"/>
              </a:buClr>
              <a:buSzPts val="2100"/>
            </a:pPr>
            <a:endParaRPr sz="2000" dirty="0">
              <a:solidFill>
                <a:schemeClr val="dk1"/>
              </a:solidFill>
              <a:latin typeface="Verdana" pitchFamily="34" charset="0"/>
              <a:ea typeface="Verdana" pitchFamily="34" charset="0"/>
              <a:cs typeface="Century Gothic"/>
              <a:sym typeface="Century Gothic"/>
            </a:endParaRPr>
          </a:p>
          <a:p>
            <a:pPr>
              <a:lnSpc>
                <a:spcPct val="90000"/>
              </a:lnSpc>
              <a:spcBef>
                <a:spcPts val="750"/>
              </a:spcBef>
              <a:buClr>
                <a:schemeClr val="dk1"/>
              </a:buClr>
              <a:buSzPts val="1100"/>
            </a:pPr>
            <a:r>
              <a:rPr lang="en-US" sz="2000" dirty="0">
                <a:solidFill>
                  <a:schemeClr val="dk1"/>
                </a:solidFill>
                <a:latin typeface="Verdana" pitchFamily="34" charset="0"/>
                <a:ea typeface="Verdana" pitchFamily="34" charset="0"/>
                <a:cs typeface="Verdana"/>
                <a:sym typeface="Verdana"/>
              </a:rPr>
              <a:t>MA.912.F.1.8</a:t>
            </a:r>
            <a:endParaRPr sz="2000" dirty="0">
              <a:latin typeface="Verdana" pitchFamily="34" charset="0"/>
              <a:ea typeface="Verdana" pitchFamily="34" charset="0"/>
            </a:endParaRPr>
          </a:p>
          <a:p>
            <a:pPr marL="457200">
              <a:lnSpc>
                <a:spcPct val="90000"/>
              </a:lnSpc>
              <a:spcBef>
                <a:spcPts val="750"/>
              </a:spcBef>
              <a:buClr>
                <a:schemeClr val="dk1"/>
              </a:buClr>
              <a:buSzPts val="2100"/>
            </a:pPr>
            <a:r>
              <a:rPr lang="en-US" sz="2000" dirty="0">
                <a:solidFill>
                  <a:schemeClr val="dk1"/>
                </a:solidFill>
                <a:latin typeface="Verdana" pitchFamily="34" charset="0"/>
                <a:ea typeface="Verdana" pitchFamily="34" charset="0"/>
                <a:cs typeface="Verdana"/>
                <a:sym typeface="Verdana"/>
              </a:rPr>
              <a:t>Determine whether a linear, quadratic, or exponential function best models a given real-world situation.</a:t>
            </a:r>
            <a:endParaRPr sz="2000" dirty="0">
              <a:solidFill>
                <a:schemeClr val="dk1"/>
              </a:solidFill>
              <a:latin typeface="Verdana" pitchFamily="34" charset="0"/>
              <a:ea typeface="Verdana" pitchFamily="34" charset="0"/>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438559" y="287828"/>
            <a:ext cx="747300" cy="747300"/>
          </a:xfrm>
          <a:prstGeom prst="rect">
            <a:avLst/>
          </a:prstGeom>
          <a:noFill/>
          <a:ln>
            <a:noFill/>
          </a:ln>
          <a:effectLst>
            <a:outerShdw blurRad="57150" dist="19050" dir="5400000" algn="bl" rotWithShape="0">
              <a:srgbClr val="000000">
                <a:alpha val="49803"/>
              </a:srgbClr>
            </a:outerShdw>
          </a:effectLst>
        </p:spPr>
      </p:pic>
      <p:pic>
        <p:nvPicPr>
          <p:cNvPr id="135" name="Google Shape;135;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259178" y="0"/>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dirty="0">
                <a:solidFill>
                  <a:srgbClr val="54B5D1"/>
                </a:solidFill>
                <a:latin typeface="Verdana"/>
                <a:ea typeface="Verdana"/>
                <a:cs typeface="Verdana"/>
                <a:sym typeface="Verdana"/>
              </a:rPr>
              <a:t>Integrated Mathematical Thinking and Reasoning Standards</a:t>
            </a:r>
            <a:endParaRPr dirty="0"/>
          </a:p>
        </p:txBody>
      </p:sp>
      <p:sp>
        <p:nvSpPr>
          <p:cNvPr id="137" name="Google Shape;137;p1"/>
          <p:cNvSpPr txBox="1"/>
          <p:nvPr/>
        </p:nvSpPr>
        <p:spPr>
          <a:xfrm>
            <a:off x="532660" y="1454348"/>
            <a:ext cx="10561320" cy="4205700"/>
          </a:xfrm>
          <a:prstGeom prst="rect">
            <a:avLst/>
          </a:prstGeom>
          <a:noFill/>
          <a:ln>
            <a:noFill/>
          </a:ln>
        </p:spPr>
        <p:txBody>
          <a:bodyPr spcFirstLastPara="1" wrap="square" lIns="91425" tIns="45700" rIns="91425" bIns="45700" anchor="t" anchorCtr="0">
            <a:noAutofit/>
          </a:bodyPr>
          <a:lstStyle/>
          <a:p>
            <a:r>
              <a:rPr lang="en-US" sz="2400" dirty="0">
                <a:solidFill>
                  <a:schemeClr val="dk1"/>
                </a:solidFill>
                <a:latin typeface="Verdana"/>
                <a:ea typeface="Verdana"/>
                <a:cs typeface="Verdana"/>
                <a:sym typeface="Verdana"/>
              </a:rPr>
              <a:t>MA.K12.MTR.2.1 Demonstrate understanding by representing problems in multiple ways.</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MA.K12.MTR.4.1 Engage in discussions that reflect on the mathematical thinking of self and others.</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MA.K12.MTR.5.1 Use patterns and structure to help understand and connect mathematical concepts.</a:t>
            </a:r>
            <a:endParaRPr sz="2400" dirty="0"/>
          </a:p>
          <a:p>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MA.K12.MTR.6.1 Assess the reasonableness of solutions.</a:t>
            </a:r>
            <a:endParaRPr sz="2400" dirty="0"/>
          </a:p>
          <a:p>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MA.K12.MTR.7.1 Apply mathematics to real-world contexts.</a:t>
            </a:r>
            <a:endParaRPr sz="2400" dirty="0">
              <a:solidFill>
                <a:schemeClr val="dk1"/>
              </a:solidFill>
              <a:latin typeface="Verdana"/>
              <a:ea typeface="Verdana"/>
              <a:cs typeface="Verdana"/>
              <a:sym typeface="Verdana"/>
            </a:endParaRPr>
          </a:p>
        </p:txBody>
      </p:sp>
      <p:sp>
        <p:nvSpPr>
          <p:cNvPr id="138" name="Google Shape;138;p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241</a:t>
            </a:r>
            <a:endParaRPr i="1">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6" name="Google Shape;146;p2"/>
          <p:cNvSpPr txBox="1"/>
          <p:nvPr/>
        </p:nvSpPr>
        <p:spPr>
          <a:xfrm>
            <a:off x="1248005" y="-1372"/>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7" name="Google Shape;147;p2"/>
          <p:cNvPicPr preferRelativeResize="0"/>
          <p:nvPr/>
        </p:nvPicPr>
        <p:blipFill rotWithShape="1">
          <a:blip r:embed="rId4">
            <a:alphaModFix/>
          </a:blip>
          <a:srcRect/>
          <a:stretch/>
        </p:blipFill>
        <p:spPr>
          <a:xfrm>
            <a:off x="438559" y="287828"/>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532660" y="1467035"/>
            <a:ext cx="10800000" cy="4205700"/>
          </a:xfrm>
          <a:prstGeom prst="rect">
            <a:avLst/>
          </a:prstGeom>
          <a:noFill/>
          <a:ln>
            <a:noFill/>
          </a:ln>
        </p:spPr>
        <p:txBody>
          <a:bodyPr spcFirstLastPara="1" wrap="square" lIns="91425" tIns="45700" rIns="91425" bIns="45700" anchor="t" anchorCtr="0">
            <a:noAutofit/>
          </a:bodyPr>
          <a:lstStyle/>
          <a:p>
            <a:pPr marL="630238" indent="-623888">
              <a:buClr>
                <a:srgbClr val="434343"/>
              </a:buClr>
              <a:buSzPts val="3500"/>
              <a:buFont typeface="Wingdings" pitchFamily="2" charset="2"/>
              <a:buChar char="q"/>
            </a:pPr>
            <a:r>
              <a:rPr lang="en-US" sz="3500" dirty="0">
                <a:solidFill>
                  <a:schemeClr val="dk1"/>
                </a:solidFill>
                <a:latin typeface="Verdana"/>
                <a:ea typeface="Verdana"/>
                <a:cs typeface="Verdana"/>
                <a:sym typeface="Verdana"/>
              </a:rPr>
              <a:t>I can explain the relationship between compound interest and exponential growth.</a:t>
            </a:r>
          </a:p>
          <a:p>
            <a:pPr marL="630238" indent="-623888">
              <a:buClr>
                <a:srgbClr val="434343"/>
              </a:buClr>
              <a:buSzPts val="3500"/>
              <a:buFont typeface="Wingdings" pitchFamily="2" charset="2"/>
              <a:buChar char="q"/>
            </a:pPr>
            <a:endParaRPr sz="3500" dirty="0"/>
          </a:p>
          <a:p>
            <a:pPr marL="630238" indent="-623888">
              <a:buClr>
                <a:srgbClr val="434343"/>
              </a:buClr>
              <a:buSzPts val="3500"/>
              <a:buFont typeface="Wingdings" pitchFamily="2" charset="2"/>
              <a:buChar char="q"/>
            </a:pPr>
            <a:r>
              <a:rPr lang="en-US" sz="3500" dirty="0">
                <a:solidFill>
                  <a:schemeClr val="dk1"/>
                </a:solidFill>
                <a:latin typeface="Verdana"/>
                <a:ea typeface="Verdana"/>
                <a:cs typeface="Verdana"/>
                <a:sym typeface="Verdana"/>
              </a:rPr>
              <a:t>I can solve real-world problems involving compound interest.</a:t>
            </a:r>
          </a:p>
          <a:p>
            <a:pPr marL="630238" indent="-623888">
              <a:buClr>
                <a:srgbClr val="434343"/>
              </a:buClr>
              <a:buSzPts val="3500"/>
              <a:buFont typeface="Wingdings" pitchFamily="2" charset="2"/>
              <a:buChar char="q"/>
            </a:pPr>
            <a:endParaRPr sz="3500" dirty="0"/>
          </a:p>
          <a:p>
            <a:pPr marL="630238" indent="-623888">
              <a:buClr>
                <a:srgbClr val="434343"/>
              </a:buClr>
              <a:buSzPts val="3500"/>
              <a:buFont typeface="Wingdings" pitchFamily="2" charset="2"/>
              <a:buChar char="q"/>
            </a:pPr>
            <a:r>
              <a:rPr lang="en-US" sz="3500" dirty="0">
                <a:solidFill>
                  <a:schemeClr val="dk1"/>
                </a:solidFill>
                <a:latin typeface="Verdana"/>
                <a:ea typeface="Verdana"/>
                <a:cs typeface="Verdana"/>
                <a:sym typeface="Verdana"/>
              </a:rPr>
              <a:t>I can compare simple interest growth and compound interest growth.</a:t>
            </a:r>
            <a:endParaRPr sz="3500" dirty="0"/>
          </a:p>
          <a:p>
            <a:pPr marL="630238" indent="-623888">
              <a:buClr>
                <a:srgbClr val="434343"/>
              </a:buClr>
              <a:buSzPts val="3500"/>
              <a:buFont typeface="Wingdings" pitchFamily="2" charset="2"/>
              <a:buChar char="q"/>
            </a:pPr>
            <a:endParaRPr sz="3500" dirty="0">
              <a:solidFill>
                <a:schemeClr val="dk1"/>
              </a:solidFill>
              <a:latin typeface="Verdana"/>
              <a:ea typeface="Verdana"/>
              <a:cs typeface="Verdana"/>
              <a:sym typeface="Verdana"/>
            </a:endParaRPr>
          </a:p>
        </p:txBody>
      </p:sp>
      <p:sp>
        <p:nvSpPr>
          <p:cNvPr id="149" name="Google Shape;149;p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241</a:t>
            </a:r>
            <a:endParaRPr i="1"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157" name="Google Shape;157;g104476d1465_1_39"/>
          <p:cNvPicPr preferRelativeResize="0"/>
          <p:nvPr/>
        </p:nvPicPr>
        <p:blipFill rotWithShape="1">
          <a:blip r:embed="rId4">
            <a:alphaModFix/>
          </a:blip>
          <a:srcRect/>
          <a:stretch/>
        </p:blipFill>
        <p:spPr>
          <a:xfrm>
            <a:off x="3054096"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15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241</a:t>
            </a:r>
            <a:endParaRPr i="1">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67" name="Google Shape;167;p4"/>
          <p:cNvSpPr txBox="1"/>
          <p:nvPr/>
        </p:nvSpPr>
        <p:spPr>
          <a:xfrm>
            <a:off x="1253134" y="-1372"/>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13.2.1 Warm-Up: Paramedic </a:t>
            </a:r>
            <a:endParaRPr dirty="0"/>
          </a:p>
        </p:txBody>
      </p:sp>
      <p:pic>
        <p:nvPicPr>
          <p:cNvPr id="168" name="Google Shape;168;p4"/>
          <p:cNvPicPr preferRelativeResize="0"/>
          <p:nvPr/>
        </p:nvPicPr>
        <p:blipFill rotWithShape="1">
          <a:blip r:embed="rId4">
            <a:alphaModFix/>
          </a:blip>
          <a:srcRect/>
          <a:stretch/>
        </p:blipFill>
        <p:spPr>
          <a:xfrm>
            <a:off x="438559" y="287828"/>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532660" y="1465925"/>
            <a:ext cx="10515600" cy="378561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itchFamily="34" charset="0"/>
                <a:ea typeface="Verdana" pitchFamily="34" charset="0"/>
                <a:cs typeface="Verdana"/>
                <a:sym typeface="Verdana"/>
              </a:rPr>
              <a:t>Kelly Grayson </a:t>
            </a:r>
            <a:r>
              <a:rPr lang="en-US" sz="2000">
                <a:latin typeface="Verdana" pitchFamily="34" charset="0"/>
                <a:ea typeface="Verdana" pitchFamily="34" charset="0"/>
                <a:cs typeface="Verdana"/>
                <a:sym typeface="Verdana"/>
              </a:rPr>
              <a:t>is an emergency </a:t>
            </a:r>
            <a:r>
              <a:rPr lang="en-US" sz="2000" dirty="0">
                <a:latin typeface="Verdana" pitchFamily="34" charset="0"/>
                <a:ea typeface="Verdana" pitchFamily="34" charset="0"/>
                <a:cs typeface="Verdana"/>
                <a:sym typeface="Verdana"/>
              </a:rPr>
              <a:t>medical technician (EMT). In an interview, she was asked, “How do you stay focused and deal with the crisis situation to solve the problem at hand when responding to an emergency call?” Kelly Grayson replied, “You focus on process and fall back on your training.” </a:t>
            </a:r>
            <a:endParaRPr sz="2000" dirty="0">
              <a:latin typeface="Verdana" pitchFamily="34" charset="0"/>
              <a:ea typeface="Verdana" pitchFamily="34" charset="0"/>
            </a:endParaRPr>
          </a:p>
          <a:p>
            <a:endParaRPr sz="2000" dirty="0">
              <a:latin typeface="Verdana" pitchFamily="34" charset="0"/>
              <a:ea typeface="Verdana" pitchFamily="34" charset="0"/>
              <a:cs typeface="Verdana"/>
              <a:sym typeface="Verdana"/>
            </a:endParaRPr>
          </a:p>
          <a:p>
            <a:pPr marL="898525" indent="-457200">
              <a:buFont typeface="+mj-lt"/>
              <a:buAutoNum type="alphaLcPeriod"/>
            </a:pPr>
            <a:r>
              <a:rPr lang="en-US" sz="2000" dirty="0">
                <a:latin typeface="Verdana" pitchFamily="34" charset="0"/>
                <a:ea typeface="Verdana" pitchFamily="34" charset="0"/>
                <a:cs typeface="Verdana"/>
                <a:sym typeface="Verdana"/>
              </a:rPr>
              <a:t>How does staying focused on the process and falling back on your prior training help you in difficult situations? </a:t>
            </a:r>
          </a:p>
          <a:p>
            <a:pPr marL="898525" indent="-457200">
              <a:buFont typeface="+mj-lt"/>
              <a:buAutoNum type="alphaLcPeriod"/>
            </a:pPr>
            <a:endParaRPr lang="en-US" sz="2000" dirty="0">
              <a:latin typeface="Verdana" pitchFamily="34" charset="0"/>
              <a:ea typeface="Verdana" pitchFamily="34" charset="0"/>
              <a:cs typeface="Verdana"/>
              <a:sym typeface="Verdana"/>
            </a:endParaRPr>
          </a:p>
          <a:p>
            <a:pPr marL="898525" indent="-457200">
              <a:buFont typeface="+mj-lt"/>
              <a:buAutoNum type="alphaLcPeriod"/>
            </a:pPr>
            <a:endParaRPr lang="en-US" sz="2000" dirty="0">
              <a:latin typeface="Verdana" pitchFamily="34" charset="0"/>
              <a:ea typeface="Verdana" pitchFamily="34" charset="0"/>
              <a:cs typeface="Verdana"/>
              <a:sym typeface="Verdana"/>
            </a:endParaRPr>
          </a:p>
          <a:p>
            <a:pPr marL="898525" indent="-457200">
              <a:buFont typeface="+mj-lt"/>
              <a:buAutoNum type="alphaLcPeriod"/>
            </a:pPr>
            <a:endParaRPr lang="en-US" sz="2000" dirty="0">
              <a:latin typeface="Verdana" pitchFamily="34" charset="0"/>
              <a:ea typeface="Verdana" pitchFamily="34" charset="0"/>
              <a:cs typeface="Verdana"/>
              <a:sym typeface="Verdana"/>
            </a:endParaRPr>
          </a:p>
          <a:p>
            <a:pPr marL="898525" indent="-457200">
              <a:buFont typeface="+mj-lt"/>
              <a:buAutoNum type="alphaLcPeriod"/>
            </a:pPr>
            <a:r>
              <a:rPr lang="en-US" sz="2000" dirty="0">
                <a:latin typeface="Verdana" pitchFamily="34" charset="0"/>
                <a:ea typeface="Verdana" pitchFamily="34" charset="0"/>
                <a:cs typeface="Verdana"/>
                <a:sym typeface="Verdana"/>
              </a:rPr>
              <a:t>What is one thing you have done to help you when learning difficult concepts in mathematics?</a:t>
            </a:r>
            <a:endParaRPr sz="2000" dirty="0">
              <a:latin typeface="Verdana" pitchFamily="34" charset="0"/>
              <a:ea typeface="Verdana" pitchFamily="34" charset="0"/>
            </a:endParaRPr>
          </a:p>
        </p:txBody>
      </p:sp>
      <p:sp>
        <p:nvSpPr>
          <p:cNvPr id="170" name="Google Shape;170;p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241</a:t>
            </a:r>
            <a:endParaRPr i="1" dirty="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77" name="Google Shape;177;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8" name="Google Shape;178;p5"/>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179" name="Google Shape;179;p5"/>
          <p:cNvPicPr preferRelativeResize="0"/>
          <p:nvPr/>
        </p:nvPicPr>
        <p:blipFill rotWithShape="1">
          <a:blip r:embed="rId4">
            <a:alphaModFix/>
          </a:blip>
          <a:srcRect/>
          <a:stretch/>
        </p:blipFill>
        <p:spPr>
          <a:xfrm>
            <a:off x="3054096" y="2852923"/>
            <a:ext cx="1152144" cy="1152144"/>
          </a:xfrm>
          <a:prstGeom prst="rect">
            <a:avLst/>
          </a:prstGeom>
          <a:noFill/>
          <a:ln>
            <a:noFill/>
          </a:ln>
          <a:effectLst>
            <a:outerShdw blurRad="50800" dist="38100" dir="2700000" algn="tl" rotWithShape="0">
              <a:srgbClr val="000000">
                <a:alpha val="40000"/>
              </a:srgbClr>
            </a:outerShdw>
          </a:effectLst>
        </p:spPr>
      </p:pic>
      <p:sp>
        <p:nvSpPr>
          <p:cNvPr id="180" name="Google Shape;180;p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242</a:t>
            </a:r>
            <a:endParaRPr i="1">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87" name="Google Shape;187;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88" name="Google Shape;188;p6"/>
          <p:cNvSpPr txBox="1"/>
          <p:nvPr/>
        </p:nvSpPr>
        <p:spPr>
          <a:xfrm>
            <a:off x="1249259" y="-2626"/>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13.2.2 Collaboration: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Understanding Compound Interest</a:t>
            </a:r>
            <a:endParaRPr sz="1800" dirty="0"/>
          </a:p>
        </p:txBody>
      </p:sp>
      <p:pic>
        <p:nvPicPr>
          <p:cNvPr id="189" name="Google Shape;189;p6"/>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37305" y="285320"/>
            <a:ext cx="749808" cy="749808"/>
          </a:xfrm>
          <a:prstGeom prst="rect">
            <a:avLst/>
          </a:prstGeom>
          <a:noFill/>
          <a:ln>
            <a:noFill/>
          </a:ln>
          <a:effectLst>
            <a:outerShdw blurRad="50800" dist="38100" dir="2700000" algn="tl" rotWithShape="0">
              <a:srgbClr val="000000">
                <a:alpha val="40000"/>
              </a:srgbClr>
            </a:outerShdw>
          </a:effectLst>
        </p:spPr>
      </p:pic>
      <p:sp>
        <p:nvSpPr>
          <p:cNvPr id="191" name="Google Shape;191;p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242</a:t>
            </a:r>
            <a:endParaRPr i="1">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Google Shape;270;p9"/>
              <p:cNvSpPr/>
              <p:nvPr/>
            </p:nvSpPr>
            <p:spPr>
              <a:xfrm>
                <a:off x="1249259" y="1470393"/>
                <a:ext cx="9000000" cy="3060793"/>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a:spcAft>
                    <a:spcPts val="1200"/>
                  </a:spcAft>
                </a:pPr>
                <a:r>
                  <a:rPr lang="en-US" sz="2000" dirty="0">
                    <a:solidFill>
                      <a:srgbClr val="6C993D"/>
                    </a:solidFill>
                    <a:latin typeface="Verdana"/>
                    <a:ea typeface="Verdana"/>
                    <a:cs typeface="Verdana"/>
                    <a:sym typeface="Verdana"/>
                  </a:rPr>
                  <a:t>Compound interest is a method of computing interest. Interest is computed from the (original) principal and the interest earned during a certain time period. </a:t>
                </a:r>
              </a:p>
              <a:p>
                <a:pPr>
                  <a:spcAft>
                    <a:spcPts val="1200"/>
                  </a:spcAft>
                </a:pPr>
                <a:r>
                  <a:rPr lang="en-US" sz="2000" dirty="0">
                    <a:solidFill>
                      <a:srgbClr val="6C993D"/>
                    </a:solidFill>
                    <a:latin typeface="Verdana"/>
                    <a:ea typeface="Verdana"/>
                    <a:cs typeface="Verdana"/>
                    <a:sym typeface="Verdana"/>
                  </a:rPr>
                  <a:t>The formula  </a:t>
                </a:r>
                <a14:m>
                  <m:oMath xmlns:m="http://schemas.openxmlformats.org/officeDocument/2006/math">
                    <m:r>
                      <a:rPr lang="en-US" sz="2000" i="1" dirty="0" smtClean="0">
                        <a:solidFill>
                          <a:srgbClr val="6C993D"/>
                        </a:solidFill>
                        <a:latin typeface="Cambria Math"/>
                        <a:ea typeface="Verdana"/>
                        <a:cs typeface="Verdana"/>
                        <a:sym typeface="Verdana"/>
                      </a:rPr>
                      <m:t>𝐴</m:t>
                    </m:r>
                    <m:r>
                      <a:rPr lang="en-US" sz="2000" i="1" dirty="0" smtClean="0">
                        <a:solidFill>
                          <a:srgbClr val="6C993D"/>
                        </a:solidFill>
                        <a:latin typeface="Cambria Math"/>
                        <a:ea typeface="Verdana"/>
                        <a:cs typeface="Verdana"/>
                        <a:sym typeface="Verdana"/>
                      </a:rPr>
                      <m:t>=</m:t>
                    </m:r>
                    <m:r>
                      <a:rPr lang="en-US" sz="2000" i="1" dirty="0" smtClean="0">
                        <a:solidFill>
                          <a:srgbClr val="6C993D"/>
                        </a:solidFill>
                        <a:latin typeface="Cambria Math"/>
                        <a:ea typeface="Verdana"/>
                        <a:cs typeface="Verdana"/>
                        <a:sym typeface="Verdana"/>
                      </a:rPr>
                      <m:t>𝑃</m:t>
                    </m:r>
                    <m:r>
                      <a:rPr lang="en-US" sz="2000" i="1" dirty="0" smtClean="0">
                        <a:solidFill>
                          <a:srgbClr val="6C993D"/>
                        </a:solidFill>
                        <a:latin typeface="Cambria Math"/>
                        <a:ea typeface="Verdana"/>
                        <a:cs typeface="Verdana"/>
                        <a:sym typeface="Verdana"/>
                      </a:rPr>
                      <m:t>(1+</m:t>
                    </m:r>
                    <m:sSup>
                      <m:sSupPr>
                        <m:ctrlPr>
                          <a:rPr lang="en-US" sz="2000" i="1" dirty="0" smtClean="0">
                            <a:solidFill>
                              <a:srgbClr val="6C993D"/>
                            </a:solidFill>
                            <a:latin typeface="Cambria Math" panose="02040503050406030204" pitchFamily="18" charset="0"/>
                            <a:ea typeface="Verdana"/>
                            <a:sym typeface="Verdana"/>
                          </a:rPr>
                        </m:ctrlPr>
                      </m:sSupPr>
                      <m:e>
                        <m:f>
                          <m:fPr>
                            <m:ctrlPr>
                              <a:rPr lang="en-US" sz="2000" i="1" dirty="0" smtClean="0">
                                <a:solidFill>
                                  <a:srgbClr val="6C993D"/>
                                </a:solidFill>
                                <a:latin typeface="Cambria Math" panose="02040503050406030204" pitchFamily="18" charset="0"/>
                                <a:ea typeface="Verdana"/>
                                <a:sym typeface="Verdana"/>
                              </a:rPr>
                            </m:ctrlPr>
                          </m:fPr>
                          <m:num>
                            <m:r>
                              <a:rPr lang="en-PH" sz="2000" b="0" i="1" dirty="0" smtClean="0">
                                <a:solidFill>
                                  <a:srgbClr val="6C993D"/>
                                </a:solidFill>
                                <a:latin typeface="Cambria Math"/>
                                <a:ea typeface="Verdana"/>
                                <a:sym typeface="Verdana"/>
                              </a:rPr>
                              <m:t>𝑟</m:t>
                            </m:r>
                          </m:num>
                          <m:den>
                            <m:r>
                              <a:rPr lang="en-PH" sz="2000" b="0" i="1" dirty="0" smtClean="0">
                                <a:solidFill>
                                  <a:srgbClr val="6C993D"/>
                                </a:solidFill>
                                <a:latin typeface="Cambria Math"/>
                                <a:ea typeface="Verdana"/>
                                <a:sym typeface="Verdana"/>
                              </a:rPr>
                              <m:t>𝑛</m:t>
                            </m:r>
                          </m:den>
                        </m:f>
                        <m:r>
                          <a:rPr lang="en-PH" sz="2000" b="0" i="1" dirty="0" smtClean="0">
                            <a:solidFill>
                              <a:srgbClr val="6C993D"/>
                            </a:solidFill>
                            <a:latin typeface="Cambria Math"/>
                            <a:ea typeface="Verdana"/>
                            <a:sym typeface="Verdana"/>
                          </a:rPr>
                          <m:t>)</m:t>
                        </m:r>
                      </m:e>
                      <m:sup>
                        <m:r>
                          <a:rPr lang="en-PH" sz="2000" b="0" i="1" dirty="0" smtClean="0">
                            <a:solidFill>
                              <a:srgbClr val="6C993D"/>
                            </a:solidFill>
                            <a:latin typeface="Cambria Math"/>
                            <a:ea typeface="Verdana"/>
                            <a:sym typeface="Verdana"/>
                          </a:rPr>
                          <m:t>𝑛𝑡</m:t>
                        </m:r>
                      </m:sup>
                    </m:sSup>
                  </m:oMath>
                </a14:m>
                <a:r>
                  <a:rPr lang="en-US" sz="2000" dirty="0">
                    <a:solidFill>
                      <a:srgbClr val="6C993D"/>
                    </a:solidFill>
                    <a:latin typeface="Verdana"/>
                    <a:ea typeface="Verdana"/>
                    <a:cs typeface="Verdana"/>
                    <a:sym typeface="Verdana"/>
                  </a:rPr>
                  <a:t> is used to calculate the final amount owed or saved, where </a:t>
                </a:r>
                <a14:m>
                  <m:oMath xmlns:m="http://schemas.openxmlformats.org/officeDocument/2006/math">
                    <m:r>
                      <a:rPr lang="en-US" sz="2000" i="1" dirty="0" smtClean="0">
                        <a:solidFill>
                          <a:srgbClr val="6C993D"/>
                        </a:solidFill>
                        <a:latin typeface="Cambria Math"/>
                        <a:ea typeface="Verdana"/>
                        <a:cs typeface="Verdana"/>
                        <a:sym typeface="Verdana"/>
                      </a:rPr>
                      <m:t>𝐴</m:t>
                    </m:r>
                    <m:r>
                      <a:rPr lang="en-US" sz="2000" i="1" dirty="0" smtClean="0">
                        <a:solidFill>
                          <a:srgbClr val="6C993D"/>
                        </a:solidFill>
                        <a:latin typeface="Cambria Math"/>
                        <a:ea typeface="Verdana"/>
                        <a:cs typeface="Verdana"/>
                        <a:sym typeface="Verdana"/>
                      </a:rPr>
                      <m:t>=</m:t>
                    </m:r>
                  </m:oMath>
                </a14:m>
                <a:r>
                  <a:rPr lang="en-US" sz="2000" dirty="0">
                    <a:solidFill>
                      <a:srgbClr val="6C993D"/>
                    </a:solidFill>
                    <a:latin typeface="Verdana"/>
                    <a:ea typeface="Verdana"/>
                    <a:cs typeface="Verdana"/>
                    <a:sym typeface="Verdana"/>
                  </a:rPr>
                  <a:t> final amount, </a:t>
                </a:r>
                <a14:m>
                  <m:oMath xmlns:m="http://schemas.openxmlformats.org/officeDocument/2006/math">
                    <m:r>
                      <a:rPr lang="en-US" sz="2000" i="1" dirty="0" smtClean="0">
                        <a:solidFill>
                          <a:srgbClr val="6C993D"/>
                        </a:solidFill>
                        <a:latin typeface="Cambria Math"/>
                        <a:ea typeface="Verdana"/>
                        <a:cs typeface="Verdana"/>
                        <a:sym typeface="Verdana"/>
                      </a:rPr>
                      <m:t>𝑃</m:t>
                    </m:r>
                    <m:r>
                      <a:rPr lang="en-US" sz="2000" i="1" dirty="0" smtClean="0">
                        <a:solidFill>
                          <a:srgbClr val="6C993D"/>
                        </a:solidFill>
                        <a:latin typeface="Cambria Math"/>
                        <a:ea typeface="Verdana"/>
                        <a:cs typeface="Verdana"/>
                        <a:sym typeface="Verdana"/>
                      </a:rPr>
                      <m:t>=</m:t>
                    </m:r>
                  </m:oMath>
                </a14:m>
                <a:r>
                  <a:rPr lang="en-US" sz="2000" dirty="0">
                    <a:solidFill>
                      <a:srgbClr val="6C993D"/>
                    </a:solidFill>
                    <a:latin typeface="Verdana"/>
                    <a:ea typeface="Verdana"/>
                    <a:cs typeface="Verdana"/>
                    <a:sym typeface="Verdana"/>
                  </a:rPr>
                  <a:t> principal or original amount, </a:t>
                </a:r>
                <a14:m>
                  <m:oMath xmlns:m="http://schemas.openxmlformats.org/officeDocument/2006/math">
                    <m:r>
                      <a:rPr lang="en-US" sz="2000" i="1" dirty="0" smtClean="0">
                        <a:solidFill>
                          <a:srgbClr val="6C993D"/>
                        </a:solidFill>
                        <a:latin typeface="Cambria Math"/>
                        <a:ea typeface="Verdana"/>
                        <a:cs typeface="Verdana"/>
                        <a:sym typeface="Verdana"/>
                      </a:rPr>
                      <m:t>𝑡</m:t>
                    </m:r>
                    <m:r>
                      <a:rPr lang="en-US" sz="2000" i="1" dirty="0" smtClean="0">
                        <a:solidFill>
                          <a:srgbClr val="6C993D"/>
                        </a:solidFill>
                        <a:latin typeface="Cambria Math"/>
                        <a:ea typeface="Verdana"/>
                        <a:cs typeface="Verdana"/>
                        <a:sym typeface="Verdana"/>
                      </a:rPr>
                      <m:t>=</m:t>
                    </m:r>
                  </m:oMath>
                </a14:m>
                <a:r>
                  <a:rPr lang="en-US" sz="2000" dirty="0">
                    <a:solidFill>
                      <a:srgbClr val="6C993D"/>
                    </a:solidFill>
                    <a:latin typeface="Verdana"/>
                    <a:ea typeface="Verdana"/>
                    <a:cs typeface="Verdana"/>
                    <a:sym typeface="Verdana"/>
                  </a:rPr>
                  <a:t> number of years, </a:t>
                </a:r>
                <a14:m>
                  <m:oMath xmlns:m="http://schemas.openxmlformats.org/officeDocument/2006/math">
                    <m:r>
                      <a:rPr lang="en-US" sz="2000" i="1" dirty="0" smtClean="0">
                        <a:solidFill>
                          <a:srgbClr val="6C993D"/>
                        </a:solidFill>
                        <a:latin typeface="Cambria Math"/>
                        <a:ea typeface="Verdana"/>
                        <a:cs typeface="Verdana"/>
                        <a:sym typeface="Verdana"/>
                      </a:rPr>
                      <m:t>𝑛</m:t>
                    </m:r>
                    <m:r>
                      <a:rPr lang="en-US" sz="2000" i="1" dirty="0" smtClean="0">
                        <a:solidFill>
                          <a:srgbClr val="6C993D"/>
                        </a:solidFill>
                        <a:latin typeface="Cambria Math"/>
                        <a:ea typeface="Verdana"/>
                        <a:cs typeface="Verdana"/>
                        <a:sym typeface="Verdana"/>
                      </a:rPr>
                      <m:t>=</m:t>
                    </m:r>
                  </m:oMath>
                </a14:m>
                <a:r>
                  <a:rPr lang="en-US" sz="2000" dirty="0">
                    <a:solidFill>
                      <a:srgbClr val="6C993D"/>
                    </a:solidFill>
                    <a:latin typeface="Verdana"/>
                    <a:ea typeface="Verdana"/>
                    <a:cs typeface="Verdana"/>
                    <a:sym typeface="Verdana"/>
                  </a:rPr>
                  <a:t> number times per year the interest is being compounded, and </a:t>
                </a:r>
                <a14:m>
                  <m:oMath xmlns:m="http://schemas.openxmlformats.org/officeDocument/2006/math">
                    <m:r>
                      <a:rPr lang="en-US" sz="2000" i="1" dirty="0" smtClean="0">
                        <a:solidFill>
                          <a:srgbClr val="6C993D"/>
                        </a:solidFill>
                        <a:latin typeface="Cambria Math"/>
                        <a:ea typeface="Verdana"/>
                        <a:cs typeface="Verdana"/>
                        <a:sym typeface="Verdana"/>
                      </a:rPr>
                      <m:t>𝑟</m:t>
                    </m:r>
                    <m:r>
                      <a:rPr lang="en-US" sz="2000" i="1" dirty="0" smtClean="0">
                        <a:solidFill>
                          <a:srgbClr val="6C993D"/>
                        </a:solidFill>
                        <a:latin typeface="Cambria Math"/>
                        <a:ea typeface="Verdana"/>
                        <a:cs typeface="Verdana"/>
                        <a:sym typeface="Verdana"/>
                      </a:rPr>
                      <m:t>=</m:t>
                    </m:r>
                  </m:oMath>
                </a14:m>
                <a:r>
                  <a:rPr lang="en-US" sz="2000" dirty="0">
                    <a:solidFill>
                      <a:srgbClr val="6C993D"/>
                    </a:solidFill>
                    <a:latin typeface="Verdana"/>
                    <a:ea typeface="Verdana"/>
                    <a:cs typeface="Verdana"/>
                    <a:sym typeface="Verdana"/>
                  </a:rPr>
                  <a:t> rate of interest per year.</a:t>
                </a:r>
                <a:endParaRPr lang="en-US" sz="2000" dirty="0">
                  <a:latin typeface="Verdana" pitchFamily="34" charset="0"/>
                  <a:ea typeface="Verdana" pitchFamily="34" charset="0"/>
                </a:endParaRPr>
              </a:p>
            </p:txBody>
          </p:sp>
        </mc:Choice>
        <mc:Fallback xmlns="">
          <p:sp>
            <p:nvSpPr>
              <p:cNvPr id="11" name="Google Shape;270;p9"/>
              <p:cNvSpPr>
                <a:spLocks noRot="1" noChangeAspect="1" noMove="1" noResize="1" noEditPoints="1" noAdjustHandles="1" noChangeArrowheads="1" noChangeShapeType="1" noTextEdit="1"/>
              </p:cNvSpPr>
              <p:nvPr/>
            </p:nvSpPr>
            <p:spPr>
              <a:xfrm>
                <a:off x="1249259" y="1470393"/>
                <a:ext cx="9000000" cy="3060793"/>
              </a:xfrm>
              <a:prstGeom prst="roundRect">
                <a:avLst>
                  <a:gd name="adj" fmla="val 16667"/>
                </a:avLst>
              </a:prstGeom>
              <a:blipFill rotWithShape="1">
                <a:blip r:embed="rId5"/>
                <a:stretch>
                  <a:fillRect/>
                </a:stretch>
              </a:blip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a:lstStyle/>
              <a:p>
                <a:r>
                  <a:rPr lang="en-PH">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99" name="Google Shape;199;p7"/>
          <p:cNvSpPr txBox="1"/>
          <p:nvPr/>
        </p:nvSpPr>
        <p:spPr>
          <a:xfrm>
            <a:off x="541538" y="378351"/>
            <a:ext cx="10515600" cy="1631175"/>
          </a:xfrm>
          <a:prstGeom prst="rect">
            <a:avLst/>
          </a:prstGeom>
          <a:noFill/>
          <a:ln>
            <a:noFill/>
          </a:ln>
        </p:spPr>
        <p:txBody>
          <a:bodyPr spcFirstLastPara="1" wrap="square" lIns="91425" tIns="45700" rIns="91425" bIns="45700" anchor="t" anchorCtr="0">
            <a:spAutoFit/>
          </a:bodyPr>
          <a:lstStyle/>
          <a:p>
            <a:r>
              <a:rPr lang="en-US" sz="2000" dirty="0">
                <a:latin typeface="Verdana" pitchFamily="34" charset="0"/>
                <a:ea typeface="Verdana" pitchFamily="34" charset="0"/>
                <a:cs typeface="Verdana"/>
                <a:sym typeface="Verdana"/>
              </a:rPr>
              <a:t>When money is invested, compound interest means that interest is being accrued based on both the principal and previous interest earned. </a:t>
            </a:r>
            <a:endParaRPr sz="2000" dirty="0">
              <a:latin typeface="Verdana" pitchFamily="34" charset="0"/>
              <a:ea typeface="Verdana" pitchFamily="34" charset="0"/>
              <a:cs typeface="Cambria"/>
              <a:sym typeface="Cambria"/>
            </a:endParaRPr>
          </a:p>
          <a:p>
            <a:r>
              <a:rPr lang="en-US" sz="2000" dirty="0">
                <a:latin typeface="Verdana" pitchFamily="34" charset="0"/>
                <a:ea typeface="Verdana" pitchFamily="34" charset="0"/>
                <a:cs typeface="Verdana"/>
                <a:sym typeface="Verdana"/>
              </a:rPr>
              <a:t> </a:t>
            </a:r>
            <a:endParaRPr sz="2000" dirty="0">
              <a:latin typeface="Verdana" pitchFamily="34" charset="0"/>
              <a:ea typeface="Verdana" pitchFamily="34" charset="0"/>
              <a:cs typeface="Cambria"/>
              <a:sym typeface="Cambria"/>
            </a:endParaRPr>
          </a:p>
          <a:p>
            <a:r>
              <a:rPr lang="en-US" sz="2000" dirty="0">
                <a:latin typeface="Verdana" pitchFamily="34" charset="0"/>
                <a:ea typeface="Verdana" pitchFamily="34" charset="0"/>
                <a:cs typeface="Verdana"/>
                <a:sym typeface="Verdana"/>
              </a:rPr>
              <a:t>When money is owed, such as a credit card bill, compound interest means that interest is owed based on both the principal and previous interest accrued. </a:t>
            </a:r>
            <a:endParaRPr sz="2000" dirty="0">
              <a:latin typeface="Verdana" pitchFamily="34" charset="0"/>
              <a:ea typeface="Verdana" pitchFamily="34" charset="0"/>
              <a:cs typeface="Cambria"/>
              <a:sym typeface="Cambria"/>
            </a:endParaRPr>
          </a:p>
        </p:txBody>
      </p:sp>
      <p:sp>
        <p:nvSpPr>
          <p:cNvPr id="200" name="Google Shape;200;p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242</a:t>
            </a:r>
            <a:endParaRPr i="1">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Google Shape;199;p7"/>
              <p:cNvSpPr txBox="1"/>
              <p:nvPr/>
            </p:nvSpPr>
            <p:spPr>
              <a:xfrm>
                <a:off x="541538" y="378351"/>
                <a:ext cx="10515600" cy="5632271"/>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a:pPr>
                <a:r>
                  <a:rPr lang="en-US" sz="2000" dirty="0" err="1">
                    <a:latin typeface="Verdana" pitchFamily="34" charset="0"/>
                    <a:ea typeface="Verdana" pitchFamily="34" charset="0"/>
                  </a:rPr>
                  <a:t>Jasmyne</a:t>
                </a:r>
                <a:r>
                  <a:rPr lang="en-US" sz="2000" dirty="0">
                    <a:latin typeface="Verdana" pitchFamily="34" charset="0"/>
                    <a:ea typeface="Verdana" pitchFamily="34" charset="0"/>
                  </a:rPr>
                  <a:t> invests </a:t>
                </a:r>
                <a14:m>
                  <m:oMath xmlns:m="http://schemas.openxmlformats.org/officeDocument/2006/math">
                    <m:r>
                      <a:rPr lang="en-US" sz="2000" i="1" dirty="0" smtClean="0">
                        <a:latin typeface="Cambria Math"/>
                        <a:ea typeface="Verdana" pitchFamily="34" charset="0"/>
                      </a:rPr>
                      <m:t>$10,000</m:t>
                    </m:r>
                  </m:oMath>
                </a14:m>
                <a:r>
                  <a:rPr lang="en-US" sz="2000" dirty="0">
                    <a:latin typeface="Verdana" pitchFamily="34" charset="0"/>
                    <a:ea typeface="Verdana" pitchFamily="34" charset="0"/>
                  </a:rPr>
                  <a:t> into a savings account with an interest rate of </a:t>
                </a:r>
                <a14:m>
                  <m:oMath xmlns:m="http://schemas.openxmlformats.org/officeDocument/2006/math">
                    <m:r>
                      <a:rPr lang="en-US" sz="2000" i="1" dirty="0" smtClean="0">
                        <a:latin typeface="Cambria Math"/>
                        <a:ea typeface="Verdana" pitchFamily="34" charset="0"/>
                      </a:rPr>
                      <m:t>6%</m:t>
                    </m:r>
                  </m:oMath>
                </a14:m>
                <a:r>
                  <a:rPr lang="en-US" sz="2000" dirty="0">
                    <a:latin typeface="Verdana" pitchFamily="34" charset="0"/>
                    <a:ea typeface="Verdana" pitchFamily="34" charset="0"/>
                  </a:rPr>
                  <a:t> annual percentage rate (APR) that is compounded quarterly.</a:t>
                </a:r>
              </a:p>
              <a:p>
                <a:pPr marL="444500" lvl="1"/>
                <a:br>
                  <a:rPr lang="en-US" sz="2000" dirty="0">
                    <a:latin typeface="Verdana" pitchFamily="34" charset="0"/>
                    <a:ea typeface="Verdana" pitchFamily="34" charset="0"/>
                  </a:rPr>
                </a:br>
                <a:r>
                  <a:rPr lang="en-US" sz="2000" dirty="0">
                    <a:latin typeface="Verdana" pitchFamily="34" charset="0"/>
                    <a:ea typeface="Verdana" pitchFamily="34" charset="0"/>
                  </a:rPr>
                  <a:t>The table shows the amount of </a:t>
                </a:r>
                <a:r>
                  <a:rPr lang="en-US" sz="2000" dirty="0" err="1">
                    <a:latin typeface="Verdana" pitchFamily="34" charset="0"/>
                    <a:ea typeface="Verdana" pitchFamily="34" charset="0"/>
                  </a:rPr>
                  <a:t>Jasmyne’s</a:t>
                </a:r>
                <a:r>
                  <a:rPr lang="en-US" sz="2000" dirty="0">
                    <a:latin typeface="Verdana" pitchFamily="34" charset="0"/>
                    <a:ea typeface="Verdana" pitchFamily="34" charset="0"/>
                  </a:rPr>
                  <a:t> savings for different compounding periods after </a:t>
                </a:r>
                <a14:m>
                  <m:oMath xmlns:m="http://schemas.openxmlformats.org/officeDocument/2006/math">
                    <m:r>
                      <a:rPr lang="en-US" sz="2000" i="1" dirty="0" smtClean="0">
                        <a:latin typeface="Cambria Math"/>
                        <a:ea typeface="Verdana" pitchFamily="34" charset="0"/>
                      </a:rPr>
                      <m:t>1 </m:t>
                    </m:r>
                  </m:oMath>
                </a14:m>
                <a:r>
                  <a:rPr lang="en-US" sz="2000" dirty="0">
                    <a:latin typeface="Verdana" pitchFamily="34" charset="0"/>
                    <a:ea typeface="Verdana" pitchFamily="34" charset="0"/>
                  </a:rPr>
                  <a:t>and </a:t>
                </a:r>
                <a14:m>
                  <m:oMath xmlns:m="http://schemas.openxmlformats.org/officeDocument/2006/math">
                    <m:r>
                      <a:rPr lang="en-US" sz="2000" i="1" dirty="0" smtClean="0">
                        <a:latin typeface="Cambria Math"/>
                        <a:ea typeface="Verdana" pitchFamily="34" charset="0"/>
                      </a:rPr>
                      <m:t>10</m:t>
                    </m:r>
                  </m:oMath>
                </a14:m>
                <a:r>
                  <a:rPr lang="en-US" sz="2000" dirty="0">
                    <a:latin typeface="Verdana" pitchFamily="34" charset="0"/>
                    <a:ea typeface="Verdana" pitchFamily="34" charset="0"/>
                  </a:rPr>
                  <a:t> years.</a:t>
                </a:r>
              </a:p>
              <a:p>
                <a:endParaRPr lang="en-US" sz="2000" dirty="0">
                  <a:latin typeface="Verdana" pitchFamily="34" charset="0"/>
                  <a:ea typeface="Verdana" pitchFamily="34" charset="0"/>
                  <a:cs typeface="Cambria"/>
                  <a:sym typeface="Cambria"/>
                </a:endParaRPr>
              </a:p>
              <a:p>
                <a:endParaRPr lang="en-US" sz="2000" dirty="0">
                  <a:latin typeface="Verdana" pitchFamily="34" charset="0"/>
                  <a:ea typeface="Verdana" pitchFamily="34" charset="0"/>
                  <a:cs typeface="Cambria"/>
                  <a:sym typeface="Cambria"/>
                </a:endParaRPr>
              </a:p>
              <a:p>
                <a:endParaRPr lang="en-US" sz="2000" dirty="0">
                  <a:latin typeface="Verdana" pitchFamily="34" charset="0"/>
                  <a:ea typeface="Verdana" pitchFamily="34" charset="0"/>
                  <a:cs typeface="Cambria"/>
                  <a:sym typeface="Cambria"/>
                </a:endParaRPr>
              </a:p>
              <a:p>
                <a:endParaRPr lang="en-US" sz="2000" dirty="0">
                  <a:latin typeface="Verdana" pitchFamily="34" charset="0"/>
                  <a:ea typeface="Verdana" pitchFamily="34" charset="0"/>
                  <a:cs typeface="Cambria"/>
                  <a:sym typeface="Cambria"/>
                </a:endParaRPr>
              </a:p>
              <a:p>
                <a:endParaRPr lang="en-US" sz="2000" dirty="0">
                  <a:latin typeface="Verdana" pitchFamily="34" charset="0"/>
                  <a:ea typeface="Verdana" pitchFamily="34" charset="0"/>
                  <a:cs typeface="Cambria"/>
                  <a:sym typeface="Cambria"/>
                </a:endParaRPr>
              </a:p>
              <a:p>
                <a:endParaRPr lang="en-US" sz="2000" dirty="0">
                  <a:latin typeface="Verdana" pitchFamily="34" charset="0"/>
                  <a:ea typeface="Verdana" pitchFamily="34" charset="0"/>
                  <a:cs typeface="Cambria"/>
                  <a:sym typeface="Cambria"/>
                </a:endParaRPr>
              </a:p>
              <a:p>
                <a:endParaRPr lang="en-US" sz="2000" dirty="0">
                  <a:latin typeface="Verdana" pitchFamily="34" charset="0"/>
                  <a:ea typeface="Verdana" pitchFamily="34" charset="0"/>
                  <a:cs typeface="Cambria"/>
                  <a:sym typeface="Cambria"/>
                </a:endParaRPr>
              </a:p>
              <a:p>
                <a:endParaRPr lang="en-US" sz="2000" dirty="0">
                  <a:latin typeface="Verdana" pitchFamily="34" charset="0"/>
                  <a:ea typeface="Verdana" pitchFamily="34" charset="0"/>
                  <a:cs typeface="Cambria"/>
                  <a:sym typeface="Cambria"/>
                </a:endParaRPr>
              </a:p>
              <a:p>
                <a:pPr marL="900113" indent="-457200">
                  <a:buFont typeface="+mj-lt"/>
                  <a:buAutoNum type="alphaLcPeriod"/>
                </a:pPr>
                <a:r>
                  <a:rPr lang="en-US" sz="2000" dirty="0">
                    <a:latin typeface="Verdana" pitchFamily="34" charset="0"/>
                    <a:ea typeface="Verdana" pitchFamily="34" charset="0"/>
                  </a:rPr>
                  <a:t>What do you notice about the table?</a:t>
                </a:r>
              </a:p>
              <a:p>
                <a:pPr marL="900113" indent="-457200">
                  <a:buFont typeface="+mj-lt"/>
                  <a:buAutoNum type="alphaLcPeriod"/>
                </a:pPr>
                <a:endParaRPr lang="en-US" sz="2000" dirty="0">
                  <a:latin typeface="Verdana" pitchFamily="34" charset="0"/>
                  <a:ea typeface="Verdana" pitchFamily="34" charset="0"/>
                  <a:sym typeface="Cambria"/>
                </a:endParaRPr>
              </a:p>
              <a:p>
                <a:pPr marL="900113" indent="-457200">
                  <a:buFont typeface="+mj-lt"/>
                  <a:buAutoNum type="alphaLcPeriod"/>
                </a:pPr>
                <a:endParaRPr lang="en-US" sz="2000" dirty="0">
                  <a:latin typeface="Verdana" pitchFamily="34" charset="0"/>
                  <a:ea typeface="Verdana" pitchFamily="34" charset="0"/>
                  <a:sym typeface="Cambria"/>
                </a:endParaRPr>
              </a:p>
              <a:p>
                <a:pPr marL="900113" indent="-457200">
                  <a:buFont typeface="+mj-lt"/>
                  <a:buAutoNum type="alphaLcPeriod"/>
                </a:pPr>
                <a:r>
                  <a:rPr lang="en-US" sz="2000" dirty="0">
                    <a:latin typeface="Verdana" pitchFamily="34" charset="0"/>
                    <a:ea typeface="Verdana" pitchFamily="34" charset="0"/>
                  </a:rPr>
                  <a:t>Discuss with your partner why the amount after </a:t>
                </a:r>
                <a14:m>
                  <m:oMath xmlns:m="http://schemas.openxmlformats.org/officeDocument/2006/math">
                    <m:r>
                      <a:rPr lang="en-US" sz="2000" i="1" dirty="0" smtClean="0">
                        <a:latin typeface="Cambria Math"/>
                        <a:ea typeface="Verdana" pitchFamily="34" charset="0"/>
                      </a:rPr>
                      <m:t>1 </m:t>
                    </m:r>
                  </m:oMath>
                </a14:m>
                <a:r>
                  <a:rPr lang="en-US" sz="2000" dirty="0">
                    <a:latin typeface="Verdana" pitchFamily="34" charset="0"/>
                    <a:ea typeface="Verdana" pitchFamily="34" charset="0"/>
                  </a:rPr>
                  <a:t>year is different for each compounding period. Summarize your discussion.</a:t>
                </a:r>
              </a:p>
            </p:txBody>
          </p:sp>
        </mc:Choice>
        <mc:Fallback xmlns="">
          <p:sp>
            <p:nvSpPr>
              <p:cNvPr id="8" name="Google Shape;199;p7"/>
              <p:cNvSpPr txBox="1">
                <a:spLocks noRot="1" noChangeAspect="1" noMove="1" noResize="1" noEditPoints="1" noAdjustHandles="1" noChangeArrowheads="1" noChangeShapeType="1" noTextEdit="1"/>
              </p:cNvSpPr>
              <p:nvPr/>
            </p:nvSpPr>
            <p:spPr>
              <a:xfrm>
                <a:off x="541538" y="378351"/>
                <a:ext cx="10515600" cy="5632271"/>
              </a:xfrm>
              <a:prstGeom prst="rect">
                <a:avLst/>
              </a:prstGeom>
              <a:blipFill rotWithShape="1">
                <a:blip r:embed="rId3"/>
                <a:stretch>
                  <a:fillRect l="-638" t="-649" r="-696" b="-974"/>
                </a:stretch>
              </a:blipFill>
              <a:ln>
                <a:noFill/>
              </a:ln>
            </p:spPr>
            <p:txBody>
              <a:bodyPr/>
              <a:lstStyle/>
              <a:p>
                <a:r>
                  <a:rPr lang="en-PH">
                    <a:noFill/>
                  </a:rPr>
                  <a:t> </a:t>
                </a:r>
              </a:p>
            </p:txBody>
          </p:sp>
        </mc:Fallback>
      </mc:AlternateContent>
      <p:sp>
        <p:nvSpPr>
          <p:cNvPr id="206" name="Google Shape;206;p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graphicFrame>
            <p:nvGraphicFramePr>
              <p:cNvPr id="209" name="Google Shape;209;p8"/>
              <p:cNvGraphicFramePr/>
              <p:nvPr>
                <p:extLst>
                  <p:ext uri="{D42A27DB-BD31-4B8C-83A1-F6EECF244321}">
                    <p14:modId xmlns:p14="http://schemas.microsoft.com/office/powerpoint/2010/main" val="4205868535"/>
                  </p:ext>
                </p:extLst>
              </p:nvPr>
            </p:nvGraphicFramePr>
            <p:xfrm>
              <a:off x="2330366" y="2226241"/>
              <a:ext cx="7557650" cy="1885275"/>
            </p:xfrm>
            <a:graphic>
              <a:graphicData uri="http://schemas.openxmlformats.org/drawingml/2006/table">
                <a:tbl>
                  <a:tblPr>
                    <a:noFill/>
                    <a:tableStyleId>{EED9B209-D8D8-40D3-85A7-A46AD64EC929}</a:tableStyleId>
                  </a:tblPr>
                  <a:tblGrid>
                    <a:gridCol w="2112250">
                      <a:extLst>
                        <a:ext uri="{9D8B030D-6E8A-4147-A177-3AD203B41FA5}">
                          <a16:colId xmlns:a16="http://schemas.microsoft.com/office/drawing/2014/main" val="20000"/>
                        </a:ext>
                      </a:extLst>
                    </a:gridCol>
                    <a:gridCol w="2925250">
                      <a:extLst>
                        <a:ext uri="{9D8B030D-6E8A-4147-A177-3AD203B41FA5}">
                          <a16:colId xmlns:a16="http://schemas.microsoft.com/office/drawing/2014/main" val="20001"/>
                        </a:ext>
                      </a:extLst>
                    </a:gridCol>
                    <a:gridCol w="2520150">
                      <a:extLst>
                        <a:ext uri="{9D8B030D-6E8A-4147-A177-3AD203B41FA5}">
                          <a16:colId xmlns:a16="http://schemas.microsoft.com/office/drawing/2014/main" val="20002"/>
                        </a:ext>
                      </a:extLst>
                    </a:gridCol>
                  </a:tblGrid>
                  <a:tr h="616575">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Compounding Period</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dirty="0">
                              <a:latin typeface="Verdana"/>
                              <a:ea typeface="Verdana"/>
                              <a:cs typeface="Verdana"/>
                              <a:sym typeface="Verdana"/>
                            </a:rPr>
                            <a:t>Amount After </a:t>
                          </a:r>
                          <a14:m>
                            <m:oMath xmlns:m="http://schemas.openxmlformats.org/officeDocument/2006/math">
                              <m:r>
                                <a:rPr lang="en-US" sz="2000" b="1" i="1" dirty="0" smtClean="0">
                                  <a:latin typeface="Cambria Math"/>
                                  <a:ea typeface="Verdana"/>
                                  <a:cs typeface="Verdana"/>
                                  <a:sym typeface="Verdana"/>
                                </a:rPr>
                                <m:t>𝟏</m:t>
                              </m:r>
                              <m:r>
                                <a:rPr lang="en-US" sz="2000" b="1" i="1" dirty="0" smtClean="0">
                                  <a:latin typeface="Cambria Math"/>
                                  <a:ea typeface="Verdana"/>
                                  <a:cs typeface="Verdana"/>
                                  <a:sym typeface="Verdana"/>
                                </a:rPr>
                                <m:t> </m:t>
                              </m:r>
                            </m:oMath>
                          </a14:m>
                          <a:r>
                            <a:rPr lang="en-US" sz="2000" b="1" dirty="0">
                              <a:latin typeface="Verdana"/>
                              <a:ea typeface="Verdana"/>
                              <a:cs typeface="Verdana"/>
                              <a:sym typeface="Verdana"/>
                            </a:rPr>
                            <a:t>Year</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dirty="0">
                              <a:latin typeface="Verdana"/>
                              <a:ea typeface="Verdana"/>
                              <a:cs typeface="Verdana"/>
                              <a:sym typeface="Verdana"/>
                            </a:rPr>
                            <a:t>Amount After </a:t>
                          </a:r>
                          <a14:m>
                            <m:oMath xmlns:m="http://schemas.openxmlformats.org/officeDocument/2006/math">
                              <m:r>
                                <a:rPr lang="en-US" sz="2000" b="1" i="1" dirty="0" smtClean="0">
                                  <a:latin typeface="Cambria Math"/>
                                  <a:ea typeface="Verdana"/>
                                  <a:cs typeface="Verdana"/>
                                  <a:sym typeface="Verdana"/>
                                </a:rPr>
                                <m:t>𝟏𝟎</m:t>
                              </m:r>
                              <m:r>
                                <a:rPr lang="en-US" sz="2000" b="1" i="1" dirty="0" smtClean="0">
                                  <a:latin typeface="Cambria Math"/>
                                  <a:ea typeface="Verdana"/>
                                  <a:cs typeface="Verdana"/>
                                  <a:sym typeface="Verdana"/>
                                </a:rPr>
                                <m:t> </m:t>
                              </m:r>
                            </m:oMath>
                          </a14:m>
                          <a:r>
                            <a:rPr lang="en-US" sz="2000" b="1" dirty="0">
                              <a:latin typeface="Verdana"/>
                              <a:ea typeface="Verdana"/>
                              <a:cs typeface="Verdana"/>
                              <a:sym typeface="Verdana"/>
                            </a:rPr>
                            <a:t>Years</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422900">
                    <a:tc>
                      <a:txBody>
                        <a:bodyPr/>
                        <a:lstStyle/>
                        <a:p>
                          <a:pPr marL="0" marR="0" lvl="0" indent="0" algn="ctr" rtl="0">
                            <a:lnSpc>
                              <a:spcPct val="100000"/>
                            </a:lnSpc>
                            <a:spcBef>
                              <a:spcPts val="0"/>
                            </a:spcBef>
                            <a:spcAft>
                              <a:spcPts val="0"/>
                            </a:spcAft>
                            <a:buNone/>
                          </a:pPr>
                          <a:r>
                            <a:rPr lang="en-US" sz="2000" u="none" strike="noStrike" cap="none" dirty="0">
                              <a:latin typeface="Verdana"/>
                              <a:ea typeface="Verdana"/>
                              <a:cs typeface="Verdana"/>
                              <a:sym typeface="Verdana"/>
                            </a:rPr>
                            <a:t>quarterly</a:t>
                          </a:r>
                          <a:endParaRPr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rPr>
                                  <m:t>$10,613.64</m:t>
                                </m:r>
                              </m:oMath>
                            </m:oMathPara>
                          </a14:m>
                          <a:endParaRPr sz="2000" u="none" strike="noStrike" cap="none"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Font typeface="Arial"/>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rPr>
                                  <m:t>$18,140.18</m:t>
                                </m:r>
                              </m:oMath>
                            </m:oMathPara>
                          </a14:m>
                          <a:endParaRPr sz="1400" u="none" strike="noStrike" cap="none"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2900">
                    <a:tc>
                      <a:txBody>
                        <a:bodyPr/>
                        <a:lstStyle/>
                        <a:p>
                          <a:pPr marL="0" marR="0" lvl="0" indent="0" algn="ctr" rtl="0">
                            <a:lnSpc>
                              <a:spcPct val="100000"/>
                            </a:lnSpc>
                            <a:spcBef>
                              <a:spcPts val="0"/>
                            </a:spcBef>
                            <a:spcAft>
                              <a:spcPts val="0"/>
                            </a:spcAft>
                            <a:buNone/>
                          </a:pPr>
                          <a:r>
                            <a:rPr lang="en-US" sz="2000" u="none" strike="noStrike" cap="none" dirty="0">
                              <a:latin typeface="Verdana"/>
                              <a:ea typeface="Verdana"/>
                              <a:cs typeface="Verdana"/>
                              <a:sym typeface="Verdana"/>
                            </a:rPr>
                            <a:t>monthly</a:t>
                          </a:r>
                          <a:endParaRPr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Font typeface="Arial"/>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rPr>
                                  <m:t>$10,616.78</m:t>
                                </m:r>
                              </m:oMath>
                            </m:oMathPara>
                          </a14:m>
                          <a:endParaRPr sz="1400" u="none" strike="noStrike" cap="none"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Font typeface="Arial"/>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rPr>
                                  <m:t>$18,193.97</m:t>
                                </m:r>
                              </m:oMath>
                            </m:oMathPara>
                          </a14:m>
                          <a:endParaRPr sz="1400" u="none" strike="noStrike" cap="none"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2900">
                    <a:tc>
                      <a:txBody>
                        <a:bodyPr/>
                        <a:lstStyle/>
                        <a:p>
                          <a:pPr marL="0" marR="0" lvl="0" indent="0" algn="ctr" rtl="0">
                            <a:lnSpc>
                              <a:spcPct val="100000"/>
                            </a:lnSpc>
                            <a:spcBef>
                              <a:spcPts val="0"/>
                            </a:spcBef>
                            <a:spcAft>
                              <a:spcPts val="0"/>
                            </a:spcAft>
                            <a:buNone/>
                          </a:pPr>
                          <a:r>
                            <a:rPr lang="en-US" sz="2000" u="none" strike="noStrike" cap="none" dirty="0">
                              <a:latin typeface="Verdana"/>
                              <a:ea typeface="Verdana"/>
                              <a:cs typeface="Verdana"/>
                              <a:sym typeface="Verdana"/>
                            </a:rPr>
                            <a:t>daily</a:t>
                          </a:r>
                          <a:endParaRPr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Font typeface="Arial"/>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rPr>
                                  <m:t>$10,618.31</m:t>
                                </m:r>
                              </m:oMath>
                            </m:oMathPara>
                          </a14:m>
                          <a:endParaRPr sz="1400" u="none" strike="noStrike" cap="none"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Font typeface="Arial"/>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rPr>
                                  <m:t>$18,220.29</m:t>
                                </m:r>
                              </m:oMath>
                            </m:oMathPara>
                          </a14:m>
                          <a:endParaRPr sz="1400" u="none" strike="noStrike" cap="none"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09" name="Google Shape;209;p8"/>
              <p:cNvGraphicFramePr/>
              <p:nvPr>
                <p:extLst>
                  <p:ext uri="{D42A27DB-BD31-4B8C-83A1-F6EECF244321}">
                    <p14:modId xmlns:p14="http://schemas.microsoft.com/office/powerpoint/2010/main" val="4205868535"/>
                  </p:ext>
                </p:extLst>
              </p:nvPr>
            </p:nvGraphicFramePr>
            <p:xfrm>
              <a:off x="2330366" y="2226241"/>
              <a:ext cx="7557650" cy="1885275"/>
            </p:xfrm>
            <a:graphic>
              <a:graphicData uri="http://schemas.openxmlformats.org/drawingml/2006/table">
                <a:tbl>
                  <a:tblPr>
                    <a:noFill/>
                    <a:tableStyleId>{EED9B209-D8D8-40D3-85A7-A46AD64EC929}</a:tableStyleId>
                  </a:tblPr>
                  <a:tblGrid>
                    <a:gridCol w="2112250">
                      <a:extLst>
                        <a:ext uri="{9D8B030D-6E8A-4147-A177-3AD203B41FA5}">
                          <a16:colId xmlns:a16="http://schemas.microsoft.com/office/drawing/2014/main" xmlns="" val="20000"/>
                        </a:ext>
                      </a:extLst>
                    </a:gridCol>
                    <a:gridCol w="2925250">
                      <a:extLst>
                        <a:ext uri="{9D8B030D-6E8A-4147-A177-3AD203B41FA5}">
                          <a16:colId xmlns:a16="http://schemas.microsoft.com/office/drawing/2014/main" xmlns="" val="20001"/>
                        </a:ext>
                      </a:extLst>
                    </a:gridCol>
                    <a:gridCol w="2520150">
                      <a:extLst>
                        <a:ext uri="{9D8B030D-6E8A-4147-A177-3AD203B41FA5}">
                          <a16:colId xmlns:a16="http://schemas.microsoft.com/office/drawing/2014/main" xmlns="" val="20002"/>
                        </a:ext>
                      </a:extLst>
                    </a:gridCol>
                  </a:tblGrid>
                  <a:tr h="616575">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Compounding Period</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2292" t="-11881" r="-86250" b="-221782"/>
                          </a:stretch>
                        </a:blipFill>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242" t="-11881" r="-242" b="-221782"/>
                          </a:stretch>
                        </a:blipFill>
                      </a:tcPr>
                    </a:tc>
                    <a:extLst>
                      <a:ext uri="{0D108BD9-81ED-4DB2-BD59-A6C34878D82A}">
                        <a16:rowId xmlns:a16="http://schemas.microsoft.com/office/drawing/2014/main" xmlns="" val="10000"/>
                      </a:ext>
                    </a:extLst>
                  </a:tr>
                  <a:tr h="422900">
                    <a:tc>
                      <a:txBody>
                        <a:bodyPr/>
                        <a:lstStyle/>
                        <a:p>
                          <a:pPr marL="0" marR="0" lvl="0" indent="0" algn="ctr" rtl="0">
                            <a:lnSpc>
                              <a:spcPct val="100000"/>
                            </a:lnSpc>
                            <a:spcBef>
                              <a:spcPts val="0"/>
                            </a:spcBef>
                            <a:spcAft>
                              <a:spcPts val="0"/>
                            </a:spcAft>
                            <a:buNone/>
                          </a:pPr>
                          <a:r>
                            <a:rPr lang="en-US" sz="2000" u="none" strike="noStrike" cap="none" dirty="0" smtClean="0">
                              <a:latin typeface="Verdana"/>
                              <a:ea typeface="Verdana"/>
                              <a:cs typeface="Verdana"/>
                              <a:sym typeface="Verdana"/>
                            </a:rPr>
                            <a:t>quarterly</a:t>
                          </a:r>
                          <a:endParaRPr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2292" t="-163768" r="-86250" b="-224638"/>
                          </a:stretch>
                        </a:blipFill>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242" t="-163768" r="-242" b="-224638"/>
                          </a:stretch>
                        </a:blipFill>
                      </a:tcPr>
                    </a:tc>
                    <a:extLst>
                      <a:ext uri="{0D108BD9-81ED-4DB2-BD59-A6C34878D82A}">
                        <a16:rowId xmlns:a16="http://schemas.microsoft.com/office/drawing/2014/main" xmlns="" val="10001"/>
                      </a:ext>
                    </a:extLst>
                  </a:tr>
                  <a:tr h="422900">
                    <a:tc>
                      <a:txBody>
                        <a:bodyPr/>
                        <a:lstStyle/>
                        <a:p>
                          <a:pPr marL="0" marR="0" lvl="0" indent="0" algn="ctr" rtl="0">
                            <a:lnSpc>
                              <a:spcPct val="100000"/>
                            </a:lnSpc>
                            <a:spcBef>
                              <a:spcPts val="0"/>
                            </a:spcBef>
                            <a:spcAft>
                              <a:spcPts val="0"/>
                            </a:spcAft>
                            <a:buNone/>
                          </a:pPr>
                          <a:r>
                            <a:rPr lang="en-US" sz="2000" u="none" strike="noStrike" cap="none" dirty="0">
                              <a:latin typeface="Verdana"/>
                              <a:ea typeface="Verdana"/>
                              <a:cs typeface="Verdana"/>
                              <a:sym typeface="Verdana"/>
                            </a:rPr>
                            <a:t>monthly</a:t>
                          </a:r>
                          <a:endParaRPr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2292" t="-260000" r="-86250" b="-121429"/>
                          </a:stretch>
                        </a:blipFill>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242" t="-260000" r="-242" b="-121429"/>
                          </a:stretch>
                        </a:blipFill>
                      </a:tcPr>
                    </a:tc>
                    <a:extLst>
                      <a:ext uri="{0D108BD9-81ED-4DB2-BD59-A6C34878D82A}">
                        <a16:rowId xmlns:a16="http://schemas.microsoft.com/office/drawing/2014/main" xmlns="" val="10002"/>
                      </a:ext>
                    </a:extLst>
                  </a:tr>
                  <a:tr h="422900">
                    <a:tc>
                      <a:txBody>
                        <a:bodyPr/>
                        <a:lstStyle/>
                        <a:p>
                          <a:pPr marL="0" marR="0" lvl="0" indent="0" algn="ctr" rtl="0">
                            <a:lnSpc>
                              <a:spcPct val="100000"/>
                            </a:lnSpc>
                            <a:spcBef>
                              <a:spcPts val="0"/>
                            </a:spcBef>
                            <a:spcAft>
                              <a:spcPts val="0"/>
                            </a:spcAft>
                            <a:buNone/>
                          </a:pPr>
                          <a:r>
                            <a:rPr lang="en-US" sz="2000" u="none" strike="noStrike" cap="none" dirty="0">
                              <a:latin typeface="Verdana"/>
                              <a:ea typeface="Verdana"/>
                              <a:cs typeface="Verdana"/>
                              <a:sym typeface="Verdana"/>
                            </a:rPr>
                            <a:t>daily</a:t>
                          </a:r>
                          <a:endParaRPr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2292" t="-365217" r="-86250" b="-23188"/>
                          </a:stretch>
                        </a:blipFill>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242" t="-365217" r="-242" b="-23188"/>
                          </a:stretch>
                        </a:blipFill>
                      </a:tcPr>
                    </a:tc>
                    <a:extLst>
                      <a:ext uri="{0D108BD9-81ED-4DB2-BD59-A6C34878D82A}">
                        <a16:rowId xmlns:a16="http://schemas.microsoft.com/office/drawing/2014/main" xmlns="" val="10003"/>
                      </a:ext>
                    </a:extLst>
                  </a:tr>
                </a:tbl>
              </a:graphicData>
            </a:graphic>
          </p:graphicFrame>
        </mc:Fallback>
      </mc:AlternateContent>
      <p:sp>
        <p:nvSpPr>
          <p:cNvPr id="211" name="Google Shape;211;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242</a:t>
            </a:r>
            <a:endParaRPr i="1">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18" name="Google Shape;218;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19" name="Google Shape;219;p9"/>
          <p:cNvSpPr txBox="1"/>
          <p:nvPr/>
        </p:nvSpPr>
        <p:spPr>
          <a:xfrm>
            <a:off x="532661" y="387229"/>
            <a:ext cx="10515600" cy="378561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a:ea typeface="Verdana"/>
                <a:cs typeface="Verdana"/>
                <a:sym typeface="Verdana"/>
              </a:rPr>
              <a:t>Work with your partner to explain why compound interest for investments, such as savings accounts or certificates of deposits (CD), are better than simple interest.</a:t>
            </a:r>
            <a:endParaRPr dirty="0"/>
          </a:p>
          <a:p>
            <a:pPr marL="457200" indent="-457200">
              <a:buFont typeface="+mj-lt"/>
              <a:buAutoNum type="arabicPeriod" startAt="2"/>
            </a:pPr>
            <a:endParaRPr sz="2000" dirty="0">
              <a:latin typeface="Verdana"/>
              <a:ea typeface="Verdana"/>
              <a:cs typeface="Verdana"/>
              <a:sym typeface="Verdana"/>
            </a:endParaRPr>
          </a:p>
          <a:p>
            <a:pPr marL="457200" indent="-457200">
              <a:buFont typeface="+mj-lt"/>
              <a:buAutoNum type="arabicPeriod" startAt="2"/>
            </a:pPr>
            <a:endParaRPr sz="2000" dirty="0">
              <a:latin typeface="Verdana"/>
              <a:ea typeface="Verdana"/>
              <a:cs typeface="Verdana"/>
              <a:sym typeface="Verdana"/>
            </a:endParaRPr>
          </a:p>
          <a:p>
            <a:pPr marL="457200" indent="-457200">
              <a:buFont typeface="+mj-lt"/>
              <a:buAutoNum type="arabicPeriod" startAt="2"/>
            </a:pPr>
            <a:endParaRPr sz="2000" dirty="0">
              <a:latin typeface="Verdana"/>
              <a:ea typeface="Verdana"/>
              <a:cs typeface="Verdana"/>
              <a:sym typeface="Verdana"/>
            </a:endParaRPr>
          </a:p>
          <a:p>
            <a:pPr marL="457200" indent="-457200">
              <a:buFont typeface="+mj-lt"/>
              <a:buAutoNum type="arabicPeriod" startAt="2"/>
            </a:pPr>
            <a:endParaRPr sz="2000" dirty="0">
              <a:latin typeface="Verdana"/>
              <a:ea typeface="Verdana"/>
              <a:cs typeface="Verdana"/>
              <a:sym typeface="Verdana"/>
            </a:endParaRPr>
          </a:p>
          <a:p>
            <a:pPr marL="457200" indent="-457200">
              <a:buFont typeface="+mj-lt"/>
              <a:buAutoNum type="arabicPeriod" startAt="2"/>
            </a:pPr>
            <a:endParaRPr sz="2000" dirty="0">
              <a:latin typeface="Verdana"/>
              <a:ea typeface="Verdana"/>
              <a:cs typeface="Verdana"/>
              <a:sym typeface="Verdana"/>
            </a:endParaRPr>
          </a:p>
          <a:p>
            <a:pPr marL="457200" indent="-457200">
              <a:buFont typeface="+mj-lt"/>
              <a:buAutoNum type="arabicPeriod" startAt="2"/>
            </a:pPr>
            <a:endParaRPr sz="2000" dirty="0">
              <a:latin typeface="Verdana"/>
              <a:ea typeface="Verdana"/>
              <a:cs typeface="Verdana"/>
              <a:sym typeface="Verdana"/>
            </a:endParaRPr>
          </a:p>
          <a:p>
            <a:pPr marL="457200" indent="-457200">
              <a:buFont typeface="+mj-lt"/>
              <a:buAutoNum type="arabicPeriod" startAt="2"/>
            </a:pPr>
            <a:endParaRPr sz="2000" dirty="0">
              <a:latin typeface="Verdana"/>
              <a:ea typeface="Verdana"/>
              <a:cs typeface="Verdana"/>
              <a:sym typeface="Verdana"/>
            </a:endParaRPr>
          </a:p>
          <a:p>
            <a:pPr marL="457200" indent="-457200">
              <a:buFont typeface="+mj-lt"/>
              <a:buAutoNum type="arabicPeriod" startAt="2"/>
            </a:pPr>
            <a:r>
              <a:rPr lang="en-US" sz="2000" dirty="0">
                <a:latin typeface="Verdana"/>
                <a:ea typeface="Verdana"/>
                <a:cs typeface="Verdana"/>
                <a:sym typeface="Verdana"/>
              </a:rPr>
              <a:t>Work with your partner to explain why compound interest for loans, such as a car loan, is not better than simple interest.</a:t>
            </a:r>
            <a:endParaRPr dirty="0"/>
          </a:p>
        </p:txBody>
      </p:sp>
      <p:sp>
        <p:nvSpPr>
          <p:cNvPr id="220" name="Google Shape;220;p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243</a:t>
            </a:r>
            <a:endParaRPr i="1">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0"/>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27" name="Google Shape;227;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28" name="Google Shape;228;p10"/>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229" name="Google Shape;229;p10"/>
          <p:cNvPicPr preferRelativeResize="0"/>
          <p:nvPr/>
        </p:nvPicPr>
        <p:blipFill rotWithShape="1">
          <a:blip r:embed="rId4">
            <a:alphaModFix/>
          </a:blip>
          <a:srcRect/>
          <a:stretch/>
        </p:blipFill>
        <p:spPr>
          <a:xfrm>
            <a:off x="3054096" y="2849920"/>
            <a:ext cx="1145792" cy="1158150"/>
          </a:xfrm>
          <a:prstGeom prst="rect">
            <a:avLst/>
          </a:prstGeom>
          <a:noFill/>
          <a:ln>
            <a:noFill/>
          </a:ln>
          <a:effectLst>
            <a:outerShdw blurRad="50800" dist="38100" dir="2700000" algn="tl" rotWithShape="0">
              <a:srgbClr val="000000">
                <a:alpha val="40000"/>
              </a:srgbClr>
            </a:outerShdw>
          </a:effectLst>
        </p:spPr>
      </p:pic>
      <p:sp>
        <p:nvSpPr>
          <p:cNvPr id="230" name="Google Shape;230;p1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243</a:t>
            </a:r>
            <a:endParaRPr i="1" dirty="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7" name="Google Shape;237;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8" name="Google Shape;238;p11"/>
          <p:cNvSpPr txBox="1"/>
          <p:nvPr/>
        </p:nvSpPr>
        <p:spPr>
          <a:xfrm>
            <a:off x="1254663" y="0"/>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13.2.3 Guided Instruction: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Compound Interest</a:t>
            </a:r>
            <a:endParaRPr sz="1800" dirty="0"/>
          </a:p>
        </p:txBody>
      </p:sp>
      <p:pic>
        <p:nvPicPr>
          <p:cNvPr id="239" name="Google Shape;239;p11"/>
          <p:cNvPicPr preferRelativeResize="0"/>
          <p:nvPr/>
        </p:nvPicPr>
        <p:blipFill rotWithShape="1">
          <a:blip r:embed="rId4">
            <a:alphaModFix/>
          </a:blip>
          <a:srcRect/>
          <a:stretch/>
        </p:blipFill>
        <p:spPr>
          <a:xfrm>
            <a:off x="438559" y="287828"/>
            <a:ext cx="747300" cy="747300"/>
          </a:xfrm>
          <a:prstGeom prst="rect">
            <a:avLst/>
          </a:prstGeom>
          <a:noFill/>
          <a:ln>
            <a:noFill/>
          </a:ln>
          <a:effectLst>
            <a:outerShdw blurRad="50800" dist="38100" dir="2700000" algn="tl" rotWithShape="0">
              <a:srgbClr val="000000">
                <a:alpha val="40000"/>
              </a:srgbClr>
            </a:outerShdw>
          </a:effectLst>
        </p:spPr>
      </p:pic>
      <p:pic>
        <p:nvPicPr>
          <p:cNvPr id="241" name="Google Shape;241;p11"/>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775654" y="2321531"/>
            <a:ext cx="4029611" cy="4029611"/>
          </a:xfrm>
          <a:prstGeom prst="rect">
            <a:avLst/>
          </a:prstGeom>
          <a:noFill/>
          <a:ln>
            <a:noFill/>
          </a:ln>
        </p:spPr>
      </p:pic>
      <p:sp>
        <p:nvSpPr>
          <p:cNvPr id="242" name="Google Shape;242;p1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Google Shape;169;p4"/>
              <p:cNvSpPr txBox="1"/>
              <p:nvPr/>
            </p:nvSpPr>
            <p:spPr>
              <a:xfrm>
                <a:off x="532660" y="1465925"/>
                <a:ext cx="10515600" cy="707846"/>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a:pPr>
                <a:r>
                  <a:rPr lang="en-US" sz="2000" dirty="0">
                    <a:latin typeface="Verdana" pitchFamily="34" charset="0"/>
                    <a:ea typeface="Verdana" pitchFamily="34" charset="0"/>
                  </a:rPr>
                  <a:t>The graph shows an initial investment of </a:t>
                </a:r>
                <a14:m>
                  <m:oMath xmlns:m="http://schemas.openxmlformats.org/officeDocument/2006/math">
                    <m:r>
                      <a:rPr lang="en-US" sz="2000" i="1" dirty="0" smtClean="0">
                        <a:latin typeface="Cambria Math"/>
                        <a:ea typeface="Verdana" pitchFamily="34" charset="0"/>
                      </a:rPr>
                      <m:t>$10,000</m:t>
                    </m:r>
                  </m:oMath>
                </a14:m>
                <a:r>
                  <a:rPr lang="en-US" sz="2000" dirty="0">
                    <a:latin typeface="Verdana" pitchFamily="34" charset="0"/>
                    <a:ea typeface="Verdana" pitchFamily="34" charset="0"/>
                  </a:rPr>
                  <a:t> in a savings account. </a:t>
                </a:r>
                <a:br>
                  <a:rPr lang="en-US" sz="2000" dirty="0">
                    <a:latin typeface="Verdana" pitchFamily="34" charset="0"/>
                    <a:ea typeface="Verdana" pitchFamily="34" charset="0"/>
                  </a:rPr>
                </a:br>
                <a:r>
                  <a:rPr lang="en-US" sz="2000" dirty="0">
                    <a:latin typeface="Verdana" pitchFamily="34" charset="0"/>
                    <a:ea typeface="Verdana" pitchFamily="34" charset="0"/>
                  </a:rPr>
                  <a:t>The interest rate is </a:t>
                </a:r>
                <a14:m>
                  <m:oMath xmlns:m="http://schemas.openxmlformats.org/officeDocument/2006/math">
                    <m:r>
                      <a:rPr lang="en-US" sz="2000" i="1" dirty="0" smtClean="0">
                        <a:latin typeface="Cambria Math"/>
                        <a:ea typeface="Verdana" pitchFamily="34" charset="0"/>
                      </a:rPr>
                      <m:t>6%</m:t>
                    </m:r>
                  </m:oMath>
                </a14:m>
                <a:r>
                  <a:rPr lang="en-US" sz="2000" dirty="0">
                    <a:latin typeface="Verdana" pitchFamily="34" charset="0"/>
                    <a:ea typeface="Verdana" pitchFamily="34" charset="0"/>
                  </a:rPr>
                  <a:t> compounded quarterly. </a:t>
                </a:r>
              </a:p>
            </p:txBody>
          </p:sp>
        </mc:Choice>
        <mc:Fallback xmlns="">
          <p:sp>
            <p:nvSpPr>
              <p:cNvPr id="10" name="Google Shape;169;p4"/>
              <p:cNvSpPr txBox="1">
                <a:spLocks noRot="1" noChangeAspect="1" noMove="1" noResize="1" noEditPoints="1" noAdjustHandles="1" noChangeArrowheads="1" noChangeShapeType="1" noTextEdit="1"/>
              </p:cNvSpPr>
              <p:nvPr/>
            </p:nvSpPr>
            <p:spPr>
              <a:xfrm>
                <a:off x="532660" y="1465925"/>
                <a:ext cx="10515600" cy="707846"/>
              </a:xfrm>
              <a:prstGeom prst="rect">
                <a:avLst/>
              </a:prstGeom>
              <a:blipFill rotWithShape="1">
                <a:blip r:embed="rId6"/>
                <a:stretch>
                  <a:fillRect l="-580" t="-5128" b="-13675"/>
                </a:stretch>
              </a:blipFill>
              <a:ln>
                <a:noFill/>
              </a:ln>
            </p:spPr>
            <p:txBody>
              <a:bodyPr/>
              <a:lstStyle/>
              <a:p>
                <a:r>
                  <a:rPr lang="en-PH">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49" name="Google Shape;249;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51" name="Google Shape;251;p1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243</a:t>
            </a:r>
            <a:endParaRPr i="1">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Google Shape;219;p9"/>
              <p:cNvSpPr txBox="1"/>
              <p:nvPr/>
            </p:nvSpPr>
            <p:spPr>
              <a:xfrm>
                <a:off x="532661" y="387229"/>
                <a:ext cx="10515600" cy="5534423"/>
              </a:xfrm>
              <a:prstGeom prst="rect">
                <a:avLst/>
              </a:prstGeom>
              <a:noFill/>
              <a:ln>
                <a:noFill/>
              </a:ln>
            </p:spPr>
            <p:txBody>
              <a:bodyPr spcFirstLastPara="1" wrap="square" lIns="91425" tIns="45700" rIns="91425" bIns="45700" anchor="t" anchorCtr="0">
                <a:spAutoFit/>
              </a:bodyPr>
              <a:lstStyle/>
              <a:p>
                <a:pPr marL="900113" indent="-457200">
                  <a:buFont typeface="+mj-lt"/>
                  <a:buAutoNum type="alphaLcPeriod"/>
                </a:pPr>
                <a:r>
                  <a:rPr lang="en-US" sz="2000" dirty="0">
                    <a:latin typeface="Verdana"/>
                    <a:ea typeface="Verdana"/>
                    <a:cs typeface="Verdana"/>
                    <a:sym typeface="Verdana"/>
                  </a:rPr>
                  <a:t>What do you notice about the graph? </a:t>
                </a:r>
              </a:p>
              <a:p>
                <a:pPr marL="900113" indent="-457200">
                  <a:buFont typeface="+mj-lt"/>
                  <a:buAutoNum type="alphaLcPeriod"/>
                </a:pPr>
                <a:endParaRPr lang="en-US" sz="2000" dirty="0">
                  <a:latin typeface="Verdana"/>
                  <a:ea typeface="Verdana"/>
                  <a:cs typeface="Verdana"/>
                  <a:sym typeface="Verdana"/>
                </a:endParaRPr>
              </a:p>
              <a:p>
                <a:pPr marL="900113" indent="-457200">
                  <a:buFont typeface="+mj-lt"/>
                  <a:buAutoNum type="alphaLcPeriod"/>
                </a:pPr>
                <a:endParaRPr lang="en-US" sz="2000" dirty="0">
                  <a:latin typeface="Verdana"/>
                  <a:ea typeface="Verdana"/>
                  <a:cs typeface="Verdana"/>
                  <a:sym typeface="Verdana"/>
                </a:endParaRPr>
              </a:p>
              <a:p>
                <a:pPr marL="900113" indent="-457200">
                  <a:buFont typeface="+mj-lt"/>
                  <a:buAutoNum type="alphaLcPeriod"/>
                </a:pPr>
                <a:endParaRPr lang="en-US" sz="2000" dirty="0">
                  <a:latin typeface="Verdana"/>
                  <a:ea typeface="Verdana"/>
                  <a:cs typeface="Verdana"/>
                  <a:sym typeface="Verdana"/>
                </a:endParaRPr>
              </a:p>
              <a:p>
                <a:pPr marL="900113" indent="-457200">
                  <a:buFont typeface="+mj-lt"/>
                  <a:buAutoNum type="alphaLcPeriod"/>
                </a:pPr>
                <a:endParaRPr lang="en-US" sz="2000" dirty="0">
                  <a:latin typeface="Verdana"/>
                  <a:ea typeface="Verdana"/>
                  <a:cs typeface="Verdana"/>
                  <a:sym typeface="Verdana"/>
                </a:endParaRPr>
              </a:p>
              <a:p>
                <a:pPr marL="900113" indent="-457200">
                  <a:buFont typeface="+mj-lt"/>
                  <a:buAutoNum type="alphaLcPeriod"/>
                </a:pPr>
                <a:endParaRPr lang="en-US" sz="2000" dirty="0">
                  <a:latin typeface="Verdana"/>
                  <a:ea typeface="Verdana"/>
                  <a:cs typeface="Verdana"/>
                  <a:sym typeface="Verdana"/>
                </a:endParaRPr>
              </a:p>
              <a:p>
                <a:pPr marL="900113" indent="-457200">
                  <a:spcAft>
                    <a:spcPts val="1200"/>
                  </a:spcAft>
                  <a:buFont typeface="+mj-lt"/>
                  <a:buAutoNum type="alphaLcPeriod"/>
                </a:pPr>
                <a:r>
                  <a:rPr lang="en-US" sz="2000" dirty="0">
                    <a:latin typeface="Verdana"/>
                    <a:ea typeface="Verdana"/>
                    <a:cs typeface="Verdana"/>
                    <a:sym typeface="Verdana"/>
                  </a:rPr>
                  <a:t>What type of function best represents the graph?</a:t>
                </a:r>
              </a:p>
              <a:p>
                <a:pPr marL="1163638" indent="-257175">
                  <a:spcAft>
                    <a:spcPts val="600"/>
                  </a:spcAft>
                  <a:buFont typeface="Courier New" pitchFamily="49" charset="0"/>
                  <a:buChar char="o"/>
                </a:pPr>
                <a:r>
                  <a:rPr lang="en-US" sz="2000" dirty="0">
                    <a:latin typeface="Verdana"/>
                    <a:ea typeface="Verdana"/>
                    <a:cs typeface="Verdana"/>
                    <a:sym typeface="Verdana"/>
                  </a:rPr>
                  <a:t>linear</a:t>
                </a:r>
              </a:p>
              <a:p>
                <a:pPr marL="1163638" indent="-257175">
                  <a:spcAft>
                    <a:spcPts val="600"/>
                  </a:spcAft>
                  <a:buFont typeface="Courier New" pitchFamily="49" charset="0"/>
                  <a:buChar char="o"/>
                </a:pPr>
                <a:r>
                  <a:rPr lang="en-US" sz="2000" dirty="0">
                    <a:latin typeface="Verdana"/>
                    <a:ea typeface="Verdana"/>
                    <a:cs typeface="Verdana"/>
                    <a:sym typeface="Verdana"/>
                  </a:rPr>
                  <a:t>quadratic</a:t>
                </a:r>
              </a:p>
              <a:p>
                <a:pPr marL="1163638" indent="-257175">
                  <a:buFont typeface="Courier New" pitchFamily="49" charset="0"/>
                  <a:buChar char="o"/>
                </a:pPr>
                <a:r>
                  <a:rPr lang="en-US" sz="2000" dirty="0">
                    <a:latin typeface="Verdana"/>
                    <a:ea typeface="Verdana"/>
                    <a:cs typeface="Verdana"/>
                    <a:sym typeface="Verdana"/>
                  </a:rPr>
                  <a:t>exponential</a:t>
                </a:r>
              </a:p>
              <a:p>
                <a:endParaRPr lang="en-US" sz="2000" dirty="0">
                  <a:latin typeface="Verdana"/>
                  <a:ea typeface="Verdana"/>
                  <a:cs typeface="Verdana"/>
                  <a:sym typeface="Verdana"/>
                </a:endParaRPr>
              </a:p>
              <a:p>
                <a:endParaRPr lang="en-US" sz="2000" dirty="0">
                  <a:latin typeface="Verdana"/>
                  <a:ea typeface="Verdana"/>
                  <a:cs typeface="Verdana"/>
                  <a:sym typeface="Verdana"/>
                </a:endParaRPr>
              </a:p>
              <a:p>
                <a:endParaRPr lang="en-US" sz="2000" dirty="0">
                  <a:latin typeface="Verdana"/>
                  <a:ea typeface="Verdana"/>
                  <a:cs typeface="Verdana"/>
                  <a:sym typeface="Verdana"/>
                </a:endParaRPr>
              </a:p>
              <a:p>
                <a:pPr marL="900113" indent="-457200">
                  <a:buFont typeface="+mj-lt"/>
                  <a:buAutoNum type="alphaLcPeriod" startAt="3"/>
                </a:pPr>
                <a:r>
                  <a:rPr lang="en-US" sz="2000" dirty="0">
                    <a:latin typeface="Verdana"/>
                    <a:ea typeface="Verdana"/>
                    <a:cs typeface="Verdana"/>
                    <a:sym typeface="Verdana"/>
                  </a:rPr>
                  <a:t>Discuss with your partner how the formula for compound interest, </a:t>
                </a:r>
                <a14:m>
                  <m:oMath xmlns:m="http://schemas.openxmlformats.org/officeDocument/2006/math">
                    <m:r>
                      <a:rPr lang="en-PH" sz="2000" i="1">
                        <a:latin typeface="Cambria Math"/>
                        <a:ea typeface="Verdana" pitchFamily="34" charset="0"/>
                      </a:rPr>
                      <m:t>𝐴</m:t>
                    </m:r>
                    <m:r>
                      <a:rPr lang="en-PH" sz="2000" i="1">
                        <a:latin typeface="Cambria Math"/>
                        <a:ea typeface="Verdana" pitchFamily="34" charset="0"/>
                      </a:rPr>
                      <m:t>=</m:t>
                    </m:r>
                    <m:r>
                      <a:rPr lang="en-PH" sz="2000" i="1">
                        <a:latin typeface="Cambria Math"/>
                        <a:ea typeface="Verdana" pitchFamily="34" charset="0"/>
                      </a:rPr>
                      <m:t>𝑃</m:t>
                    </m:r>
                    <m:sSup>
                      <m:sSupPr>
                        <m:ctrlPr>
                          <a:rPr lang="en-PH" sz="2000" i="1">
                            <a:latin typeface="Cambria Math" panose="02040503050406030204" pitchFamily="18" charset="0"/>
                            <a:ea typeface="Verdana" pitchFamily="34" charset="0"/>
                          </a:rPr>
                        </m:ctrlPr>
                      </m:sSupPr>
                      <m:e>
                        <m:d>
                          <m:dPr>
                            <m:ctrlPr>
                              <a:rPr lang="en-PH" sz="2000" i="1">
                                <a:latin typeface="Cambria Math" panose="02040503050406030204" pitchFamily="18" charset="0"/>
                                <a:ea typeface="Verdana" pitchFamily="34" charset="0"/>
                              </a:rPr>
                            </m:ctrlPr>
                          </m:dPr>
                          <m:e>
                            <m:r>
                              <a:rPr lang="en-PH" sz="2000" i="1">
                                <a:latin typeface="Cambria Math"/>
                                <a:ea typeface="Verdana" pitchFamily="34" charset="0"/>
                              </a:rPr>
                              <m:t>1+</m:t>
                            </m:r>
                            <m:f>
                              <m:fPr>
                                <m:ctrlPr>
                                  <a:rPr lang="en-PH" sz="2000" i="1">
                                    <a:latin typeface="Cambria Math" panose="02040503050406030204" pitchFamily="18" charset="0"/>
                                    <a:ea typeface="Verdana" pitchFamily="34" charset="0"/>
                                  </a:rPr>
                                </m:ctrlPr>
                              </m:fPr>
                              <m:num>
                                <m:r>
                                  <a:rPr lang="en-PH" sz="2000" i="1">
                                    <a:latin typeface="Cambria Math"/>
                                    <a:ea typeface="Verdana" pitchFamily="34" charset="0"/>
                                  </a:rPr>
                                  <m:t>𝑟</m:t>
                                </m:r>
                              </m:num>
                              <m:den>
                                <m:r>
                                  <a:rPr lang="en-PH" sz="2000" i="1">
                                    <a:latin typeface="Cambria Math"/>
                                    <a:ea typeface="Verdana" pitchFamily="34" charset="0"/>
                                  </a:rPr>
                                  <m:t>𝑛</m:t>
                                </m:r>
                              </m:den>
                            </m:f>
                          </m:e>
                        </m:d>
                      </m:e>
                      <m:sup>
                        <m:r>
                          <a:rPr lang="en-PH" sz="2000" i="1">
                            <a:latin typeface="Cambria Math"/>
                            <a:ea typeface="Verdana" pitchFamily="34" charset="0"/>
                          </a:rPr>
                          <m:t>𝑛𝑡</m:t>
                        </m:r>
                      </m:sup>
                    </m:sSup>
                  </m:oMath>
                </a14:m>
                <a:r>
                  <a:rPr lang="en-US" sz="2000" dirty="0">
                    <a:latin typeface="Verdana"/>
                    <a:ea typeface="Verdana"/>
                    <a:cs typeface="Verdana"/>
                    <a:sym typeface="Verdana"/>
                  </a:rPr>
                  <a:t>, supports your function choice. Summarize your discussion.</a:t>
                </a:r>
                <a:endParaRPr dirty="0"/>
              </a:p>
            </p:txBody>
          </p:sp>
        </mc:Choice>
        <mc:Fallback xmlns="">
          <p:sp>
            <p:nvSpPr>
              <p:cNvPr id="6" name="Google Shape;219;p9"/>
              <p:cNvSpPr txBox="1">
                <a:spLocks noRot="1" noChangeAspect="1" noMove="1" noResize="1" noEditPoints="1" noAdjustHandles="1" noChangeArrowheads="1" noChangeShapeType="1" noTextEdit="1"/>
              </p:cNvSpPr>
              <p:nvPr/>
            </p:nvSpPr>
            <p:spPr>
              <a:xfrm>
                <a:off x="532661" y="387229"/>
                <a:ext cx="10515600" cy="5534423"/>
              </a:xfrm>
              <a:prstGeom prst="rect">
                <a:avLst/>
              </a:prstGeom>
              <a:blipFill rotWithShape="1">
                <a:blip r:embed="rId4"/>
                <a:stretch>
                  <a:fillRect t="-662" b="-1103"/>
                </a:stretch>
              </a:blipFill>
              <a:ln>
                <a:noFill/>
              </a:ln>
            </p:spPr>
            <p:txBody>
              <a:bodyPr/>
              <a:lstStyle/>
              <a:p>
                <a:r>
                  <a:rPr lang="en-PH">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3"/>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58" name="Google Shape;258;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sp>
            <p:nvSpPr>
              <p:cNvPr id="259" name="Google Shape;259;p13"/>
              <p:cNvSpPr txBox="1"/>
              <p:nvPr/>
            </p:nvSpPr>
            <p:spPr>
              <a:xfrm>
                <a:off x="532661" y="381082"/>
                <a:ext cx="10515600" cy="5324494"/>
              </a:xfrm>
              <a:prstGeom prst="rect">
                <a:avLst/>
              </a:prstGeom>
              <a:noFill/>
              <a:ln>
                <a:noFill/>
              </a:ln>
            </p:spPr>
            <p:txBody>
              <a:bodyPr spcFirstLastPara="1" wrap="square" lIns="91425" tIns="45700" rIns="91425" bIns="45700" anchor="t" anchorCtr="0">
                <a:spAutoFit/>
              </a:bodyPr>
              <a:lstStyle/>
              <a:p>
                <a:pPr marL="900113" indent="-457200">
                  <a:buFont typeface="+mj-lt"/>
                  <a:buAutoNum type="alphaLcPeriod" startAt="4"/>
                </a:pPr>
                <a:r>
                  <a:rPr lang="en-US" sz="2000" dirty="0">
                    <a:latin typeface="Verdana" pitchFamily="34" charset="0"/>
                    <a:ea typeface="Verdana" pitchFamily="34" charset="0"/>
                    <a:cs typeface="Verdana"/>
                    <a:sym typeface="Verdana"/>
                  </a:rPr>
                  <a:t>Complete the table.</a:t>
                </a: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endParaRPr lang="en-US" sz="2000" dirty="0">
                  <a:latin typeface="Verdana" pitchFamily="34" charset="0"/>
                  <a:ea typeface="Verdana" pitchFamily="34" charset="0"/>
                  <a:sym typeface="Verdana"/>
                </a:endParaRPr>
              </a:p>
              <a:p>
                <a:pPr marL="900113" indent="-457200">
                  <a:buFont typeface="+mj-lt"/>
                  <a:buAutoNum type="alphaLcPeriod" startAt="4"/>
                </a:pPr>
                <a:r>
                  <a:rPr lang="en-US" sz="2000" dirty="0">
                    <a:latin typeface="Verdana" pitchFamily="34" charset="0"/>
                    <a:ea typeface="Verdana" pitchFamily="34" charset="0"/>
                  </a:rPr>
                  <a:t>Use the information about the graph to write an equation that models the relationship.</a:t>
                </a:r>
              </a:p>
              <a:p>
                <a:pPr marL="900113" indent="-457200">
                  <a:buFont typeface="+mj-lt"/>
                  <a:buAutoNum type="alphaLcPeriod" startAt="4"/>
                </a:pPr>
                <a:endParaRPr lang="en-US" sz="2000" dirty="0">
                  <a:latin typeface="Verdana" pitchFamily="34" charset="0"/>
                  <a:ea typeface="Verdana" pitchFamily="34" charset="0"/>
                </a:endParaRPr>
              </a:p>
              <a:p>
                <a:pPr marL="900113" indent="-457200">
                  <a:buFont typeface="+mj-lt"/>
                  <a:buAutoNum type="alphaLcPeriod" startAt="4"/>
                </a:pPr>
                <a:endParaRPr lang="en-US" sz="2000" dirty="0">
                  <a:latin typeface="Verdana" pitchFamily="34" charset="0"/>
                  <a:ea typeface="Verdana" pitchFamily="34" charset="0"/>
                </a:endParaRPr>
              </a:p>
              <a:p>
                <a:pPr marL="900113" indent="-457200">
                  <a:buFont typeface="+mj-lt"/>
                  <a:buAutoNum type="alphaLcPeriod" startAt="4"/>
                </a:pPr>
                <a:r>
                  <a:rPr lang="en-US" sz="2000" dirty="0">
                    <a:latin typeface="Verdana" pitchFamily="34" charset="0"/>
                    <a:ea typeface="Verdana" pitchFamily="34" charset="0"/>
                  </a:rPr>
                  <a:t>What is the balance of the savings account after </a:t>
                </a:r>
                <a14:m>
                  <m:oMath xmlns:m="http://schemas.openxmlformats.org/officeDocument/2006/math">
                    <m:r>
                      <a:rPr lang="en-US" sz="2000" i="1" dirty="0" smtClean="0">
                        <a:latin typeface="Cambria Math"/>
                        <a:ea typeface="Verdana" pitchFamily="34" charset="0"/>
                      </a:rPr>
                      <m:t>7 </m:t>
                    </m:r>
                  </m:oMath>
                </a14:m>
                <a:r>
                  <a:rPr lang="en-US" sz="2000" dirty="0">
                    <a:latin typeface="Verdana" pitchFamily="34" charset="0"/>
                    <a:ea typeface="Verdana" pitchFamily="34" charset="0"/>
                  </a:rPr>
                  <a:t>years?</a:t>
                </a:r>
                <a:endParaRPr lang="en-US" sz="2000" dirty="0">
                  <a:latin typeface="Verdana" pitchFamily="34" charset="0"/>
                  <a:ea typeface="Verdana" pitchFamily="34" charset="0"/>
                  <a:cs typeface="Verdana"/>
                  <a:sym typeface="Verdana"/>
                </a:endParaRPr>
              </a:p>
            </p:txBody>
          </p:sp>
        </mc:Choice>
        <mc:Fallback xmlns="">
          <p:sp>
            <p:nvSpPr>
              <p:cNvPr id="259" name="Google Shape;259;p13"/>
              <p:cNvSpPr txBox="1">
                <a:spLocks noRot="1" noChangeAspect="1" noMove="1" noResize="1" noEditPoints="1" noAdjustHandles="1" noChangeArrowheads="1" noChangeShapeType="1" noTextEdit="1"/>
              </p:cNvSpPr>
              <p:nvPr/>
            </p:nvSpPr>
            <p:spPr>
              <a:xfrm>
                <a:off x="532661" y="381082"/>
                <a:ext cx="10515600" cy="5324494"/>
              </a:xfrm>
              <a:prstGeom prst="rect">
                <a:avLst/>
              </a:prstGeom>
              <a:blipFill rotWithShape="1">
                <a:blip r:embed="rId4"/>
                <a:stretch>
                  <a:fillRect t="-687" b="-1145"/>
                </a:stretch>
              </a:blipFill>
              <a:ln>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260" name="Google Shape;260;p13"/>
              <p:cNvGraphicFramePr/>
              <p:nvPr>
                <p:extLst>
                  <p:ext uri="{D42A27DB-BD31-4B8C-83A1-F6EECF244321}">
                    <p14:modId xmlns:p14="http://schemas.microsoft.com/office/powerpoint/2010/main" val="3981823083"/>
                  </p:ext>
                </p:extLst>
              </p:nvPr>
            </p:nvGraphicFramePr>
            <p:xfrm>
              <a:off x="2570928" y="1053142"/>
              <a:ext cx="6829425" cy="2340000"/>
            </p:xfrm>
            <a:graphic>
              <a:graphicData uri="http://schemas.openxmlformats.org/drawingml/2006/table">
                <a:tbl>
                  <a:tblPr>
                    <a:noFill/>
                    <a:tableStyleId>{EED9B209-D8D8-40D3-85A7-A46AD64EC929}</a:tableStyleId>
                  </a:tblPr>
                  <a:tblGrid>
                    <a:gridCol w="2601600">
                      <a:extLst>
                        <a:ext uri="{9D8B030D-6E8A-4147-A177-3AD203B41FA5}">
                          <a16:colId xmlns:a16="http://schemas.microsoft.com/office/drawing/2014/main" val="20000"/>
                        </a:ext>
                      </a:extLst>
                    </a:gridCol>
                    <a:gridCol w="4227825">
                      <a:extLst>
                        <a:ext uri="{9D8B030D-6E8A-4147-A177-3AD203B41FA5}">
                          <a16:colId xmlns:a16="http://schemas.microsoft.com/office/drawing/2014/main" val="20001"/>
                        </a:ext>
                      </a:extLst>
                    </a:gridCol>
                  </a:tblGrid>
                  <a:tr h="432000">
                    <a:tc>
                      <a:txBody>
                        <a:bodyPr/>
                        <a:lstStyle/>
                        <a:p>
                          <a:pPr marL="0" marR="0" lvl="0" indent="0" algn="ctr" rtl="0">
                            <a:lnSpc>
                              <a:spcPct val="100000"/>
                            </a:lnSpc>
                            <a:spcBef>
                              <a:spcPts val="0"/>
                            </a:spcBef>
                            <a:spcAft>
                              <a:spcPts val="0"/>
                            </a:spcAft>
                            <a:buNone/>
                          </a:pPr>
                          <a:r>
                            <a:rPr lang="en-US" sz="2000" b="1" u="none" strike="noStrike" cap="none" dirty="0">
                              <a:latin typeface="Verdana" pitchFamily="34" charset="0"/>
                              <a:ea typeface="Verdana" pitchFamily="34" charset="0"/>
                              <a:cs typeface="Verdana"/>
                              <a:sym typeface="Verdana"/>
                            </a:rPr>
                            <a:t>Key Feature</a:t>
                          </a:r>
                          <a:endParaRPr sz="2000" u="none" strike="noStrike" cap="none" dirty="0">
                            <a:latin typeface="Verdana" pitchFamily="34" charset="0"/>
                            <a:ea typeface="Verdana" pitchFamily="34" charset="0"/>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Description</a:t>
                          </a:r>
                          <a:endParaRPr sz="2000" u="none" strike="noStrike" cap="none" dirty="0">
                            <a:latin typeface="Verdana" pitchFamily="34" charset="0"/>
                            <a:ea typeface="Verdana" pitchFamily="34" charset="0"/>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40000">
                    <a:tc>
                      <a:txBody>
                        <a:bodyPr/>
                        <a:lstStyle/>
                        <a:p>
                          <a:pPr marL="0" lvl="0" indent="0" algn="ctr" rtl="0">
                            <a:spcBef>
                              <a:spcPts val="0"/>
                            </a:spcBef>
                            <a:spcAft>
                              <a:spcPts val="0"/>
                            </a:spcAft>
                            <a:buClr>
                              <a:schemeClr val="dk1"/>
                            </a:buClr>
                            <a:buFont typeface="Arial"/>
                            <a:buNone/>
                          </a:pPr>
                          <a14:m>
                            <m:oMath xmlns:m="http://schemas.openxmlformats.org/officeDocument/2006/math">
                              <m:r>
                                <a:rPr lang="en-US" sz="2000" i="1" dirty="0" smtClean="0">
                                  <a:solidFill>
                                    <a:schemeClr val="dk1"/>
                                  </a:solidFill>
                                  <a:latin typeface="Cambria Math"/>
                                  <a:ea typeface="Verdana"/>
                                  <a:cs typeface="Verdana"/>
                                  <a:sym typeface="Verdana"/>
                                </a:rPr>
                                <m:t>𝑦</m:t>
                              </m:r>
                            </m:oMath>
                          </a14:m>
                          <a:r>
                            <a:rPr lang="en-US" sz="2000" dirty="0">
                              <a:solidFill>
                                <a:schemeClr val="dk1"/>
                              </a:solidFill>
                              <a:latin typeface="Verdana" pitchFamily="34" charset="0"/>
                              <a:ea typeface="Verdana" pitchFamily="34" charset="0"/>
                              <a:cs typeface="Verdana"/>
                              <a:sym typeface="Verdana"/>
                            </a:rPr>
                            <a:t>-intercept</a:t>
                          </a:r>
                          <a:endParaRPr sz="1400" u="none" strike="noStrike" cap="none" dirty="0">
                            <a:latin typeface="Verdana" pitchFamily="34" charset="0"/>
                            <a:ea typeface="Verdana" pitchFamily="34" charset="0"/>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r>
                            <a:rPr lang="en-US" sz="2000" b="1" u="none" strike="noStrike" cap="none">
                              <a:latin typeface="Verdana" pitchFamily="34" charset="0"/>
                              <a:ea typeface="Verdana" pitchFamily="34" charset="0"/>
                              <a:cs typeface="Verdana"/>
                              <a:sym typeface="Verdana"/>
                            </a:rPr>
                            <a:t> </a:t>
                          </a:r>
                          <a:endParaRPr sz="2000" u="none" strike="noStrike" cap="none">
                            <a:latin typeface="Verdana" pitchFamily="34" charset="0"/>
                            <a:ea typeface="Verdana" pitchFamily="34" charset="0"/>
                            <a:cs typeface="Verdana"/>
                            <a:sym typeface="Verdana"/>
                          </a:endParaRPr>
                        </a:p>
                      </a:txBody>
                      <a:tcPr marL="68575" marR="68575"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00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End Behavior</a:t>
                          </a:r>
                          <a:endParaRPr dirty="0">
                            <a:latin typeface="Verdana" pitchFamily="34" charset="0"/>
                            <a:ea typeface="Verdana" pitchFamily="34" charset="0"/>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Font typeface="Arial"/>
                            <a:buNone/>
                          </a:pPr>
                          <a:r>
                            <a:rPr lang="en-US" sz="2000" dirty="0">
                              <a:solidFill>
                                <a:schemeClr val="dk1"/>
                              </a:solidFill>
                              <a:latin typeface="Verdana" pitchFamily="34" charset="0"/>
                              <a:ea typeface="Verdana" pitchFamily="34" charset="0"/>
                            </a:rPr>
                            <a:t>As </a:t>
                          </a:r>
                          <a14:m>
                            <m:oMath xmlns:m="http://schemas.openxmlformats.org/officeDocument/2006/math">
                              <m:r>
                                <a:rPr lang="en-US" sz="2000" i="1" dirty="0" smtClean="0">
                                  <a:solidFill>
                                    <a:schemeClr val="dk1"/>
                                  </a:solidFill>
                                  <a:latin typeface="Cambria Math"/>
                                </a:rPr>
                                <m:t>𝑥</m:t>
                              </m:r>
                              <m:r>
                                <a:rPr lang="en-US" sz="2000" i="1" dirty="0" smtClean="0">
                                  <a:solidFill>
                                    <a:schemeClr val="dk1"/>
                                  </a:solidFill>
                                  <a:latin typeface="Cambria Math"/>
                                </a:rPr>
                                <m:t>→∞</m:t>
                              </m:r>
                            </m:oMath>
                          </a14:m>
                          <a:r>
                            <a:rPr lang="en-US" sz="2000" dirty="0">
                              <a:solidFill>
                                <a:schemeClr val="dk1"/>
                              </a:solidFill>
                              <a:latin typeface="Verdana" pitchFamily="34" charset="0"/>
                              <a:ea typeface="Verdana" pitchFamily="34" charset="0"/>
                            </a:rPr>
                            <a:t>, </a:t>
                          </a:r>
                          <a14:m>
                            <m:oMath xmlns:m="http://schemas.openxmlformats.org/officeDocument/2006/math">
                              <m:r>
                                <a:rPr lang="en-US" sz="2000" i="1" dirty="0" smtClean="0">
                                  <a:solidFill>
                                    <a:schemeClr val="dk1"/>
                                  </a:solidFill>
                                  <a:latin typeface="Cambria Math"/>
                                </a:rPr>
                                <m:t>𝑦</m:t>
                              </m:r>
                              <m:r>
                                <a:rPr lang="en-US" sz="2000" i="1" dirty="0" smtClean="0">
                                  <a:solidFill>
                                    <a:schemeClr val="dk1"/>
                                  </a:solidFill>
                                  <a:latin typeface="Cambria Math"/>
                                </a:rPr>
                                <m:t>→</m:t>
                              </m:r>
                            </m:oMath>
                          </a14:m>
                          <a:r>
                            <a:rPr lang="en-US" sz="2000" dirty="0">
                              <a:solidFill>
                                <a:schemeClr val="dk1"/>
                              </a:solidFill>
                              <a:latin typeface="Verdana" pitchFamily="34" charset="0"/>
                              <a:ea typeface="Verdana" pitchFamily="34" charset="0"/>
                            </a:rPr>
                            <a:t>______</a:t>
                          </a:r>
                          <a:endParaRPr sz="1400" u="none" strike="noStrike" cap="none" dirty="0">
                            <a:latin typeface="Verdana" pitchFamily="34" charset="0"/>
                            <a:ea typeface="Verdana" pitchFamily="34" charset="0"/>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80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Increasing/ Decreasing</a:t>
                          </a:r>
                          <a:endParaRPr dirty="0">
                            <a:latin typeface="Verdana" pitchFamily="34" charset="0"/>
                            <a:ea typeface="Verdana" pitchFamily="34" charset="0"/>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Font typeface="Arial"/>
                            <a:buNone/>
                          </a:pPr>
                          <a:r>
                            <a:rPr lang="en-US" sz="2000" dirty="0">
                              <a:solidFill>
                                <a:schemeClr val="dk1"/>
                              </a:solidFill>
                              <a:latin typeface="Verdana" pitchFamily="34" charset="0"/>
                              <a:ea typeface="Verdana" pitchFamily="34" charset="0"/>
                            </a:rPr>
                            <a:t>As </a:t>
                          </a:r>
                          <a14:m>
                            <m:oMath xmlns:m="http://schemas.openxmlformats.org/officeDocument/2006/math">
                              <m:r>
                                <a:rPr lang="en-US" sz="2000" i="1" dirty="0" smtClean="0">
                                  <a:solidFill>
                                    <a:schemeClr val="dk1"/>
                                  </a:solidFill>
                                  <a:latin typeface="Cambria Math"/>
                                </a:rPr>
                                <m:t>𝑥</m:t>
                              </m:r>
                              <m:r>
                                <a:rPr lang="en-US" sz="2000" i="1" dirty="0" smtClean="0">
                                  <a:solidFill>
                                    <a:schemeClr val="dk1"/>
                                  </a:solidFill>
                                  <a:latin typeface="Cambria Math"/>
                                </a:rPr>
                                <m:t> </m:t>
                              </m:r>
                            </m:oMath>
                          </a14:m>
                          <a:r>
                            <a:rPr lang="en-US" sz="2000" dirty="0">
                              <a:solidFill>
                                <a:schemeClr val="dk1"/>
                              </a:solidFill>
                              <a:latin typeface="Verdana" pitchFamily="34" charset="0"/>
                              <a:ea typeface="Verdana" pitchFamily="34" charset="0"/>
                            </a:rPr>
                            <a:t>increases, </a:t>
                          </a:r>
                          <a14:m>
                            <m:oMath xmlns:m="http://schemas.openxmlformats.org/officeDocument/2006/math">
                              <m:r>
                                <a:rPr lang="en-US" sz="2000" i="1" dirty="0" smtClean="0">
                                  <a:solidFill>
                                    <a:schemeClr val="dk1"/>
                                  </a:solidFill>
                                  <a:latin typeface="Cambria Math"/>
                                </a:rPr>
                                <m:t>𝑦</m:t>
                              </m:r>
                              <m:r>
                                <a:rPr lang="en-US" sz="2000" i="1" dirty="0" smtClean="0">
                                  <a:solidFill>
                                    <a:schemeClr val="dk1"/>
                                  </a:solidFill>
                                  <a:latin typeface="Cambria Math"/>
                                </a:rPr>
                                <m:t>→</m:t>
                              </m:r>
                            </m:oMath>
                          </a14:m>
                          <a:r>
                            <a:rPr lang="en-US" sz="2000" dirty="0">
                              <a:solidFill>
                                <a:schemeClr val="dk1"/>
                              </a:solidFill>
                              <a:latin typeface="Verdana" pitchFamily="34" charset="0"/>
                              <a:ea typeface="Verdana" pitchFamily="34" charset="0"/>
                            </a:rPr>
                            <a:t>______</a:t>
                          </a:r>
                          <a:endParaRPr sz="1400" u="none" strike="noStrike" cap="none" dirty="0">
                            <a:latin typeface="Verdana" pitchFamily="34" charset="0"/>
                            <a:ea typeface="Verdana" pitchFamily="34" charset="0"/>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60" name="Google Shape;260;p13"/>
              <p:cNvGraphicFramePr/>
              <p:nvPr>
                <p:extLst>
                  <p:ext uri="{D42A27DB-BD31-4B8C-83A1-F6EECF244321}">
                    <p14:modId xmlns:p14="http://schemas.microsoft.com/office/powerpoint/2010/main" val="3981823083"/>
                  </p:ext>
                </p:extLst>
              </p:nvPr>
            </p:nvGraphicFramePr>
            <p:xfrm>
              <a:off x="2570928" y="1053142"/>
              <a:ext cx="6829425" cy="2340000"/>
            </p:xfrm>
            <a:graphic>
              <a:graphicData uri="http://schemas.openxmlformats.org/drawingml/2006/table">
                <a:tbl>
                  <a:tblPr>
                    <a:noFill/>
                    <a:tableStyleId>{EED9B209-D8D8-40D3-85A7-A46AD64EC929}</a:tableStyleId>
                  </a:tblPr>
                  <a:tblGrid>
                    <a:gridCol w="2601600">
                      <a:extLst>
                        <a:ext uri="{9D8B030D-6E8A-4147-A177-3AD203B41FA5}">
                          <a16:colId xmlns:a16="http://schemas.microsoft.com/office/drawing/2014/main" xmlns="" val="20000"/>
                        </a:ext>
                      </a:extLst>
                    </a:gridCol>
                    <a:gridCol w="4227825">
                      <a:extLst>
                        <a:ext uri="{9D8B030D-6E8A-4147-A177-3AD203B41FA5}">
                          <a16:colId xmlns:a16="http://schemas.microsoft.com/office/drawing/2014/main" xmlns="" val="20001"/>
                        </a:ext>
                      </a:extLst>
                    </a:gridCol>
                  </a:tblGrid>
                  <a:tr h="432000">
                    <a:tc>
                      <a:txBody>
                        <a:bodyPr/>
                        <a:lstStyle/>
                        <a:p>
                          <a:pPr marL="0" marR="0" lvl="0" indent="0" algn="ctr" rtl="0">
                            <a:lnSpc>
                              <a:spcPct val="100000"/>
                            </a:lnSpc>
                            <a:spcBef>
                              <a:spcPts val="0"/>
                            </a:spcBef>
                            <a:spcAft>
                              <a:spcPts val="0"/>
                            </a:spcAft>
                            <a:buNone/>
                          </a:pPr>
                          <a:r>
                            <a:rPr lang="en-US" sz="2000" b="1" u="none" strike="noStrike" cap="none" dirty="0">
                              <a:latin typeface="Verdana" pitchFamily="34" charset="0"/>
                              <a:ea typeface="Verdana" pitchFamily="34" charset="0"/>
                              <a:cs typeface="Verdana"/>
                              <a:sym typeface="Verdana"/>
                            </a:rPr>
                            <a:t>Key Feature</a:t>
                          </a:r>
                          <a:endParaRPr sz="2000" u="none" strike="noStrike" cap="none" dirty="0">
                            <a:latin typeface="Verdana" pitchFamily="34" charset="0"/>
                            <a:ea typeface="Verdana" pitchFamily="34" charset="0"/>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Description</a:t>
                          </a:r>
                          <a:endParaRPr sz="2000" u="none" strike="noStrike" cap="none" dirty="0">
                            <a:latin typeface="Verdana" pitchFamily="34" charset="0"/>
                            <a:ea typeface="Verdana" pitchFamily="34" charset="0"/>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540000">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34" t="-82022" r="-162529" b="-259551"/>
                          </a:stretch>
                        </a:blipFill>
                      </a:tcPr>
                    </a:tc>
                    <a:tc>
                      <a:txBody>
                        <a:bodyPr/>
                        <a:lstStyle/>
                        <a:p>
                          <a:pPr marL="0" marR="0" lvl="0" indent="0" algn="ctr" rtl="0">
                            <a:lnSpc>
                              <a:spcPct val="100000"/>
                            </a:lnSpc>
                            <a:spcBef>
                              <a:spcPts val="0"/>
                            </a:spcBef>
                            <a:spcAft>
                              <a:spcPts val="0"/>
                            </a:spcAft>
                            <a:buNone/>
                          </a:pPr>
                          <a:r>
                            <a:rPr lang="en-US" sz="2000" b="1" u="none" strike="noStrike" cap="none">
                              <a:latin typeface="Verdana" pitchFamily="34" charset="0"/>
                              <a:ea typeface="Verdana" pitchFamily="34" charset="0"/>
                              <a:cs typeface="Verdana"/>
                              <a:sym typeface="Verdana"/>
                            </a:rPr>
                            <a:t> </a:t>
                          </a:r>
                          <a:endParaRPr sz="2000" u="none" strike="noStrike" cap="none">
                            <a:latin typeface="Verdana" pitchFamily="34" charset="0"/>
                            <a:ea typeface="Verdana" pitchFamily="34" charset="0"/>
                            <a:cs typeface="Verdana"/>
                            <a:sym typeface="Verdana"/>
                          </a:endParaRPr>
                        </a:p>
                      </a:txBody>
                      <a:tcPr marL="68575" marR="68575"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5400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End Behavior</a:t>
                          </a:r>
                          <a:endParaRPr dirty="0">
                            <a:latin typeface="Verdana" pitchFamily="34" charset="0"/>
                            <a:ea typeface="Verdana" pitchFamily="34" charset="0"/>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61760" t="-184091" r="-144" b="-162500"/>
                          </a:stretch>
                        </a:blipFill>
                      </a:tcPr>
                    </a:tc>
                    <a:extLst>
                      <a:ext uri="{0D108BD9-81ED-4DB2-BD59-A6C34878D82A}">
                        <a16:rowId xmlns:a16="http://schemas.microsoft.com/office/drawing/2014/main" xmlns="" val="10002"/>
                      </a:ext>
                    </a:extLst>
                  </a:tr>
                  <a:tr h="8280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Increasing/ Decreasing</a:t>
                          </a:r>
                          <a:endParaRPr dirty="0">
                            <a:latin typeface="Verdana" pitchFamily="34" charset="0"/>
                            <a:ea typeface="Verdana" pitchFamily="34" charset="0"/>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61760" t="-183824" r="-144" b="-5147"/>
                          </a:stretch>
                        </a:blipFill>
                      </a:tcPr>
                    </a:tc>
                    <a:extLst>
                      <a:ext uri="{0D108BD9-81ED-4DB2-BD59-A6C34878D82A}">
                        <a16:rowId xmlns:a16="http://schemas.microsoft.com/office/drawing/2014/main" xmlns="" val="10003"/>
                      </a:ext>
                    </a:extLst>
                  </a:tr>
                </a:tbl>
              </a:graphicData>
            </a:graphic>
          </p:graphicFrame>
        </mc:Fallback>
      </mc:AlternateContent>
      <p:sp>
        <p:nvSpPr>
          <p:cNvPr id="262" name="Google Shape;262;p1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244</a:t>
            </a:r>
            <a:endParaRPr i="1" dirty="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69" name="Google Shape;269;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271" name="Google Shape;271;p14"/>
          <p:cNvPicPr preferRelativeResize="0"/>
          <p:nvPr/>
        </p:nvPicPr>
        <p:blipFill rotWithShape="1">
          <a:blip r:embed="rId4">
            <a:alphaModFix/>
          </a:blip>
          <a:srcRect/>
          <a:stretch/>
        </p:blipFill>
        <p:spPr>
          <a:xfrm>
            <a:off x="3440500" y="1170398"/>
            <a:ext cx="4699922" cy="4699922"/>
          </a:xfrm>
          <a:prstGeom prst="rect">
            <a:avLst/>
          </a:prstGeom>
          <a:noFill/>
          <a:ln>
            <a:noFill/>
          </a:ln>
        </p:spPr>
      </p:pic>
      <p:sp>
        <p:nvSpPr>
          <p:cNvPr id="272" name="Google Shape;272;p1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244</a:t>
            </a:r>
            <a:endParaRPr i="1">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Google Shape;259;p13"/>
              <p:cNvSpPr txBox="1"/>
              <p:nvPr/>
            </p:nvSpPr>
            <p:spPr>
              <a:xfrm>
                <a:off x="532661" y="381082"/>
                <a:ext cx="10515600" cy="707846"/>
              </a:xfrm>
              <a:prstGeom prst="rect">
                <a:avLst/>
              </a:prstGeom>
              <a:noFill/>
              <a:ln>
                <a:noFill/>
              </a:ln>
            </p:spPr>
            <p:txBody>
              <a:bodyPr spcFirstLastPara="1" wrap="square" lIns="91425" tIns="45700" rIns="91425" bIns="45700" anchor="t" anchorCtr="0">
                <a:spAutoFit/>
              </a:bodyPr>
              <a:lstStyle/>
              <a:p>
                <a:pPr marL="900113" indent="-457200">
                  <a:buFont typeface="+mj-lt"/>
                  <a:buAutoNum type="alphaLcPeriod" startAt="7"/>
                </a:pPr>
                <a:r>
                  <a:rPr lang="en-US" sz="2000" dirty="0">
                    <a:latin typeface="Verdana" pitchFamily="34" charset="0"/>
                    <a:ea typeface="Verdana" pitchFamily="34" charset="0"/>
                  </a:rPr>
                  <a:t>Use the graph shown to determine when the savings account will reach </a:t>
                </a:r>
                <a14:m>
                  <m:oMath xmlns:m="http://schemas.openxmlformats.org/officeDocument/2006/math">
                    <m:r>
                      <a:rPr lang="en-US" sz="2000" i="1" dirty="0" smtClean="0">
                        <a:latin typeface="Cambria Math"/>
                        <a:ea typeface="Verdana" pitchFamily="34" charset="0"/>
                      </a:rPr>
                      <m:t>$25,000</m:t>
                    </m:r>
                  </m:oMath>
                </a14:m>
                <a:r>
                  <a:rPr lang="en-US" sz="2000" dirty="0">
                    <a:latin typeface="Verdana" pitchFamily="34" charset="0"/>
                    <a:ea typeface="Verdana" pitchFamily="34" charset="0"/>
                  </a:rPr>
                  <a:t>. </a:t>
                </a:r>
                <a:endParaRPr lang="en-US" sz="2000" dirty="0">
                  <a:latin typeface="Verdana" pitchFamily="34" charset="0"/>
                  <a:ea typeface="Verdana" pitchFamily="34" charset="0"/>
                  <a:cs typeface="Verdana"/>
                  <a:sym typeface="Verdana"/>
                </a:endParaRPr>
              </a:p>
            </p:txBody>
          </p:sp>
        </mc:Choice>
        <mc:Fallback xmlns="">
          <p:sp>
            <p:nvSpPr>
              <p:cNvPr id="7" name="Google Shape;259;p13"/>
              <p:cNvSpPr txBox="1">
                <a:spLocks noRot="1" noChangeAspect="1" noMove="1" noResize="1" noEditPoints="1" noAdjustHandles="1" noChangeArrowheads="1" noChangeShapeType="1" noTextEdit="1"/>
              </p:cNvSpPr>
              <p:nvPr/>
            </p:nvSpPr>
            <p:spPr>
              <a:xfrm>
                <a:off x="532661" y="381082"/>
                <a:ext cx="10515600" cy="707846"/>
              </a:xfrm>
              <a:prstGeom prst="rect">
                <a:avLst/>
              </a:prstGeom>
              <a:blipFill rotWithShape="1">
                <a:blip r:embed="rId5"/>
                <a:stretch>
                  <a:fillRect t="-5172" b="-14655"/>
                </a:stretch>
              </a:blipFill>
              <a:ln>
                <a:noFill/>
              </a:ln>
            </p:spPr>
            <p:txBody>
              <a:bodyPr/>
              <a:lstStyle/>
              <a:p>
                <a:r>
                  <a:rPr lang="en-PH">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79" name="Google Shape;279;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graphicFrame>
            <p:nvGraphicFramePr>
              <p:cNvPr id="281" name="Google Shape;281;p15"/>
              <p:cNvGraphicFramePr/>
              <p:nvPr>
                <p:extLst>
                  <p:ext uri="{D42A27DB-BD31-4B8C-83A1-F6EECF244321}">
                    <p14:modId xmlns:p14="http://schemas.microsoft.com/office/powerpoint/2010/main" val="2100213824"/>
                  </p:ext>
                </p:extLst>
              </p:nvPr>
            </p:nvGraphicFramePr>
            <p:xfrm>
              <a:off x="1596686" y="3716310"/>
              <a:ext cx="6743700" cy="2628000"/>
            </p:xfrm>
            <a:graphic>
              <a:graphicData uri="http://schemas.openxmlformats.org/drawingml/2006/table">
                <a:tbl>
                  <a:tblPr>
                    <a:noFill/>
                    <a:tableStyleId>{EED9B209-D8D8-40D3-85A7-A46AD64EC929}</a:tableStyleId>
                  </a:tblPr>
                  <a:tblGrid>
                    <a:gridCol w="2867350">
                      <a:extLst>
                        <a:ext uri="{9D8B030D-6E8A-4147-A177-3AD203B41FA5}">
                          <a16:colId xmlns:a16="http://schemas.microsoft.com/office/drawing/2014/main" val="20000"/>
                        </a:ext>
                      </a:extLst>
                    </a:gridCol>
                    <a:gridCol w="3876350">
                      <a:extLst>
                        <a:ext uri="{9D8B030D-6E8A-4147-A177-3AD203B41FA5}">
                          <a16:colId xmlns:a16="http://schemas.microsoft.com/office/drawing/2014/main" val="20001"/>
                        </a:ext>
                      </a:extLst>
                    </a:gridCol>
                  </a:tblGrid>
                  <a:tr h="468000">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Number of </a:t>
                          </a:r>
                          <a:r>
                            <a:rPr lang="en-US" sz="2000" b="1" u="none" strike="noStrike" cap="none" dirty="0">
                              <a:solidFill>
                                <a:srgbClr val="000000"/>
                              </a:solidFill>
                              <a:latin typeface="Verdana"/>
                              <a:ea typeface="Verdana"/>
                              <a:cs typeface="Verdana"/>
                              <a:sym typeface="Verdana"/>
                            </a:rPr>
                            <a:t>Years</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a:ea typeface="Verdana"/>
                              <a:cs typeface="Verdana"/>
                              <a:sym typeface="Verdana"/>
                            </a:rPr>
                            <a:t>Total Amount Saved</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080000">
                    <a:tc>
                      <a:txBody>
                        <a:bodyPr/>
                        <a:lstStyle/>
                        <a:p>
                          <a:pPr marL="0" marR="0" lvl="0" indent="0" algn="ctr"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rPr>
                                  <m:t>5</m:t>
                                </m:r>
                              </m:oMath>
                            </m:oMathPara>
                          </a14:m>
                          <a:endParaRPr sz="2000" u="none" strike="noStrike" cap="none"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dirty="0"/>
                        </a:p>
                      </a:txBody>
                      <a:tcPr marL="68575" marR="68575"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80000">
                    <a:tc>
                      <a:txBody>
                        <a:bodyPr/>
                        <a:lstStyle/>
                        <a:p>
                          <a:pPr marL="0" lvl="0" indent="0" algn="ctr" rtl="0">
                            <a:spcBef>
                              <a:spcPts val="0"/>
                            </a:spcBef>
                            <a:spcAft>
                              <a:spcPts val="0"/>
                            </a:spcAft>
                            <a:buClr>
                              <a:schemeClr val="dk1"/>
                            </a:buClr>
                            <a:buFont typeface="Arial"/>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rPr>
                                  <m:t>35</m:t>
                                </m:r>
                              </m:oMath>
                            </m:oMathPara>
                          </a14:m>
                          <a:endParaRPr sz="1400" u="none" strike="noStrike" cap="none"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68575" marR="68575"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81" name="Google Shape;281;p15"/>
              <p:cNvGraphicFramePr/>
              <p:nvPr>
                <p:extLst>
                  <p:ext uri="{D42A27DB-BD31-4B8C-83A1-F6EECF244321}">
                    <p14:modId xmlns:p14="http://schemas.microsoft.com/office/powerpoint/2010/main" val="2100213824"/>
                  </p:ext>
                </p:extLst>
              </p:nvPr>
            </p:nvGraphicFramePr>
            <p:xfrm>
              <a:off x="1596686" y="3716310"/>
              <a:ext cx="6743700" cy="2628000"/>
            </p:xfrm>
            <a:graphic>
              <a:graphicData uri="http://schemas.openxmlformats.org/drawingml/2006/table">
                <a:tbl>
                  <a:tblPr>
                    <a:noFill/>
                    <a:tableStyleId>{EED9B209-D8D8-40D3-85A7-A46AD64EC929}</a:tableStyleId>
                  </a:tblPr>
                  <a:tblGrid>
                    <a:gridCol w="2867350">
                      <a:extLst>
                        <a:ext uri="{9D8B030D-6E8A-4147-A177-3AD203B41FA5}">
                          <a16:colId xmlns:a16="http://schemas.microsoft.com/office/drawing/2014/main" xmlns="" val="20000"/>
                        </a:ext>
                      </a:extLst>
                    </a:gridCol>
                    <a:gridCol w="3876350">
                      <a:extLst>
                        <a:ext uri="{9D8B030D-6E8A-4147-A177-3AD203B41FA5}">
                          <a16:colId xmlns:a16="http://schemas.microsoft.com/office/drawing/2014/main" xmlns="" val="20001"/>
                        </a:ext>
                      </a:extLst>
                    </a:gridCol>
                  </a:tblGrid>
                  <a:tr h="468000">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Number of </a:t>
                          </a:r>
                          <a:r>
                            <a:rPr lang="en-US" sz="2000" b="1" u="none" strike="noStrike" cap="none" dirty="0">
                              <a:solidFill>
                                <a:srgbClr val="000000"/>
                              </a:solidFill>
                              <a:latin typeface="Verdana"/>
                              <a:ea typeface="Verdana"/>
                              <a:cs typeface="Verdana"/>
                              <a:sym typeface="Verdana"/>
                            </a:rPr>
                            <a:t>Years</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a:ea typeface="Verdana"/>
                              <a:cs typeface="Verdana"/>
                              <a:sym typeface="Verdana"/>
                            </a:rPr>
                            <a:t>Total Amount Saved</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080000">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3" t="-44068" r="-135532" b="-100000"/>
                          </a:stretch>
                        </a:blipFill>
                      </a:tcPr>
                    </a:tc>
                    <a:tc>
                      <a:txBody>
                        <a:bodyPr/>
                        <a:lstStyle/>
                        <a:p>
                          <a:pPr marL="0" marR="0" lvl="0" indent="0" algn="l" rtl="0">
                            <a:lnSpc>
                              <a:spcPct val="100000"/>
                            </a:lnSpc>
                            <a:spcBef>
                              <a:spcPts val="0"/>
                            </a:spcBef>
                            <a:spcAft>
                              <a:spcPts val="0"/>
                            </a:spcAft>
                            <a:buNone/>
                          </a:pPr>
                          <a:endParaRPr dirty="0"/>
                        </a:p>
                      </a:txBody>
                      <a:tcPr marL="68575" marR="68575"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080000">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3" t="-144068" r="-135532"/>
                          </a:stretch>
                        </a:blipFill>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68575" marR="68575"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Fallback>
      </mc:AlternateContent>
      <p:sp>
        <p:nvSpPr>
          <p:cNvPr id="282" name="Google Shape;282;p1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Google Shape;259;p13"/>
              <p:cNvSpPr txBox="1"/>
              <p:nvPr/>
            </p:nvSpPr>
            <p:spPr>
              <a:xfrm>
                <a:off x="532661" y="381082"/>
                <a:ext cx="10515600" cy="3170058"/>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startAt="2"/>
                </a:pPr>
                <a:r>
                  <a:rPr lang="en-US" sz="2000" dirty="0">
                    <a:latin typeface="Verdana" pitchFamily="34" charset="0"/>
                    <a:ea typeface="Verdana" pitchFamily="34" charset="0"/>
                  </a:rPr>
                  <a:t>Amir deposited </a:t>
                </a:r>
                <a14:m>
                  <m:oMath xmlns:m="http://schemas.openxmlformats.org/officeDocument/2006/math">
                    <m:r>
                      <a:rPr lang="en-US" sz="2000" i="1" dirty="0" smtClean="0">
                        <a:latin typeface="Cambria Math"/>
                        <a:ea typeface="Verdana" pitchFamily="34" charset="0"/>
                      </a:rPr>
                      <m:t>$32,500 </m:t>
                    </m:r>
                  </m:oMath>
                </a14:m>
                <a:r>
                  <a:rPr lang="en-US" sz="2000" dirty="0">
                    <a:latin typeface="Verdana" pitchFamily="34" charset="0"/>
                    <a:ea typeface="Verdana" pitchFamily="34" charset="0"/>
                  </a:rPr>
                  <a:t>in a savings account with a </a:t>
                </a:r>
                <a14:m>
                  <m:oMath xmlns:m="http://schemas.openxmlformats.org/officeDocument/2006/math">
                    <m:r>
                      <a:rPr lang="en-US" sz="2000" i="1" dirty="0" smtClean="0">
                        <a:latin typeface="Cambria Math"/>
                        <a:ea typeface="Verdana" pitchFamily="34" charset="0"/>
                      </a:rPr>
                      <m:t>4.25%</m:t>
                    </m:r>
                  </m:oMath>
                </a14:m>
                <a:r>
                  <a:rPr lang="en-US" sz="2000" dirty="0">
                    <a:latin typeface="Verdana" pitchFamily="34" charset="0"/>
                    <a:ea typeface="Verdana" pitchFamily="34" charset="0"/>
                  </a:rPr>
                  <a:t> APR compounded monthly.</a:t>
                </a:r>
              </a:p>
              <a:p>
                <a:pPr marL="457200" indent="-457200" fontAlgn="base">
                  <a:buFont typeface="+mj-lt"/>
                  <a:buAutoNum type="arabicPeriod" startAt="2"/>
                </a:pPr>
                <a:endParaRPr lang="en-US" sz="2000" dirty="0">
                  <a:latin typeface="Verdana" pitchFamily="34" charset="0"/>
                  <a:ea typeface="Verdana" pitchFamily="34" charset="0"/>
                </a:endParaRPr>
              </a:p>
              <a:p>
                <a:pPr marL="900113" indent="-457200" fontAlgn="base">
                  <a:buFont typeface="+mj-lt"/>
                  <a:buAutoNum type="alphaLcPeriod"/>
                </a:pPr>
                <a:r>
                  <a:rPr lang="en-US" sz="2000" dirty="0">
                    <a:latin typeface="Verdana" pitchFamily="34" charset="0"/>
                    <a:ea typeface="Verdana" pitchFamily="34" charset="0"/>
                  </a:rPr>
                  <a:t>Write the equation that models the amount of money Amir has in the account.</a:t>
                </a:r>
              </a:p>
              <a:p>
                <a:pPr marL="900113" indent="-457200" fontAlgn="base">
                  <a:buFont typeface="+mj-lt"/>
                  <a:buAutoNum type="alphaLcPeriod"/>
                </a:pPr>
                <a:endParaRPr lang="en-US" sz="2000" dirty="0">
                  <a:latin typeface="Verdana" pitchFamily="34" charset="0"/>
                  <a:ea typeface="Verdana" pitchFamily="34" charset="0"/>
                </a:endParaRPr>
              </a:p>
              <a:p>
                <a:pPr marL="900113" indent="-457200" fontAlgn="base">
                  <a:buFont typeface="+mj-lt"/>
                  <a:buAutoNum type="alphaLcPeriod"/>
                </a:pPr>
                <a:endParaRPr lang="en-US" sz="2000" dirty="0">
                  <a:latin typeface="Verdana" pitchFamily="34" charset="0"/>
                  <a:ea typeface="Verdana" pitchFamily="34" charset="0"/>
                </a:endParaRPr>
              </a:p>
              <a:p>
                <a:pPr marL="900113" indent="-457200" fontAlgn="base">
                  <a:buFont typeface="+mj-lt"/>
                  <a:buAutoNum type="alphaLcPeriod"/>
                </a:pPr>
                <a:endParaRPr lang="en-US" sz="2000" dirty="0">
                  <a:latin typeface="Verdana" pitchFamily="34" charset="0"/>
                  <a:ea typeface="Verdana" pitchFamily="34" charset="0"/>
                </a:endParaRPr>
              </a:p>
              <a:p>
                <a:pPr marL="900113" indent="-457200" fontAlgn="base">
                  <a:buFont typeface="+mj-lt"/>
                  <a:buAutoNum type="alphaLcPeriod"/>
                </a:pPr>
                <a:endParaRPr lang="en-US" sz="2000" dirty="0">
                  <a:latin typeface="Verdana" pitchFamily="34" charset="0"/>
                  <a:ea typeface="Verdana" pitchFamily="34" charset="0"/>
                </a:endParaRPr>
              </a:p>
              <a:p>
                <a:pPr marL="900113" indent="-457200" fontAlgn="base">
                  <a:buFont typeface="+mj-lt"/>
                  <a:buAutoNum type="alphaLcPeriod"/>
                </a:pPr>
                <a:r>
                  <a:rPr lang="en-US" sz="2000" dirty="0">
                    <a:latin typeface="Verdana" pitchFamily="34" charset="0"/>
                    <a:ea typeface="Verdana" pitchFamily="34" charset="0"/>
                  </a:rPr>
                  <a:t>Use the equation to complete the table. Show your work.</a:t>
                </a:r>
              </a:p>
            </p:txBody>
          </p:sp>
        </mc:Choice>
        <mc:Fallback xmlns="">
          <p:sp>
            <p:nvSpPr>
              <p:cNvPr id="8" name="Google Shape;259;p13"/>
              <p:cNvSpPr txBox="1">
                <a:spLocks noRot="1" noChangeAspect="1" noMove="1" noResize="1" noEditPoints="1" noAdjustHandles="1" noChangeArrowheads="1" noChangeShapeType="1" noTextEdit="1"/>
              </p:cNvSpPr>
              <p:nvPr/>
            </p:nvSpPr>
            <p:spPr>
              <a:xfrm>
                <a:off x="532661" y="381082"/>
                <a:ext cx="10515600" cy="3170058"/>
              </a:xfrm>
              <a:prstGeom prst="rect">
                <a:avLst/>
              </a:prstGeom>
              <a:blipFill rotWithShape="1">
                <a:blip r:embed="rId5"/>
                <a:stretch>
                  <a:fillRect l="-580" t="-1154" b="-2500"/>
                </a:stretch>
              </a:blipFill>
              <a:ln>
                <a:noFill/>
              </a:ln>
            </p:spPr>
            <p:txBody>
              <a:bodyPr/>
              <a:lstStyle/>
              <a:p>
                <a:r>
                  <a:rPr lang="en-PH">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89" name="Google Shape;289;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90" name="Google Shape;290;p16"/>
          <p:cNvSpPr txBox="1"/>
          <p:nvPr/>
        </p:nvSpPr>
        <p:spPr>
          <a:xfrm>
            <a:off x="523782" y="381084"/>
            <a:ext cx="10515600" cy="707846"/>
          </a:xfrm>
          <a:prstGeom prst="rect">
            <a:avLst/>
          </a:prstGeom>
          <a:noFill/>
          <a:ln>
            <a:noFill/>
          </a:ln>
        </p:spPr>
        <p:txBody>
          <a:bodyPr spcFirstLastPara="1" wrap="square" lIns="91425" tIns="45700" rIns="91425" bIns="45700" anchor="t" anchorCtr="0">
            <a:spAutoFit/>
          </a:bodyPr>
          <a:lstStyle/>
          <a:p>
            <a:pPr marL="900113" indent="-457200">
              <a:buFont typeface="+mj-lt"/>
              <a:buAutoNum type="alphaLcPeriod" startAt="3"/>
            </a:pPr>
            <a:r>
              <a:rPr lang="en-US" sz="2000" dirty="0">
                <a:latin typeface="Verdana"/>
                <a:ea typeface="Verdana"/>
                <a:cs typeface="Verdana"/>
                <a:sym typeface="Verdana"/>
              </a:rPr>
              <a:t>Discuss with your partner the relationship between compound interest and exponential growth. Summarize your discussion.</a:t>
            </a:r>
            <a:endParaRPr dirty="0">
              <a:latin typeface="Cambria"/>
              <a:ea typeface="Cambria"/>
              <a:cs typeface="Cambria"/>
              <a:sym typeface="Cambria"/>
            </a:endParaRPr>
          </a:p>
        </p:txBody>
      </p:sp>
      <p:sp>
        <p:nvSpPr>
          <p:cNvPr id="291" name="Google Shape;291;p1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245</a:t>
            </a:r>
            <a:endParaRPr i="1">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7"/>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98" name="Google Shape;298;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99" name="Google Shape;299;p17"/>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0" name="Google Shape;300;p17"/>
          <p:cNvPicPr preferRelativeResize="0"/>
          <p:nvPr/>
        </p:nvPicPr>
        <p:blipFill rotWithShape="1">
          <a:blip r:embed="rId4">
            <a:alphaModFix/>
          </a:blip>
          <a:srcRect/>
          <a:stretch/>
        </p:blipFill>
        <p:spPr>
          <a:xfrm>
            <a:off x="3054096" y="2852923"/>
            <a:ext cx="1152144" cy="1152144"/>
          </a:xfrm>
          <a:prstGeom prst="rect">
            <a:avLst/>
          </a:prstGeom>
          <a:noFill/>
          <a:ln>
            <a:noFill/>
          </a:ln>
          <a:effectLst>
            <a:outerShdw blurRad="50800" dist="38100" dir="2700000" algn="tl" rotWithShape="0">
              <a:srgbClr val="000000">
                <a:alpha val="40000"/>
              </a:srgbClr>
            </a:outerShdw>
          </a:effectLst>
        </p:spPr>
      </p:pic>
      <p:sp>
        <p:nvSpPr>
          <p:cNvPr id="301" name="Google Shape;301;p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245</a:t>
            </a:r>
            <a:endParaRPr i="1">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08" name="Google Shape;308;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09" name="Google Shape;309;p18"/>
          <p:cNvSpPr txBox="1"/>
          <p:nvPr/>
        </p:nvSpPr>
        <p:spPr>
          <a:xfrm>
            <a:off x="1248005" y="-118"/>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13.2.4 Collaboration: Comparing Interest</a:t>
            </a:r>
            <a:endParaRPr sz="1600" dirty="0"/>
          </a:p>
        </p:txBody>
      </p:sp>
      <p:pic>
        <p:nvPicPr>
          <p:cNvPr id="310" name="Google Shape;310;p18"/>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36051" y="287828"/>
            <a:ext cx="749808" cy="749808"/>
          </a:xfrm>
          <a:prstGeom prst="rect">
            <a:avLst/>
          </a:prstGeom>
          <a:noFill/>
          <a:ln>
            <a:noFill/>
          </a:ln>
          <a:effectLst>
            <a:outerShdw blurRad="50800" dist="38100" dir="2700000" algn="tl" rotWithShape="0">
              <a:srgbClr val="000000">
                <a:alpha val="40000"/>
              </a:srgbClr>
            </a:outerShdw>
          </a:effectLst>
        </p:spPr>
      </p:pic>
      <p:sp>
        <p:nvSpPr>
          <p:cNvPr id="311" name="Google Shape;311;p18"/>
          <p:cNvSpPr txBox="1"/>
          <p:nvPr/>
        </p:nvSpPr>
        <p:spPr>
          <a:xfrm>
            <a:off x="533706" y="1461529"/>
            <a:ext cx="10515600" cy="830997"/>
          </a:xfrm>
          <a:prstGeom prst="rect">
            <a:avLst/>
          </a:prstGeom>
          <a:noFill/>
          <a:ln>
            <a:noFill/>
          </a:ln>
        </p:spPr>
        <p:txBody>
          <a:bodyPr spcFirstLastPara="1" wrap="square" lIns="91425" tIns="45700" rIns="91425" bIns="45700" anchor="t" anchorCtr="0">
            <a:spAutoFit/>
          </a:bodyPr>
          <a:lstStyle/>
          <a:p>
            <a:pPr marL="469900" indent="-469900">
              <a:buFont typeface="+mj-lt"/>
              <a:buAutoNum type="arabicPeriod"/>
            </a:pPr>
            <a:r>
              <a:rPr lang="en-US" sz="2400" dirty="0">
                <a:latin typeface="Verdana"/>
                <a:ea typeface="Verdana"/>
                <a:cs typeface="Verdana"/>
                <a:sym typeface="Verdana"/>
              </a:rPr>
              <a:t>Work with your partner to complete the table to compare two investments.</a:t>
            </a:r>
            <a:endParaRPr sz="1600" dirty="0">
              <a:latin typeface="Cambria"/>
              <a:ea typeface="Cambria"/>
              <a:cs typeface="Cambria"/>
              <a:sym typeface="Cambria"/>
            </a:endParaRPr>
          </a:p>
        </p:txBody>
      </p:sp>
      <mc:AlternateContent xmlns:mc="http://schemas.openxmlformats.org/markup-compatibility/2006" xmlns:a14="http://schemas.microsoft.com/office/drawing/2010/main">
        <mc:Choice Requires="a14">
          <p:graphicFrame>
            <p:nvGraphicFramePr>
              <p:cNvPr id="312" name="Google Shape;312;p18"/>
              <p:cNvGraphicFramePr/>
              <p:nvPr>
                <p:extLst>
                  <p:ext uri="{D42A27DB-BD31-4B8C-83A1-F6EECF244321}">
                    <p14:modId xmlns:p14="http://schemas.microsoft.com/office/powerpoint/2010/main" val="3279714908"/>
                  </p:ext>
                </p:extLst>
              </p:nvPr>
            </p:nvGraphicFramePr>
            <p:xfrm>
              <a:off x="1079022" y="2412769"/>
              <a:ext cx="9870325" cy="3708000"/>
            </p:xfrm>
            <a:graphic>
              <a:graphicData uri="http://schemas.openxmlformats.org/drawingml/2006/table">
                <a:tbl>
                  <a:tblPr>
                    <a:noFill/>
                    <a:tableStyleId>{EED9B209-D8D8-40D3-85A7-A46AD64EC929}</a:tableStyleId>
                  </a:tblPr>
                  <a:tblGrid>
                    <a:gridCol w="3600000">
                      <a:extLst>
                        <a:ext uri="{9D8B030D-6E8A-4147-A177-3AD203B41FA5}">
                          <a16:colId xmlns:a16="http://schemas.microsoft.com/office/drawing/2014/main" val="20000"/>
                        </a:ext>
                      </a:extLst>
                    </a:gridCol>
                    <a:gridCol w="2670325">
                      <a:extLst>
                        <a:ext uri="{9D8B030D-6E8A-4147-A177-3AD203B41FA5}">
                          <a16:colId xmlns:a16="http://schemas.microsoft.com/office/drawing/2014/main" val="20001"/>
                        </a:ext>
                      </a:extLst>
                    </a:gridCol>
                    <a:gridCol w="3600000">
                      <a:extLst>
                        <a:ext uri="{9D8B030D-6E8A-4147-A177-3AD203B41FA5}">
                          <a16:colId xmlns:a16="http://schemas.microsoft.com/office/drawing/2014/main" val="20002"/>
                        </a:ext>
                      </a:extLst>
                    </a:gridCol>
                  </a:tblGrid>
                  <a:tr h="4680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 </a:t>
                          </a:r>
                          <a:endParaRPr sz="2000"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Simple Interest</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Compound Interest</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080000">
                    <a:tc>
                      <a:txBody>
                        <a:bodyPr/>
                        <a:lstStyle/>
                        <a:p>
                          <a:pPr marL="88900" marR="0" lvl="0" indent="0" algn="l"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Investment Amount </a:t>
                          </a:r>
                          <a:br>
                            <a:rPr lang="en-US" sz="2000" b="1" u="none" strike="noStrike" cap="none" dirty="0">
                              <a:solidFill>
                                <a:srgbClr val="000000"/>
                              </a:solidFill>
                              <a:latin typeface="Verdana" pitchFamily="34" charset="0"/>
                              <a:ea typeface="Verdana" pitchFamily="34" charset="0"/>
                              <a:cs typeface="Verdana"/>
                              <a:sym typeface="Verdana"/>
                            </a:rPr>
                          </a:br>
                          <a:r>
                            <a:rPr lang="en-US" sz="2000" b="1" u="none" strike="noStrike" cap="none" dirty="0">
                              <a:solidFill>
                                <a:srgbClr val="000000"/>
                              </a:solidFill>
                              <a:latin typeface="Verdana" pitchFamily="34" charset="0"/>
                              <a:ea typeface="Verdana" pitchFamily="34" charset="0"/>
                              <a:cs typeface="Verdana"/>
                              <a:sym typeface="Verdana"/>
                            </a:rPr>
                            <a:t>and APR</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88900" marR="0" lvl="0" indent="0" algn="l" rtl="0">
                            <a:lnSpc>
                              <a:spcPct val="100000"/>
                            </a:lnSpc>
                            <a:spcBef>
                              <a:spcPts val="0"/>
                            </a:spcBef>
                            <a:spcAft>
                              <a:spcPts val="0"/>
                            </a:spcAft>
                            <a:buNone/>
                          </a:pPr>
                          <a14:m>
                            <m:oMath xmlns:m="http://schemas.openxmlformats.org/officeDocument/2006/math">
                              <m:r>
                                <a:rPr lang="en-US" sz="2000" i="1" dirty="0" smtClean="0">
                                  <a:latin typeface="Cambria Math"/>
                                  <a:ea typeface="Verdana" pitchFamily="34" charset="0"/>
                                </a:rPr>
                                <m:t>$50,000 </m:t>
                              </m:r>
                            </m:oMath>
                          </a14:m>
                          <a:r>
                            <a:rPr lang="en-US" sz="2000" dirty="0">
                              <a:latin typeface="Verdana" pitchFamily="34" charset="0"/>
                              <a:ea typeface="Verdana" pitchFamily="34" charset="0"/>
                            </a:rPr>
                            <a:t>is invested at an interest rate of </a:t>
                          </a:r>
                          <a14:m>
                            <m:oMath xmlns:m="http://schemas.openxmlformats.org/officeDocument/2006/math">
                              <m:r>
                                <a:rPr lang="en-US" sz="2000" i="1" dirty="0" smtClean="0">
                                  <a:latin typeface="Cambria Math"/>
                                  <a:ea typeface="Verdana" pitchFamily="34" charset="0"/>
                                </a:rPr>
                                <m:t>2.75%</m:t>
                              </m:r>
                            </m:oMath>
                          </a14:m>
                          <a:r>
                            <a:rPr lang="en-US" sz="2000" dirty="0">
                              <a:latin typeface="Verdana" pitchFamily="34" charset="0"/>
                              <a:ea typeface="Verdana" pitchFamily="34" charset="0"/>
                            </a:rPr>
                            <a:t> APR</a:t>
                          </a:r>
                          <a:endParaRPr sz="2000" u="none" strike="noStrike" cap="none"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88900" lvl="0" indent="0" algn="l" rtl="0">
                            <a:spcBef>
                              <a:spcPts val="0"/>
                            </a:spcBef>
                            <a:spcAft>
                              <a:spcPts val="0"/>
                            </a:spcAft>
                            <a:buClr>
                              <a:schemeClr val="dk1"/>
                            </a:buClr>
                            <a:buFont typeface="Arial"/>
                            <a:buNone/>
                          </a:pPr>
                          <a14:m>
                            <m:oMath xmlns:m="http://schemas.openxmlformats.org/officeDocument/2006/math">
                              <m:r>
                                <a:rPr lang="en-US" sz="2000" i="1" dirty="0" smtClean="0">
                                  <a:solidFill>
                                    <a:schemeClr val="dk1"/>
                                  </a:solidFill>
                                  <a:latin typeface="Cambria Math"/>
                                  <a:ea typeface="Verdana" pitchFamily="34" charset="0"/>
                                </a:rPr>
                                <m:t>$50,000 </m:t>
                              </m:r>
                            </m:oMath>
                          </a14:m>
                          <a:r>
                            <a:rPr lang="en-US" sz="2000" dirty="0">
                              <a:solidFill>
                                <a:schemeClr val="dk1"/>
                              </a:solidFill>
                              <a:latin typeface="Verdana" pitchFamily="34" charset="0"/>
                              <a:ea typeface="Verdana" pitchFamily="34" charset="0"/>
                            </a:rPr>
                            <a:t>is invested at an interest rate of </a:t>
                          </a:r>
                          <a14:m>
                            <m:oMath xmlns:m="http://schemas.openxmlformats.org/officeDocument/2006/math">
                              <m:r>
                                <a:rPr lang="en-US" sz="2000" i="1" dirty="0" smtClean="0">
                                  <a:solidFill>
                                    <a:schemeClr val="dk1"/>
                                  </a:solidFill>
                                  <a:latin typeface="Cambria Math"/>
                                  <a:ea typeface="Verdana" pitchFamily="34" charset="0"/>
                                </a:rPr>
                                <m:t>2.75%</m:t>
                              </m:r>
                            </m:oMath>
                          </a14:m>
                          <a:r>
                            <a:rPr lang="en-US" sz="2000" dirty="0">
                              <a:solidFill>
                                <a:schemeClr val="dk1"/>
                              </a:solidFill>
                              <a:latin typeface="Verdana" pitchFamily="34" charset="0"/>
                              <a:ea typeface="Verdana" pitchFamily="34" charset="0"/>
                            </a:rPr>
                            <a:t> APR compounded monthly</a:t>
                          </a:r>
                          <a:endParaRPr sz="2000" u="none" strike="noStrike" cap="none"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000">
                    <a:tc>
                      <a:txBody>
                        <a:bodyPr/>
                        <a:lstStyle/>
                        <a:p>
                          <a:pPr marL="88900" marR="0" lvl="0" indent="0" algn="l"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Write the equation.</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l"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PH" sz="2000" i="1" smtClean="0">
                                    <a:latin typeface="Cambria Math"/>
                                    <a:ea typeface="Verdana" pitchFamily="34" charset="0"/>
                                  </a:rPr>
                                  <m:t>𝐴</m:t>
                                </m:r>
                                <m:r>
                                  <a:rPr lang="en-PH" sz="2000" i="1" smtClean="0">
                                    <a:latin typeface="Cambria Math"/>
                                    <a:ea typeface="Verdana" pitchFamily="34" charset="0"/>
                                  </a:rPr>
                                  <m:t>=</m:t>
                                </m:r>
                                <m:r>
                                  <a:rPr lang="en-PH" sz="2000" i="1" smtClean="0">
                                    <a:latin typeface="Cambria Math"/>
                                    <a:ea typeface="Verdana" pitchFamily="34" charset="0"/>
                                  </a:rPr>
                                  <m:t>𝑃</m:t>
                                </m:r>
                                <m:d>
                                  <m:dPr>
                                    <m:ctrlPr>
                                      <a:rPr lang="en-PH" sz="2000" i="1" smtClean="0">
                                        <a:latin typeface="Cambria Math" panose="02040503050406030204" pitchFamily="18" charset="0"/>
                                        <a:ea typeface="Verdana" pitchFamily="34" charset="0"/>
                                      </a:rPr>
                                    </m:ctrlPr>
                                  </m:dPr>
                                  <m:e>
                                    <m:r>
                                      <a:rPr lang="en-PH" sz="2000" i="1">
                                        <a:latin typeface="Cambria Math"/>
                                        <a:ea typeface="Verdana" pitchFamily="34" charset="0"/>
                                      </a:rPr>
                                      <m:t>1+</m:t>
                                    </m:r>
                                    <m:r>
                                      <a:rPr lang="en-PH" sz="2000" b="0" i="1" smtClean="0">
                                        <a:latin typeface="Cambria Math"/>
                                        <a:ea typeface="Verdana" pitchFamily="34" charset="0"/>
                                      </a:rPr>
                                      <m:t>𝑟𝑡</m:t>
                                    </m:r>
                                  </m:e>
                                </m:d>
                              </m:oMath>
                            </m:oMathPara>
                          </a14:m>
                          <a:endParaRPr sz="2000" u="none" strike="noStrike" cap="none"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PH" sz="2000" i="1" smtClean="0">
                                    <a:latin typeface="Cambria Math"/>
                                    <a:ea typeface="Verdana" pitchFamily="34" charset="0"/>
                                  </a:rPr>
                                  <m:t>𝐴</m:t>
                                </m:r>
                                <m:r>
                                  <a:rPr lang="en-PH" sz="2000" i="1" smtClean="0">
                                    <a:latin typeface="Cambria Math"/>
                                    <a:ea typeface="Verdana" pitchFamily="34" charset="0"/>
                                  </a:rPr>
                                  <m:t>=</m:t>
                                </m:r>
                                <m:r>
                                  <a:rPr lang="en-PH" sz="2000" i="1" smtClean="0">
                                    <a:latin typeface="Cambria Math"/>
                                    <a:ea typeface="Verdana" pitchFamily="34" charset="0"/>
                                  </a:rPr>
                                  <m:t>𝑃</m:t>
                                </m:r>
                                <m:sSup>
                                  <m:sSupPr>
                                    <m:ctrlPr>
                                      <a:rPr lang="en-PH" sz="2000" i="1">
                                        <a:latin typeface="Cambria Math" panose="02040503050406030204" pitchFamily="18" charset="0"/>
                                        <a:ea typeface="Verdana" pitchFamily="34" charset="0"/>
                                      </a:rPr>
                                    </m:ctrlPr>
                                  </m:sSupPr>
                                  <m:e>
                                    <m:d>
                                      <m:dPr>
                                        <m:ctrlPr>
                                          <a:rPr lang="en-PH" sz="2000" i="1">
                                            <a:latin typeface="Cambria Math" panose="02040503050406030204" pitchFamily="18" charset="0"/>
                                            <a:ea typeface="Verdana" pitchFamily="34" charset="0"/>
                                          </a:rPr>
                                        </m:ctrlPr>
                                      </m:dPr>
                                      <m:e>
                                        <m:r>
                                          <a:rPr lang="en-PH" sz="2000" i="1">
                                            <a:latin typeface="Cambria Math"/>
                                            <a:ea typeface="Verdana" pitchFamily="34" charset="0"/>
                                          </a:rPr>
                                          <m:t>1+</m:t>
                                        </m:r>
                                        <m:f>
                                          <m:fPr>
                                            <m:ctrlPr>
                                              <a:rPr lang="en-PH" sz="2000" i="1">
                                                <a:latin typeface="Cambria Math" panose="02040503050406030204" pitchFamily="18" charset="0"/>
                                                <a:ea typeface="Verdana" pitchFamily="34" charset="0"/>
                                              </a:rPr>
                                            </m:ctrlPr>
                                          </m:fPr>
                                          <m:num>
                                            <m:r>
                                              <a:rPr lang="en-PH" sz="2000" i="1">
                                                <a:latin typeface="Cambria Math"/>
                                                <a:ea typeface="Verdana" pitchFamily="34" charset="0"/>
                                              </a:rPr>
                                              <m:t>𝑟</m:t>
                                            </m:r>
                                          </m:num>
                                          <m:den>
                                            <m:r>
                                              <a:rPr lang="en-PH" sz="2000" i="1">
                                                <a:latin typeface="Cambria Math"/>
                                                <a:ea typeface="Verdana" pitchFamily="34" charset="0"/>
                                              </a:rPr>
                                              <m:t>𝑛</m:t>
                                            </m:r>
                                          </m:den>
                                        </m:f>
                                      </m:e>
                                    </m:d>
                                  </m:e>
                                  <m:sup>
                                    <m:r>
                                      <a:rPr lang="en-PH" sz="2000" i="1">
                                        <a:latin typeface="Cambria Math"/>
                                        <a:ea typeface="Verdana" pitchFamily="34" charset="0"/>
                                      </a:rPr>
                                      <m:t>𝑛𝑡</m:t>
                                    </m:r>
                                  </m:sup>
                                </m:sSup>
                              </m:oMath>
                            </m:oMathPara>
                          </a14:m>
                          <a:endParaRPr sz="2000" u="none" strike="noStrike" cap="none"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0000">
                    <a:tc>
                      <a:txBody>
                        <a:bodyPr/>
                        <a:lstStyle/>
                        <a:p>
                          <a:pPr marL="88900" marR="0" lvl="0" indent="0" algn="l" rtl="0">
                            <a:lnSpc>
                              <a:spcPct val="100000"/>
                            </a:lnSpc>
                            <a:spcBef>
                              <a:spcPts val="0"/>
                            </a:spcBef>
                            <a:spcAft>
                              <a:spcPts val="0"/>
                            </a:spcAft>
                            <a:buNone/>
                          </a:pPr>
                          <a:r>
                            <a:rPr lang="en-US" sz="2000" b="1" dirty="0">
                              <a:latin typeface="Verdana" pitchFamily="34" charset="0"/>
                              <a:ea typeface="Verdana" pitchFamily="34" charset="0"/>
                              <a:cs typeface="Verdana"/>
                              <a:sym typeface="Verdana"/>
                            </a:rPr>
                            <a:t>Determine the amount after </a:t>
                          </a:r>
                          <a14:m>
                            <m:oMath xmlns:m="http://schemas.openxmlformats.org/officeDocument/2006/math">
                              <m:r>
                                <a:rPr lang="en-US" sz="2000" b="1" i="1" dirty="0" smtClean="0">
                                  <a:latin typeface="Cambria Math"/>
                                  <a:ea typeface="Verdana" pitchFamily="34" charset="0"/>
                                  <a:cs typeface="Verdana"/>
                                  <a:sym typeface="Verdana"/>
                                </a:rPr>
                                <m:t>𝟏𝟎</m:t>
                              </m:r>
                              <m:r>
                                <a:rPr lang="en-US" sz="2000" b="1" i="1" dirty="0" smtClean="0">
                                  <a:latin typeface="Cambria Math"/>
                                  <a:ea typeface="Verdana" pitchFamily="34" charset="0"/>
                                  <a:cs typeface="Verdana"/>
                                  <a:sym typeface="Verdana"/>
                                </a:rPr>
                                <m:t> </m:t>
                              </m:r>
                            </m:oMath>
                          </a14:m>
                          <a:r>
                            <a:rPr lang="en-US" sz="2000" b="1" dirty="0">
                              <a:latin typeface="Verdana" pitchFamily="34" charset="0"/>
                              <a:ea typeface="Verdana" pitchFamily="34" charset="0"/>
                              <a:cs typeface="Verdana"/>
                              <a:sym typeface="Verdana"/>
                            </a:rPr>
                            <a:t>years.</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l" rtl="0">
                            <a:lnSpc>
                              <a:spcPct val="100000"/>
                            </a:lnSpc>
                            <a:spcBef>
                              <a:spcPts val="0"/>
                            </a:spcBef>
                            <a:spcAft>
                              <a:spcPts val="0"/>
                            </a:spcAft>
                            <a:buNone/>
                          </a:pPr>
                          <a:endParaRPr sz="2000" u="none" strike="noStrike" cap="none">
                            <a:latin typeface="Verdana" pitchFamily="34" charset="0"/>
                            <a:ea typeface="Verdana" pitchFamily="34" charset="0"/>
                            <a:cs typeface="Verdana"/>
                            <a:sym typeface="Verdana"/>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r>
                            <a:rPr lang="en-US" sz="2000" u="none" strike="noStrike" cap="none">
                              <a:latin typeface="Verdana" pitchFamily="34" charset="0"/>
                              <a:ea typeface="Verdana" pitchFamily="34" charset="0"/>
                              <a:cs typeface="Verdana"/>
                              <a:sym typeface="Verdana"/>
                            </a:rPr>
                            <a:t> </a:t>
                          </a:r>
                          <a:endParaRPr sz="2000">
                            <a:latin typeface="Verdana" pitchFamily="34" charset="0"/>
                            <a:ea typeface="Verdana" pitchFamily="34" charset="0"/>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20000">
                    <a:tc>
                      <a:txBody>
                        <a:bodyPr/>
                        <a:lstStyle/>
                        <a:p>
                          <a:pPr marL="88900" lvl="0" indent="0" algn="l" rtl="0">
                            <a:spcBef>
                              <a:spcPts val="0"/>
                            </a:spcBef>
                            <a:spcAft>
                              <a:spcPts val="0"/>
                            </a:spcAft>
                            <a:buClr>
                              <a:schemeClr val="dk1"/>
                            </a:buClr>
                            <a:buFont typeface="Arial"/>
                            <a:buNone/>
                          </a:pPr>
                          <a:r>
                            <a:rPr lang="en-US" sz="2000" b="1" dirty="0">
                              <a:solidFill>
                                <a:schemeClr val="dk1"/>
                              </a:solidFill>
                              <a:latin typeface="Verdana" pitchFamily="34" charset="0"/>
                              <a:ea typeface="Verdana" pitchFamily="34" charset="0"/>
                              <a:cs typeface="Verdana"/>
                              <a:sym typeface="Verdana"/>
                            </a:rPr>
                            <a:t>Determine the amount after </a:t>
                          </a:r>
                          <a14:m>
                            <m:oMath xmlns:m="http://schemas.openxmlformats.org/officeDocument/2006/math">
                              <m:r>
                                <a:rPr lang="en-US" sz="2000" b="1" i="1" dirty="0" smtClean="0">
                                  <a:solidFill>
                                    <a:schemeClr val="dk1"/>
                                  </a:solidFill>
                                  <a:latin typeface="Cambria Math"/>
                                  <a:ea typeface="Verdana" pitchFamily="34" charset="0"/>
                                  <a:cs typeface="Verdana"/>
                                  <a:sym typeface="Verdana"/>
                                </a:rPr>
                                <m:t>𝟐𝟎</m:t>
                              </m:r>
                              <m:r>
                                <a:rPr lang="en-US" sz="2000" b="1" i="1" dirty="0" smtClean="0">
                                  <a:solidFill>
                                    <a:schemeClr val="dk1"/>
                                  </a:solidFill>
                                  <a:latin typeface="Cambria Math"/>
                                  <a:ea typeface="Verdana" pitchFamily="34" charset="0"/>
                                  <a:cs typeface="Verdana"/>
                                  <a:sym typeface="Verdana"/>
                                </a:rPr>
                                <m:t> </m:t>
                              </m:r>
                            </m:oMath>
                          </a14:m>
                          <a:r>
                            <a:rPr lang="en-US" sz="2000" b="1" dirty="0">
                              <a:solidFill>
                                <a:schemeClr val="dk1"/>
                              </a:solidFill>
                              <a:latin typeface="Verdana" pitchFamily="34" charset="0"/>
                              <a:ea typeface="Verdana" pitchFamily="34" charset="0"/>
                              <a:cs typeface="Verdana"/>
                              <a:sym typeface="Verdana"/>
                            </a:rPr>
                            <a:t>years.</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l" rtl="0">
                            <a:lnSpc>
                              <a:spcPct val="100000"/>
                            </a:lnSpc>
                            <a:spcBef>
                              <a:spcPts val="0"/>
                            </a:spcBef>
                            <a:spcAft>
                              <a:spcPts val="0"/>
                            </a:spcAft>
                            <a:buNone/>
                          </a:pPr>
                          <a:endParaRPr sz="2000" u="none" strike="noStrike" cap="none">
                            <a:latin typeface="Verdana" pitchFamily="34" charset="0"/>
                            <a:ea typeface="Verdana" pitchFamily="34" charset="0"/>
                            <a:cs typeface="Verdana"/>
                            <a:sym typeface="Verdana"/>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 </a:t>
                          </a:r>
                          <a:endParaRPr sz="2000" dirty="0">
                            <a:latin typeface="Verdana" pitchFamily="34" charset="0"/>
                            <a:ea typeface="Verdana" pitchFamily="34" charset="0"/>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312" name="Google Shape;312;p18"/>
              <p:cNvGraphicFramePr/>
              <p:nvPr>
                <p:extLst>
                  <p:ext uri="{D42A27DB-BD31-4B8C-83A1-F6EECF244321}">
                    <p14:modId xmlns:p14="http://schemas.microsoft.com/office/powerpoint/2010/main" val="3279714908"/>
                  </p:ext>
                </p:extLst>
              </p:nvPr>
            </p:nvGraphicFramePr>
            <p:xfrm>
              <a:off x="1079022" y="2412769"/>
              <a:ext cx="9870325" cy="3708000"/>
            </p:xfrm>
            <a:graphic>
              <a:graphicData uri="http://schemas.openxmlformats.org/drawingml/2006/table">
                <a:tbl>
                  <a:tblPr>
                    <a:noFill/>
                    <a:tableStyleId>{EED9B209-D8D8-40D3-85A7-A46AD64EC929}</a:tableStyleId>
                  </a:tblPr>
                  <a:tblGrid>
                    <a:gridCol w="3600000">
                      <a:extLst>
                        <a:ext uri="{9D8B030D-6E8A-4147-A177-3AD203B41FA5}">
                          <a16:colId xmlns:a16="http://schemas.microsoft.com/office/drawing/2014/main" xmlns="" val="20000"/>
                        </a:ext>
                      </a:extLst>
                    </a:gridCol>
                    <a:gridCol w="2670325">
                      <a:extLst>
                        <a:ext uri="{9D8B030D-6E8A-4147-A177-3AD203B41FA5}">
                          <a16:colId xmlns:a16="http://schemas.microsoft.com/office/drawing/2014/main" xmlns="" val="20001"/>
                        </a:ext>
                      </a:extLst>
                    </a:gridCol>
                    <a:gridCol w="3600000">
                      <a:extLst>
                        <a:ext uri="{9D8B030D-6E8A-4147-A177-3AD203B41FA5}">
                          <a16:colId xmlns:a16="http://schemas.microsoft.com/office/drawing/2014/main" xmlns="" val="20002"/>
                        </a:ext>
                      </a:extLst>
                    </a:gridCol>
                  </a:tblGrid>
                  <a:tr h="4680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 </a:t>
                          </a:r>
                          <a:endParaRPr sz="2000"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Simple Interest</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Compound Interest</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080000">
                    <a:tc>
                      <a:txBody>
                        <a:bodyPr/>
                        <a:lstStyle/>
                        <a:p>
                          <a:pPr marL="88900" marR="0" lvl="0" indent="0" algn="l"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Investment Amount </a:t>
                          </a:r>
                          <a:r>
                            <a:rPr lang="en-US" sz="2000" b="1" u="none" strike="noStrike" cap="none" dirty="0" smtClean="0">
                              <a:solidFill>
                                <a:srgbClr val="000000"/>
                              </a:solidFill>
                              <a:latin typeface="Verdana" pitchFamily="34" charset="0"/>
                              <a:ea typeface="Verdana" pitchFamily="34" charset="0"/>
                              <a:cs typeface="Verdana"/>
                              <a:sym typeface="Verdana"/>
                            </a:rPr>
                            <a:t/>
                          </a:r>
                          <a:br>
                            <a:rPr lang="en-US" sz="2000" b="1" u="none" strike="noStrike" cap="none" dirty="0" smtClean="0">
                              <a:solidFill>
                                <a:srgbClr val="000000"/>
                              </a:solidFill>
                              <a:latin typeface="Verdana" pitchFamily="34" charset="0"/>
                              <a:ea typeface="Verdana" pitchFamily="34" charset="0"/>
                              <a:cs typeface="Verdana"/>
                              <a:sym typeface="Verdana"/>
                            </a:rPr>
                          </a:br>
                          <a:r>
                            <a:rPr lang="en-US" sz="2000" b="1" u="none" strike="noStrike" cap="none" dirty="0" smtClean="0">
                              <a:solidFill>
                                <a:srgbClr val="000000"/>
                              </a:solidFill>
                              <a:latin typeface="Verdana" pitchFamily="34" charset="0"/>
                              <a:ea typeface="Verdana" pitchFamily="34" charset="0"/>
                              <a:cs typeface="Verdana"/>
                              <a:sym typeface="Verdana"/>
                            </a:rPr>
                            <a:t>and </a:t>
                          </a:r>
                          <a:r>
                            <a:rPr lang="en-US" sz="2000" b="1" u="none" strike="noStrike" cap="none" dirty="0">
                              <a:solidFill>
                                <a:srgbClr val="000000"/>
                              </a:solidFill>
                              <a:latin typeface="Verdana" pitchFamily="34" charset="0"/>
                              <a:ea typeface="Verdana" pitchFamily="34" charset="0"/>
                              <a:cs typeface="Verdana"/>
                              <a:sym typeface="Verdana"/>
                            </a:rPr>
                            <a:t>APR</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34396" t="-44068" r="-134624" b="-209605"/>
                          </a:stretch>
                        </a:blipFill>
                      </a:tcPr>
                    </a:tc>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4407" t="-44068" r="-169" b="-209605"/>
                          </a:stretch>
                        </a:blipFill>
                      </a:tcPr>
                    </a:tc>
                    <a:extLst>
                      <a:ext uri="{0D108BD9-81ED-4DB2-BD59-A6C34878D82A}">
                        <a16:rowId xmlns:a16="http://schemas.microsoft.com/office/drawing/2014/main" xmlns="" val="10001"/>
                      </a:ext>
                    </a:extLst>
                  </a:tr>
                  <a:tr h="720000">
                    <a:tc>
                      <a:txBody>
                        <a:bodyPr/>
                        <a:lstStyle/>
                        <a:p>
                          <a:pPr marL="88900" marR="0" lvl="0" indent="0" algn="l"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Write the equation.</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34396" t="-216102" r="-134624" b="-214407"/>
                          </a:stretch>
                        </a:blipFill>
                      </a:tcPr>
                    </a:tc>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4407" t="-216102" r="-169" b="-214407"/>
                          </a:stretch>
                        </a:blipFill>
                      </a:tcPr>
                    </a:tc>
                    <a:extLst>
                      <a:ext uri="{0D108BD9-81ED-4DB2-BD59-A6C34878D82A}">
                        <a16:rowId xmlns:a16="http://schemas.microsoft.com/office/drawing/2014/main" xmlns="" val="10002"/>
                      </a:ext>
                    </a:extLst>
                  </a:tr>
                  <a:tr h="720000">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16102" r="-174576" b="-114407"/>
                          </a:stretch>
                        </a:blipFill>
                      </a:tcPr>
                    </a:tc>
                    <a:tc>
                      <a:txBody>
                        <a:bodyPr/>
                        <a:lstStyle/>
                        <a:p>
                          <a:pPr marL="0" marR="0" lvl="0" indent="0" algn="l" rtl="0">
                            <a:lnSpc>
                              <a:spcPct val="100000"/>
                            </a:lnSpc>
                            <a:spcBef>
                              <a:spcPts val="0"/>
                            </a:spcBef>
                            <a:spcAft>
                              <a:spcPts val="0"/>
                            </a:spcAft>
                            <a:buNone/>
                          </a:pPr>
                          <a:endParaRPr sz="2000" u="none" strike="noStrike" cap="none">
                            <a:latin typeface="Verdana" pitchFamily="34" charset="0"/>
                            <a:ea typeface="Verdana" pitchFamily="34" charset="0"/>
                            <a:cs typeface="Verdana"/>
                            <a:sym typeface="Verdana"/>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r>
                            <a:rPr lang="en-US" sz="2000" u="none" strike="noStrike" cap="none">
                              <a:latin typeface="Verdana" pitchFamily="34" charset="0"/>
                              <a:ea typeface="Verdana" pitchFamily="34" charset="0"/>
                              <a:cs typeface="Verdana"/>
                              <a:sym typeface="Verdana"/>
                            </a:rPr>
                            <a:t> </a:t>
                          </a:r>
                          <a:endParaRPr sz="2000">
                            <a:latin typeface="Verdana" pitchFamily="34" charset="0"/>
                            <a:ea typeface="Verdana" pitchFamily="34" charset="0"/>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720000">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416102" r="-174576" b="-14407"/>
                          </a:stretch>
                        </a:blipFill>
                      </a:tcPr>
                    </a:tc>
                    <a:tc>
                      <a:txBody>
                        <a:bodyPr/>
                        <a:lstStyle/>
                        <a:p>
                          <a:pPr marL="0" marR="0" lvl="0" indent="0" algn="l" rtl="0">
                            <a:lnSpc>
                              <a:spcPct val="100000"/>
                            </a:lnSpc>
                            <a:spcBef>
                              <a:spcPts val="0"/>
                            </a:spcBef>
                            <a:spcAft>
                              <a:spcPts val="0"/>
                            </a:spcAft>
                            <a:buNone/>
                          </a:pPr>
                          <a:endParaRPr sz="2000" u="none" strike="noStrike" cap="none">
                            <a:latin typeface="Verdana" pitchFamily="34" charset="0"/>
                            <a:ea typeface="Verdana" pitchFamily="34" charset="0"/>
                            <a:cs typeface="Verdana"/>
                            <a:sym typeface="Verdana"/>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 </a:t>
                          </a:r>
                          <a:endParaRPr sz="2000" dirty="0">
                            <a:latin typeface="Verdana" pitchFamily="34" charset="0"/>
                            <a:ea typeface="Verdana" pitchFamily="34" charset="0"/>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Fallback>
      </mc:AlternateContent>
      <p:sp>
        <p:nvSpPr>
          <p:cNvPr id="313" name="Google Shape;313;p1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245</a:t>
            </a:r>
            <a:endParaRPr i="1" dirty="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9"/>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22" name="Google Shape;322;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23" name="Google Shape;323;p1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324" name="Google Shape;324;p19"/>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srgbClr val="000000">
                <a:alpha val="40000"/>
              </a:srgbClr>
            </a:outerShdw>
          </a:effectLst>
        </p:spPr>
      </p:pic>
      <p:sp>
        <p:nvSpPr>
          <p:cNvPr id="325" name="Google Shape;325;p1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246</a:t>
            </a:r>
            <a:endParaRPr i="1">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32" name="Google Shape;332;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33" name="Google Shape;333;p20"/>
          <p:cNvSpPr txBox="1"/>
          <p:nvPr/>
        </p:nvSpPr>
        <p:spPr>
          <a:xfrm>
            <a:off x="1254375" y="-1372"/>
            <a:ext cx="10540014"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13.2.5 Wrap-Up: Ticket Out the Door</a:t>
            </a:r>
            <a:endParaRPr sz="1800" dirty="0"/>
          </a:p>
        </p:txBody>
      </p:sp>
      <p:pic>
        <p:nvPicPr>
          <p:cNvPr id="334" name="Google Shape;334;p20"/>
          <p:cNvPicPr preferRelativeResize="0"/>
          <p:nvPr/>
        </p:nvPicPr>
        <p:blipFill rotWithShape="1">
          <a:blip r:embed="rId4">
            <a:alphaModFix/>
          </a:blip>
          <a:srcRect/>
          <a:stretch/>
        </p:blipFill>
        <p:spPr>
          <a:xfrm>
            <a:off x="436051" y="287828"/>
            <a:ext cx="747300" cy="747300"/>
          </a:xfrm>
          <a:prstGeom prst="rect">
            <a:avLst/>
          </a:prstGeom>
          <a:noFill/>
          <a:ln>
            <a:noFill/>
          </a:ln>
          <a:effectLst>
            <a:outerShdw blurRad="50800" dist="38100" dir="2700000" algn="tl" rotWithShape="0">
              <a:srgbClr val="000000">
                <a:alpha val="40000"/>
              </a:srgbClr>
            </a:outerShdw>
          </a:effectLst>
        </p:spPr>
      </p:pic>
      <p:sp>
        <p:nvSpPr>
          <p:cNvPr id="335" name="Google Shape;335;p20"/>
          <p:cNvSpPr txBox="1"/>
          <p:nvPr/>
        </p:nvSpPr>
        <p:spPr>
          <a:xfrm>
            <a:off x="534464" y="1466063"/>
            <a:ext cx="8327136" cy="400110"/>
          </a:xfrm>
          <a:prstGeom prst="rect">
            <a:avLst/>
          </a:prstGeom>
          <a:noFill/>
          <a:ln>
            <a:noFill/>
          </a:ln>
        </p:spPr>
        <p:txBody>
          <a:bodyPr spcFirstLastPara="1" wrap="square" lIns="91425" tIns="45700" rIns="91425" bIns="45700" anchor="t" anchorCtr="0">
            <a:spAutoFit/>
          </a:bodyPr>
          <a:lstStyle/>
          <a:p>
            <a:pPr marL="342900" indent="-342900">
              <a:buSzPts val="2000"/>
              <a:buFont typeface="Arial"/>
              <a:buAutoNum type="arabicPeriod"/>
            </a:pPr>
            <a:r>
              <a:rPr lang="en-US" sz="2000">
                <a:latin typeface="Verdana"/>
                <a:ea typeface="Verdana"/>
                <a:cs typeface="Verdana"/>
                <a:sym typeface="Verdana"/>
              </a:rPr>
              <a:t> Complete the table to compare two investments.</a:t>
            </a:r>
            <a:endParaRPr>
              <a:latin typeface="Cambria"/>
              <a:ea typeface="Cambria"/>
              <a:cs typeface="Cambria"/>
              <a:sym typeface="Cambria"/>
            </a:endParaRPr>
          </a:p>
        </p:txBody>
      </p:sp>
      <p:sp>
        <p:nvSpPr>
          <p:cNvPr id="337" name="Google Shape;337;p2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13" name="Google Shape;312;p18"/>
              <p:cNvGraphicFramePr/>
              <p:nvPr>
                <p:extLst>
                  <p:ext uri="{D42A27DB-BD31-4B8C-83A1-F6EECF244321}">
                    <p14:modId xmlns:p14="http://schemas.microsoft.com/office/powerpoint/2010/main" val="3508283650"/>
                  </p:ext>
                </p:extLst>
              </p:nvPr>
            </p:nvGraphicFramePr>
            <p:xfrm>
              <a:off x="1079022" y="2031029"/>
              <a:ext cx="9870325" cy="2988000"/>
            </p:xfrm>
            <a:graphic>
              <a:graphicData uri="http://schemas.openxmlformats.org/drawingml/2006/table">
                <a:tbl>
                  <a:tblPr>
                    <a:noFill/>
                    <a:tableStyleId>{EED9B209-D8D8-40D3-85A7-A46AD64EC929}</a:tableStyleId>
                  </a:tblPr>
                  <a:tblGrid>
                    <a:gridCol w="3600000">
                      <a:extLst>
                        <a:ext uri="{9D8B030D-6E8A-4147-A177-3AD203B41FA5}">
                          <a16:colId xmlns:a16="http://schemas.microsoft.com/office/drawing/2014/main" val="20000"/>
                        </a:ext>
                      </a:extLst>
                    </a:gridCol>
                    <a:gridCol w="2670325">
                      <a:extLst>
                        <a:ext uri="{9D8B030D-6E8A-4147-A177-3AD203B41FA5}">
                          <a16:colId xmlns:a16="http://schemas.microsoft.com/office/drawing/2014/main" val="20001"/>
                        </a:ext>
                      </a:extLst>
                    </a:gridCol>
                    <a:gridCol w="3600000">
                      <a:extLst>
                        <a:ext uri="{9D8B030D-6E8A-4147-A177-3AD203B41FA5}">
                          <a16:colId xmlns:a16="http://schemas.microsoft.com/office/drawing/2014/main" val="20002"/>
                        </a:ext>
                      </a:extLst>
                    </a:gridCol>
                  </a:tblGrid>
                  <a:tr h="4680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 </a:t>
                          </a:r>
                          <a:endParaRPr sz="2000"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Simple Interest</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Compound Interest</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080000">
                    <a:tc>
                      <a:txBody>
                        <a:bodyPr/>
                        <a:lstStyle/>
                        <a:p>
                          <a:pPr marL="88900" marR="0" lvl="0" indent="0" algn="l"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Investment Amount </a:t>
                          </a:r>
                          <a:br>
                            <a:rPr lang="en-US" sz="2000" b="1" u="none" strike="noStrike" cap="none" dirty="0">
                              <a:solidFill>
                                <a:srgbClr val="000000"/>
                              </a:solidFill>
                              <a:latin typeface="Verdana" pitchFamily="34" charset="0"/>
                              <a:ea typeface="Verdana" pitchFamily="34" charset="0"/>
                              <a:cs typeface="Verdana"/>
                              <a:sym typeface="Verdana"/>
                            </a:rPr>
                          </a:br>
                          <a:r>
                            <a:rPr lang="en-US" sz="2000" b="1" u="none" strike="noStrike" cap="none" dirty="0">
                              <a:solidFill>
                                <a:srgbClr val="000000"/>
                              </a:solidFill>
                              <a:latin typeface="Verdana" pitchFamily="34" charset="0"/>
                              <a:ea typeface="Verdana" pitchFamily="34" charset="0"/>
                              <a:cs typeface="Verdana"/>
                              <a:sym typeface="Verdana"/>
                            </a:rPr>
                            <a:t>and APR</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88900" marR="0" lvl="0" indent="0" algn="l" rtl="0">
                            <a:lnSpc>
                              <a:spcPct val="100000"/>
                            </a:lnSpc>
                            <a:spcBef>
                              <a:spcPts val="0"/>
                            </a:spcBef>
                            <a:spcAft>
                              <a:spcPts val="0"/>
                            </a:spcAft>
                            <a:buNone/>
                          </a:pPr>
                          <a14:m>
                            <m:oMath xmlns:m="http://schemas.openxmlformats.org/officeDocument/2006/math">
                              <m:r>
                                <a:rPr lang="en-US" sz="2000" i="1" dirty="0" smtClean="0">
                                  <a:latin typeface="Cambria Math"/>
                                  <a:ea typeface="Verdana" pitchFamily="34" charset="0"/>
                                </a:rPr>
                                <m:t>$2,325 </m:t>
                              </m:r>
                            </m:oMath>
                          </a14:m>
                          <a:r>
                            <a:rPr lang="en-US" sz="2000" dirty="0">
                              <a:latin typeface="Verdana" pitchFamily="34" charset="0"/>
                              <a:ea typeface="Verdana" pitchFamily="34" charset="0"/>
                            </a:rPr>
                            <a:t>is invested at an interest rate of </a:t>
                          </a:r>
                          <a14:m>
                            <m:oMath xmlns:m="http://schemas.openxmlformats.org/officeDocument/2006/math">
                              <m:r>
                                <a:rPr lang="en-US" sz="2000" i="1" dirty="0" smtClean="0">
                                  <a:latin typeface="Cambria Math"/>
                                  <a:ea typeface="Verdana" pitchFamily="34" charset="0"/>
                                </a:rPr>
                                <m:t>4.5%</m:t>
                              </m:r>
                            </m:oMath>
                          </a14:m>
                          <a:r>
                            <a:rPr lang="en-US" sz="2000" dirty="0">
                              <a:latin typeface="Verdana" pitchFamily="34" charset="0"/>
                              <a:ea typeface="Verdana" pitchFamily="34" charset="0"/>
                            </a:rPr>
                            <a:t> APR</a:t>
                          </a:r>
                          <a:endParaRPr lang="en-US" sz="2000" u="none" strike="noStrike" cap="none"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88900" lvl="0" indent="0" algn="l" rtl="0">
                            <a:spcBef>
                              <a:spcPts val="0"/>
                            </a:spcBef>
                            <a:spcAft>
                              <a:spcPts val="0"/>
                            </a:spcAft>
                            <a:buNone/>
                          </a:pPr>
                          <a14:m>
                            <m:oMath xmlns:m="http://schemas.openxmlformats.org/officeDocument/2006/math">
                              <m:r>
                                <a:rPr lang="en-US" sz="2000" i="1" dirty="0" smtClean="0">
                                  <a:solidFill>
                                    <a:schemeClr val="dk1"/>
                                  </a:solidFill>
                                  <a:latin typeface="Cambria Math"/>
                                  <a:ea typeface="Verdana" pitchFamily="34" charset="0"/>
                                </a:rPr>
                                <m:t>$2,325 </m:t>
                              </m:r>
                            </m:oMath>
                          </a14:m>
                          <a:r>
                            <a:rPr lang="en-US" sz="2000" dirty="0">
                              <a:solidFill>
                                <a:schemeClr val="dk1"/>
                              </a:solidFill>
                              <a:latin typeface="Verdana" pitchFamily="34" charset="0"/>
                              <a:ea typeface="Verdana" pitchFamily="34" charset="0"/>
                            </a:rPr>
                            <a:t>is invested at an interest rate of </a:t>
                          </a:r>
                          <a14:m>
                            <m:oMath xmlns:m="http://schemas.openxmlformats.org/officeDocument/2006/math">
                              <m:r>
                                <a:rPr lang="en-US" sz="2000" i="1" dirty="0" smtClean="0">
                                  <a:solidFill>
                                    <a:schemeClr val="dk1"/>
                                  </a:solidFill>
                                  <a:latin typeface="Cambria Math"/>
                                  <a:ea typeface="Verdana" pitchFamily="34" charset="0"/>
                                </a:rPr>
                                <m:t>4.5%</m:t>
                              </m:r>
                            </m:oMath>
                          </a14:m>
                          <a:r>
                            <a:rPr lang="en-US" sz="2000" dirty="0">
                              <a:solidFill>
                                <a:schemeClr val="dk1"/>
                              </a:solidFill>
                              <a:latin typeface="Verdana" pitchFamily="34" charset="0"/>
                              <a:ea typeface="Verdana" pitchFamily="34" charset="0"/>
                            </a:rPr>
                            <a:t> APR compounded monthly</a:t>
                          </a:r>
                          <a:endParaRPr lang="en-US" sz="1400" u="none" strike="noStrike" cap="none"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000">
                    <a:tc>
                      <a:txBody>
                        <a:bodyPr/>
                        <a:lstStyle/>
                        <a:p>
                          <a:pPr marL="88900" marR="0" lvl="0" indent="0" algn="l"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Write the equation.</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l"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PH" sz="2000" i="1" smtClean="0">
                                    <a:latin typeface="Cambria Math"/>
                                    <a:ea typeface="Verdana" pitchFamily="34" charset="0"/>
                                  </a:rPr>
                                  <m:t>𝐴</m:t>
                                </m:r>
                                <m:r>
                                  <a:rPr lang="en-PH" sz="2000" i="1" smtClean="0">
                                    <a:latin typeface="Cambria Math"/>
                                    <a:ea typeface="Verdana" pitchFamily="34" charset="0"/>
                                  </a:rPr>
                                  <m:t>=</m:t>
                                </m:r>
                                <m:r>
                                  <a:rPr lang="en-PH" sz="2000" i="1" smtClean="0">
                                    <a:latin typeface="Cambria Math"/>
                                    <a:ea typeface="Verdana" pitchFamily="34" charset="0"/>
                                  </a:rPr>
                                  <m:t>𝑃</m:t>
                                </m:r>
                                <m:d>
                                  <m:dPr>
                                    <m:ctrlPr>
                                      <a:rPr lang="en-PH" sz="2000" i="1" smtClean="0">
                                        <a:latin typeface="Cambria Math" panose="02040503050406030204" pitchFamily="18" charset="0"/>
                                        <a:ea typeface="Verdana" pitchFamily="34" charset="0"/>
                                      </a:rPr>
                                    </m:ctrlPr>
                                  </m:dPr>
                                  <m:e>
                                    <m:r>
                                      <a:rPr lang="en-PH" sz="2000" i="1">
                                        <a:latin typeface="Cambria Math"/>
                                        <a:ea typeface="Verdana" pitchFamily="34" charset="0"/>
                                      </a:rPr>
                                      <m:t>1+</m:t>
                                    </m:r>
                                    <m:r>
                                      <a:rPr lang="en-PH" sz="2000" b="0" i="1" smtClean="0">
                                        <a:latin typeface="Cambria Math"/>
                                        <a:ea typeface="Verdana" pitchFamily="34" charset="0"/>
                                      </a:rPr>
                                      <m:t>𝑟𝑡</m:t>
                                    </m:r>
                                  </m:e>
                                </m:d>
                              </m:oMath>
                            </m:oMathPara>
                          </a14:m>
                          <a:endParaRPr sz="2000" u="none" strike="noStrike" cap="none"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PH" sz="2000" i="1" smtClean="0">
                                    <a:latin typeface="Cambria Math"/>
                                    <a:ea typeface="Verdana" pitchFamily="34" charset="0"/>
                                  </a:rPr>
                                  <m:t>𝐴</m:t>
                                </m:r>
                                <m:r>
                                  <a:rPr lang="en-PH" sz="2000" i="1" smtClean="0">
                                    <a:latin typeface="Cambria Math"/>
                                    <a:ea typeface="Verdana" pitchFamily="34" charset="0"/>
                                  </a:rPr>
                                  <m:t>=</m:t>
                                </m:r>
                                <m:r>
                                  <a:rPr lang="en-PH" sz="2000" i="1" smtClean="0">
                                    <a:latin typeface="Cambria Math"/>
                                    <a:ea typeface="Verdana" pitchFamily="34" charset="0"/>
                                  </a:rPr>
                                  <m:t>𝑃</m:t>
                                </m:r>
                                <m:sSup>
                                  <m:sSupPr>
                                    <m:ctrlPr>
                                      <a:rPr lang="en-PH" sz="2000" i="1">
                                        <a:latin typeface="Cambria Math" panose="02040503050406030204" pitchFamily="18" charset="0"/>
                                        <a:ea typeface="Verdana" pitchFamily="34" charset="0"/>
                                      </a:rPr>
                                    </m:ctrlPr>
                                  </m:sSupPr>
                                  <m:e>
                                    <m:d>
                                      <m:dPr>
                                        <m:ctrlPr>
                                          <a:rPr lang="en-PH" sz="2000" i="1">
                                            <a:latin typeface="Cambria Math" panose="02040503050406030204" pitchFamily="18" charset="0"/>
                                            <a:ea typeface="Verdana" pitchFamily="34" charset="0"/>
                                          </a:rPr>
                                        </m:ctrlPr>
                                      </m:dPr>
                                      <m:e>
                                        <m:r>
                                          <a:rPr lang="en-PH" sz="2000" i="1">
                                            <a:latin typeface="Cambria Math"/>
                                            <a:ea typeface="Verdana" pitchFamily="34" charset="0"/>
                                          </a:rPr>
                                          <m:t>1+</m:t>
                                        </m:r>
                                        <m:f>
                                          <m:fPr>
                                            <m:ctrlPr>
                                              <a:rPr lang="en-PH" sz="2000" i="1">
                                                <a:latin typeface="Cambria Math" panose="02040503050406030204" pitchFamily="18" charset="0"/>
                                                <a:ea typeface="Verdana" pitchFamily="34" charset="0"/>
                                              </a:rPr>
                                            </m:ctrlPr>
                                          </m:fPr>
                                          <m:num>
                                            <m:r>
                                              <a:rPr lang="en-PH" sz="2000" i="1">
                                                <a:latin typeface="Cambria Math"/>
                                                <a:ea typeface="Verdana" pitchFamily="34" charset="0"/>
                                              </a:rPr>
                                              <m:t>𝑟</m:t>
                                            </m:r>
                                          </m:num>
                                          <m:den>
                                            <m:r>
                                              <a:rPr lang="en-PH" sz="2000" i="1">
                                                <a:latin typeface="Cambria Math"/>
                                                <a:ea typeface="Verdana" pitchFamily="34" charset="0"/>
                                              </a:rPr>
                                              <m:t>𝑛</m:t>
                                            </m:r>
                                          </m:den>
                                        </m:f>
                                      </m:e>
                                    </m:d>
                                  </m:e>
                                  <m:sup>
                                    <m:r>
                                      <a:rPr lang="en-PH" sz="2000" i="1">
                                        <a:latin typeface="Cambria Math"/>
                                        <a:ea typeface="Verdana" pitchFamily="34" charset="0"/>
                                      </a:rPr>
                                      <m:t>𝑛𝑡</m:t>
                                    </m:r>
                                  </m:sup>
                                </m:sSup>
                              </m:oMath>
                            </m:oMathPara>
                          </a14:m>
                          <a:endParaRPr sz="2000" u="none" strike="noStrike" cap="none"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0000">
                    <a:tc>
                      <a:txBody>
                        <a:bodyPr/>
                        <a:lstStyle/>
                        <a:p>
                          <a:pPr marL="88900" marR="0" lvl="0" indent="0" algn="l" rtl="0">
                            <a:lnSpc>
                              <a:spcPct val="100000"/>
                            </a:lnSpc>
                            <a:spcBef>
                              <a:spcPts val="0"/>
                            </a:spcBef>
                            <a:spcAft>
                              <a:spcPts val="0"/>
                            </a:spcAft>
                            <a:buNone/>
                          </a:pPr>
                          <a:r>
                            <a:rPr lang="en-US" sz="2000" b="1" dirty="0">
                              <a:latin typeface="Verdana" pitchFamily="34" charset="0"/>
                              <a:ea typeface="Verdana" pitchFamily="34" charset="0"/>
                              <a:cs typeface="Verdana"/>
                              <a:sym typeface="Verdana"/>
                            </a:rPr>
                            <a:t>Determine the amount after </a:t>
                          </a:r>
                          <a14:m>
                            <m:oMath xmlns:m="http://schemas.openxmlformats.org/officeDocument/2006/math">
                              <m:r>
                                <a:rPr lang="en-PH" sz="2000" b="1" i="1" dirty="0" smtClean="0">
                                  <a:latin typeface="Cambria Math"/>
                                  <a:ea typeface="Verdana" pitchFamily="34" charset="0"/>
                                  <a:cs typeface="Verdana"/>
                                  <a:sym typeface="Verdana"/>
                                </a:rPr>
                                <m:t>𝟖</m:t>
                              </m:r>
                            </m:oMath>
                          </a14:m>
                          <a:r>
                            <a:rPr lang="en-US" sz="2000" b="1" dirty="0">
                              <a:latin typeface="Verdana" pitchFamily="34" charset="0"/>
                              <a:ea typeface="Verdana" pitchFamily="34" charset="0"/>
                              <a:cs typeface="Verdana"/>
                              <a:sym typeface="Verdana"/>
                            </a:rPr>
                            <a:t> years.</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l" rtl="0">
                            <a:lnSpc>
                              <a:spcPct val="100000"/>
                            </a:lnSpc>
                            <a:spcBef>
                              <a:spcPts val="0"/>
                            </a:spcBef>
                            <a:spcAft>
                              <a:spcPts val="0"/>
                            </a:spcAft>
                            <a:buNone/>
                          </a:pPr>
                          <a:endParaRPr sz="2000" u="none" strike="noStrike" cap="none">
                            <a:latin typeface="Verdana" pitchFamily="34" charset="0"/>
                            <a:ea typeface="Verdana" pitchFamily="34" charset="0"/>
                            <a:cs typeface="Verdana"/>
                            <a:sym typeface="Verdana"/>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 </a:t>
                          </a:r>
                          <a:endParaRPr sz="2000" dirty="0">
                            <a:latin typeface="Verdana" pitchFamily="34" charset="0"/>
                            <a:ea typeface="Verdana" pitchFamily="34" charset="0"/>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13" name="Google Shape;312;p18"/>
              <p:cNvGraphicFramePr/>
              <p:nvPr>
                <p:extLst>
                  <p:ext uri="{D42A27DB-BD31-4B8C-83A1-F6EECF244321}">
                    <p14:modId xmlns:p14="http://schemas.microsoft.com/office/powerpoint/2010/main" val="3508283650"/>
                  </p:ext>
                </p:extLst>
              </p:nvPr>
            </p:nvGraphicFramePr>
            <p:xfrm>
              <a:off x="1079022" y="2031029"/>
              <a:ext cx="9870325" cy="2988000"/>
            </p:xfrm>
            <a:graphic>
              <a:graphicData uri="http://schemas.openxmlformats.org/drawingml/2006/table">
                <a:tbl>
                  <a:tblPr>
                    <a:noFill/>
                    <a:tableStyleId>{EED9B209-D8D8-40D3-85A7-A46AD64EC929}</a:tableStyleId>
                  </a:tblPr>
                  <a:tblGrid>
                    <a:gridCol w="3600000">
                      <a:extLst>
                        <a:ext uri="{9D8B030D-6E8A-4147-A177-3AD203B41FA5}">
                          <a16:colId xmlns:a16="http://schemas.microsoft.com/office/drawing/2014/main" xmlns="" val="20000"/>
                        </a:ext>
                      </a:extLst>
                    </a:gridCol>
                    <a:gridCol w="2670325">
                      <a:extLst>
                        <a:ext uri="{9D8B030D-6E8A-4147-A177-3AD203B41FA5}">
                          <a16:colId xmlns:a16="http://schemas.microsoft.com/office/drawing/2014/main" xmlns="" val="20001"/>
                        </a:ext>
                      </a:extLst>
                    </a:gridCol>
                    <a:gridCol w="3600000">
                      <a:extLst>
                        <a:ext uri="{9D8B030D-6E8A-4147-A177-3AD203B41FA5}">
                          <a16:colId xmlns:a16="http://schemas.microsoft.com/office/drawing/2014/main" xmlns="" val="20002"/>
                        </a:ext>
                      </a:extLst>
                    </a:gridCol>
                  </a:tblGrid>
                  <a:tr h="4680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 </a:t>
                          </a:r>
                          <a:endParaRPr sz="2000" dirty="0">
                            <a:latin typeface="Verdana" pitchFamily="34" charset="0"/>
                            <a:ea typeface="Verdana" pitchFamily="34" charset="0"/>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Simple Interest</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Compound Interest</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080000">
                    <a:tc>
                      <a:txBody>
                        <a:bodyPr/>
                        <a:lstStyle/>
                        <a:p>
                          <a:pPr marL="88900" marR="0" lvl="0" indent="0" algn="l"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Investment Amount </a:t>
                          </a:r>
                          <a:r>
                            <a:rPr lang="en-US" sz="2000" b="1" u="none" strike="noStrike" cap="none" dirty="0" smtClean="0">
                              <a:solidFill>
                                <a:srgbClr val="000000"/>
                              </a:solidFill>
                              <a:latin typeface="Verdana" pitchFamily="34" charset="0"/>
                              <a:ea typeface="Verdana" pitchFamily="34" charset="0"/>
                              <a:cs typeface="Verdana"/>
                              <a:sym typeface="Verdana"/>
                            </a:rPr>
                            <a:t/>
                          </a:r>
                          <a:br>
                            <a:rPr lang="en-US" sz="2000" b="1" u="none" strike="noStrike" cap="none" dirty="0" smtClean="0">
                              <a:solidFill>
                                <a:srgbClr val="000000"/>
                              </a:solidFill>
                              <a:latin typeface="Verdana" pitchFamily="34" charset="0"/>
                              <a:ea typeface="Verdana" pitchFamily="34" charset="0"/>
                              <a:cs typeface="Verdana"/>
                              <a:sym typeface="Verdana"/>
                            </a:rPr>
                          </a:br>
                          <a:r>
                            <a:rPr lang="en-US" sz="2000" b="1" u="none" strike="noStrike" cap="none" dirty="0" smtClean="0">
                              <a:solidFill>
                                <a:srgbClr val="000000"/>
                              </a:solidFill>
                              <a:latin typeface="Verdana" pitchFamily="34" charset="0"/>
                              <a:ea typeface="Verdana" pitchFamily="34" charset="0"/>
                              <a:cs typeface="Verdana"/>
                              <a:sym typeface="Verdana"/>
                            </a:rPr>
                            <a:t>and </a:t>
                          </a:r>
                          <a:r>
                            <a:rPr lang="en-US" sz="2000" b="1" u="none" strike="noStrike" cap="none" dirty="0">
                              <a:solidFill>
                                <a:srgbClr val="000000"/>
                              </a:solidFill>
                              <a:latin typeface="Verdana" pitchFamily="34" charset="0"/>
                              <a:ea typeface="Verdana" pitchFamily="34" charset="0"/>
                              <a:cs typeface="Verdana"/>
                              <a:sym typeface="Verdana"/>
                            </a:rPr>
                            <a:t>APR</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34396" t="-43503" r="-134624" b="-142938"/>
                          </a:stretch>
                        </a:blipFill>
                      </a:tcPr>
                    </a:tc>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4407" t="-43503" r="-169" b="-142938"/>
                          </a:stretch>
                        </a:blipFill>
                      </a:tcPr>
                    </a:tc>
                    <a:extLst>
                      <a:ext uri="{0D108BD9-81ED-4DB2-BD59-A6C34878D82A}">
                        <a16:rowId xmlns:a16="http://schemas.microsoft.com/office/drawing/2014/main" xmlns="" val="10001"/>
                      </a:ext>
                    </a:extLst>
                  </a:tr>
                  <a:tr h="720000">
                    <a:tc>
                      <a:txBody>
                        <a:bodyPr/>
                        <a:lstStyle/>
                        <a:p>
                          <a:pPr marL="88900" marR="0" lvl="0" indent="0" algn="l"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Write the equation.</a:t>
                          </a:r>
                          <a:endParaRPr sz="2000" u="none" strike="noStrike" cap="none" dirty="0">
                            <a:latin typeface="Verdana" pitchFamily="34" charset="0"/>
                            <a:ea typeface="Verdana" pitchFamily="34" charset="0"/>
                            <a:cs typeface="Verdana"/>
                            <a:sym typeface="Verdana"/>
                          </a:endParaRPr>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34396" t="-215254" r="-134624" b="-114407"/>
                          </a:stretch>
                        </a:blipFill>
                      </a:tcPr>
                    </a:tc>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4407" t="-215254" r="-169" b="-114407"/>
                          </a:stretch>
                        </a:blipFill>
                      </a:tcPr>
                    </a:tc>
                    <a:extLst>
                      <a:ext uri="{0D108BD9-81ED-4DB2-BD59-A6C34878D82A}">
                        <a16:rowId xmlns:a16="http://schemas.microsoft.com/office/drawing/2014/main" xmlns="" val="10002"/>
                      </a:ext>
                    </a:extLst>
                  </a:tr>
                  <a:tr h="720000">
                    <a:tc>
                      <a:txBody>
                        <a:bodyPr/>
                        <a:lstStyle/>
                        <a:p>
                          <a:endParaRPr lang="en-US"/>
                        </a:p>
                      </a:txBody>
                      <a:tcPr marL="32200" marR="322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15254" r="-174576" b="-14407"/>
                          </a:stretch>
                        </a:blipFill>
                      </a:tcPr>
                    </a:tc>
                    <a:tc>
                      <a:txBody>
                        <a:bodyPr/>
                        <a:lstStyle/>
                        <a:p>
                          <a:pPr marL="0" marR="0" lvl="0" indent="0" algn="l" rtl="0">
                            <a:lnSpc>
                              <a:spcPct val="100000"/>
                            </a:lnSpc>
                            <a:spcBef>
                              <a:spcPts val="0"/>
                            </a:spcBef>
                            <a:spcAft>
                              <a:spcPts val="0"/>
                            </a:spcAft>
                            <a:buNone/>
                          </a:pPr>
                          <a:endParaRPr sz="2000" u="none" strike="noStrike" cap="none">
                            <a:latin typeface="Verdana" pitchFamily="34" charset="0"/>
                            <a:ea typeface="Verdana" pitchFamily="34" charset="0"/>
                            <a:cs typeface="Verdana"/>
                            <a:sym typeface="Verdana"/>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 </a:t>
                          </a:r>
                          <a:endParaRPr sz="2000" dirty="0">
                            <a:latin typeface="Verdana" pitchFamily="34" charset="0"/>
                            <a:ea typeface="Verdana" pitchFamily="34" charset="0"/>
                          </a:endParaRPr>
                        </a:p>
                      </a:txBody>
                      <a:tcPr marL="32200" marR="322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Fallback>
      </mc:AlternateContent>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1149</Words>
  <Application>Microsoft Macintosh PowerPoint</Application>
  <PresentationFormat>Widescreen</PresentationFormat>
  <Paragraphs>205</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Wingdings</vt:lpstr>
      <vt:lpstr>Verdana</vt:lpstr>
      <vt:lpstr>Courier New</vt:lpstr>
      <vt:lpstr>Arial</vt:lpstr>
      <vt:lpstr>Cambria</vt:lpstr>
      <vt:lpstr>Calibri</vt:lpstr>
      <vt:lpstr>Arial Black</vt:lpstr>
      <vt:lpstr>Cambria Math</vt:lpstr>
      <vt:lpstr>1_Office Theme</vt:lpstr>
      <vt:lpstr>Algebra 1  Unit 13, Lesson 2  Compound Interest  Volume 2, pg. 241  </vt:lpstr>
      <vt:lpstr>Benchmarks</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1  Unit 13, Lesson 2  Compound Interest  Volume 2, pg. 241</dc:title>
  <dc:creator>Karen McKenzie</dc:creator>
  <cp:lastModifiedBy>Diana Barnett</cp:lastModifiedBy>
  <cp:revision>9</cp:revision>
  <dcterms:created xsi:type="dcterms:W3CDTF">2015-03-17T18:51:18Z</dcterms:created>
  <dcterms:modified xsi:type="dcterms:W3CDTF">2023-02-14T16:50:47Z</dcterms:modified>
</cp:coreProperties>
</file>