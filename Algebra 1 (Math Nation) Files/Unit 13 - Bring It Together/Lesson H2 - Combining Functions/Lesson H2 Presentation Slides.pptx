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embeddedFontLst>
    <p:embeddedFont>
      <p:font typeface="Verdana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Arial Black" pitchFamily="34" charset="0"/>
      <p:bold r:id="rId40"/>
    </p:embeddedFont>
    <p:embeddedFont>
      <p:font typeface="Cambria Math" pitchFamily="18" charset="0"/>
      <p:regular r:id="rId41"/>
    </p:embeddedFont>
    <p:embeddedFont>
      <p:font typeface="MS Mincho" pitchFamily="49" charset="-128"/>
      <p:regular r:id="rId42"/>
    </p:embeddedFont>
    <p:embeddedFont>
      <p:font typeface="Cambria" pitchFamily="18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i4kbJaVgFPu1k6nx4ZZ9/Blmuq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D73639-684F-4644-977C-44B6E34529BE}">
  <a:tblStyle styleId="{5CD73639-684F-4644-977C-44B6E3452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1212" autoAdjust="0"/>
    <p:restoredTop sz="9471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16292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260489" y="2054277"/>
            <a:ext cx="5889854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H2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Combining Functions</a:t>
            </a: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MA.912.F.3.1 </a:t>
            </a:r>
          </a:p>
          <a:p>
            <a:pPr marL="458788" indent="0"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Given a mathematical or real-world context, combine two functions, limited to linear and quadratic, using arithmetic operations. When appropriate, include domain restrictions for the new function.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lang="en-US" sz="1800" dirty="0"/>
          </a:p>
          <a:p>
            <a:pPr marL="457200"/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lang="en-US" sz="1800" dirty="0"/>
          </a:p>
          <a:p>
            <a:pPr marL="457200"/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lang="en-US" sz="1800" dirty="0"/>
          </a:p>
          <a:p>
            <a:pPr marL="457200"/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lang="en-US" sz="1800" dirty="0"/>
          </a:p>
          <a:p>
            <a:pPr marL="457200"/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lang="en-US" sz="1800" dirty="0"/>
          </a:p>
          <a:p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lang="en-US" sz="1800" dirty="0"/>
          </a:p>
          <a:p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</a:p>
        </p:txBody>
      </p:sp>
      <p:sp>
        <p:nvSpPr>
          <p:cNvPr id="10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302;g103996e1364_0_16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SzPct val="100000"/>
              <a:buFont typeface="Wingdings" pitchFamily="2" charset="2"/>
              <a:buChar char="q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combine two functions using arithmetic operations. </a:t>
            </a:r>
          </a:p>
          <a:p>
            <a:pPr marL="685800" indent="-685800">
              <a:buSzPct val="100000"/>
              <a:buFont typeface="Wingdings" pitchFamily="2" charset="2"/>
              <a:buChar char="q"/>
            </a:pPr>
            <a:endParaRPr lang="en-US" sz="3600" dirty="0"/>
          </a:p>
          <a:p>
            <a:pPr marL="685800" indent="-685800">
              <a:buSzPct val="100000"/>
              <a:buFont typeface="Wingdings" pitchFamily="2" charset="2"/>
              <a:buChar char="q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determine domain restrictions for a real-world context where two functions are combined.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1" name="Google Shape;171;p4"/>
              <p:cNvGraphicFramePr/>
              <p:nvPr>
                <p:extLst>
                  <p:ext uri="{D42A27DB-BD31-4B8C-83A1-F6EECF244321}">
                    <p14:modId xmlns:p14="http://schemas.microsoft.com/office/powerpoint/2010/main" val="3235103511"/>
                  </p:ext>
                </p:extLst>
              </p:nvPr>
            </p:nvGraphicFramePr>
            <p:xfrm>
              <a:off x="1052650" y="2285953"/>
              <a:ext cx="8071570" cy="38100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18536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</a:t>
                          </a:r>
                          <a: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/>
                          </a:r>
                          <a:b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Since </a:t>
                          </a: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2010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Number of Books Sold</a:t>
                          </a:r>
                          <a:b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in the U.S. (millions)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Population of</a:t>
                          </a:r>
                          <a:b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the U.S. (millions)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2,530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309.35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2,400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311.64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2,730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313.99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2,720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316.23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2,700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318.62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2,710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321.04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2,700</m:t>
                                </m:r>
                              </m:oMath>
                            </m:oMathPara>
                          </a14:m>
                          <a:endParaRPr sz="14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solidFill>
                                      <a:srgbClr val="0C0300"/>
                                    </a:solidFill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323.41</m:t>
                                </m:r>
                              </m:oMath>
                            </m:oMathPara>
                          </a14:m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1" name="Google Shape;171;p4"/>
              <p:cNvGraphicFramePr/>
              <p:nvPr>
                <p:extLst>
                  <p:ext uri="{D42A27DB-BD31-4B8C-83A1-F6EECF244321}">
                    <p14:modId xmlns:p14="http://schemas.microsoft.com/office/powerpoint/2010/main" val="3235103511"/>
                  </p:ext>
                </p:extLst>
              </p:nvPr>
            </p:nvGraphicFramePr>
            <p:xfrm>
              <a:off x="1052650" y="2285953"/>
              <a:ext cx="8071570" cy="38100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18536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Years </a:t>
                          </a:r>
                          <a: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/>
                          </a:r>
                          <a:b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 smtClean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Since </a:t>
                          </a: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2010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Number of Books Sold</a:t>
                          </a:r>
                          <a:b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in the U.S. (millions)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Population of</a:t>
                          </a:r>
                          <a:b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</a:br>
                          <a:r>
                            <a:rPr lang="en-US" sz="2000" b="1" u="none" strike="noStrike" cap="none" dirty="0">
                              <a:solidFill>
                                <a:srgbClr val="0C03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the U.S. (millions)</a:t>
                          </a:r>
                          <a:endParaRPr sz="14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150667" r="-335526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150667" r="-8378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150667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250667" r="-335526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250667" r="-83784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250667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350667" r="-33552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350667" r="-8378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35066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450667" r="-33552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450667" r="-8378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45066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550667" r="-33552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550667" r="-8378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55066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650667" r="-33552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650667" r="-8378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65066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9" t="-750667" r="-335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955" t="-750667" r="-837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946" t="-75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11051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number of books sold, in millions, in the U.S. and the population of the U.S., in millions, from 2010 to 2016 are shown in the table.</a:t>
            </a:r>
            <a:endParaRPr lang="en-US" sz="2000" dirty="0"/>
          </a:p>
        </p:txBody>
      </p:sp>
      <p:sp>
        <p:nvSpPr>
          <p:cNvPr id="10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47846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13.H2.1 Warm-Up: Book Sales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What do you notice?</a:t>
            </a:r>
            <a:endParaRPr lang="en-US" sz="2000" dirty="0"/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How many books were sold per person in 2010 and 2016? </a:t>
            </a:r>
            <a:endParaRPr lang="en-US" sz="2000" dirty="0"/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What do these values tell you about book sales?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9" name="Google Shape;189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9;p17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ct val="96969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30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9" name="Google Shape;199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4"/>
            <a:ext cx="10478463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13.H2.2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Real-World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Functions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Penelope sets up an </a:t>
                </a:r>
                <a:r>
                  <a:rPr lang="en-US" sz="2000" dirty="0" err="1">
                    <a:latin typeface="Verdana"/>
                    <a:ea typeface="MS Mincho"/>
                    <a:cs typeface="Times New Roman"/>
                  </a:rPr>
                  <a:t>Etsy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store to sell necklaces. Each listing costs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$0.20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5%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of sales being paid to </a:t>
                </a:r>
                <a:r>
                  <a:rPr lang="en-US" sz="2000" dirty="0" err="1">
                    <a:effectLst/>
                    <a:latin typeface="Verdana"/>
                    <a:ea typeface="MS Mincho"/>
                    <a:cs typeface="Times New Roman"/>
                  </a:rPr>
                  <a:t>Etsy</a:t>
                </a:r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Penelope opens a shop with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listings. The supplies for making each necklace are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$3.85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per listing. Penelope paid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$43.58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for the tools she will use to make the necklaces. Penelope sells each necklace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$15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=0.2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+3.85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+0.05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15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+43.58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represents Penelope’s costs.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=15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represents Penelope’s revenue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endParaRPr lang="en-PH" sz="2000" dirty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3785652"/>
              </a:xfrm>
              <a:prstGeom prst="rect">
                <a:avLst/>
              </a:prstGeom>
              <a:blipFill rotWithShape="1">
                <a:blip r:embed="rId5"/>
                <a:stretch>
                  <a:fillRect l="-611"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0" name="Google Shape;210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ts val="2000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Profit is the amount of revenue minus the cost</a:t>
                </a: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>
                  <a:buSzPts val="2000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Write a function,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𝑃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, that can be used to determine Penelope’s 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profit.</a:t>
                </a: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What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09" t="-87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9" name="Google Shape;219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Tim and Jessica plan to rent a camper van for a vacation. The van costs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$183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per day. The rental includes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miles for free and then charges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$0.39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per mile.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=0.39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−120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+183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models the cost of the van rental,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𝑉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, in terms of miles traveled,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𝑚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Researching the cost of gasoline for the van, they determine gas will cost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$1.32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for each mile they travel. The company charges a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$45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fee for the first tank of gas.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𝐺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=1.32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𝑚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+45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models the cost of gasoline for their vacation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What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𝐺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Determine the function that gives the total cost,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, in dollars, based on the miles traveled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is a reasonable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940088"/>
              </a:xfrm>
              <a:prstGeom prst="rect">
                <a:avLst/>
              </a:prstGeom>
              <a:blipFill rotWithShape="1">
                <a:blip r:embed="rId4"/>
                <a:stretch>
                  <a:fillRect l="-609" t="-615" r="-1162" b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8" name="Google Shape;228;p1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299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554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A clothing store is stocking up before holiday sales. Their wholesaler will sell the first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clothing items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$9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each, and then charge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$0.12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less for each set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items over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The function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=120+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represents the total number of clothing items purchased, where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represents the number of clothing items over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120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items. The cost of each clothing item is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=9−0.12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/>
                                <a:ea typeface="MS Mincho"/>
                                <a:cs typeface="Times New Roman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/>
                                <a:ea typeface="MS Mincho"/>
                                <a:cs typeface="Times New Roman"/>
                              </a:rPr>
                              <m:t>20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3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Write a new function that represents the total cost of clothing items the store purchases</a:t>
                </a: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Discuss with your partner what constraints should be on the value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Then, write the constraints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554067"/>
              </a:xfrm>
              <a:prstGeom prst="rect">
                <a:avLst/>
              </a:prstGeom>
              <a:blipFill rotWithShape="1">
                <a:blip r:embed="rId4"/>
                <a:stretch>
                  <a:fillRect l="-609" t="-803" r="-1217" b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Ask two classmates the constraints they determined. Record their constraints and write your summary of their reason. </a:t>
            </a:r>
            <a:r>
              <a:rPr lang="en-US" sz="2000" i="1" dirty="0">
                <a:latin typeface="Verdana"/>
                <a:ea typeface="Verdana"/>
                <a:cs typeface="Verdana"/>
                <a:sym typeface="Verdana"/>
              </a:rPr>
              <a:t>You are the only person who should write in the first two columns of the table.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Have your classmate initial next to your summary stating that your summary was correct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endParaRPr lang="en-PH" sz="20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000"/>
              <a:buFont typeface="Arial"/>
              <a:buAutoNum type="alphaLcPeriod" startAt="3"/>
            </a:pP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Discuss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with your partner the constraints given by your classmates. 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necessary, revise the constraints you wrote.</a:t>
            </a:r>
            <a:endParaRPr lang="en-US" sz="2000" dirty="0"/>
          </a:p>
        </p:txBody>
      </p:sp>
      <p:sp>
        <p:nvSpPr>
          <p:cNvPr id="235" name="Google Shape;235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7" name="Google Shape;237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11"/>
          <p:cNvGraphicFramePr/>
          <p:nvPr>
            <p:extLst>
              <p:ext uri="{D42A27DB-BD31-4B8C-83A1-F6EECF244321}">
                <p14:modId xmlns:p14="http://schemas.microsoft.com/office/powerpoint/2010/main" val="3390746580"/>
              </p:ext>
            </p:extLst>
          </p:nvPr>
        </p:nvGraphicFramePr>
        <p:xfrm>
          <a:off x="1543050" y="1931437"/>
          <a:ext cx="7886700" cy="2286000"/>
        </p:xfrm>
        <a:graphic>
          <a:graphicData uri="http://schemas.openxmlformats.org/drawingml/2006/table">
            <a:tbl>
              <a:tblPr>
                <a:noFill/>
                <a:tableStyleId>{5CD73639-684F-4644-977C-44B6E34529BE}</a:tableStyleId>
              </a:tblPr>
              <a:tblGrid>
                <a:gridCol w="17708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634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52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Constraint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My Summary of Their Reason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Initials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59150" marR="5915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7" name="Google Shape;247;p12"/>
          <p:cNvSpPr txBox="1">
            <a:spLocks noGrp="1"/>
          </p:cNvSpPr>
          <p:nvPr>
            <p:ph type="title" idx="4294967295"/>
          </p:nvPr>
        </p:nvSpPr>
        <p:spPr>
          <a:xfrm>
            <a:off x="562279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2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646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8" name="Google Shape;258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3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42" y="268759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1" name="Google Shape;261;p13"/>
              <p:cNvGraphicFramePr/>
              <p:nvPr>
                <p:extLst>
                  <p:ext uri="{D42A27DB-BD31-4B8C-83A1-F6EECF244321}">
                    <p14:modId xmlns:p14="http://schemas.microsoft.com/office/powerpoint/2010/main" val="3688314303"/>
                  </p:ext>
                </p:extLst>
              </p:nvPr>
            </p:nvGraphicFramePr>
            <p:xfrm>
              <a:off x="3058795" y="2094373"/>
              <a:ext cx="5486400" cy="36576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=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sym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sym typeface="Verdana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sym typeface="Verdana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−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𝟒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𝒙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−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sym typeface="Verdana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𝒈</m:t>
                                </m:r>
                                <m:d>
                                  <m:dPr>
                                    <m:ctrlP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1" i="1" u="none" strike="noStrike" cap="none" smtClean="0">
                                        <a:latin typeface="Cambria Math"/>
                                        <a:ea typeface="Verdana"/>
                                        <a:cs typeface="Verdana"/>
                                        <a:sym typeface="Verdana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=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𝟏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𝟑</m:t>
                                </m:r>
                                <m:r>
                                  <a:rPr lang="en-PH" sz="2000" b="1" i="1" u="none" strike="noStrike" cap="none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1" name="Google Shape;261;p13"/>
              <p:cNvGraphicFramePr/>
              <p:nvPr>
                <p:extLst>
                  <p:ext uri="{D42A27DB-BD31-4B8C-83A1-F6EECF244321}">
                    <p14:modId xmlns:p14="http://schemas.microsoft.com/office/powerpoint/2010/main" val="3688314303"/>
                  </p:ext>
                </p:extLst>
              </p:nvPr>
            </p:nvGraphicFramePr>
            <p:xfrm>
              <a:off x="3058795" y="2094373"/>
              <a:ext cx="5486400" cy="36576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22" t="-1333" r="-100000" b="-7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22" t="-1333" b="-7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101333" r="-3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101333" r="-2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101333" r="-1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101333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201333" r="-3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201333" r="-2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201333" r="-1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201333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301333" r="-3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301333" r="-2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301333" r="-1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301333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401333" r="-3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401333" r="-2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401333" r="-1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401333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501333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501333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501333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5013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601333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601333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601333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6013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44" t="-701333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444" t="-701333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44" t="-70133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444" t="-7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Tables of values for the functions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=3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−4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−2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=1−3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are shown.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61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4"/>
            <a:ext cx="10478463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13.H2.3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Combining Functions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Complete the table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=3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−4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−2+1−3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strategy did you use to complete the table</a:t>
                </a: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?</a:t>
                </a: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Write your answer in standard form.</a:t>
                </a:r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609"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7" name="Google Shape;267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8" name="Google Shape;268;p1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9" name="Google Shape;269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1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3738123248"/>
                  </p:ext>
                </p:extLst>
              </p:nvPr>
            </p:nvGraphicFramePr>
            <p:xfrm>
              <a:off x="1094508" y="964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1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3738123248"/>
                  </p:ext>
                </p:extLst>
              </p:nvPr>
            </p:nvGraphicFramePr>
            <p:xfrm>
              <a:off x="1094508" y="964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r="-598758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r="-5025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r="-3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r="-2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r="-1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r="-10062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t="-100000" r="-598758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t="-100000" r="-5025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0000" r="-3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00000" r="-2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t="-100000" r="-1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t="-100000" r="-10062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t="-100000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8" name="Google Shape;278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9" name="Google Shape;279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Discuss with your partner how adding the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-values in the tables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connect with the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-values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−4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−2+1−3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Summarize your discussion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4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Complete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the table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using the tables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09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909261849"/>
                  </p:ext>
                </p:extLst>
              </p:nvPr>
            </p:nvGraphicFramePr>
            <p:xfrm>
              <a:off x="1094508" y="4012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909261849"/>
                  </p:ext>
                </p:extLst>
              </p:nvPr>
            </p:nvGraphicFramePr>
            <p:xfrm>
              <a:off x="1094508" y="4012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r="-598758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r="-5025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r="-3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r="-2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r="-1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r="-10062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t="-100000" r="-598758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t="-100000" r="-5025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0000" r="-3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00000" r="-2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t="-100000" r="-1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t="-100000" r="-10062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t="-100000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9" name="Google Shape;289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 startAt="6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Write your answer in standard form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Write your answer in standard form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6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Complete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the table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09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4238433313"/>
                  </p:ext>
                </p:extLst>
              </p:nvPr>
            </p:nvGraphicFramePr>
            <p:xfrm>
              <a:off x="1094508" y="4012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4238433313"/>
                  </p:ext>
                </p:extLst>
              </p:nvPr>
            </p:nvGraphicFramePr>
            <p:xfrm>
              <a:off x="1094508" y="4012541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r="-598758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r="-5025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r="-3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r="-2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r="-1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r="-10062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1" t="-100000" r="-598758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1250" t="-100000" r="-5025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0000" r="-3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00000" r="-2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000" t="-100000" r="-1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3125" t="-100000" r="-10062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379" t="-100000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9" name="Google Shape;299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976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457200">
                  <a:buSzPts val="2000"/>
                  <a:buFont typeface="+mj-lt"/>
                  <a:buAutoNum type="arabicPeriod" startAt="9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Find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/>
                                <a:ea typeface="MS Mincho"/>
                                <a:cs typeface="Times New Roman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𝑔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(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457200" indent="-457200">
                  <a:buSzPts val="2000"/>
                  <a:buFont typeface="+mj-lt"/>
                  <a:buAutoNum type="arabicPeriod" startAt="9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PH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What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will result in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?</a:t>
                </a: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endParaRPr lang="en-US" sz="2000" dirty="0" smtClean="0"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9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Discuss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with your partner why the denominator cannot equal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 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/>
                </a:r>
                <a:b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Summarize </a:t>
                </a:r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your discussion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976281"/>
              </a:xfrm>
              <a:prstGeom prst="rect">
                <a:avLst/>
              </a:prstGeom>
              <a:blipFill rotWithShape="1">
                <a:blip r:embed="rId4"/>
                <a:stretch>
                  <a:fillRect l="-609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9" name="Google Shape;299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437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SzPts val="2000"/>
                  <a:buFont typeface="+mj-lt"/>
                  <a:buAutoNum type="arabicPeriod" startAt="12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The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that makes the denominator equal to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is a restriction on the domain. Complete the restriction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>
                  <a:buSzPts val="2000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algn="ctr">
                  <a:buSzPts val="2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MS Mincho"/>
                          <a:cs typeface="Times New Roman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MS Mincho"/>
                          <a:cs typeface="Times New Roman"/>
                        </a:rPr>
                        <m:t>≠______</m:t>
                      </m:r>
                    </m:oMath>
                  </m:oMathPara>
                </a14:m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algn="ctr">
                  <a:buSzPts val="2000"/>
                </a:pPr>
                <a:endParaRPr lang="en-PH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algn="ctr">
                  <a:buSzPts val="2000"/>
                </a:pPr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571500" indent="-571500">
                  <a:buSzPts val="2000"/>
                  <a:buFont typeface="+mj-lt"/>
                  <a:buAutoNum type="arabicPeriod" startAt="13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Complete the table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/>
                                <a:ea typeface="MS Mincho"/>
                                <a:cs typeface="Times New Roman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𝑔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(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437399"/>
              </a:xfrm>
              <a:prstGeom prst="rect">
                <a:avLst/>
              </a:prstGeom>
              <a:blipFill rotWithShape="1">
                <a:blip r:embed="rId4"/>
                <a:stretch>
                  <a:fillRect l="-609" t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1327545245"/>
                  </p:ext>
                </p:extLst>
              </p:nvPr>
            </p:nvGraphicFramePr>
            <p:xfrm>
              <a:off x="1208808" y="2975850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b="1" i="1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u="none" strike="noStrike" cap="none" dirty="0" smtClean="0">
                                    <a:latin typeface="Cambria Math"/>
                                    <a:ea typeface="Verdana"/>
                                    <a:cs typeface="Verdana"/>
                                    <a:sym typeface="Verdan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Google Shape;271;p14"/>
              <p:cNvGraphicFramePr/>
              <p:nvPr>
                <p:extLst>
                  <p:ext uri="{D42A27DB-BD31-4B8C-83A1-F6EECF244321}">
                    <p14:modId xmlns:p14="http://schemas.microsoft.com/office/powerpoint/2010/main" val="1327545245"/>
                  </p:ext>
                </p:extLst>
              </p:nvPr>
            </p:nvGraphicFramePr>
            <p:xfrm>
              <a:off x="1208808" y="2975850"/>
              <a:ext cx="6857975" cy="914400"/>
            </p:xfrm>
            <a:graphic>
              <a:graphicData uri="http://schemas.openxmlformats.org/drawingml/2006/table">
                <a:tbl>
                  <a:tblPr>
                    <a:noFill/>
                    <a:tableStyleId>{5CD73639-684F-4644-977C-44B6E34529BE}</a:tableStyleId>
                  </a:tblPr>
                  <a:tblGrid>
                    <a:gridCol w="9791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98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59937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625" r="-50312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99379" r="-4000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9379" r="-3000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379" r="-2000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2500" r="-10125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8758" r="-621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599379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625" t="-100000" r="-50312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99379" t="-100000" r="-4000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99379" t="-100000" r="-3000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379" t="-100000" r="-2000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2500" t="-100000" r="-10125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8758" t="-100000" r="-621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452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9" name="Google Shape;309;p18"/>
          <p:cNvSpPr txBox="1">
            <a:spLocks noGrp="1"/>
          </p:cNvSpPr>
          <p:nvPr>
            <p:ph type="title" idx="4294967295"/>
          </p:nvPr>
        </p:nvSpPr>
        <p:spPr>
          <a:xfrm>
            <a:off x="55351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8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896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0" name="Google Shape;320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9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5288" y="268759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3594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Helvetica Neue"/>
                    <a:cs typeface="Helvetica Neue"/>
                  </a:rPr>
                  <a:t>Combining functions using function notation is similar to operations with polynomials. When combining functions from a real-world context, it is important to consider the domain</a:t>
                </a:r>
                <a:r>
                  <a:rPr lang="en-US" sz="2000" dirty="0" smtClean="0">
                    <a:latin typeface="Verdana"/>
                    <a:ea typeface="Helvetica Neue"/>
                    <a:cs typeface="Helvetica Neue"/>
                  </a:rPr>
                  <a:t>.</a:t>
                </a:r>
              </a:p>
              <a:p>
                <a:endParaRPr lang="en-PH" sz="2000" dirty="0">
                  <a:effectLst/>
                  <a:latin typeface="Verdana"/>
                  <a:ea typeface="MS Mincho"/>
                  <a:cs typeface="Times New Roman"/>
                </a:endParaRPr>
              </a:p>
              <a:p>
                <a:pPr marL="342900" lvl="0" indent="-342900">
                  <a:buFont typeface="Symbol"/>
                  <a:buChar char=""/>
                </a:pPr>
                <a:r>
                  <a:rPr lang="en-US" sz="2000" dirty="0">
                    <a:latin typeface="Verdana"/>
                    <a:ea typeface="Helvetica Neue"/>
                    <a:cs typeface="Helvetica Neue"/>
                  </a:rPr>
                  <a:t>Addition of functions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+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+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endParaRPr lang="en-US" sz="2000" dirty="0">
                  <a:effectLst/>
                  <a:latin typeface="Cambria"/>
                  <a:ea typeface="MS Mincho"/>
                  <a:cs typeface="Times New Roman"/>
                </a:endParaRPr>
              </a:p>
              <a:p>
                <a:pPr marL="342900" lvl="0" indent="-342900">
                  <a:lnSpc>
                    <a:spcPct val="200000"/>
                  </a:lnSpc>
                  <a:buFont typeface="Symbol"/>
                  <a:buChar char=""/>
                </a:pPr>
                <a:r>
                  <a:rPr lang="en-US" sz="2000" dirty="0">
                    <a:effectLst/>
                    <a:latin typeface="Verdana"/>
                    <a:ea typeface="Helvetica Neue"/>
                    <a:cs typeface="Helvetica Neue"/>
                  </a:rPr>
                  <a:t>Subtraction of functions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−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−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endParaRPr lang="en-US" sz="2000" dirty="0">
                  <a:effectLst/>
                  <a:latin typeface="Cambria"/>
                  <a:ea typeface="MS Mincho"/>
                  <a:cs typeface="Times New Roman"/>
                </a:endParaRPr>
              </a:p>
              <a:p>
                <a:pPr marL="342900" lvl="0" indent="-342900">
                  <a:lnSpc>
                    <a:spcPct val="200000"/>
                  </a:lnSpc>
                  <a:buFont typeface="Symbol"/>
                  <a:buChar char=""/>
                </a:pPr>
                <a:r>
                  <a:rPr lang="en-US" sz="2000" dirty="0">
                    <a:effectLst/>
                    <a:latin typeface="Verdana"/>
                    <a:ea typeface="Helvetica Neue"/>
                    <a:cs typeface="Helvetica Neue"/>
                  </a:rPr>
                  <a:t>Multiplication of functions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𝑓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𝑔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endParaRPr lang="en-US" sz="2000" dirty="0" smtClean="0">
                  <a:effectLst/>
                  <a:latin typeface="Verdana"/>
                  <a:ea typeface="Helvetica Neue"/>
                  <a:cs typeface="Helvetica Neue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Symbol"/>
                  <a:buChar char=""/>
                </a:pPr>
                <a:r>
                  <a:rPr lang="en-US" sz="2000" dirty="0">
                    <a:effectLst/>
                    <a:latin typeface="Verdana"/>
                    <a:ea typeface="Helvetica Neue"/>
                    <a:cs typeface="Helvetica Neue"/>
                  </a:rPr>
                  <a:t>Division of functions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fPr>
                      <m:num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(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  <m:t>𝑔</m:t>
                            </m:r>
                          </m:den>
                        </m:f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endParaRPr lang="en-US" sz="2000" dirty="0" smtClean="0">
                  <a:effectLst/>
                  <a:latin typeface="Verdana"/>
                  <a:ea typeface="MS Mincho"/>
                  <a:cs typeface="Times New Roman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3594574"/>
              </a:xfrm>
              <a:prstGeom prst="rect">
                <a:avLst/>
              </a:prstGeom>
              <a:blipFill rotWithShape="1">
                <a:blip r:embed="rId5"/>
                <a:stretch>
                  <a:fillRect l="-611" t="-847" r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4"/>
            <a:ext cx="10478463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13.H2.4 Bring It Together: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Function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Operations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9" name="Google Shape;329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0" name="Google Shape;330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554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/>
                </a:pPr>
                <a:r>
                  <a:rPr lang="en-US" sz="2000" dirty="0" smtClean="0">
                    <a:latin typeface="Verdana"/>
                    <a:ea typeface="MS Mincho"/>
                    <a:cs typeface="Times New Roman"/>
                  </a:rPr>
                  <a:t>Use the functions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=11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−5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+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 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MS Mincho"/>
                            <a:cs typeface="Times New Roman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=2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−8</m:t>
                    </m:r>
                  </m:oMath>
                </a14:m>
                <a:r>
                  <a:rPr lang="en-US" sz="2000" dirty="0">
                    <a:effectLst/>
                    <a:latin typeface="Verdana"/>
                    <a:ea typeface="MS Mincho"/>
                    <a:cs typeface="Times New Roman"/>
                  </a:rPr>
                  <a:t> to determine each new function. Write your answer in standard form</a:t>
                </a:r>
                <a:r>
                  <a:rPr lang="en-US" sz="2000" dirty="0" smtClean="0">
                    <a:effectLst/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>
                  <a:buSzPts val="2000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457200">
                  <a:buSzPts val="2000"/>
                  <a:tabLst>
                    <a:tab pos="5486400" algn="l"/>
                  </a:tabLst>
                </a:pPr>
                <a14:m>
                  <m:oMath xmlns:m="http://schemas.openxmlformats.org/officeDocument/2006/math">
                    <m:r>
                      <a:rPr lang="en-PH" sz="2000" b="0" i="1" smtClean="0"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PH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PH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PH" sz="2000" b="0" i="1" smtClean="0">
                        <a:latin typeface="Cambria Math"/>
                      </a:rPr>
                      <m:t>=(</m:t>
                    </m:r>
                    <m:r>
                      <a:rPr lang="en-PH" sz="2000" b="0" i="1" smtClean="0">
                        <a:latin typeface="Cambria Math"/>
                      </a:rPr>
                      <m:t>h</m:t>
                    </m:r>
                    <m:r>
                      <a:rPr lang="en-PH" sz="2000" b="0" i="1" smtClean="0">
                        <a:latin typeface="Cambria Math"/>
                      </a:rPr>
                      <m:t>+</m:t>
                    </m:r>
                    <m:r>
                      <a:rPr lang="en-PH" sz="2000" b="0" i="1" smtClean="0">
                        <a:latin typeface="Cambria Math"/>
                      </a:rPr>
                      <m:t>𝑚</m:t>
                    </m:r>
                    <m:r>
                      <a:rPr lang="en-PH" sz="2000" b="0" i="1" smtClean="0">
                        <a:latin typeface="Cambria Math"/>
                      </a:rPr>
                      <m:t>)(</m:t>
                    </m:r>
                    <m:r>
                      <a:rPr lang="en-PH" sz="2000" b="0" i="1" smtClean="0">
                        <a:latin typeface="Cambria Math"/>
                      </a:rPr>
                      <m:t>𝑦</m:t>
                    </m:r>
                    <m:r>
                      <a:rPr lang="en-PH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Helvetica Neue"/>
                        <a:cs typeface="Helvetica Neue"/>
                      </a:rPr>
                      <m:t>𝑘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h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−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𝑚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Helvetica Neue"/>
                        <a:cs typeface="Helvetica Neue"/>
                      </a:rPr>
                      <m:t>𝑏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h</m:t>
                    </m:r>
                    <m:r>
                      <a:rPr lang="en-US" sz="2000" i="1">
                        <a:effectLst/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𝑚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Helvetica Neue"/>
                        <a:cs typeface="Helvetica Neue"/>
                      </a:rPr>
                      <m:t>𝑐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  <m:t>h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/>
                                <a:ea typeface="Helvetica Neue"/>
                                <a:cs typeface="Helvetica Neue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(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>
                  <a:buSzPts val="2000"/>
                  <a:tabLst>
                    <a:tab pos="5486400" algn="l"/>
                  </a:tabLst>
                </a:pPr>
                <a:endParaRPr lang="en-PH" sz="2000" dirty="0" smtClean="0"/>
              </a:p>
              <a:p>
                <a:pPr marL="457200" indent="-457200">
                  <a:buSzPts val="2000"/>
                  <a:buFont typeface="+mj-lt"/>
                  <a:buAutoNum type="arabicPeriod" startAt="2"/>
                  <a:tabLst>
                    <a:tab pos="5486400" algn="l"/>
                  </a:tabLst>
                </a:pPr>
                <a:r>
                  <a:rPr lang="en-US" sz="2000" dirty="0" smtClean="0">
                    <a:latin typeface="Verdana"/>
                    <a:ea typeface="Helvetica Neue"/>
                    <a:cs typeface="Helvetica Neue"/>
                  </a:rPr>
                  <a:t>Write </a:t>
                </a:r>
                <a:r>
                  <a:rPr lang="en-US" sz="2000" dirty="0">
                    <a:latin typeface="Verdana"/>
                    <a:ea typeface="Helvetica Neue"/>
                    <a:cs typeface="Helvetica Neue"/>
                  </a:rPr>
                  <a:t>the restriction on the domain for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/>
                        <a:ea typeface="Helvetica Neue"/>
                        <a:cs typeface="Helvetica Neue"/>
                      </a:rPr>
                      <m:t>𝑐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/>
                            <a:ea typeface="Helvetica Neue"/>
                            <a:cs typeface="Helvetica Neue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Verdana"/>
                    <a:ea typeface="Helvetica Neue"/>
                    <a:cs typeface="Helvetica Neue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554067"/>
              </a:xfrm>
              <a:prstGeom prst="rect">
                <a:avLst/>
              </a:prstGeom>
              <a:blipFill rotWithShape="1">
                <a:blip r:embed="rId4"/>
                <a:stretch>
                  <a:fillRect l="-609" t="-803" b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13.H2.5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ts val="2000"/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A company’s mathematician determines 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=750−25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can be used to determine the price of a seminar on data management,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is the number of times the price decreases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$25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. The company knows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1,000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people will attend. For each decrease in price,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80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more people will be able to afford the seminar. 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=1000+80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models the number of people who can attend the seminar,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is the number of times the price decreases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$25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457200" indent="-457200">
                  <a:buSzPts val="2000"/>
                  <a:buFont typeface="+mj-lt"/>
                  <a:buAutoNum type="arabicPeriod"/>
                </a:pPr>
                <a:endParaRPr lang="en-PH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Find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𝑅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MS Mincho"/>
                            <a:cs typeface="Times New Roman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Helvetica Neue"/>
                        <a:cs typeface="Helvetica Neue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∙</m:t>
                    </m:r>
                    <m:r>
                      <a:rPr lang="en-US" sz="2000" i="1">
                        <a:latin typeface="Cambria Math"/>
                        <a:ea typeface="Helvetica Neue"/>
                        <a:cs typeface="Helvetica Neue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Helvetica Neue"/>
                            <a:cs typeface="Helvetica Neue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Helvetica Neue"/>
                            <a:cs typeface="Helvetica Neue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. Write the answer in standard form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.</a:t>
                </a: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What </a:t>
                </a: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are the constraints for 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𝑅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(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)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?</a:t>
                </a:r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4093428"/>
              </a:xfrm>
              <a:prstGeom prst="rect">
                <a:avLst/>
              </a:prstGeom>
              <a:blipFill rotWithShape="1">
                <a:blip r:embed="rId5"/>
                <a:stretch>
                  <a:fillRect l="-611"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1605</Words>
  <Application>Microsoft Office PowerPoint</Application>
  <PresentationFormat>Custom</PresentationFormat>
  <Paragraphs>334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Verdana</vt:lpstr>
      <vt:lpstr>Century Gothic</vt:lpstr>
      <vt:lpstr>Symbol</vt:lpstr>
      <vt:lpstr>Wingdings</vt:lpstr>
      <vt:lpstr>Calibri</vt:lpstr>
      <vt:lpstr>Arial Black</vt:lpstr>
      <vt:lpstr>Helvetica Neue</vt:lpstr>
      <vt:lpstr>Cambria Math</vt:lpstr>
      <vt:lpstr>MS Mincho</vt:lpstr>
      <vt:lpstr>Times New Roman</vt:lpstr>
      <vt:lpstr>Cambria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13, Lesson H2  Combining Functions  Volume 2, pg. 297</dc:title>
  <dc:creator>Karen McKenzie</dc:creator>
  <cp:lastModifiedBy>John Patrick</cp:lastModifiedBy>
  <cp:revision>19</cp:revision>
  <dcterms:created xsi:type="dcterms:W3CDTF">2015-03-17T18:51:18Z</dcterms:created>
  <dcterms:modified xsi:type="dcterms:W3CDTF">2022-07-03T10:24:32Z</dcterms:modified>
</cp:coreProperties>
</file>