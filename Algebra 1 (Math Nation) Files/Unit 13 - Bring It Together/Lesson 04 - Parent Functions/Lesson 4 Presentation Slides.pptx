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Arial Black" panose="020B06040202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hSA+bRQXq5yWkvZR0ErCcrvaso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C9F47D-6FF2-4CEF-AC9D-62779E8DF82B}">
  <a:tblStyle styleId="{35C9F47D-6FF2-4CEF-AC9D-62779E8DF8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17"/>
    <p:restoredTop sz="94694"/>
  </p:normalViewPr>
  <p:slideViewPr>
    <p:cSldViewPr snapToGrid="0">
      <p:cViewPr varScale="1">
        <p:scale>
          <a:sx n="128" d="100"/>
          <a:sy n="128" d="100"/>
        </p:scale>
        <p:origin x="616" y="1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45140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5" name="Picture 4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Google Shape;261;g104476d1465_0_0"/>
          <p:cNvSpPr txBox="1">
            <a:spLocks/>
          </p:cNvSpPr>
          <p:nvPr/>
        </p:nvSpPr>
        <p:spPr>
          <a:xfrm>
            <a:off x="5585671" y="2054277"/>
            <a:ext cx="523949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fr-FR" sz="4000" b="1" dirty="0" err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</a:t>
            </a:r>
            <a:r>
              <a:rPr lang="fr-FR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1</a:t>
            </a:r>
            <a:br>
              <a:rPr lang="fr-FR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fr-FR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fr-FR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</a:t>
            </a:r>
            <a:r>
              <a:rPr lang="fr-FR" sz="4000" b="1" dirty="0" err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Lesson</a:t>
            </a:r>
            <a:r>
              <a:rPr lang="fr-FR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4</a:t>
            </a:r>
            <a:br>
              <a:rPr lang="fr-FR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fr-FR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fr-FR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Parent </a:t>
            </a:r>
            <a:r>
              <a:rPr lang="fr-FR" sz="4000" b="1" dirty="0" err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Functions</a:t>
            </a:r>
            <a:br>
              <a:rPr lang="fr-FR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fr-FR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fr-FR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</a:t>
            </a:r>
            <a:r>
              <a:rPr lang="fr-FR" sz="3200" b="1" dirty="0" err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pg</a:t>
            </a:r>
            <a:r>
              <a:rPr lang="fr-FR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. 253</a:t>
            </a:r>
            <a:endParaRPr lang="fr-FR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4" name="Google Shape;124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MA.912.F.1.1</a:t>
            </a:r>
            <a:endParaRPr lang="en-US" sz="3600" dirty="0"/>
          </a:p>
          <a:p>
            <a:pPr indent="0">
              <a:buNone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Given an equation or graph that defines a function, classify the function type. Given an input-output table, determine a function type that could represent it.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7" name="Google Shape;137;p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9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lang="en-US" sz="2400" dirty="0"/>
          </a:p>
          <a:p>
            <a:pPr marL="457200"/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lang="en-US" sz="2400" dirty="0"/>
          </a:p>
          <a:p>
            <a:pPr marL="457200"/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lang="en-US" sz="2400" dirty="0"/>
          </a:p>
          <a:p>
            <a:pPr marL="457200"/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lang="en-US" sz="2400" dirty="0"/>
          </a:p>
          <a:p>
            <a:pPr marL="457200"/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lang="en-US" sz="2400" dirty="0"/>
          </a:p>
        </p:txBody>
      </p:sp>
      <p:sp>
        <p:nvSpPr>
          <p:cNvPr id="10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4" name="Google Shape;144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9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SzPct val="100000"/>
              <a:buFont typeface="Noto Sans Symbols"/>
              <a:buChar char="❑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I can match multiple representations of the parent function to its table of values.</a:t>
            </a:r>
          </a:p>
          <a:p>
            <a:pPr marL="685800" indent="-685800">
              <a:buSzPct val="100000"/>
              <a:buFont typeface="Noto Sans Symbols"/>
              <a:buChar char="❑"/>
            </a:pPr>
            <a:endParaRPr lang="en-US" sz="3600" dirty="0">
              <a:latin typeface="Cambria"/>
              <a:ea typeface="Cambria"/>
              <a:cs typeface="Cambria"/>
              <a:sym typeface="Cambria"/>
            </a:endParaRPr>
          </a:p>
          <a:p>
            <a:pPr marL="685800" indent="-685800">
              <a:buSzPct val="100000"/>
              <a:buFont typeface="Noto Sans Symbols"/>
              <a:buChar char="❑"/>
            </a:pPr>
            <a:r>
              <a:rPr lang="en-US" sz="3600" dirty="0">
                <a:latin typeface="Verdana"/>
                <a:ea typeface="Verdana"/>
                <a:cs typeface="Verdana"/>
                <a:sym typeface="Verdana"/>
              </a:rPr>
              <a:t>I can determine a function type that could represent a transformation of a parent function.</a:t>
            </a:r>
            <a:endParaRPr lang="en-US" sz="36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5" name="Google Shape;155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58" name="Google Shape;158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69;p4" descr="Chart, line chart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64917" y="1848080"/>
            <a:ext cx="4453927" cy="316993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326087"/>
            <a:ext cx="110515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100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A graph of a function is shown.</a:t>
            </a:r>
            <a:endParaRPr lang="en-US" sz="2000" dirty="0"/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PH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What information might help you decide whether the graph represents a linear or an exponential function?</a:t>
            </a:r>
            <a:endParaRPr lang="en-US" sz="2000" dirty="0"/>
          </a:p>
        </p:txBody>
      </p:sp>
      <p:sp>
        <p:nvSpPr>
          <p:cNvPr id="10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47846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13.4.1 Warm-Up: Notice and Wonder</a:t>
            </a:r>
            <a:endParaRPr lang="en-US" sz="3600" dirty="0"/>
          </a:p>
        </p:txBody>
      </p:sp>
      <p:pic>
        <p:nvPicPr>
          <p:cNvPr id="11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7" name="Google Shape;177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0" name="Google Shape;180;p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The graph of the same function is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</a:endParaRPr>
              </a:p>
              <a:p>
                <a:pPr marL="457200"/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Explain why the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-values used for the first graph, shown in the red box, were misleading.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blipFill rotWithShape="1">
                <a:blip r:embed="rId4"/>
                <a:stretch>
                  <a:fillRect l="-609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s3.amazonaws.com/algebranation/S3_DIGITALTEXTBOOK_UPLOAD_PREFIX/5706C2C158923883052187C1DD02DE75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90" t="3724" r="6760" b="6767"/>
          <a:stretch/>
        </p:blipFill>
        <p:spPr bwMode="auto">
          <a:xfrm>
            <a:off x="3582703" y="1028700"/>
            <a:ext cx="493395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0" name="Google Shape;190;p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201" name="Google Shape;201;p7"/>
          <p:cNvGraphicFramePr/>
          <p:nvPr>
            <p:extLst>
              <p:ext uri="{D42A27DB-BD31-4B8C-83A1-F6EECF244321}">
                <p14:modId xmlns:p14="http://schemas.microsoft.com/office/powerpoint/2010/main" val="3900939562"/>
              </p:ext>
            </p:extLst>
          </p:nvPr>
        </p:nvGraphicFramePr>
        <p:xfrm>
          <a:off x="2485302" y="2505075"/>
          <a:ext cx="7089050" cy="3812594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266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Table of Values</a:t>
                      </a: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Equation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Graph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Features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2" name="Google Shape;202;p7" descr="Table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0648" y="4797440"/>
            <a:ext cx="1933216" cy="1465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7" descr="Table&#10;&#10;Description automatically generated"/>
          <p:cNvPicPr preferRelativeResize="0">
            <a:picLocks noChangeAspect="1"/>
          </p:cNvPicPr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14257" y="3180331"/>
            <a:ext cx="1929424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01364"/>
            <a:ext cx="10478463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13.4.2 Activity: Parent Functions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Card Sort</a:t>
            </a:r>
            <a:endParaRPr lang="en-US" sz="3600" dirty="0"/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29070" y="1386025"/>
            <a:ext cx="11001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Sort the cards to match the equation, graph, and key features to the table of values of a parent function. Write the letter that corresponds to each in the table.</a:t>
            </a:r>
            <a:endParaRPr lang="en-US" sz="20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oogle Shape;201;p7"/>
          <p:cNvGraphicFramePr/>
          <p:nvPr>
            <p:extLst>
              <p:ext uri="{D42A27DB-BD31-4B8C-83A1-F6EECF244321}">
                <p14:modId xmlns:p14="http://schemas.microsoft.com/office/powerpoint/2010/main" val="3528546653"/>
              </p:ext>
            </p:extLst>
          </p:nvPr>
        </p:nvGraphicFramePr>
        <p:xfrm>
          <a:off x="2485302" y="410666"/>
          <a:ext cx="7089050" cy="4315514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266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Table of Values</a:t>
                      </a: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Equation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Graph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Features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213" name="Google Shape;213;p8" descr="Table&#10;&#10;Description automatically generated"/>
          <p:cNvPicPr preferRelativeResize="0"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28559" y="2712520"/>
            <a:ext cx="1929384" cy="1942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8" descr="Table&#10;&#10;Description automatically generated"/>
          <p:cNvPicPr preferRelativeResize="0">
            <a:picLocks noChangeAspect="1"/>
          </p:cNvPicPr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23243" y="1083428"/>
            <a:ext cx="1932823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oogle Shape;201;p7"/>
          <p:cNvGraphicFramePr/>
          <p:nvPr>
            <p:extLst>
              <p:ext uri="{D42A27DB-BD31-4B8C-83A1-F6EECF244321}">
                <p14:modId xmlns:p14="http://schemas.microsoft.com/office/powerpoint/2010/main" val="3573164421"/>
              </p:ext>
            </p:extLst>
          </p:nvPr>
        </p:nvGraphicFramePr>
        <p:xfrm>
          <a:off x="2485302" y="410666"/>
          <a:ext cx="7089050" cy="4224074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266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Table of Values</a:t>
                      </a: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Equation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Graph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Features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1" name="Google Shape;221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2" name="Google Shape;222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224" name="Google Shape;224;p9" descr="Table&#10;&#10;Description automatically generated"/>
          <p:cNvPicPr preferRelativeResize="0"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9876" y="2737904"/>
            <a:ext cx="1929384" cy="177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" descr="Table&#10;&#10;Description automatically generated"/>
          <p:cNvPicPr preferRelativeResize="0">
            <a:picLocks noChangeAspect="1"/>
          </p:cNvPicPr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9876" y="1088025"/>
            <a:ext cx="1929384" cy="1468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oogle Shape;201;p7"/>
          <p:cNvGraphicFramePr/>
          <p:nvPr>
            <p:extLst>
              <p:ext uri="{D42A27DB-BD31-4B8C-83A1-F6EECF244321}">
                <p14:modId xmlns:p14="http://schemas.microsoft.com/office/powerpoint/2010/main" val="3915741497"/>
              </p:ext>
            </p:extLst>
          </p:nvPr>
        </p:nvGraphicFramePr>
        <p:xfrm>
          <a:off x="2485302" y="410666"/>
          <a:ext cx="7089050" cy="3858314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266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Table of Values</a:t>
                      </a: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Equation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Graph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Features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200" dirty="0"/>
                    </a:p>
                  </a:txBody>
                  <a:tcPr marL="68575" marR="68575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2" name="Google Shape;232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3" name="Google Shape;233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235" name="Google Shape;235;p10" descr="Table&#10;&#10;Description automatically generated"/>
          <p:cNvPicPr preferRelativeResize="0">
            <a:picLocks noChangeAspect="1"/>
          </p:cNvPicPr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5288" y="2707838"/>
            <a:ext cx="1929384" cy="1456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0" descr="Table&#10;&#10;Description automatically generated"/>
          <p:cNvPicPr preferRelativeResize="0">
            <a:picLocks noChangeAspect="1"/>
          </p:cNvPicPr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5288" y="1062101"/>
            <a:ext cx="1929384" cy="147383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4" name="Google Shape;244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7" name="Google Shape;247;p1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8" name="Google Shape;258;p1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601762" y="1460161"/>
            <a:ext cx="10928822" cy="219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Knowing the basic shape of a parent function helps to determine a transformation of the parent function. </a:t>
            </a:r>
            <a:endParaRPr lang="en-US" sz="2000" dirty="0"/>
          </a:p>
          <a:p>
            <a:pPr>
              <a:spcBef>
                <a:spcPts val="1000"/>
              </a:spcBef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spcBef>
                <a:spcPts val="1000"/>
              </a:spcBef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Shown in the table are representations of transformations. Use the information from the card sort to help determine which family of functions each transformation is part of.</a:t>
            </a:r>
            <a:endParaRPr lang="en-US" sz="2000" dirty="0"/>
          </a:p>
        </p:txBody>
      </p:sp>
      <p:sp>
        <p:nvSpPr>
          <p:cNvPr id="9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39832"/>
            <a:ext cx="10478462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13.4.3 Exploration: Transformations of Parent Functions</a:t>
            </a:r>
            <a:endParaRPr lang="en-US" sz="3600" dirty="0"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p13"/>
          <p:cNvGraphicFramePr/>
          <p:nvPr>
            <p:extLst>
              <p:ext uri="{D42A27DB-BD31-4B8C-83A1-F6EECF244321}">
                <p14:modId xmlns:p14="http://schemas.microsoft.com/office/powerpoint/2010/main" val="2000798766"/>
              </p:ext>
            </p:extLst>
          </p:nvPr>
        </p:nvGraphicFramePr>
        <p:xfrm>
          <a:off x="2549236" y="410666"/>
          <a:ext cx="7399525" cy="5882640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455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Representation of Transformat</a:t>
                      </a:r>
                      <a:r>
                        <a:rPr lang="en-US" sz="22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ion</a:t>
                      </a: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Equation of Parent Function</a:t>
                      </a: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dirty="0"/>
                    </a:p>
                  </a:txBody>
                  <a:tcPr marL="48575" marR="485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48575" marR="485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203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ourier New"/>
                        <a:buNone/>
                      </a:pP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5" name="Google Shape;265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6" name="Google Shape;266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267" name="Google Shape;267;p13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90925" y="1311622"/>
            <a:ext cx="2357489" cy="2357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3" descr="Table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4017" y="1404809"/>
            <a:ext cx="1316963" cy="217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3" descr="Table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4017" y="4015576"/>
            <a:ext cx="1316963" cy="217111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Google Shape;296;p15"/>
              <p:cNvGraphicFramePr/>
              <p:nvPr>
                <p:extLst>
                  <p:ext uri="{D42A27DB-BD31-4B8C-83A1-F6EECF244321}">
                    <p14:modId xmlns:p14="http://schemas.microsoft.com/office/powerpoint/2010/main" val="3226758983"/>
                  </p:ext>
                </p:extLst>
              </p:nvPr>
            </p:nvGraphicFramePr>
            <p:xfrm>
              <a:off x="3562662" y="3973142"/>
              <a:ext cx="2560300" cy="219450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1280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01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cap="none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cap="none" smtClean="0"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cap="none" smtClean="0">
                                    <a:latin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cap="none" smtClean="0"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u="none" strike="noStrike" cap="none" smtClean="0">
                                    <a:latin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Google Shape;296;p15"/>
              <p:cNvGraphicFramePr/>
              <p:nvPr>
                <p:extLst>
                  <p:ext uri="{D42A27DB-BD31-4B8C-83A1-F6EECF244321}">
                    <p14:modId xmlns:p14="http://schemas.microsoft.com/office/powerpoint/2010/main" val="3226758983"/>
                  </p:ext>
                </p:extLst>
              </p:nvPr>
            </p:nvGraphicFramePr>
            <p:xfrm>
              <a:off x="3562662" y="3973142"/>
              <a:ext cx="2560300" cy="219450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12801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8015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667" r="-100476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1667" r="-476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101667" r="-10047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101667" r="-476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201667" r="-10047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201667" r="-47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301667" r="-10047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301667" r="-47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401667" r="-10047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401667" r="-47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t="-501667" r="-10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00000" t="-501667" r="-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Google Shape;264;p13"/>
              <p:cNvGraphicFramePr/>
              <p:nvPr>
                <p:extLst>
                  <p:ext uri="{D42A27DB-BD31-4B8C-83A1-F6EECF244321}">
                    <p14:modId xmlns:p14="http://schemas.microsoft.com/office/powerpoint/2010/main" val="1739894151"/>
                  </p:ext>
                </p:extLst>
              </p:nvPr>
            </p:nvGraphicFramePr>
            <p:xfrm>
              <a:off x="2549236" y="410666"/>
              <a:ext cx="7399525" cy="588264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4558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13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Representation of Transformat</a:t>
                          </a: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of Parent Function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PH" sz="2200" b="0" i="1" u="none" strike="noStrike" cap="none" smtClean="0">
                                  <a:latin typeface="Cambria Math"/>
                                  <a:ea typeface="Verdana"/>
                                  <a:cs typeface="Verdana"/>
                                  <a:sym typeface="Verdana"/>
                                </a:rPr>
                                <m:t>𝑦</m:t>
                              </m:r>
                              <m:r>
                                <a:rPr lang="en-PH" sz="2200" b="0" i="1" u="none" strike="noStrike" cap="none" smtClean="0">
                                  <a:latin typeface="Cambria Math"/>
                                  <a:ea typeface="Verdana"/>
                                  <a:cs typeface="Verdana"/>
                                  <a:sym typeface="Verdana"/>
                                </a:rPr>
                                <m:t>=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PH" sz="2200" b="0" i="1" u="none" strike="noStrike" cap="none" smtClean="0">
                                      <a:latin typeface="Cambria Math" panose="02040503050406030204" pitchFamily="18" charset="0"/>
                                      <a:ea typeface="Verdana"/>
                                      <a:sym typeface="Verdana"/>
                                    </a:rPr>
                                  </m:ctrlPr>
                                </m:dPr>
                                <m:e>
                                  <m:r>
                                    <a:rPr lang="en-PH" sz="2200" b="0" i="1" u="none" strike="noStrike" cap="none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𝑥</m:t>
                                  </m:r>
                                  <m:r>
                                    <a:rPr lang="en-PH" sz="2200" b="0" i="1" u="none" strike="noStrike" cap="none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+5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20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dirty="0"/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6888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/>
                        </a:p>
                      </a:txBody>
                      <a:tcPr marL="48575" marR="4857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203200" algn="l" rtl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2200"/>
                            <a:buFont typeface="Courier New"/>
                            <a:buNone/>
                          </a:pP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Google Shape;264;p13"/>
              <p:cNvGraphicFramePr/>
              <p:nvPr>
                <p:extLst>
                  <p:ext uri="{D42A27DB-BD31-4B8C-83A1-F6EECF244321}">
                    <p14:modId xmlns:p14="http://schemas.microsoft.com/office/powerpoint/2010/main" val="1739894151"/>
                  </p:ext>
                </p:extLst>
              </p:nvPr>
            </p:nvGraphicFramePr>
            <p:xfrm>
              <a:off x="2549236" y="410666"/>
              <a:ext cx="7399525" cy="588264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45581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4137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Representation of Transformat</a:t>
                          </a: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of Parent Function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9885" r="-62433" b="-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46888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dirty="0"/>
                        </a:p>
                      </a:txBody>
                      <a:tcPr marL="48575" marR="4857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203200" algn="l" rtl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2200"/>
                            <a:buFont typeface="Courier New"/>
                            <a:buNone/>
                          </a:pP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7" name="Google Shape;277;p1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8" name="Google Shape;278;p1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80" name="Google Shape;280;p14"/>
              <p:cNvGraphicFramePr/>
              <p:nvPr>
                <p:extLst>
                  <p:ext uri="{D42A27DB-BD31-4B8C-83A1-F6EECF244321}">
                    <p14:modId xmlns:p14="http://schemas.microsoft.com/office/powerpoint/2010/main" val="438053089"/>
                  </p:ext>
                </p:extLst>
              </p:nvPr>
            </p:nvGraphicFramePr>
            <p:xfrm>
              <a:off x="3160973" y="4304521"/>
              <a:ext cx="3405150" cy="1593225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567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8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7651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/>
                            <a:t>𝒙</a:t>
                          </a:r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80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/>
                            <a:t>𝒚</a:t>
                          </a:r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u="none" strike="noStrike" cap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u="none" strike="noStrike" cap="none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000" b="0" i="1" u="none" strike="noStrike" cap="none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u="none" strike="noStrike" cap="none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u="none" strike="noStrike" cap="none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000" b="0" i="1" u="none" strike="noStrike" cap="none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80" name="Google Shape;280;p14"/>
              <p:cNvGraphicFramePr/>
              <p:nvPr>
                <p:extLst>
                  <p:ext uri="{D42A27DB-BD31-4B8C-83A1-F6EECF244321}">
                    <p14:modId xmlns:p14="http://schemas.microsoft.com/office/powerpoint/2010/main" val="438053089"/>
                  </p:ext>
                </p:extLst>
              </p:nvPr>
            </p:nvGraphicFramePr>
            <p:xfrm>
              <a:off x="3160973" y="4304521"/>
              <a:ext cx="3405150" cy="1593225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567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673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68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76517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/>
                            <a:t>𝒙</a:t>
                          </a:r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22" t="-1639" r="-402222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222" t="-1639" r="-302222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222" t="-1639" r="-202222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2222" t="-1639" r="-102222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2222" t="-1639" r="-2222" b="-1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280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/>
                            <a:t>𝒚</a:t>
                          </a:r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222" t="-93939" r="-40222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222" t="-93939" r="-30222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222" t="-93939" r="-20222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2222" t="-93939" r="-10222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2222" t="-93939" r="-2222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83" name="Google Shape;283;p1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68;p13" descr="Table&#10;&#10;Description automatically generated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4017" y="1404809"/>
            <a:ext cx="1316963" cy="217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70;p13" descr="Table&#10;&#10;Description automatically generated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4017" y="4015576"/>
            <a:ext cx="1316963" cy="2171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oogle Shape;264;p13"/>
          <p:cNvGraphicFramePr/>
          <p:nvPr>
            <p:extLst>
              <p:ext uri="{D42A27DB-BD31-4B8C-83A1-F6EECF244321}">
                <p14:modId xmlns:p14="http://schemas.microsoft.com/office/powerpoint/2010/main" val="1957732111"/>
              </p:ext>
            </p:extLst>
          </p:nvPr>
        </p:nvGraphicFramePr>
        <p:xfrm>
          <a:off x="2549236" y="410666"/>
          <a:ext cx="7399525" cy="5882640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455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Representation of Transformat</a:t>
                      </a:r>
                      <a:r>
                        <a:rPr lang="en-US" sz="22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ion</a:t>
                      </a: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Equation of Parent Function</a:t>
                      </a: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dirty="0"/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48575" marR="485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2032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Courier New"/>
                        <a:buNone/>
                      </a:pPr>
                      <a:endParaRPr sz="22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48575" marR="485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2" name="Google Shape;292;p1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3" name="Google Shape;293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6" name="Google Shape;296;p15"/>
              <p:cNvGraphicFramePr/>
              <p:nvPr>
                <p:extLst>
                  <p:ext uri="{D42A27DB-BD31-4B8C-83A1-F6EECF244321}">
                    <p14:modId xmlns:p14="http://schemas.microsoft.com/office/powerpoint/2010/main" val="437116667"/>
                  </p:ext>
                </p:extLst>
              </p:nvPr>
            </p:nvGraphicFramePr>
            <p:xfrm>
              <a:off x="3562662" y="3973142"/>
              <a:ext cx="2560300" cy="219450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1280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01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sz="2000" u="none" strike="noStrike" cap="none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6" name="Google Shape;296;p15"/>
              <p:cNvGraphicFramePr/>
              <p:nvPr>
                <p:extLst>
                  <p:ext uri="{D42A27DB-BD31-4B8C-83A1-F6EECF244321}">
                    <p14:modId xmlns:p14="http://schemas.microsoft.com/office/powerpoint/2010/main" val="437116667"/>
                  </p:ext>
                </p:extLst>
              </p:nvPr>
            </p:nvGraphicFramePr>
            <p:xfrm>
              <a:off x="3562662" y="3973142"/>
              <a:ext cx="2560300" cy="219450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12801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8015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667" r="-100476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667" r="-476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1667" r="-10047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1667" r="-476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1667" r="-10047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01667" r="-47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1667" r="-10047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301667" r="-476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01667" r="-10047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401667" r="-47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65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01667" r="-10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501667" r="-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9" name="Google Shape;299;p1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68;p13" descr="Table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4017" y="1404809"/>
            <a:ext cx="1316963" cy="217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70;p13" descr="Table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4017" y="4015576"/>
            <a:ext cx="1316963" cy="217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95;p15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4111" y="1311622"/>
            <a:ext cx="2374553" cy="2374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6" name="Google Shape;306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9" name="Google Shape;309;p1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Google Shape;264;p13"/>
              <p:cNvGraphicFramePr/>
              <p:nvPr>
                <p:extLst>
                  <p:ext uri="{D42A27DB-BD31-4B8C-83A1-F6EECF244321}">
                    <p14:modId xmlns:p14="http://schemas.microsoft.com/office/powerpoint/2010/main" val="865318570"/>
                  </p:ext>
                </p:extLst>
              </p:nvPr>
            </p:nvGraphicFramePr>
            <p:xfrm>
              <a:off x="2549236" y="410666"/>
              <a:ext cx="7399525" cy="341376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4558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413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Representation of Transformat</a:t>
                          </a: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of Parent Function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PH" sz="2200" b="0" i="1" u="none" strike="noStrike" cap="none" smtClean="0">
                                  <a:latin typeface="Cambria Math"/>
                                  <a:ea typeface="Verdana"/>
                                  <a:cs typeface="Verdana"/>
                                  <a:sym typeface="Verdana"/>
                                </a:rPr>
                                <m:t>𝑦</m:t>
                              </m:r>
                              <m:r>
                                <a:rPr lang="en-PH" sz="2200" b="0" i="1" u="none" strike="noStrike" cap="none" smtClean="0">
                                  <a:latin typeface="Cambria Math"/>
                                  <a:ea typeface="Verdana"/>
                                  <a:cs typeface="Verdana"/>
                                  <a:sym typeface="Verdana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PH" sz="2200" b="0" i="1" u="none" strike="noStrike" cap="none" smtClean="0">
                                      <a:latin typeface="Cambria Math" panose="02040503050406030204" pitchFamily="18" charset="0"/>
                                      <a:ea typeface="Verdana"/>
                                      <a:sym typeface="Verdana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PH" sz="2200" b="0" i="1" u="none" strike="noStrike" cap="none" smtClean="0">
                                          <a:latin typeface="Cambria Math" panose="02040503050406030204" pitchFamily="18" charset="0"/>
                                          <a:ea typeface="Verdana"/>
                                          <a:sym typeface="Verdana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PH" sz="2200" b="0" i="1" u="none" strike="noStrike" cap="none" smtClean="0">
                                              <a:latin typeface="Cambria Math" panose="02040503050406030204" pitchFamily="18" charset="0"/>
                                              <a:ea typeface="Verdana"/>
                                              <a:sym typeface="Verdana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PH" sz="2200" b="0" i="1" u="none" strike="noStrike" cap="none" smtClean="0">
                                              <a:latin typeface="Cambria Math"/>
                                              <a:ea typeface="Verdana"/>
                                              <a:sym typeface="Verdana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PH" sz="2200" b="0" i="1" u="none" strike="noStrike" cap="none" smtClean="0">
                                              <a:latin typeface="Cambria Math"/>
                                              <a:ea typeface="Verdana"/>
                                              <a:sym typeface="Verdana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PH" sz="2200" b="0" i="1" u="none" strike="noStrike" cap="none" smtClean="0">
                                      <a:latin typeface="Cambria Math"/>
                                      <a:ea typeface="Verdana"/>
                                      <a:sym typeface="Verdana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PH" sz="2200" b="0" i="1" u="none" strike="noStrike" cap="none" smtClean="0">
                                  <a:latin typeface="Cambria Math"/>
                                  <a:ea typeface="Verdana"/>
                                  <a:sym typeface="Verdana"/>
                                </a:rPr>
                                <m:t>−5</m:t>
                              </m:r>
                            </m:oMath>
                          </a14:m>
                          <a:r>
                            <a:rPr lang="en-US" sz="2200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dirty="0"/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Google Shape;264;p13"/>
              <p:cNvGraphicFramePr/>
              <p:nvPr>
                <p:extLst>
                  <p:ext uri="{D42A27DB-BD31-4B8C-83A1-F6EECF244321}">
                    <p14:modId xmlns:p14="http://schemas.microsoft.com/office/powerpoint/2010/main" val="865318570"/>
                  </p:ext>
                </p:extLst>
              </p:nvPr>
            </p:nvGraphicFramePr>
            <p:xfrm>
              <a:off x="2549236" y="410666"/>
              <a:ext cx="7399525" cy="3413760"/>
            </p:xfrm>
            <a:graphic>
              <a:graphicData uri="http://schemas.openxmlformats.org/drawingml/2006/table">
                <a:tbl>
                  <a:tblPr>
                    <a:noFill/>
                    <a:tableStyleId>{35C9F47D-6FF2-4CEF-AC9D-62779E8DF82B}</a:tableStyleId>
                  </a:tblPr>
                  <a:tblGrid>
                    <a:gridCol w="45581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4137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Representation of Transformat</a:t>
                          </a: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2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of Parent Function</a:t>
                          </a: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65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9885" r="-62433" b="-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200" u="none" strike="noStrike" cap="none" dirty="0">
                            <a:latin typeface="Verdana"/>
                            <a:ea typeface="Verdana"/>
                            <a:cs typeface="Verdana"/>
                            <a:sym typeface="Verdana"/>
                          </a:endParaRPr>
                        </a:p>
                      </a:txBody>
                      <a:tcPr marL="48575" marR="4857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oogle Shape;268;p13" descr="Table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4017" y="1404809"/>
            <a:ext cx="1316963" cy="2171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17" name="Google Shape;317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0" name="Google Shape;320;p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7" name="Google Shape;327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aphicFrame>
        <p:nvGraphicFramePr>
          <p:cNvPr id="331" name="Google Shape;331;p18"/>
          <p:cNvGraphicFramePr/>
          <p:nvPr>
            <p:extLst>
              <p:ext uri="{D42A27DB-BD31-4B8C-83A1-F6EECF244321}">
                <p14:modId xmlns:p14="http://schemas.microsoft.com/office/powerpoint/2010/main" val="2774514328"/>
              </p:ext>
            </p:extLst>
          </p:nvPr>
        </p:nvGraphicFramePr>
        <p:xfrm>
          <a:off x="1433512" y="3166350"/>
          <a:ext cx="9326880" cy="1048875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need help.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can’t get </a:t>
                      </a:r>
                      <a:b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started.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I’m getting </a:t>
                      </a:r>
                      <a:b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there, but I need </a:t>
                      </a:r>
                      <a:b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more practice.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understand</a:t>
                      </a:r>
                      <a:endParaRPr sz="2000" dirty="0"/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and I feel confident.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2" name="Google Shape;332;p18"/>
          <p:cNvCxnSpPr/>
          <p:nvPr/>
        </p:nvCxnSpPr>
        <p:spPr>
          <a:xfrm>
            <a:off x="1340802" y="4488180"/>
            <a:ext cx="946054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3" name="Google Shape;333;p1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Draw an </a:t>
            </a:r>
            <a:r>
              <a:rPr lang="en-US" sz="2000" b="1" dirty="0"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on each line to indicate how you feel about each learning target.</a:t>
            </a:r>
            <a:endParaRPr lang="en-US" sz="2000" dirty="0"/>
          </a:p>
          <a:p>
            <a:pPr>
              <a:lnSpc>
                <a:spcPct val="115000"/>
              </a:lnSpc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ct val="100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 can match multiple representations of the parent function to its table of values.</a:t>
            </a:r>
            <a:endParaRPr lang="en-US" sz="2000" dirty="0"/>
          </a:p>
        </p:txBody>
      </p:sp>
      <p:sp>
        <p:nvSpPr>
          <p:cNvPr id="11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13.4.4 Wrap-Up: Reflection</a:t>
            </a:r>
            <a:endParaRPr lang="en-US" sz="3600" dirty="0"/>
          </a:p>
        </p:txBody>
      </p:sp>
      <p:pic>
        <p:nvPicPr>
          <p:cNvPr id="12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0" name="Google Shape;340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4" name="Google Shape;344;p1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769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5000"/>
              </a:lnSpc>
              <a:buSzPct val="100000"/>
              <a:buFont typeface="Arial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 can determine a function type that could represent a transformation of a parent function.</a:t>
            </a:r>
            <a:endParaRPr lang="en-US" sz="20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1" name="Google Shape;331;p18"/>
          <p:cNvGraphicFramePr/>
          <p:nvPr>
            <p:extLst>
              <p:ext uri="{D42A27DB-BD31-4B8C-83A1-F6EECF244321}">
                <p14:modId xmlns:p14="http://schemas.microsoft.com/office/powerpoint/2010/main" val="1435332238"/>
              </p:ext>
            </p:extLst>
          </p:nvPr>
        </p:nvGraphicFramePr>
        <p:xfrm>
          <a:off x="1340802" y="1585200"/>
          <a:ext cx="9326880" cy="1048875"/>
        </p:xfrm>
        <a:graphic>
          <a:graphicData uri="http://schemas.openxmlformats.org/drawingml/2006/table">
            <a:tbl>
              <a:tblPr>
                <a:noFill/>
                <a:tableStyleId>{35C9F47D-6FF2-4CEF-AC9D-62779E8DF82B}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need help.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can’t get </a:t>
                      </a:r>
                      <a:b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started.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I’m getting </a:t>
                      </a:r>
                      <a:b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there, but I need </a:t>
                      </a:r>
                      <a:b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</a:b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more practice.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understand</a:t>
                      </a:r>
                      <a:endParaRPr sz="2000" dirty="0"/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and I feel confident.</a:t>
                      </a:r>
                      <a:endParaRPr sz="2000" u="none" strike="noStrike" cap="none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Google Shape;332;p18"/>
          <p:cNvCxnSpPr/>
          <p:nvPr/>
        </p:nvCxnSpPr>
        <p:spPr>
          <a:xfrm>
            <a:off x="1248092" y="2907030"/>
            <a:ext cx="9460548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721</Words>
  <Application>Microsoft Macintosh PowerPoint</Application>
  <PresentationFormat>Widescreen</PresentationFormat>
  <Paragraphs>197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Cambria Math</vt:lpstr>
      <vt:lpstr>Arial Black</vt:lpstr>
      <vt:lpstr>Calibri</vt:lpstr>
      <vt:lpstr>Cambria</vt:lpstr>
      <vt:lpstr>Courier New</vt:lpstr>
      <vt:lpstr>Arial</vt:lpstr>
      <vt:lpstr>Verdana</vt:lpstr>
      <vt:lpstr>Century Gothic</vt:lpstr>
      <vt:lpstr>Noto Sans Symbols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1  Unit 13, Lesson 4  Parent Functions  Volume 2, pg. 253</dc:title>
  <dc:creator>Karen McKenzie</dc:creator>
  <cp:lastModifiedBy>Diana Barnett</cp:lastModifiedBy>
  <cp:revision>10</cp:revision>
  <dcterms:created xsi:type="dcterms:W3CDTF">2015-03-17T18:51:18Z</dcterms:created>
  <dcterms:modified xsi:type="dcterms:W3CDTF">2023-02-14T17:34:01Z</dcterms:modified>
</cp:coreProperties>
</file>