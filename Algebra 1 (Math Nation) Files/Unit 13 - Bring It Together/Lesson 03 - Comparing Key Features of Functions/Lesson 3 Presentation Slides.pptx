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alibri" pitchFamily="34" charset="0"/>
      <p:regular r:id="rId29"/>
      <p:bold r:id="rId30"/>
      <p:italic r:id="rId31"/>
      <p:boldItalic r:id="rId32"/>
    </p:embeddedFont>
    <p:embeddedFont>
      <p:font typeface="Cambria Math" pitchFamily="18" charset="0"/>
      <p:regular r:id="rId33"/>
    </p:embeddedFont>
    <p:embeddedFont>
      <p:font typeface="Cambria" pitchFamily="18" charset="0"/>
      <p:regular r:id="rId34"/>
      <p:bold r:id="rId35"/>
      <p:italic r:id="rId36"/>
      <p:boldItalic r:id="rId37"/>
    </p:embeddedFont>
    <p:embeddedFont>
      <p:font typeface="Arial Black" pitchFamily="34" charset="0"/>
      <p:bold r:id="rId38"/>
    </p:embeddedFont>
    <p:embeddedFont>
      <p:font typeface="Verdana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izya0hRxv28dMLCcsDIcmofvw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B162BE8-4D63-4F6A-8AF5-F1B673A35EA6}">
  <a:tblStyle styleId="{0B162BE8-4D63-4F6A-8AF5-F1B673A35E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-59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0210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Key Features of Functions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246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114" name="Google Shape;114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5" name="Google Shape;115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522577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2" name="Google Shape;122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49534" y="-568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4" name="Google Shape;124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532661" y="1467034"/>
            <a:ext cx="1080000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MA.912.F.1.6</a:t>
            </a:r>
            <a:endParaRPr sz="3200" dirty="0">
              <a:latin typeface="Verdana" pitchFamily="34" charset="0"/>
              <a:ea typeface="Verdana" pitchFamily="34" charset="0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Compare key features of linear and nonlinear functions each represented algebraically, graphically, in tables, or written descriptions</a:t>
            </a:r>
            <a:r>
              <a:rPr lang="en-US" sz="3200" dirty="0" smtClean="0">
                <a:solidFill>
                  <a:schemeClr val="dk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.</a:t>
            </a: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endParaRPr sz="3200" dirty="0">
              <a:solidFill>
                <a:schemeClr val="dk1"/>
              </a:solidFill>
              <a:latin typeface="Verdana" pitchFamily="34" charset="0"/>
              <a:ea typeface="Verdana" pitchFamily="34" charset="0"/>
              <a:cs typeface="Verdana"/>
              <a:sym typeface="Verdana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MA.912.F.1.8</a:t>
            </a:r>
            <a:endParaRPr sz="3200" dirty="0">
              <a:latin typeface="Verdana" pitchFamily="34" charset="0"/>
              <a:ea typeface="Verdana" pitchFamily="34" charset="0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Determine whether a linear, quadratic, or exponential function best models a given real-world situation. </a:t>
            </a:r>
            <a:endParaRPr sz="3200" dirty="0">
              <a:solidFill>
                <a:schemeClr val="dk1"/>
              </a:solidFill>
              <a:latin typeface="Verdana" pitchFamily="34" charset="0"/>
              <a:ea typeface="Verdana" pitchFamily="34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249536" y="-568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532660" y="1463225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3;g104476d1465_1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4" name="Google Shape;144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5" name="Google Shape;145;p2"/>
          <p:cNvSpPr txBox="1"/>
          <p:nvPr/>
        </p:nvSpPr>
        <p:spPr>
          <a:xfrm>
            <a:off x="1255108" y="-568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p2"/>
          <p:cNvSpPr txBox="1"/>
          <p:nvPr/>
        </p:nvSpPr>
        <p:spPr>
          <a:xfrm>
            <a:off x="532661" y="1467036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0238" indent="-630238">
              <a:buSzPct val="100000"/>
              <a:buFont typeface="Wingdings" pitchFamily="2" charset="2"/>
              <a:buChar char="q"/>
            </a:pPr>
            <a:r>
              <a:rPr lang="en-US" sz="3500" dirty="0">
                <a:latin typeface="Verdana" pitchFamily="34" charset="0"/>
                <a:ea typeface="Verdana" pitchFamily="34" charset="0"/>
                <a:cs typeface="Verdana"/>
                <a:sym typeface="Verdana"/>
              </a:rPr>
              <a:t>I can compare key features of linear and nonlinear functions that are represented algebraically, graphically, in tables, or in written descriptions</a:t>
            </a:r>
            <a:r>
              <a:rPr lang="en-US" sz="3500" dirty="0" smtClean="0">
                <a:latin typeface="Verdana" pitchFamily="34" charset="0"/>
                <a:ea typeface="Verdana" pitchFamily="34" charset="0"/>
                <a:cs typeface="Verdana"/>
                <a:sym typeface="Verdana"/>
              </a:rPr>
              <a:t>.</a:t>
            </a:r>
          </a:p>
          <a:p>
            <a:pPr marL="630238" indent="-630238">
              <a:buSzPct val="100000"/>
              <a:buFont typeface="Wingdings" pitchFamily="2" charset="2"/>
              <a:buChar char="q"/>
            </a:pPr>
            <a:endParaRPr sz="3500" dirty="0">
              <a:latin typeface="Verdana" pitchFamily="34" charset="0"/>
              <a:ea typeface="Verdana" pitchFamily="34" charset="0"/>
            </a:endParaRPr>
          </a:p>
          <a:p>
            <a:pPr marL="630238" indent="-630238">
              <a:buSzPct val="100000"/>
              <a:buFont typeface="Wingdings" pitchFamily="2" charset="2"/>
              <a:buChar char="q"/>
            </a:pPr>
            <a:r>
              <a:rPr lang="en-US" sz="3500" dirty="0">
                <a:latin typeface="Verdana" pitchFamily="34" charset="0"/>
                <a:ea typeface="Verdana" pitchFamily="34" charset="0"/>
                <a:cs typeface="Verdana"/>
                <a:sym typeface="Verdana"/>
              </a:rPr>
              <a:t>I can verify when a quantity increasing exponentially exceeds a quantity increasing linearly or quadratically.</a:t>
            </a:r>
            <a:endParaRPr sz="35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5" name="Google Shape;155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6" name="Google Shape;156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7" name="Google Shape;157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6" name="Google Shape;166;p4"/>
          <p:cNvSpPr txBox="1"/>
          <p:nvPr/>
        </p:nvSpPr>
        <p:spPr>
          <a:xfrm>
            <a:off x="1252519" y="-568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13.3.1 Warm-Up: Tale of Three Patterns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8" name="Google Shape;168;p4"/>
          <p:cNvSpPr txBox="1"/>
          <p:nvPr/>
        </p:nvSpPr>
        <p:spPr>
          <a:xfrm>
            <a:off x="532661" y="1465925"/>
            <a:ext cx="359221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table shows three different patterns. 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9" name="Google Shape;169;p4" descr="A screenshot of a computer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 l="1" r="331"/>
          <a:stretch/>
        </p:blipFill>
        <p:spPr>
          <a:xfrm>
            <a:off x="4240280" y="1465925"/>
            <a:ext cx="5622811" cy="524924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5619" y="377421"/>
            <a:ext cx="10800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900113" indent="-457200" fontAlgn="base"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Write the number of squares needed for step 5 of each pattern.</a:t>
            </a:r>
          </a:p>
          <a:p>
            <a:pPr marL="900113" indent="-457200" fontAlgn="base">
              <a:buFont typeface="+mj-lt"/>
              <a:buAutoNum type="alphaLcPeriod"/>
            </a:pPr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900113" indent="-457200" fontAlgn="base">
              <a:buFont typeface="+mj-lt"/>
              <a:buAutoNum type="alphaLcPeriod"/>
            </a:pPr>
            <a:r>
              <a:rPr lang="en-US" sz="2400" dirty="0" smtClean="0">
                <a:latin typeface="Verdana" pitchFamily="34" charset="0"/>
                <a:ea typeface="Verdana" pitchFamily="34" charset="0"/>
              </a:rPr>
              <a:t>Which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pattern increases the same number of squares for each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step?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-8878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6" name="Google Shape;186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9" name="Google Shape;189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5" name="Google Shape;195;p7"/>
              <p:cNvGraphicFramePr/>
              <p:nvPr>
                <p:extLst>
                  <p:ext uri="{D42A27DB-BD31-4B8C-83A1-F6EECF244321}">
                    <p14:modId xmlns:p14="http://schemas.microsoft.com/office/powerpoint/2010/main" val="653111448"/>
                  </p:ext>
                </p:extLst>
              </p:nvPr>
            </p:nvGraphicFramePr>
            <p:xfrm>
              <a:off x="1169019" y="2032775"/>
              <a:ext cx="7058025" cy="4167825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370102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57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51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Function 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Function B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126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＝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  <a:ea typeface="Verdana" pitchFamily="34" charset="0"/>
                                  </a:rPr>
                                  <m:t>6(0.75)</m:t>
                                </m:r>
                                <m:r>
                                  <a:rPr lang="en-US" sz="2000" i="1" baseline="30000" dirty="0" smtClean="0"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sz="2000" u="none" strike="noStrike" cap="none" baseline="30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5" name="Google Shape;195;p7"/>
              <p:cNvGraphicFramePr/>
              <p:nvPr>
                <p:extLst>
                  <p:ext uri="{D42A27DB-BD31-4B8C-83A1-F6EECF244321}">
                    <p14:modId xmlns:p14="http://schemas.microsoft.com/office/powerpoint/2010/main" val="653111448"/>
                  </p:ext>
                </p:extLst>
              </p:nvPr>
            </p:nvGraphicFramePr>
            <p:xfrm>
              <a:off x="1169019" y="2032775"/>
              <a:ext cx="7058025" cy="4167825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370102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57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51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Function 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Function B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126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0345" t="-12315" b="-1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6" name="Google Shape;196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8" name="Google Shape;198;p7"/>
          <p:cNvSpPr txBox="1"/>
          <p:nvPr/>
        </p:nvSpPr>
        <p:spPr>
          <a:xfrm>
            <a:off x="1252888" y="-568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13.3.2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Comparing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Functions</a:t>
            </a:r>
            <a:endParaRPr dirty="0"/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0" name="Google Shape;200;p7"/>
          <p:cNvSpPr txBox="1"/>
          <p:nvPr/>
        </p:nvSpPr>
        <p:spPr>
          <a:xfrm>
            <a:off x="534464" y="1462063"/>
            <a:ext cx="83271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table shows two functions.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217" y="2600293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1" name="Google Shape;211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247/248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35619" y="377421"/>
                <a:ext cx="10800000" cy="54784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00113" indent="-457200" fontAlgn="base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Which function has the smallest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-intercept?</a:t>
                </a:r>
              </a:p>
              <a:p>
                <a:pPr marL="1252538" indent="-365125" fontAlgn="base">
                  <a:spcAft>
                    <a:spcPts val="600"/>
                  </a:spcAft>
                  <a:buFont typeface="Courier New" pitchFamily="49" charset="0"/>
                  <a:buChar char="o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Function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</a:t>
                </a:r>
              </a:p>
              <a:p>
                <a:pPr marL="1252538" indent="-365125" fontAlgn="base">
                  <a:buFont typeface="Courier New" pitchFamily="49" charset="0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Function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B</a:t>
                </a:r>
              </a:p>
              <a:p>
                <a:pPr marL="900113" indent="-457200" fontAlgn="base"/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spcAft>
                    <a:spcPts val="1200"/>
                  </a:spcAft>
                  <a:buFont typeface="+mj-lt"/>
                  <a:buAutoNum type="alphaLcPeriod" startAt="2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→∞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, which function has larger values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?</a:t>
                </a:r>
              </a:p>
              <a:p>
                <a:pPr marL="1252538" indent="-365125" fontAlgn="base">
                  <a:spcAft>
                    <a:spcPts val="600"/>
                  </a:spcAft>
                  <a:buFont typeface="Courier New" pitchFamily="49" charset="0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Function A</a:t>
                </a:r>
              </a:p>
              <a:p>
                <a:pPr marL="1252538" indent="-365125" fontAlgn="base">
                  <a:buFont typeface="Courier New" pitchFamily="49" charset="0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Function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B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Compare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ranges of the functions and indicate any similarities or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differences.</a:t>
                </a: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On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interval where Function A is negative, what type of values does Function B have?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19" y="377421"/>
                <a:ext cx="10800000" cy="5478423"/>
              </a:xfrm>
              <a:prstGeom prst="rect">
                <a:avLst/>
              </a:prstGeom>
              <a:blipFill rotWithShape="1">
                <a:blip r:embed="rId4"/>
                <a:stretch>
                  <a:fillRect t="-667" b="-100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9" name="Google Shape;219;p9"/>
          <p:cNvSpPr txBox="1"/>
          <p:nvPr/>
        </p:nvSpPr>
        <p:spPr>
          <a:xfrm>
            <a:off x="534464" y="382484"/>
            <a:ext cx="83271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table shows three different functions.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0" name="Google Shape;220;p9" descr="Chart, line ch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39" y="875885"/>
            <a:ext cx="8221337" cy="475972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1" name="Google Shape;231;p1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219;p9"/>
              <p:cNvSpPr txBox="1"/>
              <p:nvPr/>
            </p:nvSpPr>
            <p:spPr>
              <a:xfrm>
                <a:off x="534464" y="382484"/>
                <a:ext cx="8327136" cy="5786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>
                  <a:buSzPts val="2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Determine the type of function that each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represents.</a:t>
                </a: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SzPts val="20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spcAft>
                    <a:spcPts val="1200"/>
                  </a:spcAft>
                  <a:buSzPts val="2000"/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Which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key features are the same for all three functions?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domain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range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-intercepts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-intercepts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right end behavior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left end behavior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intervals where the function is positive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intervals where the function is negative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intervals where the function is increasing</a:t>
                </a:r>
              </a:p>
              <a:p>
                <a:pPr marL="1249363" indent="-342900" fontAlgn="base">
                  <a:buFont typeface="Wingdings" pitchFamily="2" charset="2"/>
                  <a:buChar char="o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intervals where the function is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decreasing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7" name="Google Shape;219;p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4" y="382484"/>
                <a:ext cx="8327136" cy="5786159"/>
              </a:xfrm>
              <a:prstGeom prst="rect">
                <a:avLst/>
              </a:prstGeom>
              <a:blipFill rotWithShape="1">
                <a:blip r:embed="rId4"/>
                <a:stretch>
                  <a:fillRect t="-632" r="-220" b="-9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0" name="Google Shape;230;p10"/>
          <p:cNvGraphicFramePr/>
          <p:nvPr>
            <p:extLst>
              <p:ext uri="{D42A27DB-BD31-4B8C-83A1-F6EECF244321}">
                <p14:modId xmlns:p14="http://schemas.microsoft.com/office/powerpoint/2010/main" val="1454967795"/>
              </p:ext>
            </p:extLst>
          </p:nvPr>
        </p:nvGraphicFramePr>
        <p:xfrm>
          <a:off x="1562905" y="911453"/>
          <a:ext cx="6713250" cy="1382400"/>
        </p:xfrm>
        <a:graphic>
          <a:graphicData uri="http://schemas.openxmlformats.org/drawingml/2006/table">
            <a:tbl>
              <a:tblPr>
                <a:noFill/>
                <a:tableStyleId>{0B162BE8-4D63-4F6A-8AF5-F1B673A35EA6}</a:tableStyleId>
              </a:tblPr>
              <a:tblGrid>
                <a:gridCol w="2237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77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37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Function H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Function K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Function M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5175">
                <a:tc>
                  <a:txBody>
                    <a:bodyPr/>
                    <a:lstStyle/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linear</a:t>
                      </a:r>
                      <a:endParaRPr dirty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quadratic</a:t>
                      </a:r>
                      <a:endParaRPr dirty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</a:t>
                      </a:r>
                      <a:endParaRPr dirty="0"/>
                    </a:p>
                  </a:txBody>
                  <a:tcPr marL="68575" marR="6857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linear</a:t>
                      </a:r>
                      <a:endParaRPr lang="en-US" sz="2000" dirty="0" smtClean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quadratic</a:t>
                      </a:r>
                      <a:endParaRPr lang="en-US" sz="2000" dirty="0" smtClean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</a:t>
                      </a:r>
                      <a:endParaRPr lang="en-US" sz="2000" dirty="0"/>
                    </a:p>
                  </a:txBody>
                  <a:tcPr marL="68575" marR="6857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linear</a:t>
                      </a:r>
                      <a:endParaRPr lang="en-US" sz="2000" dirty="0" smtClean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quadratic</a:t>
                      </a:r>
                      <a:endParaRPr lang="en-US" sz="2000" dirty="0" smtClean="0"/>
                    </a:p>
                    <a:p>
                      <a:pPr marL="355600" marR="0" lvl="0" indent="-2667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 smtClean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</a:t>
                      </a:r>
                      <a:endParaRPr lang="en-US" sz="2000" dirty="0"/>
                    </a:p>
                  </a:txBody>
                  <a:tcPr marL="68575" marR="6857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9" name="Google Shape;239;p11"/>
          <p:cNvSpPr txBox="1"/>
          <p:nvPr/>
        </p:nvSpPr>
        <p:spPr>
          <a:xfrm>
            <a:off x="532661" y="378351"/>
            <a:ext cx="10158608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graph shows </a:t>
            </a:r>
            <a:r>
              <a:rPr lang="en-US" sz="2400" b="1" dirty="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Function H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Function K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lang="en-US" sz="2400" b="1" dirty="0">
                <a:solidFill>
                  <a:srgbClr val="C0504D"/>
                </a:solidFill>
                <a:latin typeface="Verdana"/>
                <a:ea typeface="Verdana"/>
                <a:cs typeface="Verdana"/>
                <a:sym typeface="Verdana"/>
              </a:rPr>
              <a:t>Function M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</a:t>
            </a:r>
            <a:endParaRPr sz="2400" dirty="0"/>
          </a:p>
          <a:p>
            <a:pPr marL="4572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Which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function, </a:t>
            </a:r>
            <a:r>
              <a:rPr lang="en-US" sz="2400" b="1" dirty="0" smtClean="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or </a:t>
            </a:r>
            <a:r>
              <a:rPr lang="en-US" sz="2400" b="1" dirty="0">
                <a:solidFill>
                  <a:srgbClr val="C0504D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will </a:t>
            </a:r>
            <a:endParaRPr sz="2400"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eventually exceed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other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functions as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all the functions</a:t>
            </a:r>
            <a:endParaRPr sz="2400"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increase?</a:t>
            </a:r>
            <a:endParaRPr sz="2400"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400" dirty="0"/>
          </a:p>
          <a:p>
            <a:pPr marL="914400" indent="-342900">
              <a:spcAft>
                <a:spcPts val="600"/>
              </a:spcAft>
              <a:buSzPts val="22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Function H</a:t>
            </a:r>
            <a:endParaRPr sz="2400" dirty="0"/>
          </a:p>
          <a:p>
            <a:pPr marL="914400" indent="-342900">
              <a:spcAft>
                <a:spcPts val="600"/>
              </a:spcAft>
              <a:buSzPts val="22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Function K</a:t>
            </a:r>
            <a:endParaRPr sz="2400" dirty="0"/>
          </a:p>
          <a:p>
            <a:pPr marL="914400" indent="-342900">
              <a:buSzPts val="22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Function M</a:t>
            </a:r>
            <a:endParaRPr sz="2400" dirty="0"/>
          </a:p>
          <a:p>
            <a:pPr marL="457200" indent="-317500">
              <a:buSzPts val="2200"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7234" y="1154500"/>
            <a:ext cx="4344035" cy="434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9" name="Google Shape;249;p12"/>
          <p:cNvSpPr txBox="1"/>
          <p:nvPr/>
        </p:nvSpPr>
        <p:spPr>
          <a:xfrm>
            <a:off x="532661" y="380824"/>
            <a:ext cx="105156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graph shows </a:t>
            </a:r>
            <a:r>
              <a:rPr lang="en-US" sz="2400" b="1" dirty="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Function H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Function K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lang="en-US" sz="2400" b="1" dirty="0">
                <a:solidFill>
                  <a:srgbClr val="C0504D"/>
                </a:solidFill>
                <a:latin typeface="Verdana"/>
                <a:ea typeface="Verdana"/>
                <a:cs typeface="Verdana"/>
                <a:sym typeface="Verdana"/>
              </a:rPr>
              <a:t>Function M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using different scales for the axes.</a:t>
            </a:r>
            <a:endParaRPr dirty="0"/>
          </a:p>
          <a:p>
            <a:pPr marL="4572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Discuss with your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partner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whether </a:t>
            </a:r>
            <a:endParaRPr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or not the graph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verifies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that the </a:t>
            </a:r>
            <a:endParaRPr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function you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chose in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question 3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will eventually exceed the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other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functions as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all the functions</a:t>
            </a:r>
            <a:endParaRPr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increase. If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necessary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adjust </a:t>
            </a:r>
            <a:endParaRPr dirty="0"/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your answer.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indent="-355600">
              <a:buSzPts val="1600"/>
            </a:pP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6548" y="1463272"/>
            <a:ext cx="4421127" cy="442112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8" name="Google Shape;258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9" name="Google Shape;259;p13"/>
          <p:cNvSpPr txBox="1"/>
          <p:nvPr/>
        </p:nvSpPr>
        <p:spPr>
          <a:xfrm>
            <a:off x="532661" y="378351"/>
            <a:ext cx="1051560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5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Comparing simple interest to compound interest is like comparing a linear function to an exponential function. As observed in the previous lesson, the amount of interest accrued with compound interest exceeds simple interest. In the graphs of functions </a:t>
            </a:r>
            <a:r>
              <a:rPr lang="en-US" sz="2400" dirty="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400" dirty="0">
                <a:solidFill>
                  <a:srgbClr val="9BBB59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lang="en-US" sz="2400" dirty="0">
                <a:solidFill>
                  <a:srgbClr val="C0504D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the quadratic function, </a:t>
            </a:r>
            <a:r>
              <a:rPr lang="en-US" sz="2400" dirty="0">
                <a:solidFill>
                  <a:srgbClr val="C0504D"/>
                </a:solidFill>
                <a:latin typeface="Verdana"/>
                <a:ea typeface="Verdana"/>
                <a:cs typeface="Verdana"/>
                <a:sym typeface="Verdana"/>
              </a:rPr>
              <a:t>M,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rises faster than the linear function, </a:t>
            </a:r>
            <a:r>
              <a:rPr lang="en-US" sz="2400" dirty="0">
                <a:solidFill>
                  <a:srgbClr val="9BBB59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but it does not rise faster than the exponential function </a:t>
            </a:r>
            <a:r>
              <a:rPr lang="en-US" sz="2400" dirty="0">
                <a:solidFill>
                  <a:srgbClr val="4F81BD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.  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Discuss with your partner why exponential growth will always eventually exceed a parabola that opens up, and a line with a positive slope. Summarize your discussion.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7" name="Google Shape;267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8" name="Google Shape;268;p14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9" name="Google Shape;2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0" name="Google Shape;270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7" name="Google Shape;277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8" name="Google Shape;278;p15"/>
          <p:cNvSpPr txBox="1"/>
          <p:nvPr/>
        </p:nvSpPr>
        <p:spPr>
          <a:xfrm>
            <a:off x="129690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13.3.3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Digital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Music Sales</a:t>
            </a:r>
            <a:endParaRPr dirty="0"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6784" y="283520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1" name="Google Shape;281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200;p7"/>
              <p:cNvSpPr txBox="1"/>
              <p:nvPr/>
            </p:nvSpPr>
            <p:spPr>
              <a:xfrm>
                <a:off x="534464" y="1462063"/>
                <a:ext cx="10800000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Work with your partner to complete the following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The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table shows a table of values representing the revenue, in billions of dollars, from sales of digital albums,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2010, and a graph representing the revenue, in billions of dollars, from sales of digital singles,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2010.</a:t>
                </a:r>
                <a:endParaRPr sz="2400" dirty="0">
                  <a:latin typeface="Verdana" pitchFamily="34" charset="0"/>
                  <a:ea typeface="Verdana" pitchFamily="34" charset="0"/>
                  <a:cs typeface="Cambria"/>
                  <a:sym typeface="Cambria"/>
                </a:endParaRPr>
              </a:p>
            </p:txBody>
          </p:sp>
        </mc:Choice>
        <mc:Fallback>
          <p:sp>
            <p:nvSpPr>
              <p:cNvPr id="9" name="Google Shape;200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4" y="1462063"/>
                <a:ext cx="10800000" cy="2308284"/>
              </a:xfrm>
              <a:prstGeom prst="rect">
                <a:avLst/>
              </a:prstGeom>
              <a:blipFill rotWithShape="1">
                <a:blip r:embed="rId5"/>
                <a:stretch>
                  <a:fillRect l="-903" t="-2116" r="-1807" b="-5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0" name="Google Shape;290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60979"/>
              </p:ext>
            </p:extLst>
          </p:nvPr>
        </p:nvGraphicFramePr>
        <p:xfrm>
          <a:off x="1608770" y="323950"/>
          <a:ext cx="8485141" cy="6272159"/>
        </p:xfrm>
        <a:graphic>
          <a:graphicData uri="http://schemas.openxmlformats.org/drawingml/2006/table">
            <a:tbl>
              <a:tblPr/>
              <a:tblGrid>
                <a:gridCol w="2880000"/>
                <a:gridCol w="5605141"/>
              </a:tblGrid>
              <a:tr h="46730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Digital Albums Sales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(billions of </a:t>
                      </a:r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$)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21905" marR="21905" marT="14603" marB="1460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Digital Singles Sales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(billions of $)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21905" marR="21905" marT="14603" marB="1460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5328553">
                <a:tc>
                  <a:txBody>
                    <a:bodyPr/>
                    <a:lstStyle/>
                    <a:p>
                      <a:r>
                        <a:rPr lang="en-PH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/>
                      </a:r>
                      <a:br>
                        <a:rPr lang="en-PH" sz="2000">
                          <a:effectLst/>
                          <a:latin typeface="Verdana" pitchFamily="34" charset="0"/>
                          <a:ea typeface="Verdana" pitchFamily="34" charset="0"/>
                        </a:rPr>
                      </a:br>
                      <a:endParaRPr lang="en-PH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21905" marR="21905" marT="14603" marB="1460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29206" marR="29206" marT="14603" marB="1460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 descr="https://lh5.googleusercontent.com/dBOIPHkLSSa1Zvht9lvFigl7zOeMKzL_Oulku27g-0tMQAYEBHMyTR6AzvJhzt_kwuFkfbh_jwIBWaHmiP77ekvxlsrt61KqdoWlCqtHtWXgGRjfDeTWIrTseutLhbEjWxIfZcKkcXVxNZ6Te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87120" y="1442531"/>
            <a:ext cx="4953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777776"/>
                  </p:ext>
                </p:extLst>
              </p:nvPr>
            </p:nvGraphicFramePr>
            <p:xfrm>
              <a:off x="1814743" y="1522331"/>
              <a:ext cx="2520000" cy="2134006"/>
            </p:xfrm>
            <a:graphic>
              <a:graphicData uri="http://schemas.openxmlformats.org/drawingml/2006/table">
                <a:tbl>
                  <a:tblPr/>
                  <a:tblGrid>
                    <a:gridCol w="1080000"/>
                    <a:gridCol w="1440000"/>
                  </a:tblGrid>
                  <a:tr h="116825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1621.9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1475.9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1343.1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1222.2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1112.2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777776"/>
                  </p:ext>
                </p:extLst>
              </p:nvPr>
            </p:nvGraphicFramePr>
            <p:xfrm>
              <a:off x="1814743" y="1522331"/>
              <a:ext cx="2520000" cy="2134006"/>
            </p:xfrm>
            <a:graphic>
              <a:graphicData uri="http://schemas.openxmlformats.org/drawingml/2006/table">
                <a:tbl>
                  <a:tblPr/>
                  <a:tblGrid>
                    <a:gridCol w="1080000"/>
                    <a:gridCol w="1440000"/>
                  </a:tblGrid>
                  <a:tr h="334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1818" r="-133898" b="-5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1818" r="-424" b="-536364"/>
                          </a:stretch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94915" r="-13389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94915" r="-424" b="-400000"/>
                          </a:stretch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194915" r="-13389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194915" r="-424" b="-300000"/>
                          </a:stretch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294915" r="-13389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294915" r="-424" b="-200000"/>
                          </a:stretch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394915" r="-1338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394915" r="-424" b="-100000"/>
                          </a:stretch>
                        </a:blipFill>
                      </a:tcPr>
                    </a:tc>
                  </a:tr>
                  <a:tr h="3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65" t="-494915" r="-133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905" marR="21905" marT="14603" marB="14603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5424" t="-494915" r="-4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7" name="Google Shape;297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9" name="Google Shape;299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259;p13"/>
              <p:cNvSpPr txBox="1"/>
              <p:nvPr/>
            </p:nvSpPr>
            <p:spPr>
              <a:xfrm>
                <a:off x="532661" y="378351"/>
                <a:ext cx="10515600" cy="5016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96938" indent="-425450" fontAlgn="base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Approximate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-intercept for the function that represents sales of digital singles. </a:t>
                </a: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Interpret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/>
                        <a:ea typeface="Verdana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-intercept of the function that represents sales of digital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singles.</a:t>
                </a: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Discuss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with your partner whether or not the interpretation is accurate. Summarize your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discussion.</a:t>
                </a: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indent="-425450" fontAlgn="base"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is the domain of the function representing sales of digital singles?</a:t>
                </a:r>
              </a:p>
            </p:txBody>
          </p:sp>
        </mc:Choice>
        <mc:Fallback>
          <p:sp>
            <p:nvSpPr>
              <p:cNvPr id="6" name="Google Shape;259;p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78351"/>
                <a:ext cx="10515600" cy="5016718"/>
              </a:xfrm>
              <a:prstGeom prst="rect">
                <a:avLst/>
              </a:prstGeom>
              <a:blipFill rotWithShape="1">
                <a:blip r:embed="rId4"/>
                <a:stretch>
                  <a:fillRect t="-729" b="-12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6" name="Google Shape;306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7" name="Google Shape;307;p18"/>
          <p:cNvSpPr txBox="1"/>
          <p:nvPr/>
        </p:nvSpPr>
        <p:spPr>
          <a:xfrm>
            <a:off x="532662" y="382505"/>
            <a:ext cx="105156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SzPts val="2200"/>
              <a:buFont typeface="Arial"/>
              <a:buAutoNum type="alphaLcPeriod" startAt="5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Work with your partner to determine the key features for each function.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8" name="Google Shape;308;p18"/>
              <p:cNvGraphicFramePr/>
              <p:nvPr>
                <p:extLst>
                  <p:ext uri="{D42A27DB-BD31-4B8C-83A1-F6EECF244321}">
                    <p14:modId xmlns:p14="http://schemas.microsoft.com/office/powerpoint/2010/main" val="3644776746"/>
                  </p:ext>
                </p:extLst>
              </p:nvPr>
            </p:nvGraphicFramePr>
            <p:xfrm>
              <a:off x="1590975" y="932768"/>
              <a:ext cx="9360000" cy="445610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Key Feature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Digital Album Sales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Digital Single Sales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504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-intercept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5612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End Behavior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8900" indent="0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→−∞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_______</a:t>
                          </a:r>
                          <a:endParaRPr lang="pt-BR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88900" indent="0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/>
                          </a:r>
                          <a:br>
                            <a:rPr lang="pt-BR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sz="20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______</a:t>
                          </a:r>
                          <a:endParaRPr lang="pt-BR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8900" indent="0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pt-BR" sz="20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→−∞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_______</a:t>
                          </a:r>
                          <a:endParaRPr lang="pt-BR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88900" indent="0" rtl="0" fontAlgn="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pt-BR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/>
                          </a:r>
                          <a:br>
                            <a:rPr lang="pt-BR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pt-BR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  <m:r>
                                <a:rPr lang="pt-BR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pt-BR" sz="20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______</a:t>
                          </a:r>
                          <a:endParaRPr lang="pt-BR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676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Increasing or Decreasing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The </a:t>
                          </a: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function is ___________ over time</a:t>
                          </a: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.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The </a:t>
                          </a: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function is ___________ over time</a:t>
                          </a: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.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8" name="Google Shape;308;p18"/>
              <p:cNvGraphicFramePr/>
              <p:nvPr>
                <p:extLst>
                  <p:ext uri="{D42A27DB-BD31-4B8C-83A1-F6EECF244321}">
                    <p14:modId xmlns:p14="http://schemas.microsoft.com/office/powerpoint/2010/main" val="3644776746"/>
                  </p:ext>
                </p:extLst>
              </p:nvPr>
            </p:nvGraphicFramePr>
            <p:xfrm>
              <a:off x="1590975" y="932768"/>
              <a:ext cx="9360000" cy="445610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Key Feature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Digital Album Sales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Digital Single Sales</a:t>
                          </a:r>
                          <a:endParaRPr sz="22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50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82" t="-64228" r="-333898" b="-4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5612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End Behavior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0068" t="-78906" r="-100000" b="-1074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0339" t="-78906" r="-169" b="-107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676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Increasing or Decreasing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The </a:t>
                          </a: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function is ___________ over time</a:t>
                          </a: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.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The </a:t>
                          </a:r>
                          <a:r>
                            <a:rPr lang="en-US" sz="2000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function is ___________ over time</a:t>
                          </a: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.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9" name="Google Shape;309;p1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9" name="Google Shape;319;p19"/>
          <p:cNvSpPr txBox="1"/>
          <p:nvPr/>
        </p:nvSpPr>
        <p:spPr>
          <a:xfrm>
            <a:off x="532662" y="386062"/>
            <a:ext cx="10800000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spcAft>
                <a:spcPts val="1200"/>
              </a:spcAft>
              <a:buSzPts val="2400"/>
              <a:buFont typeface="Arial"/>
              <a:buAutoNum type="alphaLcPeriod" startAt="6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Discuss with your partner what type of function best describes the table of values that represents the digital album sales. Explain your choice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1261872" lvl="1" indent="-285750">
              <a:spcAft>
                <a:spcPts val="600"/>
              </a:spcAft>
              <a:buSzPts val="24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linear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1261872" lvl="1" indent="-285750">
              <a:spcAft>
                <a:spcPts val="600"/>
              </a:spcAft>
              <a:buSzPts val="24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quadratic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1261872" lvl="1" indent="-285750">
              <a:buSzPts val="24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exponential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8" name="Google Shape;328;p20"/>
          <p:cNvSpPr txBox="1"/>
          <p:nvPr/>
        </p:nvSpPr>
        <p:spPr>
          <a:xfrm>
            <a:off x="532660" y="378350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200"/>
              <a:buFont typeface="Arial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table shows written descriptions and equations that model the home prices, in thousands of dollars, for two different time periods.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9" name="Google Shape;329;p20"/>
              <p:cNvGraphicFramePr/>
              <p:nvPr>
                <p:extLst>
                  <p:ext uri="{D42A27DB-BD31-4B8C-83A1-F6EECF244321}">
                    <p14:modId xmlns:p14="http://schemas.microsoft.com/office/powerpoint/2010/main" val="2310060355"/>
                  </p:ext>
                </p:extLst>
              </p:nvPr>
            </p:nvGraphicFramePr>
            <p:xfrm>
              <a:off x="2688590" y="1327277"/>
              <a:ext cx="7200000" cy="381600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2009-2014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2015-2019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80000">
                    <a:tc>
                      <a:txBody>
                        <a:bodyPr/>
                        <a:lstStyle/>
                        <a:p>
                          <a:pPr marL="8890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The average price for a house in Florida between 2009 and 2014,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in thousands of dollars, is modeled by the equation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8890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＝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4.4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en-US" sz="2000" i="1" baseline="30000" dirty="0" smtClean="0">
                                  <a:latin typeface="Cambria Math"/>
                                  <a:ea typeface="Verdana" pitchFamily="34" charset="0"/>
                                </a:rPr>
                                <m:t>2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 − 22.1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 + 160.8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,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is </a:t>
                          </a: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the number of years since 2009.</a:t>
                          </a:r>
                          <a:endParaRPr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890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In 2015, the average home price in Florida was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175.6 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thousand dollars. For each year between 2015 and 2019, the average price increased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  <a:ea typeface="Verdana" pitchFamily="34" charset="0"/>
                                </a:rPr>
                                <m:t>19.1</m:t>
                              </m:r>
                            </m:oMath>
                          </a14:m>
                          <a:r>
                            <a:rPr lang="en-US" sz="2000" dirty="0" smtClean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thousand dollars.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9" name="Google Shape;329;p20"/>
              <p:cNvGraphicFramePr/>
              <p:nvPr>
                <p:extLst>
                  <p:ext uri="{D42A27DB-BD31-4B8C-83A1-F6EECF244321}">
                    <p14:modId xmlns:p14="http://schemas.microsoft.com/office/powerpoint/2010/main" val="2310060355"/>
                  </p:ext>
                </p:extLst>
              </p:nvPr>
            </p:nvGraphicFramePr>
            <p:xfrm>
              <a:off x="2688590" y="1327277"/>
              <a:ext cx="7200000" cy="381600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 gridSpan="2"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2009-2014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2015-2019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3051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169" t="-33051" r="-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0" name="Google Shape;330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28;p20"/>
              <p:cNvSpPr txBox="1"/>
              <p:nvPr/>
            </p:nvSpPr>
            <p:spPr>
              <a:xfrm>
                <a:off x="532660" y="378350"/>
                <a:ext cx="10515600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>
                  <a:buSzPts val="2200"/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Work with your partner to determine the key features. Give the domain in set-builder notation.</a:t>
                </a: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200"/>
                  <a:buFont typeface="+mj-lt"/>
                  <a:buAutoNum type="alphaLcPeriod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Which context has the larger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-intercept?</a:t>
                </a:r>
                <a:endParaRPr sz="2000" dirty="0">
                  <a:latin typeface="Verdana" pitchFamily="34" charset="0"/>
                  <a:ea typeface="Verdana" pitchFamily="34" charset="0"/>
                  <a:cs typeface="Cambria"/>
                  <a:sym typeface="Cambria"/>
                </a:endParaRPr>
              </a:p>
            </p:txBody>
          </p:sp>
        </mc:Choice>
        <mc:Fallback>
          <p:sp>
            <p:nvSpPr>
              <p:cNvPr id="7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8350"/>
                <a:ext cx="10515600" cy="3785611"/>
              </a:xfrm>
              <a:prstGeom prst="rect">
                <a:avLst/>
              </a:prstGeom>
              <a:blipFill rotWithShape="1">
                <a:blip r:embed="rId3"/>
                <a:stretch>
                  <a:fillRect t="-1932" b="-25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Google Shape;336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7" name="Google Shape;337;p2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9" name="Google Shape;339;p21"/>
              <p:cNvGraphicFramePr/>
              <p:nvPr>
                <p:extLst>
                  <p:ext uri="{D42A27DB-BD31-4B8C-83A1-F6EECF244321}">
                    <p14:modId xmlns:p14="http://schemas.microsoft.com/office/powerpoint/2010/main" val="1610770474"/>
                  </p:ext>
                </p:extLst>
              </p:nvPr>
            </p:nvGraphicFramePr>
            <p:xfrm>
              <a:off x="1576666" y="1250000"/>
              <a:ext cx="9028800" cy="218305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Key Feature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2009-2014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2015-2019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15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 Domain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1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15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Verdana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 smtClean="0">
                              <a:solidFill>
                                <a:schemeClr val="dk1"/>
                              </a:solidFill>
                              <a:latin typeface="Verdana" pitchFamily="34" charset="0"/>
                              <a:ea typeface="Verdana" pitchFamily="34" charset="0"/>
                            </a:rPr>
                            <a:t>-intercept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1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9" name="Google Shape;339;p21"/>
              <p:cNvGraphicFramePr/>
              <p:nvPr>
                <p:extLst>
                  <p:ext uri="{D42A27DB-BD31-4B8C-83A1-F6EECF244321}">
                    <p14:modId xmlns:p14="http://schemas.microsoft.com/office/powerpoint/2010/main" val="1610770474"/>
                  </p:ext>
                </p:extLst>
              </p:nvPr>
            </p:nvGraphicFramePr>
            <p:xfrm>
              <a:off x="1576666" y="1250000"/>
              <a:ext cx="9028800" cy="2183050"/>
            </p:xfrm>
            <a:graphic>
              <a:graphicData uri="http://schemas.openxmlformats.org/drawingml/2006/table">
                <a:tbl>
                  <a:tblPr>
                    <a:noFill/>
                    <a:tableStyleId>{0B162BE8-4D63-4F6A-8AF5-F1B673A35EA6}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Key Feature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2009-2014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Home Prices in Florida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2015-2019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152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latin typeface="Verdana" pitchFamily="34" charset="0"/>
                              <a:ea typeface="Verdana" pitchFamily="34" charset="0"/>
                            </a:rPr>
                            <a:t> Domain</a:t>
                          </a:r>
                          <a:endParaRPr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1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1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33" t="-200833" r="-393667" b="-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1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0" name="Google Shape;340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7" name="Google Shape;347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9" name="Google Shape;349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328;p20"/>
              <p:cNvSpPr txBox="1"/>
              <p:nvPr/>
            </p:nvSpPr>
            <p:spPr>
              <a:xfrm>
                <a:off x="532660" y="378350"/>
                <a:ext cx="10800000" cy="5812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From standard form, the vertex of the parabola can be found using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PH" sz="2000" b="0" i="0" smtClean="0">
                            <a:latin typeface="Cambria Math"/>
                            <a:ea typeface="Verdana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 smtClean="0">
                                <a:latin typeface="Cambria Math"/>
                                <a:ea typeface="Verdana" pitchFamily="34" charset="0"/>
                              </a:rPr>
                            </m:ctrlPr>
                          </m:fPr>
                          <m:num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−</m:t>
                            </m:r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2</m:t>
                            </m:r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𝑎</m:t>
                            </m:r>
                          </m:den>
                        </m:f>
                        <m:r>
                          <a:rPr lang="en-PH" sz="2000" b="0" i="1" smtClean="0">
                            <a:latin typeface="Cambria Math"/>
                            <a:ea typeface="Verdana" pitchFamily="34" charset="0"/>
                          </a:rPr>
                          <m:t>, </m:t>
                        </m:r>
                        <m:r>
                          <a:rPr lang="en-PH" sz="2000" b="0" i="1" smtClean="0">
                            <a:latin typeface="Cambria Math"/>
                            <a:ea typeface="Verdana" pitchFamily="34" charset="0"/>
                          </a:rPr>
                          <m:t>𝑐</m:t>
                        </m:r>
                        <m:r>
                          <a:rPr lang="en-PH" sz="2000" b="0" i="1" smtClean="0">
                            <a:latin typeface="Cambria Math"/>
                            <a:ea typeface="Verdana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4</m:t>
                            </m:r>
                            <m:r>
                              <a:rPr lang="en-PH" sz="2000" b="0" i="1" smtClean="0">
                                <a:latin typeface="Cambria Math"/>
                                <a:ea typeface="Verdana" pitchFamily="34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.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Determine the vertex of the parabola that models home prices in Florida from 2009 to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2014.</a:t>
                </a: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Use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domain and the vertex to determine the range for home prices in Florida from 2009 to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2014.</a:t>
                </a: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Determine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type of function that models the home prices for 2015 to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2019.</a:t>
                </a: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Use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information given for the home prices for 2015 to 2019 to determine the range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prices.</a:t>
                </a: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 fontAlgn="base">
                  <a:buFont typeface="+mj-lt"/>
                  <a:buAutoNum type="alphaLcPeriod" startAt="3"/>
                </a:pP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Which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period, 2009–2014 or 2015–2019, has the greatest range of prices?</a:t>
                </a:r>
              </a:p>
            </p:txBody>
          </p:sp>
        </mc:Choice>
        <mc:Fallback>
          <p:sp>
            <p:nvSpPr>
              <p:cNvPr id="6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8350"/>
                <a:ext cx="10800000" cy="5812192"/>
              </a:xfrm>
              <a:prstGeom prst="rect">
                <a:avLst/>
              </a:prstGeom>
              <a:blipFill rotWithShape="1">
                <a:blip r:embed="rId4"/>
                <a:stretch>
                  <a:fillRect t="-629" b="-9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6" name="Google Shape;356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7" name="Google Shape;357;p23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8" name="Google Shape;35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9" name="Google Shape;359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6" name="Google Shape;366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7" name="Google Shape;367;p24"/>
          <p:cNvSpPr txBox="1"/>
          <p:nvPr/>
        </p:nvSpPr>
        <p:spPr>
          <a:xfrm>
            <a:off x="1248870" y="-136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13.3.4 Wrap-Up: Reflection</a:t>
            </a:r>
            <a:endParaRPr dirty="0"/>
          </a:p>
        </p:txBody>
      </p:sp>
      <p:pic>
        <p:nvPicPr>
          <p:cNvPr id="368" name="Google Shape;36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8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9" name="Google Shape;369;p24"/>
          <p:cNvSpPr txBox="1"/>
          <p:nvPr/>
        </p:nvSpPr>
        <p:spPr>
          <a:xfrm>
            <a:off x="534464" y="1462929"/>
            <a:ext cx="83271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70" name="Google Shape;370;p24"/>
          <p:cNvGraphicFramePr/>
          <p:nvPr>
            <p:extLst>
              <p:ext uri="{D42A27DB-BD31-4B8C-83A1-F6EECF244321}">
                <p14:modId xmlns:p14="http://schemas.microsoft.com/office/powerpoint/2010/main" val="974064136"/>
              </p:ext>
            </p:extLst>
          </p:nvPr>
        </p:nvGraphicFramePr>
        <p:xfrm>
          <a:off x="1184084" y="2064907"/>
          <a:ext cx="10080000" cy="4320000"/>
        </p:xfrm>
        <a:graphic>
          <a:graphicData uri="http://schemas.openxmlformats.org/drawingml/2006/table">
            <a:tbl>
              <a:tblPr>
                <a:noFill/>
                <a:tableStyleId>{0B162BE8-4D63-4F6A-8AF5-F1B673A35EA6}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terms and information used in the Guided Instruction and Collaboration that I knew were …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Something I wondered during the Guided Instruction or Collaboration was …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Something I learned during the Guided Instruction or Collaboration was …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5000" marR="3500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71" name="Google Shape;371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1181</Words>
  <Application>Microsoft Office PowerPoint</Application>
  <PresentationFormat>Custom</PresentationFormat>
  <Paragraphs>262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Courier New</vt:lpstr>
      <vt:lpstr>Wingdings</vt:lpstr>
      <vt:lpstr>Cambria Math</vt:lpstr>
      <vt:lpstr>Cambria</vt:lpstr>
      <vt:lpstr>Arial Black</vt:lpstr>
      <vt:lpstr>Verdana</vt:lpstr>
      <vt:lpstr>1_Office Theme</vt:lpstr>
      <vt:lpstr>Algebra 1  Unit 13, Lesson 3  Comparing Key Features of Functions  Volume 2, pg. 246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13, Lesson 3  Comparing Key Features of Functions  Volume 2, pg. 246</dc:title>
  <dc:creator>Karen McKenzie</dc:creator>
  <cp:lastModifiedBy>Sensei</cp:lastModifiedBy>
  <cp:revision>7</cp:revision>
  <dcterms:created xsi:type="dcterms:W3CDTF">2015-03-17T18:51:18Z</dcterms:created>
  <dcterms:modified xsi:type="dcterms:W3CDTF">2022-07-01T04:02:22Z</dcterms:modified>
</cp:coreProperties>
</file>