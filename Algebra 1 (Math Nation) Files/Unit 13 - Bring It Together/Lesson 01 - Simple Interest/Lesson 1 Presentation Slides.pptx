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30"/>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80" r:id="rId28"/>
    <p:sldId id="281" r:id="rId29"/>
  </p:sldIdLst>
  <p:sldSz cx="12192000" cy="6858000"/>
  <p:notesSz cx="6858000" cy="9144000"/>
  <p:embeddedFontLst>
    <p:embeddedFont>
      <p:font typeface="Verdana" pitchFamily="34" charset="0"/>
      <p:regular r:id="rId31"/>
      <p:bold r:id="rId32"/>
      <p:italic r:id="rId33"/>
      <p:boldItalic r:id="rId34"/>
    </p:embeddedFont>
    <p:embeddedFont>
      <p:font typeface="Calibri" pitchFamily="34" charset="0"/>
      <p:regular r:id="rId35"/>
      <p:bold r:id="rId36"/>
      <p:italic r:id="rId37"/>
      <p:boldItalic r:id="rId38"/>
    </p:embeddedFont>
    <p:embeddedFont>
      <p:font typeface="Century Gothic" pitchFamily="34" charset="0"/>
      <p:regular r:id="rId39"/>
      <p:bold r:id="rId40"/>
      <p:italic r:id="rId41"/>
      <p:boldItalic r:id="rId42"/>
    </p:embeddedFont>
    <p:embeddedFont>
      <p:font typeface="Cambria Math" pitchFamily="18" charset="0"/>
      <p:regular r:id="rId43"/>
    </p:embeddedFont>
    <p:embeddedFont>
      <p:font typeface="Cambria" pitchFamily="18" charset="0"/>
      <p:regular r:id="rId44"/>
      <p:bold r:id="rId45"/>
      <p:italic r:id="rId46"/>
      <p:boldItalic r:id="rId47"/>
    </p:embeddedFont>
    <p:embeddedFont>
      <p:font typeface="Arial Black" pitchFamily="34" charset="0"/>
      <p:bold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glbrbkPSmBXzKDB4d9x8Pc4Bl8K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3E41C344-CBF3-4575-BA49-7F9FACBC11FE}">
  <a:tblStyle styleId="{3E41C344-CBF3-4575-BA49-7F9FACBC11F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39" autoAdjust="0"/>
    <p:restoredTop sz="94694"/>
  </p:normalViewPr>
  <p:slideViewPr>
    <p:cSldViewPr snapToGrid="0">
      <p:cViewPr>
        <p:scale>
          <a:sx n="126" d="100"/>
          <a:sy n="126" d="100"/>
        </p:scale>
        <p:origin x="-294"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9.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font" Target="fonts/font11.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6.fntdata"/><Relationship Id="rId49"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8" Type="http://schemas.openxmlformats.org/officeDocument/2006/relationships/slide" Target="slides/slide4.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0239465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7" name="Google Shape;217;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8" name="Google Shape;218;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9" name="Google Shape;229;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8" name="Google Shape;258;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7" name="Google Shape;277;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8" name="Google Shape;278;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8" name="Google Shape;288;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7" name="Google Shape;327;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8" name="Google Shape;328;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7" name="Google Shape;337;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8" name="Google Shape;338;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9" name="Google Shape;359;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8" name="Google Shape;368;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9" name="Google Shape;369;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32.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5" name="Google Shape;115;g104476d1465_0_0"/>
          <p:cNvSpPr/>
          <p:nvPr/>
        </p:nvSpPr>
        <p:spPr>
          <a:xfrm>
            <a:off x="0" y="0"/>
            <a:ext cx="4094106"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6" name="Picture 5"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
        <p:nvSpPr>
          <p:cNvPr id="9" name="Google Shape;261;g104476d1465_0_0"/>
          <p:cNvSpPr txBox="1">
            <a:spLocks/>
          </p:cNvSpPr>
          <p:nvPr/>
        </p:nvSpPr>
        <p:spPr>
          <a:xfrm>
            <a:off x="5585671" y="2054277"/>
            <a:ext cx="5239491"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4000" b="1" dirty="0">
                <a:solidFill>
                  <a:srgbClr val="417DBF"/>
                </a:solidFill>
                <a:latin typeface="Verdana"/>
                <a:ea typeface="Verdana"/>
                <a:cs typeface="Verdana"/>
                <a:sym typeface="Verdana"/>
              </a:rPr>
              <a:t>Algebra 1</a:t>
            </a:r>
            <a:br>
              <a:rPr lang="en-US" sz="4000" b="1" dirty="0">
                <a:solidFill>
                  <a:srgbClr val="417DBF"/>
                </a:solidFill>
                <a:latin typeface="Verdana"/>
                <a:ea typeface="Verdana"/>
                <a:cs typeface="Verdana"/>
                <a:sym typeface="Verdana"/>
              </a:rPr>
            </a:br>
            <a:endParaRPr lang="en-US" sz="4000" b="1" dirty="0">
              <a:solidFill>
                <a:srgbClr val="417DBF"/>
              </a:solidFill>
              <a:latin typeface="Verdana"/>
              <a:ea typeface="Verdana"/>
              <a:cs typeface="Verdana"/>
              <a:sym typeface="Verdana"/>
            </a:endParaRPr>
          </a:p>
          <a:p>
            <a:pPr algn="ctr">
              <a:lnSpc>
                <a:spcPct val="100000"/>
              </a:lnSpc>
              <a:buClr>
                <a:srgbClr val="000000"/>
              </a:buClr>
            </a:pPr>
            <a:r>
              <a:rPr lang="en-US" sz="4000" b="1" dirty="0">
                <a:solidFill>
                  <a:srgbClr val="417DBF"/>
                </a:solidFill>
                <a:latin typeface="Verdana"/>
                <a:ea typeface="Verdana"/>
                <a:cs typeface="Verdana"/>
                <a:sym typeface="Verdana"/>
              </a:rPr>
              <a:t>Unit 13, Lesson 1</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Simple Interest</a:t>
            </a:r>
            <a:r>
              <a:rPr lang="en-US" sz="4400" b="1" dirty="0">
                <a:solidFill>
                  <a:srgbClr val="417DBF"/>
                </a:solidFill>
                <a:latin typeface="Verdana"/>
                <a:ea typeface="Verdana"/>
                <a:cs typeface="Verdana"/>
                <a:sym typeface="Verdana"/>
              </a:rPr>
              <a:t/>
            </a:r>
            <a:br>
              <a:rPr lang="en-US" sz="4400" b="1" dirty="0">
                <a:solidFill>
                  <a:srgbClr val="417DBF"/>
                </a:solidFill>
                <a:latin typeface="Verdana"/>
                <a:ea typeface="Verdana"/>
                <a:cs typeface="Verdana"/>
                <a:sym typeface="Verdana"/>
              </a:rPr>
            </a:br>
            <a:r>
              <a:rPr lang="en-US" sz="4400" b="1" dirty="0">
                <a:solidFill>
                  <a:srgbClr val="417DBF"/>
                </a:solidFill>
                <a:latin typeface="Verdana"/>
                <a:ea typeface="Verdana"/>
                <a:cs typeface="Verdana"/>
                <a:sym typeface="Verdana"/>
              </a:rPr>
              <a:t/>
            </a:r>
            <a:br>
              <a:rPr lang="en-US" sz="44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2, pg. 235</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5"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235</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8" name="Google Shape;279;g104476d1465_1_17"/>
          <p:cNvSpPr txBox="1">
            <a:spLocks/>
          </p:cNvSpPr>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dirty="0">
                <a:solidFill>
                  <a:srgbClr val="54B5D1"/>
                </a:solidFill>
                <a:latin typeface="Verdana"/>
                <a:ea typeface="Verdana"/>
                <a:cs typeface="Verdana"/>
                <a:sym typeface="Verdana"/>
              </a:rPr>
              <a:t>Benchmarks</a:t>
            </a:r>
            <a:endParaRPr lang="en-US" sz="3700" b="1" dirty="0">
              <a:solidFill>
                <a:srgbClr val="54B5D1"/>
              </a:solidFill>
              <a:latin typeface="Verdana"/>
              <a:ea typeface="Verdana"/>
              <a:cs typeface="Verdana"/>
              <a:sym typeface="Verdana"/>
            </a:endParaRPr>
          </a:p>
        </p:txBody>
      </p:sp>
      <p:pic>
        <p:nvPicPr>
          <p:cNvPr id="9" name="Google Shape;281;g104476d1465_1_17"/>
          <p:cNvPicPr preferRelativeResize="0"/>
          <p:nvPr/>
        </p:nvPicPr>
        <p:blipFill>
          <a:blip r:embed="rId4">
            <a:alphaModFix/>
          </a:blip>
          <a:stretch>
            <a:fillRect/>
          </a:stretch>
        </p:blipFill>
        <p:spPr>
          <a:xfrm>
            <a:off x="376750" y="372300"/>
            <a:ext cx="747300" cy="747300"/>
          </a:xfrm>
          <a:prstGeom prst="rect">
            <a:avLst/>
          </a:prstGeom>
          <a:noFill/>
          <a:ln>
            <a:noFill/>
          </a:ln>
          <a:effectLst>
            <a:outerShdw blurRad="57150" dist="19050" dir="5400000" algn="bl" rotWithShape="0">
              <a:srgbClr val="000000">
                <a:alpha val="50000"/>
              </a:srgbClr>
            </a:outerShdw>
          </a:effectLst>
        </p:spPr>
      </p:pic>
      <p:sp>
        <p:nvSpPr>
          <p:cNvPr id="10"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14000" y="1609531"/>
            <a:ext cx="1101658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lnSpc>
                <a:spcPct val="100000"/>
              </a:lnSpc>
              <a:buSzPts val="1100"/>
              <a:buNone/>
            </a:pPr>
            <a:r>
              <a:rPr lang="en-US" sz="2000" dirty="0">
                <a:latin typeface="Verdana"/>
                <a:ea typeface="Verdana"/>
                <a:cs typeface="Verdana"/>
                <a:sym typeface="Verdana"/>
              </a:rPr>
              <a:t>MA.9.12.FL.3.2</a:t>
            </a:r>
            <a:endParaRPr lang="en-US" sz="2000" dirty="0"/>
          </a:p>
          <a:p>
            <a:pPr indent="0">
              <a:lnSpc>
                <a:spcPct val="100000"/>
              </a:lnSpc>
              <a:buNone/>
            </a:pPr>
            <a:r>
              <a:rPr lang="en-US" sz="2000" dirty="0">
                <a:latin typeface="Verdana"/>
                <a:ea typeface="Verdana"/>
                <a:cs typeface="Verdana"/>
                <a:sym typeface="Verdana"/>
              </a:rPr>
              <a:t>Solve real-world problems involving simple, compound, and continuously compounded interest.</a:t>
            </a:r>
          </a:p>
          <a:p>
            <a:pPr marL="0" indent="0">
              <a:lnSpc>
                <a:spcPct val="100000"/>
              </a:lnSpc>
              <a:buNone/>
            </a:pPr>
            <a:endParaRPr lang="en-US" sz="2000" dirty="0"/>
          </a:p>
          <a:p>
            <a:pPr marL="0" indent="0">
              <a:lnSpc>
                <a:spcPct val="100000"/>
              </a:lnSpc>
              <a:buSzPts val="1100"/>
              <a:buNone/>
            </a:pPr>
            <a:r>
              <a:rPr lang="en-US" sz="2000" dirty="0">
                <a:latin typeface="Verdana"/>
                <a:ea typeface="Verdana"/>
                <a:cs typeface="Verdana"/>
                <a:sym typeface="Verdana"/>
              </a:rPr>
              <a:t>MA.9.12.FL.3.4</a:t>
            </a:r>
            <a:endParaRPr lang="en-US" sz="2000" dirty="0"/>
          </a:p>
          <a:p>
            <a:pPr indent="0">
              <a:lnSpc>
                <a:spcPct val="100000"/>
              </a:lnSpc>
              <a:buNone/>
            </a:pPr>
            <a:r>
              <a:rPr lang="en-US" sz="2000" dirty="0">
                <a:latin typeface="Verdana"/>
                <a:ea typeface="Verdana"/>
                <a:cs typeface="Verdana"/>
                <a:sym typeface="Verdana"/>
              </a:rPr>
              <a:t>Explain the relationship between simple interest and linear growth. Explain the relationship between compound interest and exponential growth, and the relationship between continuously compounded interest and exponential growth.</a:t>
            </a:r>
          </a:p>
          <a:p>
            <a:pPr marL="0" indent="0">
              <a:lnSpc>
                <a:spcPct val="100000"/>
              </a:lnSpc>
              <a:buNone/>
            </a:pPr>
            <a:endParaRPr lang="en-US" sz="2000" dirty="0">
              <a:latin typeface="Verdana"/>
              <a:ea typeface="Verdana"/>
              <a:cs typeface="Verdana"/>
              <a:sym typeface="Verdana"/>
            </a:endParaRPr>
          </a:p>
          <a:p>
            <a:pPr marL="0" indent="0">
              <a:lnSpc>
                <a:spcPct val="100000"/>
              </a:lnSpc>
              <a:buSzPts val="1100"/>
              <a:buNone/>
            </a:pPr>
            <a:r>
              <a:rPr lang="en-US" sz="2000" dirty="0">
                <a:latin typeface="Verdana"/>
                <a:ea typeface="Verdana"/>
                <a:cs typeface="Verdana"/>
                <a:sym typeface="Verdana"/>
              </a:rPr>
              <a:t>MA.9.12.FL.1.8</a:t>
            </a:r>
            <a:endParaRPr lang="en-US" sz="2000" dirty="0"/>
          </a:p>
          <a:p>
            <a:pPr indent="0">
              <a:lnSpc>
                <a:spcPct val="100000"/>
              </a:lnSpc>
              <a:buNone/>
            </a:pPr>
            <a:r>
              <a:rPr lang="en-US" sz="2000" dirty="0">
                <a:latin typeface="Verdana"/>
                <a:ea typeface="Verdana"/>
                <a:cs typeface="Verdana"/>
                <a:sym typeface="Verdana"/>
              </a:rPr>
              <a:t>Determine whether a linear, quadratic, or exponential function best models a given real-world situation.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35" name="Google Shape;135;p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38" name="Google Shape;138;p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235</a:t>
            </a:r>
            <a:endParaRPr i="1" dirty="0">
              <a:latin typeface="Calibri"/>
              <a:ea typeface="Calibri"/>
              <a:cs typeface="Calibri"/>
              <a:sym typeface="Calibri"/>
            </a:endParaRPr>
          </a:p>
        </p:txBody>
      </p:sp>
      <p:pic>
        <p:nvPicPr>
          <p:cNvPr id="8" name="Google Shape;281;g104476d1465_1_17"/>
          <p:cNvPicPr preferRelativeResize="0"/>
          <p:nvPr/>
        </p:nvPicPr>
        <p:blipFill>
          <a:blip r:embed="rId4">
            <a:alphaModFix/>
          </a:blip>
          <a:stretch>
            <a:fillRect/>
          </a:stretch>
        </p:blipFill>
        <p:spPr>
          <a:xfrm>
            <a:off x="406916" y="372300"/>
            <a:ext cx="747300" cy="747300"/>
          </a:xfrm>
          <a:prstGeom prst="rect">
            <a:avLst/>
          </a:prstGeom>
          <a:noFill/>
          <a:ln>
            <a:noFill/>
          </a:ln>
          <a:effectLst>
            <a:outerShdw blurRad="57150" dist="19050" dir="5400000" algn="bl" rotWithShape="0">
              <a:srgbClr val="000000">
                <a:alpha val="50000"/>
              </a:srgbClr>
            </a:outerShdw>
          </a:effectLst>
        </p:spPr>
      </p:pic>
      <p:sp>
        <p:nvSpPr>
          <p:cNvPr id="9"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800" dirty="0">
                <a:solidFill>
                  <a:schemeClr val="dk1"/>
                </a:solidFill>
                <a:latin typeface="Verdana"/>
                <a:ea typeface="Verdana"/>
                <a:cs typeface="Verdana"/>
                <a:sym typeface="Verdana"/>
              </a:rPr>
              <a:t>MA.K12.MTR.2.1 Demonstrate understanding by representing problems in multiple ways.</a:t>
            </a:r>
            <a:endParaRPr lang="en-US" sz="2800" dirty="0"/>
          </a:p>
          <a:p>
            <a:endParaRPr lang="en-US" sz="2800" dirty="0">
              <a:solidFill>
                <a:schemeClr val="dk1"/>
              </a:solidFill>
              <a:latin typeface="Verdana"/>
              <a:ea typeface="Verdana"/>
              <a:cs typeface="Verdana"/>
              <a:sym typeface="Verdana"/>
            </a:endParaRPr>
          </a:p>
          <a:p>
            <a:r>
              <a:rPr lang="en-US" sz="2800" dirty="0">
                <a:solidFill>
                  <a:schemeClr val="dk1"/>
                </a:solidFill>
                <a:latin typeface="Verdana"/>
                <a:ea typeface="Verdana"/>
                <a:cs typeface="Verdana"/>
                <a:sym typeface="Verdana"/>
              </a:rPr>
              <a:t>MA.K12.MTR.4.1 Engage in discussions that reflect on the mathematical thinking of self and others.</a:t>
            </a:r>
            <a:endParaRPr lang="en-US" sz="2800" dirty="0"/>
          </a:p>
          <a:p>
            <a:pPr marL="457200"/>
            <a:endParaRPr lang="en-US" sz="2800" dirty="0">
              <a:solidFill>
                <a:schemeClr val="dk1"/>
              </a:solidFill>
              <a:latin typeface="Verdana"/>
              <a:ea typeface="Verdana"/>
              <a:cs typeface="Verdana"/>
              <a:sym typeface="Verdana"/>
            </a:endParaRPr>
          </a:p>
          <a:p>
            <a:r>
              <a:rPr lang="en-US" sz="2800" dirty="0">
                <a:solidFill>
                  <a:schemeClr val="dk1"/>
                </a:solidFill>
                <a:latin typeface="Verdana"/>
                <a:ea typeface="Verdana"/>
                <a:cs typeface="Verdana"/>
                <a:sym typeface="Verdana"/>
              </a:rPr>
              <a:t>MA.K12.MTR.5.1 Use patterns and structure to help understand and connect mathematical concepts.</a:t>
            </a:r>
            <a:endParaRPr lang="en-US" sz="2800" dirty="0"/>
          </a:p>
          <a:p>
            <a:endParaRPr lang="en-US" sz="2800" dirty="0">
              <a:solidFill>
                <a:schemeClr val="dk1"/>
              </a:solidFill>
              <a:latin typeface="Verdana"/>
              <a:ea typeface="Verdana"/>
              <a:cs typeface="Verdana"/>
              <a:sym typeface="Verdana"/>
            </a:endParaRPr>
          </a:p>
          <a:p>
            <a:r>
              <a:rPr lang="en-US" sz="2800" dirty="0">
                <a:solidFill>
                  <a:schemeClr val="dk1"/>
                </a:solidFill>
                <a:latin typeface="Verdana"/>
                <a:ea typeface="Verdana"/>
                <a:cs typeface="Verdana"/>
                <a:sym typeface="Verdana"/>
              </a:rPr>
              <a:t>MA.K12.MTR.7.1 Apply mathematics to real-world contexts.</a:t>
            </a:r>
          </a:p>
        </p:txBody>
      </p:sp>
      <p:sp>
        <p:nvSpPr>
          <p:cNvPr id="10"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pic>
        <p:nvPicPr>
          <p:cNvPr id="145" name="Google Shape;145;p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49" name="Google Shape;149;p2"/>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235</a:t>
            </a:r>
            <a:endParaRPr i="1">
              <a:latin typeface="Calibri"/>
              <a:ea typeface="Calibri"/>
              <a:cs typeface="Calibri"/>
              <a:sym typeface="Calibri"/>
            </a:endParaRPr>
          </a:p>
        </p:txBody>
      </p:sp>
      <p:sp>
        <p:nvSpPr>
          <p:cNvPr id="8"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9"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0"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79450">
              <a:buClr>
                <a:srgbClr val="434343"/>
              </a:buClr>
              <a:buSzPts val="3500"/>
              <a:buFont typeface="Wingdings" pitchFamily="2" charset="2"/>
              <a:buChar char="q"/>
            </a:pPr>
            <a:r>
              <a:rPr lang="en-US" sz="3600" dirty="0">
                <a:solidFill>
                  <a:schemeClr val="dk1"/>
                </a:solidFill>
                <a:latin typeface="Verdana"/>
                <a:ea typeface="Verdana"/>
                <a:cs typeface="Verdana"/>
                <a:sym typeface="Verdana"/>
              </a:rPr>
              <a:t>I can explain the relationship between simple interest and linear growth.</a:t>
            </a:r>
          </a:p>
          <a:p>
            <a:pPr marL="685800" indent="-679450">
              <a:buClr>
                <a:srgbClr val="434343"/>
              </a:buClr>
              <a:buSzPts val="3500"/>
              <a:buFont typeface="Wingdings" pitchFamily="2" charset="2"/>
              <a:buChar char="q"/>
            </a:pPr>
            <a:endParaRPr lang="en-US" sz="3600" dirty="0"/>
          </a:p>
          <a:p>
            <a:pPr marL="685800" indent="-679450">
              <a:buClr>
                <a:srgbClr val="434343"/>
              </a:buClr>
              <a:buSzPts val="3500"/>
              <a:buFont typeface="Wingdings" pitchFamily="2" charset="2"/>
              <a:buChar char="q"/>
            </a:pPr>
            <a:r>
              <a:rPr lang="en-US" sz="3600" dirty="0">
                <a:solidFill>
                  <a:schemeClr val="dk1"/>
                </a:solidFill>
                <a:latin typeface="Verdana"/>
                <a:ea typeface="Verdana"/>
                <a:cs typeface="Verdana"/>
                <a:sym typeface="Verdana"/>
              </a:rPr>
              <a:t>I can solve real-world problems involving simple interest.</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6" name="Google Shape;156;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59"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235</a:t>
            </a:r>
            <a:endParaRPr i="1">
              <a:latin typeface="Calibri"/>
              <a:ea typeface="Calibri"/>
              <a:cs typeface="Calibri"/>
              <a:sym typeface="Calibri"/>
            </a:endParaRPr>
          </a:p>
        </p:txBody>
      </p:sp>
      <p:pic>
        <p:nvPicPr>
          <p:cNvPr id="7"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8"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66" name="Google Shape;166;p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70" name="Google Shape;170;p4"/>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235</a:t>
            </a:r>
            <a:endParaRPr i="1">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E1D7562E-134F-D14B-AF1A-DF40E11EF758}"/>
                  </a:ext>
                </a:extLst>
              </p:cNvPr>
              <p:cNvSpPr txBox="1"/>
              <p:nvPr/>
            </p:nvSpPr>
            <p:spPr>
              <a:xfrm>
                <a:off x="479008" y="1326087"/>
                <a:ext cx="11051576" cy="3170099"/>
              </a:xfrm>
              <a:prstGeom prst="rect">
                <a:avLst/>
              </a:prstGeom>
              <a:noFill/>
            </p:spPr>
            <p:txBody>
              <a:bodyPr wrap="square" rtlCol="0">
                <a:spAutoFit/>
              </a:bodyPr>
              <a:lstStyle/>
              <a:p>
                <a:r>
                  <a:rPr lang="en-US" sz="2000" dirty="0">
                    <a:latin typeface="Verdana" pitchFamily="34" charset="0"/>
                    <a:ea typeface="Verdana" pitchFamily="34" charset="0"/>
                  </a:rPr>
                  <a:t>The surface of the Earth at the equator moves at a speed of </a:t>
                </a:r>
                <a14:m>
                  <m:oMath xmlns:m="http://schemas.openxmlformats.org/officeDocument/2006/math">
                    <m:r>
                      <a:rPr lang="en-US" sz="2000" i="1" dirty="0" smtClean="0">
                        <a:latin typeface="Cambria Math"/>
                        <a:ea typeface="Verdana" pitchFamily="34" charset="0"/>
                      </a:rPr>
                      <m:t>460</m:t>
                    </m:r>
                  </m:oMath>
                </a14:m>
                <a:r>
                  <a:rPr lang="en-US" sz="2000" dirty="0">
                    <a:latin typeface="Verdana" pitchFamily="34" charset="0"/>
                    <a:ea typeface="Verdana" pitchFamily="34" charset="0"/>
                  </a:rPr>
                  <a:t> meters per second.</a:t>
                </a:r>
              </a:p>
              <a:p>
                <a:endParaRPr lang="en-US" sz="2000" dirty="0">
                  <a:latin typeface="Verdana" pitchFamily="34" charset="0"/>
                  <a:ea typeface="Verdana" pitchFamily="34" charset="0"/>
                </a:endParaRPr>
              </a:p>
              <a:p>
                <a:pPr marL="457200" indent="-457200">
                  <a:buFont typeface="+mj-lt"/>
                  <a:buAutoNum type="arabicPeriod"/>
                </a:pPr>
                <a:r>
                  <a:rPr lang="en-US" sz="2000" dirty="0">
                    <a:latin typeface="Verdana" pitchFamily="34" charset="0"/>
                    <a:ea typeface="Verdana" pitchFamily="34" charset="0"/>
                  </a:rPr>
                  <a:t>Based on your understanding of meters and miles, do you think converting meters per second to miles per second will result in a larger or smaller number?</a:t>
                </a:r>
              </a:p>
              <a:p>
                <a:pPr marL="457200" indent="-457200">
                  <a:buFont typeface="+mj-lt"/>
                  <a:buAutoNum type="arabicPeriod"/>
                </a:pPr>
                <a:endParaRPr lang="en-US" sz="2000" dirty="0">
                  <a:latin typeface="Verdana" pitchFamily="34" charset="0"/>
                  <a:ea typeface="Verdana" pitchFamily="34" charset="0"/>
                </a:endParaRPr>
              </a:p>
              <a:p>
                <a:pPr marL="457200" indent="-457200">
                  <a:buFont typeface="+mj-lt"/>
                  <a:buAutoNum type="arabicPeriod"/>
                </a:pPr>
                <a:endParaRPr lang="en-US" sz="2000" dirty="0">
                  <a:latin typeface="Verdana" pitchFamily="34" charset="0"/>
                  <a:ea typeface="Verdana" pitchFamily="34" charset="0"/>
                </a:endParaRPr>
              </a:p>
              <a:p>
                <a:pPr marL="457200" indent="-457200">
                  <a:buFont typeface="+mj-lt"/>
                  <a:buAutoNum type="arabicPeriod"/>
                </a:pPr>
                <a:endParaRPr lang="en-US" sz="2000" dirty="0">
                  <a:latin typeface="Verdana" pitchFamily="34" charset="0"/>
                  <a:ea typeface="Verdana" pitchFamily="34" charset="0"/>
                </a:endParaRPr>
              </a:p>
              <a:p>
                <a:pPr marL="457200" indent="-457200">
                  <a:buFont typeface="+mj-lt"/>
                  <a:buAutoNum type="arabicPeriod"/>
                </a:pPr>
                <a:endParaRPr lang="en-US" sz="2000" dirty="0">
                  <a:latin typeface="Verdana" pitchFamily="34" charset="0"/>
                  <a:ea typeface="Verdana" pitchFamily="34" charset="0"/>
                </a:endParaRPr>
              </a:p>
              <a:p>
                <a:pPr marL="457200" indent="-457200">
                  <a:buFont typeface="+mj-lt"/>
                  <a:buAutoNum type="arabicPeriod"/>
                </a:pPr>
                <a:r>
                  <a:rPr lang="en-US" sz="2000" dirty="0">
                    <a:latin typeface="Verdana" pitchFamily="34" charset="0"/>
                    <a:ea typeface="Verdana" pitchFamily="34" charset="0"/>
                  </a:rPr>
                  <a:t>Use the conversion </a:t>
                </a:r>
                <a14:m>
                  <m:oMath xmlns:m="http://schemas.openxmlformats.org/officeDocument/2006/math">
                    <m:r>
                      <a:rPr lang="en-US" sz="2000" i="1" dirty="0" smtClean="0">
                        <a:latin typeface="Cambria Math"/>
                        <a:ea typeface="Verdana" pitchFamily="34" charset="0"/>
                      </a:rPr>
                      <m:t>1</m:t>
                    </m:r>
                  </m:oMath>
                </a14:m>
                <a:r>
                  <a:rPr lang="en-US" sz="2000" dirty="0">
                    <a:latin typeface="Verdana" pitchFamily="34" charset="0"/>
                    <a:ea typeface="Verdana" pitchFamily="34" charset="0"/>
                  </a:rPr>
                  <a:t> mile </a:t>
                </a:r>
                <a14:m>
                  <m:oMath xmlns:m="http://schemas.openxmlformats.org/officeDocument/2006/math">
                    <m:r>
                      <a:rPr lang="en-US" sz="2000" i="1" dirty="0" smtClean="0">
                        <a:latin typeface="Cambria Math"/>
                        <a:ea typeface="Verdana" pitchFamily="34" charset="0"/>
                      </a:rPr>
                      <m:t>=1609.34</m:t>
                    </m:r>
                  </m:oMath>
                </a14:m>
                <a:r>
                  <a:rPr lang="en-US" sz="2000" dirty="0">
                    <a:latin typeface="Verdana" pitchFamily="34" charset="0"/>
                    <a:ea typeface="Verdana" pitchFamily="34" charset="0"/>
                  </a:rPr>
                  <a:t> meters to change </a:t>
                </a:r>
                <a14:m>
                  <m:oMath xmlns:m="http://schemas.openxmlformats.org/officeDocument/2006/math">
                    <m:r>
                      <a:rPr lang="en-US" sz="2000" i="1" dirty="0" smtClean="0">
                        <a:latin typeface="Cambria Math"/>
                        <a:ea typeface="Verdana" pitchFamily="34" charset="0"/>
                      </a:rPr>
                      <m:t>460</m:t>
                    </m:r>
                  </m:oMath>
                </a14:m>
                <a:r>
                  <a:rPr lang="en-US" sz="2000" dirty="0">
                    <a:latin typeface="Verdana" pitchFamily="34" charset="0"/>
                    <a:ea typeface="Verdana" pitchFamily="34" charset="0"/>
                  </a:rPr>
                  <a:t> meters per second to miles per second. </a:t>
                </a:r>
              </a:p>
            </p:txBody>
          </p:sp>
        </mc:Choice>
        <mc:Fallback xmlns="">
          <p:sp>
            <p:nvSpPr>
              <p:cNvPr id="8" name="TextBox 7">
                <a:extLst>
                  <a:ext uri="{FF2B5EF4-FFF2-40B4-BE49-F238E27FC236}">
                    <a16:creationId xmlns=""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479008" y="1326087"/>
                <a:ext cx="11051576" cy="3170099"/>
              </a:xfrm>
              <a:prstGeom prst="rect">
                <a:avLst/>
              </a:prstGeom>
              <a:blipFill rotWithShape="1">
                <a:blip r:embed="rId4"/>
                <a:stretch>
                  <a:fillRect l="-607" t="-962" b="-2500"/>
                </a:stretch>
              </a:blipFill>
            </p:spPr>
            <p:txBody>
              <a:bodyPr/>
              <a:lstStyle/>
              <a:p>
                <a:r>
                  <a:rPr lang="en-US">
                    <a:noFill/>
                  </a:rPr>
                  <a:t> </a:t>
                </a:r>
              </a:p>
            </p:txBody>
          </p:sp>
        </mc:Fallback>
      </mc:AlternateContent>
      <p:sp>
        <p:nvSpPr>
          <p:cNvPr id="9"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26390"/>
            <a:ext cx="10478462"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F2A67"/>
                </a:solidFill>
                <a:latin typeface="Verdana"/>
                <a:ea typeface="Verdana"/>
                <a:cs typeface="Verdana"/>
                <a:sym typeface="Verdana"/>
              </a:rPr>
              <a:t>13.1.1 Warm-Up: </a:t>
            </a:r>
            <a:br>
              <a:rPr lang="en-US" sz="3600" b="1" dirty="0">
                <a:solidFill>
                  <a:srgbClr val="3F2A67"/>
                </a:solidFill>
                <a:latin typeface="Verdana"/>
                <a:ea typeface="Verdana"/>
                <a:cs typeface="Verdana"/>
                <a:sym typeface="Verdana"/>
              </a:rPr>
            </a:br>
            <a:r>
              <a:rPr lang="en-US" sz="3600" b="1" dirty="0">
                <a:solidFill>
                  <a:srgbClr val="3F2A67"/>
                </a:solidFill>
                <a:latin typeface="Verdana"/>
                <a:ea typeface="Verdana"/>
                <a:cs typeface="Verdana"/>
                <a:sym typeface="Verdana"/>
              </a:rPr>
              <a:t>Earth’s Surface Speed </a:t>
            </a:r>
            <a:endParaRPr lang="en-US" sz="3600" dirty="0"/>
          </a:p>
        </p:txBody>
      </p:sp>
      <p:pic>
        <p:nvPicPr>
          <p:cNvPr id="10"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5">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5"/>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77" name="Google Shape;177;p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8825"/>
            <a:ext cx="563850" cy="657276"/>
          </a:xfrm>
          <a:prstGeom prst="rect">
            <a:avLst/>
          </a:prstGeom>
          <a:noFill/>
          <a:ln>
            <a:noFill/>
          </a:ln>
          <a:effectLst>
            <a:outerShdw blurRad="57150" dist="19050" dir="5400000" algn="bl" rotWithShape="0">
              <a:srgbClr val="000000">
                <a:alpha val="49803"/>
              </a:srgbClr>
            </a:outerShdw>
          </a:effectLst>
        </p:spPr>
      </p:pic>
      <p:sp>
        <p:nvSpPr>
          <p:cNvPr id="179" name="Google Shape;179;p5"/>
          <p:cNvSpPr txBox="1"/>
          <p:nvPr/>
        </p:nvSpPr>
        <p:spPr>
          <a:xfrm>
            <a:off x="8897112" y="6465900"/>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235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xmlns="" id="{2AA35BC6-D428-FC41-BDE5-6438AB8840FC}"/>
                  </a:ext>
                </a:extLst>
              </p:cNvPr>
              <p:cNvSpPr txBox="1"/>
              <p:nvPr/>
            </p:nvSpPr>
            <p:spPr>
              <a:xfrm>
                <a:off x="540565" y="410666"/>
                <a:ext cx="11018226" cy="707886"/>
              </a:xfrm>
              <a:prstGeom prst="rect">
                <a:avLst/>
              </a:prstGeom>
              <a:noFill/>
            </p:spPr>
            <p:txBody>
              <a:bodyPr wrap="square" rtlCol="0">
                <a:spAutoFit/>
              </a:bodyPr>
              <a:lstStyle/>
              <a:p>
                <a:pPr marL="457200" indent="-457200">
                  <a:buFont typeface="+mj-lt"/>
                  <a:buAutoNum type="arabicPeriod" startAt="3"/>
                </a:pPr>
                <a:r>
                  <a:rPr lang="en-US" sz="2000" dirty="0">
                    <a:latin typeface="Verdana" pitchFamily="34" charset="0"/>
                    <a:ea typeface="Verdana" pitchFamily="34" charset="0"/>
                  </a:rPr>
                  <a:t>Use the conversion </a:t>
                </a:r>
                <a14:m>
                  <m:oMath xmlns:m="http://schemas.openxmlformats.org/officeDocument/2006/math">
                    <m:r>
                      <a:rPr lang="en-US" sz="2000" i="1" dirty="0" smtClean="0">
                        <a:latin typeface="Cambria Math"/>
                        <a:ea typeface="Verdana" pitchFamily="34" charset="0"/>
                      </a:rPr>
                      <m:t>1</m:t>
                    </m:r>
                  </m:oMath>
                </a14:m>
                <a:r>
                  <a:rPr lang="en-US" sz="2000" dirty="0">
                    <a:latin typeface="Verdana" pitchFamily="34" charset="0"/>
                    <a:ea typeface="Verdana" pitchFamily="34" charset="0"/>
                  </a:rPr>
                  <a:t> hour </a:t>
                </a:r>
                <a14:m>
                  <m:oMath xmlns:m="http://schemas.openxmlformats.org/officeDocument/2006/math">
                    <m:r>
                      <a:rPr lang="en-US" sz="2000" i="1" dirty="0" smtClean="0">
                        <a:latin typeface="Cambria Math"/>
                        <a:ea typeface="Verdana" pitchFamily="34" charset="0"/>
                      </a:rPr>
                      <m:t>=3600</m:t>
                    </m:r>
                  </m:oMath>
                </a14:m>
                <a:r>
                  <a:rPr lang="en-US" sz="2000" dirty="0">
                    <a:latin typeface="Verdana" pitchFamily="34" charset="0"/>
                    <a:ea typeface="Verdana" pitchFamily="34" charset="0"/>
                  </a:rPr>
                  <a:t> seconds to determine the speed of the surface of the Earth in miles per hour.</a:t>
                </a:r>
              </a:p>
            </p:txBody>
          </p:sp>
        </mc:Choice>
        <mc:Fallback xmlns="">
          <p:sp>
            <p:nvSpPr>
              <p:cNvPr id="6" name="TextBox 5">
                <a:extLst>
                  <a:ext uri="{FF2B5EF4-FFF2-40B4-BE49-F238E27FC236}">
                    <a16:creationId xmlns:a14="http://schemas.microsoft.com/office/drawing/2010/main" xmlns:a16="http://schemas.microsoft.com/office/drawing/2014/main" xmlns="" id="{2AA35BC6-D428-FC41-BDE5-6438AB8840FC}"/>
                  </a:ext>
                </a:extLst>
              </p:cNvPr>
              <p:cNvSpPr txBox="1">
                <a:spLocks noRot="1" noChangeAspect="1" noMove="1" noResize="1" noEditPoints="1" noAdjustHandles="1" noChangeArrowheads="1" noChangeShapeType="1" noTextEdit="1"/>
              </p:cNvSpPr>
              <p:nvPr/>
            </p:nvSpPr>
            <p:spPr>
              <a:xfrm>
                <a:off x="540565" y="410666"/>
                <a:ext cx="11018226" cy="707886"/>
              </a:xfrm>
              <a:prstGeom prst="rect">
                <a:avLst/>
              </a:prstGeom>
              <a:blipFill rotWithShape="1">
                <a:blip r:embed="rId4"/>
                <a:stretch>
                  <a:fillRect l="-609" t="-5172" r="-387" b="-14655"/>
                </a:stretch>
              </a:blipFill>
            </p:spPr>
            <p:txBody>
              <a:bodyPr/>
              <a:lstStyle/>
              <a:p>
                <a:r>
                  <a:rPr 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86" name="Google Shape;186;p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89" name="Google Shape;189;p6"/>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236</a:t>
            </a:r>
            <a:endParaRPr i="1" dirty="0">
              <a:latin typeface="Calibri"/>
              <a:ea typeface="Calibri"/>
              <a:cs typeface="Calibri"/>
              <a:sym typeface="Calibri"/>
            </a:endParaRPr>
          </a:p>
        </p:txBody>
      </p:sp>
      <p:sp>
        <p:nvSpPr>
          <p:cNvPr id="7"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54B5D1"/>
                </a:solidFill>
                <a:latin typeface="Verdana"/>
                <a:ea typeface="Verdana"/>
                <a:cs typeface="Verdana"/>
                <a:sym typeface="Verdana"/>
              </a:rPr>
              <a:t>Guided Instruction</a:t>
            </a:r>
            <a:endParaRPr lang="en-US" sz="5100" b="1" dirty="0">
              <a:solidFill>
                <a:srgbClr val="54B5D1"/>
              </a:solidFill>
              <a:latin typeface="Verdana"/>
              <a:ea typeface="Verdana"/>
              <a:cs typeface="Verdana"/>
              <a:sym typeface="Verdana"/>
            </a:endParaRPr>
          </a:p>
        </p:txBody>
      </p:sp>
      <p:pic>
        <p:nvPicPr>
          <p:cNvPr id="8"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96" name="Google Shape;196;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724"/>
            <a:ext cx="563850" cy="657276"/>
          </a:xfrm>
          <a:prstGeom prst="rect">
            <a:avLst/>
          </a:prstGeom>
          <a:noFill/>
          <a:ln>
            <a:noFill/>
          </a:ln>
          <a:effectLst>
            <a:outerShdw blurRad="57150" dist="19050" dir="5400000" algn="bl" rotWithShape="0">
              <a:srgbClr val="000000">
                <a:alpha val="49803"/>
              </a:srgbClr>
            </a:outerShdw>
          </a:effectLst>
        </p:spPr>
      </p:pic>
      <p:sp>
        <p:nvSpPr>
          <p:cNvPr id="200" name="Google Shape;200;p7"/>
          <p:cNvSpPr txBox="1"/>
          <p:nvPr/>
        </p:nvSpPr>
        <p:spPr>
          <a:xfrm>
            <a:off x="889711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236</a:t>
            </a:r>
            <a:endParaRPr i="1" dirty="0">
              <a:latin typeface="Calibri"/>
              <a:ea typeface="Calibri"/>
              <a:cs typeface="Calibri"/>
              <a:sym typeface="Calibri"/>
            </a:endParaRPr>
          </a:p>
        </p:txBody>
      </p:sp>
      <p:sp>
        <p:nvSpPr>
          <p:cNvPr id="8"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52650" y="7466"/>
            <a:ext cx="10477934"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54B5D1"/>
                </a:solidFill>
                <a:latin typeface="Verdana"/>
                <a:ea typeface="Verdana"/>
                <a:cs typeface="Verdana"/>
                <a:sym typeface="Verdana"/>
              </a:rPr>
              <a:t>13.1.2 Guided Instruction: </a:t>
            </a:r>
            <a:br>
              <a:rPr lang="en-US" sz="3600" b="1" dirty="0">
                <a:solidFill>
                  <a:srgbClr val="54B5D1"/>
                </a:solidFill>
                <a:latin typeface="Verdana"/>
                <a:ea typeface="Verdana"/>
                <a:cs typeface="Verdana"/>
                <a:sym typeface="Verdana"/>
              </a:rPr>
            </a:br>
            <a:r>
              <a:rPr lang="en-US" sz="3600" b="1" dirty="0">
                <a:solidFill>
                  <a:srgbClr val="54B5D1"/>
                </a:solidFill>
                <a:latin typeface="Verdana"/>
                <a:ea typeface="Verdana"/>
                <a:cs typeface="Verdana"/>
                <a:sym typeface="Verdana"/>
              </a:rPr>
              <a:t>Simple Interest</a:t>
            </a:r>
            <a:endParaRPr lang="en-US" sz="3600" dirty="0"/>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305350" y="178560"/>
            <a:ext cx="747300" cy="747300"/>
          </a:xfrm>
          <a:prstGeom prst="rect">
            <a:avLst/>
          </a:prstGeom>
          <a:noFill/>
          <a:ln>
            <a:noFill/>
          </a:ln>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xmlns="" id="{C01B13E8-EC8D-E443-A329-C5E3593DD13A}"/>
              </a:ext>
            </a:extLst>
          </p:cNvPr>
          <p:cNvSpPr txBox="1"/>
          <p:nvPr/>
        </p:nvSpPr>
        <p:spPr>
          <a:xfrm>
            <a:off x="545130" y="1386025"/>
            <a:ext cx="10985454" cy="3118803"/>
          </a:xfrm>
          <a:prstGeom prst="rect">
            <a:avLst/>
          </a:prstGeom>
          <a:noFill/>
        </p:spPr>
        <p:txBody>
          <a:bodyPr wrap="square" rtlCol="0">
            <a:spAutoFit/>
          </a:bodyPr>
          <a:lstStyle/>
          <a:p>
            <a:r>
              <a:rPr lang="en-US" sz="2000" dirty="0">
                <a:latin typeface="Verdana"/>
                <a:ea typeface="Verdana"/>
                <a:cs typeface="Verdana"/>
                <a:sym typeface="Verdana"/>
              </a:rPr>
              <a:t>When money is borrowed or saved, interest is typically accrued. For example, if money is borrowed, the interest accrued is owed in addition to the amount borrowed. If money is saved in an interest-bearing account, the interest accrued is saved in addition to the funds deposited into the account.</a:t>
            </a:r>
            <a:endParaRPr lang="en-US" sz="2000" dirty="0"/>
          </a:p>
          <a:p>
            <a:pPr>
              <a:spcBef>
                <a:spcPts val="1000"/>
              </a:spcBef>
            </a:pPr>
            <a:r>
              <a:rPr lang="en-US" sz="2000" dirty="0">
                <a:latin typeface="Verdana"/>
                <a:ea typeface="Verdana"/>
                <a:cs typeface="Verdana"/>
                <a:sym typeface="Verdana"/>
              </a:rPr>
              <a:t>Simple interest is calculated by using three quantities — the principal, which could be an amount borrowed or an amount invested; the rate of interest; and the time period it will cover. </a:t>
            </a:r>
            <a:endParaRPr lang="en-US" sz="2000" dirty="0"/>
          </a:p>
          <a:p>
            <a:pPr>
              <a:spcBef>
                <a:spcPts val="1000"/>
              </a:spcBef>
            </a:pPr>
            <a:r>
              <a:rPr lang="en-US" sz="2000" dirty="0">
                <a:latin typeface="Verdana"/>
                <a:ea typeface="Verdana"/>
                <a:cs typeface="Verdana"/>
                <a:sym typeface="Verdana"/>
              </a:rPr>
              <a:t>Student loans and mortgages typically use simple interest, whereas savings accounts and credit card debt typically use compound interest. </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07" name="Google Shape;207;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grpSp>
        <p:nvGrpSpPr>
          <p:cNvPr id="208" name="Google Shape;208;p8"/>
          <p:cNvGrpSpPr/>
          <p:nvPr/>
        </p:nvGrpSpPr>
        <p:grpSpPr>
          <a:xfrm>
            <a:off x="2147810" y="410666"/>
            <a:ext cx="7803736" cy="3274853"/>
            <a:chOff x="1493250" y="3141382"/>
            <a:chExt cx="7167450" cy="3411516"/>
          </a:xfrm>
        </p:grpSpPr>
        <p:sp>
          <p:nvSpPr>
            <p:cNvPr id="209" name="Google Shape;209;p8"/>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grpSp>
          <p:nvGrpSpPr>
            <p:cNvPr id="210" name="Google Shape;210;p8"/>
            <p:cNvGrpSpPr/>
            <p:nvPr/>
          </p:nvGrpSpPr>
          <p:grpSpPr>
            <a:xfrm>
              <a:off x="1493250" y="3141382"/>
              <a:ext cx="7167450" cy="3411516"/>
              <a:chOff x="-538050" y="-232218"/>
              <a:chExt cx="7167450" cy="3411516"/>
            </a:xfrm>
          </p:grpSpPr>
          <p:sp>
            <p:nvSpPr>
              <p:cNvPr id="211" name="Google Shape;211;p8"/>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a:ea typeface="Cambria"/>
                    <a:cs typeface="Cambria"/>
                    <a:sym typeface="Cambria"/>
                  </a:rPr>
                  <a:t> </a:t>
                </a:r>
                <a:endParaRPr/>
              </a:p>
            </p:txBody>
          </p:sp>
          <p:sp>
            <p:nvSpPr>
              <p:cNvPr id="212" name="Google Shape;212;p8"/>
              <p:cNvSpPr/>
              <p:nvPr/>
            </p:nvSpPr>
            <p:spPr>
              <a:xfrm>
                <a:off x="-538050" y="-232218"/>
                <a:ext cx="7167450" cy="3411516"/>
              </a:xfrm>
              <a:prstGeom prst="roundRect">
                <a:avLst>
                  <a:gd name="adj" fmla="val 16667"/>
                </a:avLst>
              </a:prstGeom>
              <a:blipFill rotWithShape="1">
                <a:blip r:embed="rId4" cstate="screen">
                  <a:alphaModFix/>
                  <a:extLst>
                    <a:ext uri="{28A0092B-C50C-407E-A947-70E740481C1C}">
                      <a14:useLocalDpi xmlns:a14="http://schemas.microsoft.com/office/drawing/2010/main"/>
                    </a:ext>
                  </a:extLst>
                </a:blip>
                <a:stretch>
                  <a:fillRect/>
                </a:stretch>
              </a:blipFill>
              <a:ln>
                <a:noFill/>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r>
                  <a:rPr lang="en-US"/>
                  <a:t> </a:t>
                </a:r>
                <a:endParaRPr/>
              </a:p>
            </p:txBody>
          </p:sp>
          <p:pic>
            <p:nvPicPr>
              <p:cNvPr id="213" name="Google Shape;213;p8" descr="Icon&#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372021" y="136526"/>
                <a:ext cx="495034" cy="539750"/>
              </a:xfrm>
              <a:prstGeom prst="rect">
                <a:avLst/>
              </a:prstGeom>
              <a:noFill/>
              <a:ln>
                <a:noFill/>
              </a:ln>
              <a:effectLst>
                <a:outerShdw blurRad="50800" dist="38100" dir="2700000" algn="tl" rotWithShape="0">
                  <a:srgbClr val="000000">
                    <a:alpha val="40000"/>
                  </a:srgbClr>
                </a:outerShdw>
              </a:effectLst>
            </p:spPr>
          </p:pic>
        </p:grpSp>
      </p:grpSp>
      <p:sp>
        <p:nvSpPr>
          <p:cNvPr id="214" name="Google Shape;214;p8"/>
          <p:cNvSpPr txBox="1"/>
          <p:nvPr/>
        </p:nvSpPr>
        <p:spPr>
          <a:xfrm>
            <a:off x="8897112" y="6457676"/>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236</a:t>
            </a:r>
            <a:endParaRPr i="1" dirty="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9"/>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21" name="Google Shape;221;p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8825"/>
            <a:ext cx="563850" cy="657276"/>
          </a:xfrm>
          <a:prstGeom prst="rect">
            <a:avLst/>
          </a:prstGeom>
          <a:noFill/>
          <a:ln>
            <a:noFill/>
          </a:ln>
          <a:effectLst>
            <a:outerShdw blurRad="57150" dist="19050" dir="5400000" algn="bl" rotWithShape="0">
              <a:srgbClr val="000000">
                <a:alpha val="49803"/>
              </a:srgbClr>
            </a:outerShdw>
          </a:effectLst>
        </p:spPr>
      </p:pic>
      <p:pic>
        <p:nvPicPr>
          <p:cNvPr id="222" name="Google Shape;222;p9"/>
          <p:cNvPicPr preferRelativeResize="0"/>
          <p:nvPr/>
        </p:nvPicPr>
        <p:blipFill rotWithShape="1">
          <a:blip r:embed="rId4">
            <a:alphaModFix/>
          </a:blip>
          <a:srcRect/>
          <a:stretch/>
        </p:blipFill>
        <p:spPr>
          <a:xfrm>
            <a:off x="7657989" y="431268"/>
            <a:ext cx="3872595" cy="3872595"/>
          </a:xfrm>
          <a:prstGeom prst="rect">
            <a:avLst/>
          </a:prstGeom>
          <a:noFill/>
          <a:ln>
            <a:noFill/>
          </a:ln>
        </p:spPr>
      </p:pic>
      <p:sp>
        <p:nvSpPr>
          <p:cNvPr id="225" name="Google Shape;225;p9"/>
          <p:cNvSpPr txBox="1"/>
          <p:nvPr/>
        </p:nvSpPr>
        <p:spPr>
          <a:xfrm>
            <a:off x="8897112" y="6465900"/>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236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2AA35BC6-D428-FC41-BDE5-6438AB8840FC}"/>
                  </a:ext>
                </a:extLst>
              </p:cNvPr>
              <p:cNvSpPr txBox="1"/>
              <p:nvPr/>
            </p:nvSpPr>
            <p:spPr>
              <a:xfrm>
                <a:off x="540564" y="410666"/>
                <a:ext cx="6774635" cy="4401205"/>
              </a:xfrm>
              <a:prstGeom prst="rect">
                <a:avLst/>
              </a:prstGeom>
              <a:noFill/>
            </p:spPr>
            <p:txBody>
              <a:bodyPr wrap="square" rtlCol="0">
                <a:spAutoFit/>
              </a:bodyPr>
              <a:lstStyle/>
              <a:p>
                <a:pPr marL="457200" indent="-457200">
                  <a:buClr>
                    <a:schemeClr val="dk1"/>
                  </a:buClr>
                  <a:buSzPts val="2000"/>
                  <a:buFont typeface="+mj-lt"/>
                  <a:buAutoNum type="arabicPeriod"/>
                </a:pPr>
                <a:r>
                  <a:rPr lang="en-US" sz="2000" dirty="0">
                    <a:solidFill>
                      <a:schemeClr val="dk1"/>
                    </a:solidFill>
                    <a:latin typeface="Verdana" pitchFamily="34" charset="0"/>
                    <a:ea typeface="Verdana" pitchFamily="34" charset="0"/>
                    <a:cs typeface="Verdana"/>
                    <a:sym typeface="Verdana"/>
                  </a:rPr>
                  <a:t>Bianca just graduated from college and is ready to buy her first car. She borrows </a:t>
                </a:r>
                <a14:m>
                  <m:oMath xmlns:m="http://schemas.openxmlformats.org/officeDocument/2006/math">
                    <m:r>
                      <a:rPr lang="en-US" sz="2000" i="1" dirty="0" smtClean="0">
                        <a:solidFill>
                          <a:schemeClr val="dk1"/>
                        </a:solidFill>
                        <a:latin typeface="Cambria Math"/>
                        <a:ea typeface="Verdana"/>
                        <a:cs typeface="Verdana"/>
                        <a:sym typeface="Verdana"/>
                      </a:rPr>
                      <m:t>$22,500</m:t>
                    </m:r>
                  </m:oMath>
                </a14:m>
                <a:r>
                  <a:rPr lang="en-US" sz="2000" dirty="0">
                    <a:solidFill>
                      <a:schemeClr val="dk1"/>
                    </a:solidFill>
                    <a:latin typeface="Verdana" pitchFamily="34" charset="0"/>
                    <a:ea typeface="Verdana" pitchFamily="34" charset="0"/>
                    <a:cs typeface="Verdana"/>
                    <a:sym typeface="Verdana"/>
                  </a:rPr>
                  <a:t> from a bank to make the purchase. The loan she gets has an annual interest rate of </a:t>
                </a:r>
                <a14:m>
                  <m:oMath xmlns:m="http://schemas.openxmlformats.org/officeDocument/2006/math">
                    <m:r>
                      <a:rPr lang="en-US" sz="2000" i="1" dirty="0" smtClean="0">
                        <a:solidFill>
                          <a:schemeClr val="dk1"/>
                        </a:solidFill>
                        <a:latin typeface="Cambria Math"/>
                        <a:ea typeface="Verdana"/>
                        <a:cs typeface="Verdana"/>
                        <a:sym typeface="Verdana"/>
                      </a:rPr>
                      <m:t>7</m:t>
                    </m:r>
                  </m:oMath>
                </a14:m>
                <a:r>
                  <a:rPr lang="en-US" sz="2000" dirty="0">
                    <a:solidFill>
                      <a:schemeClr val="dk1"/>
                    </a:solidFill>
                    <a:latin typeface="Verdana" pitchFamily="34" charset="0"/>
                    <a:ea typeface="Verdana" pitchFamily="34" charset="0"/>
                    <a:cs typeface="Verdana"/>
                    <a:sym typeface="Verdana"/>
                  </a:rPr>
                  <a:t> percent.</a:t>
                </a:r>
              </a:p>
              <a:p>
                <a:endParaRPr lang="en-US" sz="2000" dirty="0">
                  <a:latin typeface="Verdana" pitchFamily="34" charset="0"/>
                  <a:ea typeface="Verdana" pitchFamily="34" charset="0"/>
                </a:endParaRPr>
              </a:p>
              <a:p>
                <a:pPr marL="914400" indent="-457200">
                  <a:buFont typeface="+mj-lt"/>
                  <a:buAutoNum type="alphaLcPeriod"/>
                </a:pPr>
                <a:r>
                  <a:rPr lang="en-US" sz="2000" dirty="0">
                    <a:latin typeface="Verdana" pitchFamily="34" charset="0"/>
                    <a:ea typeface="Verdana" pitchFamily="34" charset="0"/>
                  </a:rPr>
                  <a:t>What do you notice about the graph?</a:t>
                </a:r>
              </a:p>
              <a:p>
                <a:pPr marL="914400" indent="-457200">
                  <a:buFont typeface="+mj-lt"/>
                  <a:buAutoNum type="alphaLcPeriod"/>
                </a:pPr>
                <a:endParaRPr lang="en-US" sz="2000" dirty="0">
                  <a:latin typeface="Verdana" pitchFamily="34" charset="0"/>
                  <a:ea typeface="Verdana" pitchFamily="34" charset="0"/>
                </a:endParaRPr>
              </a:p>
              <a:p>
                <a:pPr marL="914400" indent="-457200">
                  <a:buFont typeface="+mj-lt"/>
                  <a:buAutoNum type="alphaLcPeriod"/>
                </a:pPr>
                <a:endParaRPr lang="en-US" sz="2000" dirty="0">
                  <a:latin typeface="Verdana" pitchFamily="34" charset="0"/>
                  <a:ea typeface="Verdana" pitchFamily="34" charset="0"/>
                </a:endParaRPr>
              </a:p>
              <a:p>
                <a:pPr marL="914400" indent="-457200">
                  <a:buFont typeface="+mj-lt"/>
                  <a:buAutoNum type="alphaLcPeriod"/>
                </a:pPr>
                <a:endParaRPr lang="en-US" sz="2000" dirty="0">
                  <a:latin typeface="Verdana" pitchFamily="34" charset="0"/>
                  <a:ea typeface="Verdana" pitchFamily="34" charset="0"/>
                </a:endParaRPr>
              </a:p>
              <a:p>
                <a:pPr marL="914400" indent="-457200">
                  <a:buFont typeface="+mj-lt"/>
                  <a:buAutoNum type="alphaLcPeriod"/>
                </a:pPr>
                <a:endParaRPr lang="en-US" sz="2000" dirty="0">
                  <a:latin typeface="Verdana" pitchFamily="34" charset="0"/>
                  <a:ea typeface="Verdana" pitchFamily="34" charset="0"/>
                </a:endParaRPr>
              </a:p>
              <a:p>
                <a:pPr marL="914400" indent="-457200">
                  <a:buFont typeface="+mj-lt"/>
                  <a:buAutoNum type="alphaLcPeriod"/>
                </a:pPr>
                <a:r>
                  <a:rPr lang="en-US" sz="2000" dirty="0">
                    <a:latin typeface="Verdana" pitchFamily="34" charset="0"/>
                    <a:ea typeface="Verdana" pitchFamily="34" charset="0"/>
                  </a:rPr>
                  <a:t>Place a point on the graph that represents the final amount of the loan if Bianca pays the loan off in </a:t>
                </a:r>
                <a14:m>
                  <m:oMath xmlns:m="http://schemas.openxmlformats.org/officeDocument/2006/math">
                    <m:r>
                      <a:rPr lang="en-US" sz="2000" i="1" dirty="0" smtClean="0">
                        <a:latin typeface="Cambria Math"/>
                        <a:ea typeface="Verdana" pitchFamily="34" charset="0"/>
                      </a:rPr>
                      <m:t>4</m:t>
                    </m:r>
                  </m:oMath>
                </a14:m>
                <a:r>
                  <a:rPr lang="en-US" sz="2000" dirty="0">
                    <a:latin typeface="Verdana" pitchFamily="34" charset="0"/>
                    <a:ea typeface="Verdana" pitchFamily="34" charset="0"/>
                  </a:rPr>
                  <a:t> years. </a:t>
                </a:r>
              </a:p>
              <a:p>
                <a:pPr>
                  <a:buClr>
                    <a:schemeClr val="dk1"/>
                  </a:buClr>
                  <a:buSzPts val="2000"/>
                </a:pPr>
                <a:endParaRPr lang="en-US" sz="2000" dirty="0">
                  <a:latin typeface="Verdana" pitchFamily="34" charset="0"/>
                  <a:ea typeface="Verdana" pitchFamily="34" charset="0"/>
                </a:endParaRPr>
              </a:p>
            </p:txBody>
          </p:sp>
        </mc:Choice>
        <mc:Fallback xmlns="">
          <p:sp>
            <p:nvSpPr>
              <p:cNvPr id="8" name="TextBox 7">
                <a:extLst>
                  <a:ext uri="{FF2B5EF4-FFF2-40B4-BE49-F238E27FC236}">
                    <a16:creationId xmlns:a14="http://schemas.microsoft.com/office/drawing/2010/main" xmlns:a16="http://schemas.microsoft.com/office/drawing/2014/main" xmlns="" id="{2AA35BC6-D428-FC41-BDE5-6438AB8840FC}"/>
                  </a:ext>
                </a:extLst>
              </p:cNvPr>
              <p:cNvSpPr txBox="1">
                <a:spLocks noRot="1" noChangeAspect="1" noMove="1" noResize="1" noEditPoints="1" noAdjustHandles="1" noChangeArrowheads="1" noChangeShapeType="1" noTextEdit="1"/>
              </p:cNvSpPr>
              <p:nvPr/>
            </p:nvSpPr>
            <p:spPr>
              <a:xfrm>
                <a:off x="540564" y="410666"/>
                <a:ext cx="6774635" cy="4401205"/>
              </a:xfrm>
              <a:prstGeom prst="rect">
                <a:avLst/>
              </a:prstGeom>
              <a:blipFill rotWithShape="1">
                <a:blip r:embed="rId5"/>
                <a:stretch>
                  <a:fillRect l="-990" t="-831" r="-2070"/>
                </a:stretch>
              </a:blipFill>
            </p:spPr>
            <p:txBody>
              <a:bodyPr/>
              <a:lstStyle/>
              <a:p>
                <a:r>
                  <a:rPr 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0"/>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32" name="Google Shape;232;p1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8825"/>
            <a:ext cx="563850" cy="657276"/>
          </a:xfrm>
          <a:prstGeom prst="rect">
            <a:avLst/>
          </a:prstGeom>
          <a:noFill/>
          <a:ln>
            <a:noFill/>
          </a:ln>
          <a:effectLst>
            <a:outerShdw blurRad="57150" dist="19050" dir="5400000" algn="bl" rotWithShape="0">
              <a:srgbClr val="000000">
                <a:alpha val="49803"/>
              </a:srgbClr>
            </a:outerShdw>
          </a:effectLst>
        </p:spPr>
      </p:pic>
      <p:graphicFrame>
        <p:nvGraphicFramePr>
          <p:cNvPr id="234" name="Google Shape;234;p10"/>
          <p:cNvGraphicFramePr/>
          <p:nvPr>
            <p:extLst>
              <p:ext uri="{D42A27DB-BD31-4B8C-83A1-F6EECF244321}">
                <p14:modId xmlns:p14="http://schemas.microsoft.com/office/powerpoint/2010/main" val="677086320"/>
              </p:ext>
            </p:extLst>
          </p:nvPr>
        </p:nvGraphicFramePr>
        <p:xfrm>
          <a:off x="1558912" y="3507562"/>
          <a:ext cx="7338200" cy="2895600"/>
        </p:xfrm>
        <a:graphic>
          <a:graphicData uri="http://schemas.openxmlformats.org/drawingml/2006/table">
            <a:tbl>
              <a:tblPr>
                <a:noFill/>
                <a:tableStyleId>{3E41C344-CBF3-4575-BA49-7F9FACBC11FE}</a:tableStyleId>
              </a:tblPr>
              <a:tblGrid>
                <a:gridCol w="1910525">
                  <a:extLst>
                    <a:ext uri="{9D8B030D-6E8A-4147-A177-3AD203B41FA5}">
                      <a16:colId xmlns:a16="http://schemas.microsoft.com/office/drawing/2014/main" xmlns="" val="20000"/>
                    </a:ext>
                  </a:extLst>
                </a:gridCol>
                <a:gridCol w="2099175">
                  <a:extLst>
                    <a:ext uri="{9D8B030D-6E8A-4147-A177-3AD203B41FA5}">
                      <a16:colId xmlns:a16="http://schemas.microsoft.com/office/drawing/2014/main" xmlns="" val="20001"/>
                    </a:ext>
                  </a:extLst>
                </a:gridCol>
                <a:gridCol w="3328500">
                  <a:extLst>
                    <a:ext uri="{9D8B030D-6E8A-4147-A177-3AD203B41FA5}">
                      <a16:colId xmlns:a16="http://schemas.microsoft.com/office/drawing/2014/main" xmlns="" val="20002"/>
                    </a:ext>
                  </a:extLst>
                </a:gridCol>
              </a:tblGrid>
              <a:tr h="457200">
                <a:tc>
                  <a:txBody>
                    <a:bodyPr/>
                    <a:lstStyle/>
                    <a:p>
                      <a:pPr marL="0" marR="0" lvl="0" indent="0" algn="ctr" rtl="0">
                        <a:lnSpc>
                          <a:spcPct val="100000"/>
                        </a:lnSpc>
                        <a:spcBef>
                          <a:spcPts val="0"/>
                        </a:spcBef>
                        <a:spcAft>
                          <a:spcPts val="0"/>
                        </a:spcAft>
                        <a:buNone/>
                      </a:pPr>
                      <a:r>
                        <a:rPr lang="en-US" sz="2000" b="1" u="none" strike="noStrike" cap="none" dirty="0">
                          <a:latin typeface="Verdana" pitchFamily="34" charset="0"/>
                          <a:ea typeface="Verdana" pitchFamily="34" charset="0"/>
                          <a:cs typeface="Verdana"/>
                          <a:sym typeface="Verdana"/>
                        </a:rPr>
                        <a:t>Key Feature</a:t>
                      </a:r>
                      <a:endParaRPr sz="2000" u="none" strike="noStrike" cap="none" dirty="0">
                        <a:latin typeface="Verdana" pitchFamily="34" charset="0"/>
                        <a:ea typeface="Verdana" pitchFamily="34" charset="0"/>
                        <a:cs typeface="Verdana"/>
                        <a:sym typeface="Verdan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Value</a:t>
                      </a:r>
                      <a:endParaRPr sz="2000" u="none" strike="noStrike" cap="none" dirty="0">
                        <a:latin typeface="Verdana" pitchFamily="34" charset="0"/>
                        <a:ea typeface="Verdana" pitchFamily="34" charset="0"/>
                        <a:cs typeface="Verdana"/>
                        <a:sym typeface="Verdan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Interpretation </a:t>
                      </a:r>
                      <a:br>
                        <a:rPr lang="en-US" sz="2000" b="1" u="none" strike="noStrike" cap="none" dirty="0">
                          <a:solidFill>
                            <a:srgbClr val="000000"/>
                          </a:solidFill>
                          <a:latin typeface="Verdana" pitchFamily="34" charset="0"/>
                          <a:ea typeface="Verdana" pitchFamily="34" charset="0"/>
                          <a:cs typeface="Verdana"/>
                          <a:sym typeface="Verdana"/>
                        </a:rPr>
                      </a:br>
                      <a:r>
                        <a:rPr lang="en-US" sz="2000" b="1" u="none" strike="noStrike" cap="none" dirty="0">
                          <a:solidFill>
                            <a:srgbClr val="000000"/>
                          </a:solidFill>
                          <a:latin typeface="Verdana" pitchFamily="34" charset="0"/>
                          <a:ea typeface="Verdana" pitchFamily="34" charset="0"/>
                          <a:cs typeface="Verdana"/>
                          <a:sym typeface="Verdana"/>
                        </a:rPr>
                        <a:t>in Context</a:t>
                      </a:r>
                      <a:endParaRPr sz="2000" u="none" strike="noStrike" cap="none" dirty="0">
                        <a:latin typeface="Verdana" pitchFamily="34" charset="0"/>
                        <a:ea typeface="Verdana" pitchFamily="34" charset="0"/>
                        <a:cs typeface="Verdana"/>
                        <a:sym typeface="Verdan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1097280">
                <a:tc>
                  <a:txBody>
                    <a:bodyPr/>
                    <a:lstStyle/>
                    <a:p>
                      <a:pPr marL="0" marR="0" lvl="0" indent="0" algn="ctr" rtl="0">
                        <a:lnSpc>
                          <a:spcPct val="100000"/>
                        </a:lnSpc>
                        <a:spcBef>
                          <a:spcPts val="0"/>
                        </a:spcBef>
                        <a:spcAft>
                          <a:spcPts val="0"/>
                        </a:spcAft>
                        <a:buNone/>
                      </a:pPr>
                      <a:r>
                        <a:rPr lang="en-US" sz="2000" dirty="0">
                          <a:latin typeface="Verdana" pitchFamily="34" charset="0"/>
                          <a:ea typeface="Verdana" pitchFamily="34" charset="0"/>
                        </a:rPr>
                        <a:t>𝒚-intercept</a:t>
                      </a:r>
                      <a:endParaRPr sz="2000" u="none" strike="noStrike" cap="none"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endParaRPr sz="2000" u="none" strike="noStrike" cap="none" dirty="0">
                        <a:latin typeface="Verdana" pitchFamily="34" charset="0"/>
                        <a:ea typeface="Verdana" pitchFamily="34" charset="0"/>
                        <a:cs typeface="Verdana"/>
                        <a:sym typeface="Verdana"/>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endParaRPr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1097280">
                <a:tc>
                  <a:txBody>
                    <a:bodyPr/>
                    <a:lstStyle/>
                    <a:p>
                      <a:pPr marL="0" marR="0" lvl="0" indent="0" algn="ctr" rtl="0">
                        <a:lnSpc>
                          <a:spcPct val="100000"/>
                        </a:lnSpc>
                        <a:spcBef>
                          <a:spcPts val="0"/>
                        </a:spcBef>
                        <a:spcAft>
                          <a:spcPts val="0"/>
                        </a:spcAft>
                        <a:buNone/>
                      </a:pPr>
                      <a:r>
                        <a:rPr lang="en-US" sz="2000" u="none" strike="noStrike" cap="none" dirty="0">
                          <a:latin typeface="Verdana" pitchFamily="34" charset="0"/>
                          <a:ea typeface="Verdana" pitchFamily="34" charset="0"/>
                          <a:cs typeface="Verdana"/>
                          <a:sym typeface="Verdana"/>
                        </a:rPr>
                        <a:t>slope</a:t>
                      </a:r>
                      <a:endParaRPr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endParaRPr sz="200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endParaRPr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sp>
        <p:nvSpPr>
          <p:cNvPr id="235" name="Google Shape;235;p10"/>
          <p:cNvSpPr txBox="1"/>
          <p:nvPr/>
        </p:nvSpPr>
        <p:spPr>
          <a:xfrm>
            <a:off x="8897112" y="6465900"/>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236</a:t>
            </a:r>
            <a:endParaRPr i="1">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xmlns="" id="{2AA35BC6-D428-FC41-BDE5-6438AB8840FC}"/>
                  </a:ext>
                </a:extLst>
              </p:cNvPr>
              <p:cNvSpPr txBox="1"/>
              <p:nvPr/>
            </p:nvSpPr>
            <p:spPr>
              <a:xfrm>
                <a:off x="540564" y="410666"/>
                <a:ext cx="10990548" cy="2862322"/>
              </a:xfrm>
              <a:prstGeom prst="rect">
                <a:avLst/>
              </a:prstGeom>
              <a:noFill/>
            </p:spPr>
            <p:txBody>
              <a:bodyPr wrap="square" rtlCol="0">
                <a:spAutoFit/>
              </a:bodyPr>
              <a:lstStyle/>
              <a:p>
                <a:pPr marL="914400" indent="-457200">
                  <a:buFont typeface="+mj-lt"/>
                  <a:buAutoNum type="alphaLcPeriod" startAt="3"/>
                </a:pPr>
                <a:r>
                  <a:rPr lang="en-US" sz="2000" dirty="0">
                    <a:latin typeface="Verdana" pitchFamily="34" charset="0"/>
                    <a:ea typeface="Verdana" pitchFamily="34" charset="0"/>
                  </a:rPr>
                  <a:t>Use the graph to determine how much Bianca will pay for the car if she pays it off in </a:t>
                </a:r>
                <a14:m>
                  <m:oMath xmlns:m="http://schemas.openxmlformats.org/officeDocument/2006/math">
                    <m:r>
                      <a:rPr lang="en-US" sz="2000" i="1" dirty="0" smtClean="0">
                        <a:latin typeface="Cambria Math"/>
                        <a:ea typeface="Verdana" pitchFamily="34" charset="0"/>
                      </a:rPr>
                      <m:t>8</m:t>
                    </m:r>
                  </m:oMath>
                </a14:m>
                <a:r>
                  <a:rPr lang="en-US" sz="2000" dirty="0">
                    <a:latin typeface="Verdana" pitchFamily="34" charset="0"/>
                    <a:ea typeface="Verdana" pitchFamily="34" charset="0"/>
                  </a:rPr>
                  <a:t> years.</a:t>
                </a:r>
              </a:p>
              <a:p>
                <a:pPr marL="914400" indent="-457200">
                  <a:buFont typeface="+mj-lt"/>
                  <a:buAutoNum type="alphaLcPeriod" startAt="3"/>
                </a:pPr>
                <a:endParaRPr lang="en-PH" sz="2000" dirty="0">
                  <a:latin typeface="Verdana" pitchFamily="34" charset="0"/>
                  <a:ea typeface="Verdana" pitchFamily="34" charset="0"/>
                </a:endParaRPr>
              </a:p>
              <a:p>
                <a:pPr marL="914400" indent="-457200">
                  <a:buFont typeface="+mj-lt"/>
                  <a:buAutoNum type="alphaLcPeriod" startAt="3"/>
                </a:pPr>
                <a:endParaRPr lang="en-US" sz="2000" dirty="0">
                  <a:latin typeface="Verdana" pitchFamily="34" charset="0"/>
                  <a:ea typeface="Verdana" pitchFamily="34" charset="0"/>
                </a:endParaRPr>
              </a:p>
              <a:p>
                <a:pPr marL="914400" indent="-457200">
                  <a:buFont typeface="+mj-lt"/>
                  <a:buAutoNum type="alphaLcPeriod" startAt="3"/>
                </a:pPr>
                <a:r>
                  <a:rPr lang="en-US" sz="2000" dirty="0">
                    <a:latin typeface="Verdana" pitchFamily="34" charset="0"/>
                    <a:ea typeface="Verdana" pitchFamily="34" charset="0"/>
                  </a:rPr>
                  <a:t>The equation </a:t>
                </a:r>
                <a14:m>
                  <m:oMath xmlns:m="http://schemas.openxmlformats.org/officeDocument/2006/math">
                    <m:r>
                      <a:rPr lang="en-US" sz="2000" i="1" dirty="0" smtClean="0">
                        <a:latin typeface="Cambria Math"/>
                        <a:ea typeface="Verdana" pitchFamily="34" charset="0"/>
                      </a:rPr>
                      <m:t>𝐴</m:t>
                    </m:r>
                    <m:r>
                      <a:rPr lang="en-US" sz="2000" i="1" dirty="0" smtClean="0">
                        <a:latin typeface="Cambria Math"/>
                        <a:ea typeface="Verdana" pitchFamily="34" charset="0"/>
                      </a:rPr>
                      <m:t>=22,500(1 + 0.07</m:t>
                    </m:r>
                    <m:r>
                      <a:rPr lang="en-US" sz="2000" i="1" dirty="0" smtClean="0">
                        <a:latin typeface="Cambria Math"/>
                        <a:ea typeface="Verdana" pitchFamily="34" charset="0"/>
                      </a:rPr>
                      <m:t>𝑡</m:t>
                    </m:r>
                    <m:r>
                      <a:rPr lang="en-US" sz="2000" i="1" dirty="0" smtClean="0">
                        <a:latin typeface="Cambria Math"/>
                        <a:ea typeface="Verdana" pitchFamily="34" charset="0"/>
                      </a:rPr>
                      <m:t>)</m:t>
                    </m:r>
                  </m:oMath>
                </a14:m>
                <a:r>
                  <a:rPr lang="en-US" sz="2000" dirty="0">
                    <a:latin typeface="Verdana" pitchFamily="34" charset="0"/>
                    <a:ea typeface="Verdana" pitchFamily="34" charset="0"/>
                  </a:rPr>
                  <a:t> models Bianca’s loan. Rewrite the equation in slope-intercept form.</a:t>
                </a:r>
              </a:p>
              <a:p>
                <a:pPr marL="914400" indent="-457200">
                  <a:buFont typeface="+mj-lt"/>
                  <a:buAutoNum type="alphaLcPeriod" startAt="3"/>
                </a:pPr>
                <a:endParaRPr lang="en-PH" sz="2000" dirty="0">
                  <a:latin typeface="Verdana" pitchFamily="34" charset="0"/>
                  <a:ea typeface="Verdana" pitchFamily="34" charset="0"/>
                </a:endParaRPr>
              </a:p>
              <a:p>
                <a:pPr marL="914400" indent="-457200">
                  <a:buFont typeface="+mj-lt"/>
                  <a:buAutoNum type="alphaLcPeriod" startAt="3"/>
                </a:pPr>
                <a:endParaRPr lang="en-US" sz="2000" dirty="0">
                  <a:latin typeface="Verdana" pitchFamily="34" charset="0"/>
                  <a:ea typeface="Verdana" pitchFamily="34" charset="0"/>
                </a:endParaRPr>
              </a:p>
              <a:p>
                <a:pPr marL="914400" indent="-457200">
                  <a:buFont typeface="+mj-lt"/>
                  <a:buAutoNum type="alphaLcPeriod" startAt="3"/>
                </a:pPr>
                <a:r>
                  <a:rPr lang="en-US" sz="2000" dirty="0">
                    <a:latin typeface="Verdana" pitchFamily="34" charset="0"/>
                    <a:ea typeface="Verdana" pitchFamily="34" charset="0"/>
                  </a:rPr>
                  <a:t>Work with your partner to complete the table.</a:t>
                </a:r>
              </a:p>
            </p:txBody>
          </p:sp>
        </mc:Choice>
        <mc:Fallback xmlns="">
          <p:sp>
            <p:nvSpPr>
              <p:cNvPr id="7" name="TextBox 6">
                <a:extLst>
                  <a:ext uri="{FF2B5EF4-FFF2-40B4-BE49-F238E27FC236}">
                    <a16:creationId xmlns:a14="http://schemas.microsoft.com/office/drawing/2010/main" xmlns:a16="http://schemas.microsoft.com/office/drawing/2014/main" xmlns="" id="{2AA35BC6-D428-FC41-BDE5-6438AB8840FC}"/>
                  </a:ext>
                </a:extLst>
              </p:cNvPr>
              <p:cNvSpPr txBox="1">
                <a:spLocks noRot="1" noChangeAspect="1" noMove="1" noResize="1" noEditPoints="1" noAdjustHandles="1" noChangeArrowheads="1" noChangeShapeType="1" noTextEdit="1"/>
              </p:cNvSpPr>
              <p:nvPr/>
            </p:nvSpPr>
            <p:spPr>
              <a:xfrm>
                <a:off x="540564" y="410666"/>
                <a:ext cx="10990548" cy="2862322"/>
              </a:xfrm>
              <a:prstGeom prst="rect">
                <a:avLst/>
              </a:prstGeom>
              <a:blipFill rotWithShape="1">
                <a:blip r:embed="rId4"/>
                <a:stretch>
                  <a:fillRect t="-1277" r="-444" b="-2766"/>
                </a:stretch>
              </a:blipFill>
            </p:spPr>
            <p:txBody>
              <a:bodyPr/>
              <a:lstStyle/>
              <a:p>
                <a:r>
                  <a:rPr 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1"/>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42" name="Google Shape;242;p1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8825"/>
            <a:ext cx="563850" cy="657276"/>
          </a:xfrm>
          <a:prstGeom prst="rect">
            <a:avLst/>
          </a:prstGeom>
          <a:noFill/>
          <a:ln>
            <a:noFill/>
          </a:ln>
          <a:effectLst>
            <a:outerShdw blurRad="57150" dist="19050" dir="5400000" algn="bl" rotWithShape="0">
              <a:srgbClr val="000000">
                <a:alpha val="49803"/>
              </a:srgbClr>
            </a:outerShdw>
          </a:effectLst>
        </p:spPr>
      </p:pic>
      <p:sp>
        <p:nvSpPr>
          <p:cNvPr id="245" name="Google Shape;245;p11"/>
          <p:cNvSpPr txBox="1"/>
          <p:nvPr/>
        </p:nvSpPr>
        <p:spPr>
          <a:xfrm>
            <a:off x="8897112" y="6465900"/>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237</a:t>
            </a:r>
            <a:endParaRPr i="1">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xmlns="" id="{2AA35BC6-D428-FC41-BDE5-6438AB8840FC}"/>
                  </a:ext>
                </a:extLst>
              </p:cNvPr>
              <p:cNvSpPr txBox="1"/>
              <p:nvPr/>
            </p:nvSpPr>
            <p:spPr>
              <a:xfrm>
                <a:off x="540564" y="410666"/>
                <a:ext cx="10990020" cy="1323439"/>
              </a:xfrm>
              <a:prstGeom prst="rect">
                <a:avLst/>
              </a:prstGeom>
              <a:noFill/>
            </p:spPr>
            <p:txBody>
              <a:bodyPr wrap="square" rtlCol="0">
                <a:spAutoFit/>
              </a:bodyPr>
              <a:lstStyle/>
              <a:p>
                <a:pPr marL="914400" indent="-457200">
                  <a:buFont typeface="+mj-lt"/>
                  <a:buAutoNum type="alphaLcPeriod" startAt="6"/>
                </a:pPr>
                <a:r>
                  <a:rPr lang="en-US" sz="2000" dirty="0">
                    <a:latin typeface="Verdana" pitchFamily="34" charset="0"/>
                    <a:ea typeface="Verdana" pitchFamily="34" charset="0"/>
                  </a:rPr>
                  <a:t>Bianca only wants to pay a total of </a:t>
                </a:r>
                <a14:m>
                  <m:oMath xmlns:m="http://schemas.openxmlformats.org/officeDocument/2006/math">
                    <m:r>
                      <a:rPr lang="en-US" sz="2000" i="1" dirty="0" smtClean="0">
                        <a:latin typeface="Cambria Math"/>
                        <a:ea typeface="Verdana" pitchFamily="34" charset="0"/>
                      </a:rPr>
                      <m:t>$27,500</m:t>
                    </m:r>
                  </m:oMath>
                </a14:m>
                <a:r>
                  <a:rPr lang="en-US" sz="2000" dirty="0">
                    <a:latin typeface="Verdana" pitchFamily="34" charset="0"/>
                    <a:ea typeface="Verdana" pitchFamily="34" charset="0"/>
                  </a:rPr>
                  <a:t> for the car, including interest on her loan. Use the equation </a:t>
                </a:r>
                <a14:m>
                  <m:oMath xmlns:m="http://schemas.openxmlformats.org/officeDocument/2006/math">
                    <m:r>
                      <a:rPr lang="en-US" sz="2000" i="1" dirty="0" smtClean="0">
                        <a:latin typeface="Cambria Math"/>
                        <a:ea typeface="Verdana" pitchFamily="34" charset="0"/>
                      </a:rPr>
                      <m:t>𝐴</m:t>
                    </m:r>
                    <m:r>
                      <a:rPr lang="en-US" sz="2000" i="1" dirty="0" smtClean="0">
                        <a:latin typeface="Cambria Math"/>
                        <a:ea typeface="Verdana" pitchFamily="34" charset="0"/>
                      </a:rPr>
                      <m:t>=22,500(1 + 0.07</m:t>
                    </m:r>
                    <m:r>
                      <a:rPr lang="en-US" sz="2000" i="1" dirty="0" smtClean="0">
                        <a:latin typeface="Cambria Math"/>
                        <a:ea typeface="Verdana" pitchFamily="34" charset="0"/>
                      </a:rPr>
                      <m:t>𝑡</m:t>
                    </m:r>
                    <m:r>
                      <a:rPr lang="en-US" sz="2000" i="1" dirty="0" smtClean="0">
                        <a:latin typeface="Cambria Math"/>
                        <a:ea typeface="Verdana" pitchFamily="34" charset="0"/>
                      </a:rPr>
                      <m:t>)</m:t>
                    </m:r>
                  </m:oMath>
                </a14:m>
                <a:r>
                  <a:rPr lang="en-US" sz="2000" dirty="0">
                    <a:latin typeface="Verdana" pitchFamily="34" charset="0"/>
                    <a:ea typeface="Verdana" pitchFamily="34" charset="0"/>
                  </a:rPr>
                  <a:t> to determine how long the loan can be to ensure she only pays </a:t>
                </a:r>
                <a14:m>
                  <m:oMath xmlns:m="http://schemas.openxmlformats.org/officeDocument/2006/math">
                    <m:r>
                      <a:rPr lang="en-US" sz="2000" i="1" dirty="0" smtClean="0">
                        <a:latin typeface="Cambria Math"/>
                        <a:ea typeface="Verdana" pitchFamily="34" charset="0"/>
                      </a:rPr>
                      <m:t>$27,500</m:t>
                    </m:r>
                  </m:oMath>
                </a14:m>
                <a:r>
                  <a:rPr lang="en-US" sz="2000" dirty="0">
                    <a:latin typeface="Verdana" pitchFamily="34" charset="0"/>
                    <a:ea typeface="Verdana" pitchFamily="34" charset="0"/>
                  </a:rPr>
                  <a:t>. Round to the nearest hundredth.</a:t>
                </a:r>
              </a:p>
            </p:txBody>
          </p:sp>
        </mc:Choice>
        <mc:Fallback xmlns="">
          <p:sp>
            <p:nvSpPr>
              <p:cNvPr id="7" name="TextBox 6">
                <a:extLst>
                  <a:ext uri="{FF2B5EF4-FFF2-40B4-BE49-F238E27FC236}">
                    <a16:creationId xmlns:a14="http://schemas.microsoft.com/office/drawing/2010/main" xmlns:a16="http://schemas.microsoft.com/office/drawing/2014/main" xmlns="" id="{2AA35BC6-D428-FC41-BDE5-6438AB8840FC}"/>
                  </a:ext>
                </a:extLst>
              </p:cNvPr>
              <p:cNvSpPr txBox="1">
                <a:spLocks noRot="1" noChangeAspect="1" noMove="1" noResize="1" noEditPoints="1" noAdjustHandles="1" noChangeArrowheads="1" noChangeShapeType="1" noTextEdit="1"/>
              </p:cNvSpPr>
              <p:nvPr/>
            </p:nvSpPr>
            <p:spPr>
              <a:xfrm>
                <a:off x="540564" y="410666"/>
                <a:ext cx="10990020" cy="1323439"/>
              </a:xfrm>
              <a:prstGeom prst="rect">
                <a:avLst/>
              </a:prstGeom>
              <a:blipFill rotWithShape="1">
                <a:blip r:embed="rId4"/>
                <a:stretch>
                  <a:fillRect t="-2765" b="-7373"/>
                </a:stretch>
              </a:blipFill>
            </p:spPr>
            <p:txBody>
              <a:bodyPr/>
              <a:lstStyle/>
              <a:p>
                <a:r>
                  <a:rPr 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2"/>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52" name="Google Shape;252;p1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8825"/>
            <a:ext cx="563850" cy="657276"/>
          </a:xfrm>
          <a:prstGeom prst="rect">
            <a:avLst/>
          </a:prstGeom>
          <a:noFill/>
          <a:ln>
            <a:noFill/>
          </a:ln>
          <a:effectLst>
            <a:outerShdw blurRad="57150" dist="19050" dir="5400000" algn="bl" rotWithShape="0">
              <a:srgbClr val="000000">
                <a:alpha val="49803"/>
              </a:srgbClr>
            </a:outerShdw>
          </a:effectLst>
        </p:spPr>
      </p:pic>
      <p:sp>
        <p:nvSpPr>
          <p:cNvPr id="254" name="Google Shape;254;p12"/>
          <p:cNvSpPr txBox="1"/>
          <p:nvPr/>
        </p:nvSpPr>
        <p:spPr>
          <a:xfrm>
            <a:off x="8897112" y="6465900"/>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237</a:t>
            </a:r>
            <a:endParaRPr i="1" dirty="0">
              <a:latin typeface="Calibri"/>
              <a:ea typeface="Calibri"/>
              <a:cs typeface="Calibri"/>
              <a:sym typeface="Calibri"/>
            </a:endParaRPr>
          </a:p>
        </p:txBody>
      </p:sp>
      <p:sp>
        <p:nvSpPr>
          <p:cNvPr id="6" name="Google Shape;244;p11"/>
          <p:cNvSpPr/>
          <p:nvPr/>
        </p:nvSpPr>
        <p:spPr>
          <a:xfrm>
            <a:off x="2464019" y="410666"/>
            <a:ext cx="7143638" cy="1804705"/>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spAutoFit/>
          </a:bodyPr>
          <a:lstStyle/>
          <a:p>
            <a:pPr marL="114300"/>
            <a:r>
              <a:rPr lang="en-US" sz="2000" dirty="0">
                <a:solidFill>
                  <a:srgbClr val="6C993D"/>
                </a:solidFill>
                <a:latin typeface="Verdana"/>
                <a:ea typeface="Verdana"/>
                <a:cs typeface="Verdana"/>
                <a:sym typeface="Verdana"/>
              </a:rPr>
              <a:t>A </a:t>
            </a:r>
            <a:r>
              <a:rPr lang="en-US" sz="2000" b="1" i="1" dirty="0">
                <a:solidFill>
                  <a:srgbClr val="6C993D"/>
                </a:solidFill>
                <a:latin typeface="Verdana"/>
                <a:ea typeface="Verdana"/>
                <a:cs typeface="Verdana"/>
                <a:sym typeface="Verdana"/>
              </a:rPr>
              <a:t>certificate of deposit</a:t>
            </a:r>
            <a:r>
              <a:rPr lang="en-US" sz="2000" dirty="0">
                <a:solidFill>
                  <a:srgbClr val="6C993D"/>
                </a:solidFill>
                <a:latin typeface="Verdana"/>
                <a:ea typeface="Verdana"/>
                <a:cs typeface="Verdana"/>
                <a:sym typeface="Verdana"/>
              </a:rPr>
              <a:t> (CD) is a type of savings account offered by banks and credit unions that provides a higher interest rate in exchange for the customer agreeing to leave a lump-sum deposit untouched for a predetermined period of time.</a:t>
            </a:r>
            <a:endParaRPr sz="2000" dirty="0">
              <a:latin typeface="Cambria"/>
              <a:ea typeface="Cambria"/>
              <a:cs typeface="Cambria"/>
              <a:sym typeface="Cambria"/>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xmlns="" id="{2AA35BC6-D428-FC41-BDE5-6438AB8840FC}"/>
                  </a:ext>
                </a:extLst>
              </p:cNvPr>
              <p:cNvSpPr txBox="1"/>
              <p:nvPr/>
            </p:nvSpPr>
            <p:spPr>
              <a:xfrm>
                <a:off x="540564" y="410666"/>
                <a:ext cx="10990020" cy="4401205"/>
              </a:xfrm>
              <a:prstGeom prst="rect">
                <a:avLst/>
              </a:prstGeom>
              <a:noFill/>
            </p:spPr>
            <p:txBody>
              <a:bodyPr wrap="square" rtlCol="0">
                <a:spAutoFit/>
              </a:bodyPr>
              <a:lstStyle/>
              <a:p>
                <a:pPr marL="457200" indent="-457200">
                  <a:buFont typeface="+mj-lt"/>
                  <a:buAutoNum type="arabicPeriod" startAt="2"/>
                </a:pPr>
                <a:endParaRPr lang="en-US" sz="2000" dirty="0">
                  <a:latin typeface="Verdana" pitchFamily="34" charset="0"/>
                  <a:ea typeface="Verdana" pitchFamily="34" charset="0"/>
                </a:endParaRPr>
              </a:p>
              <a:p>
                <a:pPr marL="457200" indent="-457200">
                  <a:buFont typeface="+mj-lt"/>
                  <a:buAutoNum type="arabicPeriod" startAt="2"/>
                </a:pPr>
                <a:endParaRPr lang="en-US" sz="2000" dirty="0">
                  <a:latin typeface="Verdana" pitchFamily="34" charset="0"/>
                  <a:ea typeface="Verdana" pitchFamily="34" charset="0"/>
                </a:endParaRPr>
              </a:p>
              <a:p>
                <a:pPr marL="457200" indent="-457200">
                  <a:buFont typeface="+mj-lt"/>
                  <a:buAutoNum type="arabicPeriod" startAt="2"/>
                </a:pPr>
                <a:endParaRPr lang="en-US" sz="2000" dirty="0">
                  <a:latin typeface="Verdana" pitchFamily="34" charset="0"/>
                  <a:ea typeface="Verdana" pitchFamily="34" charset="0"/>
                </a:endParaRPr>
              </a:p>
              <a:p>
                <a:pPr marL="457200" indent="-457200">
                  <a:buFont typeface="+mj-lt"/>
                  <a:buAutoNum type="arabicPeriod" startAt="2"/>
                </a:pPr>
                <a:endParaRPr lang="en-US" sz="2000" dirty="0">
                  <a:latin typeface="Verdana" pitchFamily="34" charset="0"/>
                  <a:ea typeface="Verdana" pitchFamily="34" charset="0"/>
                </a:endParaRPr>
              </a:p>
              <a:p>
                <a:pPr marL="457200" indent="-457200">
                  <a:buFont typeface="+mj-lt"/>
                  <a:buAutoNum type="arabicPeriod" startAt="2"/>
                </a:pPr>
                <a:endParaRPr lang="en-US" sz="2000" dirty="0">
                  <a:latin typeface="Verdana" pitchFamily="34" charset="0"/>
                  <a:ea typeface="Verdana" pitchFamily="34" charset="0"/>
                </a:endParaRPr>
              </a:p>
              <a:p>
                <a:pPr marL="457200" indent="-457200">
                  <a:buFont typeface="+mj-lt"/>
                  <a:buAutoNum type="arabicPeriod" startAt="2"/>
                </a:pPr>
                <a:endParaRPr lang="en-US" sz="2000" dirty="0">
                  <a:latin typeface="Verdana" pitchFamily="34" charset="0"/>
                  <a:ea typeface="Verdana" pitchFamily="34" charset="0"/>
                </a:endParaRPr>
              </a:p>
              <a:p>
                <a:pPr marL="457200" indent="-457200">
                  <a:buFont typeface="+mj-lt"/>
                  <a:buAutoNum type="arabicPeriod" startAt="2"/>
                </a:pPr>
                <a:endParaRPr lang="en-US" sz="2000" dirty="0">
                  <a:latin typeface="Verdana" pitchFamily="34" charset="0"/>
                  <a:ea typeface="Verdana" pitchFamily="34" charset="0"/>
                </a:endParaRPr>
              </a:p>
              <a:p>
                <a:pPr marL="457200" indent="-457200">
                  <a:buFont typeface="+mj-lt"/>
                  <a:buAutoNum type="arabicPeriod" startAt="2"/>
                </a:pPr>
                <a:r>
                  <a:rPr lang="en-US" sz="2000" dirty="0">
                    <a:latin typeface="Verdana" pitchFamily="34" charset="0"/>
                    <a:ea typeface="Verdana" pitchFamily="34" charset="0"/>
                  </a:rPr>
                  <a:t>In 2001, Logan’s parents had </a:t>
                </a:r>
                <a14:m>
                  <m:oMath xmlns:m="http://schemas.openxmlformats.org/officeDocument/2006/math">
                    <m:r>
                      <a:rPr lang="en-US" sz="2000" i="1" dirty="0" smtClean="0">
                        <a:latin typeface="Cambria Math"/>
                        <a:ea typeface="Verdana" pitchFamily="34" charset="0"/>
                      </a:rPr>
                      <m:t>$1,500</m:t>
                    </m:r>
                  </m:oMath>
                </a14:m>
                <a:r>
                  <a:rPr lang="en-US" sz="2000" dirty="0">
                    <a:latin typeface="Verdana" pitchFamily="34" charset="0"/>
                    <a:ea typeface="Verdana" pitchFamily="34" charset="0"/>
                  </a:rPr>
                  <a:t> to invest. They chose a certificate of deposit that offered a </a:t>
                </a:r>
                <a14:m>
                  <m:oMath xmlns:m="http://schemas.openxmlformats.org/officeDocument/2006/math">
                    <m:r>
                      <a:rPr lang="en-US" sz="2000" i="1" dirty="0" smtClean="0">
                        <a:latin typeface="Cambria Math"/>
                        <a:ea typeface="Verdana" pitchFamily="34" charset="0"/>
                      </a:rPr>
                      <m:t>5%</m:t>
                    </m:r>
                  </m:oMath>
                </a14:m>
                <a:r>
                  <a:rPr lang="en-US" sz="2000" dirty="0">
                    <a:latin typeface="Verdana" pitchFamily="34" charset="0"/>
                    <a:ea typeface="Verdana" pitchFamily="34" charset="0"/>
                  </a:rPr>
                  <a:t> annual percentage rate (APR).</a:t>
                </a:r>
              </a:p>
              <a:p>
                <a:pPr marL="457200" indent="-457200">
                  <a:buFont typeface="+mj-lt"/>
                  <a:buAutoNum type="arabicPeriod" startAt="2"/>
                </a:pPr>
                <a:endParaRPr lang="en-US" sz="2000" dirty="0">
                  <a:latin typeface="Verdana" pitchFamily="34" charset="0"/>
                  <a:ea typeface="Verdana" pitchFamily="34" charset="0"/>
                </a:endParaRPr>
              </a:p>
              <a:p>
                <a:pPr marL="914400" indent="-457200">
                  <a:buFont typeface="+mj-lt"/>
                  <a:buAutoNum type="alphaLcPeriod"/>
                </a:pPr>
                <a:r>
                  <a:rPr lang="en-US" sz="2000" dirty="0">
                    <a:latin typeface="Verdana" pitchFamily="34" charset="0"/>
                    <a:ea typeface="Verdana" pitchFamily="34" charset="0"/>
                  </a:rPr>
                  <a:t>Work with your partner to write an equation that models his parents’ deposit using the formula </a:t>
                </a:r>
                <a14:m>
                  <m:oMath xmlns:m="http://schemas.openxmlformats.org/officeDocument/2006/math">
                    <m:r>
                      <a:rPr lang="en-US" sz="2000" i="1" dirty="0" smtClean="0">
                        <a:latin typeface="Cambria Math"/>
                        <a:ea typeface="Verdana" pitchFamily="34" charset="0"/>
                      </a:rPr>
                      <m:t>𝐴</m:t>
                    </m:r>
                    <m:r>
                      <a:rPr lang="en-US" sz="2000" i="1" dirty="0" smtClean="0">
                        <a:latin typeface="Cambria Math"/>
                        <a:ea typeface="Verdana" pitchFamily="34" charset="0"/>
                      </a:rPr>
                      <m:t>=</m:t>
                    </m:r>
                    <m:r>
                      <a:rPr lang="en-US" sz="2000" i="1" dirty="0" smtClean="0">
                        <a:latin typeface="Cambria Math"/>
                        <a:ea typeface="Verdana" pitchFamily="34" charset="0"/>
                      </a:rPr>
                      <m:t>𝑃</m:t>
                    </m:r>
                    <m:r>
                      <a:rPr lang="en-US" sz="2000" i="1" dirty="0">
                        <a:latin typeface="Cambria Math"/>
                        <a:ea typeface="Verdana" pitchFamily="34" charset="0"/>
                      </a:rPr>
                      <m:t>(1 + </m:t>
                    </m:r>
                    <m:r>
                      <a:rPr lang="en-US" sz="2000" i="1" dirty="0" smtClean="0">
                        <a:latin typeface="Cambria Math"/>
                        <a:ea typeface="Verdana" pitchFamily="34" charset="0"/>
                      </a:rPr>
                      <m:t>𝑟</m:t>
                    </m:r>
                    <m:r>
                      <m:rPr>
                        <m:sty m:val="p"/>
                      </m:rPr>
                      <a:rPr lang="en-US" sz="2000" i="1" dirty="0" smtClean="0">
                        <a:latin typeface="Cambria Math"/>
                        <a:ea typeface="Verdana" pitchFamily="34" charset="0"/>
                      </a:rPr>
                      <m:t>t</m:t>
                    </m:r>
                    <m:r>
                      <a:rPr lang="en-US" sz="2000" i="1" dirty="0" smtClean="0">
                        <a:latin typeface="Cambria Math"/>
                        <a:ea typeface="Verdana" pitchFamily="34" charset="0"/>
                      </a:rPr>
                      <m:t>)</m:t>
                    </m:r>
                  </m:oMath>
                </a14:m>
                <a:r>
                  <a:rPr lang="en-US" sz="2000" dirty="0">
                    <a:latin typeface="Verdana" pitchFamily="34" charset="0"/>
                    <a:ea typeface="Verdana" pitchFamily="34" charset="0"/>
                  </a:rPr>
                  <a:t>, where </a:t>
                </a:r>
                <a14:m>
                  <m:oMath xmlns:m="http://schemas.openxmlformats.org/officeDocument/2006/math">
                    <m:r>
                      <a:rPr lang="en-US" sz="2000" i="1" dirty="0" smtClean="0">
                        <a:latin typeface="Cambria Math"/>
                        <a:ea typeface="Verdana" pitchFamily="34" charset="0"/>
                      </a:rPr>
                      <m:t>𝐴</m:t>
                    </m:r>
                    <m:r>
                      <a:rPr lang="en-US" sz="2000" i="1" dirty="0" smtClean="0">
                        <a:latin typeface="Cambria Math"/>
                        <a:ea typeface="Verdana" pitchFamily="34" charset="0"/>
                      </a:rPr>
                      <m:t>=</m:t>
                    </m:r>
                  </m:oMath>
                </a14:m>
                <a:r>
                  <a:rPr lang="en-US" sz="2000" dirty="0">
                    <a:latin typeface="Verdana" pitchFamily="34" charset="0"/>
                    <a:ea typeface="Verdana" pitchFamily="34" charset="0"/>
                  </a:rPr>
                  <a:t> final amount, </a:t>
                </a:r>
                <a14:m>
                  <m:oMath xmlns:m="http://schemas.openxmlformats.org/officeDocument/2006/math">
                    <m:r>
                      <a:rPr lang="en-US" sz="2000" i="1" dirty="0" smtClean="0">
                        <a:latin typeface="Cambria Math"/>
                        <a:ea typeface="Verdana" pitchFamily="34" charset="0"/>
                      </a:rPr>
                      <m:t>𝑃</m:t>
                    </m:r>
                    <m:r>
                      <a:rPr lang="en-US" sz="2000" i="1" dirty="0" smtClean="0">
                        <a:latin typeface="Cambria Math"/>
                        <a:ea typeface="Verdana" pitchFamily="34" charset="0"/>
                      </a:rPr>
                      <m:t>=</m:t>
                    </m:r>
                  </m:oMath>
                </a14:m>
                <a:r>
                  <a:rPr lang="en-US" sz="2000" dirty="0">
                    <a:latin typeface="Verdana" pitchFamily="34" charset="0"/>
                    <a:ea typeface="Verdana" pitchFamily="34" charset="0"/>
                  </a:rPr>
                  <a:t> principal or original amount, </a:t>
                </a:r>
                <a14:m>
                  <m:oMath xmlns:m="http://schemas.openxmlformats.org/officeDocument/2006/math">
                    <m:r>
                      <a:rPr lang="en-US" sz="2000" i="1" dirty="0" smtClean="0">
                        <a:latin typeface="Cambria Math"/>
                        <a:ea typeface="Verdana" pitchFamily="34" charset="0"/>
                      </a:rPr>
                      <m:t>𝑡</m:t>
                    </m:r>
                    <m:r>
                      <a:rPr lang="en-US" sz="2000" i="1" dirty="0" smtClean="0">
                        <a:latin typeface="Cambria Math"/>
                        <a:ea typeface="Verdana" pitchFamily="34" charset="0"/>
                      </a:rPr>
                      <m:t>=</m:t>
                    </m:r>
                  </m:oMath>
                </a14:m>
                <a:r>
                  <a:rPr lang="en-US" sz="2000" dirty="0">
                    <a:latin typeface="Verdana" pitchFamily="34" charset="0"/>
                    <a:ea typeface="Verdana" pitchFamily="34" charset="0"/>
                  </a:rPr>
                  <a:t> number of years, and </a:t>
                </a:r>
                <a14:m>
                  <m:oMath xmlns:m="http://schemas.openxmlformats.org/officeDocument/2006/math">
                    <m:r>
                      <a:rPr lang="en-US" sz="2000" i="1" dirty="0" smtClean="0">
                        <a:latin typeface="Cambria Math"/>
                        <a:ea typeface="Verdana" pitchFamily="34" charset="0"/>
                      </a:rPr>
                      <m:t>𝑟</m:t>
                    </m:r>
                    <m:r>
                      <a:rPr lang="en-US" sz="2000" i="1" dirty="0" smtClean="0">
                        <a:latin typeface="Cambria Math"/>
                        <a:ea typeface="Verdana" pitchFamily="34" charset="0"/>
                      </a:rPr>
                      <m:t>=</m:t>
                    </m:r>
                  </m:oMath>
                </a14:m>
                <a:r>
                  <a:rPr lang="en-US" sz="2000" dirty="0">
                    <a:latin typeface="Verdana" pitchFamily="34" charset="0"/>
                    <a:ea typeface="Verdana" pitchFamily="34" charset="0"/>
                  </a:rPr>
                  <a:t> rate of interest per year. </a:t>
                </a:r>
              </a:p>
              <a:p>
                <a:endParaRPr lang="en-US" sz="2000" dirty="0">
                  <a:latin typeface="Verdana" pitchFamily="34" charset="0"/>
                  <a:ea typeface="Verdana" pitchFamily="34" charset="0"/>
                </a:endParaRPr>
              </a:p>
            </p:txBody>
          </p:sp>
        </mc:Choice>
        <mc:Fallback xmlns="">
          <p:sp>
            <p:nvSpPr>
              <p:cNvPr id="7" name="TextBox 6">
                <a:extLst>
                  <a:ext uri="{FF2B5EF4-FFF2-40B4-BE49-F238E27FC236}">
                    <a16:creationId xmlns:a14="http://schemas.microsoft.com/office/drawing/2010/main" xmlns:a16="http://schemas.microsoft.com/office/drawing/2014/main" xmlns="" id="{2AA35BC6-D428-FC41-BDE5-6438AB8840FC}"/>
                  </a:ext>
                </a:extLst>
              </p:cNvPr>
              <p:cNvSpPr txBox="1">
                <a:spLocks noRot="1" noChangeAspect="1" noMove="1" noResize="1" noEditPoints="1" noAdjustHandles="1" noChangeArrowheads="1" noChangeShapeType="1" noTextEdit="1"/>
              </p:cNvSpPr>
              <p:nvPr/>
            </p:nvSpPr>
            <p:spPr>
              <a:xfrm>
                <a:off x="540564" y="410666"/>
                <a:ext cx="10990020" cy="4401205"/>
              </a:xfrm>
              <a:prstGeom prst="rect">
                <a:avLst/>
              </a:prstGeom>
              <a:blipFill rotWithShape="1">
                <a:blip r:embed="rId4"/>
                <a:stretch>
                  <a:fillRect l="-610" r="-1220"/>
                </a:stretch>
              </a:blipFill>
            </p:spPr>
            <p:txBody>
              <a:bodyPr/>
              <a:lstStyle/>
              <a:p>
                <a:r>
                  <a:rPr 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13"/>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61" name="Google Shape;261;p1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pic>
        <p:nvPicPr>
          <p:cNvPr id="263" name="Google Shape;263;p13"/>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6973538" y="410666"/>
            <a:ext cx="4557574" cy="4557574"/>
          </a:xfrm>
          <a:prstGeom prst="rect">
            <a:avLst/>
          </a:prstGeom>
          <a:noFill/>
          <a:ln>
            <a:noFill/>
          </a:ln>
        </p:spPr>
      </p:pic>
      <p:sp>
        <p:nvSpPr>
          <p:cNvPr id="265" name="Google Shape;265;p13"/>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238</a:t>
            </a:r>
            <a:endParaRPr i="1">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2AA35BC6-D428-FC41-BDE5-6438AB8840FC}"/>
                  </a:ext>
                </a:extLst>
              </p:cNvPr>
              <p:cNvSpPr txBox="1"/>
              <p:nvPr/>
            </p:nvSpPr>
            <p:spPr>
              <a:xfrm>
                <a:off x="540564" y="410666"/>
                <a:ext cx="6286956" cy="1631216"/>
              </a:xfrm>
              <a:prstGeom prst="rect">
                <a:avLst/>
              </a:prstGeom>
              <a:noFill/>
            </p:spPr>
            <p:txBody>
              <a:bodyPr wrap="square" rtlCol="0">
                <a:spAutoFit/>
              </a:bodyPr>
              <a:lstStyle/>
              <a:p>
                <a:pPr marL="914400" indent="-457200">
                  <a:buFont typeface="+mj-lt"/>
                  <a:buAutoNum type="alphaLcPeriod" startAt="2"/>
                </a:pPr>
                <a:r>
                  <a:rPr lang="en-US" sz="2000" dirty="0">
                    <a:latin typeface="Verdana" pitchFamily="34" charset="0"/>
                    <a:ea typeface="Verdana" pitchFamily="34" charset="0"/>
                  </a:rPr>
                  <a:t>The graph shows the equation modeling Logan’s parents’ investment and the point </a:t>
                </a:r>
                <a14:m>
                  <m:oMath xmlns:m="http://schemas.openxmlformats.org/officeDocument/2006/math">
                    <m:r>
                      <a:rPr lang="en-US" sz="2000" i="1" dirty="0" smtClean="0">
                        <a:latin typeface="Cambria Math"/>
                        <a:ea typeface="Verdana" pitchFamily="34" charset="0"/>
                      </a:rPr>
                      <m:t>(2,1650</m:t>
                    </m:r>
                    <m:r>
                      <a:rPr lang="en-US" sz="2000" i="1" dirty="0">
                        <a:latin typeface="Cambria Math"/>
                        <a:ea typeface="Verdana" pitchFamily="34" charset="0"/>
                      </a:rPr>
                      <m:t>)</m:t>
                    </m:r>
                  </m:oMath>
                </a14:m>
                <a:r>
                  <a:rPr lang="en-US" sz="2000" dirty="0">
                    <a:latin typeface="Verdana" pitchFamily="34" charset="0"/>
                    <a:ea typeface="Verdana" pitchFamily="34" charset="0"/>
                  </a:rPr>
                  <a:t>.</a:t>
                </a:r>
              </a:p>
              <a:p>
                <a:pPr marL="914400"/>
                <a:endParaRPr lang="en-US" sz="2000" dirty="0">
                  <a:latin typeface="Verdana" pitchFamily="34" charset="0"/>
                  <a:ea typeface="Verdana" pitchFamily="34" charset="0"/>
                </a:endParaRPr>
              </a:p>
              <a:p>
                <a:pPr marL="914400"/>
                <a:r>
                  <a:rPr lang="en-US" sz="2000" dirty="0">
                    <a:latin typeface="Verdana" pitchFamily="34" charset="0"/>
                    <a:ea typeface="Verdana" pitchFamily="34" charset="0"/>
                  </a:rPr>
                  <a:t>What does the point </a:t>
                </a:r>
                <a14:m>
                  <m:oMath xmlns:m="http://schemas.openxmlformats.org/officeDocument/2006/math">
                    <m:r>
                      <a:rPr lang="en-US" sz="2000" i="1" dirty="0" smtClean="0">
                        <a:latin typeface="Cambria Math"/>
                        <a:ea typeface="Verdana" pitchFamily="34" charset="0"/>
                      </a:rPr>
                      <m:t>(2,1650</m:t>
                    </m:r>
                    <m:r>
                      <a:rPr lang="en-US" sz="2000" i="1" dirty="0">
                        <a:latin typeface="Cambria Math"/>
                        <a:ea typeface="Verdana" pitchFamily="34" charset="0"/>
                      </a:rPr>
                      <m:t>)</m:t>
                    </m:r>
                  </m:oMath>
                </a14:m>
                <a:r>
                  <a:rPr lang="en-US" sz="2000" dirty="0">
                    <a:latin typeface="Verdana" pitchFamily="34" charset="0"/>
                    <a:ea typeface="Verdana" pitchFamily="34" charset="0"/>
                  </a:rPr>
                  <a:t> represent?</a:t>
                </a:r>
              </a:p>
            </p:txBody>
          </p:sp>
        </mc:Choice>
        <mc:Fallback xmlns="">
          <p:sp>
            <p:nvSpPr>
              <p:cNvPr id="8" name="TextBox 7">
                <a:extLst>
                  <a:ext uri="{FF2B5EF4-FFF2-40B4-BE49-F238E27FC236}">
                    <a16:creationId xmlns:a14="http://schemas.microsoft.com/office/drawing/2010/main" xmlns:a16="http://schemas.microsoft.com/office/drawing/2014/main" xmlns="" id="{2AA35BC6-D428-FC41-BDE5-6438AB8840FC}"/>
                  </a:ext>
                </a:extLst>
              </p:cNvPr>
              <p:cNvSpPr txBox="1">
                <a:spLocks noRot="1" noChangeAspect="1" noMove="1" noResize="1" noEditPoints="1" noAdjustHandles="1" noChangeArrowheads="1" noChangeShapeType="1" noTextEdit="1"/>
              </p:cNvSpPr>
              <p:nvPr/>
            </p:nvSpPr>
            <p:spPr>
              <a:xfrm>
                <a:off x="540564" y="410666"/>
                <a:ext cx="6286956" cy="1631216"/>
              </a:xfrm>
              <a:prstGeom prst="rect">
                <a:avLst/>
              </a:prstGeom>
              <a:blipFill rotWithShape="1">
                <a:blip r:embed="rId5"/>
                <a:stretch>
                  <a:fillRect t="-2239" r="-1358" b="-5597"/>
                </a:stretch>
              </a:blipFill>
            </p:spPr>
            <p:txBody>
              <a:bodyPr/>
              <a:lstStyle/>
              <a:p>
                <a:r>
                  <a:rPr 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4"/>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72" name="Google Shape;272;p1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74" name="Google Shape;274;p14"/>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238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xmlns="" id="{2AA35BC6-D428-FC41-BDE5-6438AB8840FC}"/>
                  </a:ext>
                </a:extLst>
              </p:cNvPr>
              <p:cNvSpPr txBox="1"/>
              <p:nvPr/>
            </p:nvSpPr>
            <p:spPr>
              <a:xfrm>
                <a:off x="540564" y="410666"/>
                <a:ext cx="10990020" cy="4401205"/>
              </a:xfrm>
              <a:prstGeom prst="rect">
                <a:avLst/>
              </a:prstGeom>
              <a:noFill/>
            </p:spPr>
            <p:txBody>
              <a:bodyPr wrap="square" rtlCol="0">
                <a:spAutoFit/>
              </a:bodyPr>
              <a:lstStyle/>
              <a:p>
                <a:r>
                  <a:rPr lang="en-US" sz="2000" dirty="0">
                    <a:latin typeface="Verdana"/>
                    <a:ea typeface="Verdana"/>
                    <a:cs typeface="Verdana"/>
                    <a:sym typeface="Verdana"/>
                  </a:rPr>
                  <a:t>The time frames for certificates of deposit are often given in months.</a:t>
                </a:r>
                <a:endParaRPr lang="en-US" sz="2000" dirty="0"/>
              </a:p>
              <a:p>
                <a:endParaRPr lang="en-US" sz="2000" dirty="0">
                  <a:latin typeface="Verdana"/>
                  <a:ea typeface="Verdana"/>
                  <a:cs typeface="Verdana"/>
                  <a:sym typeface="Verdana"/>
                </a:endParaRPr>
              </a:p>
              <a:p>
                <a:pPr marL="922337" indent="-457200">
                  <a:buFont typeface="+mj-lt"/>
                  <a:buAutoNum type="alphaLcPeriod" startAt="3"/>
                </a:pPr>
                <a:r>
                  <a:rPr lang="en-US" sz="2000" dirty="0">
                    <a:latin typeface="Verdana"/>
                    <a:ea typeface="Verdana"/>
                    <a:cs typeface="Verdana"/>
                    <a:sym typeface="Verdana"/>
                  </a:rPr>
                  <a:t>Discuss with your partner if an 18-month CD would have earned less or more money than the point </a:t>
                </a:r>
                <a14:m>
                  <m:oMath xmlns:m="http://schemas.openxmlformats.org/officeDocument/2006/math">
                    <m:r>
                      <a:rPr lang="en-US" sz="2000" i="1" dirty="0" smtClean="0">
                        <a:latin typeface="Cambria Math"/>
                        <a:ea typeface="Verdana"/>
                        <a:cs typeface="Verdana"/>
                        <a:sym typeface="Verdana"/>
                      </a:rPr>
                      <m:t>(2,1650)</m:t>
                    </m:r>
                  </m:oMath>
                </a14:m>
                <a:r>
                  <a:rPr lang="en-US" sz="2000" dirty="0">
                    <a:latin typeface="Verdana"/>
                    <a:ea typeface="Verdana"/>
                    <a:cs typeface="Verdana"/>
                    <a:sym typeface="Verdana"/>
                  </a:rPr>
                  <a:t> for Logan’s parents. Explain how you determined your answer.</a:t>
                </a:r>
              </a:p>
              <a:p>
                <a:pPr marL="922337" indent="-457200">
                  <a:buFont typeface="+mj-lt"/>
                  <a:buAutoNum type="alphaLcPeriod" startAt="3"/>
                </a:pPr>
                <a:endParaRPr lang="en-US" sz="2000" dirty="0">
                  <a:latin typeface="Verdana"/>
                  <a:ea typeface="Verdana"/>
                  <a:cs typeface="Verdana"/>
                  <a:sym typeface="Verdana"/>
                </a:endParaRPr>
              </a:p>
              <a:p>
                <a:pPr marL="922337" indent="-457200">
                  <a:buFont typeface="+mj-lt"/>
                  <a:buAutoNum type="alphaLcPeriod" startAt="3"/>
                </a:pPr>
                <a:endParaRPr lang="en-US" sz="2000" dirty="0">
                  <a:latin typeface="Verdana"/>
                  <a:ea typeface="Verdana"/>
                  <a:cs typeface="Verdana"/>
                  <a:sym typeface="Verdana"/>
                </a:endParaRPr>
              </a:p>
              <a:p>
                <a:pPr marL="922337" indent="-457200">
                  <a:buFont typeface="+mj-lt"/>
                  <a:buAutoNum type="alphaLcPeriod" startAt="3"/>
                </a:pPr>
                <a:endParaRPr lang="en-US" sz="2000" dirty="0">
                  <a:latin typeface="Verdana"/>
                  <a:ea typeface="Verdana"/>
                  <a:cs typeface="Verdana"/>
                  <a:sym typeface="Verdana"/>
                </a:endParaRPr>
              </a:p>
              <a:p>
                <a:pPr marL="922337" indent="-457200">
                  <a:buFont typeface="+mj-lt"/>
                  <a:buAutoNum type="alphaLcPeriod" startAt="3"/>
                </a:pPr>
                <a:endParaRPr lang="en-US" sz="2000" dirty="0">
                  <a:latin typeface="Verdana"/>
                  <a:ea typeface="Verdana"/>
                  <a:cs typeface="Verdana"/>
                  <a:sym typeface="Verdana"/>
                </a:endParaRPr>
              </a:p>
              <a:p>
                <a:pPr marL="922337" indent="-457200">
                  <a:buFont typeface="+mj-lt"/>
                  <a:buAutoNum type="alphaLcPeriod" startAt="3"/>
                </a:pPr>
                <a:endParaRPr lang="en-US" sz="2000" dirty="0">
                  <a:latin typeface="Verdana"/>
                  <a:ea typeface="Verdana"/>
                  <a:cs typeface="Verdana"/>
                  <a:sym typeface="Verdana"/>
                </a:endParaRPr>
              </a:p>
              <a:p>
                <a:pPr marL="922337" indent="-457200">
                  <a:buFont typeface="+mj-lt"/>
                  <a:buAutoNum type="alphaLcPeriod" startAt="3"/>
                </a:pPr>
                <a:endParaRPr lang="en-US" sz="2000" dirty="0">
                  <a:latin typeface="Verdana"/>
                  <a:ea typeface="Verdana"/>
                  <a:cs typeface="Verdana"/>
                  <a:sym typeface="Verdana"/>
                </a:endParaRPr>
              </a:p>
              <a:p>
                <a:pPr marL="922337" indent="-457200">
                  <a:buFont typeface="+mj-lt"/>
                  <a:buAutoNum type="alphaLcPeriod" startAt="3"/>
                </a:pPr>
                <a:r>
                  <a:rPr lang="en-US" sz="2000" dirty="0">
                    <a:latin typeface="Verdana"/>
                    <a:ea typeface="Verdana"/>
                    <a:cs typeface="Verdana"/>
                    <a:sym typeface="Verdana"/>
                  </a:rPr>
                  <a:t>For what length of time, in months, would his parents need a CD if their goal was to have </a:t>
                </a:r>
                <a14:m>
                  <m:oMath xmlns:m="http://schemas.openxmlformats.org/officeDocument/2006/math">
                    <m:r>
                      <a:rPr lang="en-US" sz="2000" i="1" dirty="0" smtClean="0">
                        <a:latin typeface="Cambria Math"/>
                        <a:ea typeface="Verdana"/>
                        <a:cs typeface="Verdana"/>
                        <a:sym typeface="Verdana"/>
                      </a:rPr>
                      <m:t>$1,750</m:t>
                    </m:r>
                  </m:oMath>
                </a14:m>
                <a:r>
                  <a:rPr lang="en-US" sz="2000" dirty="0">
                    <a:latin typeface="Verdana"/>
                    <a:ea typeface="Verdana"/>
                    <a:cs typeface="Verdana"/>
                    <a:sym typeface="Verdana"/>
                  </a:rPr>
                  <a:t>?</a:t>
                </a:r>
                <a:endParaRPr lang="en-US" sz="2000" dirty="0"/>
              </a:p>
              <a:p>
                <a:endParaRPr lang="en-US" sz="2000" dirty="0">
                  <a:latin typeface="Verdana"/>
                  <a:ea typeface="Verdana"/>
                  <a:cs typeface="Verdana"/>
                  <a:sym typeface="Verdana"/>
                </a:endParaRPr>
              </a:p>
            </p:txBody>
          </p:sp>
        </mc:Choice>
        <mc:Fallback xmlns="">
          <p:sp>
            <p:nvSpPr>
              <p:cNvPr id="6" name="TextBox 5">
                <a:extLst>
                  <a:ext uri="{FF2B5EF4-FFF2-40B4-BE49-F238E27FC236}">
                    <a16:creationId xmlns:a14="http://schemas.microsoft.com/office/drawing/2010/main" xmlns:a16="http://schemas.microsoft.com/office/drawing/2014/main" xmlns="" id="{2AA35BC6-D428-FC41-BDE5-6438AB8840FC}"/>
                  </a:ext>
                </a:extLst>
              </p:cNvPr>
              <p:cNvSpPr txBox="1">
                <a:spLocks noRot="1" noChangeAspect="1" noMove="1" noResize="1" noEditPoints="1" noAdjustHandles="1" noChangeArrowheads="1" noChangeShapeType="1" noTextEdit="1"/>
              </p:cNvSpPr>
              <p:nvPr/>
            </p:nvSpPr>
            <p:spPr>
              <a:xfrm>
                <a:off x="540564" y="410666"/>
                <a:ext cx="10990020" cy="4401205"/>
              </a:xfrm>
              <a:prstGeom prst="rect">
                <a:avLst/>
              </a:prstGeom>
              <a:blipFill rotWithShape="1">
                <a:blip r:embed="rId4"/>
                <a:stretch>
                  <a:fillRect l="-610" t="-693" r="-998"/>
                </a:stretch>
              </a:blipFill>
            </p:spPr>
            <p:txBody>
              <a:bodyPr/>
              <a:lstStyle/>
              <a:p>
                <a:r>
                  <a:rPr 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15"/>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81" name="Google Shape;281;p1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graphicFrame>
        <p:nvGraphicFramePr>
          <p:cNvPr id="283" name="Google Shape;283;p15"/>
          <p:cNvGraphicFramePr/>
          <p:nvPr>
            <p:extLst>
              <p:ext uri="{D42A27DB-BD31-4B8C-83A1-F6EECF244321}">
                <p14:modId xmlns:p14="http://schemas.microsoft.com/office/powerpoint/2010/main" val="4023776611"/>
              </p:ext>
            </p:extLst>
          </p:nvPr>
        </p:nvGraphicFramePr>
        <p:xfrm>
          <a:off x="1588770" y="1097581"/>
          <a:ext cx="6758950" cy="3200400"/>
        </p:xfrm>
        <a:graphic>
          <a:graphicData uri="http://schemas.openxmlformats.org/drawingml/2006/table">
            <a:tbl>
              <a:tblPr>
                <a:noFill/>
                <a:tableStyleId>{3E41C344-CBF3-4575-BA49-7F9FACBC11FE}</a:tableStyleId>
              </a:tblPr>
              <a:tblGrid>
                <a:gridCol w="3044300">
                  <a:extLst>
                    <a:ext uri="{9D8B030D-6E8A-4147-A177-3AD203B41FA5}">
                      <a16:colId xmlns:a16="http://schemas.microsoft.com/office/drawing/2014/main" xmlns="" val="20000"/>
                    </a:ext>
                  </a:extLst>
                </a:gridCol>
                <a:gridCol w="3714650">
                  <a:extLst>
                    <a:ext uri="{9D8B030D-6E8A-4147-A177-3AD203B41FA5}">
                      <a16:colId xmlns:a16="http://schemas.microsoft.com/office/drawing/2014/main" xmlns="" val="20001"/>
                    </a:ext>
                  </a:extLst>
                </a:gridCol>
              </a:tblGrid>
              <a:tr h="457200">
                <a:tc>
                  <a:txBody>
                    <a:bodyPr/>
                    <a:lstStyle/>
                    <a:p>
                      <a:pPr marL="0" marR="0" lvl="0" indent="0" algn="ctr" rtl="0">
                        <a:lnSpc>
                          <a:spcPct val="100000"/>
                        </a:lnSpc>
                        <a:spcBef>
                          <a:spcPts val="0"/>
                        </a:spcBef>
                        <a:spcAft>
                          <a:spcPts val="0"/>
                        </a:spcAft>
                        <a:buNone/>
                      </a:pPr>
                      <a:r>
                        <a:rPr lang="en-US" sz="2000" b="1" u="none" strike="noStrike" cap="none" dirty="0">
                          <a:latin typeface="Verdana" pitchFamily="34" charset="0"/>
                          <a:ea typeface="Verdana" pitchFamily="34" charset="0"/>
                          <a:cs typeface="Verdana"/>
                          <a:sym typeface="Verdana"/>
                        </a:rPr>
                        <a:t>Key Feature</a:t>
                      </a:r>
                      <a:endParaRPr sz="2000" u="none" strike="noStrike" cap="none" dirty="0">
                        <a:latin typeface="Verdana" pitchFamily="34" charset="0"/>
                        <a:ea typeface="Verdana" pitchFamily="34" charset="0"/>
                        <a:cs typeface="Verdana"/>
                        <a:sym typeface="Verdana"/>
                      </a:endParaRPr>
                    </a:p>
                  </a:txBody>
                  <a:tcPr marL="68575" marR="6857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Description</a:t>
                      </a:r>
                      <a:endParaRPr sz="2000" u="none" strike="noStrike" cap="none" dirty="0">
                        <a:latin typeface="Verdana" pitchFamily="34" charset="0"/>
                        <a:ea typeface="Verdana" pitchFamily="34" charset="0"/>
                        <a:cs typeface="Verdana"/>
                        <a:sym typeface="Verdana"/>
                      </a:endParaRPr>
                    </a:p>
                  </a:txBody>
                  <a:tcPr marL="68575" marR="6857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1371600">
                <a:tc>
                  <a:txBody>
                    <a:bodyPr/>
                    <a:lstStyle/>
                    <a:p>
                      <a:pPr marL="0" marR="0" lvl="0" indent="0" algn="ctr" rtl="0">
                        <a:lnSpc>
                          <a:spcPct val="100000"/>
                        </a:lnSpc>
                        <a:spcBef>
                          <a:spcPts val="0"/>
                        </a:spcBef>
                        <a:spcAft>
                          <a:spcPts val="0"/>
                        </a:spcAft>
                        <a:buNone/>
                      </a:pPr>
                      <a:r>
                        <a:rPr lang="en-US" sz="2000" u="none" strike="noStrike" cap="none" dirty="0">
                          <a:latin typeface="Verdana" pitchFamily="34" charset="0"/>
                          <a:ea typeface="Verdana" pitchFamily="34" charset="0"/>
                          <a:cs typeface="Verdana"/>
                          <a:sym typeface="Verdana"/>
                        </a:rPr>
                        <a:t>End Behavior</a:t>
                      </a:r>
                      <a:endParaRPr dirty="0">
                        <a:latin typeface="Verdana" pitchFamily="34" charset="0"/>
                        <a:ea typeface="Verdana" pitchFamily="34" charset="0"/>
                      </a:endParaRPr>
                    </a:p>
                  </a:txBody>
                  <a:tcPr marL="68575" marR="6857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None/>
                      </a:pPr>
                      <a:r>
                        <a:rPr lang="en-US" sz="2000" dirty="0">
                          <a:latin typeface="Verdana" pitchFamily="34" charset="0"/>
                          <a:ea typeface="Verdana" pitchFamily="34" charset="0"/>
                        </a:rPr>
                        <a:t>As 𝒙→∞, 𝒚→______</a:t>
                      </a:r>
                      <a:endParaRPr sz="2000" u="none" strike="noStrike" cap="none" dirty="0">
                        <a:latin typeface="Verdana" pitchFamily="34" charset="0"/>
                        <a:ea typeface="Verdana" pitchFamily="34" charset="0"/>
                      </a:endParaRPr>
                    </a:p>
                  </a:txBody>
                  <a:tcPr marL="68575" marR="6857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1371600">
                <a:tc>
                  <a:txBody>
                    <a:bodyPr/>
                    <a:lstStyle/>
                    <a:p>
                      <a:pPr marL="0" marR="0" lvl="0" indent="0" algn="ctr" rtl="0">
                        <a:lnSpc>
                          <a:spcPct val="100000"/>
                        </a:lnSpc>
                        <a:spcBef>
                          <a:spcPts val="0"/>
                        </a:spcBef>
                        <a:spcAft>
                          <a:spcPts val="0"/>
                        </a:spcAft>
                        <a:buNone/>
                      </a:pPr>
                      <a:r>
                        <a:rPr lang="en-US" sz="2000" u="none" strike="noStrike" cap="none">
                          <a:latin typeface="Verdana" pitchFamily="34" charset="0"/>
                          <a:ea typeface="Verdana" pitchFamily="34" charset="0"/>
                          <a:cs typeface="Verdana"/>
                          <a:sym typeface="Verdana"/>
                        </a:rPr>
                        <a:t>Increasing/Decreasing</a:t>
                      </a:r>
                      <a:endParaRPr>
                        <a:latin typeface="Verdana" pitchFamily="34" charset="0"/>
                        <a:ea typeface="Verdana" pitchFamily="34" charset="0"/>
                      </a:endParaRPr>
                    </a:p>
                  </a:txBody>
                  <a:tcPr marL="68575" marR="6857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lvl="0" indent="0" algn="ctr" rtl="0">
                        <a:spcBef>
                          <a:spcPts val="0"/>
                        </a:spcBef>
                        <a:spcAft>
                          <a:spcPts val="0"/>
                        </a:spcAft>
                        <a:buClr>
                          <a:schemeClr val="dk1"/>
                        </a:buClr>
                        <a:buFont typeface="Arial"/>
                        <a:buNone/>
                      </a:pPr>
                      <a:r>
                        <a:rPr lang="en-US" sz="2000" dirty="0">
                          <a:solidFill>
                            <a:schemeClr val="dk1"/>
                          </a:solidFill>
                          <a:latin typeface="Verdana" pitchFamily="34" charset="0"/>
                          <a:ea typeface="Verdana" pitchFamily="34" charset="0"/>
                        </a:rPr>
                        <a:t>As 𝒙 increases, 𝒚→______</a:t>
                      </a:r>
                      <a:endParaRPr sz="1400" u="none" strike="noStrike" cap="none" dirty="0">
                        <a:latin typeface="Verdana" pitchFamily="34" charset="0"/>
                        <a:ea typeface="Verdana" pitchFamily="34" charset="0"/>
                      </a:endParaRPr>
                    </a:p>
                  </a:txBody>
                  <a:tcPr marL="68575" marR="68575"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sp>
        <p:nvSpPr>
          <p:cNvPr id="284" name="Google Shape;284;p15"/>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238</a:t>
            </a:r>
            <a:endParaRPr i="1">
              <a:latin typeface="Calibri"/>
              <a:ea typeface="Calibri"/>
              <a:cs typeface="Calibri"/>
              <a:sym typeface="Calibri"/>
            </a:endParaRPr>
          </a:p>
        </p:txBody>
      </p:sp>
      <p:sp>
        <p:nvSpPr>
          <p:cNvPr id="7" name="TextBox 6">
            <a:extLst>
              <a:ext uri="{FF2B5EF4-FFF2-40B4-BE49-F238E27FC236}">
                <a16:creationId xmlns:a16="http://schemas.microsoft.com/office/drawing/2014/main" xmlns="" id="{2AA35BC6-D428-FC41-BDE5-6438AB8840FC}"/>
              </a:ext>
            </a:extLst>
          </p:cNvPr>
          <p:cNvSpPr txBox="1"/>
          <p:nvPr/>
        </p:nvSpPr>
        <p:spPr>
          <a:xfrm>
            <a:off x="540564" y="410666"/>
            <a:ext cx="10990020" cy="400110"/>
          </a:xfrm>
          <a:prstGeom prst="rect">
            <a:avLst/>
          </a:prstGeom>
          <a:noFill/>
        </p:spPr>
        <p:txBody>
          <a:bodyPr wrap="square" rtlCol="0">
            <a:spAutoFit/>
          </a:bodyPr>
          <a:lstStyle/>
          <a:p>
            <a:pPr marL="915988" indent="-457200">
              <a:spcBef>
                <a:spcPts val="1000"/>
              </a:spcBef>
              <a:buFont typeface="+mj-lt"/>
              <a:buAutoNum type="alphaLcPeriod" startAt="5"/>
            </a:pPr>
            <a:r>
              <a:rPr lang="en-US" sz="2000" dirty="0">
                <a:latin typeface="Verdana"/>
                <a:ea typeface="Verdana"/>
                <a:cs typeface="Verdana"/>
                <a:sym typeface="Verdana"/>
              </a:rPr>
              <a:t>Complete the table for simple interest relationships.</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16"/>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291" name="Google Shape;291;p1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293" name="Google Shape;293;p16"/>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239</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xmlns="" id="{2AA35BC6-D428-FC41-BDE5-6438AB8840FC}"/>
              </a:ext>
            </a:extLst>
          </p:cNvPr>
          <p:cNvSpPr txBox="1"/>
          <p:nvPr/>
        </p:nvSpPr>
        <p:spPr>
          <a:xfrm>
            <a:off x="540564" y="410666"/>
            <a:ext cx="10990020" cy="4093428"/>
          </a:xfrm>
          <a:prstGeom prst="rect">
            <a:avLst/>
          </a:prstGeom>
          <a:noFill/>
        </p:spPr>
        <p:txBody>
          <a:bodyPr wrap="square" rtlCol="0">
            <a:spAutoFit/>
          </a:bodyPr>
          <a:lstStyle/>
          <a:p>
            <a:pPr marL="914400" lvl="0" indent="-457200">
              <a:buFont typeface="+mj-lt"/>
              <a:buAutoNum type="alphaLcPeriod" startAt="6"/>
            </a:pPr>
            <a:r>
              <a:rPr lang="en-US" sz="2000" dirty="0">
                <a:latin typeface="Verdana"/>
                <a:ea typeface="Verdana"/>
                <a:cs typeface="Verdana"/>
                <a:sym typeface="Verdana"/>
              </a:rPr>
              <a:t>Discuss with your partner how the key features of end behavior and intervals where the function is increasing/decreasing help to explain the relationship between simple interest and linear growth. Summarize your discussion.</a:t>
            </a:r>
          </a:p>
          <a:p>
            <a:pPr marL="914400" lvl="0" indent="-457200">
              <a:buFont typeface="+mj-lt"/>
              <a:buAutoNum type="alphaLcPeriod" startAt="6"/>
            </a:pPr>
            <a:endParaRPr lang="en-US" sz="2000" dirty="0">
              <a:latin typeface="Verdana"/>
              <a:ea typeface="Verdana"/>
              <a:cs typeface="Verdana"/>
              <a:sym typeface="Verdana"/>
            </a:endParaRPr>
          </a:p>
          <a:p>
            <a:pPr marL="914400" lvl="0" indent="-457200">
              <a:buFont typeface="+mj-lt"/>
              <a:buAutoNum type="alphaLcPeriod" startAt="6"/>
            </a:pPr>
            <a:endParaRPr lang="en-US" sz="2000" dirty="0">
              <a:latin typeface="Verdana"/>
              <a:ea typeface="Verdana"/>
              <a:cs typeface="Verdana"/>
              <a:sym typeface="Verdana"/>
            </a:endParaRPr>
          </a:p>
          <a:p>
            <a:pPr marL="914400" lvl="0" indent="-457200">
              <a:buFont typeface="+mj-lt"/>
              <a:buAutoNum type="alphaLcPeriod" startAt="6"/>
            </a:pPr>
            <a:endParaRPr lang="en-US" sz="2000" dirty="0">
              <a:latin typeface="Verdana"/>
              <a:ea typeface="Verdana"/>
              <a:cs typeface="Verdana"/>
              <a:sym typeface="Verdana"/>
            </a:endParaRPr>
          </a:p>
          <a:p>
            <a:pPr marL="914400" lvl="0" indent="-457200">
              <a:buFont typeface="+mj-lt"/>
              <a:buAutoNum type="alphaLcPeriod" startAt="6"/>
            </a:pPr>
            <a:endParaRPr lang="en-US" sz="2000" dirty="0">
              <a:latin typeface="Verdana"/>
              <a:ea typeface="Verdana"/>
              <a:cs typeface="Verdana"/>
              <a:sym typeface="Verdana"/>
            </a:endParaRPr>
          </a:p>
          <a:p>
            <a:pPr marL="914400" lvl="0" indent="-457200">
              <a:buFont typeface="+mj-lt"/>
              <a:buAutoNum type="alphaLcPeriod" startAt="6"/>
            </a:pPr>
            <a:endParaRPr lang="en-US" sz="2000" dirty="0">
              <a:latin typeface="Verdana"/>
              <a:ea typeface="Verdana"/>
              <a:cs typeface="Verdana"/>
              <a:sym typeface="Verdana"/>
            </a:endParaRPr>
          </a:p>
          <a:p>
            <a:pPr marL="914400" lvl="0" indent="-457200">
              <a:buFont typeface="+mj-lt"/>
              <a:buAutoNum type="alphaLcPeriod" startAt="6"/>
            </a:pPr>
            <a:endParaRPr lang="en-US" sz="2000" dirty="0">
              <a:latin typeface="Verdana"/>
              <a:ea typeface="Verdana"/>
              <a:cs typeface="Verdana"/>
              <a:sym typeface="Verdana"/>
            </a:endParaRPr>
          </a:p>
          <a:p>
            <a:pPr marL="914400" lvl="0" indent="-457200">
              <a:buFont typeface="+mj-lt"/>
              <a:buAutoNum type="alphaLcPeriod" startAt="6"/>
            </a:pPr>
            <a:endParaRPr lang="en-US" sz="2000" dirty="0">
              <a:latin typeface="Verdana"/>
              <a:ea typeface="Verdana"/>
              <a:cs typeface="Verdana"/>
              <a:sym typeface="Verdana"/>
            </a:endParaRPr>
          </a:p>
          <a:p>
            <a:pPr marL="914400" lvl="0" indent="-457200">
              <a:buFont typeface="+mj-lt"/>
              <a:buAutoNum type="alphaLcPeriod" startAt="6"/>
            </a:pPr>
            <a:endParaRPr lang="en-US" sz="2000" dirty="0">
              <a:latin typeface="Verdana"/>
              <a:ea typeface="Verdana"/>
              <a:cs typeface="Verdana"/>
              <a:sym typeface="Verdana"/>
            </a:endParaRPr>
          </a:p>
          <a:p>
            <a:pPr marL="914400" lvl="0" indent="-457200">
              <a:buFont typeface="+mj-lt"/>
              <a:buAutoNum type="alphaLcPeriod" startAt="6"/>
            </a:pPr>
            <a:r>
              <a:rPr lang="en-US" sz="2000" dirty="0">
                <a:latin typeface="Verdana"/>
                <a:ea typeface="Verdana"/>
                <a:cs typeface="Verdana"/>
                <a:sym typeface="Verdana"/>
              </a:rPr>
              <a:t>What other key feature is useful to explain that simple interest is modeled by linear growth?</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17"/>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300" name="Google Shape;300;p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03" name="Google Shape;303;p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239</a:t>
            </a:r>
            <a:endParaRPr i="1">
              <a:latin typeface="Calibri"/>
              <a:ea typeface="Calibri"/>
              <a:cs typeface="Calibri"/>
              <a:sym typeface="Calibri"/>
            </a:endParaRPr>
          </a:p>
        </p:txBody>
      </p:sp>
      <p:sp>
        <p:nvSpPr>
          <p:cNvPr id="7" name="Google Shape;313;g104476d1465_1_39"/>
          <p:cNvSpPr txBox="1">
            <a:spLocks/>
          </p:cNvSpPr>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54B5D1"/>
                </a:solidFill>
                <a:latin typeface="Verdana"/>
                <a:ea typeface="Verdana"/>
                <a:cs typeface="Verdana"/>
                <a:sym typeface="Verdana"/>
              </a:rPr>
              <a:t>Guided Practice</a:t>
            </a:r>
            <a:endParaRPr lang="en-US" sz="5100" b="1" dirty="0">
              <a:solidFill>
                <a:srgbClr val="54B5D1"/>
              </a:solidFill>
              <a:latin typeface="Verdana"/>
              <a:ea typeface="Verdana"/>
              <a:cs typeface="Verdana"/>
              <a:sym typeface="Verdana"/>
            </a:endParaRPr>
          </a:p>
        </p:txBody>
      </p:sp>
      <p:pic>
        <p:nvPicPr>
          <p:cNvPr id="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18"/>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10" name="Google Shape;310;p1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15" name="Google Shape;315;p18"/>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239</a:t>
            </a:r>
            <a:endParaRPr i="1" dirty="0">
              <a:latin typeface="Calibri"/>
              <a:ea typeface="Calibri"/>
              <a:cs typeface="Calibri"/>
              <a:sym typeface="Calibri"/>
            </a:endParaRPr>
          </a:p>
        </p:txBody>
      </p:sp>
      <p:sp>
        <p:nvSpPr>
          <p:cNvPr id="12"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052650" y="80774"/>
            <a:ext cx="10477934"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54B5D1"/>
                </a:solidFill>
                <a:latin typeface="Verdana"/>
                <a:ea typeface="Verdana"/>
                <a:cs typeface="Verdana"/>
                <a:sym typeface="Verdana"/>
              </a:rPr>
              <a:t>13.1.3 Guided Practice: </a:t>
            </a:r>
            <a:br>
              <a:rPr lang="en-US" sz="3600" b="1" dirty="0">
                <a:solidFill>
                  <a:srgbClr val="54B5D1"/>
                </a:solidFill>
                <a:latin typeface="Verdana"/>
                <a:ea typeface="Verdana"/>
                <a:cs typeface="Verdana"/>
                <a:sym typeface="Verdana"/>
              </a:rPr>
            </a:br>
            <a:r>
              <a:rPr lang="en-US" sz="3600" b="1" dirty="0">
                <a:solidFill>
                  <a:srgbClr val="54B5D1"/>
                </a:solidFill>
                <a:latin typeface="Verdana"/>
                <a:ea typeface="Verdana"/>
                <a:cs typeface="Verdana"/>
                <a:sym typeface="Verdana"/>
              </a:rPr>
              <a:t>Calculating Simple Interest</a:t>
            </a:r>
            <a:endParaRPr lang="en-US" sz="3600" dirty="0"/>
          </a:p>
        </p:txBody>
      </p:sp>
      <p:pic>
        <p:nvPicPr>
          <p:cNvPr id="13"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25061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31D40250-DEDD-2C41-8538-3D4DD18CCC4A}"/>
                  </a:ext>
                </a:extLst>
              </p:cNvPr>
              <p:cNvSpPr txBox="1"/>
              <p:nvPr/>
            </p:nvSpPr>
            <p:spPr>
              <a:xfrm>
                <a:off x="609600" y="1386025"/>
                <a:ext cx="10920984" cy="2862322"/>
              </a:xfrm>
              <a:prstGeom prst="rect">
                <a:avLst/>
              </a:prstGeom>
              <a:noFill/>
            </p:spPr>
            <p:txBody>
              <a:bodyPr wrap="square" rtlCol="0">
                <a:spAutoFit/>
              </a:bodyPr>
              <a:lstStyle/>
              <a:p>
                <a:pPr marL="457200" indent="-457200">
                  <a:buFont typeface="+mj-lt"/>
                  <a:buAutoNum type="arabicPeriod"/>
                </a:pPr>
                <a:r>
                  <a:rPr lang="en-US" sz="2000" dirty="0">
                    <a:latin typeface="Verdana" pitchFamily="34" charset="0"/>
                    <a:ea typeface="Verdana" pitchFamily="34" charset="0"/>
                  </a:rPr>
                  <a:t>Randall is a pro fisherman. He bought a new boat for </a:t>
                </a:r>
                <a14:m>
                  <m:oMath xmlns:m="http://schemas.openxmlformats.org/officeDocument/2006/math">
                    <m:r>
                      <a:rPr lang="en-US" sz="2000" i="1" dirty="0" smtClean="0">
                        <a:latin typeface="Cambria Math"/>
                        <a:ea typeface="Verdana" pitchFamily="34" charset="0"/>
                      </a:rPr>
                      <m:t>$77,500</m:t>
                    </m:r>
                  </m:oMath>
                </a14:m>
                <a:r>
                  <a:rPr lang="en-US" sz="2000" dirty="0">
                    <a:latin typeface="Verdana" pitchFamily="34" charset="0"/>
                    <a:ea typeface="Verdana" pitchFamily="34" charset="0"/>
                  </a:rPr>
                  <a:t> using a loan with a simple interest rate of </a:t>
                </a:r>
                <a14:m>
                  <m:oMath xmlns:m="http://schemas.openxmlformats.org/officeDocument/2006/math">
                    <m:r>
                      <a:rPr lang="en-US" sz="2000" i="1" dirty="0" smtClean="0">
                        <a:latin typeface="Cambria Math"/>
                        <a:ea typeface="Verdana" pitchFamily="34" charset="0"/>
                      </a:rPr>
                      <m:t>3.75%</m:t>
                    </m:r>
                  </m:oMath>
                </a14:m>
                <a:r>
                  <a:rPr lang="en-US" sz="2000" dirty="0">
                    <a:latin typeface="Verdana" pitchFamily="34" charset="0"/>
                    <a:ea typeface="Verdana" pitchFamily="34" charset="0"/>
                  </a:rPr>
                  <a:t>.</a:t>
                </a:r>
              </a:p>
              <a:p>
                <a:pPr marL="457200" indent="-457200">
                  <a:buFont typeface="+mj-lt"/>
                  <a:buAutoNum type="arabicPeriod"/>
                </a:pPr>
                <a:endParaRPr lang="en-US" sz="2000" dirty="0">
                  <a:latin typeface="Verdana" pitchFamily="34" charset="0"/>
                  <a:ea typeface="Verdana" pitchFamily="34" charset="0"/>
                </a:endParaRPr>
              </a:p>
              <a:p>
                <a:pPr marL="914400" indent="-457200">
                  <a:buFont typeface="+mj-lt"/>
                  <a:buAutoNum type="alphaLcPeriod"/>
                </a:pPr>
                <a:r>
                  <a:rPr lang="en-US" sz="2000" dirty="0">
                    <a:latin typeface="Verdana" pitchFamily="34" charset="0"/>
                    <a:ea typeface="Verdana" pitchFamily="34" charset="0"/>
                  </a:rPr>
                  <a:t>Write an equation that models Randall’s loan.</a:t>
                </a:r>
              </a:p>
              <a:p>
                <a:pPr marL="914400" indent="-457200">
                  <a:buFont typeface="+mj-lt"/>
                  <a:buAutoNum type="alphaLcPeriod"/>
                </a:pPr>
                <a:endParaRPr lang="en-PH" sz="2000" dirty="0">
                  <a:latin typeface="Verdana" pitchFamily="34" charset="0"/>
                  <a:ea typeface="Verdana" pitchFamily="34" charset="0"/>
                </a:endParaRPr>
              </a:p>
              <a:p>
                <a:pPr marL="914400" indent="-457200">
                  <a:buFont typeface="+mj-lt"/>
                  <a:buAutoNum type="alphaLcPeriod"/>
                </a:pPr>
                <a:endParaRPr lang="en-PH" sz="2000" dirty="0">
                  <a:latin typeface="Verdana" pitchFamily="34" charset="0"/>
                  <a:ea typeface="Verdana" pitchFamily="34" charset="0"/>
                </a:endParaRPr>
              </a:p>
              <a:p>
                <a:pPr marL="914400" indent="-457200">
                  <a:buFont typeface="+mj-lt"/>
                  <a:buAutoNum type="alphaLcPeriod"/>
                </a:pPr>
                <a:endParaRPr lang="en-PH" sz="2000" dirty="0">
                  <a:latin typeface="Verdana" pitchFamily="34" charset="0"/>
                  <a:ea typeface="Verdana" pitchFamily="34" charset="0"/>
                </a:endParaRPr>
              </a:p>
              <a:p>
                <a:pPr marL="914400" indent="-457200">
                  <a:buFont typeface="+mj-lt"/>
                  <a:buAutoNum type="alphaLcPeriod"/>
                </a:pPr>
                <a:endParaRPr lang="en-US" sz="2000" dirty="0">
                  <a:latin typeface="Verdana" pitchFamily="34" charset="0"/>
                  <a:ea typeface="Verdana" pitchFamily="34" charset="0"/>
                </a:endParaRPr>
              </a:p>
              <a:p>
                <a:pPr marL="914400" indent="-457200">
                  <a:buFont typeface="+mj-lt"/>
                  <a:buAutoNum type="alphaLcPeriod"/>
                </a:pPr>
                <a:r>
                  <a:rPr lang="en-US" sz="2000" dirty="0">
                    <a:latin typeface="Verdana" pitchFamily="34" charset="0"/>
                    <a:ea typeface="Verdana" pitchFamily="34" charset="0"/>
                  </a:rPr>
                  <a:t>Complete the table. </a:t>
                </a:r>
              </a:p>
            </p:txBody>
          </p:sp>
        </mc:Choice>
        <mc:Fallback xmlns="">
          <p:sp>
            <p:nvSpPr>
              <p:cNvPr id="14" name="TextBox 13">
                <a:extLst>
                  <a:ext uri="{FF2B5EF4-FFF2-40B4-BE49-F238E27FC236}">
                    <a16:creationId xmlns="" xmlns:a16="http://schemas.microsoft.com/office/drawing/2014/main" xmlns:a14="http://schemas.microsoft.com/office/drawing/2010/main" id="{31D40250-DEDD-2C41-8538-3D4DD18CCC4A}"/>
                  </a:ext>
                </a:extLst>
              </p:cNvPr>
              <p:cNvSpPr txBox="1">
                <a:spLocks noRot="1" noChangeAspect="1" noMove="1" noResize="1" noEditPoints="1" noAdjustHandles="1" noChangeArrowheads="1" noChangeShapeType="1" noTextEdit="1"/>
              </p:cNvSpPr>
              <p:nvPr/>
            </p:nvSpPr>
            <p:spPr>
              <a:xfrm>
                <a:off x="609600" y="1386025"/>
                <a:ext cx="10920984" cy="2862322"/>
              </a:xfrm>
              <a:prstGeom prst="rect">
                <a:avLst/>
              </a:prstGeom>
              <a:blipFill rotWithShape="1">
                <a:blip r:embed="rId5"/>
                <a:stretch>
                  <a:fillRect l="-558" t="-1277" r="-1228" b="-2766"/>
                </a:stretch>
              </a:blipFill>
            </p:spPr>
            <p:txBody>
              <a:bodyPr/>
              <a:lstStyle/>
              <a:p>
                <a:r>
                  <a:rPr lang="en-US">
                    <a:noFill/>
                  </a:rPr>
                  <a:t> </a:t>
                </a:r>
              </a:p>
            </p:txBody>
          </p:sp>
        </mc:Fallback>
      </mc:AlternateContent>
      <p:graphicFrame>
        <p:nvGraphicFramePr>
          <p:cNvPr id="15" name="Google Shape;234;p10"/>
          <p:cNvGraphicFramePr/>
          <p:nvPr>
            <p:extLst>
              <p:ext uri="{D42A27DB-BD31-4B8C-83A1-F6EECF244321}">
                <p14:modId xmlns:p14="http://schemas.microsoft.com/office/powerpoint/2010/main" val="4195173464"/>
              </p:ext>
            </p:extLst>
          </p:nvPr>
        </p:nvGraphicFramePr>
        <p:xfrm>
          <a:off x="1654162" y="4347727"/>
          <a:ext cx="7338200" cy="2072640"/>
        </p:xfrm>
        <a:graphic>
          <a:graphicData uri="http://schemas.openxmlformats.org/drawingml/2006/table">
            <a:tbl>
              <a:tblPr>
                <a:noFill/>
                <a:tableStyleId>{3E41C344-CBF3-4575-BA49-7F9FACBC11FE}</a:tableStyleId>
              </a:tblPr>
              <a:tblGrid>
                <a:gridCol w="1910525">
                  <a:extLst>
                    <a:ext uri="{9D8B030D-6E8A-4147-A177-3AD203B41FA5}">
                      <a16:colId xmlns:a16="http://schemas.microsoft.com/office/drawing/2014/main" xmlns="" val="20000"/>
                    </a:ext>
                  </a:extLst>
                </a:gridCol>
                <a:gridCol w="2099175">
                  <a:extLst>
                    <a:ext uri="{9D8B030D-6E8A-4147-A177-3AD203B41FA5}">
                      <a16:colId xmlns:a16="http://schemas.microsoft.com/office/drawing/2014/main" xmlns="" val="20001"/>
                    </a:ext>
                  </a:extLst>
                </a:gridCol>
                <a:gridCol w="3328500">
                  <a:extLst>
                    <a:ext uri="{9D8B030D-6E8A-4147-A177-3AD203B41FA5}">
                      <a16:colId xmlns:a16="http://schemas.microsoft.com/office/drawing/2014/main" xmlns="" val="20002"/>
                    </a:ext>
                  </a:extLst>
                </a:gridCol>
              </a:tblGrid>
              <a:tr h="457200">
                <a:tc>
                  <a:txBody>
                    <a:bodyPr/>
                    <a:lstStyle/>
                    <a:p>
                      <a:pPr marL="0" marR="0" lvl="0" indent="0" algn="ctr" rtl="0">
                        <a:lnSpc>
                          <a:spcPct val="100000"/>
                        </a:lnSpc>
                        <a:spcBef>
                          <a:spcPts val="0"/>
                        </a:spcBef>
                        <a:spcAft>
                          <a:spcPts val="0"/>
                        </a:spcAft>
                        <a:buNone/>
                      </a:pPr>
                      <a:r>
                        <a:rPr lang="en-US" sz="2000" b="1" u="none" strike="noStrike" cap="none" dirty="0">
                          <a:latin typeface="Verdana" pitchFamily="34" charset="0"/>
                          <a:ea typeface="Verdana" pitchFamily="34" charset="0"/>
                          <a:cs typeface="Verdana"/>
                          <a:sym typeface="Verdana"/>
                        </a:rPr>
                        <a:t>Key Feature</a:t>
                      </a:r>
                      <a:endParaRPr sz="2000" u="none" strike="noStrike" cap="none" dirty="0">
                        <a:latin typeface="Verdana" pitchFamily="34" charset="0"/>
                        <a:ea typeface="Verdana" pitchFamily="34" charset="0"/>
                        <a:cs typeface="Verdana"/>
                        <a:sym typeface="Verdan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Value</a:t>
                      </a:r>
                      <a:endParaRPr sz="2000" u="none" strike="noStrike" cap="none" dirty="0">
                        <a:latin typeface="Verdana" pitchFamily="34" charset="0"/>
                        <a:ea typeface="Verdana" pitchFamily="34" charset="0"/>
                        <a:cs typeface="Verdana"/>
                        <a:sym typeface="Verdan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u="none" strike="noStrike" cap="none" dirty="0">
                          <a:solidFill>
                            <a:srgbClr val="000000"/>
                          </a:solidFill>
                          <a:latin typeface="Verdana" pitchFamily="34" charset="0"/>
                          <a:ea typeface="Verdana" pitchFamily="34" charset="0"/>
                          <a:cs typeface="Verdana"/>
                          <a:sym typeface="Verdana"/>
                        </a:rPr>
                        <a:t>Interpretation </a:t>
                      </a:r>
                      <a:br>
                        <a:rPr lang="en-US" sz="2000" b="1" u="none" strike="noStrike" cap="none" dirty="0">
                          <a:solidFill>
                            <a:srgbClr val="000000"/>
                          </a:solidFill>
                          <a:latin typeface="Verdana" pitchFamily="34" charset="0"/>
                          <a:ea typeface="Verdana" pitchFamily="34" charset="0"/>
                          <a:cs typeface="Verdana"/>
                          <a:sym typeface="Verdana"/>
                        </a:rPr>
                      </a:br>
                      <a:r>
                        <a:rPr lang="en-US" sz="2000" b="1" u="none" strike="noStrike" cap="none" dirty="0">
                          <a:solidFill>
                            <a:srgbClr val="000000"/>
                          </a:solidFill>
                          <a:latin typeface="Verdana" pitchFamily="34" charset="0"/>
                          <a:ea typeface="Verdana" pitchFamily="34" charset="0"/>
                          <a:cs typeface="Verdana"/>
                          <a:sym typeface="Verdana"/>
                        </a:rPr>
                        <a:t>in Context</a:t>
                      </a:r>
                      <a:endParaRPr sz="2000" u="none" strike="noStrike" cap="none" dirty="0">
                        <a:latin typeface="Verdana" pitchFamily="34" charset="0"/>
                        <a:ea typeface="Verdana" pitchFamily="34" charset="0"/>
                        <a:cs typeface="Verdana"/>
                        <a:sym typeface="Verdan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685800">
                <a:tc>
                  <a:txBody>
                    <a:bodyPr/>
                    <a:lstStyle/>
                    <a:p>
                      <a:pPr marL="0" marR="0" lvl="0" indent="0" algn="ctr" rtl="0">
                        <a:lnSpc>
                          <a:spcPct val="100000"/>
                        </a:lnSpc>
                        <a:spcBef>
                          <a:spcPts val="0"/>
                        </a:spcBef>
                        <a:spcAft>
                          <a:spcPts val="0"/>
                        </a:spcAft>
                        <a:buNone/>
                      </a:pPr>
                      <a:r>
                        <a:rPr lang="en-US" sz="2000" dirty="0">
                          <a:latin typeface="Verdana" pitchFamily="34" charset="0"/>
                          <a:ea typeface="Verdana" pitchFamily="34" charset="0"/>
                        </a:rPr>
                        <a:t>𝒚-intercept</a:t>
                      </a:r>
                      <a:endParaRPr sz="2000" u="none" strike="noStrike" cap="none"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endParaRPr sz="2000" u="none" strike="noStrike" cap="none" dirty="0">
                        <a:latin typeface="Verdana" pitchFamily="34" charset="0"/>
                        <a:ea typeface="Verdana" pitchFamily="34" charset="0"/>
                        <a:cs typeface="Verdana"/>
                        <a:sym typeface="Verdana"/>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endParaRPr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685800">
                <a:tc>
                  <a:txBody>
                    <a:bodyPr/>
                    <a:lstStyle/>
                    <a:p>
                      <a:pPr marL="0" marR="0" lvl="0" indent="0" algn="ctr" rtl="0">
                        <a:lnSpc>
                          <a:spcPct val="100000"/>
                        </a:lnSpc>
                        <a:spcBef>
                          <a:spcPts val="0"/>
                        </a:spcBef>
                        <a:spcAft>
                          <a:spcPts val="0"/>
                        </a:spcAft>
                        <a:buNone/>
                      </a:pPr>
                      <a:r>
                        <a:rPr lang="en-US" sz="2000" u="none" strike="noStrike" cap="none" dirty="0">
                          <a:latin typeface="Verdana" pitchFamily="34" charset="0"/>
                          <a:ea typeface="Verdana" pitchFamily="34" charset="0"/>
                          <a:cs typeface="Verdana"/>
                          <a:sym typeface="Verdana"/>
                        </a:rPr>
                        <a:t>slope</a:t>
                      </a:r>
                      <a:endParaRPr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endParaRPr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None/>
                      </a:pPr>
                      <a:endParaRPr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19"/>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22" name="Google Shape;322;p1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24" name="Google Shape;324;p1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239</a:t>
            </a:r>
            <a:endParaRPr i="1">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xmlns="" id="{2AA35BC6-D428-FC41-BDE5-6438AB8840FC}"/>
                  </a:ext>
                </a:extLst>
              </p:cNvPr>
              <p:cNvSpPr txBox="1"/>
              <p:nvPr/>
            </p:nvSpPr>
            <p:spPr>
              <a:xfrm>
                <a:off x="540564" y="410666"/>
                <a:ext cx="10990020" cy="2862322"/>
              </a:xfrm>
              <a:prstGeom prst="rect">
                <a:avLst/>
              </a:prstGeom>
              <a:noFill/>
            </p:spPr>
            <p:txBody>
              <a:bodyPr wrap="square" rtlCol="0">
                <a:spAutoFit/>
              </a:bodyPr>
              <a:lstStyle/>
              <a:p>
                <a:pPr marL="914400" indent="-457200">
                  <a:buFont typeface="+mj-lt"/>
                  <a:buAutoNum type="alphaLcPeriod" startAt="3"/>
                </a:pPr>
                <a:r>
                  <a:rPr lang="en-US" sz="2000" dirty="0" smtClean="0">
                    <a:latin typeface="Verdana" pitchFamily="34" charset="0"/>
                    <a:ea typeface="Verdana" pitchFamily="34" charset="0"/>
                  </a:rPr>
                  <a:t>What is the total Randall will have to pay if he pays the loan off in </a:t>
                </a:r>
                <a14:m>
                  <m:oMath xmlns:m="http://schemas.openxmlformats.org/officeDocument/2006/math">
                    <m:r>
                      <a:rPr lang="en-US" sz="2000" i="1" dirty="0" smtClean="0">
                        <a:latin typeface="Cambria Math"/>
                        <a:ea typeface="Verdana" pitchFamily="34" charset="0"/>
                      </a:rPr>
                      <m:t>4</m:t>
                    </m:r>
                  </m:oMath>
                </a14:m>
                <a:r>
                  <a:rPr lang="en-US" sz="2000" dirty="0">
                    <a:latin typeface="Verdana" pitchFamily="34" charset="0"/>
                    <a:ea typeface="Verdana" pitchFamily="34" charset="0"/>
                  </a:rPr>
                  <a:t> years? </a:t>
                </a:r>
              </a:p>
              <a:p>
                <a:pPr marL="914400" indent="-457200">
                  <a:buFont typeface="+mj-lt"/>
                  <a:buAutoNum type="alphaLcPeriod" startAt="3"/>
                </a:pPr>
                <a:endParaRPr lang="en-PH" sz="2000" dirty="0">
                  <a:latin typeface="Verdana" pitchFamily="34" charset="0"/>
                  <a:ea typeface="Verdana" pitchFamily="34" charset="0"/>
                </a:endParaRPr>
              </a:p>
              <a:p>
                <a:pPr marL="914400" indent="-457200">
                  <a:buFont typeface="+mj-lt"/>
                  <a:buAutoNum type="alphaLcPeriod" startAt="3"/>
                </a:pPr>
                <a:endParaRPr lang="en-PH" sz="2000" dirty="0">
                  <a:latin typeface="Verdana" pitchFamily="34" charset="0"/>
                  <a:ea typeface="Verdana" pitchFamily="34" charset="0"/>
                </a:endParaRPr>
              </a:p>
              <a:p>
                <a:pPr marL="914400" indent="-457200">
                  <a:buFont typeface="+mj-lt"/>
                  <a:buAutoNum type="alphaLcPeriod" startAt="3"/>
                </a:pPr>
                <a:endParaRPr lang="en-PH" sz="2000" dirty="0">
                  <a:latin typeface="Verdana" pitchFamily="34" charset="0"/>
                  <a:ea typeface="Verdana" pitchFamily="34" charset="0"/>
                </a:endParaRPr>
              </a:p>
              <a:p>
                <a:pPr marL="914400" indent="-457200">
                  <a:buFont typeface="+mj-lt"/>
                  <a:buAutoNum type="alphaLcPeriod" startAt="3"/>
                </a:pPr>
                <a:endParaRPr lang="en-PH" sz="2000" dirty="0">
                  <a:latin typeface="Verdana" pitchFamily="34" charset="0"/>
                  <a:ea typeface="Verdana" pitchFamily="34" charset="0"/>
                </a:endParaRPr>
              </a:p>
              <a:p>
                <a:pPr marL="914400" indent="-457200">
                  <a:buFont typeface="+mj-lt"/>
                  <a:buAutoNum type="alphaLcPeriod" startAt="3"/>
                </a:pPr>
                <a:endParaRPr lang="en-PH" sz="2000" dirty="0">
                  <a:latin typeface="Verdana" pitchFamily="34" charset="0"/>
                  <a:ea typeface="Verdana" pitchFamily="34" charset="0"/>
                </a:endParaRPr>
              </a:p>
              <a:p>
                <a:pPr marL="914400" indent="-457200">
                  <a:buFont typeface="+mj-lt"/>
                  <a:buAutoNum type="alphaLcPeriod" startAt="3"/>
                </a:pPr>
                <a:endParaRPr lang="en-US" sz="2000" dirty="0">
                  <a:latin typeface="Verdana" pitchFamily="34" charset="0"/>
                  <a:ea typeface="Verdana" pitchFamily="34" charset="0"/>
                </a:endParaRPr>
              </a:p>
              <a:p>
                <a:pPr marL="914400" indent="-457200">
                  <a:buFont typeface="+mj-lt"/>
                  <a:buAutoNum type="alphaLcPeriod" startAt="3"/>
                </a:pPr>
                <a:r>
                  <a:rPr lang="en-US" sz="2000" dirty="0">
                    <a:latin typeface="Verdana" pitchFamily="34" charset="0"/>
                    <a:ea typeface="Verdana" pitchFamily="34" charset="0"/>
                  </a:rPr>
                  <a:t>How many years did it take Randall to pay off the loan if the total he paid was </a:t>
                </a:r>
                <a14:m>
                  <m:oMath xmlns:m="http://schemas.openxmlformats.org/officeDocument/2006/math">
                    <m:r>
                      <a:rPr lang="en-US" sz="2000" i="1" dirty="0" smtClean="0">
                        <a:latin typeface="Cambria Math"/>
                        <a:ea typeface="Verdana" pitchFamily="34" charset="0"/>
                      </a:rPr>
                      <m:t>$100,</m:t>
                    </m:r>
                    <m:r>
                      <a:rPr lang="en-US" sz="2000" b="0" i="1" dirty="0" smtClean="0">
                        <a:latin typeface="Cambria Math"/>
                        <a:ea typeface="Verdana" pitchFamily="34" charset="0"/>
                      </a:rPr>
                      <m:t>75</m:t>
                    </m:r>
                    <m:r>
                      <a:rPr lang="en-US" sz="2000" i="1" dirty="0" smtClean="0">
                        <a:latin typeface="Cambria Math"/>
                        <a:ea typeface="Verdana" pitchFamily="34" charset="0"/>
                      </a:rPr>
                      <m:t>0</m:t>
                    </m:r>
                  </m:oMath>
                </a14:m>
                <a:r>
                  <a:rPr lang="en-US" sz="2000" dirty="0">
                    <a:latin typeface="Verdana" pitchFamily="34" charset="0"/>
                    <a:ea typeface="Verdana" pitchFamily="34" charset="0"/>
                  </a:rPr>
                  <a:t>?</a:t>
                </a:r>
              </a:p>
            </p:txBody>
          </p:sp>
        </mc:Choice>
        <mc:Fallback>
          <p:sp>
            <p:nvSpPr>
              <p:cNvPr id="6" name="TextBox 5">
                <a:extLst>
                  <a:ext uri="{FF2B5EF4-FFF2-40B4-BE49-F238E27FC236}">
                    <a16:creationId xmlns:a16="http://schemas.microsoft.com/office/drawing/2014/main" xmlns:a14="http://schemas.microsoft.com/office/drawing/2010/main" xmlns="" id="{2AA35BC6-D428-FC41-BDE5-6438AB8840FC}"/>
                  </a:ext>
                </a:extLst>
              </p:cNvPr>
              <p:cNvSpPr txBox="1">
                <a:spLocks noRot="1" noChangeAspect="1" noMove="1" noResize="1" noEditPoints="1" noAdjustHandles="1" noChangeArrowheads="1" noChangeShapeType="1" noTextEdit="1"/>
              </p:cNvSpPr>
              <p:nvPr/>
            </p:nvSpPr>
            <p:spPr>
              <a:xfrm>
                <a:off x="540564" y="410666"/>
                <a:ext cx="10990020" cy="2862322"/>
              </a:xfrm>
              <a:prstGeom prst="rect">
                <a:avLst/>
              </a:prstGeom>
              <a:blipFill rotWithShape="1">
                <a:blip r:embed="rId4"/>
                <a:stretch>
                  <a:fillRect t="-1277" b="-2766"/>
                </a:stretch>
              </a:blipFill>
            </p:spPr>
            <p:txBody>
              <a:bodyPr/>
              <a:lstStyle/>
              <a:p>
                <a:r>
                  <a:rPr lang="en-PH">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0"/>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331" name="Google Shape;331;p2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34" name="Google Shape;334;p20"/>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240</a:t>
            </a:r>
            <a:endParaRPr i="1">
              <a:latin typeface="Calibri"/>
              <a:ea typeface="Calibri"/>
              <a:cs typeface="Calibri"/>
              <a:sym typeface="Calibri"/>
            </a:endParaRPr>
          </a:p>
        </p:txBody>
      </p:sp>
      <p:sp>
        <p:nvSpPr>
          <p:cNvPr id="7"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E24E5F"/>
                </a:solidFill>
                <a:latin typeface="Verdana"/>
                <a:ea typeface="Verdana"/>
                <a:cs typeface="Verdana"/>
                <a:sym typeface="Verdana"/>
              </a:rPr>
              <a:t>Your Turn</a:t>
            </a:r>
            <a:endParaRPr lang="en-US"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xmlns="" id="{31D40250-DEDD-2C41-8538-3D4DD18CCC4A}"/>
                  </a:ext>
                </a:extLst>
              </p:cNvPr>
              <p:cNvSpPr txBox="1"/>
              <p:nvPr/>
            </p:nvSpPr>
            <p:spPr>
              <a:xfrm>
                <a:off x="609600" y="1157425"/>
                <a:ext cx="10920984" cy="4401205"/>
              </a:xfrm>
              <a:prstGeom prst="rect">
                <a:avLst/>
              </a:prstGeom>
              <a:noFill/>
            </p:spPr>
            <p:txBody>
              <a:bodyPr wrap="square" rtlCol="0">
                <a:spAutoFit/>
              </a:bodyPr>
              <a:lstStyle/>
              <a:p>
                <a:pPr marL="457200" indent="-457200">
                  <a:buFont typeface="+mj-lt"/>
                  <a:buAutoNum type="arabicPeriod"/>
                </a:pPr>
                <a:r>
                  <a:rPr lang="en-US" sz="2000" dirty="0">
                    <a:latin typeface="Verdana" pitchFamily="34" charset="0"/>
                    <a:ea typeface="Verdana" pitchFamily="34" charset="0"/>
                  </a:rPr>
                  <a:t>When </a:t>
                </a:r>
                <a:r>
                  <a:rPr lang="en-US" sz="2000" dirty="0" err="1">
                    <a:latin typeface="Verdana" pitchFamily="34" charset="0"/>
                    <a:ea typeface="Verdana" pitchFamily="34" charset="0"/>
                  </a:rPr>
                  <a:t>Valentina</a:t>
                </a:r>
                <a:r>
                  <a:rPr lang="en-US" sz="2000" dirty="0">
                    <a:latin typeface="Verdana" pitchFamily="34" charset="0"/>
                    <a:ea typeface="Verdana" pitchFamily="34" charset="0"/>
                  </a:rPr>
                  <a:t> was born, her grandmother put </a:t>
                </a:r>
                <a14:m>
                  <m:oMath xmlns:m="http://schemas.openxmlformats.org/officeDocument/2006/math">
                    <m:r>
                      <a:rPr lang="en-US" sz="2000" i="1" dirty="0" smtClean="0">
                        <a:latin typeface="Cambria Math"/>
                        <a:ea typeface="Verdana" pitchFamily="34" charset="0"/>
                      </a:rPr>
                      <m:t>$2,500</m:t>
                    </m:r>
                  </m:oMath>
                </a14:m>
                <a:r>
                  <a:rPr lang="en-US" sz="2000" dirty="0">
                    <a:latin typeface="Verdana" pitchFamily="34" charset="0"/>
                    <a:ea typeface="Verdana" pitchFamily="34" charset="0"/>
                  </a:rPr>
                  <a:t> into a savings account for her. The savings account had a </a:t>
                </a:r>
                <a14:m>
                  <m:oMath xmlns:m="http://schemas.openxmlformats.org/officeDocument/2006/math">
                    <m:r>
                      <a:rPr lang="en-US" sz="2000" i="1" dirty="0" smtClean="0">
                        <a:latin typeface="Cambria Math"/>
                        <a:ea typeface="Verdana" pitchFamily="34" charset="0"/>
                      </a:rPr>
                      <m:t>2.25%</m:t>
                    </m:r>
                  </m:oMath>
                </a14:m>
                <a:r>
                  <a:rPr lang="en-US" sz="2000" dirty="0">
                    <a:latin typeface="Verdana" pitchFamily="34" charset="0"/>
                    <a:ea typeface="Verdana" pitchFamily="34" charset="0"/>
                  </a:rPr>
                  <a:t> interest rate. Each year on her birthday, her grandmother told her how much money was in the account.</a:t>
                </a:r>
              </a:p>
              <a:p>
                <a:pPr marL="457200" indent="-457200">
                  <a:buFont typeface="+mj-lt"/>
                  <a:buAutoNum type="arabicPeriod"/>
                </a:pPr>
                <a:endParaRPr lang="en-US" sz="2000" dirty="0">
                  <a:latin typeface="Verdana" pitchFamily="34" charset="0"/>
                  <a:ea typeface="Verdana" pitchFamily="34" charset="0"/>
                </a:endParaRPr>
              </a:p>
              <a:p>
                <a:pPr marL="914400" indent="-457200">
                  <a:buFont typeface="+mj-lt"/>
                  <a:buAutoNum type="alphaLcPeriod"/>
                </a:pPr>
                <a:r>
                  <a:rPr lang="en-US" sz="2000" dirty="0">
                    <a:latin typeface="Verdana" pitchFamily="34" charset="0"/>
                    <a:ea typeface="Verdana" pitchFamily="34" charset="0"/>
                  </a:rPr>
                  <a:t>Complete the table. Show your work.</a:t>
                </a:r>
              </a:p>
              <a:p>
                <a:pPr marL="914400" indent="-457200">
                  <a:buFont typeface="+mj-lt"/>
                  <a:buAutoNum type="alphaLcPeriod"/>
                </a:pPr>
                <a:endParaRPr lang="en-PH" sz="2000" dirty="0">
                  <a:latin typeface="Verdana" pitchFamily="34" charset="0"/>
                  <a:ea typeface="Verdana" pitchFamily="34" charset="0"/>
                </a:endParaRPr>
              </a:p>
              <a:p>
                <a:pPr marL="914400" indent="-457200">
                  <a:buFont typeface="+mj-lt"/>
                  <a:buAutoNum type="alphaLcPeriod"/>
                </a:pPr>
                <a:endParaRPr lang="en-PH" sz="2000" dirty="0">
                  <a:latin typeface="Verdana" pitchFamily="34" charset="0"/>
                  <a:ea typeface="Verdana" pitchFamily="34" charset="0"/>
                </a:endParaRPr>
              </a:p>
              <a:p>
                <a:pPr marL="914400" indent="-457200">
                  <a:buFont typeface="+mj-lt"/>
                  <a:buAutoNum type="alphaLcPeriod"/>
                </a:pPr>
                <a:endParaRPr lang="en-PH" sz="2000" dirty="0">
                  <a:latin typeface="Verdana" pitchFamily="34" charset="0"/>
                  <a:ea typeface="Verdana" pitchFamily="34" charset="0"/>
                </a:endParaRPr>
              </a:p>
              <a:p>
                <a:pPr marL="914400" indent="-457200">
                  <a:buFont typeface="+mj-lt"/>
                  <a:buAutoNum type="alphaLcPeriod"/>
                </a:pPr>
                <a:endParaRPr lang="en-PH" sz="2000" dirty="0">
                  <a:latin typeface="Verdana" pitchFamily="34" charset="0"/>
                  <a:ea typeface="Verdana" pitchFamily="34" charset="0"/>
                </a:endParaRPr>
              </a:p>
              <a:p>
                <a:pPr marL="914400" indent="-457200">
                  <a:buFont typeface="+mj-lt"/>
                  <a:buAutoNum type="alphaLcPeriod"/>
                </a:pPr>
                <a:endParaRPr lang="en-PH" sz="2000" dirty="0">
                  <a:latin typeface="Verdana" pitchFamily="34" charset="0"/>
                  <a:ea typeface="Verdana" pitchFamily="34" charset="0"/>
                </a:endParaRPr>
              </a:p>
              <a:p>
                <a:pPr marL="914400" indent="-457200">
                  <a:buFont typeface="+mj-lt"/>
                  <a:buAutoNum type="alphaLcPeriod"/>
                </a:pPr>
                <a:endParaRPr lang="en-PH" sz="2000" dirty="0">
                  <a:latin typeface="Verdana" pitchFamily="34" charset="0"/>
                  <a:ea typeface="Verdana" pitchFamily="34" charset="0"/>
                </a:endParaRPr>
              </a:p>
              <a:p>
                <a:pPr marL="914400" indent="-457200">
                  <a:buFont typeface="+mj-lt"/>
                  <a:buAutoNum type="alphaLcPeriod"/>
                </a:pPr>
                <a:endParaRPr lang="en-PH" sz="2000" dirty="0">
                  <a:latin typeface="Verdana" pitchFamily="34" charset="0"/>
                  <a:ea typeface="Verdana" pitchFamily="34" charset="0"/>
                </a:endParaRPr>
              </a:p>
              <a:p>
                <a:pPr marL="914400" indent="-457200">
                  <a:buFont typeface="+mj-lt"/>
                  <a:buAutoNum type="alphaLcPeriod"/>
                </a:pPr>
                <a:endParaRPr lang="en-PH" sz="2000" dirty="0">
                  <a:latin typeface="Verdana" pitchFamily="34" charset="0"/>
                  <a:ea typeface="Verdana" pitchFamily="34" charset="0"/>
                </a:endParaRPr>
              </a:p>
              <a:p>
                <a:pPr marL="914400" indent="-457200">
                  <a:buFont typeface="+mj-lt"/>
                  <a:buAutoNum type="alphaLcPeriod"/>
                </a:pPr>
                <a:r>
                  <a:rPr lang="en-US" sz="2000" dirty="0">
                    <a:latin typeface="Verdana"/>
                    <a:ea typeface="Verdana"/>
                    <a:cs typeface="Verdana"/>
                    <a:sym typeface="Verdana"/>
                  </a:rPr>
                  <a:t>How old will </a:t>
                </a:r>
                <a:r>
                  <a:rPr lang="en-US" sz="2000" dirty="0" err="1">
                    <a:latin typeface="Verdana"/>
                    <a:ea typeface="Verdana"/>
                    <a:cs typeface="Verdana"/>
                    <a:sym typeface="Verdana"/>
                  </a:rPr>
                  <a:t>Valentina</a:t>
                </a:r>
                <a:r>
                  <a:rPr lang="en-US" sz="2000" dirty="0">
                    <a:latin typeface="Verdana"/>
                    <a:ea typeface="Verdana"/>
                    <a:cs typeface="Verdana"/>
                    <a:sym typeface="Verdana"/>
                  </a:rPr>
                  <a:t> be when the account has reached </a:t>
                </a:r>
                <a14:m>
                  <m:oMath xmlns:m="http://schemas.openxmlformats.org/officeDocument/2006/math">
                    <m:r>
                      <a:rPr lang="en-US" sz="2000" i="1" dirty="0" smtClean="0">
                        <a:latin typeface="Cambria Math"/>
                        <a:ea typeface="Verdana"/>
                        <a:cs typeface="Verdana"/>
                        <a:sym typeface="Verdana"/>
                      </a:rPr>
                      <m:t>$4,000</m:t>
                    </m:r>
                  </m:oMath>
                </a14:m>
                <a:r>
                  <a:rPr lang="en-US" sz="2000" dirty="0">
                    <a:latin typeface="Verdana"/>
                    <a:ea typeface="Verdana"/>
                    <a:cs typeface="Verdana"/>
                    <a:sym typeface="Verdana"/>
                  </a:rPr>
                  <a:t>?</a:t>
                </a:r>
                <a:endParaRPr lang="en-US" sz="2000" dirty="0"/>
              </a:p>
            </p:txBody>
          </p:sp>
        </mc:Choice>
        <mc:Fallback xmlns="">
          <p:sp>
            <p:nvSpPr>
              <p:cNvPr id="11" name="TextBox 10">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609600" y="1157425"/>
                <a:ext cx="10920984" cy="4401205"/>
              </a:xfrm>
              <a:prstGeom prst="rect">
                <a:avLst/>
              </a:prstGeom>
              <a:blipFill>
                <a:blip r:embed="rId3"/>
                <a:stretch>
                  <a:fillRect l="-581" t="-865" b="-1729"/>
                </a:stretch>
              </a:blipFill>
            </p:spPr>
            <p:txBody>
              <a:bodyPr/>
              <a:lstStyle/>
              <a:p>
                <a:r>
                  <a:rPr lang="en-US">
                    <a:noFill/>
                  </a:rPr>
                  <a:t> </a:t>
                </a:r>
              </a:p>
            </p:txBody>
          </p:sp>
        </mc:Fallback>
      </mc:AlternateContent>
      <p:sp>
        <p:nvSpPr>
          <p:cNvPr id="340" name="Google Shape;340;p21"/>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41" name="Google Shape;341;p21"/>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mc:AlternateContent xmlns:mc="http://schemas.openxmlformats.org/markup-compatibility/2006" xmlns:a14="http://schemas.microsoft.com/office/drawing/2010/main">
        <mc:Choice Requires="a14">
          <p:graphicFrame>
            <p:nvGraphicFramePr>
              <p:cNvPr id="345" name="Google Shape;345;p21"/>
              <p:cNvGraphicFramePr/>
              <p:nvPr>
                <p:extLst>
                  <p:ext uri="{D42A27DB-BD31-4B8C-83A1-F6EECF244321}">
                    <p14:modId xmlns:p14="http://schemas.microsoft.com/office/powerpoint/2010/main" val="159796520"/>
                  </p:ext>
                </p:extLst>
              </p:nvPr>
            </p:nvGraphicFramePr>
            <p:xfrm>
              <a:off x="1643550" y="2949954"/>
              <a:ext cx="6800850" cy="1828800"/>
            </p:xfrm>
            <a:graphic>
              <a:graphicData uri="http://schemas.openxmlformats.org/drawingml/2006/table">
                <a:tbl>
                  <a:tblPr>
                    <a:noFill/>
                    <a:tableStyleId>{3E41C344-CBF3-4575-BA49-7F9FACBC11FE}</a:tableStyleId>
                  </a:tblPr>
                  <a:tblGrid>
                    <a:gridCol w="2651125">
                      <a:extLst>
                        <a:ext uri="{9D8B030D-6E8A-4147-A177-3AD203B41FA5}">
                          <a16:colId xmlns:a16="http://schemas.microsoft.com/office/drawing/2014/main" xmlns="" val="20000"/>
                        </a:ext>
                      </a:extLst>
                    </a:gridCol>
                    <a:gridCol w="4149725">
                      <a:extLst>
                        <a:ext uri="{9D8B030D-6E8A-4147-A177-3AD203B41FA5}">
                          <a16:colId xmlns:a16="http://schemas.microsoft.com/office/drawing/2014/main" xmlns="" val="20001"/>
                        </a:ext>
                      </a:extLst>
                    </a:gridCol>
                  </a:tblGrid>
                  <a:tr h="457200">
                    <a:tc>
                      <a:txBody>
                        <a:bodyPr/>
                        <a:lstStyle/>
                        <a:p>
                          <a:pPr marL="0" marR="0" lvl="0" indent="0" algn="ctr" rtl="0">
                            <a:lnSpc>
                              <a:spcPct val="100000"/>
                            </a:lnSpc>
                            <a:spcBef>
                              <a:spcPts val="0"/>
                            </a:spcBef>
                            <a:spcAft>
                              <a:spcPts val="0"/>
                            </a:spcAft>
                            <a:buNone/>
                          </a:pPr>
                          <a:r>
                            <a:rPr lang="en-US" sz="2000" b="1" u="none" strike="noStrike" cap="none" dirty="0" err="1">
                              <a:latin typeface="Verdana"/>
                              <a:ea typeface="Verdana"/>
                              <a:cs typeface="Verdana"/>
                              <a:sym typeface="Verdana"/>
                            </a:rPr>
                            <a:t>Valentina’s</a:t>
                          </a:r>
                          <a:r>
                            <a:rPr lang="en-US" sz="2000" b="1" u="none" strike="noStrike" cap="none" dirty="0">
                              <a:latin typeface="Verdana"/>
                              <a:ea typeface="Verdana"/>
                              <a:cs typeface="Verdana"/>
                              <a:sym typeface="Verdana"/>
                            </a:rPr>
                            <a:t> Age</a:t>
                          </a:r>
                          <a:endParaRPr sz="2000" u="none" strike="noStrike" cap="none" dirty="0">
                            <a:latin typeface="Verdana"/>
                            <a:ea typeface="Verdana"/>
                            <a:cs typeface="Verdana"/>
                            <a:sym typeface="Verdana"/>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u="none" strike="noStrike" cap="none" dirty="0">
                              <a:solidFill>
                                <a:srgbClr val="000000"/>
                              </a:solidFill>
                              <a:latin typeface="Verdana"/>
                              <a:ea typeface="Verdana"/>
                              <a:cs typeface="Verdana"/>
                              <a:sym typeface="Verdana"/>
                            </a:rPr>
                            <a:t>Total Amount</a:t>
                          </a:r>
                          <a:endParaRPr sz="2000" u="none" strike="noStrike" cap="none" dirty="0">
                            <a:latin typeface="Verdana"/>
                            <a:ea typeface="Verdana"/>
                            <a:cs typeface="Verdana"/>
                            <a:sym typeface="Verdana"/>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685800">
                    <a:tc>
                      <a:txBody>
                        <a:bodyPr/>
                        <a:lstStyle/>
                        <a:p>
                          <a:pPr marL="0" marR="0" lvl="0" indent="0" algn="ctr" rtl="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US" sz="2000" i="1" dirty="0" smtClean="0">
                                    <a:latin typeface="Cambria Math"/>
                                  </a:rPr>
                                  <m:t>7</m:t>
                                </m:r>
                              </m:oMath>
                            </m:oMathPara>
                          </a14:m>
                          <a:endParaRPr sz="2000" dirty="0"/>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 </a:t>
                          </a:r>
                          <a:endParaRPr sz="2000" u="none" strike="noStrike" cap="none" dirty="0">
                            <a:latin typeface="Verdana"/>
                            <a:ea typeface="Verdana"/>
                            <a:cs typeface="Verdana"/>
                            <a:sym typeface="Verdana"/>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685800">
                    <a:tc>
                      <a:txBody>
                        <a:bodyPr/>
                        <a:lstStyle/>
                        <a:p>
                          <a:pPr marL="0" lvl="0" indent="0" algn="ctr" rtl="0">
                            <a:spcBef>
                              <a:spcPts val="0"/>
                            </a:spcBef>
                            <a:spcAft>
                              <a:spcPts val="0"/>
                            </a:spcAft>
                            <a:buClr>
                              <a:schemeClr val="dk1"/>
                            </a:buClr>
                            <a:buFont typeface="Arial"/>
                            <a:buNone/>
                          </a:pPr>
                          <a14:m>
                            <m:oMathPara xmlns:m="http://schemas.openxmlformats.org/officeDocument/2006/math">
                              <m:oMathParaPr>
                                <m:jc m:val="centerGroup"/>
                              </m:oMathParaPr>
                              <m:oMath xmlns:m="http://schemas.openxmlformats.org/officeDocument/2006/math">
                                <m:r>
                                  <a:rPr lang="en-US" sz="2000" i="1" dirty="0" smtClean="0">
                                    <a:solidFill>
                                      <a:schemeClr val="dk1"/>
                                    </a:solidFill>
                                    <a:latin typeface="Cambria Math"/>
                                  </a:rPr>
                                  <m:t>18</m:t>
                                </m:r>
                              </m:oMath>
                            </m:oMathPara>
                          </a14:m>
                          <a:endParaRPr sz="1400" u="none" strike="noStrike" cap="none" dirty="0"/>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 </a:t>
                          </a:r>
                          <a:endParaRPr sz="2000" u="none" strike="noStrike" cap="none" dirty="0">
                            <a:latin typeface="Verdana"/>
                            <a:ea typeface="Verdana"/>
                            <a:cs typeface="Verdana"/>
                            <a:sym typeface="Verdana"/>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mc:Choice>
        <mc:Fallback xmlns="">
          <p:graphicFrame>
            <p:nvGraphicFramePr>
              <p:cNvPr id="345" name="Google Shape;345;p21"/>
              <p:cNvGraphicFramePr/>
              <p:nvPr>
                <p:extLst>
                  <p:ext uri="{D42A27DB-BD31-4B8C-83A1-F6EECF244321}">
                    <p14:modId xmlns:p14="http://schemas.microsoft.com/office/powerpoint/2010/main" val="159796520"/>
                  </p:ext>
                </p:extLst>
              </p:nvPr>
            </p:nvGraphicFramePr>
            <p:xfrm>
              <a:off x="1643550" y="2949954"/>
              <a:ext cx="6800850" cy="1828800"/>
            </p:xfrm>
            <a:graphic>
              <a:graphicData uri="http://schemas.openxmlformats.org/drawingml/2006/table">
                <a:tbl>
                  <a:tblPr>
                    <a:noFill/>
                    <a:tableStyleId>{3E41C344-CBF3-4575-BA49-7F9FACBC11FE}</a:tableStyleId>
                  </a:tblPr>
                  <a:tblGrid>
                    <a:gridCol w="2651125">
                      <a:extLst>
                        <a:ext uri="{9D8B030D-6E8A-4147-A177-3AD203B41FA5}">
                          <a16:colId xmlns:a16="http://schemas.microsoft.com/office/drawing/2014/main" xmlns="" val="20000"/>
                        </a:ext>
                      </a:extLst>
                    </a:gridCol>
                    <a:gridCol w="4149725">
                      <a:extLst>
                        <a:ext uri="{9D8B030D-6E8A-4147-A177-3AD203B41FA5}">
                          <a16:colId xmlns:a16="http://schemas.microsoft.com/office/drawing/2014/main" xmlns="" val="20001"/>
                        </a:ext>
                      </a:extLst>
                    </a:gridCol>
                  </a:tblGrid>
                  <a:tr h="457200">
                    <a:tc>
                      <a:txBody>
                        <a:bodyPr/>
                        <a:lstStyle/>
                        <a:p>
                          <a:pPr marL="0" marR="0" lvl="0" indent="0" algn="ctr" rtl="0">
                            <a:lnSpc>
                              <a:spcPct val="100000"/>
                            </a:lnSpc>
                            <a:spcBef>
                              <a:spcPts val="0"/>
                            </a:spcBef>
                            <a:spcAft>
                              <a:spcPts val="0"/>
                            </a:spcAft>
                            <a:buNone/>
                          </a:pPr>
                          <a:r>
                            <a:rPr lang="en-US" sz="2000" b="1" u="none" strike="noStrike" cap="none" dirty="0" err="1">
                              <a:latin typeface="Verdana"/>
                              <a:ea typeface="Verdana"/>
                              <a:cs typeface="Verdana"/>
                              <a:sym typeface="Verdana"/>
                            </a:rPr>
                            <a:t>Valentina’s</a:t>
                          </a:r>
                          <a:r>
                            <a:rPr lang="en-US" sz="2000" b="1" u="none" strike="noStrike" cap="none" dirty="0">
                              <a:latin typeface="Verdana"/>
                              <a:ea typeface="Verdana"/>
                              <a:cs typeface="Verdana"/>
                              <a:sym typeface="Verdana"/>
                            </a:rPr>
                            <a:t> Age</a:t>
                          </a:r>
                          <a:endParaRPr sz="2000" u="none" strike="noStrike" cap="none" dirty="0">
                            <a:latin typeface="Verdana"/>
                            <a:ea typeface="Verdana"/>
                            <a:cs typeface="Verdana"/>
                            <a:sym typeface="Verdana"/>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ctr" rtl="0">
                            <a:lnSpc>
                              <a:spcPct val="100000"/>
                            </a:lnSpc>
                            <a:spcBef>
                              <a:spcPts val="0"/>
                            </a:spcBef>
                            <a:spcAft>
                              <a:spcPts val="0"/>
                            </a:spcAft>
                            <a:buNone/>
                          </a:pPr>
                          <a:r>
                            <a:rPr lang="en-US" sz="2000" b="1" u="none" strike="noStrike" cap="none" dirty="0">
                              <a:solidFill>
                                <a:srgbClr val="000000"/>
                              </a:solidFill>
                              <a:latin typeface="Verdana"/>
                              <a:ea typeface="Verdana"/>
                              <a:cs typeface="Verdana"/>
                              <a:sym typeface="Verdana"/>
                            </a:rPr>
                            <a:t>Total Amount</a:t>
                          </a:r>
                          <a:endParaRPr sz="2000" u="none" strike="noStrike" cap="none" dirty="0">
                            <a:latin typeface="Verdana"/>
                            <a:ea typeface="Verdana"/>
                            <a:cs typeface="Verdana"/>
                            <a:sym typeface="Verdana"/>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685800">
                    <a:tc>
                      <a:txBody>
                        <a:bodyPr/>
                        <a:lstStyle/>
                        <a:p>
                          <a:endParaRPr lang="en-US"/>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30" t="-67257" r="-156552" b="-99115"/>
                          </a:stretch>
                        </a:blipFill>
                      </a:tcPr>
                    </a:tc>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 </a:t>
                          </a:r>
                          <a:endParaRPr sz="2000" u="none" strike="noStrike" cap="none" dirty="0">
                            <a:latin typeface="Verdana"/>
                            <a:ea typeface="Verdana"/>
                            <a:cs typeface="Verdana"/>
                            <a:sym typeface="Verdana"/>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685800">
                    <a:tc>
                      <a:txBody>
                        <a:bodyPr/>
                        <a:lstStyle/>
                        <a:p>
                          <a:endParaRPr lang="en-US"/>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30" t="-168750" r="-156552"/>
                          </a:stretch>
                        </a:blipFill>
                      </a:tcPr>
                    </a:tc>
                    <a:tc>
                      <a:txBody>
                        <a:bodyPr/>
                        <a:lstStyle/>
                        <a:p>
                          <a:pPr marL="0" marR="0" lvl="0" indent="0" algn="ctr" rtl="0">
                            <a:lnSpc>
                              <a:spcPct val="100000"/>
                            </a:lnSpc>
                            <a:spcBef>
                              <a:spcPts val="0"/>
                            </a:spcBef>
                            <a:spcAft>
                              <a:spcPts val="0"/>
                            </a:spcAft>
                            <a:buNone/>
                          </a:pPr>
                          <a:r>
                            <a:rPr lang="en-US" sz="2000" b="1" u="none" strike="noStrike" cap="none" dirty="0">
                              <a:latin typeface="Verdana"/>
                              <a:ea typeface="Verdana"/>
                              <a:cs typeface="Verdana"/>
                              <a:sym typeface="Verdana"/>
                            </a:rPr>
                            <a:t> </a:t>
                          </a:r>
                          <a:endParaRPr sz="2000" u="none" strike="noStrike" cap="none" dirty="0">
                            <a:latin typeface="Verdana"/>
                            <a:ea typeface="Verdana"/>
                            <a:cs typeface="Verdana"/>
                            <a:sym typeface="Verdana"/>
                          </a:endParaRPr>
                        </a:p>
                      </a:txBody>
                      <a:tcPr marL="68575" marR="68575"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mc:Fallback>
      </mc:AlternateContent>
      <p:sp>
        <p:nvSpPr>
          <p:cNvPr id="346" name="Google Shape;346;p21"/>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240</a:t>
            </a:r>
            <a:endParaRPr i="1">
              <a:latin typeface="Calibri"/>
              <a:ea typeface="Calibri"/>
              <a:cs typeface="Calibri"/>
              <a:sym typeface="Calibri"/>
            </a:endParaRPr>
          </a:p>
        </p:txBody>
      </p:sp>
      <p:sp>
        <p:nvSpPr>
          <p:cNvPr id="9"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103916"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400" b="1" dirty="0">
                <a:solidFill>
                  <a:srgbClr val="E24E5F"/>
                </a:solidFill>
                <a:latin typeface="Verdana"/>
                <a:ea typeface="Verdana"/>
                <a:cs typeface="Verdana"/>
                <a:sym typeface="Verdana"/>
              </a:rPr>
              <a:t>13.1.4 Your Turn!</a:t>
            </a:r>
            <a:endParaRPr lang="en-US" sz="4400" dirty="0"/>
          </a:p>
        </p:txBody>
      </p:sp>
      <p:pic>
        <p:nvPicPr>
          <p:cNvPr id="10"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6">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23"/>
          <p:cNvSpPr/>
          <p:nvPr/>
        </p:nvSpPr>
        <p:spPr>
          <a:xfrm>
            <a:off x="0" y="-405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362" name="Google Shape;362;p2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365" name="Google Shape;365;p23"/>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a:latin typeface="Calibri"/>
                <a:ea typeface="Calibri"/>
                <a:cs typeface="Calibri"/>
                <a:sym typeface="Calibri"/>
              </a:rPr>
              <a:t>volume 2, pg. 240</a:t>
            </a:r>
            <a:endParaRPr i="1">
              <a:latin typeface="Calibri"/>
              <a:ea typeface="Calibri"/>
              <a:cs typeface="Calibri"/>
              <a:sym typeface="Calibri"/>
            </a:endParaRPr>
          </a:p>
        </p:txBody>
      </p:sp>
      <p:sp>
        <p:nvSpPr>
          <p:cNvPr id="7" name="Google Shape;313;g104476d1465_1_39"/>
          <p:cNvSpPr txBox="1">
            <a:spLocks/>
          </p:cNvSpPr>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F2A67"/>
                </a:solidFill>
                <a:latin typeface="Verdana"/>
                <a:ea typeface="Verdana"/>
                <a:cs typeface="Verdana"/>
                <a:sym typeface="Verdana"/>
              </a:rPr>
              <a:t>Wrap-Up</a:t>
            </a:r>
            <a:endParaRPr lang="en-US" sz="5100" b="1" dirty="0">
              <a:solidFill>
                <a:srgbClr val="3F2A67"/>
              </a:solidFill>
              <a:latin typeface="Verdana"/>
              <a:ea typeface="Verdana"/>
              <a:cs typeface="Verdana"/>
              <a:sym typeface="Verdana"/>
            </a:endParaRPr>
          </a:p>
        </p:txBody>
      </p:sp>
      <p:pic>
        <p:nvPicPr>
          <p:cNvPr id="8"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24"/>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72" name="Google Shape;372;p2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graphicFrame>
        <p:nvGraphicFramePr>
          <p:cNvPr id="376" name="Google Shape;376;p24"/>
          <p:cNvGraphicFramePr/>
          <p:nvPr>
            <p:extLst>
              <p:ext uri="{D42A27DB-BD31-4B8C-83A1-F6EECF244321}">
                <p14:modId xmlns:p14="http://schemas.microsoft.com/office/powerpoint/2010/main" val="4043944378"/>
              </p:ext>
            </p:extLst>
          </p:nvPr>
        </p:nvGraphicFramePr>
        <p:xfrm>
          <a:off x="1210371" y="1988034"/>
          <a:ext cx="6742300" cy="4351350"/>
        </p:xfrm>
        <a:graphic>
          <a:graphicData uri="http://schemas.openxmlformats.org/drawingml/2006/table">
            <a:tbl>
              <a:tblPr>
                <a:noFill/>
                <a:tableStyleId>{3E41C344-CBF3-4575-BA49-7F9FACBC11FE}</a:tableStyleId>
              </a:tblPr>
              <a:tblGrid>
                <a:gridCol w="4189550">
                  <a:extLst>
                    <a:ext uri="{9D8B030D-6E8A-4147-A177-3AD203B41FA5}">
                      <a16:colId xmlns:a16="http://schemas.microsoft.com/office/drawing/2014/main" xmlns="" val="20000"/>
                    </a:ext>
                  </a:extLst>
                </a:gridCol>
                <a:gridCol w="2552750">
                  <a:extLst>
                    <a:ext uri="{9D8B030D-6E8A-4147-A177-3AD203B41FA5}">
                      <a16:colId xmlns:a16="http://schemas.microsoft.com/office/drawing/2014/main" xmlns="" val="20001"/>
                    </a:ext>
                  </a:extLst>
                </a:gridCol>
              </a:tblGrid>
              <a:tr h="725225">
                <a:tc>
                  <a:txBody>
                    <a:bodyPr/>
                    <a:lstStyle/>
                    <a:p>
                      <a:pPr marL="0" marR="0" lvl="0" indent="0" algn="l" rtl="0">
                        <a:lnSpc>
                          <a:spcPct val="100000"/>
                        </a:lnSpc>
                        <a:spcBef>
                          <a:spcPts val="0"/>
                        </a:spcBef>
                        <a:spcAft>
                          <a:spcPts val="0"/>
                        </a:spcAft>
                        <a:buNone/>
                      </a:pPr>
                      <a:r>
                        <a:rPr lang="en-US" sz="2000" b="1" u="none" strike="noStrike" cap="none" dirty="0">
                          <a:latin typeface="Verdana"/>
                          <a:ea typeface="Verdana"/>
                          <a:cs typeface="Verdana"/>
                          <a:sym typeface="Verdana"/>
                        </a:rPr>
                        <a:t>S</a:t>
                      </a:r>
                      <a:r>
                        <a:rPr lang="en-US" sz="2000" u="none" strike="noStrike" cap="none" dirty="0">
                          <a:latin typeface="Verdana"/>
                          <a:ea typeface="Verdana"/>
                          <a:cs typeface="Verdana"/>
                          <a:sym typeface="Verdana"/>
                        </a:rPr>
                        <a:t>howed my work</a:t>
                      </a:r>
                      <a:endParaRPr sz="1400" u="none" strike="noStrike" cap="none" dirty="0">
                        <a:latin typeface="Verdana"/>
                        <a:ea typeface="Verdana"/>
                        <a:cs typeface="Verdana"/>
                        <a:sym typeface="Verdana"/>
                      </a:endParaRPr>
                    </a:p>
                  </a:txBody>
                  <a:tcPr marL="68000" marR="680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None/>
                      </a:pPr>
                      <a:endParaRPr sz="2000" u="none" strike="noStrike" cap="none">
                        <a:latin typeface="Verdana"/>
                        <a:ea typeface="Verdana"/>
                        <a:cs typeface="Verdana"/>
                        <a:sym typeface="Verdana"/>
                      </a:endParaRPr>
                    </a:p>
                  </a:txBody>
                  <a:tcPr marL="68000" marR="6800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r h="725225">
                <a:tc>
                  <a:txBody>
                    <a:bodyPr/>
                    <a:lstStyle/>
                    <a:p>
                      <a:pPr marL="0" marR="0" lvl="0" indent="0" algn="l" rtl="0">
                        <a:lnSpc>
                          <a:spcPct val="100000"/>
                        </a:lnSpc>
                        <a:spcBef>
                          <a:spcPts val="0"/>
                        </a:spcBef>
                        <a:spcAft>
                          <a:spcPts val="0"/>
                        </a:spcAft>
                        <a:buNone/>
                      </a:pPr>
                      <a:r>
                        <a:rPr lang="en-US" sz="2000" b="1" u="none" strike="noStrike" cap="none" dirty="0">
                          <a:latin typeface="Verdana"/>
                          <a:ea typeface="Verdana"/>
                          <a:cs typeface="Verdana"/>
                          <a:sym typeface="Verdana"/>
                        </a:rPr>
                        <a:t>E</a:t>
                      </a:r>
                      <a:r>
                        <a:rPr lang="en-US" sz="2000" u="none" strike="noStrike" cap="none" dirty="0">
                          <a:latin typeface="Verdana"/>
                          <a:ea typeface="Verdana"/>
                          <a:cs typeface="Verdana"/>
                          <a:sym typeface="Verdana"/>
                        </a:rPr>
                        <a:t>xplained my answers</a:t>
                      </a:r>
                      <a:endParaRPr sz="1400" u="none" strike="noStrike" cap="none" dirty="0">
                        <a:latin typeface="Verdana"/>
                        <a:ea typeface="Verdana"/>
                        <a:cs typeface="Verdana"/>
                        <a:sym typeface="Verdana"/>
                      </a:endParaRPr>
                    </a:p>
                  </a:txBody>
                  <a:tcPr marL="68000" marR="680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None/>
                      </a:pPr>
                      <a:endParaRPr sz="2000" u="none" strike="noStrike" cap="none">
                        <a:latin typeface="Verdana"/>
                        <a:ea typeface="Verdana"/>
                        <a:cs typeface="Verdana"/>
                        <a:sym typeface="Verdana"/>
                      </a:endParaRPr>
                    </a:p>
                  </a:txBody>
                  <a:tcPr marL="68000" marR="6800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725225">
                <a:tc>
                  <a:txBody>
                    <a:bodyPr/>
                    <a:lstStyle/>
                    <a:p>
                      <a:pPr marL="0" marR="0" lvl="0" indent="0" algn="l" rtl="0">
                        <a:lnSpc>
                          <a:spcPct val="100000"/>
                        </a:lnSpc>
                        <a:spcBef>
                          <a:spcPts val="0"/>
                        </a:spcBef>
                        <a:spcAft>
                          <a:spcPts val="0"/>
                        </a:spcAft>
                        <a:buNone/>
                      </a:pPr>
                      <a:r>
                        <a:rPr lang="en-US" sz="2000" b="1" u="none" strike="noStrike" cap="none" dirty="0">
                          <a:latin typeface="Verdana"/>
                          <a:ea typeface="Verdana"/>
                          <a:cs typeface="Verdana"/>
                          <a:sym typeface="Verdana"/>
                        </a:rPr>
                        <a:t>L</a:t>
                      </a:r>
                      <a:r>
                        <a:rPr lang="en-US" sz="2000" u="none" strike="noStrike" cap="none" dirty="0">
                          <a:latin typeface="Verdana"/>
                          <a:ea typeface="Verdana"/>
                          <a:cs typeface="Verdana"/>
                          <a:sym typeface="Verdana"/>
                        </a:rPr>
                        <a:t>ots of math vocabulary used</a:t>
                      </a:r>
                      <a:endParaRPr sz="1400" u="none" strike="noStrike" cap="none" dirty="0">
                        <a:latin typeface="Verdana"/>
                        <a:ea typeface="Verdana"/>
                        <a:cs typeface="Verdana"/>
                        <a:sym typeface="Verdana"/>
                      </a:endParaRPr>
                    </a:p>
                  </a:txBody>
                  <a:tcPr marL="68000" marR="680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None/>
                      </a:pPr>
                      <a:endParaRPr sz="2000" u="none" strike="noStrike" cap="none" dirty="0">
                        <a:latin typeface="Verdana"/>
                        <a:ea typeface="Verdana"/>
                        <a:cs typeface="Verdana"/>
                        <a:sym typeface="Verdana"/>
                      </a:endParaRPr>
                    </a:p>
                  </a:txBody>
                  <a:tcPr marL="68000" marR="6800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725225">
                <a:tc>
                  <a:txBody>
                    <a:bodyPr/>
                    <a:lstStyle/>
                    <a:p>
                      <a:pPr marL="0" marR="0" lvl="0" indent="0" algn="l" rtl="0">
                        <a:lnSpc>
                          <a:spcPct val="100000"/>
                        </a:lnSpc>
                        <a:spcBef>
                          <a:spcPts val="0"/>
                        </a:spcBef>
                        <a:spcAft>
                          <a:spcPts val="0"/>
                        </a:spcAft>
                        <a:buNone/>
                      </a:pPr>
                      <a:r>
                        <a:rPr lang="en-US" sz="2000" b="1" u="none" strike="noStrike" cap="none" dirty="0">
                          <a:latin typeface="Verdana"/>
                          <a:ea typeface="Verdana"/>
                          <a:cs typeface="Verdana"/>
                          <a:sym typeface="Verdana"/>
                        </a:rPr>
                        <a:t>F</a:t>
                      </a:r>
                      <a:r>
                        <a:rPr lang="en-US" sz="2000" u="none" strike="noStrike" cap="none" dirty="0">
                          <a:latin typeface="Verdana"/>
                          <a:ea typeface="Verdana"/>
                          <a:cs typeface="Verdana"/>
                          <a:sym typeface="Verdana"/>
                        </a:rPr>
                        <a:t>ound solutions</a:t>
                      </a:r>
                      <a:endParaRPr sz="1400" u="none" strike="noStrike" cap="none" dirty="0">
                        <a:latin typeface="Verdana"/>
                        <a:ea typeface="Verdana"/>
                        <a:cs typeface="Verdana"/>
                        <a:sym typeface="Verdana"/>
                      </a:endParaRPr>
                    </a:p>
                  </a:txBody>
                  <a:tcPr marL="68000" marR="680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None/>
                      </a:pPr>
                      <a:endParaRPr sz="2000" u="none" strike="noStrike" cap="none" dirty="0">
                        <a:latin typeface="Verdana"/>
                        <a:ea typeface="Verdana"/>
                        <a:cs typeface="Verdana"/>
                        <a:sym typeface="Verdana"/>
                      </a:endParaRPr>
                    </a:p>
                  </a:txBody>
                  <a:tcPr marL="68000" marR="6800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725225">
                <a:tc>
                  <a:txBody>
                    <a:bodyPr/>
                    <a:lstStyle/>
                    <a:p>
                      <a:pPr marL="0" marR="0" lvl="0" indent="0" algn="l" rtl="0">
                        <a:lnSpc>
                          <a:spcPct val="100000"/>
                        </a:lnSpc>
                        <a:spcBef>
                          <a:spcPts val="0"/>
                        </a:spcBef>
                        <a:spcAft>
                          <a:spcPts val="0"/>
                        </a:spcAft>
                        <a:buNone/>
                      </a:pPr>
                      <a:r>
                        <a:rPr lang="en-US" sz="2000" b="1" u="none" strike="noStrike" cap="none" dirty="0">
                          <a:latin typeface="Verdana"/>
                          <a:ea typeface="Verdana"/>
                          <a:cs typeface="Verdana"/>
                          <a:sym typeface="Verdana"/>
                        </a:rPr>
                        <a:t>I</a:t>
                      </a:r>
                      <a:r>
                        <a:rPr lang="en-US" sz="2000" u="none" strike="noStrike" cap="none" dirty="0">
                          <a:latin typeface="Verdana"/>
                          <a:ea typeface="Verdana"/>
                          <a:cs typeface="Verdana"/>
                          <a:sym typeface="Verdana"/>
                        </a:rPr>
                        <a:t> persevered through the problem</a:t>
                      </a:r>
                      <a:endParaRPr sz="1400" u="none" strike="noStrike" cap="none" dirty="0">
                        <a:latin typeface="Verdana"/>
                        <a:ea typeface="Verdana"/>
                        <a:cs typeface="Verdana"/>
                        <a:sym typeface="Verdana"/>
                      </a:endParaRPr>
                    </a:p>
                  </a:txBody>
                  <a:tcPr marL="68000" marR="680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None/>
                      </a:pPr>
                      <a:endParaRPr sz="2000" u="none" strike="noStrike" cap="none" dirty="0">
                        <a:latin typeface="Verdana"/>
                        <a:ea typeface="Verdana"/>
                        <a:cs typeface="Verdana"/>
                        <a:sym typeface="Verdana"/>
                      </a:endParaRPr>
                    </a:p>
                  </a:txBody>
                  <a:tcPr marL="68000" marR="6800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r h="725225">
                <a:tc>
                  <a:txBody>
                    <a:bodyPr/>
                    <a:lstStyle/>
                    <a:p>
                      <a:pPr marL="0" marR="0" lvl="0" indent="0" algn="l" rtl="0">
                        <a:lnSpc>
                          <a:spcPct val="100000"/>
                        </a:lnSpc>
                        <a:spcBef>
                          <a:spcPts val="0"/>
                        </a:spcBef>
                        <a:spcAft>
                          <a:spcPts val="0"/>
                        </a:spcAft>
                        <a:buNone/>
                      </a:pPr>
                      <a:r>
                        <a:rPr lang="en-US" sz="2000" b="1" u="none" strike="noStrike" cap="none" dirty="0">
                          <a:latin typeface="Verdana"/>
                          <a:ea typeface="Verdana"/>
                          <a:cs typeface="Verdana"/>
                          <a:sym typeface="Verdana"/>
                        </a:rPr>
                        <a:t>E</a:t>
                      </a:r>
                      <a:r>
                        <a:rPr lang="en-US" sz="2000" u="none" strike="noStrike" cap="none" dirty="0">
                          <a:latin typeface="Verdana"/>
                          <a:ea typeface="Verdana"/>
                          <a:cs typeface="Verdana"/>
                          <a:sym typeface="Verdana"/>
                        </a:rPr>
                        <a:t>liminated careless errors</a:t>
                      </a:r>
                      <a:endParaRPr sz="1400" u="none" strike="noStrike" cap="none" dirty="0">
                        <a:latin typeface="Verdana"/>
                        <a:ea typeface="Verdana"/>
                        <a:cs typeface="Verdana"/>
                        <a:sym typeface="Verdana"/>
                      </a:endParaRPr>
                    </a:p>
                  </a:txBody>
                  <a:tcPr marL="68000" marR="6800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None/>
                      </a:pPr>
                      <a:endParaRPr sz="2000" u="none" strike="noStrike" cap="none" dirty="0">
                        <a:latin typeface="Verdana"/>
                        <a:ea typeface="Verdana"/>
                        <a:cs typeface="Verdana"/>
                        <a:sym typeface="Verdana"/>
                      </a:endParaRPr>
                    </a:p>
                  </a:txBody>
                  <a:tcPr marL="68000" marR="6800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p:pic>
        <p:nvPicPr>
          <p:cNvPr id="382" name="Google Shape;382;p24" descr="A picture containing shape&#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5724190" y="2133383"/>
            <a:ext cx="1803400" cy="457200"/>
          </a:xfrm>
          <a:prstGeom prst="rect">
            <a:avLst/>
          </a:prstGeom>
          <a:noFill/>
          <a:ln>
            <a:noFill/>
          </a:ln>
        </p:spPr>
      </p:pic>
      <p:sp>
        <p:nvSpPr>
          <p:cNvPr id="383" name="Google Shape;383;p24"/>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240</a:t>
            </a:r>
            <a:endParaRPr i="1" dirty="0">
              <a:latin typeface="Calibri"/>
              <a:ea typeface="Calibri"/>
              <a:cs typeface="Calibri"/>
              <a:sym typeface="Calibri"/>
            </a:endParaRPr>
          </a:p>
        </p:txBody>
      </p:sp>
      <p:sp>
        <p:nvSpPr>
          <p:cNvPr id="15"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13.1.5 Wrap-Up: Reflection</a:t>
            </a:r>
            <a:endParaRPr lang="en-US" sz="3600" dirty="0"/>
          </a:p>
        </p:txBody>
      </p:sp>
      <p:pic>
        <p:nvPicPr>
          <p:cNvPr id="16" name="Google Shape;469;p34"/>
          <p:cNvPicPr preferRelativeResize="0"/>
          <p:nvPr/>
        </p:nvPicPr>
        <p:blipFill rotWithShape="1">
          <a:blip r:embed="rId5">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
        <p:nvSpPr>
          <p:cNvPr id="17" name="TextBox 16">
            <a:extLst>
              <a:ext uri="{FF2B5EF4-FFF2-40B4-BE49-F238E27FC236}">
                <a16:creationId xmlns:a16="http://schemas.microsoft.com/office/drawing/2014/main" xmlns="" id="{0370EDB7-6994-3D43-ABF9-E04CBAFB9CD9}"/>
              </a:ext>
            </a:extLst>
          </p:cNvPr>
          <p:cNvSpPr txBox="1"/>
          <p:nvPr/>
        </p:nvSpPr>
        <p:spPr>
          <a:xfrm>
            <a:off x="702526" y="1205051"/>
            <a:ext cx="11240429" cy="400110"/>
          </a:xfrm>
          <a:prstGeom prst="rect">
            <a:avLst/>
          </a:prstGeom>
          <a:noFill/>
        </p:spPr>
        <p:txBody>
          <a:bodyPr wrap="square" rtlCol="0">
            <a:spAutoFit/>
          </a:bodyPr>
          <a:lstStyle/>
          <a:p>
            <a:pPr marL="457200" indent="-457200">
              <a:buFont typeface="+mj-lt"/>
              <a:buAutoNum type="arabicPeriod"/>
            </a:pPr>
            <a:r>
              <a:rPr lang="en-US" sz="2000" dirty="0">
                <a:latin typeface="Verdana"/>
                <a:ea typeface="Verdana"/>
                <a:cs typeface="Verdana"/>
                <a:sym typeface="Verdana"/>
              </a:rPr>
              <a:t>Take a </a:t>
            </a:r>
            <a:r>
              <a:rPr lang="en-US" sz="2000" b="1" dirty="0">
                <a:latin typeface="Verdana"/>
                <a:ea typeface="Verdana"/>
                <a:cs typeface="Verdana"/>
                <a:sym typeface="Verdana"/>
              </a:rPr>
              <a:t>SELFIE </a:t>
            </a:r>
            <a:r>
              <a:rPr lang="en-US" sz="2000" dirty="0">
                <a:latin typeface="Verdana"/>
                <a:ea typeface="Verdana"/>
                <a:cs typeface="Verdana"/>
                <a:sym typeface="Verdana"/>
              </a:rPr>
              <a:t>by checking the box that best matches what you did today.</a:t>
            </a:r>
            <a:endParaRPr lang="en-US" sz="2000" dirty="0">
              <a:latin typeface="Cambria"/>
              <a:ea typeface="Cambria"/>
              <a:cs typeface="Cambria"/>
              <a:sym typeface="Cambria"/>
            </a:endParaRPr>
          </a:p>
        </p:txBody>
      </p:sp>
      <p:pic>
        <p:nvPicPr>
          <p:cNvPr id="18" name="Google Shape;382;p24" descr="A picture containing shape&#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5724190" y="2885858"/>
            <a:ext cx="1803400" cy="457200"/>
          </a:xfrm>
          <a:prstGeom prst="rect">
            <a:avLst/>
          </a:prstGeom>
          <a:noFill/>
          <a:ln>
            <a:noFill/>
          </a:ln>
        </p:spPr>
      </p:pic>
      <p:pic>
        <p:nvPicPr>
          <p:cNvPr id="19" name="Google Shape;382;p24" descr="A picture containing shape&#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5724190" y="3581183"/>
            <a:ext cx="1803400" cy="457200"/>
          </a:xfrm>
          <a:prstGeom prst="rect">
            <a:avLst/>
          </a:prstGeom>
          <a:noFill/>
          <a:ln>
            <a:noFill/>
          </a:ln>
        </p:spPr>
      </p:pic>
      <p:pic>
        <p:nvPicPr>
          <p:cNvPr id="20" name="Google Shape;382;p24" descr="A picture containing shape&#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5724190" y="4314608"/>
            <a:ext cx="1803400" cy="457200"/>
          </a:xfrm>
          <a:prstGeom prst="rect">
            <a:avLst/>
          </a:prstGeom>
          <a:noFill/>
          <a:ln>
            <a:noFill/>
          </a:ln>
        </p:spPr>
      </p:pic>
      <p:pic>
        <p:nvPicPr>
          <p:cNvPr id="21" name="Google Shape;382;p24" descr="A picture containing shape&#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5724190" y="5057558"/>
            <a:ext cx="1803400" cy="457200"/>
          </a:xfrm>
          <a:prstGeom prst="rect">
            <a:avLst/>
          </a:prstGeom>
          <a:noFill/>
          <a:ln>
            <a:noFill/>
          </a:ln>
        </p:spPr>
      </p:pic>
      <p:pic>
        <p:nvPicPr>
          <p:cNvPr id="22" name="Google Shape;382;p24" descr="A picture containing shape&#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5724190" y="5743400"/>
            <a:ext cx="1803400" cy="457200"/>
          </a:xfrm>
          <a:prstGeom prst="rect">
            <a:avLst/>
          </a:prstGeom>
          <a:noFill/>
          <a:ln>
            <a:noFill/>
          </a:ln>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035B136-2E81-4441-86BD-42692CE9A2EC}">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E5D07105-C310-4793-8636-2C10D013B500}">
  <ds:schemaRefs>
    <ds:schemaRef ds:uri="http://schemas.microsoft.com/sharepoint/v3/contenttype/forms"/>
  </ds:schemaRefs>
</ds:datastoreItem>
</file>

<file path=customXml/itemProps3.xml><?xml version="1.0" encoding="utf-8"?>
<ds:datastoreItem xmlns:ds="http://schemas.openxmlformats.org/officeDocument/2006/customXml" ds:itemID="{C36AC7A5-FA1F-43E9-87E5-E9E49C7510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59</TotalTime>
  <Words>1212</Words>
  <Application>Microsoft Office PowerPoint</Application>
  <PresentationFormat>Custom</PresentationFormat>
  <Paragraphs>204</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Verdana</vt:lpstr>
      <vt:lpstr>Calibri</vt:lpstr>
      <vt:lpstr>Century Gothic</vt:lpstr>
      <vt:lpstr>Wingdings</vt:lpstr>
      <vt:lpstr>Cambria Math</vt:lpstr>
      <vt:lpstr>Cambria</vt:lpstr>
      <vt:lpstr>Arial Black</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1  Unit 13, Lesson 1  Simple Interest  Volume 2, pg. 235</dc:title>
  <dc:creator>Karen McKenzie</dc:creator>
  <cp:lastModifiedBy>Sensei</cp:lastModifiedBy>
  <cp:revision>17</cp:revision>
  <dcterms:created xsi:type="dcterms:W3CDTF">2015-03-17T18:51:18Z</dcterms:created>
  <dcterms:modified xsi:type="dcterms:W3CDTF">2023-07-11T23:14:46Z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