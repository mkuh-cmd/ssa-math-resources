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embeddedFontLst>
    <p:embeddedFont>
      <p:font typeface="Arial Black" panose="020B0604020202020204" pitchFamily="34" charset="0"/>
      <p:bold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PdKZC9rHQmwMEWvv4Qt01irpC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66FE87-CF37-A544-A075-3C3E44CE8741}" v="2" dt="2024-04-09T15:21:44.812"/>
  </p1510:revLst>
</p1510:revInfo>
</file>

<file path=ppt/tableStyles.xml><?xml version="1.0" encoding="utf-8"?>
<a:tblStyleLst xmlns:a="http://schemas.openxmlformats.org/drawingml/2006/main" def="{0B6B021F-5979-4B51-9AF6-A8C9194B21B1}">
  <a:tblStyle styleId="{0B6B021F-5979-4B51-9AF6-A8C9194B21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1"/>
    <p:restoredTop sz="96327"/>
  </p:normalViewPr>
  <p:slideViewPr>
    <p:cSldViewPr snapToGrid="0">
      <p:cViewPr varScale="1">
        <p:scale>
          <a:sx n="124" d="100"/>
          <a:sy n="124" d="100"/>
        </p:scale>
        <p:origin x="6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Ellen Freeman" userId="65f5a77e-75d5-47e0-b99f-d2749fd11cfe" providerId="ADAL" clId="{A366FE87-CF37-A544-A075-3C3E44CE8741}"/>
    <pc:docChg chg="modSld">
      <pc:chgData name="Mary Ellen Freeman" userId="65f5a77e-75d5-47e0-b99f-d2749fd11cfe" providerId="ADAL" clId="{A366FE87-CF37-A544-A075-3C3E44CE8741}" dt="2024-04-09T15:21:44.812" v="1" actId="20577"/>
      <pc:docMkLst>
        <pc:docMk/>
      </pc:docMkLst>
      <pc:sldChg chg="modSp">
        <pc:chgData name="Mary Ellen Freeman" userId="65f5a77e-75d5-47e0-b99f-d2749fd11cfe" providerId="ADAL" clId="{A366FE87-CF37-A544-A075-3C3E44CE8741}" dt="2024-04-09T15:21:44.812" v="1" actId="20577"/>
        <pc:sldMkLst>
          <pc:docMk/>
          <pc:sldMk cId="0" sldId="268"/>
        </pc:sldMkLst>
        <pc:graphicFrameChg chg="mod">
          <ac:chgData name="Mary Ellen Freeman" userId="65f5a77e-75d5-47e0-b99f-d2749fd11cfe" providerId="ADAL" clId="{A366FE87-CF37-A544-A075-3C3E44CE8741}" dt="2024-04-09T15:21:44.812" v="1" actId="20577"/>
          <ac:graphicFrameMkLst>
            <pc:docMk/>
            <pc:sldMk cId="0" sldId="268"/>
            <ac:graphicFrameMk id="24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9557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0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260489" y="2054277"/>
            <a:ext cx="5889854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Calculating and Interpreting Average Rate of Change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MA.912.F.1.3 </a:t>
            </a:r>
          </a:p>
          <a:p>
            <a:pPr marL="458788" indent="0"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Calculate and interpret the average rate of change of a real-world situation represented graphically, algebraically, or in a table over a specified interval.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lang="en-US" sz="2000" dirty="0"/>
          </a:p>
          <a:p>
            <a:pPr marL="457200"/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lang="en-US" sz="2000" dirty="0"/>
          </a:p>
          <a:p>
            <a:pPr marL="457200"/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lang="en-US" sz="2000" dirty="0"/>
          </a:p>
          <a:p>
            <a:pPr marL="457200"/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lang="en-US" sz="2000" dirty="0"/>
          </a:p>
          <a:p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lang="en-US" sz="2000" dirty="0"/>
          </a:p>
          <a:p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</a:p>
        </p:txBody>
      </p:sp>
      <p:sp>
        <p:nvSpPr>
          <p:cNvPr id="10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SzPct val="100000"/>
              <a:buFont typeface="Noto Sans Symbols"/>
              <a:buChar char="❑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calculate the average rate of change of a real-world situation represented graphically, algebraically, or in a table over a specified interval.</a:t>
            </a:r>
          </a:p>
          <a:p>
            <a:pPr marL="685800" indent="-685800">
              <a:buSzPct val="100000"/>
              <a:buFont typeface="Noto Sans Symbols"/>
              <a:buChar char="❑"/>
            </a:pPr>
            <a:endParaRPr lang="en-US" sz="3600" dirty="0"/>
          </a:p>
          <a:p>
            <a:pPr marL="685800" indent="-685800">
              <a:buSzPct val="100000"/>
              <a:buFont typeface="Noto Sans Symbols"/>
              <a:buChar char="❑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interpret the average rate of change in a real-world context.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20841" y="1959034"/>
            <a:ext cx="3942080" cy="37502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326087"/>
                <a:ext cx="1105157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Two squares are shown on the grid that were created using line segments.</a:t>
                </a:r>
              </a:p>
              <a:p>
                <a:pPr marL="457200"/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Move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line segments to create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squares.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326087"/>
                <a:ext cx="11051575" cy="5016758"/>
              </a:xfrm>
              <a:prstGeom prst="rect">
                <a:avLst/>
              </a:prstGeom>
              <a:blipFill rotWithShape="1">
                <a:blip r:embed="rId5"/>
                <a:stretch>
                  <a:fillRect l="-607" t="-730" b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47846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13.11.1 Warm-Up: Critical Thinking</a:t>
            </a:r>
          </a:p>
        </p:txBody>
      </p:sp>
      <p:pic>
        <p:nvPicPr>
          <p:cNvPr id="11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1" name="Google Shape;181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3" name="Google Shape;193;p6"/>
              <p:cNvGraphicFramePr/>
              <p:nvPr>
                <p:extLst>
                  <p:ext uri="{D42A27DB-BD31-4B8C-83A1-F6EECF244321}">
                    <p14:modId xmlns:p14="http://schemas.microsoft.com/office/powerpoint/2010/main" val="3420941712"/>
                  </p:ext>
                </p:extLst>
              </p:nvPr>
            </p:nvGraphicFramePr>
            <p:xfrm>
              <a:off x="2205175" y="2997360"/>
              <a:ext cx="3442075" cy="353568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6800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6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Congo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2005–2011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51.6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47.5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43.4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39.3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35.2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31.1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3" name="Google Shape;193;p6"/>
              <p:cNvGraphicFramePr/>
              <p:nvPr>
                <p:extLst>
                  <p:ext uri="{D42A27DB-BD31-4B8C-83A1-F6EECF244321}">
                    <p14:modId xmlns:p14="http://schemas.microsoft.com/office/powerpoint/2010/main" val="3420941712"/>
                  </p:ext>
                </p:extLst>
              </p:nvPr>
            </p:nvGraphicFramePr>
            <p:xfrm>
              <a:off x="2205175" y="2997360"/>
              <a:ext cx="3442075" cy="353568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6800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62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609600"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Congo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2005–2011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188333" r="-105455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188333" r="-346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288333" r="-10545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288333" r="-346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388333" r="-105455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388333" r="-346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488333" r="-10545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488333" r="-346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588333" r="-1054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588333" r="-34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688333" r="-1054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688333" r="-34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788333" r="-10545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788333" r="-34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" t="-888333" r="-1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502" t="-888333" r="-3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4" name="Google Shape;194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9786" y="2890628"/>
            <a:ext cx="3737620" cy="363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7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13.11.2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Average Rate of Change</a:t>
            </a:r>
          </a:p>
        </p:txBody>
      </p:sp>
      <p:pic>
        <p:nvPicPr>
          <p:cNvPr id="11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211787"/>
                <a:ext cx="1105157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In 2005, the percentage of the population of the Democratic Republic of the Congo living at or below the International Poverty Line was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51.6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The table and the graph show the percentage of the population from 2005 to 2011, where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is the number of years since 2005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is the percentage of the population living at or below poverty level.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211787"/>
                <a:ext cx="11051575" cy="1631216"/>
              </a:xfrm>
              <a:prstGeom prst="rect">
                <a:avLst/>
              </a:prstGeom>
              <a:blipFill rotWithShape="1">
                <a:blip r:embed="rId7"/>
                <a:stretch>
                  <a:fillRect l="-607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2" name="Google Shape;202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624" y="410666"/>
            <a:ext cx="4243959" cy="42164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Google Shape;206;p7"/>
              <p:cNvGraphicFramePr/>
              <p:nvPr>
                <p:extLst>
                  <p:ext uri="{D42A27DB-BD31-4B8C-83A1-F6EECF244321}">
                    <p14:modId xmlns:p14="http://schemas.microsoft.com/office/powerpoint/2010/main" val="2413482997"/>
                  </p:ext>
                </p:extLst>
              </p:nvPr>
            </p:nvGraphicFramePr>
            <p:xfrm>
              <a:off x="1571307" y="5238475"/>
              <a:ext cx="6729100" cy="12192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21875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3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82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B05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Green Line Segment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latin typeface="Cambria Math"/>
                                    <a:ea typeface="Cambria Math"/>
                                    <a:cs typeface="Verdana"/>
                                    <a:sym typeface="Verdana"/>
                                  </a:rPr>
                                  <m:t>△</m:t>
                                </m:r>
                                <m:r>
                                  <a:rPr lang="en-US" sz="1800" b="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𝑦</m:t>
                                </m:r>
                                <m:r>
                                  <a:rPr lang="en-US" sz="1800" b="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=</m:t>
                                </m:r>
                              </m:oMath>
                            </m:oMathPara>
                          </a14:m>
                          <a:endParaRPr sz="1800" b="0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u="none" strike="noStrike" cap="none" smtClean="0">
                                        <a:latin typeface="Cambria Math" panose="02040503050406030204" pitchFamily="18" charset="0"/>
                                        <a:ea typeface="Verdana"/>
                                        <a:sym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latin typeface="Cambria Math"/>
                                        <a:ea typeface="Cambria Math"/>
                                        <a:cs typeface="Verdana"/>
                                        <a:sym typeface="Verdana"/>
                                      </a:rPr>
                                      <m:t>△</m:t>
                                    </m:r>
                                    <m:r>
                                      <a:rPr lang="en-US" sz="1800" b="0" i="1" dirty="0" smtClean="0"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1800" b="0" i="1" dirty="0" smtClean="0">
                                        <a:latin typeface="Cambria Math"/>
                                        <a:ea typeface="Cambria Math"/>
                                        <a:cs typeface="Verdana"/>
                                        <a:sym typeface="Verdana"/>
                                      </a:rPr>
                                      <m:t>△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PH" sz="1800" b="0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sz="1800" b="0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4F81BD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Blue Line Segment</a:t>
                          </a:r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latin typeface="Cambria Math"/>
                                    <a:ea typeface="Cambria Math"/>
                                    <a:cs typeface="Verdana"/>
                                    <a:sym typeface="Verdana"/>
                                  </a:rPr>
                                  <m:t>△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𝑥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=</m:t>
                                </m:r>
                              </m:oMath>
                            </m:oMathPara>
                          </a14:m>
                          <a:endParaRPr sz="1800" b="0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Google Shape;206;p7"/>
              <p:cNvGraphicFramePr/>
              <p:nvPr>
                <p:extLst>
                  <p:ext uri="{D42A27DB-BD31-4B8C-83A1-F6EECF244321}">
                    <p14:modId xmlns:p14="http://schemas.microsoft.com/office/powerpoint/2010/main" val="2413482997"/>
                  </p:ext>
                </p:extLst>
              </p:nvPr>
            </p:nvGraphicFramePr>
            <p:xfrm>
              <a:off x="1571307" y="5238475"/>
              <a:ext cx="6729100" cy="12192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21875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3133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282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B05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Green Line Segment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4987" t="-12000" r="-96570" b="-126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1913" t="-6000" b="-13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4F81BD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Blue Line Segment</a:t>
                          </a:r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4987" t="-112000" r="-96570" b="-26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6"/>
            <a:ext cx="67460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Using the graph of the relationship, discuss with your partner how the triangle formed shows the slope.</a:t>
            </a: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Complete the table to find the slope.</a:t>
            </a:r>
            <a:endParaRPr lang="en-US" sz="20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3" name="Google Shape;213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4" name="Google Shape;214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2877" y="1955831"/>
            <a:ext cx="4444886" cy="44163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SzPts val="2000"/>
                  <a:buFont typeface="Arial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Interpret the slope in terms of the context.</a:t>
                </a:r>
              </a:p>
              <a:p>
                <a:pPr marL="914400" indent="-457200">
                  <a:buSzPts val="2000"/>
                  <a:buFont typeface="Arial"/>
                  <a:buAutoNum type="alphaLcPeriod" startAt="3"/>
                </a:pPr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914400" indent="-457200">
                  <a:buSzPts val="2000"/>
                  <a:buFont typeface="Arial"/>
                  <a:buAutoNum type="alphaLcPeriod" startAt="3"/>
                </a:pPr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914400" indent="-457200">
                  <a:buSzPts val="2000"/>
                  <a:buFont typeface="Arial"/>
                  <a:buAutoNum type="alphaLcPeriod" startAt="3"/>
                </a:pPr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914400" indent="-457200">
                  <a:buSzPts val="2000"/>
                  <a:buFont typeface="Arial"/>
                  <a:buAutoNum type="alphaLcPeriod" startAt="3"/>
                </a:pPr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The graph of a function is shown. </a:t>
                </a:r>
                <a:br>
                  <a:rPr lang="en-US" sz="20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(0.1, 8.95)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(4.2, 18.912)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are </a:t>
                </a:r>
                <a:b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on the function.</a:t>
                </a:r>
              </a:p>
              <a:p>
                <a:pPr>
                  <a:buSzPts val="2000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Draw a line that connects the </a:t>
                </a:r>
                <a:br>
                  <a:rPr lang="en-US" sz="20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(0.1, 8.95)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(4.2, 18.912)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3477875"/>
              </a:xfrm>
              <a:prstGeom prst="rect">
                <a:avLst/>
              </a:prstGeom>
              <a:blipFill rotWithShape="1">
                <a:blip r:embed="rId5"/>
                <a:stretch>
                  <a:fillRect l="-610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/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The line drawn is a secant line.</a:t>
                </a:r>
              </a:p>
              <a:p>
                <a:pPr marL="457200"/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457200"/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457200"/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457200"/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457200"/>
                <a:endParaRPr lang="en-PH" sz="2000" dirty="0">
                  <a:latin typeface="Verdana"/>
                  <a:ea typeface="Verdana"/>
                  <a:sym typeface="Verdana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Find the slope of the secant line that passes through the points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(0.1, 8.95)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(4.2, 18.912)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2554545"/>
              </a:xfrm>
              <a:prstGeom prst="rect">
                <a:avLst/>
              </a:prstGeom>
              <a:blipFill rotWithShape="1">
                <a:blip r:embed="rId3"/>
                <a:stretch>
                  <a:fillRect t="-1193" r="-887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Google Shape;224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5" name="Google Shape;225;p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6" name="Google Shape;226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Google Shape;228;p9"/>
              <p:cNvSpPr/>
              <p:nvPr/>
            </p:nvSpPr>
            <p:spPr>
              <a:xfrm>
                <a:off x="2720874" y="4691264"/>
                <a:ext cx="6629400" cy="1566386"/>
              </a:xfrm>
              <a:prstGeom prst="roundRect">
                <a:avLst>
                  <a:gd name="adj" fmla="val 16667"/>
                </a:avLst>
              </a:prstGeom>
              <a:solidFill>
                <a:srgbClr val="E2EFD4"/>
              </a:solidFill>
              <a:ln>
                <a:noFill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91440" rIns="91425" bIns="91440" anchor="ctr" anchorCtr="0">
                <a:spAutoFit/>
              </a:bodyPr>
              <a:lstStyle/>
              <a:p>
                <a:pPr marL="114300"/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The </a:t>
                </a:r>
                <a:r>
                  <a:rPr lang="en-US" sz="2000" b="1" i="1" dirty="0">
                    <a:solidFill>
                      <a:srgbClr val="6C993D"/>
                    </a:solidFill>
                    <a:effectLst/>
                    <a:latin typeface="Verdana"/>
                    <a:ea typeface="Verdana"/>
                    <a:cs typeface="Verdana"/>
                  </a:rPr>
                  <a:t>average rate of change</a:t>
                </a:r>
                <a:r>
                  <a:rPr lang="en-US" sz="2000" dirty="0">
                    <a:solidFill>
                      <a:srgbClr val="6C993D"/>
                    </a:solidFill>
                    <a:effectLst/>
                    <a:latin typeface="Verdana"/>
                    <a:ea typeface="Verdana"/>
                    <a:cs typeface="Verdana"/>
                  </a:rPr>
                  <a:t> is the slope of the secant line. It is the change in the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D"/>
                        </a:solidFill>
                        <a:effectLst/>
                        <a:latin typeface="Cambria Math"/>
                        <a:ea typeface="Verdana"/>
                        <a:cs typeface="Verdana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6C993D"/>
                    </a:solidFill>
                    <a:effectLst/>
                    <a:latin typeface="Verdana"/>
                    <a:ea typeface="Verdana"/>
                    <a:cs typeface="Verdana"/>
                  </a:rPr>
                  <a:t>-values divided by the change in the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D"/>
                        </a:solidFill>
                        <a:effectLst/>
                        <a:latin typeface="Cambria Math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6C993D"/>
                    </a:solidFill>
                    <a:effectLst/>
                    <a:latin typeface="Verdana"/>
                    <a:ea typeface="Verdana"/>
                    <a:cs typeface="Verdana"/>
                  </a:rPr>
                  <a:t>-values for two distinct points.</a:t>
                </a:r>
                <a:endParaRPr dirty="0"/>
              </a:p>
            </p:txBody>
          </p:sp>
        </mc:Choice>
        <mc:Fallback xmlns="">
          <p:sp>
            <p:nvSpPr>
              <p:cNvPr id="228" name="Google Shape;228;p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874" y="4691264"/>
                <a:ext cx="6629400" cy="1566386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28;p9"/>
          <p:cNvSpPr/>
          <p:nvPr/>
        </p:nvSpPr>
        <p:spPr>
          <a:xfrm>
            <a:off x="2720874" y="1045237"/>
            <a:ext cx="6629400" cy="885349"/>
          </a:xfrm>
          <a:prstGeom prst="roundRect">
            <a:avLst>
              <a:gd name="adj" fmla="val 16667"/>
            </a:avLst>
          </a:prstGeom>
          <a:solidFill>
            <a:srgbClr val="E2EFD4"/>
          </a:solidFill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40" rIns="91425" bIns="91440" anchor="ctr" anchorCtr="0">
            <a:spAutoFit/>
          </a:bodyPr>
          <a:lstStyle/>
          <a:p>
            <a:pPr marL="114300"/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secant line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is a line that passes through two points of a curve.</a:t>
            </a:r>
            <a:endParaRPr lang="en-US" sz="2000" dirty="0">
              <a:effectLst/>
              <a:latin typeface="Cambria"/>
              <a:ea typeface="MS Mincho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6" name="Google Shape;246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8" name="Google Shape;248;p11"/>
              <p:cNvGraphicFramePr/>
              <p:nvPr>
                <p:extLst>
                  <p:ext uri="{D42A27DB-BD31-4B8C-83A1-F6EECF244321}">
                    <p14:modId xmlns:p14="http://schemas.microsoft.com/office/powerpoint/2010/main" val="3810983842"/>
                  </p:ext>
                </p:extLst>
              </p:nvPr>
            </p:nvGraphicFramePr>
            <p:xfrm>
              <a:off x="2035692" y="1628600"/>
              <a:ext cx="4114800" cy="45720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68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1984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Average Price of Peanut Butter</a:t>
                          </a:r>
                          <a:endParaRPr sz="2000" b="1" dirty="0">
                            <a:solidFill>
                              <a:schemeClr val="dk1"/>
                            </a:solidFill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($ per pound)</a:t>
                          </a:r>
                          <a:endParaRPr sz="2000" b="1" dirty="0">
                            <a:solidFill>
                              <a:schemeClr val="dk1"/>
                            </a:solidFill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smtClean="0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1.471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1.601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1.514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1.695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1.761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1.792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1.834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2.147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8" name="Google Shape;248;p11"/>
              <p:cNvGraphicFramePr/>
              <p:nvPr>
                <p:extLst>
                  <p:ext uri="{D42A27DB-BD31-4B8C-83A1-F6EECF244321}">
                    <p14:modId xmlns:p14="http://schemas.microsoft.com/office/powerpoint/2010/main" val="3810983842"/>
                  </p:ext>
                </p:extLst>
              </p:nvPr>
            </p:nvGraphicFramePr>
            <p:xfrm>
              <a:off x="2035692" y="1628600"/>
              <a:ext cx="4114800" cy="45720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68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1984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Average Price of Peanut Butter</a:t>
                          </a:r>
                          <a:endParaRPr sz="2000" b="1" dirty="0">
                            <a:solidFill>
                              <a:schemeClr val="dk1"/>
                            </a:solidFill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($ per pound)</a:t>
                          </a:r>
                          <a:endParaRPr sz="2000" b="1" dirty="0">
                            <a:solidFill>
                              <a:schemeClr val="dk1"/>
                            </a:solidFill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219444" r="-151538" b="-7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219444" r="-1026" b="-7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319444" r="-151538" b="-6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319444" r="-1026" b="-6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408108" r="-151538" b="-4918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408108" r="-1026" b="-491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522222" r="-151538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522222" r="-1026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622222" r="-151538" b="-3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622222" r="-1026" b="-3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722222" r="-15153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722222" r="-1026" b="-2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822222" r="-151538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822222" r="-1026" b="-1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922222" r="-15153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179" t="-922222" r="-1026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49" name="Google Shape;249;p1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0481" y="1981997"/>
            <a:ext cx="3964131" cy="398815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The average price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16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ounces of creamy peanut butter for the years 1984 to 1991 is shown in the table. The values are plotted on the coordinate grid as shown.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61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6" name="Google Shape;256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7" name="Google Shape;257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Find the average rate of change for the interval 1985 to 1989. </a:t>
            </a:r>
            <a:br>
              <a:rPr lang="en-US" sz="20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Include units.</a:t>
            </a: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Find the average rate of change for the interval 1984 to 1991.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6" name="Google Shape;266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Interpret the average rate of change for the interval 1984 to 1991 in terms of the context. </a:t>
            </a: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What do you notice about the average rates of change for 1985 to 1989 and 1984 to 1991? 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8724" y="2298525"/>
            <a:ext cx="8013700" cy="37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5" name="Google Shape;275;p1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6" name="Google Shape;276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ts val="2000"/>
              <a:buFont typeface="Arial"/>
              <a:buAutoNum type="arabicPeriod" startAt="4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Mathematicians and economists often want to evaluate changes that have occurred over different time intervals to analyze trends and make predictions. </a:t>
            </a:r>
            <a:endParaRPr lang="en-US" sz="2000"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lang="en-US" sz="2000" dirty="0"/>
          </a:p>
          <a:p>
            <a:pPr marL="47307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graph shows the number of homes sold in the U.S., in thousands, from 1973 to 2015. 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4" name="Google Shape;284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5" name="Google Shape;285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Draw a line from the first data point to the last data point.</a:t>
            </a:r>
          </a:p>
          <a:p>
            <a:pPr marL="91440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Discuss with your partner why finding a rate of change using the first data point to the last data point would not give much information about how the number of sales has changed.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3" name="Google Shape;293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4" name="Google Shape;294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6" name="Google Shape;296;p16"/>
              <p:cNvGraphicFramePr/>
              <p:nvPr>
                <p:extLst>
                  <p:ext uri="{D42A27DB-BD31-4B8C-83A1-F6EECF244321}">
                    <p14:modId xmlns:p14="http://schemas.microsoft.com/office/powerpoint/2010/main" val="2368272631"/>
                  </p:ext>
                </p:extLst>
              </p:nvPr>
            </p:nvGraphicFramePr>
            <p:xfrm>
              <a:off x="1125537" y="976903"/>
              <a:ext cx="8593895" cy="554736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588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603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1973</a:t>
                          </a:r>
                          <a:endParaRPr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Homes Sold 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(in thousands)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1973</a:t>
                          </a:r>
                          <a:endParaRPr sz="14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Homes Sold 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(in thousands)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292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639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292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559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297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412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340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266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364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396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172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394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168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406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194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440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232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29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451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41</m:t>
                                </m:r>
                              </m:oMath>
                            </m:oMathPara>
                          </a14:m>
                          <a:endParaRPr sz="14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244</m:t>
                                </m:r>
                              </m:oMath>
                            </m:oMathPara>
                          </a14:m>
                          <a:endParaRPr sz="14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511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sz="14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285</m:t>
                                </m:r>
                              </m:oMath>
                            </m:oMathPara>
                          </a14:m>
                          <a:endParaRPr sz="14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562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6" name="Google Shape;296;p16"/>
              <p:cNvGraphicFramePr/>
              <p:nvPr>
                <p:extLst>
                  <p:ext uri="{D42A27DB-BD31-4B8C-83A1-F6EECF244321}">
                    <p14:modId xmlns:p14="http://schemas.microsoft.com/office/powerpoint/2010/main" val="2368272631"/>
                  </p:ext>
                </p:extLst>
              </p:nvPr>
            </p:nvGraphicFramePr>
            <p:xfrm>
              <a:off x="1125537" y="976903"/>
              <a:ext cx="8593895" cy="554736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5882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56035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1973</a:t>
                          </a:r>
                          <a:endParaRPr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Homes Sold 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(in thousands)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b="1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Since 1973</a:t>
                          </a:r>
                          <a:endParaRPr sz="14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Homes Sold 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(in thousands)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164706" r="-394737" b="-10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164706" r="-168496" b="-10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164706" r="-147719" b="-10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164706" r="-238" b="-1092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268657" r="-394737" b="-10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268657" r="-168496" b="-10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268657" r="-147719" b="-10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268657" r="-238" b="-100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363235" r="-394737" b="-8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363235" r="-168496" b="-8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363235" r="-147719" b="-8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363235" r="-238" b="-89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470149" r="-394737" b="-807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470149" r="-168496" b="-807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470149" r="-147719" b="-807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470149" r="-238" b="-8074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561765" r="-394737" b="-69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561765" r="-168496" b="-69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561765" r="-147719" b="-69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561765" r="-238" b="-695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671642" r="-394737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671642" r="-168496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671642" r="-147719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671642" r="-238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760294" r="-394737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760294" r="-168496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760294" r="-147719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760294" r="-238" b="-49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873134" r="-394737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873134" r="-168496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873134" r="-147719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873134" r="-238" b="-4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958824" r="-394737" b="-2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958824" r="-168496" b="-2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958824" r="-147719" b="-2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958824" r="-238" b="-298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1074627" r="-394737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1074627" r="-168496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1074627" r="-147719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1074627" r="-238" b="-2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1157353" r="-3947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1157353" r="-16849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1157353" r="-14771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1157353" r="-23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1" t="-1276119" r="-394737" b="-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258" t="-1276119" r="-168496" b="-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7368" t="-1276119" r="-147719" b="-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5714" t="-1276119" r="-238" b="-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table shows some of the values from the graph.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3" name="Google Shape;303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4" name="Google Shape;304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5"/>
            <a:ext cx="109900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Find the average rate of change for the time period of 1993 to 2005.</a:t>
            </a: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Interpret the average rate of change for the interval 1993 to 2005 in terms of the context. 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2" name="Google Shape;312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3" name="Google Shape;313;p1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 startAt="5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𝑀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=5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−160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+6179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models the number of miles, in millions, U.S. passengers traveled on a train for the period of 1970 to 2000, where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is the number of years since 1970.</a:t>
                </a:r>
              </a:p>
              <a:p>
                <a:pPr marL="457200" indent="-457200">
                  <a:buSzPts val="2000"/>
                  <a:buFont typeface="+mj-lt"/>
                  <a:buAutoNum type="arabicPeriod" startAt="5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the average rate of change, in miles traveled by U.S. passengers per year, for the period from 1986 to 2000? </a:t>
                </a:r>
                <a:endParaRPr lang="en-US" sz="2000" dirty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the average rate of change, in miles traveled by U.S. passengers per year, for the period from 1970 to 1980?</a:t>
                </a: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Discuss with your partner what the slope indicates about whether the graph is increasing or decreasing on the given interval.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4985980"/>
              </a:xfrm>
              <a:prstGeom prst="rect">
                <a:avLst/>
              </a:prstGeom>
              <a:blipFill rotWithShape="1">
                <a:blip r:embed="rId4"/>
                <a:stretch>
                  <a:fillRect l="-610" t="-733" r="-1109" b="-1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3" name="Google Shape;323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81;p15"/>
          <p:cNvSpPr txBox="1">
            <a:spLocks/>
          </p:cNvSpPr>
          <p:nvPr/>
        </p:nvSpPr>
        <p:spPr>
          <a:xfrm>
            <a:off x="5179611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28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52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1" name="Google Shape;331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3" name="Google Shape;333;p20"/>
          <p:cNvSpPr txBox="1"/>
          <p:nvPr/>
        </p:nvSpPr>
        <p:spPr>
          <a:xfrm>
            <a:off x="8897112" y="6457676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91;p16"/>
          <p:cNvSpPr txBox="1"/>
          <p:nvPr/>
        </p:nvSpPr>
        <p:spPr>
          <a:xfrm>
            <a:off x="1143000" y="178430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13.11.3 Try It: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Average Rate of Change</a:t>
            </a:r>
          </a:p>
        </p:txBody>
      </p:sp>
      <p:pic>
        <p:nvPicPr>
          <p:cNvPr id="9" name="Google Shape;293;p1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760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Mrs. Wilson’s class conducts an investigation to find out how quickly the height of water in a half-gallon jug changes after a small hole is created near the bottom of the jug.  The class finds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=0.01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−2.77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+136.51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models the height, in millimeters, of water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seconds after the hole is created.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000" dirty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457200" lvl="0">
                  <a:spcAft>
                    <a:spcPts val="1000"/>
                  </a:spcAft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the average rate of change, in millimeters per second, for the period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37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53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seconds? Round your answer to the nearest hundredth.</a:t>
                </a:r>
                <a:endParaRPr lang="en-US" sz="2000" i="1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611"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3" name="Google Shape;343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5" name="Google Shape;345;p21"/>
              <p:cNvGraphicFramePr/>
              <p:nvPr>
                <p:extLst>
                  <p:ext uri="{D42A27DB-BD31-4B8C-83A1-F6EECF244321}">
                    <p14:modId xmlns:p14="http://schemas.microsoft.com/office/powerpoint/2010/main" val="2099490655"/>
                  </p:ext>
                </p:extLst>
              </p:nvPr>
            </p:nvGraphicFramePr>
            <p:xfrm>
              <a:off x="7872984" y="410665"/>
              <a:ext cx="3657600" cy="47244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60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Blueberries Imported (tons)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2005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26,319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2006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32,602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2007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35,125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2008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52,111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2009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60,450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2010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76,743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2011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87,336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2012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96,367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2013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103,502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5" name="Google Shape;345;p21"/>
              <p:cNvGraphicFramePr/>
              <p:nvPr>
                <p:extLst>
                  <p:ext uri="{D42A27DB-BD31-4B8C-83A1-F6EECF244321}">
                    <p14:modId xmlns:p14="http://schemas.microsoft.com/office/powerpoint/2010/main" val="2099490655"/>
                  </p:ext>
                </p:extLst>
              </p:nvPr>
            </p:nvGraphicFramePr>
            <p:xfrm>
              <a:off x="7872984" y="410665"/>
              <a:ext cx="3657600" cy="4724400"/>
            </p:xfrm>
            <a:graphic>
              <a:graphicData uri="http://schemas.openxmlformats.org/drawingml/2006/table">
                <a:tbl>
                  <a:tblPr>
                    <a:noFill/>
                    <a:tableStyleId>{0B6B021F-5979-4B51-9AF6-A8C9194B21B1}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603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Blueberries Imported (tons)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149333" r="-233333" b="-8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149333" b="-8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249333" r="-233333" b="-7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249333" b="-7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349333" r="-233333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349333" b="-6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449333" r="-233333" b="-5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449333" b="-5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549333" r="-233333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549333" b="-4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649333" r="-233333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649333" b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749333" r="-233333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749333" b="-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849333" r="-233333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849333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56" t="-949333" r="-233333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095" t="-949333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4"/>
            <a:ext cx="686036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SzPts val="2000"/>
              <a:buFont typeface="Arial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table shows the number of tons of blueberries that were imported to the US from 2005 to 2013.</a:t>
            </a:r>
          </a:p>
          <a:p>
            <a:pPr lvl="0">
              <a:buSzPts val="2000"/>
            </a:pPr>
            <a:endParaRPr lang="en-PH" sz="2000" dirty="0">
              <a:latin typeface="Verdana"/>
              <a:ea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Determine the average rate of change from 2007 to 2012.</a:t>
            </a: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Interpret the average rate of change for the interval 2007 to 2012 in terms of the context.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368" name="Google Shape;368;p23"/>
          <p:cNvGraphicFramePr/>
          <p:nvPr>
            <p:extLst>
              <p:ext uri="{D42A27DB-BD31-4B8C-83A1-F6EECF244321}">
                <p14:modId xmlns:p14="http://schemas.microsoft.com/office/powerpoint/2010/main" val="2389736664"/>
              </p:ext>
            </p:extLst>
          </p:nvPr>
        </p:nvGraphicFramePr>
        <p:xfrm>
          <a:off x="2522283" y="2336012"/>
          <a:ext cx="6793850" cy="1789775"/>
        </p:xfrm>
        <a:graphic>
          <a:graphicData uri="http://schemas.openxmlformats.org/drawingml/2006/table">
            <a:tbl>
              <a:tblPr>
                <a:noFill/>
                <a:tableStyleId>{0B6B021F-5979-4B51-9AF6-A8C9194B21B1}</a:tableStyleId>
              </a:tblPr>
              <a:tblGrid>
                <a:gridCol w="29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Flat Aluminum Sheet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Sheet Folded for Rain Gutter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69" name="Google Shape;369;p2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8984" y="3330106"/>
            <a:ext cx="2870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1279" y="3096093"/>
            <a:ext cx="23876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13.11.4 Wrap-Up: Ticket Out the Door</a:t>
            </a:r>
          </a:p>
        </p:txBody>
      </p:sp>
      <p:pic>
        <p:nvPicPr>
          <p:cNvPr id="12" name="Google Shape;469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02526" y="1205051"/>
                <a:ext cx="1124042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ts val="2000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A rain gutter is made from a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inch (in.) aluminum sheet with the edges folded up, as shown.</a:t>
                </a:r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26" y="1205051"/>
                <a:ext cx="11240429" cy="707886"/>
              </a:xfrm>
              <a:prstGeom prst="rect">
                <a:avLst/>
              </a:prstGeom>
              <a:blipFill rotWithShape="1">
                <a:blip r:embed="rId7"/>
                <a:stretch>
                  <a:fillRect l="-542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7" name="Google Shape;377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8" name="Google Shape;378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8145" y="1976976"/>
            <a:ext cx="5914858" cy="40140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(20−2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models the cross-sectional area of a rain gutter made from the sheet,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is the height of the rain gutter. 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graph of the function is shown.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610" t="-2304" r="-111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7" name="Google Shape;387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8" name="Google Shape;388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5"/>
                <a:ext cx="1099002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the average rate of change for the interval of heights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in. to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in.?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Interpret the average rate of change for the interval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in. to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in. in terms of the context.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5"/>
                <a:ext cx="10990020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610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5" ma:contentTypeDescription="Create a new document." ma:contentTypeScope="" ma:versionID="dc2e7c46903a19026ffd9241c4aab9a4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1ddb56356d319bfd686db11b81a9c6e4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AB45C3DA-5A22-443C-9F45-543D322E6975}"/>
</file>

<file path=customXml/itemProps2.xml><?xml version="1.0" encoding="utf-8"?>
<ds:datastoreItem xmlns:ds="http://schemas.openxmlformats.org/officeDocument/2006/customXml" ds:itemID="{0485A1A6-2DE8-46A3-8533-8433FA397D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DE496B-8E5E-4A03-9F47-00054F6430F5}">
  <ds:schemaRefs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aecc3118-db6a-47b0-8115-3eb3ee12f279"/>
    <ds:schemaRef ds:uri="c8f36ed4-5234-49bf-a7f7-5f171c3a2f5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1438</Words>
  <Application>Microsoft Macintosh PowerPoint</Application>
  <PresentationFormat>Widescreen</PresentationFormat>
  <Paragraphs>318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Noto Sans Symbols</vt:lpstr>
      <vt:lpstr>Arial</vt:lpstr>
      <vt:lpstr>Cambria</vt:lpstr>
      <vt:lpstr>Century Gothic</vt:lpstr>
      <vt:lpstr>Calibri</vt:lpstr>
      <vt:lpstr>Cambria Math</vt:lpstr>
      <vt:lpstr>Verdana</vt:lpstr>
      <vt:lpstr>Arial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13, Lesson 11  Calculating and Interpreting Average Rate of Change  Volume 2, pg. 291</dc:title>
  <dc:creator>Karen McKenzie</dc:creator>
  <cp:lastModifiedBy>Mary Ellen Freeman</cp:lastModifiedBy>
  <cp:revision>17</cp:revision>
  <dcterms:created xsi:type="dcterms:W3CDTF">2015-03-17T18:51:18Z</dcterms:created>
  <dcterms:modified xsi:type="dcterms:W3CDTF">2024-04-09T15:21:55Z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