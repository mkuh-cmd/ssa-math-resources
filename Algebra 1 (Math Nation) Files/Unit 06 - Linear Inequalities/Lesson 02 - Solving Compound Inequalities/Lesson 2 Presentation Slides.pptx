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33" r:id="rId10"/>
    <p:sldId id="288" r:id="rId11"/>
    <p:sldId id="342" r:id="rId12"/>
    <p:sldId id="289" r:id="rId13"/>
    <p:sldId id="290" r:id="rId14"/>
    <p:sldId id="336" r:id="rId15"/>
    <p:sldId id="343" r:id="rId16"/>
    <p:sldId id="345" r:id="rId17"/>
    <p:sldId id="344" r:id="rId18"/>
    <p:sldId id="314" r:id="rId19"/>
    <p:sldId id="315" r:id="rId20"/>
    <p:sldId id="332" r:id="rId21"/>
    <p:sldId id="348" r:id="rId22"/>
    <p:sldId id="347" r:id="rId23"/>
    <p:sldId id="323" r:id="rId24"/>
    <p:sldId id="324" r:id="rId25"/>
    <p:sldId id="346" r:id="rId26"/>
    <p:sldId id="337" r:id="rId27"/>
    <p:sldId id="302" r:id="rId28"/>
    <p:sldId id="303" r:id="rId29"/>
    <p:sldId id="340" r:id="rId30"/>
    <p:sldId id="306" r:id="rId31"/>
    <p:sldId id="307" r:id="rId32"/>
  </p:sldIdLst>
  <p:sldSz cx="12192000" cy="6858000"/>
  <p:notesSz cx="6858000" cy="9144000"/>
  <p:embeddedFontLst>
    <p:embeddedFont>
      <p:font typeface="Calibri" pitchFamily="34" charset="0"/>
      <p:regular r:id="rId34"/>
      <p:bold r:id="rId35"/>
      <p:italic r:id="rId36"/>
      <p:boldItalic r:id="rId37"/>
    </p:embeddedFont>
    <p:embeddedFont>
      <p:font typeface="Century Gothic" pitchFamily="34" charset="0"/>
      <p:regular r:id="rId38"/>
      <p:bold r:id="rId39"/>
      <p:italic r:id="rId40"/>
      <p:boldItalic r:id="rId41"/>
    </p:embeddedFont>
    <p:embeddedFont>
      <p:font typeface="Cambria Math" pitchFamily="18" charset="0"/>
      <p:regular r:id="rId42"/>
    </p:embeddedFont>
    <p:embeddedFont>
      <p:font typeface="Cambria" pitchFamily="18" charset="0"/>
      <p:regular r:id="rId43"/>
      <p:bold r:id="rId44"/>
      <p:italic r:id="rId45"/>
      <p:boldItalic r:id="rId46"/>
    </p:embeddedFont>
    <p:embeddedFont>
      <p:font typeface="Arial Black" pitchFamily="34" charset="0"/>
      <p:bold r:id="rId47"/>
    </p:embeddedFont>
    <p:embeddedFont>
      <p:font typeface="MS Mincho" pitchFamily="49" charset="-128"/>
      <p:regular r:id="rId48"/>
    </p:embeddedFont>
    <p:embeddedFont>
      <p:font typeface="Verdana" pitchFamily="3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6C46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2083" autoAdjust="0"/>
    <p:restoredTop sz="94694"/>
  </p:normalViewPr>
  <p:slideViewPr>
    <p:cSldViewPr snapToGrid="0">
      <p:cViewPr varScale="1">
        <p:scale>
          <a:sx n="68" d="100"/>
          <a:sy n="68" d="100"/>
        </p:scale>
        <p:origin x="-126" y="-10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8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87333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32417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0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3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jpeg"/><Relationship Id="rId5" Type="http://schemas.openxmlformats.org/officeDocument/2006/relationships/image" Target="../media/image370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Compound Inequalities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297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xmlns="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97002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MA.912.AR.2.6 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a mathematical or real-world context, write and solve one-variable linear inequalities, including compound inequalities. Represent solutions algebraically or graphically.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0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4988" indent="-528638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2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solve compound one-variable inequalities. </a:t>
            </a:r>
          </a:p>
          <a:p>
            <a:pPr marL="534988" indent="-528638">
              <a:buClr>
                <a:srgbClr val="434343"/>
              </a:buClr>
              <a:buSzPts val="3500"/>
              <a:buFont typeface="Verdana"/>
              <a:buChar char="❏"/>
            </a:pPr>
            <a:endParaRPr lang="en-US" sz="32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534988" indent="-528638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2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graph the solution of an inequality on a number line.</a:t>
            </a:r>
          </a:p>
          <a:p>
            <a:pPr marL="534988" indent="-528638">
              <a:buClr>
                <a:srgbClr val="434343"/>
              </a:buClr>
              <a:buSzPts val="3500"/>
              <a:buFont typeface="Verdana"/>
              <a:buChar char="❏"/>
            </a:pPr>
            <a:endParaRPr lang="en-US" sz="32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534988" indent="-528638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2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interpret solutions to problems as viable or non-viable options.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275690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6.2.1 Warm-Up: Bell Work 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914400" y="1386025"/>
                <a:ext cx="8327136" cy="1386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Bef>
                    <a:spcPts val="900"/>
                  </a:spcBef>
                  <a:spcAft>
                    <a:spcPts val="18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Solve and graph the inequality.</a:t>
                </a:r>
                <a:endParaRPr lang="en-PH" sz="2400" i="1" dirty="0">
                  <a:latin typeface="Cambria Math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PH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  <a:ea typeface="MS Mincho"/>
                              <a:cs typeface="Times New Roman"/>
                            </a:rPr>
                            <m:t>2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  <a:ea typeface="MS Mincho"/>
                              <a:cs typeface="Times New Roman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PH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  <a:ea typeface="MS Mincho"/>
                              <a:cs typeface="Times New Roman"/>
                            </a:rPr>
                            <m:t>12</m:t>
                          </m:r>
                          <m:r>
                            <a:rPr lang="en-US" sz="2400" i="1">
                              <a:latin typeface="Cambria Math"/>
                              <a:ea typeface="MS Mincho"/>
                              <a:cs typeface="Times New Roman"/>
                            </a:rPr>
                            <m:t>𝑚</m:t>
                          </m:r>
                          <m:r>
                            <a:rPr lang="en-US" sz="2400" i="1">
                              <a:latin typeface="Cambria Math"/>
                              <a:ea typeface="MS Mincho"/>
                              <a:cs typeface="Times New Roman"/>
                            </a:rPr>
                            <m:t>+93</m:t>
                          </m:r>
                        </m:e>
                      </m:d>
                      <m:r>
                        <a:rPr lang="en-US" sz="2400" i="1">
                          <a:latin typeface="Cambria Math"/>
                          <a:ea typeface="MS Mincho"/>
                          <a:cs typeface="Times New Roman"/>
                        </a:rPr>
                        <m:t>≤86−(−</m:t>
                      </m:r>
                      <m:r>
                        <a:rPr lang="en-US" sz="2400" i="1">
                          <a:latin typeface="Cambria Math"/>
                          <a:ea typeface="MS Mincho"/>
                          <a:cs typeface="Times New Roman"/>
                        </a:rPr>
                        <m:t>𝑚</m:t>
                      </m:r>
                      <m:r>
                        <a:rPr lang="en-US" sz="2400" i="1">
                          <a:latin typeface="Cambria Math"/>
                          <a:ea typeface="MS Mincho"/>
                          <a:cs typeface="Times New Roman"/>
                        </a:rPr>
                        <m:t>−4)</m:t>
                      </m:r>
                    </m:oMath>
                  </m:oMathPara>
                </a14:m>
                <a:endParaRPr lang="en-US" sz="2400" dirty="0">
                  <a:latin typeface="Verdana"/>
                  <a:ea typeface="MS Mincho"/>
                  <a:cs typeface="Times New Roman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5"/>
                <a:ext cx="8327136" cy="1386342"/>
              </a:xfrm>
              <a:prstGeom prst="rect">
                <a:avLst/>
              </a:prstGeom>
              <a:blipFill>
                <a:blip r:embed="rId5"/>
                <a:stretch>
                  <a:fillRect l="-1220" t="-3604" b="-3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/>
          <p:nvPr/>
        </p:nvPicPr>
        <p:blipFill>
          <a:blip r:embed="rId6"/>
          <a:stretch>
            <a:fillRect/>
          </a:stretch>
        </p:blipFill>
        <p:spPr>
          <a:xfrm>
            <a:off x="1706557" y="4016596"/>
            <a:ext cx="7455743" cy="669901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6.2.2 Exploration: Is It a Solution?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1480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52D1D4D-DCB8-A246-B186-D40316579D77}"/>
              </a:ext>
            </a:extLst>
          </p:cNvPr>
          <p:cNvSpPr txBox="1"/>
          <p:nvPr/>
        </p:nvSpPr>
        <p:spPr>
          <a:xfrm>
            <a:off x="914400" y="1386025"/>
            <a:ext cx="10515600" cy="5132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900"/>
              </a:spcBef>
              <a:buFont typeface="+mj-lt"/>
              <a:buAutoNum type="arabi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Two inequalities are shown in the table.</a:t>
            </a:r>
            <a:endParaRPr lang="en-PH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914400" lvl="1" indent="-457200">
              <a:spcBef>
                <a:spcPts val="900"/>
              </a:spcBef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With your partner, discuss the similarities and differences of the two inequalities. Summarize your discussion.</a:t>
            </a:r>
          </a:p>
          <a:p>
            <a:pPr marL="914400" lvl="1" indent="-457200">
              <a:spcBef>
                <a:spcPts val="900"/>
              </a:spcBef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914400" lvl="1" indent="-457200">
              <a:spcBef>
                <a:spcPts val="900"/>
              </a:spcBef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914400" lvl="1" indent="-457200">
              <a:spcBef>
                <a:spcPts val="900"/>
              </a:spcBef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914400" lvl="1" indent="-457200">
              <a:spcBef>
                <a:spcPts val="900"/>
              </a:spcBef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914400" lvl="1" indent="-457200">
              <a:spcBef>
                <a:spcPts val="900"/>
              </a:spcBef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914400" lvl="1" indent="-457200">
              <a:spcBef>
                <a:spcPts val="900"/>
              </a:spcBef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914400" lvl="1" indent="-457200">
              <a:spcBef>
                <a:spcPts val="900"/>
              </a:spcBef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914400" lvl="1" indent="-457200">
              <a:spcBef>
                <a:spcPts val="9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MS Mincho"/>
                <a:cs typeface="Times New Roman"/>
              </a:rPr>
              <a:t>Solve each of the inequalities in the space provided in the table.</a:t>
            </a:r>
            <a:endParaRPr lang="en-PH" sz="2000" dirty="0">
              <a:latin typeface="Cambria"/>
              <a:ea typeface="MS Mincho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5368645"/>
                  </p:ext>
                </p:extLst>
              </p:nvPr>
            </p:nvGraphicFramePr>
            <p:xfrm>
              <a:off x="2748750" y="2673992"/>
              <a:ext cx="7200000" cy="25562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Inequality A</a:t>
                          </a:r>
                          <a:endParaRPr lang="en-PH" sz="14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Inequality B</a:t>
                          </a:r>
                          <a:endParaRPr lang="en-PH" sz="14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16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</a:rPr>
                                  <m:t>−17.5&lt;−</m:t>
                                </m:r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PH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8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𝑓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+11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PH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8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𝑓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+11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/>
                                  </a:rPr>
                                  <m:t>≤3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</a:rPr>
                                  <m:t>𝑓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5368645"/>
                  </p:ext>
                </p:extLst>
              </p:nvPr>
            </p:nvGraphicFramePr>
            <p:xfrm>
              <a:off x="2748750" y="2673992"/>
              <a:ext cx="7200000" cy="25562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Inequality A</a:t>
                          </a:r>
                          <a:endParaRPr lang="en-PH" sz="14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Inequality B</a:t>
                          </a:r>
                          <a:endParaRPr lang="en-PH" sz="14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2" t="-19883" r="-100704" b="-1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52" t="-19883" r="-704" b="-11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8330183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spcBef>
                <a:spcPts val="900"/>
              </a:spcBef>
              <a:buFont typeface="+mj-lt"/>
              <a:buAutoNum type="alphaLcPeriod" startAt="3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/>
              </a:rPr>
              <a:t>Graph the solution set of Inequality A.</a:t>
            </a:r>
          </a:p>
          <a:p>
            <a:pPr marL="914400" lvl="1" indent="-457200">
              <a:spcBef>
                <a:spcPts val="900"/>
              </a:spcBef>
              <a:buFont typeface="+mj-lt"/>
              <a:buAutoNum type="alphaLcPeriod" startAt="3"/>
            </a:pPr>
            <a:endParaRPr lang="en-US" sz="24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914400" lvl="1" indent="-457200">
              <a:spcBef>
                <a:spcPts val="900"/>
              </a:spcBef>
              <a:buFont typeface="+mj-lt"/>
              <a:buAutoNum type="alphaLcPeriod" startAt="3"/>
            </a:pPr>
            <a:endParaRPr lang="en-US" sz="24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914400" lvl="1" indent="-457200">
              <a:spcBef>
                <a:spcPts val="900"/>
              </a:spcBef>
              <a:buFont typeface="+mj-lt"/>
              <a:buAutoNum type="alphaLcPeriod" startAt="3"/>
            </a:pPr>
            <a:endParaRPr lang="en-US" sz="24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914400" lvl="1" indent="-457200">
              <a:spcBef>
                <a:spcPts val="900"/>
              </a:spcBef>
              <a:buFont typeface="+mj-lt"/>
              <a:buAutoNum type="alphaLcPeriod" startAt="3"/>
            </a:pPr>
            <a:endParaRPr lang="en-US" sz="24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914400" lvl="1" indent="-457200">
              <a:spcBef>
                <a:spcPts val="900"/>
              </a:spcBef>
              <a:buFont typeface="+mj-lt"/>
              <a:buAutoNum type="alphaLcPeriod" startAt="3"/>
            </a:pPr>
            <a:endParaRPr lang="en-US" sz="24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914400" lvl="1" indent="-457200">
              <a:spcBef>
                <a:spcPts val="900"/>
              </a:spcBef>
              <a:buFont typeface="+mj-lt"/>
              <a:buAutoNum type="alphaLcPeriod" startAt="3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/>
              </a:rPr>
              <a:t>Graph the solution set of Inequality B.</a:t>
            </a:r>
            <a:endParaRPr lang="en-PH" sz="2400" dirty="0"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p:pic>
        <p:nvPicPr>
          <p:cNvPr id="6" name="Picture 5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8074" y="1622311"/>
            <a:ext cx="7333051" cy="583159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8074" y="4772598"/>
            <a:ext cx="7333051" cy="583159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14400" y="520393"/>
            <a:ext cx="10515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2175" indent="-457200">
              <a:spcAft>
                <a:spcPts val="600"/>
              </a:spcAft>
              <a:buFont typeface="+mj-lt"/>
              <a:buAutoNum type="alphaLcPeriod" startAt="5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list of values is shown.</a:t>
            </a:r>
          </a:p>
          <a:p>
            <a:pPr marL="892175">
              <a:spcBef>
                <a:spcPts val="900"/>
              </a:spcBef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>
              <a:spcBef>
                <a:spcPts val="900"/>
              </a:spcBef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>
              <a:spcBef>
                <a:spcPts val="900"/>
              </a:spcBef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>
              <a:spcBef>
                <a:spcPts val="900"/>
              </a:spcBef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With your partner, determine whether each value is in the solution set of Inequality A only, Inequality B only, or both. Record the values in the table below.</a:t>
            </a:r>
            <a:endParaRPr lang="en-PH" sz="2000" dirty="0"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2502164" y="1012497"/>
                <a:ext cx="7550812" cy="1150386"/>
              </a:xfrm>
              <a:prstGeom prst="roundRect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Aft>
                    <a:spcPts val="600"/>
                  </a:spcAft>
                  <a:buClrTx/>
                  <a:defRPr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−0.25</m:t>
                    </m:r>
                  </m:oMath>
                </a14:m>
                <a:r>
                  <a:rPr lang="en-US" sz="2000" dirty="0">
                    <a:latin typeface="Cambria"/>
                    <a:ea typeface="MS Mincho"/>
                    <a:cs typeface="Times New Roman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3</m:t>
                    </m:r>
                  </m:oMath>
                </a14:m>
                <a:r>
                  <a:rPr lang="en-US" sz="2000" dirty="0">
                    <a:latin typeface="Cambria"/>
                    <a:ea typeface="MS Mincho"/>
                    <a:cs typeface="Times New Roman"/>
                  </a:rPr>
                  <a:t>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000" i="1">
                            <a:latin typeface="Cambria Math"/>
                            <a:ea typeface="MS Mincho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MS Mincho"/>
                            <a:cs typeface="Times New Roman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MS Mincho"/>
                            <a:cs typeface="Times New Roman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Cambria"/>
                    <a:ea typeface="MS Mincho"/>
                    <a:cs typeface="Times New Roman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−84</m:t>
                    </m:r>
                  </m:oMath>
                </a14:m>
                <a:r>
                  <a:rPr lang="en-US" sz="2000" dirty="0">
                    <a:latin typeface="Cambria"/>
                    <a:ea typeface="MS Mincho"/>
                    <a:cs typeface="Times New Roman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1,000</m:t>
                    </m:r>
                  </m:oMath>
                </a14:m>
                <a:r>
                  <a:rPr lang="en-US" sz="2000" dirty="0">
                    <a:latin typeface="Cambria"/>
                    <a:ea typeface="MS Mincho"/>
                    <a:cs typeface="Times New Roman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−</m:t>
                    </m:r>
                    <m:f>
                      <m:fPr>
                        <m:ctrlPr>
                          <a:rPr lang="en-PH" sz="2000" i="1">
                            <a:latin typeface="Cambria Math"/>
                            <a:ea typeface="MS Mincho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MS Mincho"/>
                            <a:cs typeface="Times New Roman"/>
                          </a:rPr>
                          <m:t>4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MS Mincho"/>
                            <a:cs typeface="Times New Roman"/>
                          </a:rPr>
                          <m:t>5</m:t>
                        </m:r>
                      </m:den>
                    </m:f>
                  </m:oMath>
                </a14:m>
                <a:endParaRPr lang="en-PH" sz="2000" dirty="0">
                  <a:solidFill>
                    <a:sysClr val="window" lastClr="FFFFFF"/>
                  </a:solidFill>
                  <a:latin typeface="Cambria"/>
                  <a:ea typeface="MS Mincho"/>
                  <a:cs typeface="Times New Roman"/>
                </a:endParaRPr>
              </a:p>
              <a:p>
                <a:pPr algn="ctr">
                  <a:spcAft>
                    <a:spcPts val="1000"/>
                  </a:spcAft>
                  <a:buClrTx/>
                  <a:defRPr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2.87</m:t>
                    </m:r>
                  </m:oMath>
                </a14:m>
                <a:r>
                  <a:rPr lang="en-US" sz="2000" dirty="0">
                    <a:latin typeface="Cambria"/>
                    <a:ea typeface="MS Mincho"/>
                    <a:cs typeface="Times New Roman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−1.4</m:t>
                    </m:r>
                  </m:oMath>
                </a14:m>
                <a:r>
                  <a:rPr lang="en-US" sz="2000" dirty="0">
                    <a:latin typeface="Cambria"/>
                    <a:ea typeface="MS Mincho"/>
                    <a:cs typeface="Times New Roman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0</m:t>
                    </m:r>
                  </m:oMath>
                </a14:m>
                <a:r>
                  <a:rPr lang="en-US" sz="2000" dirty="0">
                    <a:latin typeface="Cambria"/>
                    <a:ea typeface="MS Mincho"/>
                    <a:cs typeface="Times New Roman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18.6</m:t>
                    </m:r>
                  </m:oMath>
                </a14:m>
                <a:r>
                  <a:rPr lang="en-US" sz="2000" dirty="0">
                    <a:latin typeface="Cambria"/>
                    <a:ea typeface="MS Mincho"/>
                    <a:cs typeface="Times New Roman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−</m:t>
                    </m:r>
                    <m:f>
                      <m:fPr>
                        <m:ctrlPr>
                          <a:rPr lang="en-PH" sz="2000" i="1">
                            <a:latin typeface="Cambria Math"/>
                            <a:ea typeface="MS Mincho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MS Mincho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MS Mincho"/>
                            <a:cs typeface="Times New Roman"/>
                          </a:rPr>
                          <m:t>2</m:t>
                        </m:r>
                      </m:den>
                    </m:f>
                  </m:oMath>
                </a14:m>
                <a:endParaRPr lang="en-PH" sz="2000" dirty="0">
                  <a:solidFill>
                    <a:sysClr val="window" lastClr="FFFFFF"/>
                  </a:solidFill>
                  <a:latin typeface="Cambria"/>
                  <a:ea typeface="MS Mincho"/>
                  <a:cs typeface="Times New Roman"/>
                </a:endParaRPr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164" y="1012497"/>
                <a:ext cx="7550812" cy="115038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986906"/>
              </p:ext>
            </p:extLst>
          </p:nvPr>
        </p:nvGraphicFramePr>
        <p:xfrm>
          <a:off x="2549912" y="3382715"/>
          <a:ext cx="7344000" cy="3057840"/>
        </p:xfrm>
        <a:graphic>
          <a:graphicData uri="http://schemas.openxmlformats.org/drawingml/2006/table">
            <a:tbl>
              <a:tblPr firstRow="1" firstCol="1" bandRow="1"/>
              <a:tblGrid>
                <a:gridCol w="2448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/>
                        </a:rPr>
                        <a:t>Solution to Inequality A Only</a:t>
                      </a:r>
                      <a:endParaRPr lang="en-PH" sz="1400" dirty="0">
                        <a:effectLst/>
                        <a:latin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/>
                        </a:rPr>
                        <a:t>Satisfies Both Inequalities</a:t>
                      </a:r>
                      <a:endParaRPr lang="en-PH" sz="1400" dirty="0">
                        <a:effectLst/>
                        <a:latin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/>
                        </a:rPr>
                        <a:t>Solution to Inequality B Only</a:t>
                      </a:r>
                      <a:endParaRPr lang="en-PH" sz="1400" dirty="0">
                        <a:effectLst/>
                        <a:latin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52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</a:rPr>
                        <a:t> </a:t>
                      </a:r>
                      <a:endParaRPr lang="en-PH" sz="1400" dirty="0">
                        <a:effectLst/>
                        <a:latin typeface="Cambria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</a:rPr>
                        <a:t> </a:t>
                      </a:r>
                      <a:endParaRPr lang="en-PH" sz="1400" dirty="0">
                        <a:effectLst/>
                        <a:latin typeface="Cambria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</a:rPr>
                        <a:t> </a:t>
                      </a:r>
                      <a:endParaRPr lang="en-PH" sz="1400" dirty="0">
                        <a:effectLst/>
                        <a:latin typeface="Cambria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14400" y="520393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+mj-lt"/>
              <a:buAutoNum type="alphaLcPeriod" startAt="6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/>
              </a:rPr>
              <a:t>Write two more numbers that are solutions to </a:t>
            </a:r>
            <a:r>
              <a:rPr lang="en-US" sz="2400" b="1" dirty="0">
                <a:latin typeface="Verdana" pitchFamily="34" charset="0"/>
                <a:ea typeface="Verdana" pitchFamily="34" charset="0"/>
                <a:cs typeface="Times New Roman"/>
              </a:rPr>
              <a:t>both</a:t>
            </a:r>
            <a:r>
              <a:rPr lang="en-US" sz="2400" dirty="0">
                <a:latin typeface="Verdana" pitchFamily="34" charset="0"/>
                <a:ea typeface="Verdana" pitchFamily="34" charset="0"/>
                <a:cs typeface="Times New Roman"/>
              </a:rPr>
              <a:t> Inequality A and Inequality B. </a:t>
            </a:r>
          </a:p>
          <a:p>
            <a:pPr marL="914400" lvl="1" indent="-457200">
              <a:buFont typeface="+mj-lt"/>
              <a:buAutoNum type="alphaLcPeriod" startAt="6"/>
            </a:pPr>
            <a:endParaRPr lang="en-US" sz="24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914400" lvl="1" indent="-457200">
              <a:buFont typeface="+mj-lt"/>
              <a:buAutoNum type="alphaLcPeriod" startAt="6"/>
            </a:pPr>
            <a:endParaRPr lang="en-US" sz="24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914400" lvl="1" indent="-457200">
              <a:buFont typeface="+mj-lt"/>
              <a:buAutoNum type="alphaLcPeriod" startAt="6"/>
            </a:pPr>
            <a:endParaRPr lang="en-US" sz="24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914400" lvl="1" indent="-457200">
              <a:buFont typeface="+mj-lt"/>
              <a:buAutoNum type="alphaLcPeriod" startAt="6"/>
            </a:pPr>
            <a:endParaRPr lang="en-US" sz="24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914400" lvl="1" indent="-457200">
              <a:buFont typeface="+mj-lt"/>
              <a:buAutoNum type="alphaLcPeriod" startAt="6"/>
            </a:pPr>
            <a:endParaRPr lang="en-US" sz="24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914400" lvl="1" indent="-457200">
              <a:buFont typeface="+mj-lt"/>
              <a:buAutoNum type="alphaLcPeriod" startAt="6"/>
            </a:pPr>
            <a:endParaRPr lang="en-US" sz="24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914400" lvl="1" indent="-457200">
              <a:buFont typeface="+mj-lt"/>
              <a:buAutoNum type="alphaLcPeriod" startAt="6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/>
              </a:rPr>
              <a:t>Describe the set of numbers that satisfies both Inequality A and Inequality B.</a:t>
            </a:r>
            <a:endParaRPr lang="en-PH" sz="2400" dirty="0"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3902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8597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6.2.3 Guided Instruction: </a:t>
            </a: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Compound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Inequalities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914400" y="2345030"/>
                <a:ext cx="10515600" cy="3066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Bef>
                    <a:spcPts val="900"/>
                  </a:spcBef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The inequalities from the Exploration can be expressed as the compound inequality shown.</a:t>
                </a:r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algn="ctr"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−17.5&lt;−</m:t>
                    </m:r>
                    <m:f>
                      <m:fPr>
                        <m:ctrlPr>
                          <a:rPr lang="en-PH" sz="2000" i="1">
                            <a:latin typeface="Cambria Math"/>
                            <a:ea typeface="MS Mincho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MS Mincho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MS Mincho"/>
                            <a:cs typeface="Times New Roman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PH" sz="2000" i="1">
                            <a:latin typeface="Cambria Math"/>
                            <a:ea typeface="MS Mincho"/>
                            <a:cs typeface="Times New Roman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MS Mincho"/>
                            <a:cs typeface="Times New Roman"/>
                          </a:rPr>
                          <m:t>8</m:t>
                        </m:r>
                        <m:r>
                          <a:rPr lang="en-US" sz="2000" i="1">
                            <a:latin typeface="Cambria Math"/>
                            <a:ea typeface="MS Mincho"/>
                            <a:cs typeface="Times New Roman"/>
                          </a:rPr>
                          <m:t>𝑓</m:t>
                        </m:r>
                        <m:r>
                          <a:rPr lang="en-US" sz="2000" i="1">
                            <a:latin typeface="Cambria Math"/>
                            <a:ea typeface="MS Mincho"/>
                            <a:cs typeface="Times New Roman"/>
                          </a:rPr>
                          <m:t>+11</m:t>
                        </m:r>
                      </m:e>
                    </m:d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≤3</m:t>
                    </m:r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𝑓</m:t>
                    </m:r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−2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 </a:t>
                </a:r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457200">
                  <a:spcBef>
                    <a:spcPts val="1800"/>
                  </a:spcBef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The solution set of the compound inequality is the set of all values that satisfies both inequalities. </a:t>
                </a:r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892175" indent="-457200">
                  <a:spcBef>
                    <a:spcPts val="18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/>
                  </a:rPr>
                  <a:t>Select the compound inequality that represents the solution set.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345030"/>
                <a:ext cx="10515600" cy="3066096"/>
              </a:xfrm>
              <a:prstGeom prst="rect">
                <a:avLst/>
              </a:prstGeom>
              <a:blipFill>
                <a:blip r:embed="rId5"/>
                <a:stretch>
                  <a:fillRect l="-603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2060448" y="1239723"/>
            <a:ext cx="7560000" cy="958468"/>
            <a:chOff x="2031300" y="3373600"/>
            <a:chExt cx="7560000" cy="959217"/>
          </a:xfrm>
        </p:grpSpPr>
        <p:grpSp>
          <p:nvGrpSpPr>
            <p:cNvPr id="10" name="Group 9"/>
            <p:cNvGrpSpPr/>
            <p:nvPr/>
          </p:nvGrpSpPr>
          <p:grpSpPr>
            <a:xfrm>
              <a:off x="2031300" y="3373600"/>
              <a:ext cx="7560000" cy="959217"/>
              <a:chOff x="2031300" y="3373600"/>
              <a:chExt cx="7560000" cy="959217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/>
                    <a:ea typeface="MS Mincho"/>
                    <a:cs typeface="Times New Roman"/>
                  </a:rPr>
                  <a:t> </a:t>
                </a:r>
                <a:endParaRPr lang="en-PH" sz="1200">
                  <a:latin typeface="Cambria"/>
                  <a:ea typeface="MS Mincho"/>
                  <a:cs typeface="Times New Roman"/>
                </a:endParaRPr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>
                <a:off x="2031300" y="3373600"/>
                <a:ext cx="7560000" cy="959217"/>
                <a:chOff x="0" y="0"/>
                <a:chExt cx="7560000" cy="959217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/>
                      <a:ea typeface="MS Mincho"/>
                      <a:cs typeface="Times New Roman"/>
                    </a:rPr>
                    <a:t> </a:t>
                  </a:r>
                  <a:endParaRPr lang="en-PH" sz="1200">
                    <a:latin typeface="Cambria"/>
                    <a:ea typeface="MS Mincho"/>
                    <a:cs typeface="Times New Roman"/>
                  </a:endParaRPr>
                </a:p>
              </p:txBody>
            </p:sp>
            <p:sp>
              <p:nvSpPr>
                <p:cNvPr id="16" name="Rounded Rectangle 15"/>
                <p:cNvSpPr/>
                <p:nvPr/>
              </p:nvSpPr>
              <p:spPr>
                <a:xfrm>
                  <a:off x="0" y="146417"/>
                  <a:ext cx="7560000" cy="8128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spAutoFit/>
                </a:bodyPr>
                <a:lstStyle/>
                <a:p>
                  <a:pPr marL="709613">
                    <a:tabLst>
                      <a:tab pos="714375" algn="l"/>
                    </a:tabLst>
                  </a:pPr>
                  <a:r>
                    <a:rPr lang="en-US" sz="2000" dirty="0">
                      <a:solidFill>
                        <a:srgbClr val="6C993D"/>
                      </a:solidFill>
                      <a:latin typeface="Verdana"/>
                      <a:ea typeface="Verdana"/>
                      <a:cs typeface="Verdana"/>
                    </a:rPr>
                    <a:t>A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/>
                      <a:ea typeface="Verdana"/>
                      <a:cs typeface="Verdana"/>
                    </a:rPr>
                    <a:t>compound inequality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/>
                      <a:ea typeface="Verdana"/>
                      <a:cs typeface="Verdana"/>
                    </a:rPr>
                    <a:t> is a conjunction of two or more inequalities.</a:t>
                  </a:r>
                  <a:endParaRPr lang="en-PH" dirty="0">
                    <a:latin typeface="Cambria"/>
                    <a:ea typeface="MS Mincho"/>
                    <a:cs typeface="Times New Roman"/>
                  </a:endParaRPr>
                </a:p>
              </p:txBody>
            </p:sp>
            <p:pic>
              <p:nvPicPr>
                <p:cNvPr id="17" name="Shape 7" descr="Icon&#10;&#10;Description automatically generated"/>
                <p:cNvPicPr preferRelativeResize="0"/>
                <p:nvPr/>
              </p:nvPicPr>
              <p:blipFill rotWithShape="1">
                <a:blip r:embed="rId6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138545" y="282941"/>
                  <a:ext cx="539750" cy="5397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034910" y="5274310"/>
                <a:ext cx="6913840" cy="1560299"/>
              </a:xfrm>
              <a:prstGeom prst="rect">
                <a:avLst/>
              </a:prstGeom>
            </p:spPr>
            <p:txBody>
              <a:bodyPr wrap="square" lIns="0" tIns="0" rIns="0" bIns="0" numCol="2">
                <a:spAutoFit/>
              </a:bodyPr>
              <a:lstStyle/>
              <a:p>
                <a:pPr marL="463550" indent="-463550">
                  <a:lnSpc>
                    <a:spcPct val="150000"/>
                  </a:lnSpc>
                  <a:spcAft>
                    <a:spcPts val="100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PH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/>
                      </a:rPr>
                      <m:t>&lt;</m:t>
                    </m:r>
                    <m:r>
                      <a:rPr lang="en-US" sz="2000" i="1">
                        <a:latin typeface="Cambria Math"/>
                      </a:rPr>
                      <m:t>𝑓</m:t>
                    </m:r>
                    <m:r>
                      <a:rPr lang="en-US" sz="2000" i="1">
                        <a:latin typeface="Cambria Math"/>
                      </a:rPr>
                      <m:t>≤3</m:t>
                    </m:r>
                  </m:oMath>
                </a14:m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  <a:p>
                <a:pPr marL="463550" indent="-463550">
                  <a:lnSpc>
                    <a:spcPct val="150000"/>
                  </a:lnSpc>
                  <a:spcAft>
                    <a:spcPts val="100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PH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/>
                      </a:rPr>
                      <m:t>≤</m:t>
                    </m:r>
                    <m:r>
                      <a:rPr lang="en-US" sz="2000" i="1">
                        <a:latin typeface="Cambria Math"/>
                      </a:rPr>
                      <m:t>𝑓</m:t>
                    </m:r>
                    <m:r>
                      <a:rPr lang="en-US" sz="2000" i="1">
                        <a:latin typeface="Cambria Math"/>
                      </a:rPr>
                      <m:t>&lt;3</m:t>
                    </m:r>
                  </m:oMath>
                </a14:m>
                <a:endParaRPr lang="en-US" sz="2000" i="1" dirty="0">
                  <a:latin typeface="Cambria Math"/>
                </a:endParaRPr>
              </a:p>
              <a:p>
                <a:pPr marL="463550" indent="-463550">
                  <a:lnSpc>
                    <a:spcPct val="150000"/>
                  </a:lnSpc>
                  <a:spcAft>
                    <a:spcPts val="100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3&lt;</m:t>
                    </m:r>
                    <m:r>
                      <a:rPr lang="en-US" sz="2000" i="1">
                        <a:latin typeface="Cambria Math"/>
                      </a:rPr>
                      <m:t>𝑓</m:t>
                    </m:r>
                    <m:r>
                      <a:rPr lang="en-US" sz="2000" i="1">
                        <a:latin typeface="Cambria Math"/>
                      </a:rPr>
                      <m:t>≤−</m:t>
                    </m:r>
                    <m:f>
                      <m:fPr>
                        <m:ctrlPr>
                          <a:rPr lang="en-PH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  <a:p>
                <a:pPr marL="463550" indent="-463550">
                  <a:lnSpc>
                    <a:spcPct val="150000"/>
                  </a:lnSpc>
                  <a:spcAft>
                    <a:spcPts val="100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3≤</m:t>
                    </m:r>
                    <m:r>
                      <a:rPr lang="en-US" sz="2000" i="1">
                        <a:latin typeface="Cambria Math"/>
                      </a:rPr>
                      <m:t>𝑓</m:t>
                    </m:r>
                    <m:r>
                      <a:rPr lang="en-US" sz="2000" i="1">
                        <a:latin typeface="Cambria Math"/>
                      </a:rPr>
                      <m:t>&lt;−</m:t>
                    </m:r>
                    <m:f>
                      <m:fPr>
                        <m:ctrlPr>
                          <a:rPr lang="en-PH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910" y="5274310"/>
                <a:ext cx="6913840" cy="1560299"/>
              </a:xfrm>
              <a:prstGeom prst="rect">
                <a:avLst/>
              </a:prstGeom>
              <a:blipFill>
                <a:blip r:embed="rId7"/>
                <a:stretch>
                  <a:fillRect l="-2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2175" indent="-457200">
              <a:spcBef>
                <a:spcPts val="900"/>
              </a:spcBef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MS Mincho"/>
                <a:cs typeface="Times New Roman"/>
              </a:rPr>
              <a:t>Discuss with your partner what you think the graph of the solution set of this compound inequality would look like.</a:t>
            </a:r>
            <a:endParaRPr lang="en-PH" sz="1600" dirty="0">
              <a:latin typeface="Cambria"/>
              <a:ea typeface="MS Mincho"/>
              <a:cs typeface="Times New Roman"/>
            </a:endParaRPr>
          </a:p>
          <a:p>
            <a:pPr marL="892175" indent="-457200">
              <a:spcBef>
                <a:spcPts val="900"/>
              </a:spcBef>
              <a:buFont typeface="+mj-lt"/>
              <a:buAutoNum type="alphaLcPeriod" startAt="2"/>
            </a:pPr>
            <a:endParaRPr lang="en-US" sz="2400" dirty="0">
              <a:latin typeface="Verdana"/>
              <a:ea typeface="MS Mincho"/>
              <a:cs typeface="Times New Roman"/>
            </a:endParaRPr>
          </a:p>
          <a:p>
            <a:pPr marL="892175" indent="-457200">
              <a:spcBef>
                <a:spcPts val="900"/>
              </a:spcBef>
              <a:buFont typeface="+mj-lt"/>
              <a:buAutoNum type="alphaLcPeriod" startAt="2"/>
            </a:pPr>
            <a:endParaRPr lang="en-US" sz="2400" dirty="0">
              <a:latin typeface="Verdana"/>
              <a:ea typeface="MS Mincho"/>
              <a:cs typeface="Times New Roman"/>
            </a:endParaRPr>
          </a:p>
          <a:p>
            <a:pPr marL="892175" indent="-457200">
              <a:spcBef>
                <a:spcPts val="900"/>
              </a:spcBef>
              <a:buFont typeface="+mj-lt"/>
              <a:buAutoNum type="alphaLcPeriod" startAt="2"/>
            </a:pPr>
            <a:endParaRPr lang="en-US" sz="2400" dirty="0">
              <a:latin typeface="Verdana"/>
              <a:ea typeface="MS Mincho"/>
              <a:cs typeface="Times New Roman"/>
            </a:endParaRPr>
          </a:p>
          <a:p>
            <a:pPr marL="892175" indent="-457200">
              <a:spcBef>
                <a:spcPts val="900"/>
              </a:spcBef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MS Mincho"/>
                <a:cs typeface="Times New Roman"/>
              </a:rPr>
              <a:t>The graph of the compound inequality is the </a:t>
            </a:r>
            <a:r>
              <a:rPr lang="en-US" sz="2400" b="1" dirty="0">
                <a:latin typeface="Verdana"/>
                <a:ea typeface="MS Mincho"/>
                <a:cs typeface="Times New Roman"/>
              </a:rPr>
              <a:t>intersection</a:t>
            </a:r>
            <a:r>
              <a:rPr lang="en-US" sz="2400" dirty="0">
                <a:latin typeface="Verdana"/>
                <a:ea typeface="MS Mincho"/>
                <a:cs typeface="Times New Roman"/>
              </a:rPr>
              <a:t> of the two graphs from the Exploration. Graph the solution set of the compound inequality.</a:t>
            </a:r>
            <a:endParaRPr lang="en-PH" sz="1600" dirty="0">
              <a:latin typeface="Cambria"/>
              <a:ea typeface="MS Mincho"/>
              <a:cs typeface="Times New Roman"/>
            </a:endParaRPr>
          </a:p>
        </p:txBody>
      </p:sp>
      <p:pic>
        <p:nvPicPr>
          <p:cNvPr id="6" name="Picture 5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457" y="4850867"/>
            <a:ext cx="7305486" cy="580966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14400" y="520393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/>
              </a:rPr>
              <a:t>The inequality from the previous question is an example of a </a:t>
            </a:r>
            <a:r>
              <a:rPr lang="en-US" sz="2400" b="1" dirty="0">
                <a:latin typeface="Verdana"/>
              </a:rPr>
              <a:t>conjunctive</a:t>
            </a:r>
            <a:r>
              <a:rPr lang="en-US" sz="2400" dirty="0">
                <a:latin typeface="Verdana"/>
              </a:rPr>
              <a:t> compound inequality.</a:t>
            </a:r>
          </a:p>
          <a:p>
            <a:endParaRPr lang="en-US" sz="24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/>
              <a:ea typeface="MS Mincho"/>
              <a:cs typeface="Times New Roman"/>
            </a:endParaRPr>
          </a:p>
          <a:p>
            <a:endParaRPr lang="en-US" sz="2400" dirty="0">
              <a:latin typeface="Verdana"/>
              <a:ea typeface="MS Mincho"/>
              <a:cs typeface="Times New Roman"/>
            </a:endParaRPr>
          </a:p>
          <a:p>
            <a:r>
              <a:rPr lang="en-US" sz="2400" dirty="0">
                <a:latin typeface="Verdana"/>
                <a:ea typeface="MS Mincho"/>
                <a:cs typeface="Times New Roman"/>
              </a:rPr>
              <a:t>Compound inequalities can also be </a:t>
            </a:r>
            <a:r>
              <a:rPr lang="en-US" sz="2400" b="1" dirty="0">
                <a:latin typeface="Verdana"/>
                <a:ea typeface="MS Mincho"/>
                <a:cs typeface="Times New Roman"/>
              </a:rPr>
              <a:t>disjunctive</a:t>
            </a:r>
            <a:r>
              <a:rPr lang="en-US" sz="2400" dirty="0">
                <a:latin typeface="Verdana"/>
                <a:ea typeface="MS Mincho"/>
                <a:cs typeface="Times New Roman"/>
              </a:rPr>
              <a:t>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906997" y="1581088"/>
            <a:ext cx="8427904" cy="1294931"/>
            <a:chOff x="0" y="20446"/>
            <a:chExt cx="8428648" cy="89916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5" name="Group 14"/>
            <p:cNvGrpSpPr/>
            <p:nvPr/>
          </p:nvGrpSpPr>
          <p:grpSpPr>
            <a:xfrm>
              <a:off x="0" y="20446"/>
              <a:ext cx="8428648" cy="899166"/>
              <a:chOff x="2031300" y="3407254"/>
              <a:chExt cx="8428648" cy="899166"/>
            </a:xfrm>
          </p:grpSpPr>
          <p:grpSp>
            <p:nvGrpSpPr>
              <p:cNvPr id="17" name="Group 16"/>
              <p:cNvGrpSpPr/>
              <p:nvPr/>
            </p:nvGrpSpPr>
            <p:grpSpPr>
              <a:xfrm>
                <a:off x="2031300" y="3407254"/>
                <a:ext cx="8428648" cy="899166"/>
                <a:chOff x="0" y="20446"/>
                <a:chExt cx="8428648" cy="899166"/>
              </a:xfrm>
            </p:grpSpPr>
            <p:sp>
              <p:nvSpPr>
                <p:cNvPr id="18" name="Rectangle 17"/>
                <p:cNvSpPr/>
                <p:nvPr/>
              </p:nvSpPr>
              <p:spPr>
                <a:xfrm>
                  <a:off x="0" y="220447"/>
                  <a:ext cx="6629400" cy="345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/>
                      <a:ea typeface="MS Mincho"/>
                      <a:cs typeface="Times New Roman"/>
                    </a:rPr>
                    <a:t> </a:t>
                  </a:r>
                  <a:endParaRPr lang="en-PH" sz="1200">
                    <a:latin typeface="Cambria"/>
                    <a:ea typeface="MS Mincho"/>
                    <a:cs typeface="Times New Roman"/>
                  </a:endParaRPr>
                </a:p>
              </p:txBody>
            </p:sp>
            <p:sp>
              <p:nvSpPr>
                <p:cNvPr id="19" name="Rounded Rectangle 18"/>
                <p:cNvSpPr/>
                <p:nvPr/>
              </p:nvSpPr>
              <p:spPr>
                <a:xfrm>
                  <a:off x="147917" y="20446"/>
                  <a:ext cx="8280731" cy="89916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</p:spPr>
              <p:txBody>
                <a:bodyPr spcFirstLastPara="1" wrap="square" lIns="91425" tIns="72000" rIns="91425" bIns="0" anchor="ctr" anchorCtr="0">
                  <a:spAutoFit/>
                </a:bodyPr>
                <a:lstStyle/>
                <a:p>
                  <a:pPr marL="709613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0075BF"/>
                      </a:solidFill>
                      <a:latin typeface="Verdana" pitchFamily="34" charset="0"/>
                      <a:ea typeface="Verdana" pitchFamily="34" charset="0"/>
                      <a:cs typeface="Verdana"/>
                    </a:rPr>
                    <a:t>In a </a:t>
                  </a:r>
                  <a:r>
                    <a:rPr lang="en-US" sz="2000" b="1" dirty="0">
                      <a:solidFill>
                        <a:srgbClr val="0075BF"/>
                      </a:solidFill>
                      <a:latin typeface="Verdana" pitchFamily="34" charset="0"/>
                      <a:ea typeface="Verdana" pitchFamily="34" charset="0"/>
                      <a:cs typeface="Verdana"/>
                    </a:rPr>
                    <a:t>conjunction</a:t>
                  </a:r>
                  <a:r>
                    <a:rPr lang="en-US" sz="2000" dirty="0">
                      <a:solidFill>
                        <a:srgbClr val="0075BF"/>
                      </a:solidFill>
                      <a:latin typeface="Verdana" pitchFamily="34" charset="0"/>
                      <a:ea typeface="Verdana" pitchFamily="34" charset="0"/>
                      <a:cs typeface="Verdana"/>
                    </a:rPr>
                    <a:t>, the solution set satisfies all of the inequalities and is the </a:t>
                  </a:r>
                  <a:r>
                    <a:rPr lang="en-US" sz="2000" b="1" dirty="0">
                      <a:solidFill>
                        <a:srgbClr val="0075BF"/>
                      </a:solidFill>
                      <a:latin typeface="Verdana" pitchFamily="34" charset="0"/>
                      <a:ea typeface="Verdana" pitchFamily="34" charset="0"/>
                      <a:cs typeface="Verdana"/>
                    </a:rPr>
                    <a:t>intersection</a:t>
                  </a:r>
                  <a:r>
                    <a:rPr lang="en-US" sz="2000" dirty="0">
                      <a:solidFill>
                        <a:srgbClr val="0075BF"/>
                      </a:solidFill>
                      <a:latin typeface="Verdana" pitchFamily="34" charset="0"/>
                      <a:ea typeface="Verdana" pitchFamily="34" charset="0"/>
                      <a:cs typeface="Verdana"/>
                    </a:rPr>
                    <a:t> of the solution sets. A </a:t>
                  </a:r>
                  <a:r>
                    <a:rPr lang="en-US" sz="2000" b="1" dirty="0">
                      <a:solidFill>
                        <a:srgbClr val="0075BF"/>
                      </a:solidFill>
                      <a:latin typeface="Verdana" pitchFamily="34" charset="0"/>
                      <a:ea typeface="Verdana" pitchFamily="34" charset="0"/>
                      <a:cs typeface="Verdana"/>
                    </a:rPr>
                    <a:t>conjunction</a:t>
                  </a:r>
                  <a:r>
                    <a:rPr lang="en-US" sz="2000" dirty="0">
                      <a:solidFill>
                        <a:srgbClr val="0075BF"/>
                      </a:solidFill>
                      <a:latin typeface="Verdana" pitchFamily="34" charset="0"/>
                      <a:ea typeface="Verdana" pitchFamily="34" charset="0"/>
                      <a:cs typeface="Verdana"/>
                    </a:rPr>
                    <a:t> often uses the word “and.”</a:t>
                  </a:r>
                  <a:r>
                    <a:rPr lang="en-US" sz="2000" dirty="0">
                      <a:latin typeface="Verdana" pitchFamily="34" charset="0"/>
                      <a:ea typeface="Verdana" pitchFamily="34" charset="0"/>
                      <a:cs typeface="Times New Roman"/>
                    </a:rPr>
                    <a:t> </a:t>
                  </a:r>
                  <a:endParaRPr lang="en-PH" sz="2000" dirty="0">
                    <a:latin typeface="Verdana" pitchFamily="34" charset="0"/>
                    <a:ea typeface="Verdana" pitchFamily="34" charset="0"/>
                    <a:cs typeface="Times New Roman"/>
                  </a:endParaRPr>
                </a:p>
              </p:txBody>
            </p:sp>
          </p:grpSp>
        </p:grpSp>
        <p:pic>
          <p:nvPicPr>
            <p:cNvPr id="16" name="image15.png" descr="Icon&#10;&#10;Description automatically generated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09978" y="191101"/>
              <a:ext cx="539750" cy="374496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0" name="Group 19"/>
          <p:cNvGrpSpPr/>
          <p:nvPr/>
        </p:nvGrpSpPr>
        <p:grpSpPr>
          <a:xfrm>
            <a:off x="2054901" y="4498299"/>
            <a:ext cx="8280000" cy="1243877"/>
            <a:chOff x="0" y="-58647"/>
            <a:chExt cx="8280000" cy="864212"/>
          </a:xfrm>
        </p:grpSpPr>
        <p:grpSp>
          <p:nvGrpSpPr>
            <p:cNvPr id="21" name="Group 20"/>
            <p:cNvGrpSpPr/>
            <p:nvPr/>
          </p:nvGrpSpPr>
          <p:grpSpPr>
            <a:xfrm>
              <a:off x="0" y="-58647"/>
              <a:ext cx="8280000" cy="864212"/>
              <a:chOff x="2031300" y="3328161"/>
              <a:chExt cx="8280000" cy="864212"/>
            </a:xfrm>
          </p:grpSpPr>
          <p:grpSp>
            <p:nvGrpSpPr>
              <p:cNvPr id="23" name="Group 22"/>
              <p:cNvGrpSpPr/>
              <p:nvPr/>
            </p:nvGrpSpPr>
            <p:grpSpPr>
              <a:xfrm>
                <a:off x="2031300" y="3328161"/>
                <a:ext cx="8280000" cy="864212"/>
                <a:chOff x="0" y="-58647"/>
                <a:chExt cx="8280000" cy="864212"/>
              </a:xfrm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0" y="1"/>
                  <a:ext cx="6629400" cy="564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/>
                      <a:ea typeface="MS Mincho"/>
                      <a:cs typeface="Times New Roman"/>
                    </a:rPr>
                    <a:t> </a:t>
                  </a:r>
                  <a:endParaRPr lang="en-PH" sz="1200">
                    <a:latin typeface="Cambria"/>
                    <a:ea typeface="MS Mincho"/>
                    <a:cs typeface="Times New Roman"/>
                  </a:endParaRPr>
                </a:p>
              </p:txBody>
            </p:sp>
            <p:sp>
              <p:nvSpPr>
                <p:cNvPr id="25" name="Rounded Rectangle 24"/>
                <p:cNvSpPr/>
                <p:nvPr/>
              </p:nvSpPr>
              <p:spPr>
                <a:xfrm>
                  <a:off x="0" y="-58647"/>
                  <a:ext cx="8280000" cy="86421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72000" rIns="91425" bIns="0" anchor="ctr" anchorCtr="0">
                  <a:spAutoFit/>
                </a:bodyPr>
                <a:lstStyle/>
                <a:p>
                  <a:pPr marL="709613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0075BF"/>
                      </a:solidFill>
                      <a:latin typeface="Verdana" pitchFamily="34" charset="0"/>
                      <a:ea typeface="Verdana" pitchFamily="34" charset="0"/>
                      <a:cs typeface="Verdana"/>
                    </a:rPr>
                    <a:t>In a </a:t>
                  </a:r>
                  <a:r>
                    <a:rPr lang="en-US" sz="2000" b="1" dirty="0">
                      <a:solidFill>
                        <a:srgbClr val="0075BF"/>
                      </a:solidFill>
                      <a:latin typeface="Verdana" pitchFamily="34" charset="0"/>
                      <a:ea typeface="Verdana" pitchFamily="34" charset="0"/>
                      <a:cs typeface="Verdana"/>
                    </a:rPr>
                    <a:t>disjunction</a:t>
                  </a:r>
                  <a:r>
                    <a:rPr lang="en-US" sz="2000" dirty="0">
                      <a:solidFill>
                        <a:srgbClr val="0075BF"/>
                      </a:solidFill>
                      <a:latin typeface="Verdana" pitchFamily="34" charset="0"/>
                      <a:ea typeface="Verdana" pitchFamily="34" charset="0"/>
                      <a:cs typeface="Verdana"/>
                    </a:rPr>
                    <a:t>, the solution set is any value that is in any of the individual solution sets. A </a:t>
                  </a:r>
                  <a:r>
                    <a:rPr lang="en-US" sz="2000" b="1" dirty="0">
                      <a:solidFill>
                        <a:srgbClr val="0075BF"/>
                      </a:solidFill>
                      <a:latin typeface="Verdana" pitchFamily="34" charset="0"/>
                      <a:ea typeface="Verdana" pitchFamily="34" charset="0"/>
                      <a:cs typeface="Verdana"/>
                    </a:rPr>
                    <a:t>disjunction</a:t>
                  </a:r>
                  <a:r>
                    <a:rPr lang="en-US" sz="2000" dirty="0">
                      <a:solidFill>
                        <a:srgbClr val="0075BF"/>
                      </a:solidFill>
                      <a:latin typeface="Verdana" pitchFamily="34" charset="0"/>
                      <a:ea typeface="Verdana" pitchFamily="34" charset="0"/>
                      <a:cs typeface="Verdana"/>
                    </a:rPr>
                    <a:t> often uses the word “or.”</a:t>
                  </a:r>
                  <a:r>
                    <a:rPr lang="en-US" sz="2000" dirty="0">
                      <a:latin typeface="Verdana" pitchFamily="34" charset="0"/>
                      <a:ea typeface="Verdana" pitchFamily="34" charset="0"/>
                      <a:cs typeface="Times New Roman"/>
                    </a:rPr>
                    <a:t> </a:t>
                  </a:r>
                  <a:endParaRPr lang="en-PH" sz="2000" dirty="0">
                    <a:latin typeface="Verdana" pitchFamily="34" charset="0"/>
                    <a:ea typeface="Verdana" pitchFamily="34" charset="0"/>
                    <a:cs typeface="Times New Roman"/>
                  </a:endParaRPr>
                </a:p>
              </p:txBody>
            </p:sp>
          </p:grpSp>
        </p:grpSp>
        <p:pic>
          <p:nvPicPr>
            <p:cNvPr id="22" name="image15.png" descr="Icon&#10;&#10;Description automatically generated"/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7918" y="80683"/>
              <a:ext cx="539750" cy="374496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6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128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3"/>
                <a:ext cx="10515600" cy="2353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Bef>
                    <a:spcPts val="900"/>
                  </a:spcBef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Consider the following example of a disjunctive compound inequality.</a:t>
                </a:r>
              </a:p>
              <a:p>
                <a:pPr algn="ctr"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−3</m:t>
                    </m:r>
                    <m:d>
                      <m:dPr>
                        <m:ctrlPr>
                          <a:rPr lang="en-PH" sz="2400" i="1">
                            <a:latin typeface="Cambria Math"/>
                            <a:ea typeface="MS Mincho"/>
                            <a:cs typeface="Times New Roman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  <a:ea typeface="MS Mincho"/>
                            <a:cs typeface="Times New Roman"/>
                          </a:rPr>
                          <m:t>1</m:t>
                        </m:r>
                        <m:f>
                          <m:fPr>
                            <m:ctrlPr>
                              <a:rPr lang="en-PH" sz="2400" i="1">
                                <a:latin typeface="Cambria Math"/>
                                <a:ea typeface="MS Mincho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/>
                                <a:ea typeface="MS Mincho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/>
                                <a:ea typeface="MS Mincho"/>
                                <a:cs typeface="Times New Roman"/>
                              </a:rPr>
                              <m:t>2</m:t>
                            </m:r>
                          </m:den>
                        </m:f>
                        <m:r>
                          <a:rPr lang="en-US" sz="2400" i="1">
                            <a:latin typeface="Cambria Math"/>
                            <a:ea typeface="MS Mincho"/>
                            <a:cs typeface="Times New Roman"/>
                          </a:rPr>
                          <m:t>𝑚</m:t>
                        </m:r>
                        <m:r>
                          <a:rPr lang="en-US" sz="2400" i="1">
                            <a:latin typeface="Cambria Math"/>
                            <a:ea typeface="MS Mincho"/>
                            <a:cs typeface="Times New Roman"/>
                          </a:rPr>
                          <m:t>−2</m:t>
                        </m:r>
                        <m:f>
                          <m:fPr>
                            <m:ctrlPr>
                              <a:rPr lang="en-PH" sz="2400" i="1">
                                <a:latin typeface="Cambria Math"/>
                                <a:ea typeface="MS Mincho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/>
                                <a:ea typeface="MS Mincho"/>
                                <a:cs typeface="Times New Roman"/>
                              </a:rPr>
                              <m:t>3</m:t>
                            </m:r>
                          </m:num>
                          <m:den>
                            <m:r>
                              <a:rPr lang="en-US" sz="2400" i="1">
                                <a:latin typeface="Cambria Math"/>
                                <a:ea typeface="MS Mincho"/>
                                <a:cs typeface="Times New Roman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&lt;22</m:t>
                    </m:r>
                    <m:f>
                      <m:fPr>
                        <m:ctrlPr>
                          <a:rPr lang="en-PH" sz="2400" i="1">
                            <a:latin typeface="Cambria Math"/>
                            <a:ea typeface="MS Mincho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MS Mincho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MS Mincho"/>
                            <a:cs typeface="Times New Roman"/>
                          </a:rPr>
                          <m:t>4</m:t>
                        </m:r>
                      </m:den>
                    </m:f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−</m:t>
                    </m:r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𝑚</m:t>
                    </m:r>
                  </m:oMath>
                </a14:m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/>
                            <a:ea typeface="MS Mincho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MS Mincho"/>
                            <a:cs typeface="Times New Roman"/>
                          </a:rPr>
                          <m:t>75</m:t>
                        </m:r>
                        <m:r>
                          <a:rPr lang="en-US" sz="2400" i="1">
                            <a:latin typeface="Cambria Math"/>
                            <a:ea typeface="MS Mincho"/>
                            <a:cs typeface="Times New Roman"/>
                          </a:rPr>
                          <m:t>𝑚</m:t>
                        </m:r>
                        <m:r>
                          <a:rPr lang="en-US" sz="2400" i="1">
                            <a:latin typeface="Cambria Math"/>
                            <a:ea typeface="MS Mincho"/>
                            <a:cs typeface="Times New Roman"/>
                          </a:rPr>
                          <m:t>−9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MS Mincho"/>
                            <a:cs typeface="Times New Roman"/>
                          </a:rPr>
                          <m:t>12</m:t>
                        </m:r>
                      </m:den>
                    </m:f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≤−132</m:t>
                    </m:r>
                  </m:oMath>
                </a14:m>
                <a:endParaRPr lang="en-US" sz="2400" dirty="0">
                  <a:latin typeface="Verdana"/>
                  <a:ea typeface="MS Mincho"/>
                  <a:cs typeface="Times New Roman"/>
                </a:endParaRPr>
              </a:p>
              <a:p>
                <a:pPr marL="892175" lvl="1" indent="-457200">
                  <a:buFont typeface="+mj-lt"/>
                  <a:buAutoNum type="alphaLcPeriod"/>
                </a:pPr>
                <a:endParaRPr lang="en-US" sz="2400" dirty="0">
                  <a:latin typeface="Verdana"/>
                  <a:ea typeface="MS Mincho"/>
                  <a:cs typeface="Times New Roman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Solve each inequality.</a:t>
                </a:r>
                <a:endParaRPr lang="en-PH" sz="1600" dirty="0">
                  <a:latin typeface="Cambria"/>
                  <a:ea typeface="MS Mincho"/>
                  <a:cs typeface="Times New Roman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3"/>
                <a:ext cx="10515600" cy="2353208"/>
              </a:xfrm>
              <a:prstGeom prst="rect">
                <a:avLst/>
              </a:prstGeom>
              <a:blipFill>
                <a:blip r:embed="rId4"/>
                <a:stretch>
                  <a:fillRect l="-870" t="-2073" b="-4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7937731"/>
                  </p:ext>
                </p:extLst>
              </p:nvPr>
            </p:nvGraphicFramePr>
            <p:xfrm>
              <a:off x="2996976" y="2960600"/>
              <a:ext cx="6948000" cy="342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28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42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342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</a:rPr>
                                  <m:t>−3</m:t>
                                </m:r>
                                <m:d>
                                  <m:dPr>
                                    <m:ctrlPr>
                                      <a:rPr lang="en-PH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1</m:t>
                                    </m:r>
                                    <m:f>
                                      <m:fPr>
                                        <m:ctrlPr>
                                          <a:rPr lang="en-PH" sz="2000" i="1">
                                            <a:effectLst/>
                                            <a:latin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−2</m:t>
                                    </m:r>
                                    <m:f>
                                      <m:fPr>
                                        <m:ctrlPr>
                                          <a:rPr lang="en-PH" sz="2000" i="1">
                                            <a:effectLst/>
                                            <a:latin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/>
                                  </a:rPr>
                                  <m:t>&lt;22</m:t>
                                </m:r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75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−9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12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/>
                                  </a:rPr>
                                  <m:t>≤−132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7937731"/>
                  </p:ext>
                </p:extLst>
              </p:nvPr>
            </p:nvGraphicFramePr>
            <p:xfrm>
              <a:off x="2996976" y="2960600"/>
              <a:ext cx="6948000" cy="342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2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4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70" r="-97133" b="-7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333" t="-370" r="-370" b="-7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6820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spcBef>
                <a:spcPts val="900"/>
              </a:spcBef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MS Mincho"/>
                <a:cs typeface="Times New Roman"/>
              </a:rPr>
              <a:t>The solution set of the compound inequality is the set of all values that is a solution to either one of the inequalities. Graph the solution sets of </a:t>
            </a:r>
            <a:r>
              <a:rPr lang="en-US" sz="2400" b="1" dirty="0">
                <a:latin typeface="Verdana"/>
                <a:ea typeface="MS Mincho"/>
                <a:cs typeface="Times New Roman"/>
              </a:rPr>
              <a:t>both</a:t>
            </a:r>
            <a:r>
              <a:rPr lang="en-US" sz="2400" dirty="0">
                <a:latin typeface="Verdana"/>
                <a:ea typeface="MS Mincho"/>
                <a:cs typeface="Times New Roman"/>
              </a:rPr>
              <a:t> inequalities on the number line.</a:t>
            </a:r>
            <a:endParaRPr lang="en-PH" sz="1600" dirty="0">
              <a:latin typeface="Cambria"/>
              <a:ea typeface="MS Mincho"/>
              <a:cs typeface="Times New Roman"/>
            </a:endParaRPr>
          </a:p>
          <a:p>
            <a:pPr marL="914400" indent="-457200">
              <a:spcBef>
                <a:spcPts val="900"/>
              </a:spcBef>
              <a:buFont typeface="+mj-lt"/>
              <a:buAutoNum type="alphaLcPeriod" startAt="2"/>
            </a:pPr>
            <a:endParaRPr lang="en-US" sz="2400" dirty="0">
              <a:latin typeface="Verdana"/>
              <a:ea typeface="MS Mincho"/>
              <a:cs typeface="Times New Roman"/>
            </a:endParaRPr>
          </a:p>
          <a:p>
            <a:pPr marL="914400" indent="-457200">
              <a:spcBef>
                <a:spcPts val="900"/>
              </a:spcBef>
              <a:buFont typeface="+mj-lt"/>
              <a:buAutoNum type="alphaLcPeriod" startAt="2"/>
            </a:pPr>
            <a:endParaRPr lang="en-US" sz="2400" dirty="0">
              <a:latin typeface="Verdana"/>
              <a:ea typeface="MS Mincho"/>
              <a:cs typeface="Times New Roman"/>
            </a:endParaRPr>
          </a:p>
          <a:p>
            <a:pPr marL="914400" indent="-457200">
              <a:spcBef>
                <a:spcPts val="900"/>
              </a:spcBef>
              <a:buFont typeface="+mj-lt"/>
              <a:buAutoNum type="alphaLcPeriod" startAt="2"/>
            </a:pPr>
            <a:endParaRPr lang="en-US" sz="2400" dirty="0">
              <a:latin typeface="Verdana"/>
              <a:ea typeface="MS Mincho"/>
              <a:cs typeface="Times New Roman"/>
            </a:endParaRPr>
          </a:p>
          <a:p>
            <a:pPr marL="914400" indent="-457200">
              <a:spcBef>
                <a:spcPts val="900"/>
              </a:spcBef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MS Mincho"/>
                <a:cs typeface="Times New Roman"/>
              </a:rPr>
              <a:t>Explain which of the following values is </a:t>
            </a:r>
            <a:r>
              <a:rPr lang="en-US" sz="2400" b="1" dirty="0">
                <a:latin typeface="Verdana"/>
                <a:ea typeface="MS Mincho"/>
                <a:cs typeface="Times New Roman"/>
              </a:rPr>
              <a:t>not</a:t>
            </a:r>
            <a:r>
              <a:rPr lang="en-US" sz="2400" dirty="0">
                <a:latin typeface="Verdana"/>
                <a:ea typeface="MS Mincho"/>
                <a:cs typeface="Times New Roman"/>
              </a:rPr>
              <a:t> a solution to the compound inequality.</a:t>
            </a:r>
            <a:endParaRPr lang="en-PH" sz="1600" dirty="0">
              <a:latin typeface="Cambria"/>
              <a:ea typeface="MS Mincho"/>
              <a:cs typeface="Times New Roman"/>
            </a:endParaRPr>
          </a:p>
        </p:txBody>
      </p:sp>
      <p:pic>
        <p:nvPicPr>
          <p:cNvPr id="6" name="Picture 5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3633" y="2425482"/>
            <a:ext cx="7411268" cy="5649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/>
              <p:cNvSpPr/>
              <p:nvPr/>
            </p:nvSpPr>
            <p:spPr>
              <a:xfrm>
                <a:off x="3292200" y="4846943"/>
                <a:ext cx="5760000" cy="510778"/>
              </a:xfrm>
              <a:prstGeom prst="roundRect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Aft>
                    <a:spcPts val="1000"/>
                  </a:spcAft>
                  <a:buClrTx/>
                  <a:defRPr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−378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−5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19</m:t>
                    </m:r>
                  </m:oMath>
                </a14:m>
                <a:endParaRPr lang="en-PH" sz="2400" dirty="0">
                  <a:solidFill>
                    <a:sysClr val="window" lastClr="FFFFFF"/>
                  </a:solidFill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200" y="4846943"/>
                <a:ext cx="5760000" cy="51077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7568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09;g104476d1465_1_39">
            <a:extLst>
              <a:ext uri="{FF2B5EF4-FFF2-40B4-BE49-F238E27FC236}">
                <a16:creationId xmlns:a16="http://schemas.microsoft.com/office/drawing/2014/main" xmlns="" id="{46DD71F3-4D87-7D99-A875-2BAFA31D84F7}"/>
              </a:ext>
            </a:extLst>
          </p:cNvPr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6.2.4 Collaboration: Special Cases in Compound Inequalities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1480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914400" y="1386025"/>
                <a:ext cx="10515600" cy="1983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Bef>
                    <a:spcPts val="900"/>
                  </a:spcBef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A disjunctive compound inequality is shown.</a:t>
                </a:r>
              </a:p>
              <a:p>
                <a:pPr algn="ctr"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−22</m:t>
                    </m:r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𝑘</m:t>
                    </m:r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+5&lt;−14</m:t>
                    </m:r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𝑘</m:t>
                    </m:r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−23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−4&lt;−3</m:t>
                    </m:r>
                    <m:d>
                      <m:dPr>
                        <m:ctrlPr>
                          <a:rPr lang="en-PH" sz="2400" i="1">
                            <a:latin typeface="Cambria Math"/>
                            <a:ea typeface="MS Mincho"/>
                            <a:cs typeface="Times New Roman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  <a:ea typeface="MS Mincho"/>
                            <a:cs typeface="Times New Roman"/>
                          </a:rPr>
                          <m:t>𝑘</m:t>
                        </m:r>
                        <m:r>
                          <a:rPr lang="en-US" sz="2400" i="1">
                            <a:latin typeface="Cambria Math"/>
                            <a:ea typeface="MS Mincho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PH" sz="2400" i="1">
                                <a:latin typeface="Cambria Math"/>
                                <a:ea typeface="MS Mincho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/>
                                <a:ea typeface="MS Mincho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/>
                                <a:ea typeface="MS Mincho"/>
                                <a:cs typeface="Times New Roman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+17</m:t>
                    </m:r>
                  </m:oMath>
                </a14:m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892175" indent="-457200">
                  <a:buFont typeface="+mj-lt"/>
                  <a:buAutoNum type="alphaL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Solve each component of the compound inequality.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5"/>
                <a:ext cx="10515600" cy="1983876"/>
              </a:xfrm>
              <a:prstGeom prst="rect">
                <a:avLst/>
              </a:prstGeom>
              <a:blipFill>
                <a:blip r:embed="rId5"/>
                <a:stretch>
                  <a:fillRect l="-870" t="-2454" b="-5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3927645"/>
                  </p:ext>
                </p:extLst>
              </p:nvPr>
            </p:nvGraphicFramePr>
            <p:xfrm>
              <a:off x="3110826" y="3552673"/>
              <a:ext cx="6480000" cy="252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252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</a:rPr>
                                  <m:t>−22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</a:rPr>
                                  <m:t>+5&lt;−14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</a:rPr>
                                  <m:t>−23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</a:rPr>
                                  <m:t>−4&lt;−3</m:t>
                                </m:r>
                                <m:d>
                                  <m:dPr>
                                    <m:ctrlPr>
                                      <a:rPr lang="en-PH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𝑘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PH" sz="2000" i="1">
                                            <a:effectLst/>
                                            <a:latin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/>
                                  </a:rPr>
                                  <m:t>+17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3927645"/>
                  </p:ext>
                </p:extLst>
              </p:nvPr>
            </p:nvGraphicFramePr>
            <p:xfrm>
              <a:off x="3110826" y="3552673"/>
              <a:ext cx="6480000" cy="252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25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242" r="-100000" b="-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00188" t="-242" r="-188" b="-2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3"/>
                <a:ext cx="10515600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spcBef>
                    <a:spcPts val="900"/>
                  </a:spcBef>
                  <a:buFont typeface="+mj-lt"/>
                  <a:buAutoNum type="alphaLcPeriod" startAt="2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The graph of the solution set is shown.</a:t>
                </a:r>
              </a:p>
              <a:p>
                <a:pPr marL="914400" indent="-457200"/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 indent="-457200"/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 indent="-457200"/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 indent="-457200"/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 indent="-14288"/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Times New Roman"/>
                  </a:rPr>
                  <a:t>What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do you notice about the graph of the two solution sets?</a:t>
                </a:r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 indent="-457200">
                  <a:spcBef>
                    <a:spcPts val="900"/>
                  </a:spcBef>
                  <a:buFont typeface="+mj-lt"/>
                  <a:buAutoNum type="alphaLcPeriod" startAt="3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 indent="-457200">
                  <a:spcBef>
                    <a:spcPts val="900"/>
                  </a:spcBef>
                  <a:buFont typeface="+mj-lt"/>
                  <a:buAutoNum type="alphaLcPeriod" startAt="3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Luz says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3.5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 is not a solution to the compound inequality because the first inequality is strictly “greater than.” Explain why Luz is incorrect.</a:t>
                </a:r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 indent="-457200">
                  <a:spcBef>
                    <a:spcPts val="900"/>
                  </a:spcBef>
                  <a:buFont typeface="+mj-lt"/>
                  <a:buAutoNum type="alphaLcPeriod" startAt="3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 indent="-457200">
                  <a:spcBef>
                    <a:spcPts val="900"/>
                  </a:spcBef>
                  <a:buFont typeface="+mj-lt"/>
                  <a:buAutoNum type="alphaLcPeriod" startAt="3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Discuss with your partner which of the following sets describes the solution set of the compound inequality. Explain your choice.</a:t>
                </a:r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3"/>
                <a:ext cx="10515600" cy="4247317"/>
              </a:xfrm>
              <a:prstGeom prst="rect">
                <a:avLst/>
              </a:prstGeom>
              <a:blipFill rotWithShape="1">
                <a:blip r:embed="rId4"/>
                <a:stretch>
                  <a:fillRect t="-861" b="-157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/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84" r="1236" b="18176"/>
          <a:stretch/>
        </p:blipFill>
        <p:spPr bwMode="auto">
          <a:xfrm>
            <a:off x="2423476" y="1233522"/>
            <a:ext cx="6906831" cy="6538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172016" y="5077318"/>
                <a:ext cx="6929134" cy="1077218"/>
              </a:xfrm>
              <a:prstGeom prst="rect">
                <a:avLst/>
              </a:prstGeom>
            </p:spPr>
            <p:txBody>
              <a:bodyPr wrap="square" lIns="0" tIns="0" rIns="0" bIns="0" numCol="2">
                <a:spAutoFit/>
              </a:bodyPr>
              <a:lstStyle/>
              <a:p>
                <a:pPr marL="463550" indent="-463550">
                  <a:spcAft>
                    <a:spcPts val="120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PH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𝑘</m:t>
                        </m:r>
                        <m:r>
                          <a:rPr lang="en-US" sz="2000" i="1">
                            <a:latin typeface="Cambria Math"/>
                          </a:rPr>
                          <m:t>:</m:t>
                        </m:r>
                        <m:r>
                          <a:rPr lang="en-US" sz="2000" i="1">
                            <a:latin typeface="Cambria Math"/>
                          </a:rPr>
                          <m:t>𝑘</m:t>
                        </m:r>
                        <m:r>
                          <a:rPr lang="en-US" sz="2000" i="1">
                            <a:latin typeface="Cambria Math"/>
                          </a:rPr>
                          <m:t>∈</m:t>
                        </m:r>
                        <m:r>
                          <a:rPr lang="en-US" sz="2000" i="1">
                            <a:latin typeface="Cambria Math"/>
                          </a:rPr>
                          <m:t>ℕ</m:t>
                        </m:r>
                      </m:e>
                    </m:d>
                  </m:oMath>
                </a14:m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  <a:p>
                <a:pPr marL="463550" indent="-463550"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PH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𝑘</m:t>
                        </m:r>
                        <m:r>
                          <a:rPr lang="en-US" sz="2000" i="1">
                            <a:latin typeface="Cambria Math"/>
                          </a:rPr>
                          <m:t>:</m:t>
                        </m:r>
                        <m:r>
                          <a:rPr lang="en-US" sz="2000" i="1">
                            <a:latin typeface="Cambria Math"/>
                          </a:rPr>
                          <m:t>𝑘</m:t>
                        </m:r>
                        <m:r>
                          <a:rPr lang="en-US" sz="2000" i="1">
                            <a:latin typeface="Cambria Math"/>
                          </a:rPr>
                          <m:t>∈</m:t>
                        </m:r>
                        <m:r>
                          <a:rPr lang="en-US" sz="2000" i="1">
                            <a:latin typeface="Cambria Math"/>
                          </a:rPr>
                          <m:t>ℚ</m:t>
                        </m:r>
                      </m:e>
                    </m:d>
                  </m:oMath>
                </a14:m>
                <a:endParaRPr lang="en-PH" sz="2000" i="1" dirty="0">
                  <a:latin typeface="Cambria Math"/>
                </a:endParaRPr>
              </a:p>
              <a:p>
                <a:pPr lvl="0"/>
                <a:endParaRPr lang="en-PH" sz="2000" i="1" dirty="0">
                  <a:latin typeface="Cambria Math"/>
                </a:endParaRPr>
              </a:p>
              <a:p>
                <a:pPr marL="463550" lvl="1" indent="-463550">
                  <a:spcAft>
                    <a:spcPts val="120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PH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𝑘</m:t>
                        </m:r>
                        <m:r>
                          <a:rPr lang="en-US" sz="2000" i="1">
                            <a:latin typeface="Cambria Math"/>
                          </a:rPr>
                          <m:t>:</m:t>
                        </m:r>
                        <m:r>
                          <a:rPr lang="en-US" sz="2000" i="1">
                            <a:latin typeface="Cambria Math"/>
                          </a:rPr>
                          <m:t>𝑘</m:t>
                        </m:r>
                        <m:r>
                          <a:rPr lang="en-US" sz="2000" i="1">
                            <a:latin typeface="Cambria Math"/>
                          </a:rPr>
                          <m:t>∈</m:t>
                        </m:r>
                        <m:r>
                          <a:rPr lang="en-US" sz="2000" i="1">
                            <a:latin typeface="Cambria Math"/>
                          </a:rPr>
                          <m:t>ℝ</m:t>
                        </m:r>
                      </m:e>
                    </m:d>
                  </m:oMath>
                </a14:m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  <a:p>
                <a:pPr marL="463550" indent="-463550"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PH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𝑘</m:t>
                        </m:r>
                        <m:r>
                          <a:rPr lang="en-US" sz="2000" i="1">
                            <a:latin typeface="Cambria Math"/>
                          </a:rPr>
                          <m:t>:</m:t>
                        </m:r>
                        <m:r>
                          <a:rPr lang="en-US" sz="2000" i="1">
                            <a:latin typeface="Cambria Math"/>
                          </a:rPr>
                          <m:t>𝑘</m:t>
                        </m:r>
                        <m:r>
                          <a:rPr lang="en-US" sz="2000" i="1">
                            <a:latin typeface="Cambria Math"/>
                          </a:rPr>
                          <m:t>∈</m:t>
                        </m:r>
                        <m:r>
                          <a:rPr lang="en-US" sz="2000" i="1">
                            <a:latin typeface="Cambria Math"/>
                          </a:rPr>
                          <m:t>ℤ</m:t>
                        </m:r>
                      </m:e>
                    </m:d>
                  </m:oMath>
                </a14:m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016" y="5077318"/>
                <a:ext cx="6929134" cy="1077218"/>
              </a:xfrm>
              <a:prstGeom prst="rect">
                <a:avLst/>
              </a:prstGeom>
              <a:blipFill>
                <a:blip r:embed="rId6"/>
                <a:stretch>
                  <a:fillRect l="-2111" t="-3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2245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Bef>
                    <a:spcPts val="900"/>
                  </a:spcBef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A conjunctive compound inequality is shown.</a:t>
                </a:r>
                <a:endParaRPr lang="en-PH" sz="1600" dirty="0">
                  <a:latin typeface="Cambria"/>
                  <a:ea typeface="MS Mincho"/>
                  <a:cs typeface="Times New Roman"/>
                </a:endParaRPr>
              </a:p>
              <a:p>
                <a:pPr algn="ctr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−1&lt;−</m:t>
                    </m:r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𝑧</m:t>
                    </m:r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PH" sz="2400" i="1">
                            <a:latin typeface="Cambria Math"/>
                            <a:ea typeface="MS Mincho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MS Mincho"/>
                            <a:cs typeface="Times New Roman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MS Mincho"/>
                            <a:cs typeface="Times New Roman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PH" sz="2400" i="1">
                            <a:latin typeface="Cambria Math"/>
                            <a:ea typeface="MS Mincho"/>
                            <a:cs typeface="Times New Roman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  <a:ea typeface="MS Mincho"/>
                            <a:cs typeface="Times New Roman"/>
                          </a:rPr>
                          <m:t>𝑧</m:t>
                        </m:r>
                        <m:r>
                          <a:rPr lang="en-US" sz="2400" i="1">
                            <a:latin typeface="Cambria Math"/>
                            <a:ea typeface="MS Mincho"/>
                            <a:cs typeface="Times New Roman"/>
                          </a:rPr>
                          <m:t>−16</m:t>
                        </m:r>
                      </m:e>
                    </m:d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&lt;</m:t>
                    </m:r>
                    <m:f>
                      <m:fPr>
                        <m:ctrlPr>
                          <a:rPr lang="en-PH" sz="2400" i="1">
                            <a:latin typeface="Cambria Math"/>
                            <a:ea typeface="MS Mincho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MS Mincho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MS Mincho"/>
                            <a:cs typeface="Times New Roman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𝑧</m:t>
                    </m:r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+12</m:t>
                    </m:r>
                  </m:oMath>
                </a14:m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 </a:t>
                </a:r>
                <a:endParaRPr lang="en-PH" sz="1600" dirty="0">
                  <a:latin typeface="Cambria"/>
                  <a:ea typeface="MS Mincho"/>
                  <a:cs typeface="Times New Roman"/>
                </a:endParaRPr>
              </a:p>
              <a:p>
                <a:pPr marL="892175" indent="-457200">
                  <a:buFont typeface="+mj-lt"/>
                  <a:buAutoNum type="alphaLcPeriod"/>
                </a:pPr>
                <a:endParaRPr lang="en-US" sz="24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Rewrite the compound inequality as two single inequalities and solve each one.</a:t>
                </a:r>
                <a:endParaRPr lang="en-PH" sz="1600" dirty="0">
                  <a:latin typeface="Cambria"/>
                  <a:ea typeface="MS Mincho"/>
                  <a:cs typeface="Times New Roman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2245871"/>
              </a:xfrm>
              <a:prstGeom prst="rect">
                <a:avLst/>
              </a:prstGeom>
              <a:blipFill>
                <a:blip r:embed="rId4"/>
                <a:stretch>
                  <a:fillRect l="-870" t="-2439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387258"/>
              </p:ext>
            </p:extLst>
          </p:nvPr>
        </p:nvGraphicFramePr>
        <p:xfrm>
          <a:off x="2496000" y="3023340"/>
          <a:ext cx="7200000" cy="2880000"/>
        </p:xfrm>
        <a:graphic>
          <a:graphicData uri="http://schemas.openxmlformats.org/drawingml/2006/table">
            <a:tbl>
              <a:tblPr firstRow="1" firstCol="1" bandRow="1"/>
              <a:tblGrid>
                <a:gridCol w="360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</a:rPr>
                        <a:t> </a:t>
                      </a:r>
                      <a:endParaRPr lang="en-PH" sz="1400" dirty="0">
                        <a:effectLst/>
                        <a:latin typeface="Cambria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</a:rPr>
                        <a:t> </a:t>
                      </a:r>
                      <a:endParaRPr lang="en-PH" sz="1400" dirty="0">
                        <a:effectLst/>
                        <a:latin typeface="Cambria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8494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14400" y="520393"/>
            <a:ext cx="10515600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spcBef>
                <a:spcPts val="900"/>
              </a:spcBef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MS Mincho"/>
                <a:cs typeface="Times New Roman"/>
              </a:rPr>
              <a:t>Explain whether any of the values shown satisfy </a:t>
            </a:r>
            <a:r>
              <a:rPr lang="en-US" sz="2400" b="1" dirty="0">
                <a:latin typeface="Verdana"/>
                <a:ea typeface="MS Mincho"/>
                <a:cs typeface="Times New Roman"/>
              </a:rPr>
              <a:t>both</a:t>
            </a:r>
            <a:r>
              <a:rPr lang="en-US" sz="2400" dirty="0">
                <a:latin typeface="Verdana"/>
                <a:ea typeface="MS Mincho"/>
                <a:cs typeface="Times New Roman"/>
              </a:rPr>
              <a:t> of the inequalities.</a:t>
            </a:r>
            <a:endParaRPr lang="en-PH" sz="1600" dirty="0">
              <a:latin typeface="Cambria"/>
              <a:ea typeface="MS Mincho"/>
              <a:cs typeface="Times New Roman"/>
            </a:endParaRPr>
          </a:p>
          <a:p>
            <a:pPr marL="914400" indent="-457200">
              <a:spcBef>
                <a:spcPts val="900"/>
              </a:spcBef>
              <a:buFont typeface="+mj-lt"/>
              <a:buAutoNum type="alphaLcPeriod" startAt="2"/>
            </a:pPr>
            <a:endParaRPr lang="en-PH" sz="1600" dirty="0">
              <a:latin typeface="Cambria"/>
              <a:ea typeface="MS Mincho"/>
              <a:cs typeface="Times New Roman"/>
            </a:endParaRPr>
          </a:p>
          <a:p>
            <a:pPr marL="914400" indent="-457200">
              <a:spcBef>
                <a:spcPts val="900"/>
              </a:spcBef>
              <a:buFont typeface="+mj-lt"/>
              <a:buAutoNum type="alphaLcPeriod" startAt="2"/>
            </a:pPr>
            <a:endParaRPr lang="en-PH" sz="1600" dirty="0">
              <a:latin typeface="Cambria"/>
              <a:ea typeface="MS Mincho"/>
              <a:cs typeface="Times New Roman"/>
            </a:endParaRPr>
          </a:p>
          <a:p>
            <a:pPr marL="914400" indent="-457200">
              <a:spcBef>
                <a:spcPts val="900"/>
              </a:spcBef>
              <a:buFont typeface="+mj-lt"/>
              <a:buAutoNum type="alphaLcPeriod" startAt="2"/>
            </a:pPr>
            <a:endParaRPr lang="en-PH" sz="1600" dirty="0">
              <a:latin typeface="Cambria"/>
              <a:ea typeface="MS Mincho"/>
              <a:cs typeface="Times New Roman"/>
            </a:endParaRPr>
          </a:p>
          <a:p>
            <a:pPr marL="914400" indent="-457200">
              <a:spcBef>
                <a:spcPts val="900"/>
              </a:spcBef>
              <a:buFont typeface="+mj-lt"/>
              <a:buAutoNum type="alphaLcPeriod" startAt="2"/>
            </a:pPr>
            <a:endParaRPr lang="en-PH" sz="1600" dirty="0">
              <a:latin typeface="Cambria"/>
              <a:ea typeface="MS Mincho"/>
              <a:cs typeface="Times New Roman"/>
            </a:endParaRPr>
          </a:p>
          <a:p>
            <a:pPr marL="914400" indent="-457200">
              <a:spcBef>
                <a:spcPts val="900"/>
              </a:spcBef>
              <a:buFont typeface="+mj-lt"/>
              <a:buAutoNum type="alphaLcPeriod" startAt="2"/>
            </a:pPr>
            <a:endParaRPr lang="en-PH" sz="1600" dirty="0">
              <a:latin typeface="Cambria"/>
              <a:ea typeface="MS Mincho"/>
              <a:cs typeface="Times New Roman"/>
            </a:endParaRPr>
          </a:p>
          <a:p>
            <a:pPr marL="914400" indent="-457200">
              <a:spcBef>
                <a:spcPts val="900"/>
              </a:spcBef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MS Mincho"/>
                <a:cs typeface="Times New Roman"/>
              </a:rPr>
              <a:t>Describe the solution set of the compound inequality.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3291333" y="1582698"/>
                <a:ext cx="5760000" cy="720000"/>
              </a:xfrm>
              <a:prstGeom prst="roundRect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000"/>
                  </a:spcAft>
                  <a:buClrTx/>
                  <a:defRPr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192.9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22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−</m:t>
                    </m:r>
                    <m:f>
                      <m:fPr>
                        <m:ctrlPr>
                          <a:rPr lang="en-PH" sz="2400" i="1">
                            <a:latin typeface="Cambria Math"/>
                            <a:ea typeface="MS Mincho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MS Mincho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MS Mincho"/>
                            <a:cs typeface="Times New Roman"/>
                          </a:rPr>
                          <m:t>3</m:t>
                        </m:r>
                      </m:den>
                    </m:f>
                  </m:oMath>
                </a14:m>
                <a:endParaRPr lang="en-PH" sz="1600" dirty="0">
                  <a:solidFill>
                    <a:sysClr val="window" lastClr="FFFFFF"/>
                  </a:solidFill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333" y="1582698"/>
                <a:ext cx="5760000" cy="720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2031333" y="4172604"/>
            <a:ext cx="8280000" cy="903358"/>
            <a:chOff x="2031300" y="3166509"/>
            <a:chExt cx="6629400" cy="627856"/>
          </a:xfrm>
        </p:grpSpPr>
        <p:grpSp>
          <p:nvGrpSpPr>
            <p:cNvPr id="19" name="Group 18"/>
            <p:cNvGrpSpPr/>
            <p:nvPr/>
          </p:nvGrpSpPr>
          <p:grpSpPr>
            <a:xfrm>
              <a:off x="2031300" y="3166509"/>
              <a:ext cx="6629400" cy="627856"/>
              <a:chOff x="0" y="-220299"/>
              <a:chExt cx="6629400" cy="627856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0" y="1"/>
                <a:ext cx="6629400" cy="564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2000">
                    <a:latin typeface="Verdana" pitchFamily="34" charset="0"/>
                    <a:ea typeface="Verdana" pitchFamily="34" charset="0"/>
                    <a:cs typeface="Times New Roman"/>
                  </a:rPr>
                  <a:t> </a:t>
                </a:r>
                <a:endParaRPr lang="en-PH" sz="2000"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  <p:sp>
            <p:nvSpPr>
              <p:cNvPr id="21" name="Rounded Rectangle 20"/>
              <p:cNvSpPr/>
              <p:nvPr/>
            </p:nvSpPr>
            <p:spPr>
              <a:xfrm>
                <a:off x="0" y="-220299"/>
                <a:ext cx="6629400" cy="627856"/>
              </a:xfrm>
              <a:prstGeom prst="roundRect">
                <a:avLst>
                  <a:gd name="adj" fmla="val 16667"/>
                </a:avLst>
              </a:prstGeom>
              <a:solidFill>
                <a:srgbClr val="B8E6F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72000" rIns="91425" bIns="0" anchor="ctr" anchorCtr="0">
                <a:spAutoFit/>
              </a:bodyPr>
              <a:lstStyle/>
              <a:p>
                <a:pPr marL="709613">
                  <a:spcAft>
                    <a:spcPts val="1000"/>
                  </a:spcAft>
                </a:pPr>
                <a:r>
                  <a:rPr lang="en-US" sz="2000" dirty="0">
                    <a:solidFill>
                      <a:srgbClr val="0075BF"/>
                    </a:solidFill>
                    <a:latin typeface="Verdana" pitchFamily="34" charset="0"/>
                    <a:ea typeface="Verdana" pitchFamily="34" charset="0"/>
                    <a:cs typeface="Verdana"/>
                  </a:rPr>
                  <a:t>A compound inequality could have no solutions, a finite set of solutions, or a solution of all real numbers.</a:t>
                </a:r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p:grpSp>
      </p:grpSp>
      <p:pic>
        <p:nvPicPr>
          <p:cNvPr id="32" name="image15.png" descr="Icon&#10;&#10;Description automatically generated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83352" y="4354872"/>
            <a:ext cx="539750" cy="53882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6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1843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3721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6.2.5 Guided Practice: Compound Inequalities in the Real World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1480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914400" y="1386025"/>
                <a:ext cx="10515600" cy="5170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SzPct val="100000"/>
                  <a:buFont typeface="+mj-lt"/>
                  <a:buAutoNum type="arabicPeriod"/>
                </a:pPr>
                <a:r>
                  <a:rPr lang="en-US" sz="2000" dirty="0" err="1">
                    <a:latin typeface="Verdana" pitchFamily="34" charset="0"/>
                    <a:ea typeface="Verdana" pitchFamily="34" charset="0"/>
                    <a:cs typeface="Times New Roman"/>
                  </a:rPr>
                  <a:t>Cladonia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 </a:t>
                </a:r>
                <a:r>
                  <a:rPr lang="en-US" sz="2000" dirty="0" err="1">
                    <a:latin typeface="Verdana" pitchFamily="34" charset="0"/>
                    <a:ea typeface="Verdana" pitchFamily="34" charset="0"/>
                    <a:cs typeface="Times New Roman"/>
                  </a:rPr>
                  <a:t>perforata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 is an </a:t>
                </a:r>
                <a:b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</a:b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endangered lichen found </a:t>
                </a:r>
                <a:b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</a:b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in the Atlantic Coastal Ridge, </a:t>
                </a:r>
                <a:b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</a:b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Lake Wales Ridge, Southwest </a:t>
                </a:r>
                <a:b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</a:b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Florida, and the North Gulf </a:t>
                </a:r>
                <a:b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</a:b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Coast of Florida. The habitat </a:t>
                </a:r>
                <a:b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</a:b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of this species is the white </a:t>
                </a:r>
                <a:b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</a:b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sand of the Florida scrub, </a:t>
                </a:r>
                <a:b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</a:b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already a rare and </a:t>
                </a:r>
                <a:b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</a:b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endangered type of ecosystem, and the lichen requires a specific spot within the habitat. To study the lichen after removing it from its ecosystem, botanists soak the lichen in water and then measure its surface area.</a:t>
                </a:r>
              </a:p>
              <a:p>
                <a:pPr marL="446088"/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A botanist found that the lichen from Tiger Creek Preserve on the Lake Wales Ridge had surface areas that ranged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431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 square millimeters (mm</a:t>
                </a:r>
                <a:r>
                  <a:rPr lang="en-US" sz="2000" baseline="30000" dirty="0">
                    <a:latin typeface="Verdana" pitchFamily="34" charset="0"/>
                    <a:ea typeface="Verdana" pitchFamily="34" charset="0"/>
                    <a:cs typeface="Times New Roman"/>
                  </a:rPr>
                  <a:t>2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)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693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 mm</a:t>
                </a:r>
                <a:r>
                  <a:rPr lang="en-US" sz="2000" baseline="30000" dirty="0">
                    <a:latin typeface="Verdana" pitchFamily="34" charset="0"/>
                    <a:ea typeface="Verdana" pitchFamily="34" charset="0"/>
                    <a:cs typeface="Times New Roman"/>
                  </a:rPr>
                  <a:t>2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. </a:t>
                </a:r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5"/>
                <a:ext cx="10515600" cy="5170646"/>
              </a:xfrm>
              <a:prstGeom prst="rect">
                <a:avLst/>
              </a:prstGeom>
              <a:blipFill>
                <a:blip r:embed="rId5"/>
                <a:stretch>
                  <a:fillRect l="-603" t="-489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Cladonia perforata A. Evans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14" t="14478" r="17864" b="9444"/>
          <a:stretch/>
        </p:blipFill>
        <p:spPr bwMode="auto">
          <a:xfrm>
            <a:off x="5657269" y="1386025"/>
            <a:ext cx="3937874" cy="258532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sz="2000"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3"/>
                <a:ext cx="10515600" cy="5619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The botanist uses the inequality shown,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𝑤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 is the weight in grams (g), to determine the weight range of the lichen.</a:t>
                </a:r>
                <a:endParaRPr lang="en-PH" sz="2400" i="1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  <a:ea typeface="MS Mincho"/>
                          <a:cs typeface="Times New Roman"/>
                        </a:rPr>
                        <m:t>431≤524</m:t>
                      </m:r>
                      <m:r>
                        <a:rPr lang="en-US" sz="2400" i="1">
                          <a:latin typeface="Cambria Math"/>
                          <a:ea typeface="MS Mincho"/>
                          <a:cs typeface="Times New Roman"/>
                        </a:rPr>
                        <m:t>𝑤</m:t>
                      </m:r>
                      <m:r>
                        <a:rPr lang="en-US" sz="2400" i="1">
                          <a:latin typeface="Cambria Math"/>
                          <a:ea typeface="MS Mincho"/>
                          <a:cs typeface="Times New Roman"/>
                        </a:rPr>
                        <m:t>+85.16≤693</m:t>
                      </m:r>
                    </m:oMath>
                  </m:oMathPara>
                </a14:m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 indent="-457200">
                  <a:spcBef>
                    <a:spcPts val="900"/>
                  </a:spcBef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Solve the inequality.</a:t>
                </a:r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 indent="-457200">
                  <a:spcBef>
                    <a:spcPts val="900"/>
                  </a:spcBef>
                  <a:buFont typeface="+mj-lt"/>
                  <a:buAutoNum type="alphaLcPeriod"/>
                </a:pPr>
                <a:endParaRPr lang="en-US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 indent="-457200">
                  <a:spcBef>
                    <a:spcPts val="2400"/>
                  </a:spcBef>
                  <a:buFont typeface="+mj-lt"/>
                  <a:buAutoNum type="alphaLcPeriod"/>
                </a:pP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Times New Roman"/>
                  </a:rPr>
                  <a:t>Check your solution with your partner.</a:t>
                </a:r>
                <a:endParaRPr lang="en-PH" sz="2400" dirty="0" smtClean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 indent="-457200">
                  <a:spcBef>
                    <a:spcPts val="900"/>
                  </a:spcBef>
                  <a:buFont typeface="+mj-lt"/>
                  <a:buAutoNum type="alphaLcPeriod"/>
                </a:pPr>
                <a:endParaRPr lang="en-US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 indent="-457200">
                  <a:spcBef>
                    <a:spcPts val="2400"/>
                  </a:spcBef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Complete the statement.</a:t>
                </a:r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>
                  <a:lnSpc>
                    <a:spcPct val="150000"/>
                  </a:lnSpc>
                  <a:spcBef>
                    <a:spcPts val="900"/>
                  </a:spcBef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The lichens in Tiger Creek Preserve have a weight of between _____ and _____ grams.</a:t>
                </a:r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3"/>
                <a:ext cx="10515600" cy="5619167"/>
              </a:xfrm>
              <a:prstGeom prst="rect">
                <a:avLst/>
              </a:prstGeom>
              <a:blipFill>
                <a:blip r:embed="rId4"/>
                <a:stretch>
                  <a:fillRect l="-870" t="-976" b="-15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3744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3"/>
                <a:ext cx="10515600" cy="4131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spcBef>
                    <a:spcPts val="900"/>
                  </a:spcBef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Explain whether or not the </a:t>
                </a:r>
                <a:r>
                  <a:rPr lang="en-US" sz="2400" dirty="0" err="1">
                    <a:latin typeface="Verdana"/>
                    <a:ea typeface="MS Mincho"/>
                    <a:cs typeface="Times New Roman"/>
                  </a:rPr>
                  <a:t>Cladonia</a:t>
                </a:r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 </a:t>
                </a:r>
                <a:r>
                  <a:rPr lang="en-US" sz="2400" dirty="0" err="1">
                    <a:latin typeface="Verdana"/>
                    <a:ea typeface="MS Mincho"/>
                    <a:cs typeface="Times New Roman"/>
                  </a:rPr>
                  <a:t>perforata</a:t>
                </a:r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 in Tiger Creek Preserve could have a weight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1</m:t>
                    </m:r>
                  </m:oMath>
                </a14:m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 g.</a:t>
                </a:r>
                <a:endParaRPr lang="en-PH" sz="1600" dirty="0">
                  <a:latin typeface="Cambria"/>
                  <a:ea typeface="MS Mincho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</a:rPr>
                  <a:t>Explain whether or not the </a:t>
                </a:r>
                <a:r>
                  <a:rPr lang="en-US" sz="2400" dirty="0" err="1">
                    <a:latin typeface="Verdana"/>
                  </a:rPr>
                  <a:t>Cladonia</a:t>
                </a:r>
                <a:r>
                  <a:rPr lang="en-US" sz="2400" dirty="0">
                    <a:latin typeface="Verdana"/>
                  </a:rPr>
                  <a:t> </a:t>
                </a:r>
                <a:r>
                  <a:rPr lang="en-US" sz="2400" dirty="0" err="1">
                    <a:latin typeface="Verdana"/>
                  </a:rPr>
                  <a:t>perforata</a:t>
                </a:r>
                <a:r>
                  <a:rPr lang="en-US" sz="2400" dirty="0">
                    <a:latin typeface="Verdana"/>
                  </a:rPr>
                  <a:t> in Tiger Creek Preserve could have a weight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0.6895</m:t>
                    </m:r>
                  </m:oMath>
                </a14:m>
                <a:r>
                  <a:rPr lang="en-US" sz="2400" dirty="0">
                    <a:latin typeface="Verdana"/>
                  </a:rPr>
                  <a:t> g.</a:t>
                </a:r>
                <a:endParaRPr lang="en-PH" sz="2400" dirty="0"/>
              </a:p>
              <a:p>
                <a:pPr marL="914400" indent="-457200">
                  <a:spcBef>
                    <a:spcPts val="900"/>
                  </a:spcBef>
                  <a:buFont typeface="+mj-lt"/>
                  <a:buAutoNum type="alphaLcPeriod" startAt="4"/>
                </a:pPr>
                <a:endParaRPr lang="en-US" sz="24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spcBef>
                    <a:spcPts val="900"/>
                  </a:spcBef>
                  <a:buFont typeface="+mj-lt"/>
                  <a:buAutoNum type="alphaLcPeriod" startAt="4"/>
                </a:pPr>
                <a:endParaRPr lang="en-US" sz="24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spcBef>
                    <a:spcPts val="900"/>
                  </a:spcBef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Explain why any solution to the mathematical inequality is a viable solution given the real-world context.</a:t>
                </a:r>
                <a:endParaRPr lang="en-PH" sz="1600" dirty="0">
                  <a:latin typeface="Cambria"/>
                  <a:ea typeface="MS Mincho"/>
                  <a:cs typeface="Times New Roman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3"/>
                <a:ext cx="10515600" cy="4131900"/>
              </a:xfrm>
              <a:prstGeom prst="rect">
                <a:avLst/>
              </a:prstGeom>
              <a:blipFill>
                <a:blip r:embed="rId4"/>
                <a:stretch>
                  <a:fillRect t="-1180" r="-812" b="-2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6837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6.2.6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914400" y="1172271"/>
                <a:ext cx="10515600" cy="5202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The Homeland Security and Emergency Management Agency has emergency procedures in place for extreme temperatures in Washington, D.C. 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/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A temperature emergency is triggered if the temperature drops below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15°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Fahrenheit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℉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) or reaches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92℉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. The compound inequality shown,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𝑐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is the temperature in degrees Celsius, can be used to determine the temperature in Celsius that would trigger a temperature emergency in Washington, D.C.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/>
                <a:endParaRPr lang="en-PH" sz="2400" i="1" dirty="0">
                  <a:latin typeface="Verdana" pitchFamily="34" charset="0"/>
                  <a:ea typeface="Verdana" pitchFamily="34" charset="0"/>
                </a:endParaRPr>
              </a:p>
              <a:p>
                <a:pPr marL="457200" algn="ctr"/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9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5</m:t>
                        </m:r>
                      </m:den>
                    </m:f>
                    <m:r>
                      <a:rPr lang="en-US" sz="2400" i="1">
                        <a:latin typeface="Cambria Math"/>
                      </a:rPr>
                      <m:t>𝑐</m:t>
                    </m:r>
                    <m:r>
                      <a:rPr lang="en-US" sz="2400" i="1">
                        <a:latin typeface="Cambria Math"/>
                      </a:rPr>
                      <m:t>+32&lt;15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9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5</m:t>
                        </m:r>
                      </m:den>
                    </m:f>
                    <m:r>
                      <a:rPr lang="en-US" sz="2400" i="1">
                        <a:latin typeface="Cambria Math"/>
                      </a:rPr>
                      <m:t>𝑐</m:t>
                    </m:r>
                    <m:r>
                      <a:rPr lang="en-US" sz="2400" i="1">
                        <a:latin typeface="Cambria Math"/>
                      </a:rPr>
                      <m:t>+32≥92</m:t>
                    </m:r>
                  </m:oMath>
                </a14:m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/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Solve the compound inequality.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172271"/>
                <a:ext cx="10515600" cy="5202835"/>
              </a:xfrm>
              <a:prstGeom prst="rect">
                <a:avLst/>
              </a:prstGeom>
              <a:blipFill>
                <a:blip r:embed="rId5"/>
                <a:stretch>
                  <a:fillRect l="-870" t="-937" r="-870"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4407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spcBef>
                    <a:spcPts val="900"/>
                  </a:spcBef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Graph the solution set of the compound inequality. Approximate values as necessary. </a:t>
                </a:r>
              </a:p>
              <a:p>
                <a:pPr marL="914400" indent="-457200">
                  <a:spcBef>
                    <a:spcPts val="900"/>
                  </a:spcBef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 indent="-457200">
                  <a:spcBef>
                    <a:spcPts val="900"/>
                  </a:spcBef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 indent="-457200">
                  <a:spcBef>
                    <a:spcPts val="900"/>
                  </a:spcBef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 indent="-457200">
                  <a:spcBef>
                    <a:spcPts val="900"/>
                  </a:spcBef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 indent="-457200">
                  <a:spcBef>
                    <a:spcPts val="900"/>
                  </a:spcBef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Complete the statement.</a:t>
                </a:r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914400">
                  <a:lnSpc>
                    <a:spcPct val="150000"/>
                  </a:lnSpc>
                  <a:spcBef>
                    <a:spcPts val="900"/>
                  </a:spcBef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A temperature emergency is declared in Washington, D.C. if the temperature is less than ____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℃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 or at least ____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℃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4407169"/>
              </a:xfrm>
              <a:prstGeom prst="rect">
                <a:avLst/>
              </a:prstGeom>
              <a:blipFill>
                <a:blip r:embed="rId4"/>
                <a:stretch>
                  <a:fillRect t="-1107" r="-522" b="-2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/>
          <p:nvPr/>
        </p:nvPicPr>
        <p:blipFill>
          <a:blip r:embed="rId5"/>
          <a:stretch>
            <a:fillRect/>
          </a:stretch>
        </p:blipFill>
        <p:spPr>
          <a:xfrm>
            <a:off x="2265579" y="1962348"/>
            <a:ext cx="7487730" cy="467470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2999" y="138530"/>
            <a:ext cx="9627919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6.2.7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914400" y="1157425"/>
                <a:ext cx="10515600" cy="5365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Simeon solved a compound inequality. His work is shown.</a:t>
                </a:r>
                <a:endParaRPr lang="en-PH" dirty="0">
                  <a:latin typeface="Cambria"/>
                  <a:ea typeface="MS Mincho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Cambria"/>
                  <a:ea typeface="MS Mincho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Cambria"/>
                  <a:ea typeface="MS Mincho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Cambria"/>
                  <a:ea typeface="MS Mincho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Cambria"/>
                  <a:ea typeface="MS Mincho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Cambria"/>
                  <a:ea typeface="MS Mincho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Cambria"/>
                  <a:ea typeface="MS Mincho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Cambria"/>
                  <a:ea typeface="MS Mincho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Cambria"/>
                  <a:ea typeface="MS Mincho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Cambria"/>
                  <a:ea typeface="MS Mincho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Cambria"/>
                  <a:ea typeface="MS Mincho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Cambria"/>
                  <a:ea typeface="MS Mincho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Cambria"/>
                  <a:ea typeface="MS Mincho"/>
                  <a:cs typeface="Times New Roman"/>
                </a:endParaRPr>
              </a:p>
              <a:p>
                <a:pPr marL="457200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Simeon stated the solution set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000" i="1">
                            <a:latin typeface="Cambria Math"/>
                            <a:ea typeface="MS Mincho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MS Mincho"/>
                            <a:cs typeface="Times New Roman"/>
                          </a:rPr>
                          <m:t>27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MS Mincho"/>
                            <a:cs typeface="Times New Roman"/>
                          </a:rPr>
                          <m:t>28</m:t>
                        </m:r>
                      </m:den>
                    </m:f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&lt;</m:t>
                    </m:r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𝑦</m:t>
                    </m:r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&lt;18</m:t>
                    </m:r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.</a:t>
                </a:r>
                <a:r>
                  <a:rPr lang="en-PH" sz="2000" dirty="0">
                    <a:latin typeface="Cambria"/>
                    <a:ea typeface="MS Mincho"/>
                    <a:cs typeface="Times New Roman"/>
                  </a:rPr>
                  <a:t> </a:t>
                </a: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Explain the mistake(s) Simeon made.</a:t>
                </a:r>
                <a:endParaRPr lang="en-PH" sz="2000" dirty="0">
                  <a:latin typeface="Cambria"/>
                  <a:ea typeface="MS Mincho"/>
                  <a:cs typeface="Times New Roman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157425"/>
                <a:ext cx="10515600" cy="5365058"/>
              </a:xfrm>
              <a:prstGeom prst="rect">
                <a:avLst/>
              </a:prstGeom>
              <a:blipFill>
                <a:blip r:embed="rId5"/>
                <a:stretch>
                  <a:fillRect l="-603" t="-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2681085"/>
                  </p:ext>
                </p:extLst>
              </p:nvPr>
            </p:nvGraphicFramePr>
            <p:xfrm>
              <a:off x="2396958" y="1664769"/>
              <a:ext cx="5760000" cy="3490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MS Mincho"/>
                                    <a:cs typeface="Times New Roman"/>
                                  </a:rPr>
                                  <m:t>18&lt;−3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MS Mincho"/>
                                    <a:cs typeface="Times New Roman"/>
                                  </a:rPr>
                                  <m:t>𝑦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MS Mincho"/>
                                    <a:cs typeface="Times New Roman"/>
                                  </a:rPr>
                                  <m:t>+72&lt;</m:t>
                                </m:r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/>
                                        <a:ea typeface="MS Mincho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MS Mincho"/>
                                        <a:cs typeface="Times New Roman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MS Mincho"/>
                                        <a:cs typeface="Times New Roman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MS Mincho"/>
                                    <a:cs typeface="Times New Roman"/>
                                  </a:rPr>
                                  <m:t>(168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MS Mincho"/>
                                    <a:cs typeface="Times New Roman"/>
                                  </a:rPr>
                                  <m:t>𝑦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MS Mincho"/>
                                    <a:cs typeface="Times New Roman"/>
                                  </a:rPr>
                                  <m:t>−92)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MS Mincho"/>
                            <a:cs typeface="Times New Roman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0796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MS Mincho"/>
                                    <a:cs typeface="Times New Roman"/>
                                  </a:rPr>
                                  <m:t>18&lt;−3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MS Mincho"/>
                                    <a:cs typeface="Times New Roman"/>
                                  </a:rPr>
                                  <m:t>𝑦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MS Mincho"/>
                                    <a:cs typeface="Times New Roman"/>
                                  </a:rPr>
                                  <m:t>+72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MS Mincho"/>
                                    <a:cs typeface="Times New Roman"/>
                                  </a:rPr>
                                  <m:t>−54&lt;−3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MS Mincho"/>
                                    <a:cs typeface="Times New Roman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MS Mincho"/>
                                    <a:cs typeface="Times New Roman"/>
                                  </a:rPr>
                                  <m:t>18&gt;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MS Mincho"/>
                                    <a:cs typeface="Times New Roman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  <a:p>
                          <a:pPr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12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smtClean="0">
                                  <a:effectLst/>
                                  <a:latin typeface="Cambria Math"/>
                                  <a:ea typeface="MS Mincho"/>
                                  <a:cs typeface="Times New Roman"/>
                                </a:rPr>
                                <m:t>18&lt;</m:t>
                              </m:r>
                              <m:f>
                                <m:fPr>
                                  <m:ctrlPr>
                                    <a:rPr lang="en-PH" sz="2000" i="1">
                                      <a:effectLst/>
                                      <a:latin typeface="Cambria Math"/>
                                      <a:ea typeface="MS Mincho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MS Mincho"/>
                                      <a:cs typeface="Times New Roman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MS Mincho"/>
                                      <a:cs typeface="Times New Roman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/>
                                  <a:ea typeface="MS Mincho"/>
                                  <a:cs typeface="Times New Roman"/>
                                </a:rPr>
                                <m:t>(168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MS Mincho"/>
                                  <a:cs typeface="Times New Roman"/>
                                </a:rPr>
                                <m:t>𝑦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MS Mincho"/>
                                  <a:cs typeface="Times New Roman"/>
                                </a:rPr>
                                <m:t>−92)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 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MS Mincho"/>
                                    <a:cs typeface="Times New Roman"/>
                                  </a:rPr>
                                  <m:t>18&lt;56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MS Mincho"/>
                                    <a:cs typeface="Times New Roman"/>
                                  </a:rPr>
                                  <m:t>𝑦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MS Mincho"/>
                                    <a:cs typeface="Times New Roman"/>
                                  </a:rPr>
                                  <m:t>−46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Cambria Math"/>
                            <a:ea typeface="MS Mincho"/>
                            <a:cs typeface="Times New Roman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MS Mincho"/>
                                    <a:cs typeface="Times New Roman"/>
                                  </a:rPr>
                                  <m:t>54&lt;56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MS Mincho"/>
                                    <a:cs typeface="Times New Roman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i="1">
                                      <a:effectLst/>
                                      <a:latin typeface="Cambria Math"/>
                                      <a:ea typeface="MS Mincho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MS Mincho"/>
                                      <a:cs typeface="Times New Roman"/>
                                    </a:rPr>
                                    <m:t>54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MS Mincho"/>
                                      <a:cs typeface="Times New Roman"/>
                                    </a:rPr>
                                    <m:t>56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/>
                                  <a:ea typeface="MS Mincho"/>
                                  <a:cs typeface="Times New Roman"/>
                                </a:rPr>
                                <m:t>&lt;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MS Mincho"/>
                                  <a:cs typeface="Times New Roman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 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i="1">
                                      <a:effectLst/>
                                      <a:latin typeface="Cambria Math"/>
                                      <a:ea typeface="MS Mincho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MS Mincho"/>
                                      <a:cs typeface="Times New Roman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MS Mincho"/>
                                      <a:cs typeface="Times New Roman"/>
                                    </a:rPr>
                                    <m:t>28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/>
                                  <a:ea typeface="MS Mincho"/>
                                  <a:cs typeface="Times New Roman"/>
                                </a:rPr>
                                <m:t>&lt;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MS Mincho"/>
                                  <a:cs typeface="Times New Roman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 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2681085"/>
                  </p:ext>
                </p:extLst>
              </p:nvPr>
            </p:nvGraphicFramePr>
            <p:xfrm>
              <a:off x="2396958" y="1664769"/>
              <a:ext cx="5760000" cy="3490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b="-28873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t="-34804" r="-99561" b="-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100441" t="-34804" b="-4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Group 3"/>
          <p:cNvGrpSpPr/>
          <p:nvPr/>
        </p:nvGrpSpPr>
        <p:grpSpPr>
          <a:xfrm>
            <a:off x="4233803" y="2290695"/>
            <a:ext cx="1828800" cy="228600"/>
            <a:chOff x="3596045" y="2500661"/>
            <a:chExt cx="1828800" cy="228600"/>
          </a:xfrm>
        </p:grpSpPr>
        <p:cxnSp>
          <p:nvCxnSpPr>
            <p:cNvPr id="10" name="Straight Arrow Connector 9"/>
            <p:cNvCxnSpPr/>
            <p:nvPr/>
          </p:nvCxnSpPr>
          <p:spPr>
            <a:xfrm flipH="1">
              <a:off x="3596045" y="2500661"/>
              <a:ext cx="914400" cy="2286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4510445" y="2500661"/>
              <a:ext cx="914400" cy="2286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xmlns="" id="{F9467037-8032-DAA4-EA15-66A62DB8068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311;g104476d1465_1_39">
            <a:extLst>
              <a:ext uri="{FF2B5EF4-FFF2-40B4-BE49-F238E27FC236}">
                <a16:creationId xmlns:a16="http://schemas.microsoft.com/office/drawing/2014/main" xmlns="" id="{1D44AAAF-479A-2048-2348-5C27602DC919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1408</TotalTime>
  <Words>1634</Words>
  <Application>Microsoft Office PowerPoint</Application>
  <PresentationFormat>Custom</PresentationFormat>
  <Paragraphs>278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Arial</vt:lpstr>
      <vt:lpstr>Calibri</vt:lpstr>
      <vt:lpstr>Courier New</vt:lpstr>
      <vt:lpstr>Times New Roman</vt:lpstr>
      <vt:lpstr>Century Gothic</vt:lpstr>
      <vt:lpstr>Cambria Math</vt:lpstr>
      <vt:lpstr>Cambria</vt:lpstr>
      <vt:lpstr>Arial Black</vt:lpstr>
      <vt:lpstr>MS Mincho</vt:lpstr>
      <vt:lpstr>Verdana</vt:lpstr>
      <vt:lpstr>1_Office Theme</vt:lpstr>
      <vt:lpstr>Algebra 1  Unit 6, Lesson 2  Solving Compound Inequalities  Volume 1, pg. 297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31</cp:revision>
  <dcterms:created xsi:type="dcterms:W3CDTF">2015-03-17T18:51:18Z</dcterms:created>
  <dcterms:modified xsi:type="dcterms:W3CDTF">2022-07-28T06:25:15Z</dcterms:modified>
</cp:coreProperties>
</file>