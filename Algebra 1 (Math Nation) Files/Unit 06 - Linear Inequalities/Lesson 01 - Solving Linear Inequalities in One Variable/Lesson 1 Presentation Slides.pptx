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288" r:id="rId8"/>
    <p:sldId id="326" r:id="rId9"/>
    <p:sldId id="327" r:id="rId10"/>
    <p:sldId id="338" r:id="rId11"/>
    <p:sldId id="342" r:id="rId12"/>
    <p:sldId id="289" r:id="rId13"/>
    <p:sldId id="290" r:id="rId14"/>
    <p:sldId id="336" r:id="rId15"/>
    <p:sldId id="343" r:id="rId16"/>
    <p:sldId id="344" r:id="rId17"/>
    <p:sldId id="332" r:id="rId18"/>
    <p:sldId id="347" r:id="rId19"/>
    <p:sldId id="350" r:id="rId20"/>
    <p:sldId id="349" r:id="rId21"/>
    <p:sldId id="348" r:id="rId22"/>
    <p:sldId id="314" r:id="rId23"/>
    <p:sldId id="315" r:id="rId24"/>
    <p:sldId id="346" r:id="rId25"/>
    <p:sldId id="345" r:id="rId26"/>
    <p:sldId id="351" r:id="rId27"/>
    <p:sldId id="352" r:id="rId28"/>
    <p:sldId id="306" r:id="rId29"/>
    <p:sldId id="307" r:id="rId30"/>
  </p:sldIdLst>
  <p:sldSz cx="12192000" cy="6858000"/>
  <p:notesSz cx="6858000" cy="9144000"/>
  <p:embeddedFontLst>
    <p:embeddedFont>
      <p:font typeface="Arial Black" panose="020B0A04020102020204" pitchFamily="34" charset="0"/>
      <p:bold r:id="rId32"/>
    </p:embeddedFont>
    <p:embeddedFont>
      <p:font typeface="Calibri" panose="020F0502020204030204" pitchFamily="34" charset="0"/>
      <p:regular r:id="rId33"/>
      <p:bold r:id="rId34"/>
      <p:italic r:id="rId35"/>
      <p:boldItalic r:id="rId36"/>
    </p:embeddedFont>
    <p:embeddedFont>
      <p:font typeface="Cambria" panose="02040503050406030204" pitchFamily="18" charset="0"/>
      <p:regular r:id="rId37"/>
      <p:bold r:id="rId38"/>
      <p:italic r:id="rId39"/>
      <p:boldItalic r:id="rId40"/>
    </p:embeddedFont>
    <p:embeddedFont>
      <p:font typeface="Cambria Math" panose="02040503050406030204" pitchFamily="18" charset="0"/>
      <p:regular r:id="rId41"/>
    </p:embeddedFont>
    <p:embeddedFont>
      <p:font typeface="Century Gothic" panose="020B0502020202020204" pitchFamily="34" charset="0"/>
      <p:regular r:id="rId42"/>
      <p:bold r:id="rId43"/>
      <p:italic r:id="rId44"/>
      <p:boldItalic r:id="rId45"/>
    </p:embeddedFont>
    <p:embeddedFont>
      <p:font typeface="Verdana" panose="020B060403050404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20" autoAdjust="0"/>
    <p:restoredTop sz="94694"/>
  </p:normalViewPr>
  <p:slideViewPr>
    <p:cSldViewPr snapToGrid="0">
      <p:cViewPr varScale="1">
        <p:scale>
          <a:sx n="81" d="100"/>
          <a:sy n="81" d="100"/>
        </p:scale>
        <p:origin x="36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81273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84032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24201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24201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6,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Linear Inequalities in One Variable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291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6" name="Picture 5" descr="Logo&#10;&#10;Description automatically generated">
            <a:extLst>
              <a:ext uri="{FF2B5EF4-FFF2-40B4-BE49-F238E27FC236}">
                <a16:creationId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MA.912.AR.2.6 </a:t>
            </a:r>
          </a:p>
          <a:p>
            <a:pPr indent="0">
              <a:buNone/>
            </a:pPr>
            <a:r>
              <a:rPr lang="en-US" sz="3500" dirty="0">
                <a:solidFill>
                  <a:schemeClr val="tx1"/>
                </a:solidFill>
                <a:latin typeface="Verdana"/>
                <a:ea typeface="Verdana"/>
                <a:cs typeface="Verdana"/>
                <a:sym typeface="Verdana"/>
              </a:rPr>
              <a:t>Given a mathematical or real-world context, write and solve one-variable linear inequalities, including compound inequalities. Represent solutions algebraically or graphically.</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8016"/>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11480"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57200">
              <a:buClr>
                <a:srgbClr val="434343"/>
              </a:buClr>
              <a:buSzPts val="3500"/>
              <a:buFont typeface="Verdana"/>
              <a:buChar char="❏"/>
            </a:pPr>
            <a:r>
              <a:rPr lang="en-US" sz="3200" dirty="0">
                <a:solidFill>
                  <a:schemeClr val="tx1"/>
                </a:solidFill>
                <a:latin typeface="Verdana"/>
                <a:ea typeface="Verdana"/>
                <a:cs typeface="Verdana"/>
                <a:sym typeface="Verdana"/>
              </a:rPr>
              <a:t>I can solve two-step or multi-step one-variable inequalities.</a:t>
            </a:r>
          </a:p>
          <a:p>
            <a:pPr marL="463550" indent="-457200">
              <a:buClr>
                <a:srgbClr val="434343"/>
              </a:buClr>
              <a:buSzPts val="3500"/>
              <a:buFont typeface="Verdana"/>
              <a:buChar char="❏"/>
            </a:pPr>
            <a:endParaRPr lang="en-US" sz="3200" dirty="0">
              <a:solidFill>
                <a:schemeClr val="tx1"/>
              </a:solidFill>
              <a:latin typeface="Verdana"/>
              <a:ea typeface="Verdana"/>
              <a:cs typeface="Verdana"/>
              <a:sym typeface="Verdana"/>
            </a:endParaRPr>
          </a:p>
          <a:p>
            <a:pPr marL="463550" indent="-457200">
              <a:buClr>
                <a:srgbClr val="434343"/>
              </a:buClr>
              <a:buSzPts val="3500"/>
              <a:buFont typeface="Verdana"/>
              <a:buChar char="❏"/>
            </a:pPr>
            <a:r>
              <a:rPr lang="en-US" sz="3200" dirty="0">
                <a:solidFill>
                  <a:schemeClr val="tx1"/>
                </a:solidFill>
                <a:latin typeface="Verdana"/>
                <a:ea typeface="Verdana"/>
                <a:cs typeface="Verdana"/>
                <a:sym typeface="Verdana"/>
              </a:rPr>
              <a:t>I can graph the solution of an inequality on a number line.</a:t>
            </a:r>
          </a:p>
          <a:p>
            <a:pPr marL="463550" indent="-457200">
              <a:buClr>
                <a:srgbClr val="434343"/>
              </a:buClr>
              <a:buSzPts val="3500"/>
              <a:buFont typeface="Verdana"/>
              <a:buChar char="❏"/>
            </a:pPr>
            <a:endParaRPr lang="en-US" sz="3200" dirty="0">
              <a:solidFill>
                <a:schemeClr val="tx1"/>
              </a:solidFill>
              <a:latin typeface="Verdana"/>
              <a:ea typeface="Verdana"/>
              <a:cs typeface="Verdana"/>
              <a:sym typeface="Verdana"/>
            </a:endParaRPr>
          </a:p>
          <a:p>
            <a:pPr marL="463550" indent="-457200">
              <a:buClr>
                <a:srgbClr val="434343"/>
              </a:buClr>
              <a:buSzPts val="3500"/>
              <a:buFont typeface="Verdana"/>
              <a:buChar char="❏"/>
            </a:pPr>
            <a:r>
              <a:rPr lang="en-US" sz="3200" dirty="0">
                <a:solidFill>
                  <a:schemeClr val="tx1"/>
                </a:solidFill>
                <a:latin typeface="Verdana"/>
                <a:ea typeface="Verdana"/>
                <a:cs typeface="Verdana"/>
                <a:sym typeface="Verdana"/>
              </a:rPr>
              <a:t>I can interpret solutions to problems as viable or non-viable options.</a:t>
            </a: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6391"/>
            <a:ext cx="105156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6.1.1 Warm-Up: Planetary Research Scientist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11480"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914400" y="1386025"/>
            <a:ext cx="10515600" cy="4054956"/>
          </a:xfrm>
          <a:prstGeom prst="rect">
            <a:avLst/>
          </a:prstGeom>
          <a:noFill/>
        </p:spPr>
        <p:txBody>
          <a:bodyPr wrap="square" rtlCol="0">
            <a:spAutoFit/>
          </a:bodyPr>
          <a:lstStyle/>
          <a:p>
            <a:pPr>
              <a:spcAft>
                <a:spcPts val="1200"/>
              </a:spcAft>
            </a:pPr>
            <a:r>
              <a:rPr lang="en-US" sz="2400" dirty="0">
                <a:latin typeface="Verdana"/>
                <a:ea typeface="MS Mincho"/>
                <a:cs typeface="Times New Roman"/>
              </a:rPr>
              <a:t>Margarita </a:t>
            </a:r>
            <a:r>
              <a:rPr lang="en-US" sz="2400" dirty="0" err="1">
                <a:latin typeface="Verdana"/>
                <a:ea typeface="MS Mincho"/>
                <a:cs typeface="Times New Roman"/>
              </a:rPr>
              <a:t>Marinova</a:t>
            </a:r>
            <a:r>
              <a:rPr lang="en-US" sz="2400" dirty="0">
                <a:latin typeface="Verdana"/>
                <a:ea typeface="MS Mincho"/>
                <a:cs typeface="Times New Roman"/>
              </a:rPr>
              <a:t> is a planetary research scientist who studies Earth, as well as other planets. Margarita says the biggest key to success is to be passionate about something. She shares that while in high school, she got laughed at because she wanted to study Mars. Instead of reacting negatively to her peers, she founded the Toronto Chapter of the International Mars Society. Throughout her career, her passion for Mars has led her to spearheading many projects that focus on understanding Mars.</a:t>
            </a:r>
            <a:endParaRPr lang="en-PH" sz="2400" dirty="0">
              <a:latin typeface="Cambria"/>
              <a:ea typeface="MS Mincho"/>
              <a:cs typeface="Times New Roman"/>
            </a:endParaRPr>
          </a:p>
          <a:p>
            <a:pPr marL="457200" indent="-457200">
              <a:spcBef>
                <a:spcPts val="900"/>
              </a:spcBef>
              <a:buFont typeface="+mj-lt"/>
              <a:buAutoNum type="arabicPeriod"/>
            </a:pPr>
            <a:r>
              <a:rPr lang="en-US" sz="2400" dirty="0">
                <a:latin typeface="Verdana"/>
                <a:ea typeface="MS Mincho"/>
                <a:cs typeface="Times New Roman"/>
              </a:rPr>
              <a:t>Why do you think it is important for people to be encouraged, rather than discouraged, about their passions?</a:t>
            </a:r>
            <a:endParaRPr lang="en-PH" sz="2400" dirty="0">
              <a:latin typeface="Cambria"/>
              <a:ea typeface="MS Mincho"/>
              <a:cs typeface="Times New Roman"/>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291</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2679192"/>
          </a:xfrm>
          <a:prstGeom prst="rect">
            <a:avLst/>
          </a:prstGeom>
          <a:noFill/>
        </p:spPr>
        <p:txBody>
          <a:bodyPr wrap="square" rtlCol="0">
            <a:spAutoFit/>
          </a:bodyPr>
          <a:lstStyle/>
          <a:p>
            <a:r>
              <a:rPr lang="en-US" sz="2400" dirty="0">
                <a:latin typeface="Verdana"/>
              </a:rPr>
              <a:t>Margarita says she loves asking the question “why?” She said one of the things that she thinks is important is being curious.</a:t>
            </a:r>
            <a:endParaRPr lang="en-PH" sz="2400" dirty="0"/>
          </a:p>
          <a:p>
            <a:r>
              <a:rPr lang="en-US" sz="2400" dirty="0">
                <a:latin typeface="Verdana"/>
              </a:rPr>
              <a:t> </a:t>
            </a:r>
            <a:endParaRPr lang="en-PH" sz="2400" dirty="0"/>
          </a:p>
          <a:p>
            <a:pPr marL="457200" indent="-457200">
              <a:buFont typeface="+mj-lt"/>
              <a:buAutoNum type="arabicPeriod" startAt="2"/>
            </a:pPr>
            <a:r>
              <a:rPr lang="en-US" sz="2400" dirty="0">
                <a:latin typeface="Verdana"/>
              </a:rPr>
              <a:t>Describe something you have a passion and curiosity about that you think could lead you to a certain career.</a:t>
            </a:r>
            <a:endParaRPr lang="en-PH" sz="2400" dirty="0"/>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291</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292</a:t>
            </a:r>
            <a:endParaRPr i="1" dirty="0">
              <a:latin typeface="Calibri"/>
              <a:ea typeface="Calibri"/>
              <a:cs typeface="Calibri"/>
              <a:sym typeface="Calibri"/>
            </a:endParaRPr>
          </a:p>
        </p:txBody>
      </p:sp>
    </p:spTree>
    <p:extLst>
      <p:ext uri="{BB962C8B-B14F-4D97-AF65-F5344CB8AC3E}">
        <p14:creationId xmlns:p14="http://schemas.microsoft.com/office/powerpoint/2010/main" val="306210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6.1.2 Refresher: Solving &amp; Graphing Linear Inequalities in One Variable</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1480"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DC51FF2-AD43-3B4B-B9DE-330920D33388}"/>
              </a:ext>
            </a:extLst>
          </p:cNvPr>
          <p:cNvSpPr txBox="1"/>
          <p:nvPr/>
        </p:nvSpPr>
        <p:spPr>
          <a:xfrm>
            <a:off x="914400" y="1386026"/>
            <a:ext cx="10515600" cy="1354217"/>
          </a:xfrm>
          <a:prstGeom prst="rect">
            <a:avLst/>
          </a:prstGeom>
          <a:noFill/>
        </p:spPr>
        <p:txBody>
          <a:bodyPr wrap="square" rtlCol="0">
            <a:spAutoFit/>
          </a:bodyPr>
          <a:lstStyle/>
          <a:p>
            <a:pPr marL="457200" indent="-457200">
              <a:spcBef>
                <a:spcPts val="900"/>
              </a:spcBef>
              <a:spcAft>
                <a:spcPts val="1200"/>
              </a:spcAft>
              <a:buFont typeface="+mj-lt"/>
              <a:buAutoNum type="arabicPeriod"/>
            </a:pPr>
            <a:r>
              <a:rPr lang="en-US" sz="2400" dirty="0">
                <a:latin typeface="Verdana"/>
                <a:ea typeface="MS Mincho"/>
                <a:cs typeface="Times New Roman"/>
              </a:rPr>
              <a:t>Two inequalities are given in the table.</a:t>
            </a:r>
            <a:endParaRPr lang="en-PH" sz="2400" dirty="0">
              <a:latin typeface="Cambria"/>
              <a:ea typeface="MS Mincho"/>
              <a:cs typeface="Times New Roman"/>
            </a:endParaRPr>
          </a:p>
          <a:p>
            <a:pPr marL="914400" lvl="1" indent="-457200">
              <a:buFont typeface="+mj-lt"/>
              <a:buAutoNum type="alphaLcPeriod"/>
            </a:pPr>
            <a:r>
              <a:rPr lang="en-US" sz="2400" dirty="0">
                <a:latin typeface="Verdana"/>
                <a:ea typeface="MS Mincho"/>
                <a:cs typeface="Times New Roman"/>
              </a:rPr>
              <a:t>Solve each inequality and then graph each solution set on the number lines provided.</a:t>
            </a:r>
            <a:endParaRPr lang="en-PH" sz="2400" dirty="0">
              <a:latin typeface="Cambria"/>
              <a:ea typeface="MS Mincho"/>
              <a:cs typeface="Times New Roman"/>
            </a:endParaRP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953521832"/>
                  </p:ext>
                </p:extLst>
              </p:nvPr>
            </p:nvGraphicFramePr>
            <p:xfrm>
              <a:off x="2496000" y="2997318"/>
              <a:ext cx="7200000" cy="3125032"/>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spcAft>
                              <a:spcPts val="0"/>
                            </a:spcAft>
                          </a:pPr>
                          <a:r>
                            <a:rPr lang="en-US" sz="2000" b="1" dirty="0">
                              <a:effectLst/>
                              <a:latin typeface="Verdana" pitchFamily="34" charset="0"/>
                              <a:ea typeface="Verdana" pitchFamily="34" charset="0"/>
                              <a:cs typeface="Times New Roman"/>
                            </a:rPr>
                            <a:t>Inequality A</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Inequality B</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657032">
                    <a:tc>
                      <a:txBody>
                        <a:bodyPr/>
                        <a:lstStyle/>
                        <a:p>
                          <a:pPr algn="ctr">
                            <a:spcAft>
                              <a:spcPts val="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rPr>
                                    </m:ctrlPr>
                                  </m:fPr>
                                  <m:num>
                                    <m:r>
                                      <a:rPr lang="en-US" sz="2000" i="1">
                                        <a:effectLst/>
                                        <a:latin typeface="Cambria Math"/>
                                      </a:rPr>
                                      <m:t>1</m:t>
                                    </m:r>
                                  </m:num>
                                  <m:den>
                                    <m:r>
                                      <a:rPr lang="en-US" sz="2000" i="1">
                                        <a:effectLst/>
                                        <a:latin typeface="Cambria Math"/>
                                      </a:rPr>
                                      <m:t>2</m:t>
                                    </m:r>
                                  </m:den>
                                </m:f>
                                <m:d>
                                  <m:dPr>
                                    <m:ctrlPr>
                                      <a:rPr lang="en-PH" sz="2000" i="1">
                                        <a:effectLst/>
                                        <a:latin typeface="Cambria Math" panose="02040503050406030204" pitchFamily="18" charset="0"/>
                                      </a:rPr>
                                    </m:ctrlPr>
                                  </m:dPr>
                                  <m:e>
                                    <m:r>
                                      <a:rPr lang="en-US" sz="2000" i="1">
                                        <a:effectLst/>
                                        <a:latin typeface="Cambria Math"/>
                                      </a:rPr>
                                      <m:t>18</m:t>
                                    </m:r>
                                    <m:r>
                                      <a:rPr lang="en-US" sz="2000" i="1">
                                        <a:effectLst/>
                                        <a:latin typeface="Cambria Math"/>
                                      </a:rPr>
                                      <m:t>𝑘</m:t>
                                    </m:r>
                                    <m:r>
                                      <a:rPr lang="en-US" sz="2000" i="1">
                                        <a:effectLst/>
                                        <a:latin typeface="Cambria Math"/>
                                      </a:rPr>
                                      <m:t>−5</m:t>
                                    </m:r>
                                  </m:e>
                                </m:d>
                                <m:r>
                                  <a:rPr lang="en-US" sz="2000" i="1">
                                    <a:effectLst/>
                                    <a:latin typeface="Cambria Math"/>
                                  </a:rPr>
                                  <m:t>≥20</m:t>
                                </m:r>
                              </m:oMath>
                            </m:oMathPara>
                          </a14:m>
                          <a:endParaRPr lang="en-PH" sz="2000" dirty="0">
                            <a:effectLst/>
                            <a:latin typeface="Verdana" pitchFamily="34" charset="0"/>
                            <a:ea typeface="Verdana"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m:t>
                                </m:r>
                                <m:f>
                                  <m:fPr>
                                    <m:ctrlPr>
                                      <a:rPr lang="en-PH" sz="2000" i="1">
                                        <a:effectLst/>
                                        <a:latin typeface="Cambria Math" panose="02040503050406030204" pitchFamily="18" charset="0"/>
                                      </a:rPr>
                                    </m:ctrlPr>
                                  </m:fPr>
                                  <m:num>
                                    <m:r>
                                      <a:rPr lang="en-US" sz="2000" i="1">
                                        <a:effectLst/>
                                        <a:latin typeface="Cambria Math"/>
                                      </a:rPr>
                                      <m:t>1</m:t>
                                    </m:r>
                                  </m:num>
                                  <m:den>
                                    <m:r>
                                      <a:rPr lang="en-US" sz="2000" i="1">
                                        <a:effectLst/>
                                        <a:latin typeface="Cambria Math"/>
                                      </a:rPr>
                                      <m:t>2</m:t>
                                    </m:r>
                                  </m:den>
                                </m:f>
                                <m:d>
                                  <m:dPr>
                                    <m:ctrlPr>
                                      <a:rPr lang="en-PH" sz="2000" i="1">
                                        <a:effectLst/>
                                        <a:latin typeface="Cambria Math" panose="02040503050406030204" pitchFamily="18" charset="0"/>
                                      </a:rPr>
                                    </m:ctrlPr>
                                  </m:dPr>
                                  <m:e>
                                    <m:r>
                                      <a:rPr lang="en-US" sz="2000" i="1">
                                        <a:effectLst/>
                                        <a:latin typeface="Cambria Math"/>
                                      </a:rPr>
                                      <m:t>18</m:t>
                                    </m:r>
                                    <m:r>
                                      <a:rPr lang="en-US" sz="2000" i="1">
                                        <a:effectLst/>
                                        <a:latin typeface="Cambria Math"/>
                                      </a:rPr>
                                      <m:t>𝑘</m:t>
                                    </m:r>
                                    <m:r>
                                      <a:rPr lang="en-US" sz="2000" i="1">
                                        <a:effectLst/>
                                        <a:latin typeface="Cambria Math"/>
                                      </a:rPr>
                                      <m:t>−5</m:t>
                                    </m:r>
                                  </m:e>
                                </m:d>
                                <m:r>
                                  <a:rPr lang="en-US" sz="2000" i="1">
                                    <a:effectLst/>
                                    <a:latin typeface="Cambria Math"/>
                                  </a:rPr>
                                  <m:t>≥20</m:t>
                                </m:r>
                              </m:oMath>
                            </m:oMathPara>
                          </a14:m>
                          <a:endParaRPr lang="en-PH" sz="2000" dirty="0">
                            <a:effectLst/>
                            <a:latin typeface="Verdana" pitchFamily="34" charset="0"/>
                            <a:ea typeface="Verdana"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953521832"/>
                  </p:ext>
                </p:extLst>
              </p:nvPr>
            </p:nvGraphicFramePr>
            <p:xfrm>
              <a:off x="2496000" y="2997318"/>
              <a:ext cx="7200000" cy="3125032"/>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spcAft>
                              <a:spcPts val="0"/>
                            </a:spcAft>
                          </a:pPr>
                          <a:r>
                            <a:rPr lang="en-US" sz="2000" b="1" dirty="0">
                              <a:effectLst/>
                              <a:latin typeface="Verdana" pitchFamily="34" charset="0"/>
                              <a:ea typeface="Verdana" pitchFamily="34" charset="0"/>
                              <a:cs typeface="Times New Roman"/>
                            </a:rPr>
                            <a:t>Inequality A</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Inequality B</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657032">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38" t="-17849" r="-100508" b="-686"/>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338" t="-17849" r="-508" b="-686"/>
                          </a:stretch>
                        </a:blipFill>
                      </a:tcPr>
                    </a:tc>
                    <a:extLst>
                      <a:ext uri="{0D108BD9-81ED-4DB2-BD59-A6C34878D82A}">
                        <a16:rowId xmlns:a16="http://schemas.microsoft.com/office/drawing/2014/main" val="10001"/>
                      </a:ext>
                    </a:extLst>
                  </a:tr>
                </a:tbl>
              </a:graphicData>
            </a:graphic>
          </p:graphicFrame>
        </mc:Fallback>
      </mc:AlternateContent>
      <p:pic>
        <p:nvPicPr>
          <p:cNvPr id="1028" name="Picture 1"/>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610139" y="5537952"/>
            <a:ext cx="3324225"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1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257637" y="5537952"/>
            <a:ext cx="3324225" cy="3048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292</a:t>
            </a:r>
            <a:endParaRPr i="1" dirty="0">
              <a:latin typeface="Calibri"/>
              <a:ea typeface="Calibri"/>
              <a:cs typeface="Calibri"/>
              <a:sym typeface="Calibri"/>
            </a:endParaRPr>
          </a:p>
        </p:txBody>
      </p:sp>
    </p:spTree>
    <p:extLst>
      <p:ext uri="{BB962C8B-B14F-4D97-AF65-F5344CB8AC3E}">
        <p14:creationId xmlns:p14="http://schemas.microsoft.com/office/powerpoint/2010/main" val="13640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878774" y="520393"/>
            <a:ext cx="10551226" cy="2049792"/>
          </a:xfrm>
          <a:prstGeom prst="rect">
            <a:avLst/>
          </a:prstGeom>
          <a:noFill/>
        </p:spPr>
        <p:txBody>
          <a:bodyPr wrap="square" rtlCol="0">
            <a:spAutoFit/>
          </a:bodyPr>
          <a:lstStyle/>
          <a:p>
            <a:pPr marL="914400" lvl="1" indent="-457200">
              <a:lnSpc>
                <a:spcPct val="115000"/>
              </a:lnSpc>
              <a:buFont typeface="+mj-lt"/>
              <a:buAutoNum type="alphaLcPeriod" startAt="2"/>
            </a:pPr>
            <a:r>
              <a:rPr lang="en-US" sz="2400" dirty="0">
                <a:latin typeface="Verdana" pitchFamily="34" charset="0"/>
                <a:ea typeface="Verdana" pitchFamily="34" charset="0"/>
                <a:cs typeface="Verdana"/>
              </a:rPr>
              <a:t>Check your work with your partner and if necessary, resolve any differences.</a:t>
            </a:r>
            <a:endParaRPr lang="en-PH" sz="2400" dirty="0">
              <a:latin typeface="Verdana" pitchFamily="34" charset="0"/>
              <a:ea typeface="Verdana" pitchFamily="34" charset="0"/>
            </a:endParaRPr>
          </a:p>
          <a:p>
            <a:pPr marL="914400" lvl="1" indent="-457200">
              <a:buFont typeface="+mj-lt"/>
              <a:buAutoNum type="alphaLcPeriod" startAt="2"/>
            </a:pPr>
            <a:endParaRPr lang="en-US" sz="2400" dirty="0">
              <a:latin typeface="Verdana" pitchFamily="34" charset="0"/>
              <a:ea typeface="Verdana" pitchFamily="34" charset="0"/>
            </a:endParaRPr>
          </a:p>
          <a:p>
            <a:pPr marL="914400" lvl="1" indent="-457200">
              <a:buFont typeface="+mj-lt"/>
              <a:buAutoNum type="alphaLcPeriod" startAt="2"/>
            </a:pPr>
            <a:r>
              <a:rPr lang="en-US" sz="2400" dirty="0">
                <a:latin typeface="Verdana" pitchFamily="34" charset="0"/>
                <a:ea typeface="Verdana" pitchFamily="34" charset="0"/>
              </a:rPr>
              <a:t>Compare the given inequalities, the steps in solving each inequality, and the two solutions. </a:t>
            </a:r>
            <a:endParaRPr lang="en-PH" sz="2400" dirty="0">
              <a:latin typeface="Verdana" pitchFamily="34" charset="0"/>
              <a:ea typeface="Verdana"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172465595"/>
              </p:ext>
            </p:extLst>
          </p:nvPr>
        </p:nvGraphicFramePr>
        <p:xfrm>
          <a:off x="2554387" y="2827260"/>
          <a:ext cx="7200000" cy="321120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spcAft>
                          <a:spcPts val="0"/>
                        </a:spcAft>
                      </a:pPr>
                      <a:r>
                        <a:rPr lang="en-US" sz="2000" b="1" dirty="0">
                          <a:effectLst/>
                          <a:latin typeface="Verdana" pitchFamily="34" charset="0"/>
                          <a:ea typeface="Verdana" pitchFamily="34" charset="0"/>
                        </a:rPr>
                        <a:t>Similarities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rPr>
                        <a:t>Differences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743200">
                <a:tc>
                  <a:txBody>
                    <a:bodyPr/>
                    <a:lstStyle/>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292</a:t>
            </a:r>
            <a:endParaRPr i="1" dirty="0">
              <a:latin typeface="Calibri"/>
              <a:ea typeface="Calibri"/>
              <a:cs typeface="Calibri"/>
              <a:sym typeface="Calibri"/>
            </a:endParaRPr>
          </a:p>
        </p:txBody>
      </p:sp>
    </p:spTree>
    <p:extLst>
      <p:ext uri="{BB962C8B-B14F-4D97-AF65-F5344CB8AC3E}">
        <p14:creationId xmlns:p14="http://schemas.microsoft.com/office/powerpoint/2010/main" val="1240887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1569660"/>
          </a:xfrm>
          <a:prstGeom prst="rect">
            <a:avLst/>
          </a:prstGeom>
          <a:noFill/>
        </p:spPr>
        <p:txBody>
          <a:bodyPr wrap="square" rtlCol="0">
            <a:spAutoFit/>
          </a:bodyPr>
          <a:lstStyle/>
          <a:p>
            <a:pPr marL="914400" lvl="1" indent="-457200">
              <a:spcBef>
                <a:spcPts val="900"/>
              </a:spcBef>
              <a:buFont typeface="+mj-lt"/>
              <a:buAutoNum type="alphaLcPeriod" startAt="4"/>
            </a:pPr>
            <a:r>
              <a:rPr lang="en-US" sz="2400" dirty="0">
                <a:latin typeface="Verdana"/>
                <a:ea typeface="MS Mincho"/>
                <a:cs typeface="Times New Roman"/>
              </a:rPr>
              <a:t>Discuss with your partner, without solving, how the graphs of each solution can be found. Then, graph the solution set on each number line.</a:t>
            </a:r>
            <a:endParaRPr lang="en-PH" sz="1600" dirty="0">
              <a:latin typeface="Cambria"/>
              <a:ea typeface="MS Mincho"/>
              <a:cs typeface="Times New Roman"/>
            </a:endParaRPr>
          </a:p>
        </p:txBody>
      </p:sp>
      <mc:AlternateContent xmlns:mc="http://schemas.openxmlformats.org/markup-compatibility/2006">
        <mc:Choice xmlns:a14="http://schemas.microsoft.com/office/drawing/2010/main" Requires="a14">
          <p:graphicFrame>
            <p:nvGraphicFramePr>
              <p:cNvPr id="4" name="Table 3"/>
              <p:cNvGraphicFramePr>
                <a:graphicFrameLocks noGrp="1"/>
              </p:cNvGraphicFramePr>
              <p:nvPr>
                <p:extLst>
                  <p:ext uri="{D42A27DB-BD31-4B8C-83A1-F6EECF244321}">
                    <p14:modId xmlns:p14="http://schemas.microsoft.com/office/powerpoint/2010/main" val="506513711"/>
                  </p:ext>
                </p:extLst>
              </p:nvPr>
            </p:nvGraphicFramePr>
            <p:xfrm>
              <a:off x="2496000" y="2139948"/>
              <a:ext cx="7200000" cy="262800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spcAft>
                              <a:spcPts val="0"/>
                            </a:spcAft>
                          </a:pPr>
                          <a:r>
                            <a:rPr lang="en-US" sz="2000" b="1">
                              <a:effectLst/>
                              <a:latin typeface="Verdana" pitchFamily="34" charset="0"/>
                              <a:ea typeface="Verdana" pitchFamily="34" charset="0"/>
                              <a:cs typeface="Times New Roman"/>
                            </a:rPr>
                            <a:t>Inequality C</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a:effectLst/>
                              <a:latin typeface="Verdana" pitchFamily="34" charset="0"/>
                              <a:ea typeface="Verdana" pitchFamily="34" charset="0"/>
                              <a:cs typeface="Times New Roman"/>
                            </a:rPr>
                            <a:t>Inequality D</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80000">
                    <a:tc>
                      <a:txBody>
                        <a:bodyPr/>
                        <a:lstStyle/>
                        <a:p>
                          <a:pPr algn="ctr">
                            <a:spcAft>
                              <a:spcPts val="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rPr>
                                    </m:ctrlPr>
                                  </m:fPr>
                                  <m:num>
                                    <m:r>
                                      <a:rPr lang="en-US" sz="2000" i="1">
                                        <a:effectLst/>
                                        <a:latin typeface="Cambria Math"/>
                                      </a:rPr>
                                      <m:t>1</m:t>
                                    </m:r>
                                  </m:num>
                                  <m:den>
                                    <m:r>
                                      <a:rPr lang="en-US" sz="2000" i="1">
                                        <a:effectLst/>
                                        <a:latin typeface="Cambria Math"/>
                                      </a:rPr>
                                      <m:t>2</m:t>
                                    </m:r>
                                  </m:den>
                                </m:f>
                                <m:d>
                                  <m:dPr>
                                    <m:ctrlPr>
                                      <a:rPr lang="en-PH" sz="2000" i="1">
                                        <a:effectLst/>
                                        <a:latin typeface="Cambria Math" panose="02040503050406030204" pitchFamily="18" charset="0"/>
                                      </a:rPr>
                                    </m:ctrlPr>
                                  </m:dPr>
                                  <m:e>
                                    <m:r>
                                      <a:rPr lang="en-US" sz="2000" i="1">
                                        <a:effectLst/>
                                        <a:latin typeface="Cambria Math"/>
                                      </a:rPr>
                                      <m:t>18</m:t>
                                    </m:r>
                                    <m:r>
                                      <a:rPr lang="en-US" sz="2000" i="1">
                                        <a:effectLst/>
                                        <a:latin typeface="Cambria Math"/>
                                      </a:rPr>
                                      <m:t>𝑘</m:t>
                                    </m:r>
                                    <m:r>
                                      <a:rPr lang="en-US" sz="2000" i="1">
                                        <a:effectLst/>
                                        <a:latin typeface="Cambria Math"/>
                                      </a:rPr>
                                      <m:t>−5</m:t>
                                    </m:r>
                                  </m:e>
                                </m:d>
                                <m:r>
                                  <a:rPr lang="en-US" sz="2000" i="1">
                                    <a:effectLst/>
                                    <a:latin typeface="Cambria Math"/>
                                  </a:rPr>
                                  <m:t>&gt;2</m:t>
                                </m:r>
                                <m:r>
                                  <a:rPr lang="en-US" sz="2000" i="1" smtClean="0">
                                    <a:effectLst/>
                                    <a:latin typeface="Cambria Math"/>
                                  </a:rPr>
                                  <m:t>0</m:t>
                                </m:r>
                              </m:oMath>
                            </m:oMathPara>
                          </a14:m>
                          <a:endParaRPr lang="en-PH" sz="2000" dirty="0">
                            <a:effectLst/>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m:t>
                                </m:r>
                                <m:f>
                                  <m:fPr>
                                    <m:ctrlPr>
                                      <a:rPr lang="en-PH" sz="2000" i="1">
                                        <a:effectLst/>
                                        <a:latin typeface="Cambria Math" panose="02040503050406030204" pitchFamily="18" charset="0"/>
                                      </a:rPr>
                                    </m:ctrlPr>
                                  </m:fPr>
                                  <m:num>
                                    <m:r>
                                      <a:rPr lang="en-US" sz="2000" i="1">
                                        <a:effectLst/>
                                        <a:latin typeface="Cambria Math"/>
                                      </a:rPr>
                                      <m:t>1</m:t>
                                    </m:r>
                                  </m:num>
                                  <m:den>
                                    <m:r>
                                      <a:rPr lang="en-US" sz="2000" i="1">
                                        <a:effectLst/>
                                        <a:latin typeface="Cambria Math"/>
                                      </a:rPr>
                                      <m:t>2</m:t>
                                    </m:r>
                                  </m:den>
                                </m:f>
                                <m:d>
                                  <m:dPr>
                                    <m:ctrlPr>
                                      <a:rPr lang="en-PH" sz="2000" i="1">
                                        <a:effectLst/>
                                        <a:latin typeface="Cambria Math" panose="02040503050406030204" pitchFamily="18" charset="0"/>
                                      </a:rPr>
                                    </m:ctrlPr>
                                  </m:dPr>
                                  <m:e>
                                    <m:r>
                                      <a:rPr lang="en-US" sz="2000" i="1">
                                        <a:effectLst/>
                                        <a:latin typeface="Cambria Math"/>
                                      </a:rPr>
                                      <m:t>18</m:t>
                                    </m:r>
                                    <m:r>
                                      <a:rPr lang="en-US" sz="2000" i="1">
                                        <a:effectLst/>
                                        <a:latin typeface="Cambria Math"/>
                                      </a:rPr>
                                      <m:t>𝑘</m:t>
                                    </m:r>
                                    <m:r>
                                      <a:rPr lang="en-US" sz="2000" i="1">
                                        <a:effectLst/>
                                        <a:latin typeface="Cambria Math"/>
                                      </a:rPr>
                                      <m:t>−5</m:t>
                                    </m:r>
                                  </m:e>
                                </m:d>
                                <m:r>
                                  <a:rPr lang="en-US" sz="2000" i="1">
                                    <a:effectLst/>
                                    <a:latin typeface="Cambria Math"/>
                                  </a:rPr>
                                  <m:t>&gt;20</m:t>
                                </m:r>
                              </m:oMath>
                            </m:oMathPara>
                          </a14:m>
                          <a:endParaRPr lang="en-PH" sz="2000" dirty="0">
                            <a:effectLst/>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80000">
                    <a:tc>
                      <a:txBody>
                        <a:bodyPr/>
                        <a:lstStyle/>
                        <a:p>
                          <a:pPr algn="ctr">
                            <a:spcAft>
                              <a:spcPts val="0"/>
                            </a:spcAft>
                          </a:pPr>
                          <a:endParaRPr lang="en-US"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endParaRPr lang="en-US"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p:graphicFrame>
            <p:nvGraphicFramePr>
              <p:cNvPr id="4" name="Table 3"/>
              <p:cNvGraphicFramePr>
                <a:graphicFrameLocks noGrp="1"/>
              </p:cNvGraphicFramePr>
              <p:nvPr>
                <p:extLst>
                  <p:ext uri="{D42A27DB-BD31-4B8C-83A1-F6EECF244321}">
                    <p14:modId xmlns:p14="http://schemas.microsoft.com/office/powerpoint/2010/main" val="506513711"/>
                  </p:ext>
                </p:extLst>
              </p:nvPr>
            </p:nvGraphicFramePr>
            <p:xfrm>
              <a:off x="2496000" y="2139948"/>
              <a:ext cx="7200000" cy="262800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spcAft>
                              <a:spcPts val="0"/>
                            </a:spcAft>
                          </a:pPr>
                          <a:r>
                            <a:rPr lang="en-US" sz="2000" b="1">
                              <a:effectLst/>
                              <a:latin typeface="Verdana" pitchFamily="34" charset="0"/>
                              <a:ea typeface="Verdana" pitchFamily="34" charset="0"/>
                              <a:cs typeface="Times New Roman"/>
                            </a:rPr>
                            <a:t>Inequality C</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a:effectLst/>
                              <a:latin typeface="Verdana" pitchFamily="34" charset="0"/>
                              <a:ea typeface="Verdana" pitchFamily="34" charset="0"/>
                              <a:cs typeface="Times New Roman"/>
                            </a:rPr>
                            <a:t>Inequality D</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80000">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38" t="-44633" r="-100508" b="-102260"/>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338" t="-44633" r="-508" b="-102260"/>
                          </a:stretch>
                        </a:blipFill>
                      </a:tcPr>
                    </a:tc>
                    <a:extLst>
                      <a:ext uri="{0D108BD9-81ED-4DB2-BD59-A6C34878D82A}">
                        <a16:rowId xmlns:a16="http://schemas.microsoft.com/office/drawing/2014/main" val="10001"/>
                      </a:ext>
                    </a:extLst>
                  </a:tr>
                  <a:tr h="1080000">
                    <a:tc>
                      <a:txBody>
                        <a:bodyPr/>
                        <a:lstStyle/>
                        <a:p>
                          <a:pPr algn="ctr">
                            <a:spcAft>
                              <a:spcPts val="0"/>
                            </a:spcAft>
                          </a:pPr>
                          <a:endParaRPr lang="en-US"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endParaRPr lang="en-US"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pic>
        <p:nvPicPr>
          <p:cNvPr id="3075" name="Picture 18"/>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668385" y="4172695"/>
            <a:ext cx="3324225" cy="3048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16"/>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286441" y="4172695"/>
            <a:ext cx="3325813" cy="303212"/>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292</a:t>
            </a:r>
            <a:endParaRPr i="1" dirty="0">
              <a:latin typeface="Calibri"/>
              <a:ea typeface="Calibri"/>
              <a:cs typeface="Calibri"/>
              <a:sym typeface="Calibri"/>
            </a:endParaRPr>
          </a:p>
        </p:txBody>
      </p:sp>
    </p:spTree>
    <p:extLst>
      <p:ext uri="{BB962C8B-B14F-4D97-AF65-F5344CB8AC3E}">
        <p14:creationId xmlns:p14="http://schemas.microsoft.com/office/powerpoint/2010/main" val="1444746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293</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6.1.3 Guided Instruction: Multi-Step Linear Inequalities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11480" y="1212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866899" y="1386026"/>
                <a:ext cx="10563101" cy="2491836"/>
              </a:xfrm>
              <a:prstGeom prst="rect">
                <a:avLst/>
              </a:prstGeom>
              <a:noFill/>
            </p:spPr>
            <p:txBody>
              <a:bodyPr wrap="square" rtlCol="0">
                <a:spAutoFit/>
              </a:bodyPr>
              <a:lstStyle/>
              <a:p>
                <a:pPr marL="457200" indent="-457200">
                  <a:spcAft>
                    <a:spcPts val="1800"/>
                  </a:spcAft>
                  <a:buFont typeface="+mj-lt"/>
                  <a:buAutoNum type="arabicPeriod"/>
                </a:pPr>
                <a:r>
                  <a:rPr lang="en-US" sz="2400" dirty="0">
                    <a:latin typeface="Verdana" pitchFamily="34" charset="0"/>
                    <a:ea typeface="Verdana" pitchFamily="34" charset="0"/>
                    <a:cs typeface="Times New Roman"/>
                  </a:rPr>
                  <a:t>Mariana and Zion were solving the inequality shown.</a:t>
                </a:r>
                <a:endParaRPr lang="en-PH" sz="2400" dirty="0">
                  <a:latin typeface="Verdana" pitchFamily="34" charset="0"/>
                  <a:ea typeface="Verdana" pitchFamily="34" charset="0"/>
                  <a:cs typeface="Times New Roman"/>
                </a:endParaRPr>
              </a:p>
              <a:p>
                <a:pPr algn="ctr">
                  <a:spcAft>
                    <a:spcPts val="1800"/>
                  </a:spcAft>
                </a:pPr>
                <a14:m>
                  <m:oMathPara xmlns:m="http://schemas.openxmlformats.org/officeDocument/2006/math">
                    <m:oMathParaPr>
                      <m:jc m:val="centerGroup"/>
                    </m:oMathParaPr>
                    <m:oMath xmlns:m="http://schemas.openxmlformats.org/officeDocument/2006/math">
                      <m:f>
                        <m:fPr>
                          <m:ctrlPr>
                            <a:rPr lang="en-PH" sz="2400" i="1">
                              <a:latin typeface="Cambria Math" panose="02040503050406030204" pitchFamily="18" charset="0"/>
                              <a:ea typeface="MS Mincho"/>
                              <a:cs typeface="Times New Roman"/>
                            </a:rPr>
                          </m:ctrlPr>
                        </m:fPr>
                        <m:num>
                          <m:r>
                            <a:rPr lang="en-US" sz="2400" i="1">
                              <a:latin typeface="Cambria Math"/>
                              <a:ea typeface="MS Mincho"/>
                              <a:cs typeface="Times New Roman"/>
                            </a:rPr>
                            <m:t>3</m:t>
                          </m:r>
                        </m:num>
                        <m:den>
                          <m:r>
                            <a:rPr lang="en-US" sz="2400" i="1">
                              <a:latin typeface="Cambria Math"/>
                              <a:ea typeface="MS Mincho"/>
                              <a:cs typeface="Times New Roman"/>
                            </a:rPr>
                            <m:t>4</m:t>
                          </m:r>
                        </m:den>
                      </m:f>
                      <m:r>
                        <a:rPr lang="en-US" sz="2400" i="1">
                          <a:latin typeface="Cambria Math"/>
                          <a:ea typeface="MS Mincho"/>
                          <a:cs typeface="Times New Roman"/>
                        </a:rPr>
                        <m:t>h</m:t>
                      </m:r>
                      <m:r>
                        <a:rPr lang="en-US" sz="2400" i="1">
                          <a:latin typeface="Cambria Math"/>
                          <a:ea typeface="MS Mincho"/>
                          <a:cs typeface="Times New Roman"/>
                        </a:rPr>
                        <m:t>−2≥−4</m:t>
                      </m:r>
                      <m:d>
                        <m:dPr>
                          <m:ctrlPr>
                            <a:rPr lang="en-PH" sz="2400" i="1">
                              <a:latin typeface="Cambria Math" panose="02040503050406030204" pitchFamily="18" charset="0"/>
                              <a:ea typeface="MS Mincho"/>
                              <a:cs typeface="Times New Roman"/>
                            </a:rPr>
                          </m:ctrlPr>
                        </m:dPr>
                        <m:e>
                          <m:f>
                            <m:fPr>
                              <m:ctrlPr>
                                <a:rPr lang="en-PH" sz="2400" i="1">
                                  <a:latin typeface="Cambria Math" panose="02040503050406030204" pitchFamily="18" charset="0"/>
                                  <a:ea typeface="MS Mincho"/>
                                  <a:cs typeface="Times New Roman"/>
                                </a:rPr>
                              </m:ctrlPr>
                            </m:fPr>
                            <m:num>
                              <m:r>
                                <a:rPr lang="en-US" sz="2400" i="1">
                                  <a:latin typeface="Cambria Math"/>
                                  <a:ea typeface="MS Mincho"/>
                                  <a:cs typeface="Times New Roman"/>
                                </a:rPr>
                                <m:t>5</m:t>
                              </m:r>
                            </m:num>
                            <m:den>
                              <m:r>
                                <a:rPr lang="en-US" sz="2400" i="1">
                                  <a:latin typeface="Cambria Math"/>
                                  <a:ea typeface="MS Mincho"/>
                                  <a:cs typeface="Times New Roman"/>
                                </a:rPr>
                                <m:t>8</m:t>
                              </m:r>
                            </m:den>
                          </m:f>
                          <m:r>
                            <a:rPr lang="en-US" sz="2400" i="1">
                              <a:latin typeface="Cambria Math"/>
                              <a:ea typeface="MS Mincho"/>
                              <a:cs typeface="Times New Roman"/>
                            </a:rPr>
                            <m:t>h</m:t>
                          </m:r>
                          <m:r>
                            <a:rPr lang="en-US" sz="2400" i="1">
                              <a:latin typeface="Cambria Math"/>
                              <a:ea typeface="MS Mincho"/>
                              <a:cs typeface="Times New Roman"/>
                            </a:rPr>
                            <m:t>−6</m:t>
                          </m:r>
                        </m:e>
                      </m:d>
                    </m:oMath>
                  </m:oMathPara>
                </a14:m>
                <a:endParaRPr lang="en-PH" sz="2400" dirty="0">
                  <a:latin typeface="Verdana" pitchFamily="34" charset="0"/>
                  <a:ea typeface="Verdana" pitchFamily="34" charset="0"/>
                  <a:cs typeface="Times New Roman"/>
                </a:endParaRPr>
              </a:p>
              <a:p>
                <a:pPr marL="457200">
                  <a:spcAft>
                    <a:spcPts val="1000"/>
                  </a:spcAft>
                </a:pPr>
                <a:r>
                  <a:rPr lang="en-US" sz="2400" dirty="0">
                    <a:latin typeface="Verdana" pitchFamily="34" charset="0"/>
                    <a:ea typeface="Verdana" pitchFamily="34" charset="0"/>
                    <a:cs typeface="Times New Roman"/>
                  </a:rPr>
                  <a:t>Mariana and Zion used different first steps to solve the inequality. Their first steps are shown in the table.</a:t>
                </a: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866899" y="1386026"/>
                <a:ext cx="10563101" cy="2491836"/>
              </a:xfrm>
              <a:prstGeom prst="rect">
                <a:avLst/>
              </a:prstGeom>
              <a:blipFill>
                <a:blip r:embed="rId5"/>
                <a:stretch>
                  <a:fillRect l="-866" t="-1956" b="-440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2790876607"/>
                  </p:ext>
                </p:extLst>
              </p:nvPr>
            </p:nvGraphicFramePr>
            <p:xfrm>
              <a:off x="2476467" y="4024167"/>
              <a:ext cx="6800850" cy="2628000"/>
            </p:xfrm>
            <a:graphic>
              <a:graphicData uri="http://schemas.openxmlformats.org/drawingml/2006/table">
                <a:tbl>
                  <a:tblPr firstRow="1" firstCol="1" bandRow="1"/>
                  <a:tblGrid>
                    <a:gridCol w="341757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468000">
                    <a:tc>
                      <a:txBody>
                        <a:bodyPr/>
                        <a:lstStyle/>
                        <a:p>
                          <a:pPr algn="ctr">
                            <a:spcAft>
                              <a:spcPts val="0"/>
                            </a:spcAft>
                          </a:pPr>
                          <a:r>
                            <a:rPr lang="en-US" sz="2000" b="1" dirty="0">
                              <a:effectLst/>
                              <a:latin typeface="Verdana" pitchFamily="34" charset="0"/>
                              <a:ea typeface="Verdana" pitchFamily="34" charset="0"/>
                              <a:cs typeface="Times New Roman"/>
                            </a:rPr>
                            <a:t>Mariana</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Zion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160000">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3</m:t>
                                    </m:r>
                                  </m:num>
                                  <m:den>
                                    <m:r>
                                      <a:rPr lang="en-US" sz="2000" i="1">
                                        <a:effectLst/>
                                        <a:latin typeface="Cambria Math"/>
                                        <a:ea typeface="MS Mincho"/>
                                        <a:cs typeface="Times New Roman"/>
                                      </a:rPr>
                                      <m:t>4</m:t>
                                    </m:r>
                                  </m:den>
                                </m:f>
                                <m:r>
                                  <a:rPr lang="en-US" sz="2000" i="1">
                                    <a:effectLst/>
                                    <a:latin typeface="Cambria Math"/>
                                    <a:ea typeface="MS Mincho"/>
                                    <a:cs typeface="Times New Roman"/>
                                  </a:rPr>
                                  <m:t>h</m:t>
                                </m:r>
                                <m:r>
                                  <a:rPr lang="en-US" sz="2000" i="1">
                                    <a:effectLst/>
                                    <a:latin typeface="Cambria Math"/>
                                    <a:ea typeface="MS Mincho"/>
                                    <a:cs typeface="Times New Roman"/>
                                  </a:rPr>
                                  <m:t>−2≥−4</m:t>
                                </m:r>
                                <m:d>
                                  <m:dPr>
                                    <m:ctrlPr>
                                      <a:rPr lang="en-PH" sz="2000" i="1">
                                        <a:effectLst/>
                                        <a:latin typeface="Cambria Math" panose="02040503050406030204" pitchFamily="18" charset="0"/>
                                        <a:ea typeface="MS Mincho"/>
                                        <a:cs typeface="Times New Roman"/>
                                      </a:rPr>
                                    </m:ctrlPr>
                                  </m:dPr>
                                  <m:e>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5</m:t>
                                        </m:r>
                                      </m:num>
                                      <m:den>
                                        <m:r>
                                          <a:rPr lang="en-US" sz="2000" i="1">
                                            <a:effectLst/>
                                            <a:latin typeface="Cambria Math"/>
                                            <a:ea typeface="MS Mincho"/>
                                            <a:cs typeface="Times New Roman"/>
                                          </a:rPr>
                                          <m:t>8</m:t>
                                        </m:r>
                                      </m:den>
                                    </m:f>
                                    <m:r>
                                      <a:rPr lang="en-US" sz="2000" i="1">
                                        <a:effectLst/>
                                        <a:latin typeface="Cambria Math"/>
                                        <a:ea typeface="MS Mincho"/>
                                        <a:cs typeface="Times New Roman"/>
                                      </a:rPr>
                                      <m:t>h</m:t>
                                    </m:r>
                                    <m:r>
                                      <a:rPr lang="en-US" sz="2000" i="1">
                                        <a:effectLst/>
                                        <a:latin typeface="Cambria Math"/>
                                        <a:ea typeface="MS Mincho"/>
                                        <a:cs typeface="Times New Roman"/>
                                      </a:rPr>
                                      <m:t>−6</m:t>
                                    </m:r>
                                  </m:e>
                                </m:d>
                              </m:oMath>
                            </m:oMathPara>
                          </a14:m>
                          <a:endParaRPr lang="en-PH" sz="2000" i="1" dirty="0">
                            <a:effectLst/>
                            <a:latin typeface="Verdana" pitchFamily="34" charset="0"/>
                            <a:ea typeface="Verdana" pitchFamily="34" charset="0"/>
                            <a:cs typeface="Times New Roman"/>
                          </a:endParaRPr>
                        </a:p>
                        <a:p>
                          <a:pPr algn="ctr">
                            <a:lnSpc>
                              <a:spcPct val="150000"/>
                            </a:lnSpc>
                            <a:spcAft>
                              <a:spcPts val="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3</m:t>
                                    </m:r>
                                  </m:num>
                                  <m:den>
                                    <m:r>
                                      <a:rPr lang="en-US" sz="2000" i="1">
                                        <a:effectLst/>
                                        <a:latin typeface="Cambria Math"/>
                                        <a:ea typeface="MS Mincho"/>
                                        <a:cs typeface="Times New Roman"/>
                                      </a:rPr>
                                      <m:t>4</m:t>
                                    </m:r>
                                  </m:den>
                                </m:f>
                                <m:r>
                                  <a:rPr lang="en-US" sz="2000" i="1">
                                    <a:effectLst/>
                                    <a:latin typeface="Cambria Math"/>
                                    <a:ea typeface="MS Mincho"/>
                                    <a:cs typeface="Times New Roman"/>
                                  </a:rPr>
                                  <m:t>h</m:t>
                                </m:r>
                                <m:r>
                                  <a:rPr lang="en-US" sz="2000" i="1">
                                    <a:effectLst/>
                                    <a:latin typeface="Cambria Math"/>
                                    <a:ea typeface="MS Mincho"/>
                                    <a:cs typeface="Times New Roman"/>
                                  </a:rPr>
                                  <m:t>−2≥−</m:t>
                                </m:r>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20</m:t>
                                    </m:r>
                                  </m:num>
                                  <m:den>
                                    <m:r>
                                      <a:rPr lang="en-US" sz="2000" i="1">
                                        <a:effectLst/>
                                        <a:latin typeface="Cambria Math"/>
                                        <a:ea typeface="MS Mincho"/>
                                        <a:cs typeface="Times New Roman"/>
                                      </a:rPr>
                                      <m:t>8</m:t>
                                    </m:r>
                                  </m:den>
                                </m:f>
                                <m:r>
                                  <a:rPr lang="en-US" sz="2000" i="1">
                                    <a:effectLst/>
                                    <a:latin typeface="Cambria Math"/>
                                    <a:ea typeface="MS Mincho"/>
                                    <a:cs typeface="Times New Roman"/>
                                  </a:rPr>
                                  <m:t>h</m:t>
                                </m:r>
                                <m:r>
                                  <a:rPr lang="en-US" sz="2000" i="1">
                                    <a:effectLst/>
                                    <a:latin typeface="Cambria Math"/>
                                    <a:ea typeface="MS Mincho"/>
                                    <a:cs typeface="Times New Roman"/>
                                  </a:rPr>
                                  <m:t>+24</m:t>
                                </m:r>
                              </m:oMath>
                            </m:oMathPara>
                          </a14:m>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3</m:t>
                                    </m:r>
                                  </m:num>
                                  <m:den>
                                    <m:r>
                                      <a:rPr lang="en-US" sz="2000" i="1">
                                        <a:effectLst/>
                                        <a:latin typeface="Cambria Math"/>
                                        <a:ea typeface="MS Mincho"/>
                                        <a:cs typeface="Times New Roman"/>
                                      </a:rPr>
                                      <m:t>4</m:t>
                                    </m:r>
                                  </m:den>
                                </m:f>
                                <m:r>
                                  <a:rPr lang="en-US" sz="2000" i="1">
                                    <a:effectLst/>
                                    <a:latin typeface="Cambria Math"/>
                                    <a:ea typeface="MS Mincho"/>
                                    <a:cs typeface="Times New Roman"/>
                                  </a:rPr>
                                  <m:t>h</m:t>
                                </m:r>
                                <m:r>
                                  <a:rPr lang="en-US" sz="2000" i="1">
                                    <a:effectLst/>
                                    <a:latin typeface="Cambria Math"/>
                                    <a:ea typeface="MS Mincho"/>
                                    <a:cs typeface="Times New Roman"/>
                                  </a:rPr>
                                  <m:t>−2≥−4</m:t>
                                </m:r>
                                <m:d>
                                  <m:dPr>
                                    <m:ctrlPr>
                                      <a:rPr lang="en-PH" sz="2000" i="1">
                                        <a:effectLst/>
                                        <a:latin typeface="Cambria Math" panose="02040503050406030204" pitchFamily="18" charset="0"/>
                                        <a:ea typeface="MS Mincho"/>
                                        <a:cs typeface="Times New Roman"/>
                                      </a:rPr>
                                    </m:ctrlPr>
                                  </m:dPr>
                                  <m:e>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5</m:t>
                                        </m:r>
                                      </m:num>
                                      <m:den>
                                        <m:r>
                                          <a:rPr lang="en-US" sz="2000" i="1">
                                            <a:effectLst/>
                                            <a:latin typeface="Cambria Math"/>
                                            <a:ea typeface="MS Mincho"/>
                                            <a:cs typeface="Times New Roman"/>
                                          </a:rPr>
                                          <m:t>8</m:t>
                                        </m:r>
                                      </m:den>
                                    </m:f>
                                    <m:r>
                                      <a:rPr lang="en-US" sz="2000" i="1">
                                        <a:effectLst/>
                                        <a:latin typeface="Cambria Math"/>
                                        <a:ea typeface="MS Mincho"/>
                                        <a:cs typeface="Times New Roman"/>
                                      </a:rPr>
                                      <m:t>h</m:t>
                                    </m:r>
                                    <m:r>
                                      <a:rPr lang="en-US" sz="2000" i="1">
                                        <a:effectLst/>
                                        <a:latin typeface="Cambria Math"/>
                                        <a:ea typeface="MS Mincho"/>
                                        <a:cs typeface="Times New Roman"/>
                                      </a:rPr>
                                      <m:t>−6</m:t>
                                    </m:r>
                                  </m:e>
                                </m:d>
                              </m:oMath>
                            </m:oMathPara>
                          </a14:m>
                          <a:endParaRPr lang="en-PH" sz="2000" i="1" dirty="0">
                            <a:effectLst/>
                            <a:latin typeface="Verdana" pitchFamily="34" charset="0"/>
                            <a:ea typeface="Verdana" pitchFamily="34" charset="0"/>
                            <a:cs typeface="Times New Roman"/>
                          </a:endParaRPr>
                        </a:p>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MS Mincho"/>
                                    <a:cs typeface="Times New Roman"/>
                                  </a:rPr>
                                  <m:t>−</m:t>
                                </m:r>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3</m:t>
                                    </m:r>
                                  </m:num>
                                  <m:den>
                                    <m:r>
                                      <a:rPr lang="en-US" sz="2000" i="1">
                                        <a:effectLst/>
                                        <a:latin typeface="Cambria Math"/>
                                        <a:ea typeface="MS Mincho"/>
                                        <a:cs typeface="Times New Roman"/>
                                      </a:rPr>
                                      <m:t>16</m:t>
                                    </m:r>
                                  </m:den>
                                </m:f>
                                <m:r>
                                  <a:rPr lang="en-US" sz="2000" i="1">
                                    <a:effectLst/>
                                    <a:latin typeface="Cambria Math"/>
                                    <a:ea typeface="MS Mincho"/>
                                    <a:cs typeface="Times New Roman"/>
                                  </a:rPr>
                                  <m:t>h</m:t>
                                </m:r>
                                <m:r>
                                  <a:rPr lang="en-US" sz="2000" i="1">
                                    <a:effectLst/>
                                    <a:latin typeface="Cambria Math"/>
                                    <a:ea typeface="MS Mincho"/>
                                    <a:cs typeface="Times New Roman"/>
                                  </a:rPr>
                                  <m:t>+</m:t>
                                </m:r>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1</m:t>
                                    </m:r>
                                  </m:num>
                                  <m:den>
                                    <m:r>
                                      <a:rPr lang="en-US" sz="2000" i="1">
                                        <a:effectLst/>
                                        <a:latin typeface="Cambria Math"/>
                                        <a:ea typeface="MS Mincho"/>
                                        <a:cs typeface="Times New Roman"/>
                                      </a:rPr>
                                      <m:t>2</m:t>
                                    </m:r>
                                  </m:den>
                                </m:f>
                                <m:r>
                                  <a:rPr lang="en-US" sz="2000" i="1">
                                    <a:effectLst/>
                                    <a:latin typeface="Cambria Math"/>
                                    <a:ea typeface="MS Mincho"/>
                                    <a:cs typeface="Times New Roman"/>
                                  </a:rPr>
                                  <m:t>≤</m:t>
                                </m:r>
                                <m:f>
                                  <m:fPr>
                                    <m:ctrlPr>
                                      <a:rPr lang="en-PH" sz="2000" i="1">
                                        <a:effectLst/>
                                        <a:latin typeface="Cambria Math" panose="02040503050406030204" pitchFamily="18" charset="0"/>
                                        <a:ea typeface="MS Mincho"/>
                                        <a:cs typeface="Times New Roman"/>
                                      </a:rPr>
                                    </m:ctrlPr>
                                  </m:fPr>
                                  <m:num>
                                    <m:r>
                                      <a:rPr lang="en-US" sz="2000" i="1">
                                        <a:effectLst/>
                                        <a:latin typeface="Cambria Math"/>
                                        <a:ea typeface="MS Mincho"/>
                                        <a:cs typeface="Times New Roman"/>
                                      </a:rPr>
                                      <m:t>5</m:t>
                                    </m:r>
                                  </m:num>
                                  <m:den>
                                    <m:r>
                                      <a:rPr lang="en-US" sz="2000" i="1">
                                        <a:effectLst/>
                                        <a:latin typeface="Cambria Math"/>
                                        <a:ea typeface="MS Mincho"/>
                                        <a:cs typeface="Times New Roman"/>
                                      </a:rPr>
                                      <m:t>8</m:t>
                                    </m:r>
                                  </m:den>
                                </m:f>
                                <m:r>
                                  <a:rPr lang="en-US" sz="2000" i="1">
                                    <a:effectLst/>
                                    <a:latin typeface="Cambria Math"/>
                                    <a:ea typeface="MS Mincho"/>
                                    <a:cs typeface="Times New Roman"/>
                                  </a:rPr>
                                  <m:t>h</m:t>
                                </m:r>
                                <m:r>
                                  <a:rPr lang="en-US" sz="2000" i="1">
                                    <a:effectLst/>
                                    <a:latin typeface="Cambria Math"/>
                                    <a:ea typeface="MS Mincho"/>
                                    <a:cs typeface="Times New Roman"/>
                                  </a:rPr>
                                  <m:t>−6</m:t>
                                </m:r>
                              </m:oMath>
                            </m:oMathPara>
                          </a14:m>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2790876607"/>
                  </p:ext>
                </p:extLst>
              </p:nvPr>
            </p:nvGraphicFramePr>
            <p:xfrm>
              <a:off x="2476467" y="4024167"/>
              <a:ext cx="6800850" cy="2628000"/>
            </p:xfrm>
            <a:graphic>
              <a:graphicData uri="http://schemas.openxmlformats.org/drawingml/2006/table">
                <a:tbl>
                  <a:tblPr firstRow="1" firstCol="1" bandRow="1"/>
                  <a:tblGrid>
                    <a:gridCol w="341757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468000">
                    <a:tc>
                      <a:txBody>
                        <a:bodyPr/>
                        <a:lstStyle/>
                        <a:p>
                          <a:pPr algn="ctr">
                            <a:spcAft>
                              <a:spcPts val="0"/>
                            </a:spcAft>
                          </a:pPr>
                          <a:r>
                            <a:rPr lang="en-US" sz="2000" b="1" dirty="0">
                              <a:effectLst/>
                              <a:latin typeface="Verdana" pitchFamily="34" charset="0"/>
                              <a:ea typeface="Verdana" pitchFamily="34" charset="0"/>
                              <a:cs typeface="Times New Roman"/>
                            </a:rPr>
                            <a:t>Mariana</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Zion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16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57" t="-22254" r="-99465" b="-845"/>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1441" t="-22254" r="-541" b="-845"/>
                          </a:stretch>
                        </a:blipFill>
                      </a:tcPr>
                    </a:tc>
                    <a:extLst>
                      <a:ext uri="{0D108BD9-81ED-4DB2-BD59-A6C34878D82A}">
                        <a16:rowId xmlns:a16="http://schemas.microsoft.com/office/drawing/2014/main" val="10001"/>
                      </a:ext>
                    </a:extLst>
                  </a:tr>
                </a:tbl>
              </a:graphicData>
            </a:graphic>
          </p:graphicFrame>
        </mc:Fallback>
      </mc:AlternateContent>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293</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5180905"/>
          </a:xfrm>
          <a:prstGeom prst="rect">
            <a:avLst/>
          </a:prstGeom>
          <a:noFill/>
        </p:spPr>
        <p:txBody>
          <a:bodyPr wrap="square" rtlCol="0">
            <a:spAutoFit/>
          </a:bodyPr>
          <a:lstStyle/>
          <a:p>
            <a:pPr marL="914400" indent="-457200">
              <a:spcAft>
                <a:spcPts val="1000"/>
              </a:spcAft>
              <a:buFont typeface="+mj-lt"/>
              <a:buAutoNum type="alphaLcPeriod"/>
            </a:pPr>
            <a:r>
              <a:rPr lang="en-US" sz="2400" dirty="0">
                <a:latin typeface="Verdana"/>
                <a:ea typeface="MS Mincho"/>
                <a:cs typeface="Times New Roman"/>
              </a:rPr>
              <a:t>Explain what Mariana did in her first step.</a:t>
            </a:r>
            <a:endParaRPr lang="en-PH" sz="1600" dirty="0">
              <a:latin typeface="Cambria"/>
              <a:ea typeface="MS Mincho"/>
              <a:cs typeface="Times New Roman"/>
            </a:endParaRPr>
          </a:p>
          <a:p>
            <a:pPr marL="914400" indent="-457200">
              <a:spcAft>
                <a:spcPts val="1000"/>
              </a:spcAft>
              <a:buFont typeface="+mj-lt"/>
              <a:buAutoNum type="alphaLcPeriod"/>
            </a:pPr>
            <a:endParaRPr lang="en-US" sz="2400" dirty="0">
              <a:latin typeface="Verdana"/>
              <a:ea typeface="MS Mincho"/>
              <a:cs typeface="Times New Roman"/>
            </a:endParaRPr>
          </a:p>
          <a:p>
            <a:pPr marL="914400" indent="-457200">
              <a:spcAft>
                <a:spcPts val="1000"/>
              </a:spcAft>
              <a:buFont typeface="+mj-lt"/>
              <a:buAutoNum type="alphaLcPeriod"/>
            </a:pPr>
            <a:endParaRPr lang="en-US" sz="2400" dirty="0">
              <a:latin typeface="Verdana"/>
              <a:ea typeface="MS Mincho"/>
              <a:cs typeface="Times New Roman"/>
            </a:endParaRPr>
          </a:p>
          <a:p>
            <a:pPr marL="914400" indent="-457200">
              <a:spcAft>
                <a:spcPts val="1000"/>
              </a:spcAft>
              <a:buFont typeface="+mj-lt"/>
              <a:buAutoNum type="alphaLcPeriod"/>
            </a:pPr>
            <a:endParaRPr lang="en-US" sz="2400" dirty="0">
              <a:latin typeface="Verdana"/>
              <a:ea typeface="MS Mincho"/>
              <a:cs typeface="Times New Roman"/>
            </a:endParaRPr>
          </a:p>
          <a:p>
            <a:pPr marL="914400" indent="-457200">
              <a:spcAft>
                <a:spcPts val="1000"/>
              </a:spcAft>
              <a:buFont typeface="+mj-lt"/>
              <a:buAutoNum type="alphaLcPeriod"/>
            </a:pPr>
            <a:r>
              <a:rPr lang="en-US" sz="2400" dirty="0">
                <a:latin typeface="Verdana"/>
                <a:ea typeface="MS Mincho"/>
                <a:cs typeface="Times New Roman"/>
              </a:rPr>
              <a:t>Explain what Zion did in his first step.</a:t>
            </a:r>
            <a:endParaRPr lang="en-PH" sz="1600" dirty="0">
              <a:latin typeface="Cambria"/>
              <a:ea typeface="MS Mincho"/>
              <a:cs typeface="Times New Roman"/>
            </a:endParaRPr>
          </a:p>
          <a:p>
            <a:pPr marL="914400" indent="-457200">
              <a:spcAft>
                <a:spcPts val="1000"/>
              </a:spcAft>
              <a:buFont typeface="+mj-lt"/>
              <a:buAutoNum type="alphaLcPeriod"/>
            </a:pPr>
            <a:endParaRPr lang="en-US" sz="2400" dirty="0">
              <a:latin typeface="Verdana"/>
              <a:ea typeface="MS Mincho"/>
              <a:cs typeface="Times New Roman"/>
            </a:endParaRPr>
          </a:p>
          <a:p>
            <a:pPr marL="914400" indent="-457200">
              <a:spcAft>
                <a:spcPts val="1000"/>
              </a:spcAft>
              <a:buFont typeface="+mj-lt"/>
              <a:buAutoNum type="alphaLcPeriod"/>
            </a:pPr>
            <a:endParaRPr lang="en-US" sz="2400" dirty="0">
              <a:latin typeface="Verdana"/>
              <a:ea typeface="MS Mincho"/>
              <a:cs typeface="Times New Roman"/>
            </a:endParaRPr>
          </a:p>
          <a:p>
            <a:pPr marL="914400" indent="-457200">
              <a:spcAft>
                <a:spcPts val="1000"/>
              </a:spcAft>
              <a:buFont typeface="+mj-lt"/>
              <a:buAutoNum type="alphaLcPeriod"/>
            </a:pPr>
            <a:endParaRPr lang="en-US" sz="2400" dirty="0">
              <a:latin typeface="Verdana"/>
              <a:ea typeface="MS Mincho"/>
              <a:cs typeface="Times New Roman"/>
            </a:endParaRPr>
          </a:p>
          <a:p>
            <a:pPr marL="914400" indent="-457200">
              <a:spcAft>
                <a:spcPts val="1000"/>
              </a:spcAft>
              <a:buFont typeface="+mj-lt"/>
              <a:buAutoNum type="alphaLcPeriod"/>
            </a:pPr>
            <a:r>
              <a:rPr lang="en-US" sz="2400" dirty="0">
                <a:latin typeface="Verdana"/>
                <a:ea typeface="MS Mincho"/>
                <a:cs typeface="Times New Roman"/>
              </a:rPr>
              <a:t>Discuss with your partner whether Mariana and Zion will get the same answer based on their first steps. Summarize your discussion.</a:t>
            </a:r>
            <a:endParaRPr lang="en-PH" sz="1600" dirty="0">
              <a:latin typeface="Cambria"/>
              <a:ea typeface="MS Mincho"/>
              <a:cs typeface="Times New Roman"/>
            </a:endParaRPr>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293</a:t>
            </a:r>
            <a:endParaRPr i="1" dirty="0">
              <a:latin typeface="Calibri"/>
              <a:ea typeface="Calibri"/>
              <a:cs typeface="Calibri"/>
              <a:sym typeface="Calibri"/>
            </a:endParaRPr>
          </a:p>
        </p:txBody>
      </p:sp>
    </p:spTree>
    <p:extLst>
      <p:ext uri="{BB962C8B-B14F-4D97-AF65-F5344CB8AC3E}">
        <p14:creationId xmlns:p14="http://schemas.microsoft.com/office/powerpoint/2010/main" val="1617750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524315"/>
          </a:xfrm>
          <a:prstGeom prst="rect">
            <a:avLst/>
          </a:prstGeom>
          <a:noFill/>
        </p:spPr>
        <p:txBody>
          <a:bodyPr wrap="square" rtlCol="0">
            <a:spAutoFit/>
          </a:bodyPr>
          <a:lstStyle/>
          <a:p>
            <a:pPr marL="914400" indent="-457200">
              <a:buFont typeface="+mj-lt"/>
              <a:buAutoNum type="alphaLcPeriod" startAt="4"/>
            </a:pPr>
            <a:r>
              <a:rPr lang="en-US" sz="2400" dirty="0">
                <a:latin typeface="Verdana"/>
                <a:ea typeface="MS Mincho"/>
                <a:cs typeface="Times New Roman"/>
              </a:rPr>
              <a:t>Complete the solutions for both Mariana and Zion, continuing from their first step in the space provided in the table.</a:t>
            </a:r>
            <a:endParaRPr lang="en-PH" sz="1600" dirty="0">
              <a:latin typeface="Cambria"/>
              <a:ea typeface="MS Mincho"/>
              <a:cs typeface="Times New Roman"/>
            </a:endParaRPr>
          </a:p>
          <a:p>
            <a:pPr marL="914400" indent="-457200">
              <a:buFont typeface="+mj-lt"/>
              <a:buAutoNum type="alphaLcPeriod" startAt="4"/>
            </a:pPr>
            <a:endParaRPr lang="en-US" sz="2400" dirty="0">
              <a:latin typeface="Verdana"/>
              <a:ea typeface="MS Mincho"/>
              <a:cs typeface="Times New Roman"/>
            </a:endParaRPr>
          </a:p>
          <a:p>
            <a:pPr marL="914400" indent="-457200">
              <a:buFont typeface="+mj-lt"/>
              <a:buAutoNum type="alphaLcPeriod" startAt="4"/>
            </a:pPr>
            <a:endParaRPr lang="en-US" sz="2400" dirty="0">
              <a:latin typeface="Verdana"/>
              <a:ea typeface="MS Mincho"/>
              <a:cs typeface="Times New Roman"/>
            </a:endParaRPr>
          </a:p>
          <a:p>
            <a:pPr marL="914400" indent="-457200">
              <a:buFont typeface="+mj-lt"/>
              <a:buAutoNum type="alphaLcPeriod" startAt="4"/>
            </a:pPr>
            <a:endParaRPr lang="en-US" sz="2400" dirty="0">
              <a:latin typeface="Verdana"/>
              <a:ea typeface="MS Mincho"/>
              <a:cs typeface="Times New Roman"/>
            </a:endParaRPr>
          </a:p>
          <a:p>
            <a:pPr marL="914400" indent="-457200">
              <a:buFont typeface="+mj-lt"/>
              <a:buAutoNum type="alphaLcPeriod" startAt="4"/>
            </a:pPr>
            <a:r>
              <a:rPr lang="en-US" sz="2400" dirty="0">
                <a:latin typeface="Verdana"/>
                <a:ea typeface="MS Mincho"/>
                <a:cs typeface="Times New Roman"/>
              </a:rPr>
              <a:t>Write the solution set of the inequality in set-builder notation.</a:t>
            </a:r>
            <a:endParaRPr lang="en-PH" sz="1600" dirty="0">
              <a:latin typeface="Cambria"/>
              <a:ea typeface="MS Mincho"/>
              <a:cs typeface="Times New Roman"/>
            </a:endParaRPr>
          </a:p>
          <a:p>
            <a:pPr marL="914400" indent="-457200">
              <a:buFont typeface="+mj-lt"/>
              <a:buAutoNum type="alphaLcPeriod" startAt="4"/>
            </a:pPr>
            <a:endParaRPr lang="en-US" sz="2400" dirty="0">
              <a:latin typeface="Verdana"/>
              <a:ea typeface="MS Mincho"/>
              <a:cs typeface="Times New Roman"/>
            </a:endParaRPr>
          </a:p>
          <a:p>
            <a:pPr marL="914400" indent="-457200">
              <a:buFont typeface="+mj-lt"/>
              <a:buAutoNum type="alphaLcPeriod" startAt="4"/>
            </a:pPr>
            <a:endParaRPr lang="en-US" sz="2400" dirty="0">
              <a:latin typeface="Verdana"/>
              <a:ea typeface="MS Mincho"/>
              <a:cs typeface="Times New Roman"/>
            </a:endParaRPr>
          </a:p>
          <a:p>
            <a:pPr marL="914400" indent="-457200">
              <a:buFont typeface="+mj-lt"/>
              <a:buAutoNum type="alphaLcPeriod" startAt="4"/>
            </a:pPr>
            <a:endParaRPr lang="en-US" sz="2400" dirty="0">
              <a:latin typeface="Verdana"/>
              <a:ea typeface="MS Mincho"/>
              <a:cs typeface="Times New Roman"/>
            </a:endParaRPr>
          </a:p>
          <a:p>
            <a:pPr marL="914400" indent="-457200">
              <a:buFont typeface="+mj-lt"/>
              <a:buAutoNum type="alphaLcPeriod" startAt="4"/>
            </a:pPr>
            <a:r>
              <a:rPr lang="en-US" sz="2400" dirty="0">
                <a:latin typeface="Verdana"/>
                <a:ea typeface="MS Mincho"/>
                <a:cs typeface="Times New Roman"/>
              </a:rPr>
              <a:t>Graph the solution set of the inequality.</a:t>
            </a:r>
            <a:endParaRPr lang="en-PH" sz="1600" dirty="0">
              <a:latin typeface="Cambria"/>
              <a:ea typeface="MS Mincho"/>
              <a:cs typeface="Times New Roman"/>
            </a:endParaRPr>
          </a:p>
        </p:txBody>
      </p:sp>
      <p:pic>
        <p:nvPicPr>
          <p:cNvPr id="7" name="Picture 6"/>
          <p:cNvPicPr/>
          <p:nvPr/>
        </p:nvPicPr>
        <p:blipFill>
          <a:blip r:embed="rId4" cstate="screen">
            <a:extLst>
              <a:ext uri="{28A0092B-C50C-407E-A947-70E740481C1C}">
                <a14:useLocalDpi xmlns:a14="http://schemas.microsoft.com/office/drawing/2010/main"/>
              </a:ext>
            </a:extLst>
          </a:blip>
          <a:stretch>
            <a:fillRect/>
          </a:stretch>
        </p:blipFill>
        <p:spPr>
          <a:xfrm>
            <a:off x="2669341" y="5404434"/>
            <a:ext cx="7333051" cy="456472"/>
          </a:xfrm>
          <a:prstGeom prst="rect">
            <a:avLst/>
          </a:prstGeom>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293</a:t>
            </a:r>
            <a:endParaRPr i="1" dirty="0">
              <a:latin typeface="Calibri"/>
              <a:ea typeface="Calibri"/>
              <a:cs typeface="Calibri"/>
              <a:sym typeface="Calibri"/>
            </a:endParaRPr>
          </a:p>
        </p:txBody>
      </p:sp>
    </p:spTree>
    <p:extLst>
      <p:ext uri="{BB962C8B-B14F-4D97-AF65-F5344CB8AC3E}">
        <p14:creationId xmlns:p14="http://schemas.microsoft.com/office/powerpoint/2010/main" val="2454903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3954929"/>
              </a:xfrm>
              <a:prstGeom prst="rect">
                <a:avLst/>
              </a:prstGeom>
              <a:noFill/>
            </p:spPr>
            <p:txBody>
              <a:bodyPr wrap="square" rtlCol="0">
                <a:spAutoFit/>
              </a:bodyPr>
              <a:lstStyle/>
              <a:p>
                <a:pPr marL="457200" indent="-457200">
                  <a:spcAft>
                    <a:spcPts val="1200"/>
                  </a:spcAft>
                  <a:buFont typeface="+mj-lt"/>
                  <a:buAutoNum type="arabicPeriod" startAt="2"/>
                </a:pPr>
                <a:r>
                  <a:rPr lang="en-US" sz="2400" dirty="0">
                    <a:latin typeface="Verdana" pitchFamily="34" charset="0"/>
                    <a:ea typeface="Verdana" pitchFamily="34" charset="0"/>
                    <a:cs typeface="Times New Roman"/>
                  </a:rPr>
                  <a:t>Use the inequality </a:t>
                </a:r>
                <a14:m>
                  <m:oMath xmlns:m="http://schemas.openxmlformats.org/officeDocument/2006/math">
                    <m:r>
                      <a:rPr lang="en-US" sz="2400" i="1">
                        <a:latin typeface="Cambria Math"/>
                        <a:ea typeface="MS Mincho"/>
                        <a:cs typeface="Times New Roman"/>
                      </a:rPr>
                      <m:t>0.04</m:t>
                    </m:r>
                    <m:r>
                      <a:rPr lang="en-US" sz="2400" i="1">
                        <a:latin typeface="Cambria Math"/>
                        <a:ea typeface="MS Mincho"/>
                        <a:cs typeface="Times New Roman"/>
                      </a:rPr>
                      <m:t>𝑥</m:t>
                    </m:r>
                    <m:r>
                      <a:rPr lang="en-US" sz="2400" i="1">
                        <a:latin typeface="Cambria Math"/>
                        <a:ea typeface="MS Mincho"/>
                        <a:cs typeface="Times New Roman"/>
                      </a:rPr>
                      <m:t>+1.02&gt;−0.27</m:t>
                    </m:r>
                    <m:r>
                      <a:rPr lang="en-US" sz="2400" i="1">
                        <a:latin typeface="Cambria Math"/>
                        <a:ea typeface="MS Mincho"/>
                        <a:cs typeface="Times New Roman"/>
                      </a:rPr>
                      <m:t>𝑥</m:t>
                    </m:r>
                    <m:r>
                      <a:rPr lang="en-US" sz="2400" i="1">
                        <a:latin typeface="Cambria Math"/>
                        <a:ea typeface="MS Mincho"/>
                        <a:cs typeface="Times New Roman"/>
                      </a:rPr>
                      <m:t>+17.14</m:t>
                    </m:r>
                  </m:oMath>
                </a14:m>
                <a:r>
                  <a:rPr lang="en-US" sz="2400" dirty="0">
                    <a:latin typeface="Verdana" pitchFamily="34" charset="0"/>
                    <a:ea typeface="Verdana" pitchFamily="34" charset="0"/>
                    <a:cs typeface="Times New Roman"/>
                  </a:rPr>
                  <a:t> to complete the following.</a:t>
                </a:r>
                <a:endParaRPr lang="en-PH" sz="2400" dirty="0">
                  <a:latin typeface="Verdana" pitchFamily="34" charset="0"/>
                  <a:ea typeface="Verdana" pitchFamily="34" charset="0"/>
                  <a:cs typeface="Times New Roman"/>
                </a:endParaRPr>
              </a:p>
              <a:p>
                <a:pPr marL="914400" lvl="1" indent="-457200">
                  <a:buFont typeface="+mj-lt"/>
                  <a:buAutoNum type="alphaLcPeriod"/>
                </a:pPr>
                <a:r>
                  <a:rPr lang="en-US" sz="2400" dirty="0">
                    <a:latin typeface="Verdana" pitchFamily="34" charset="0"/>
                    <a:ea typeface="Verdana" pitchFamily="34" charset="0"/>
                    <a:cs typeface="Times New Roman"/>
                  </a:rPr>
                  <a:t>Solve the inequality.</a:t>
                </a:r>
                <a:endParaRPr lang="en-PH" sz="2400" dirty="0">
                  <a:latin typeface="Verdana" pitchFamily="34" charset="0"/>
                  <a:ea typeface="Verdana" pitchFamily="34" charset="0"/>
                  <a:cs typeface="Times New Roman"/>
                </a:endParaRPr>
              </a:p>
              <a:p>
                <a:endParaRPr lang="en-US" sz="2400" i="1" dirty="0"/>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0.04</m:t>
                      </m:r>
                      <m:r>
                        <a:rPr lang="en-US" sz="2400" i="1">
                          <a:latin typeface="Cambria Math" panose="02040503050406030204" pitchFamily="18" charset="0"/>
                        </a:rPr>
                        <m:t>𝑥</m:t>
                      </m:r>
                      <m:r>
                        <a:rPr lang="en-US" sz="2400" i="1">
                          <a:latin typeface="Cambria Math" panose="02040503050406030204" pitchFamily="18" charset="0"/>
                        </a:rPr>
                        <m:t>+1.02&gt;−0.27</m:t>
                      </m:r>
                      <m:r>
                        <a:rPr lang="en-US" sz="2400" i="1">
                          <a:latin typeface="Cambria Math" panose="02040503050406030204" pitchFamily="18" charset="0"/>
                        </a:rPr>
                        <m:t>𝑥</m:t>
                      </m:r>
                      <m:r>
                        <a:rPr lang="en-US" sz="2400" i="1">
                          <a:latin typeface="Cambria Math" panose="02040503050406030204" pitchFamily="18" charset="0"/>
                        </a:rPr>
                        <m:t>+17.14</m:t>
                      </m:r>
                    </m:oMath>
                  </m:oMathPara>
                </a14:m>
                <a:endParaRPr lang="en-PH" sz="2400" dirty="0">
                  <a:latin typeface="Verdana" pitchFamily="34" charset="0"/>
                  <a:ea typeface="Verdana" pitchFamily="34" charset="0"/>
                </a:endParaRPr>
              </a:p>
              <a:p>
                <a:pPr marL="914400" lvl="1" indent="-457200">
                  <a:spcAft>
                    <a:spcPts val="1000"/>
                  </a:spcAft>
                  <a:buFont typeface="+mj-lt"/>
                  <a:buAutoNum type="alphaLcPeriod" startAt="2"/>
                </a:pPr>
                <a:endParaRPr lang="en-US" sz="2400" dirty="0">
                  <a:latin typeface="Verdana" pitchFamily="34" charset="0"/>
                  <a:ea typeface="Verdana" pitchFamily="34" charset="0"/>
                  <a:cs typeface="Times New Roman"/>
                </a:endParaRPr>
              </a:p>
              <a:p>
                <a:pPr marL="914400" lvl="1" indent="-457200">
                  <a:spcAft>
                    <a:spcPts val="1000"/>
                  </a:spcAft>
                  <a:buFont typeface="+mj-lt"/>
                  <a:buAutoNum type="alphaLcPeriod" startAt="2"/>
                </a:pPr>
                <a:endParaRPr lang="en-US" sz="2400" dirty="0">
                  <a:latin typeface="Verdana" pitchFamily="34" charset="0"/>
                  <a:ea typeface="Verdana" pitchFamily="34" charset="0"/>
                  <a:cs typeface="Times New Roman"/>
                </a:endParaRPr>
              </a:p>
              <a:p>
                <a:pPr marL="914400" lvl="1" indent="-457200">
                  <a:spcAft>
                    <a:spcPts val="1000"/>
                  </a:spcAft>
                  <a:buFont typeface="+mj-lt"/>
                  <a:buAutoNum type="alphaLcPeriod" startAt="2"/>
                </a:pPr>
                <a:endParaRPr lang="en-US" sz="2400" dirty="0">
                  <a:latin typeface="Verdana" pitchFamily="34" charset="0"/>
                  <a:ea typeface="Verdana" pitchFamily="34" charset="0"/>
                  <a:cs typeface="Times New Roman"/>
                </a:endParaRPr>
              </a:p>
              <a:p>
                <a:pPr marL="914400" lvl="1" indent="-457200">
                  <a:spcAft>
                    <a:spcPts val="1000"/>
                  </a:spcAft>
                  <a:buFont typeface="+mj-lt"/>
                  <a:buAutoNum type="alphaLcPeriod" startAt="2"/>
                </a:pPr>
                <a:r>
                  <a:rPr lang="en-US" sz="2400" dirty="0">
                    <a:latin typeface="Verdana" pitchFamily="34" charset="0"/>
                    <a:ea typeface="Verdana" pitchFamily="34" charset="0"/>
                    <a:cs typeface="Times New Roman"/>
                  </a:rPr>
                  <a:t>Graph the solution set.</a:t>
                </a:r>
                <a:endParaRPr lang="en-PH" sz="2400" dirty="0">
                  <a:latin typeface="Verdana" pitchFamily="34" charset="0"/>
                  <a:ea typeface="Verdana" pitchFamily="34" charset="0"/>
                  <a:cs typeface="Times New Roman"/>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3954929"/>
              </a:xfrm>
              <a:prstGeom prst="rect">
                <a:avLst/>
              </a:prstGeom>
              <a:blipFill>
                <a:blip r:embed="rId4"/>
                <a:stretch>
                  <a:fillRect l="-965" t="-1278" b="-2556"/>
                </a:stretch>
              </a:blipFill>
            </p:spPr>
            <p:txBody>
              <a:bodyPr/>
              <a:lstStyle/>
              <a:p>
                <a:r>
                  <a:rPr lang="en-US">
                    <a:noFill/>
                  </a:rPr>
                  <a:t> </a:t>
                </a:r>
              </a:p>
            </p:txBody>
          </p:sp>
        </mc:Fallback>
      </mc:AlternateContent>
      <p:pic>
        <p:nvPicPr>
          <p:cNvPr id="6" name="Picture 5"/>
          <p:cNvPicPr/>
          <p:nvPr/>
        </p:nvPicPr>
        <p:blipFill>
          <a:blip r:embed="rId5" cstate="screen">
            <a:extLst>
              <a:ext uri="{28A0092B-C50C-407E-A947-70E740481C1C}">
                <a14:useLocalDpi xmlns:a14="http://schemas.microsoft.com/office/drawing/2010/main"/>
              </a:ext>
            </a:extLst>
          </a:blip>
          <a:stretch>
            <a:fillRect/>
          </a:stretch>
        </p:blipFill>
        <p:spPr>
          <a:xfrm>
            <a:off x="2881061" y="4980533"/>
            <a:ext cx="7333051" cy="485965"/>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293</a:t>
            </a:r>
            <a:endParaRPr i="1" dirty="0">
              <a:latin typeface="Calibri"/>
              <a:ea typeface="Calibri"/>
              <a:cs typeface="Calibri"/>
              <a:sym typeface="Calibri"/>
            </a:endParaRPr>
          </a:p>
        </p:txBody>
      </p:sp>
    </p:spTree>
    <p:extLst>
      <p:ext uri="{BB962C8B-B14F-4D97-AF65-F5344CB8AC3E}">
        <p14:creationId xmlns:p14="http://schemas.microsoft.com/office/powerpoint/2010/main" val="378268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1938992"/>
          </a:xfrm>
          <a:prstGeom prst="rect">
            <a:avLst/>
          </a:prstGeom>
          <a:noFill/>
        </p:spPr>
        <p:txBody>
          <a:bodyPr wrap="square" rtlCol="0">
            <a:spAutoFit/>
          </a:bodyPr>
          <a:lstStyle/>
          <a:p>
            <a:pPr marL="457200" indent="-457200">
              <a:spcAft>
                <a:spcPts val="1000"/>
              </a:spcAft>
              <a:buFont typeface="+mj-lt"/>
              <a:buAutoNum type="arabicPeriod" startAt="3"/>
            </a:pPr>
            <a:r>
              <a:rPr lang="en-US" sz="2400" dirty="0">
                <a:latin typeface="Verdana"/>
                <a:ea typeface="MS Mincho"/>
                <a:cs typeface="Times New Roman"/>
              </a:rPr>
              <a:t>The National Center for Education Statistics has gathered data on the majors of graduating college students since 1970. The percentage of degrees in education and computer science are shown.</a:t>
            </a:r>
            <a:endParaRPr lang="en-PH" sz="1600" dirty="0">
              <a:latin typeface="Cambria"/>
              <a:ea typeface="MS Mincho"/>
              <a:cs typeface="Times New Roman"/>
            </a:endParaRPr>
          </a:p>
        </p:txBody>
      </p:sp>
      <p:grpSp>
        <p:nvGrpSpPr>
          <p:cNvPr id="5" name="Group 4"/>
          <p:cNvGrpSpPr/>
          <p:nvPr/>
        </p:nvGrpSpPr>
        <p:grpSpPr>
          <a:xfrm>
            <a:off x="2441806" y="2539396"/>
            <a:ext cx="7057700" cy="3748047"/>
            <a:chOff x="917806" y="2317789"/>
            <a:chExt cx="7057700" cy="3748047"/>
          </a:xfrm>
        </p:grpSpPr>
        <p:pic>
          <p:nvPicPr>
            <p:cNvPr id="7" name="Picture 6" descr="Macintosh HD:Users:karinaliu:Downloads:desmos-graph (14).png"/>
            <p:cNvPicPr/>
            <p:nvPr/>
          </p:nvPicPr>
          <p:blipFill rotWithShape="1">
            <a:blip r:embed="rId4" cstate="screen">
              <a:extLst>
                <a:ext uri="{28A0092B-C50C-407E-A947-70E740481C1C}">
                  <a14:useLocalDpi xmlns:a14="http://schemas.microsoft.com/office/drawing/2010/main"/>
                </a:ext>
              </a:extLst>
            </a:blip>
            <a:srcRect/>
            <a:stretch/>
          </p:blipFill>
          <p:spPr bwMode="auto">
            <a:xfrm>
              <a:off x="1782445" y="2803207"/>
              <a:ext cx="6036310" cy="2691765"/>
            </a:xfrm>
            <a:prstGeom prst="rect">
              <a:avLst/>
            </a:prstGeom>
            <a:noFill/>
            <a:ln>
              <a:noFill/>
            </a:ln>
            <a:extLst>
              <a:ext uri="{53640926-AAD7-44D8-BBD7-CCE9431645EC}">
                <a14:shadowObscured xmlns:a14="http://schemas.microsoft.com/office/drawing/2010/main"/>
              </a:ext>
            </a:extLst>
          </p:spPr>
        </p:pic>
        <p:sp>
          <p:nvSpPr>
            <p:cNvPr id="9" name="Text Box 27"/>
            <p:cNvSpPr txBox="1"/>
            <p:nvPr/>
          </p:nvSpPr>
          <p:spPr>
            <a:xfrm rot="16200000">
              <a:off x="-279239" y="3795146"/>
              <a:ext cx="3101975" cy="707886"/>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txBody>
            <a:bodyPr rot="0" spcFirstLastPara="0" vert="horz" wrap="square" lIns="91440" tIns="45720" rIns="91440" bIns="45720" numCol="1" spcCol="0" rtlCol="0" fromWordArt="0" anchor="t" anchorCtr="0" forceAA="0" compatLnSpc="1">
              <a:prstTxWarp prst="textNoShape">
                <a:avLst/>
              </a:prstTxWarp>
              <a:spAutoFit/>
            </a:bodyPr>
            <a:lstStyle/>
            <a:p>
              <a:pPr algn="ctr">
                <a:spcAft>
                  <a:spcPts val="1000"/>
                </a:spcAft>
                <a:buClrTx/>
                <a:defRPr/>
              </a:pPr>
              <a:r>
                <a:rPr lang="en-US" sz="2000" dirty="0">
                  <a:solidFill>
                    <a:sysClr val="windowText" lastClr="000000"/>
                  </a:solidFill>
                  <a:latin typeface="Verdana" pitchFamily="34" charset="0"/>
                  <a:ea typeface="Verdana" pitchFamily="34" charset="0"/>
                  <a:cs typeface="Times New Roman"/>
                </a:rPr>
                <a:t>Education Degrees </a:t>
              </a:r>
              <a:br>
                <a:rPr lang="en-PH" sz="2000" dirty="0">
                  <a:solidFill>
                    <a:sysClr val="windowText" lastClr="000000"/>
                  </a:solidFill>
                  <a:latin typeface="Verdana" pitchFamily="34" charset="0"/>
                  <a:ea typeface="Verdana" pitchFamily="34" charset="0"/>
                  <a:cs typeface="Times New Roman"/>
                </a:rPr>
              </a:br>
              <a:r>
                <a:rPr lang="en-US" sz="2000" dirty="0">
                  <a:solidFill>
                    <a:sysClr val="windowText" lastClr="000000"/>
                  </a:solidFill>
                  <a:latin typeface="Verdana" pitchFamily="34" charset="0"/>
                  <a:ea typeface="Verdana" pitchFamily="34" charset="0"/>
                  <a:cs typeface="Times New Roman"/>
                </a:rPr>
                <a:t>(% of total)</a:t>
              </a:r>
              <a:endParaRPr lang="en-PH" sz="2000" dirty="0">
                <a:solidFill>
                  <a:sysClr val="windowText" lastClr="000000"/>
                </a:solidFill>
                <a:latin typeface="Verdana" pitchFamily="34" charset="0"/>
                <a:ea typeface="Verdana" pitchFamily="34" charset="0"/>
                <a:cs typeface="Times New Roman"/>
              </a:endParaRPr>
            </a:p>
          </p:txBody>
        </p:sp>
        <p:sp>
          <p:nvSpPr>
            <p:cNvPr id="3" name="Rectangle 2"/>
            <p:cNvSpPr/>
            <p:nvPr/>
          </p:nvSpPr>
          <p:spPr>
            <a:xfrm>
              <a:off x="1625691" y="2317789"/>
              <a:ext cx="6349815" cy="400110"/>
            </a:xfrm>
            <a:prstGeom prst="rect">
              <a:avLst/>
            </a:prstGeom>
          </p:spPr>
          <p:txBody>
            <a:bodyPr wrap="none">
              <a:spAutoFit/>
            </a:bodyPr>
            <a:lstStyle/>
            <a:p>
              <a:pPr algn="ctr">
                <a:spcAft>
                  <a:spcPts val="1000"/>
                </a:spcAft>
              </a:pPr>
              <a:r>
                <a:rPr lang="en-US" sz="2000" b="1" dirty="0">
                  <a:latin typeface="Verdana"/>
                  <a:ea typeface="MS Mincho"/>
                  <a:cs typeface="Times New Roman"/>
                </a:rPr>
                <a:t>Education Degrees Conferred (1970-2017)</a:t>
              </a:r>
              <a:endParaRPr lang="en-PH" sz="2000" dirty="0">
                <a:latin typeface="Cambria"/>
                <a:ea typeface="MS Mincho"/>
                <a:cs typeface="Times New Roman"/>
              </a:endParaRPr>
            </a:p>
          </p:txBody>
        </p:sp>
        <mc:AlternateContent xmlns:mc="http://schemas.openxmlformats.org/markup-compatibility/2006" xmlns:a14="http://schemas.microsoft.com/office/drawing/2010/main">
          <mc:Choice Requires="a14">
            <p:sp>
              <p:nvSpPr>
                <p:cNvPr id="15" name="Text Box 30"/>
                <p:cNvSpPr txBox="1"/>
                <p:nvPr/>
              </p:nvSpPr>
              <p:spPr>
                <a:xfrm>
                  <a:off x="3504750" y="3108960"/>
                  <a:ext cx="2713170" cy="45720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buClrTx/>
                    <a:defRPr/>
                  </a:pPr>
                  <a14:m>
                    <m:oMathPara xmlns:m="http://schemas.openxmlformats.org/officeDocument/2006/math">
                      <m:oMathParaPr>
                        <m:jc m:val="left"/>
                      </m:oMathParaPr>
                      <m:oMath xmlns:m="http://schemas.openxmlformats.org/officeDocument/2006/math">
                        <m:r>
                          <a:rPr lang="en-US" sz="2000" i="1">
                            <a:solidFill>
                              <a:srgbClr val="008000"/>
                            </a:solidFill>
                            <a:latin typeface="Cambria Math"/>
                            <a:ea typeface="MS Mincho"/>
                            <a:cs typeface="Times New Roman"/>
                          </a:rPr>
                          <m:t>𝑦</m:t>
                        </m:r>
                        <m:r>
                          <a:rPr lang="en-US" sz="2000" i="1">
                            <a:solidFill>
                              <a:srgbClr val="008000"/>
                            </a:solidFill>
                            <a:latin typeface="Cambria Math"/>
                            <a:ea typeface="MS Mincho"/>
                            <a:cs typeface="Times New Roman"/>
                          </a:rPr>
                          <m:t>=−0.27</m:t>
                        </m:r>
                        <m:r>
                          <a:rPr lang="en-US" sz="2000" i="1">
                            <a:solidFill>
                              <a:srgbClr val="008000"/>
                            </a:solidFill>
                            <a:latin typeface="Cambria Math"/>
                            <a:ea typeface="MS Mincho"/>
                            <a:cs typeface="Times New Roman"/>
                          </a:rPr>
                          <m:t>𝑥</m:t>
                        </m:r>
                        <m:r>
                          <a:rPr lang="en-US" sz="2000" i="1">
                            <a:solidFill>
                              <a:srgbClr val="008000"/>
                            </a:solidFill>
                            <a:latin typeface="Cambria Math"/>
                            <a:ea typeface="MS Mincho"/>
                            <a:cs typeface="Times New Roman"/>
                          </a:rPr>
                          <m:t>+17.14</m:t>
                        </m:r>
                      </m:oMath>
                    </m:oMathPara>
                  </a14:m>
                  <a:endParaRPr lang="en-PH" dirty="0">
                    <a:solidFill>
                      <a:sysClr val="windowText" lastClr="000000"/>
                    </a:solidFill>
                    <a:latin typeface="Cambria"/>
                    <a:ea typeface="MS Mincho"/>
                    <a:cs typeface="Times New Roman"/>
                  </a:endParaRPr>
                </a:p>
              </p:txBody>
            </p:sp>
          </mc:Choice>
          <mc:Fallback xmlns="">
            <p:sp>
              <p:nvSpPr>
                <p:cNvPr id="15" name="Text Box 30"/>
                <p:cNvSpPr txBox="1">
                  <a:spLocks noRot="1" noChangeAspect="1" noMove="1" noResize="1" noEditPoints="1" noAdjustHandles="1" noChangeArrowheads="1" noChangeShapeType="1" noTextEdit="1"/>
                </p:cNvSpPr>
                <p:nvPr/>
              </p:nvSpPr>
              <p:spPr>
                <a:xfrm>
                  <a:off x="3504750" y="3108960"/>
                  <a:ext cx="2713170" cy="457200"/>
                </a:xfrm>
                <a:prstGeom prst="rect">
                  <a:avLst/>
                </a:prstGeom>
                <a:blipFill rotWithShape="1">
                  <a:blip r:embed="rId5"/>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en-PH">
                      <a:noFill/>
                    </a:rPr>
                    <a:t> </a:t>
                  </a:r>
                </a:p>
              </p:txBody>
            </p:sp>
          </mc:Fallback>
        </mc:AlternateContent>
        <p:sp>
          <p:nvSpPr>
            <p:cNvPr id="17" name="Text Box 26"/>
            <p:cNvSpPr txBox="1"/>
            <p:nvPr/>
          </p:nvSpPr>
          <p:spPr>
            <a:xfrm>
              <a:off x="3375435" y="5608636"/>
              <a:ext cx="2971800" cy="45720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buClrTx/>
                <a:defRPr/>
              </a:pPr>
              <a:r>
                <a:rPr lang="en-US" sz="2000" dirty="0">
                  <a:solidFill>
                    <a:sysClr val="windowText" lastClr="000000"/>
                  </a:solidFill>
                  <a:latin typeface="Verdana"/>
                  <a:ea typeface="MS Mincho"/>
                  <a:cs typeface="Times New Roman"/>
                </a:rPr>
                <a:t>Years since 1970</a:t>
              </a:r>
            </a:p>
          </p:txBody>
        </p:sp>
      </p:grpSp>
      <p:sp>
        <p:nvSpPr>
          <p:cNvPr id="1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294</a:t>
            </a:r>
            <a:endParaRPr i="1" dirty="0">
              <a:latin typeface="Calibri"/>
              <a:ea typeface="Calibri"/>
              <a:cs typeface="Calibri"/>
              <a:sym typeface="Calibri"/>
            </a:endParaRPr>
          </a:p>
        </p:txBody>
      </p:sp>
    </p:spTree>
    <p:extLst>
      <p:ext uri="{BB962C8B-B14F-4D97-AF65-F5344CB8AC3E}">
        <p14:creationId xmlns:p14="http://schemas.microsoft.com/office/powerpoint/2010/main" val="3134841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4852364"/>
                <a:ext cx="10515600" cy="1200329"/>
              </a:xfrm>
              <a:prstGeom prst="rect">
                <a:avLst/>
              </a:prstGeom>
              <a:noFill/>
            </p:spPr>
            <p:txBody>
              <a:bodyPr wrap="square" rtlCol="0">
                <a:spAutoFit/>
              </a:bodyPr>
              <a:lstStyle/>
              <a:p>
                <a:pPr marL="914400" indent="-457200">
                  <a:spcAft>
                    <a:spcPts val="1000"/>
                  </a:spcAft>
                  <a:buFont typeface="+mj-lt"/>
                  <a:buAutoNum type="alphaLcPeriod"/>
                </a:pPr>
                <a:r>
                  <a:rPr lang="en-US" sz="2400" dirty="0">
                    <a:latin typeface="Verdana"/>
                    <a:ea typeface="MS Mincho"/>
                    <a:cs typeface="Times New Roman"/>
                  </a:rPr>
                  <a:t>Discuss with your partner how this context could be related to the inequality solved in the previous question, </a:t>
                </a:r>
                <a14:m>
                  <m:oMath xmlns:m="http://schemas.openxmlformats.org/officeDocument/2006/math">
                    <m:r>
                      <a:rPr lang="en-US" sz="2400" i="1">
                        <a:latin typeface="Cambria Math"/>
                        <a:ea typeface="MS Mincho"/>
                        <a:cs typeface="Times New Roman"/>
                      </a:rPr>
                      <m:t>0.04</m:t>
                    </m:r>
                    <m:r>
                      <a:rPr lang="en-US" sz="2400" i="1">
                        <a:latin typeface="Cambria Math"/>
                        <a:ea typeface="MS Mincho"/>
                        <a:cs typeface="Times New Roman"/>
                      </a:rPr>
                      <m:t>𝑥</m:t>
                    </m:r>
                    <m:r>
                      <a:rPr lang="en-US" sz="2400" i="1">
                        <a:latin typeface="Cambria Math"/>
                        <a:ea typeface="MS Mincho"/>
                        <a:cs typeface="Times New Roman"/>
                      </a:rPr>
                      <m:t>+1.02&gt;−0.27</m:t>
                    </m:r>
                    <m:r>
                      <a:rPr lang="en-US" sz="2400" i="1">
                        <a:latin typeface="Cambria Math"/>
                        <a:ea typeface="MS Mincho"/>
                        <a:cs typeface="Times New Roman"/>
                      </a:rPr>
                      <m:t>𝑥</m:t>
                    </m:r>
                    <m:r>
                      <a:rPr lang="en-US" sz="2400" i="1">
                        <a:latin typeface="Cambria Math"/>
                        <a:ea typeface="MS Mincho"/>
                        <a:cs typeface="Times New Roman"/>
                      </a:rPr>
                      <m:t>+17.14</m:t>
                    </m:r>
                  </m:oMath>
                </a14:m>
                <a:r>
                  <a:rPr lang="en-US" sz="2400" dirty="0">
                    <a:latin typeface="Verdana"/>
                    <a:ea typeface="MS Mincho"/>
                    <a:cs typeface="Times New Roman"/>
                  </a:rPr>
                  <a:t>.</a:t>
                </a:r>
                <a:endParaRPr lang="en-PH" sz="1600" dirty="0">
                  <a:latin typeface="Cambria"/>
                  <a:ea typeface="MS Mincho"/>
                  <a:cs typeface="Times New Roman"/>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4852364"/>
                <a:ext cx="10515600" cy="1200329"/>
              </a:xfrm>
              <a:prstGeom prst="rect">
                <a:avLst/>
              </a:prstGeom>
              <a:blipFill>
                <a:blip r:embed="rId4"/>
                <a:stretch>
                  <a:fillRect t="-4061" b="-10152"/>
                </a:stretch>
              </a:blipFill>
            </p:spPr>
            <p:txBody>
              <a:bodyPr/>
              <a:lstStyle/>
              <a:p>
                <a:r>
                  <a:rPr lang="en-US">
                    <a:noFill/>
                  </a:rPr>
                  <a:t> </a:t>
                </a:r>
              </a:p>
            </p:txBody>
          </p:sp>
        </mc:Fallback>
      </mc:AlternateContent>
      <p:grpSp>
        <p:nvGrpSpPr>
          <p:cNvPr id="16" name="Group 15"/>
          <p:cNvGrpSpPr/>
          <p:nvPr/>
        </p:nvGrpSpPr>
        <p:grpSpPr>
          <a:xfrm>
            <a:off x="2403915" y="458873"/>
            <a:ext cx="7536570" cy="4191000"/>
            <a:chOff x="917805" y="1666666"/>
            <a:chExt cx="7536570" cy="4191000"/>
          </a:xfrm>
        </p:grpSpPr>
        <p:pic>
          <p:nvPicPr>
            <p:cNvPr id="6" name="Picture 5" descr="Macintosh HD:Users:karinaliu:Downloads:desmos-graph (15).png"/>
            <p:cNvPicPr/>
            <p:nvPr/>
          </p:nvPicPr>
          <p:blipFill rotWithShape="1">
            <a:blip r:embed="rId5" cstate="screen">
              <a:extLst>
                <a:ext uri="{28A0092B-C50C-407E-A947-70E740481C1C}">
                  <a14:useLocalDpi xmlns:a14="http://schemas.microsoft.com/office/drawing/2010/main"/>
                </a:ext>
              </a:extLst>
            </a:blip>
            <a:srcRect/>
            <a:stretch/>
          </p:blipFill>
          <p:spPr bwMode="auto">
            <a:xfrm>
              <a:off x="1742439" y="2414269"/>
              <a:ext cx="6053455" cy="2760980"/>
            </a:xfrm>
            <a:prstGeom prst="rect">
              <a:avLst/>
            </a:prstGeom>
            <a:noFill/>
            <a:ln>
              <a:noFill/>
            </a:ln>
            <a:extLst>
              <a:ext uri="{53640926-AAD7-44D8-BBD7-CCE9431645EC}">
                <a14:shadowObscured xmlns:a14="http://schemas.microsoft.com/office/drawing/2010/main"/>
              </a:ext>
            </a:extLst>
          </p:spPr>
        </p:pic>
        <p:sp>
          <p:nvSpPr>
            <p:cNvPr id="3" name="Rectangle 2"/>
            <p:cNvSpPr/>
            <p:nvPr/>
          </p:nvSpPr>
          <p:spPr>
            <a:xfrm>
              <a:off x="917805" y="1666666"/>
              <a:ext cx="7536570" cy="707886"/>
            </a:xfrm>
            <a:prstGeom prst="rect">
              <a:avLst/>
            </a:prstGeom>
          </p:spPr>
          <p:txBody>
            <a:bodyPr wrap="square">
              <a:spAutoFit/>
            </a:bodyPr>
            <a:lstStyle/>
            <a:p>
              <a:pPr algn="ctr">
                <a:spcAft>
                  <a:spcPts val="1000"/>
                </a:spcAft>
              </a:pPr>
              <a:r>
                <a:rPr lang="en-US" sz="2000" b="1" dirty="0">
                  <a:latin typeface="Verdana"/>
                  <a:ea typeface="MS Mincho"/>
                  <a:cs typeface="Times New Roman"/>
                </a:rPr>
                <a:t>Computer Science Degrees Conferred </a:t>
              </a:r>
              <a:br>
                <a:rPr lang="en-US" sz="2000" b="1" dirty="0">
                  <a:latin typeface="Verdana"/>
                  <a:ea typeface="MS Mincho"/>
                  <a:cs typeface="Times New Roman"/>
                </a:rPr>
              </a:br>
              <a:r>
                <a:rPr lang="en-US" sz="2000" b="1" dirty="0">
                  <a:latin typeface="Verdana"/>
                  <a:ea typeface="MS Mincho"/>
                  <a:cs typeface="Times New Roman"/>
                </a:rPr>
                <a:t>(1970-2017)</a:t>
              </a:r>
              <a:endParaRPr lang="en-PH" sz="2000" dirty="0">
                <a:latin typeface="Cambria"/>
                <a:ea typeface="MS Mincho"/>
                <a:cs typeface="Times New Roman"/>
              </a:endParaRPr>
            </a:p>
          </p:txBody>
        </p:sp>
        <p:sp>
          <p:nvSpPr>
            <p:cNvPr id="15" name="Text Box 5"/>
            <p:cNvSpPr txBox="1"/>
            <p:nvPr/>
          </p:nvSpPr>
          <p:spPr>
            <a:xfrm rot="16200000">
              <a:off x="-456972" y="3528625"/>
              <a:ext cx="3705582" cy="95250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2000" dirty="0">
                  <a:latin typeface="Verdana" pitchFamily="34" charset="0"/>
                  <a:ea typeface="Verdana" pitchFamily="34" charset="0"/>
                  <a:cs typeface="Times New Roman"/>
                </a:rPr>
                <a:t>Computer Science Degrees</a:t>
              </a:r>
              <a:br>
                <a:rPr lang="en-US" sz="2000" dirty="0">
                  <a:latin typeface="Verdana" pitchFamily="34" charset="0"/>
                  <a:ea typeface="Verdana" pitchFamily="34" charset="0"/>
                  <a:cs typeface="Times New Roman"/>
                </a:rPr>
              </a:br>
              <a:r>
                <a:rPr lang="en-US" sz="2000" dirty="0">
                  <a:latin typeface="Verdana" pitchFamily="34" charset="0"/>
                  <a:ea typeface="Verdana" pitchFamily="34" charset="0"/>
                  <a:cs typeface="Times New Roman"/>
                </a:rPr>
                <a:t>(% of total)</a:t>
              </a:r>
              <a:endParaRPr lang="en-PH" sz="2000" dirty="0">
                <a:latin typeface="Verdana" pitchFamily="34" charset="0"/>
                <a:ea typeface="Verdana" pitchFamily="34" charset="0"/>
                <a:cs typeface="Times New Roman"/>
              </a:endParaRPr>
            </a:p>
            <a:p>
              <a:pPr algn="ctr">
                <a:spcAft>
                  <a:spcPts val="1000"/>
                </a:spcAft>
              </a:pPr>
              <a:r>
                <a:rPr lang="en-US" sz="2000" dirty="0">
                  <a:latin typeface="Verdana" pitchFamily="34" charset="0"/>
                  <a:ea typeface="Verdana" pitchFamily="34" charset="0"/>
                  <a:cs typeface="Times New Roman"/>
                </a:rPr>
                <a:t> </a:t>
              </a:r>
              <a:endParaRPr lang="en-PH" sz="2000" dirty="0">
                <a:latin typeface="Verdana" pitchFamily="34" charset="0"/>
                <a:ea typeface="Verdana" pitchFamily="34" charset="0"/>
                <a:cs typeface="Times New Roman"/>
              </a:endParaRPr>
            </a:p>
          </p:txBody>
        </p:sp>
        <p:sp>
          <p:nvSpPr>
            <p:cNvPr id="5" name="Rectangle 4"/>
            <p:cNvSpPr/>
            <p:nvPr/>
          </p:nvSpPr>
          <p:spPr>
            <a:xfrm>
              <a:off x="3662721" y="5259991"/>
              <a:ext cx="2374368" cy="400110"/>
            </a:xfrm>
            <a:prstGeom prst="rect">
              <a:avLst/>
            </a:prstGeom>
          </p:spPr>
          <p:txBody>
            <a:bodyPr wrap="none">
              <a:spAutoFit/>
            </a:bodyPr>
            <a:lstStyle/>
            <a:p>
              <a:pPr algn="ctr">
                <a:spcAft>
                  <a:spcPts val="1000"/>
                </a:spcAft>
              </a:pPr>
              <a:r>
                <a:rPr lang="en-US" sz="2000" dirty="0">
                  <a:latin typeface="Verdana"/>
                  <a:ea typeface="MS Mincho"/>
                  <a:cs typeface="Times New Roman"/>
                </a:rPr>
                <a:t>Years since 1970</a:t>
              </a:r>
              <a:endParaRPr lang="en-PH" sz="2000" dirty="0">
                <a:latin typeface="Cambria"/>
                <a:ea typeface="MS Mincho"/>
                <a:cs typeface="Times New Roman"/>
              </a:endParaRPr>
            </a:p>
          </p:txBody>
        </p:sp>
        <mc:AlternateContent xmlns:mc="http://schemas.openxmlformats.org/markup-compatibility/2006" xmlns:a14="http://schemas.microsoft.com/office/drawing/2010/main">
          <mc:Choice Requires="a14">
            <p:sp>
              <p:nvSpPr>
                <p:cNvPr id="19" name="Text Box 31"/>
                <p:cNvSpPr txBox="1"/>
                <p:nvPr/>
              </p:nvSpPr>
              <p:spPr>
                <a:xfrm>
                  <a:off x="3375435" y="2868930"/>
                  <a:ext cx="2286000" cy="45720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buClrTx/>
                    <a:defRPr/>
                  </a:pPr>
                  <a14:m>
                    <m:oMathPara xmlns:m="http://schemas.openxmlformats.org/officeDocument/2006/math">
                      <m:oMathParaPr>
                        <m:jc m:val="centerGroup"/>
                      </m:oMathParaPr>
                      <m:oMath xmlns:m="http://schemas.openxmlformats.org/officeDocument/2006/math">
                        <m:r>
                          <a:rPr lang="en-US" sz="2000" i="1">
                            <a:solidFill>
                              <a:srgbClr val="8064A2"/>
                            </a:solidFill>
                            <a:latin typeface="Cambria Math"/>
                            <a:ea typeface="MS Mincho"/>
                            <a:cs typeface="Times New Roman"/>
                          </a:rPr>
                          <m:t>𝑦</m:t>
                        </m:r>
                        <m:r>
                          <a:rPr lang="en-US" sz="2000" i="1">
                            <a:solidFill>
                              <a:srgbClr val="8064A2"/>
                            </a:solidFill>
                            <a:latin typeface="Cambria Math"/>
                            <a:ea typeface="MS Mincho"/>
                            <a:cs typeface="Times New Roman"/>
                          </a:rPr>
                          <m:t>=0.04</m:t>
                        </m:r>
                        <m:r>
                          <a:rPr lang="en-US" sz="2000" i="1">
                            <a:solidFill>
                              <a:srgbClr val="8064A2"/>
                            </a:solidFill>
                            <a:latin typeface="Cambria Math"/>
                            <a:ea typeface="MS Mincho"/>
                            <a:cs typeface="Times New Roman"/>
                          </a:rPr>
                          <m:t>𝑥</m:t>
                        </m:r>
                        <m:r>
                          <a:rPr lang="en-US" sz="2000" i="1">
                            <a:solidFill>
                              <a:srgbClr val="8064A2"/>
                            </a:solidFill>
                            <a:latin typeface="Cambria Math"/>
                            <a:ea typeface="MS Mincho"/>
                            <a:cs typeface="Times New Roman"/>
                          </a:rPr>
                          <m:t>+1.02</m:t>
                        </m:r>
                      </m:oMath>
                    </m:oMathPara>
                  </a14:m>
                  <a:endParaRPr lang="en-PH" dirty="0">
                    <a:solidFill>
                      <a:sysClr val="windowText" lastClr="000000"/>
                    </a:solidFill>
                    <a:latin typeface="Cambria"/>
                    <a:ea typeface="MS Mincho"/>
                    <a:cs typeface="Times New Roman"/>
                  </a:endParaRPr>
                </a:p>
              </p:txBody>
            </p:sp>
          </mc:Choice>
          <mc:Fallback xmlns="">
            <p:sp>
              <p:nvSpPr>
                <p:cNvPr id="19" name="Text Box 31"/>
                <p:cNvSpPr txBox="1">
                  <a:spLocks noRot="1" noChangeAspect="1" noMove="1" noResize="1" noEditPoints="1" noAdjustHandles="1" noChangeArrowheads="1" noChangeShapeType="1" noTextEdit="1"/>
                </p:cNvSpPr>
                <p:nvPr/>
              </p:nvSpPr>
              <p:spPr>
                <a:xfrm>
                  <a:off x="3375435" y="2868930"/>
                  <a:ext cx="2286000" cy="457200"/>
                </a:xfrm>
                <a:prstGeom prst="rect">
                  <a:avLst/>
                </a:prstGeom>
                <a:blipFill rotWithShape="1">
                  <a:blip r:embed="rId6"/>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en-PH">
                      <a:noFill/>
                    </a:rPr>
                    <a:t> </a:t>
                  </a:r>
                </a:p>
              </p:txBody>
            </p:sp>
          </mc:Fallback>
        </mc:AlternateContent>
      </p:grpSp>
      <p:sp>
        <p:nvSpPr>
          <p:cNvPr id="2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294</a:t>
            </a:r>
            <a:endParaRPr i="1" dirty="0">
              <a:latin typeface="Calibri"/>
              <a:ea typeface="Calibri"/>
              <a:cs typeface="Calibri"/>
              <a:sym typeface="Calibri"/>
            </a:endParaRPr>
          </a:p>
        </p:txBody>
      </p:sp>
    </p:spTree>
    <p:extLst>
      <p:ext uri="{BB962C8B-B14F-4D97-AF65-F5344CB8AC3E}">
        <p14:creationId xmlns:p14="http://schemas.microsoft.com/office/powerpoint/2010/main" val="1517383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2308324"/>
              </a:xfrm>
              <a:prstGeom prst="rect">
                <a:avLst/>
              </a:prstGeom>
              <a:noFill/>
            </p:spPr>
            <p:txBody>
              <a:bodyPr wrap="square" rtlCol="0">
                <a:spAutoFit/>
              </a:bodyPr>
              <a:lstStyle/>
              <a:p>
                <a:pPr marL="457200"/>
                <a:r>
                  <a:rPr lang="en-US" sz="2400" dirty="0">
                    <a:latin typeface="Verdana"/>
                    <a:ea typeface="MS Mincho"/>
                    <a:cs typeface="Times New Roman"/>
                  </a:rPr>
                  <a:t>The inequality </a:t>
                </a:r>
                <a14:m>
                  <m:oMath xmlns:m="http://schemas.openxmlformats.org/officeDocument/2006/math">
                    <m:r>
                      <a:rPr lang="en-US" sz="2400" i="1">
                        <a:latin typeface="Cambria Math"/>
                        <a:ea typeface="MS Mincho"/>
                        <a:cs typeface="Times New Roman"/>
                      </a:rPr>
                      <m:t>0.04</m:t>
                    </m:r>
                    <m:r>
                      <a:rPr lang="en-US" sz="2400" i="1">
                        <a:latin typeface="Cambria Math"/>
                        <a:ea typeface="MS Mincho"/>
                        <a:cs typeface="Times New Roman"/>
                      </a:rPr>
                      <m:t>𝑥</m:t>
                    </m:r>
                    <m:r>
                      <a:rPr lang="en-US" sz="2400" i="1">
                        <a:latin typeface="Cambria Math"/>
                        <a:ea typeface="MS Mincho"/>
                        <a:cs typeface="Times New Roman"/>
                      </a:rPr>
                      <m:t>+1.02&gt;−0.27</m:t>
                    </m:r>
                    <m:r>
                      <a:rPr lang="en-US" sz="2400" i="1">
                        <a:latin typeface="Cambria Math"/>
                        <a:ea typeface="MS Mincho"/>
                        <a:cs typeface="Times New Roman"/>
                      </a:rPr>
                      <m:t>𝑥</m:t>
                    </m:r>
                    <m:r>
                      <a:rPr lang="en-US" sz="2400" i="1">
                        <a:latin typeface="Cambria Math"/>
                        <a:ea typeface="MS Mincho"/>
                        <a:cs typeface="Times New Roman"/>
                      </a:rPr>
                      <m:t>+17.14</m:t>
                    </m:r>
                  </m:oMath>
                </a14:m>
                <a:r>
                  <a:rPr lang="en-US" sz="2400" dirty="0">
                    <a:latin typeface="Verdana"/>
                    <a:ea typeface="MS Mincho"/>
                    <a:cs typeface="Times New Roman"/>
                  </a:rPr>
                  <a:t> can be used to compare the degrees conferred in education and degrees in computer science over time. The table gives information about the meaning of the mathematical expressions contained in the inequality in this context.</a:t>
                </a:r>
                <a:endParaRPr lang="en-PH" sz="1600" dirty="0">
                  <a:latin typeface="Cambria"/>
                  <a:ea typeface="MS Mincho"/>
                  <a:cs typeface="Times New Roman"/>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2308324"/>
              </a:xfrm>
              <a:prstGeom prst="rect">
                <a:avLst/>
              </a:prstGeom>
              <a:blipFill>
                <a:blip r:embed="rId4"/>
                <a:stretch>
                  <a:fillRect t="-21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2921796681"/>
                  </p:ext>
                </p:extLst>
              </p:nvPr>
            </p:nvGraphicFramePr>
            <p:xfrm>
              <a:off x="2496000" y="2786840"/>
              <a:ext cx="7200000" cy="3413760"/>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tblGrid>
                  <a:tr h="0">
                    <a:tc>
                      <a:txBody>
                        <a:bodyPr/>
                        <a:lstStyle/>
                        <a:p>
                          <a:pPr algn="ctr">
                            <a:spcAft>
                              <a:spcPts val="0"/>
                            </a:spcAft>
                          </a:pPr>
                          <a:r>
                            <a:rPr lang="en-US" sz="2000" b="1" dirty="0">
                              <a:effectLst/>
                              <a:latin typeface="Verdana" pitchFamily="34" charset="0"/>
                              <a:ea typeface="Verdana" pitchFamily="34" charset="0"/>
                              <a:cs typeface="Times New Roman"/>
                            </a:rPr>
                            <a:t>Mathematical Expression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Real-World Context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MS Mincho"/>
                                    <a:cs typeface="Times New Roman"/>
                                  </a:rPr>
                                  <m:t>𝑥</m:t>
                                </m:r>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The number of years that have passed since 1970</a:t>
                          </a:r>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MS Mincho"/>
                                    <a:cs typeface="Times New Roman"/>
                                  </a:rPr>
                                  <m:t>0.04</m:t>
                                </m:r>
                                <m:r>
                                  <a:rPr lang="en-US" sz="2000" i="1">
                                    <a:effectLst/>
                                    <a:latin typeface="Cambria Math"/>
                                    <a:ea typeface="MS Mincho"/>
                                    <a:cs typeface="Times New Roman"/>
                                  </a:rPr>
                                  <m:t>𝑥</m:t>
                                </m:r>
                                <m:r>
                                  <a:rPr lang="en-US" sz="2000" i="1">
                                    <a:effectLst/>
                                    <a:latin typeface="Cambria Math"/>
                                    <a:ea typeface="MS Mincho"/>
                                    <a:cs typeface="Times New Roman"/>
                                  </a:rPr>
                                  <m:t>+1.02</m:t>
                                </m:r>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The expected percentage of total degrees conferred that are computer science degrees</a:t>
                          </a:r>
                          <a:endParaRPr lang="en-PH" sz="200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MS Mincho"/>
                                    <a:cs typeface="Times New Roman"/>
                                  </a:rPr>
                                  <m:t>−0.27</m:t>
                                </m:r>
                                <m:r>
                                  <a:rPr lang="en-US" sz="2000" i="1">
                                    <a:effectLst/>
                                    <a:latin typeface="Cambria Math"/>
                                    <a:ea typeface="MS Mincho"/>
                                    <a:cs typeface="Times New Roman"/>
                                  </a:rPr>
                                  <m:t>𝑥</m:t>
                                </m:r>
                                <m:r>
                                  <a:rPr lang="en-US" sz="2000" i="1">
                                    <a:effectLst/>
                                    <a:latin typeface="Cambria Math"/>
                                    <a:ea typeface="MS Mincho"/>
                                    <a:cs typeface="Times New Roman"/>
                                  </a:rPr>
                                  <m:t>+17.14</m:t>
                                </m:r>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The expected percentage of total degrees conferred that are education degrees</a:t>
                          </a:r>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2921796681"/>
                  </p:ext>
                </p:extLst>
              </p:nvPr>
            </p:nvGraphicFramePr>
            <p:xfrm>
              <a:off x="2496000" y="2786840"/>
              <a:ext cx="7200000" cy="3413760"/>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tblGrid>
                  <a:tr h="701040">
                    <a:tc>
                      <a:txBody>
                        <a:bodyPr/>
                        <a:lstStyle/>
                        <a:p>
                          <a:pPr algn="ctr">
                            <a:spcAft>
                              <a:spcPts val="0"/>
                            </a:spcAft>
                          </a:pPr>
                          <a:r>
                            <a:rPr lang="en-US" sz="2000" b="1" dirty="0">
                              <a:effectLst/>
                              <a:latin typeface="Verdana" pitchFamily="34" charset="0"/>
                              <a:ea typeface="Verdana" pitchFamily="34" charset="0"/>
                              <a:cs typeface="Times New Roman"/>
                            </a:rPr>
                            <a:t>Mathematical Expression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Real-World Context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83" t="-104348" r="-186232" b="-302609"/>
                          </a:stretch>
                        </a:blipFill>
                      </a:tcPr>
                    </a:tc>
                    <a:tc>
                      <a:txBody>
                        <a:bodyPr/>
                        <a:lstStyle/>
                        <a:p>
                          <a:pPr>
                            <a:spcAft>
                              <a:spcPts val="0"/>
                            </a:spcAft>
                          </a:pPr>
                          <a:r>
                            <a:rPr lang="en-US" sz="2000" dirty="0">
                              <a:effectLst/>
                              <a:latin typeface="Verdana" pitchFamily="34" charset="0"/>
                              <a:ea typeface="Verdana" pitchFamily="34" charset="0"/>
                              <a:cs typeface="Times New Roman"/>
                            </a:rPr>
                            <a:t>The number of years that have passed since 1970</a:t>
                          </a:r>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83" t="-141566" r="-186232" b="-109639"/>
                          </a:stretch>
                        </a:blipFill>
                      </a:tcPr>
                    </a:tc>
                    <a:tc>
                      <a:txBody>
                        <a:bodyPr/>
                        <a:lstStyle/>
                        <a:p>
                          <a:pPr>
                            <a:spcAft>
                              <a:spcPts val="0"/>
                            </a:spcAft>
                          </a:pPr>
                          <a:r>
                            <a:rPr lang="en-US" sz="2000">
                              <a:effectLst/>
                              <a:latin typeface="Verdana" pitchFamily="34" charset="0"/>
                              <a:ea typeface="Verdana" pitchFamily="34" charset="0"/>
                              <a:cs typeface="Times New Roman"/>
                            </a:rPr>
                            <a:t>The expected percentage of total degrees conferred that are computer science degrees</a:t>
                          </a:r>
                          <a:endParaRPr lang="en-PH" sz="200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83" t="-243030" r="-186232" b="-10303"/>
                          </a:stretch>
                        </a:blipFill>
                      </a:tcPr>
                    </a:tc>
                    <a:tc>
                      <a:txBody>
                        <a:bodyPr/>
                        <a:lstStyle/>
                        <a:p>
                          <a:pPr>
                            <a:spcAft>
                              <a:spcPts val="0"/>
                            </a:spcAft>
                          </a:pPr>
                          <a:r>
                            <a:rPr lang="en-US" sz="2000" dirty="0">
                              <a:effectLst/>
                              <a:latin typeface="Verdana" pitchFamily="34" charset="0"/>
                              <a:ea typeface="Verdana" pitchFamily="34" charset="0"/>
                              <a:cs typeface="Times New Roman"/>
                            </a:rPr>
                            <a:t>The expected percentage of total degrees conferred that are education degrees</a:t>
                          </a:r>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294</a:t>
            </a:r>
            <a:endParaRPr i="1" dirty="0">
              <a:latin typeface="Calibri"/>
              <a:ea typeface="Calibri"/>
              <a:cs typeface="Calibri"/>
              <a:sym typeface="Calibri"/>
            </a:endParaRPr>
          </a:p>
        </p:txBody>
      </p:sp>
    </p:spTree>
    <p:extLst>
      <p:ext uri="{BB962C8B-B14F-4D97-AF65-F5344CB8AC3E}">
        <p14:creationId xmlns:p14="http://schemas.microsoft.com/office/powerpoint/2010/main" val="3224205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3354765"/>
              </a:xfrm>
              <a:prstGeom prst="rect">
                <a:avLst/>
              </a:prstGeom>
              <a:noFill/>
            </p:spPr>
            <p:txBody>
              <a:bodyPr wrap="square" rtlCol="0">
                <a:spAutoFit/>
              </a:bodyPr>
              <a:lstStyle/>
              <a:p>
                <a:pPr marL="914400" indent="-457200">
                  <a:spcAft>
                    <a:spcPts val="1200"/>
                  </a:spcAft>
                  <a:buFont typeface="+mj-lt"/>
                  <a:buAutoNum type="alphaLcPeriod" startAt="2"/>
                </a:pPr>
                <a:r>
                  <a:rPr lang="en-US" sz="2400" dirty="0">
                    <a:latin typeface="Verdana" pitchFamily="34" charset="0"/>
                    <a:ea typeface="Verdana" pitchFamily="34" charset="0"/>
                    <a:cs typeface="Times New Roman"/>
                  </a:rPr>
                  <a:t>Which of the following questions could be answered by using the solution set of the inequality </a:t>
                </a:r>
                <a14:m>
                  <m:oMath xmlns:m="http://schemas.openxmlformats.org/officeDocument/2006/math">
                    <m:r>
                      <a:rPr lang="en-US" sz="2400" i="1">
                        <a:latin typeface="Cambria Math"/>
                        <a:ea typeface="MS Mincho"/>
                        <a:cs typeface="Times New Roman"/>
                      </a:rPr>
                      <m:t>0.04</m:t>
                    </m:r>
                    <m:r>
                      <a:rPr lang="en-US" sz="2400" i="1">
                        <a:latin typeface="Cambria Math"/>
                        <a:ea typeface="MS Mincho"/>
                        <a:cs typeface="Times New Roman"/>
                      </a:rPr>
                      <m:t>𝑥</m:t>
                    </m:r>
                    <m:r>
                      <a:rPr lang="en-US" sz="2400" i="1">
                        <a:latin typeface="Cambria Math"/>
                        <a:ea typeface="MS Mincho"/>
                        <a:cs typeface="Times New Roman"/>
                      </a:rPr>
                      <m:t>+1.02&gt;−0.27</m:t>
                    </m:r>
                    <m:r>
                      <a:rPr lang="en-US" sz="2400" i="1">
                        <a:latin typeface="Cambria Math"/>
                        <a:ea typeface="MS Mincho"/>
                        <a:cs typeface="Times New Roman"/>
                      </a:rPr>
                      <m:t>𝑥</m:t>
                    </m:r>
                    <m:r>
                      <a:rPr lang="en-US" sz="2400" i="1">
                        <a:latin typeface="Cambria Math"/>
                        <a:ea typeface="MS Mincho"/>
                        <a:cs typeface="Times New Roman"/>
                      </a:rPr>
                      <m:t>+17.14</m:t>
                    </m:r>
                  </m:oMath>
                </a14:m>
                <a:r>
                  <a:rPr lang="en-US" sz="2400" dirty="0">
                    <a:latin typeface="Verdana" pitchFamily="34" charset="0"/>
                    <a:ea typeface="Verdana" pitchFamily="34" charset="0"/>
                    <a:cs typeface="Times New Roman"/>
                  </a:rPr>
                  <a:t>?</a:t>
                </a:r>
                <a:endParaRPr lang="en-PH" sz="2400" dirty="0">
                  <a:latin typeface="Verdana" pitchFamily="34" charset="0"/>
                  <a:ea typeface="Verdana" pitchFamily="34" charset="0"/>
                  <a:cs typeface="Times New Roman"/>
                </a:endParaRPr>
              </a:p>
              <a:p>
                <a:pPr marL="1377950" indent="-463550">
                  <a:spcAft>
                    <a:spcPts val="1200"/>
                  </a:spcAft>
                  <a:buFont typeface="Courier New" pitchFamily="49" charset="0"/>
                  <a:buChar char="o"/>
                </a:pPr>
                <a:r>
                  <a:rPr lang="en-US" sz="2400" dirty="0">
                    <a:latin typeface="Verdana" pitchFamily="34" charset="0"/>
                    <a:ea typeface="Verdana" pitchFamily="34" charset="0"/>
                    <a:cs typeface="Times New Roman"/>
                  </a:rPr>
                  <a:t>For which number of years after 1970 was the percentage of total degrees in computer science greater than that in education?</a:t>
                </a:r>
                <a:endParaRPr lang="en-PH" sz="2400" dirty="0">
                  <a:latin typeface="Verdana" pitchFamily="34" charset="0"/>
                  <a:ea typeface="Verdana" pitchFamily="34" charset="0"/>
                  <a:cs typeface="Times New Roman"/>
                </a:endParaRPr>
              </a:p>
              <a:p>
                <a:pPr marL="1377950" indent="-463550">
                  <a:spcAft>
                    <a:spcPts val="1000"/>
                  </a:spcAft>
                  <a:buFont typeface="Courier New" pitchFamily="49" charset="0"/>
                  <a:buChar char="o"/>
                </a:pPr>
                <a:r>
                  <a:rPr lang="en-US" sz="2400" dirty="0">
                    <a:latin typeface="Verdana" pitchFamily="34" charset="0"/>
                    <a:ea typeface="Verdana" pitchFamily="34" charset="0"/>
                    <a:cs typeface="Times New Roman"/>
                  </a:rPr>
                  <a:t>For which number of years after 1970 was the percentage of total degrees in education greater than that in computer science?</a:t>
                </a:r>
                <a:endParaRPr lang="en-PH" sz="2400" dirty="0">
                  <a:latin typeface="Verdana" pitchFamily="34" charset="0"/>
                  <a:ea typeface="Verdana" pitchFamily="34" charset="0"/>
                  <a:cs typeface="Times New Roman"/>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3354765"/>
              </a:xfrm>
              <a:prstGeom prst="rect">
                <a:avLst/>
              </a:prstGeom>
              <a:blipFill>
                <a:blip r:embed="rId4"/>
                <a:stretch>
                  <a:fillRect t="-1452" r="-1797" b="-3085"/>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294</a:t>
            </a:r>
            <a:endParaRPr i="1" dirty="0">
              <a:latin typeface="Calibri"/>
              <a:ea typeface="Calibri"/>
              <a:cs typeface="Calibri"/>
              <a:sym typeface="Calibri"/>
            </a:endParaRPr>
          </a:p>
        </p:txBody>
      </p:sp>
    </p:spTree>
    <p:extLst>
      <p:ext uri="{BB962C8B-B14F-4D97-AF65-F5344CB8AC3E}">
        <p14:creationId xmlns:p14="http://schemas.microsoft.com/office/powerpoint/2010/main" val="3687464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3929281"/>
              </a:xfrm>
              <a:prstGeom prst="rect">
                <a:avLst/>
              </a:prstGeom>
              <a:noFill/>
            </p:spPr>
            <p:txBody>
              <a:bodyPr wrap="square" rtlCol="0">
                <a:spAutoFit/>
              </a:bodyPr>
              <a:lstStyle/>
              <a:p>
                <a:pPr marL="914400" indent="-457200">
                  <a:spcAft>
                    <a:spcPts val="1000"/>
                  </a:spcAft>
                  <a:buFont typeface="+mj-lt"/>
                  <a:buAutoNum type="alphaLcPeriod" startAt="3"/>
                </a:pPr>
                <a:r>
                  <a:rPr lang="en-US" sz="2400" dirty="0">
                    <a:latin typeface="Verdana" pitchFamily="34" charset="0"/>
                    <a:ea typeface="Verdana" pitchFamily="34" charset="0"/>
                    <a:cs typeface="Times New Roman"/>
                  </a:rPr>
                  <a:t>Refer back to your solution to this inequality. What does the solution set tell you about the degrees conferred in education compared to degrees conferred in computer science?</a:t>
                </a:r>
                <a:endParaRPr lang="en-PH" sz="2400" dirty="0">
                  <a:latin typeface="Verdana" pitchFamily="34" charset="0"/>
                  <a:ea typeface="Verdana" pitchFamily="34" charset="0"/>
                  <a:cs typeface="Times New Roman"/>
                </a:endParaRPr>
              </a:p>
              <a:p>
                <a:pPr marL="914400" indent="-457200">
                  <a:spcAft>
                    <a:spcPts val="1000"/>
                  </a:spcAft>
                  <a:buFont typeface="+mj-lt"/>
                  <a:buAutoNum type="alphaLcPeriod" startAt="3"/>
                </a:pPr>
                <a:endParaRPr lang="en-US" sz="2400" dirty="0">
                  <a:latin typeface="Verdana" pitchFamily="34" charset="0"/>
                  <a:ea typeface="Verdana" pitchFamily="34" charset="0"/>
                  <a:cs typeface="Times New Roman"/>
                </a:endParaRPr>
              </a:p>
              <a:p>
                <a:pPr marL="914400" indent="-457200">
                  <a:spcAft>
                    <a:spcPts val="1000"/>
                  </a:spcAft>
                  <a:buFont typeface="+mj-lt"/>
                  <a:buAutoNum type="alphaLcPeriod" startAt="3"/>
                </a:pPr>
                <a:endParaRPr lang="en-US" sz="2400" dirty="0">
                  <a:latin typeface="Verdana" pitchFamily="34" charset="0"/>
                  <a:ea typeface="Verdana" pitchFamily="34" charset="0"/>
                  <a:cs typeface="Times New Roman"/>
                </a:endParaRPr>
              </a:p>
              <a:p>
                <a:pPr marL="914400" indent="-457200">
                  <a:spcAft>
                    <a:spcPts val="1000"/>
                  </a:spcAft>
                  <a:buFont typeface="+mj-lt"/>
                  <a:buAutoNum type="alphaLcPeriod" startAt="3"/>
                </a:pPr>
                <a:endParaRPr lang="en-US" sz="2400" dirty="0">
                  <a:latin typeface="Verdana" pitchFamily="34" charset="0"/>
                  <a:ea typeface="Verdana" pitchFamily="34" charset="0"/>
                  <a:cs typeface="Times New Roman"/>
                </a:endParaRPr>
              </a:p>
              <a:p>
                <a:pPr marL="914400" indent="-457200">
                  <a:spcAft>
                    <a:spcPts val="1000"/>
                  </a:spcAft>
                  <a:buFont typeface="+mj-lt"/>
                  <a:buAutoNum type="alphaLcPeriod" startAt="3"/>
                </a:pPr>
                <a:r>
                  <a:rPr lang="en-US" sz="2400" dirty="0">
                    <a:latin typeface="Verdana" pitchFamily="34" charset="0"/>
                    <a:ea typeface="Verdana" pitchFamily="34" charset="0"/>
                    <a:cs typeface="Times New Roman"/>
                  </a:rPr>
                  <a:t>Discuss with your partner whether </a:t>
                </a:r>
                <a14:m>
                  <m:oMath xmlns:m="http://schemas.openxmlformats.org/officeDocument/2006/math">
                    <m:r>
                      <a:rPr lang="en-US" sz="2400" i="1">
                        <a:latin typeface="Cambria Math"/>
                        <a:ea typeface="MS Mincho"/>
                        <a:cs typeface="Times New Roman"/>
                      </a:rPr>
                      <m:t>79.3</m:t>
                    </m:r>
                  </m:oMath>
                </a14:m>
                <a:r>
                  <a:rPr lang="en-US" sz="2400" dirty="0">
                    <a:latin typeface="Verdana" pitchFamily="34" charset="0"/>
                    <a:ea typeface="Verdana" pitchFamily="34" charset="0"/>
                    <a:cs typeface="Times New Roman"/>
                  </a:rPr>
                  <a:t> is a viable solution in this real-world context. Summarize your discussion.</a:t>
                </a:r>
                <a:endParaRPr lang="en-PH" sz="2400" dirty="0">
                  <a:latin typeface="Verdana" pitchFamily="34" charset="0"/>
                  <a:ea typeface="Verdana" pitchFamily="34" charset="0"/>
                  <a:cs typeface="Times New Roman"/>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3929281"/>
              </a:xfrm>
              <a:prstGeom prst="rect">
                <a:avLst/>
              </a:prstGeom>
              <a:blipFill>
                <a:blip r:embed="rId4"/>
                <a:stretch>
                  <a:fillRect t="-1240" r="-986" b="-2481"/>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295</a:t>
            </a:r>
            <a:endParaRPr i="1" dirty="0">
              <a:latin typeface="Calibri"/>
              <a:ea typeface="Calibri"/>
              <a:cs typeface="Calibri"/>
              <a:sym typeface="Calibri"/>
            </a:endParaRPr>
          </a:p>
        </p:txBody>
      </p:sp>
    </p:spTree>
    <p:extLst>
      <p:ext uri="{BB962C8B-B14F-4D97-AF65-F5344CB8AC3E}">
        <p14:creationId xmlns:p14="http://schemas.microsoft.com/office/powerpoint/2010/main" val="2095455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295</a:t>
            </a:r>
            <a:endParaRPr i="1" dirty="0">
              <a:latin typeface="Calibri"/>
              <a:ea typeface="Calibri"/>
              <a:cs typeface="Calibri"/>
              <a:sym typeface="Calibri"/>
            </a:endParaRPr>
          </a:p>
        </p:txBody>
      </p:sp>
      <p:sp>
        <p:nvSpPr>
          <p:cNvPr id="7" name="Google Shape;309;g104476d1465_1_39">
            <a:extLst>
              <a:ext uri="{FF2B5EF4-FFF2-40B4-BE49-F238E27FC236}">
                <a16:creationId xmlns:a16="http://schemas.microsoft.com/office/drawing/2014/main" id="{BD5EE63B-0E2D-2F3A-F644-CC96EA733514}"/>
              </a:ext>
            </a:extLst>
          </p:cNvPr>
          <p:cNvSpPr/>
          <p:nvPr/>
        </p:nvSpPr>
        <p:spPr>
          <a:xfrm>
            <a:off x="0" y="-40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560788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6.1.4 Collaboration: Multi-Step Inequalities in One Variable</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1480"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386025"/>
                <a:ext cx="8327136" cy="993926"/>
              </a:xfrm>
              <a:prstGeom prst="rect">
                <a:avLst/>
              </a:prstGeom>
              <a:noFill/>
            </p:spPr>
            <p:txBody>
              <a:bodyPr wrap="square" rtlCol="0">
                <a:spAutoFit/>
              </a:bodyPr>
              <a:lstStyle/>
              <a:p>
                <a:pPr marL="457200" indent="-457200">
                  <a:buFont typeface="+mj-lt"/>
                  <a:buAutoNum type="arabicPeriod"/>
                </a:pPr>
                <a:r>
                  <a:rPr lang="en-US" sz="2400" dirty="0">
                    <a:latin typeface="Verdana"/>
                    <a:ea typeface="Helvetica Neue"/>
                    <a:cs typeface="Helvetica Neue"/>
                  </a:rPr>
                  <a:t>Marquis made an error when solving the inequality </a:t>
                </a:r>
                <a14:m>
                  <m:oMath xmlns:m="http://schemas.openxmlformats.org/officeDocument/2006/math">
                    <m:f>
                      <m:fPr>
                        <m:ctrlPr>
                          <a:rPr lang="en-PH" sz="2400" i="1">
                            <a:latin typeface="Cambria Math" panose="02040503050406030204" pitchFamily="18" charset="0"/>
                            <a:ea typeface="Helvetica Neue"/>
                            <a:cs typeface="Helvetica Neue"/>
                          </a:rPr>
                        </m:ctrlPr>
                      </m:fPr>
                      <m:num>
                        <m:r>
                          <a:rPr lang="en-US" sz="2400" i="1">
                            <a:latin typeface="Cambria Math"/>
                            <a:ea typeface="Helvetica Neue"/>
                            <a:cs typeface="Helvetica Neue"/>
                          </a:rPr>
                          <m:t>−82</m:t>
                        </m:r>
                        <m:r>
                          <a:rPr lang="en-US" sz="2400" i="1">
                            <a:latin typeface="Cambria Math"/>
                            <a:ea typeface="Helvetica Neue"/>
                            <a:cs typeface="Helvetica Neue"/>
                          </a:rPr>
                          <m:t>𝑏</m:t>
                        </m:r>
                        <m:r>
                          <a:rPr lang="en-US" sz="2400" i="1">
                            <a:latin typeface="Cambria Math"/>
                            <a:ea typeface="Helvetica Neue"/>
                            <a:cs typeface="Helvetica Neue"/>
                          </a:rPr>
                          <m:t>+10</m:t>
                        </m:r>
                      </m:num>
                      <m:den>
                        <m:r>
                          <a:rPr lang="en-US" sz="2400" i="1">
                            <a:latin typeface="Cambria Math"/>
                            <a:ea typeface="Helvetica Neue"/>
                            <a:cs typeface="Helvetica Neue"/>
                          </a:rPr>
                          <m:t>5</m:t>
                        </m:r>
                      </m:den>
                    </m:f>
                    <m:r>
                      <a:rPr lang="en-US" sz="2400" i="1">
                        <a:latin typeface="Cambria Math"/>
                        <a:ea typeface="Helvetica Neue"/>
                        <a:cs typeface="Helvetica Neue"/>
                      </a:rPr>
                      <m:t>−35&lt;90</m:t>
                    </m:r>
                  </m:oMath>
                </a14:m>
                <a:r>
                  <a:rPr lang="en-US" sz="2400" dirty="0">
                    <a:latin typeface="Verdana"/>
                    <a:ea typeface="Helvetica Neue"/>
                    <a:cs typeface="Helvetica Neue"/>
                  </a:rPr>
                  <a:t>. His work is shown.</a:t>
                </a:r>
                <a:endParaRPr lang="en-PH" sz="1600" dirty="0">
                  <a:latin typeface="Cambria"/>
                  <a:ea typeface="MS Mincho"/>
                  <a:cs typeface="Times New Roman"/>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86025"/>
                <a:ext cx="8327136" cy="993926"/>
              </a:xfrm>
              <a:prstGeom prst="rect">
                <a:avLst/>
              </a:prstGeom>
              <a:blipFill>
                <a:blip r:embed="rId5"/>
                <a:stretch>
                  <a:fillRect l="-1220" t="-3750" b="-3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68588434"/>
                  </p:ext>
                </p:extLst>
              </p:nvPr>
            </p:nvGraphicFramePr>
            <p:xfrm>
              <a:off x="2661285" y="2486300"/>
              <a:ext cx="7200000" cy="3600000"/>
            </p:xfrm>
            <a:graphic>
              <a:graphicData uri="http://schemas.openxmlformats.org/drawingml/2006/table">
                <a:tbl>
                  <a:tblPr firstRow="1" firstCol="1" bandRow="1"/>
                  <a:tblGrid>
                    <a:gridCol w="288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tblGrid>
                  <a:tr h="720000">
                    <a:tc>
                      <a:txBody>
                        <a:bodyPr/>
                        <a:lstStyle/>
                        <a:p>
                          <a:pPr algn="ctr">
                            <a:spcAft>
                              <a:spcPts val="0"/>
                            </a:spcAft>
                          </a:pPr>
                          <a:r>
                            <a:rPr lang="en-US" sz="2000" b="1" dirty="0">
                              <a:effectLst/>
                              <a:latin typeface="Verdana" pitchFamily="34" charset="0"/>
                              <a:ea typeface="Verdana" pitchFamily="34" charset="0"/>
                              <a:cs typeface="Helvetica Neue"/>
                            </a:rPr>
                            <a:t>Given Inequality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Helvetica Neue"/>
                                        <a:cs typeface="Helvetica Neue"/>
                                      </a:rPr>
                                    </m:ctrlPr>
                                  </m:fPr>
                                  <m:num>
                                    <m:r>
                                      <a:rPr lang="en-US" sz="2000" i="1">
                                        <a:effectLst/>
                                        <a:latin typeface="Cambria Math"/>
                                        <a:ea typeface="Helvetica Neue"/>
                                        <a:cs typeface="Helvetica Neue"/>
                                      </a:rPr>
                                      <m:t>−82</m:t>
                                    </m:r>
                                    <m:r>
                                      <a:rPr lang="en-US" sz="2000" i="1">
                                        <a:effectLst/>
                                        <a:latin typeface="Cambria Math"/>
                                        <a:ea typeface="Helvetica Neue"/>
                                        <a:cs typeface="Helvetica Neue"/>
                                      </a:rPr>
                                      <m:t>𝑏</m:t>
                                    </m:r>
                                    <m:r>
                                      <a:rPr lang="en-US" sz="2000" i="1">
                                        <a:effectLst/>
                                        <a:latin typeface="Cambria Math"/>
                                        <a:ea typeface="Helvetica Neue"/>
                                        <a:cs typeface="Helvetica Neue"/>
                                      </a:rPr>
                                      <m:t>+10</m:t>
                                    </m:r>
                                  </m:num>
                                  <m:den>
                                    <m:r>
                                      <a:rPr lang="en-US" sz="2000" i="1">
                                        <a:effectLst/>
                                        <a:latin typeface="Cambria Math"/>
                                        <a:ea typeface="Helvetica Neue"/>
                                        <a:cs typeface="Helvetica Neue"/>
                                      </a:rPr>
                                      <m:t>5</m:t>
                                    </m:r>
                                  </m:den>
                                </m:f>
                                <m:r>
                                  <a:rPr lang="en-US" sz="2000" i="1">
                                    <a:effectLst/>
                                    <a:latin typeface="Cambria Math"/>
                                    <a:ea typeface="Helvetica Neue"/>
                                    <a:cs typeface="Helvetica Neue"/>
                                  </a:rPr>
                                  <m:t>−35&lt;90</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20000">
                    <a:tc>
                      <a:txBody>
                        <a:bodyPr/>
                        <a:lstStyle/>
                        <a:p>
                          <a:pPr algn="ctr">
                            <a:spcAft>
                              <a:spcPts val="0"/>
                            </a:spcAft>
                          </a:pPr>
                          <a:r>
                            <a:rPr lang="en-US" sz="2000" b="1">
                              <a:effectLst/>
                              <a:latin typeface="Verdana" pitchFamily="34" charset="0"/>
                              <a:ea typeface="Verdana" pitchFamily="34" charset="0"/>
                              <a:cs typeface="Helvetica Neue"/>
                            </a:rPr>
                            <a:t>Step 1:</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 xmlns:m="http://schemas.openxmlformats.org/officeDocument/2006/math">
                              <m:r>
                                <a:rPr lang="en-US" sz="2000" i="1">
                                  <a:effectLst/>
                                  <a:latin typeface="Cambria Math"/>
                                  <a:ea typeface="Helvetica Neue"/>
                                  <a:cs typeface="Helvetica Neue"/>
                                </a:rPr>
                                <m:t>−82</m:t>
                              </m:r>
                              <m:r>
                                <a:rPr lang="en-US" sz="2000" i="1">
                                  <a:effectLst/>
                                  <a:latin typeface="Cambria Math"/>
                                  <a:ea typeface="Helvetica Neue"/>
                                  <a:cs typeface="Helvetica Neue"/>
                                </a:rPr>
                                <m:t>𝑏</m:t>
                              </m:r>
                              <m:r>
                                <a:rPr lang="en-US" sz="2000" i="1">
                                  <a:effectLst/>
                                  <a:latin typeface="Cambria Math"/>
                                  <a:ea typeface="Helvetica Neue"/>
                                  <a:cs typeface="Helvetica Neue"/>
                                </a:rPr>
                                <m:t>+10−35&lt;450</m:t>
                              </m:r>
                            </m:oMath>
                          </a14:m>
                          <a:r>
                            <a:rPr lang="en-US" sz="2000" dirty="0">
                              <a:effectLst/>
                              <a:latin typeface="Verdana" pitchFamily="34" charset="0"/>
                              <a:ea typeface="Verdana" pitchFamily="34" charset="0"/>
                              <a:cs typeface="Helvetica Neue"/>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algn="ctr">
                            <a:spcAft>
                              <a:spcPts val="0"/>
                            </a:spcAft>
                          </a:pPr>
                          <a:r>
                            <a:rPr lang="en-US" sz="2000" b="1">
                              <a:effectLst/>
                              <a:latin typeface="Verdana" pitchFamily="34" charset="0"/>
                              <a:ea typeface="Verdana" pitchFamily="34" charset="0"/>
                              <a:cs typeface="Helvetica Neue"/>
                            </a:rPr>
                            <a:t>Step 2:</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 xmlns:m="http://schemas.openxmlformats.org/officeDocument/2006/math">
                              <m:r>
                                <a:rPr lang="en-US" sz="2000" i="1">
                                  <a:effectLst/>
                                  <a:latin typeface="Cambria Math"/>
                                  <a:ea typeface="Helvetica Neue"/>
                                  <a:cs typeface="Helvetica Neue"/>
                                </a:rPr>
                                <m:t>−82</m:t>
                              </m:r>
                              <m:r>
                                <a:rPr lang="en-US" sz="2000" i="1">
                                  <a:effectLst/>
                                  <a:latin typeface="Cambria Math"/>
                                  <a:ea typeface="Helvetica Neue"/>
                                  <a:cs typeface="Helvetica Neue"/>
                                </a:rPr>
                                <m:t>𝑏</m:t>
                              </m:r>
                              <m:r>
                                <a:rPr lang="en-US" sz="2000" i="1">
                                  <a:effectLst/>
                                  <a:latin typeface="Cambria Math"/>
                                  <a:ea typeface="Helvetica Neue"/>
                                  <a:cs typeface="Helvetica Neue"/>
                                </a:rPr>
                                <m:t>−25&lt;450</m:t>
                              </m:r>
                            </m:oMath>
                          </a14:m>
                          <a:r>
                            <a:rPr lang="en-US" sz="2000" dirty="0">
                              <a:effectLst/>
                              <a:latin typeface="Verdana" pitchFamily="34" charset="0"/>
                              <a:ea typeface="Verdana" pitchFamily="34" charset="0"/>
                              <a:cs typeface="Helvetica Neue"/>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algn="ctr">
                            <a:spcAft>
                              <a:spcPts val="0"/>
                            </a:spcAft>
                          </a:pPr>
                          <a:r>
                            <a:rPr lang="en-US" sz="2000" b="1">
                              <a:effectLst/>
                              <a:latin typeface="Verdana" pitchFamily="34" charset="0"/>
                              <a:ea typeface="Verdana" pitchFamily="34" charset="0"/>
                              <a:cs typeface="Helvetica Neue"/>
                            </a:rPr>
                            <a:t>Step 3:</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 xmlns:m="http://schemas.openxmlformats.org/officeDocument/2006/math">
                              <m:r>
                                <a:rPr lang="en-US" sz="2000" i="1">
                                  <a:effectLst/>
                                  <a:latin typeface="Cambria Math"/>
                                  <a:ea typeface="Helvetica Neue"/>
                                  <a:cs typeface="Helvetica Neue"/>
                                </a:rPr>
                                <m:t>−82</m:t>
                              </m:r>
                              <m:r>
                                <a:rPr lang="en-US" sz="2000" i="1">
                                  <a:effectLst/>
                                  <a:latin typeface="Cambria Math"/>
                                  <a:ea typeface="Helvetica Neue"/>
                                  <a:cs typeface="Helvetica Neue"/>
                                </a:rPr>
                                <m:t>𝑏</m:t>
                              </m:r>
                              <m:r>
                                <a:rPr lang="en-US" sz="2000" i="1">
                                  <a:effectLst/>
                                  <a:latin typeface="Cambria Math"/>
                                  <a:ea typeface="Helvetica Neue"/>
                                  <a:cs typeface="Helvetica Neue"/>
                                </a:rPr>
                                <m:t>&lt;475</m:t>
                              </m:r>
                            </m:oMath>
                          </a14:m>
                          <a:r>
                            <a:rPr lang="en-US" sz="2000" dirty="0">
                              <a:effectLst/>
                              <a:latin typeface="Verdana" pitchFamily="34" charset="0"/>
                              <a:ea typeface="Verdana" pitchFamily="34" charset="0"/>
                              <a:cs typeface="Helvetica Neue"/>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0000">
                    <a:tc>
                      <a:txBody>
                        <a:bodyPr/>
                        <a:lstStyle/>
                        <a:p>
                          <a:pPr algn="ctr">
                            <a:spcAft>
                              <a:spcPts val="0"/>
                            </a:spcAft>
                          </a:pPr>
                          <a:r>
                            <a:rPr lang="en-US" sz="2000" b="1">
                              <a:effectLst/>
                              <a:latin typeface="Verdana" pitchFamily="34" charset="0"/>
                              <a:ea typeface="Verdana" pitchFamily="34" charset="0"/>
                              <a:cs typeface="Helvetica Neue"/>
                            </a:rPr>
                            <a:t>Step 4:</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Helvetica Neue"/>
                                    <a:cs typeface="Helvetica Neue"/>
                                  </a:rPr>
                                  <m:t>𝑏</m:t>
                                </m:r>
                                <m:r>
                                  <a:rPr lang="en-US" sz="2000" i="1">
                                    <a:effectLst/>
                                    <a:latin typeface="Cambria Math"/>
                                    <a:ea typeface="Helvetica Neue"/>
                                    <a:cs typeface="Helvetica Neue"/>
                                  </a:rPr>
                                  <m:t>&gt;−</m:t>
                                </m:r>
                                <m:f>
                                  <m:fPr>
                                    <m:ctrlPr>
                                      <a:rPr lang="en-PH" sz="2000" i="1">
                                        <a:effectLst/>
                                        <a:latin typeface="Cambria Math" panose="02040503050406030204" pitchFamily="18" charset="0"/>
                                        <a:ea typeface="Helvetica Neue"/>
                                        <a:cs typeface="Helvetica Neue"/>
                                      </a:rPr>
                                    </m:ctrlPr>
                                  </m:fPr>
                                  <m:num>
                                    <m:r>
                                      <a:rPr lang="en-US" sz="2000" i="1">
                                        <a:effectLst/>
                                        <a:latin typeface="Cambria Math"/>
                                        <a:ea typeface="Helvetica Neue"/>
                                        <a:cs typeface="Helvetica Neue"/>
                                      </a:rPr>
                                      <m:t>475</m:t>
                                    </m:r>
                                  </m:num>
                                  <m:den>
                                    <m:r>
                                      <a:rPr lang="en-US" sz="2000" i="1">
                                        <a:effectLst/>
                                        <a:latin typeface="Cambria Math"/>
                                        <a:ea typeface="Helvetica Neue"/>
                                        <a:cs typeface="Helvetica Neue"/>
                                      </a:rPr>
                                      <m:t>82</m:t>
                                    </m:r>
                                  </m:den>
                                </m:f>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68588434"/>
                  </p:ext>
                </p:extLst>
              </p:nvPr>
            </p:nvGraphicFramePr>
            <p:xfrm>
              <a:off x="2661285" y="2486300"/>
              <a:ext cx="7200000" cy="3600000"/>
            </p:xfrm>
            <a:graphic>
              <a:graphicData uri="http://schemas.openxmlformats.org/drawingml/2006/table">
                <a:tbl>
                  <a:tblPr firstRow="1" firstCol="1" bandRow="1"/>
                  <a:tblGrid>
                    <a:gridCol w="288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tblGrid>
                  <a:tr h="720000">
                    <a:tc>
                      <a:txBody>
                        <a:bodyPr/>
                        <a:lstStyle/>
                        <a:p>
                          <a:pPr algn="ctr">
                            <a:spcAft>
                              <a:spcPts val="0"/>
                            </a:spcAft>
                          </a:pPr>
                          <a:r>
                            <a:rPr lang="en-US" sz="2000" b="1" dirty="0">
                              <a:effectLst/>
                              <a:latin typeface="Verdana" pitchFamily="34" charset="0"/>
                              <a:ea typeface="Verdana" pitchFamily="34" charset="0"/>
                              <a:cs typeface="Helvetica Neue"/>
                            </a:rPr>
                            <a:t>Given Inequality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6862" t="-1754" r="-587" b="-401754"/>
                          </a:stretch>
                        </a:blipFill>
                      </a:tcPr>
                    </a:tc>
                    <a:extLst>
                      <a:ext uri="{0D108BD9-81ED-4DB2-BD59-A6C34878D82A}">
                        <a16:rowId xmlns:a16="http://schemas.microsoft.com/office/drawing/2014/main" val="10000"/>
                      </a:ext>
                    </a:extLst>
                  </a:tr>
                  <a:tr h="720000">
                    <a:tc>
                      <a:txBody>
                        <a:bodyPr/>
                        <a:lstStyle/>
                        <a:p>
                          <a:pPr algn="ctr">
                            <a:spcAft>
                              <a:spcPts val="0"/>
                            </a:spcAft>
                          </a:pPr>
                          <a:r>
                            <a:rPr lang="en-US" sz="2000" b="1">
                              <a:effectLst/>
                              <a:latin typeface="Verdana" pitchFamily="34" charset="0"/>
                              <a:ea typeface="Verdana" pitchFamily="34" charset="0"/>
                              <a:cs typeface="Helvetica Neue"/>
                            </a:rPr>
                            <a:t>Step 1:</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6862" t="-101754" r="-587" b="-301754"/>
                          </a:stretch>
                        </a:blipFill>
                      </a:tcPr>
                    </a:tc>
                    <a:extLst>
                      <a:ext uri="{0D108BD9-81ED-4DB2-BD59-A6C34878D82A}">
                        <a16:rowId xmlns:a16="http://schemas.microsoft.com/office/drawing/2014/main" val="10001"/>
                      </a:ext>
                    </a:extLst>
                  </a:tr>
                  <a:tr h="720000">
                    <a:tc>
                      <a:txBody>
                        <a:bodyPr/>
                        <a:lstStyle/>
                        <a:p>
                          <a:pPr algn="ctr">
                            <a:spcAft>
                              <a:spcPts val="0"/>
                            </a:spcAft>
                          </a:pPr>
                          <a:r>
                            <a:rPr lang="en-US" sz="2000" b="1">
                              <a:effectLst/>
                              <a:latin typeface="Verdana" pitchFamily="34" charset="0"/>
                              <a:ea typeface="Verdana" pitchFamily="34" charset="0"/>
                              <a:cs typeface="Helvetica Neue"/>
                            </a:rPr>
                            <a:t>Step 2:</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6862" t="-201754" r="-587" b="-201754"/>
                          </a:stretch>
                        </a:blipFill>
                      </a:tcPr>
                    </a:tc>
                    <a:extLst>
                      <a:ext uri="{0D108BD9-81ED-4DB2-BD59-A6C34878D82A}">
                        <a16:rowId xmlns:a16="http://schemas.microsoft.com/office/drawing/2014/main" val="10002"/>
                      </a:ext>
                    </a:extLst>
                  </a:tr>
                  <a:tr h="720000">
                    <a:tc>
                      <a:txBody>
                        <a:bodyPr/>
                        <a:lstStyle/>
                        <a:p>
                          <a:pPr algn="ctr">
                            <a:spcAft>
                              <a:spcPts val="0"/>
                            </a:spcAft>
                          </a:pPr>
                          <a:r>
                            <a:rPr lang="en-US" sz="2000" b="1">
                              <a:effectLst/>
                              <a:latin typeface="Verdana" pitchFamily="34" charset="0"/>
                              <a:ea typeface="Verdana" pitchFamily="34" charset="0"/>
                              <a:cs typeface="Helvetica Neue"/>
                            </a:rPr>
                            <a:t>Step 3:</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6862" t="-301754" r="-587" b="-101754"/>
                          </a:stretch>
                        </a:blipFill>
                      </a:tcPr>
                    </a:tc>
                    <a:extLst>
                      <a:ext uri="{0D108BD9-81ED-4DB2-BD59-A6C34878D82A}">
                        <a16:rowId xmlns:a16="http://schemas.microsoft.com/office/drawing/2014/main" val="10003"/>
                      </a:ext>
                    </a:extLst>
                  </a:tr>
                  <a:tr h="720000">
                    <a:tc>
                      <a:txBody>
                        <a:bodyPr/>
                        <a:lstStyle/>
                        <a:p>
                          <a:pPr algn="ctr">
                            <a:spcAft>
                              <a:spcPts val="0"/>
                            </a:spcAft>
                          </a:pPr>
                          <a:r>
                            <a:rPr lang="en-US" sz="2000" b="1">
                              <a:effectLst/>
                              <a:latin typeface="Verdana" pitchFamily="34" charset="0"/>
                              <a:ea typeface="Verdana" pitchFamily="34" charset="0"/>
                              <a:cs typeface="Helvetica Neue"/>
                            </a:rPr>
                            <a:t>Step 4:</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6862" t="-401754" r="-587" b="-1754"/>
                          </a:stretch>
                        </a:blipFill>
                      </a:tcPr>
                    </a:tc>
                    <a:extLst>
                      <a:ext uri="{0D108BD9-81ED-4DB2-BD59-A6C34878D82A}">
                        <a16:rowId xmlns:a16="http://schemas.microsoft.com/office/drawing/2014/main" val="10004"/>
                      </a:ext>
                    </a:extLst>
                  </a:tr>
                </a:tbl>
              </a:graphicData>
            </a:graphic>
          </p:graphicFrame>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295</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687245"/>
              </a:xfrm>
              <a:prstGeom prst="rect">
                <a:avLst/>
              </a:prstGeom>
              <a:noFill/>
            </p:spPr>
            <p:txBody>
              <a:bodyPr wrap="square" rtlCol="0">
                <a:spAutoFit/>
              </a:bodyPr>
              <a:lstStyle/>
              <a:p>
                <a:pPr marL="914400" indent="-457200">
                  <a:buFont typeface="+mj-lt"/>
                  <a:buAutoNum type="alphaLcPeriod"/>
                </a:pPr>
                <a:r>
                  <a:rPr lang="en-US" sz="2400" dirty="0">
                    <a:latin typeface="Verdana" pitchFamily="34" charset="0"/>
                    <a:ea typeface="Verdana" pitchFamily="34" charset="0"/>
                    <a:cs typeface="Helvetica Neue"/>
                  </a:rPr>
                  <a:t>With your partner, identify the step in which Marquis made an error. Write a note to Marquis explaining why that step was incorrect.</a:t>
                </a:r>
                <a:endParaRPr lang="en-PH" sz="2400" dirty="0">
                  <a:latin typeface="Verdana" pitchFamily="34" charset="0"/>
                  <a:ea typeface="Verdana" pitchFamily="34" charset="0"/>
                  <a:cs typeface="Times New Roman"/>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r>
                  <a:rPr lang="en-US" sz="2400" dirty="0">
                    <a:latin typeface="Verdana" pitchFamily="34" charset="0"/>
                    <a:ea typeface="Verdana" pitchFamily="34" charset="0"/>
                    <a:cs typeface="Helvetica Neue"/>
                  </a:rPr>
                  <a:t>Solve the inequality </a:t>
                </a:r>
                <a14:m>
                  <m:oMath xmlns:m="http://schemas.openxmlformats.org/officeDocument/2006/math">
                    <m:f>
                      <m:fPr>
                        <m:ctrlPr>
                          <a:rPr lang="en-PH" sz="2400" i="1">
                            <a:latin typeface="Cambria Math" panose="02040503050406030204" pitchFamily="18" charset="0"/>
                            <a:ea typeface="Helvetica Neue"/>
                            <a:cs typeface="Helvetica Neue"/>
                          </a:rPr>
                        </m:ctrlPr>
                      </m:fPr>
                      <m:num>
                        <m:r>
                          <a:rPr lang="en-US" sz="2400" i="1">
                            <a:latin typeface="Cambria Math"/>
                            <a:ea typeface="Helvetica Neue"/>
                            <a:cs typeface="Helvetica Neue"/>
                          </a:rPr>
                          <m:t>−82</m:t>
                        </m:r>
                        <m:r>
                          <a:rPr lang="en-US" sz="2400" i="1">
                            <a:latin typeface="Cambria Math"/>
                            <a:ea typeface="Helvetica Neue"/>
                            <a:cs typeface="Helvetica Neue"/>
                          </a:rPr>
                          <m:t>𝑏</m:t>
                        </m:r>
                        <m:r>
                          <a:rPr lang="en-US" sz="2400" i="1">
                            <a:latin typeface="Cambria Math"/>
                            <a:ea typeface="Helvetica Neue"/>
                            <a:cs typeface="Helvetica Neue"/>
                          </a:rPr>
                          <m:t>+10</m:t>
                        </m:r>
                      </m:num>
                      <m:den>
                        <m:r>
                          <a:rPr lang="en-US" sz="2400" i="1">
                            <a:latin typeface="Cambria Math"/>
                            <a:ea typeface="Helvetica Neue"/>
                            <a:cs typeface="Helvetica Neue"/>
                          </a:rPr>
                          <m:t>5</m:t>
                        </m:r>
                      </m:den>
                    </m:f>
                    <m:r>
                      <a:rPr lang="en-US" sz="2400" i="1">
                        <a:latin typeface="Cambria Math"/>
                        <a:ea typeface="Helvetica Neue"/>
                        <a:cs typeface="Helvetica Neue"/>
                      </a:rPr>
                      <m:t>−35&lt;90</m:t>
                    </m:r>
                  </m:oMath>
                </a14:m>
                <a:r>
                  <a:rPr lang="en-US" sz="2400" dirty="0">
                    <a:latin typeface="Verdana" pitchFamily="34" charset="0"/>
                    <a:ea typeface="Verdana" pitchFamily="34" charset="0"/>
                    <a:cs typeface="Helvetica Neue"/>
                  </a:rPr>
                  <a:t>.</a:t>
                </a:r>
                <a:endParaRPr lang="en-PH" sz="2400" dirty="0">
                  <a:latin typeface="Verdana" pitchFamily="34" charset="0"/>
                  <a:ea typeface="Verdana" pitchFamily="34" charset="0"/>
                  <a:cs typeface="Times New Roman"/>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r>
                  <a:rPr lang="en-US" sz="2400" dirty="0">
                    <a:latin typeface="Verdana" pitchFamily="34" charset="0"/>
                    <a:ea typeface="Verdana" pitchFamily="34" charset="0"/>
                    <a:cs typeface="Helvetica Neue"/>
                  </a:rPr>
                  <a:t>Write the solution set in set-builder notation.</a:t>
                </a:r>
                <a:endParaRPr lang="en-PH" sz="2400" dirty="0">
                  <a:latin typeface="Verdana" pitchFamily="34" charset="0"/>
                  <a:ea typeface="Verdana" pitchFamily="34" charset="0"/>
                  <a:cs typeface="Times New Roman"/>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r>
                  <a:rPr lang="en-US" sz="2400" dirty="0">
                    <a:latin typeface="Verdana" pitchFamily="34" charset="0"/>
                    <a:ea typeface="Verdana" pitchFamily="34" charset="0"/>
                    <a:cs typeface="Helvetica Neue"/>
                  </a:rPr>
                  <a:t>Graph the solution set.</a:t>
                </a:r>
                <a:endParaRPr lang="en-PH" sz="2400" dirty="0">
                  <a:latin typeface="Verdana" pitchFamily="34" charset="0"/>
                  <a:ea typeface="Verdana" pitchFamily="34" charset="0"/>
                  <a:cs typeface="Times New Roman"/>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4687245"/>
              </a:xfrm>
              <a:prstGeom prst="rect">
                <a:avLst/>
              </a:prstGeom>
              <a:blipFill>
                <a:blip r:embed="rId4"/>
                <a:stretch>
                  <a:fillRect t="-1040" b="-1951"/>
                </a:stretch>
              </a:blipFill>
            </p:spPr>
            <p:txBody>
              <a:bodyPr/>
              <a:lstStyle/>
              <a:p>
                <a:r>
                  <a:rPr lang="en-US">
                    <a:noFill/>
                  </a:rPr>
                  <a:t> </a:t>
                </a:r>
              </a:p>
            </p:txBody>
          </p:sp>
        </mc:Fallback>
      </mc:AlternateContent>
      <p:pic>
        <p:nvPicPr>
          <p:cNvPr id="6" name="Picture 5"/>
          <p:cNvPicPr/>
          <p:nvPr/>
        </p:nvPicPr>
        <p:blipFill>
          <a:blip r:embed="rId5" cstate="screen">
            <a:extLst>
              <a:ext uri="{28A0092B-C50C-407E-A947-70E740481C1C}">
                <a14:useLocalDpi xmlns:a14="http://schemas.microsoft.com/office/drawing/2010/main"/>
              </a:ext>
            </a:extLst>
          </a:blip>
          <a:stretch>
            <a:fillRect/>
          </a:stretch>
        </p:blipFill>
        <p:spPr>
          <a:xfrm>
            <a:off x="2430565" y="5460605"/>
            <a:ext cx="7483270" cy="487028"/>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295</a:t>
            </a:r>
            <a:endParaRPr i="1" dirty="0">
              <a:latin typeface="Calibri"/>
              <a:ea typeface="Calibri"/>
              <a:cs typeface="Calibri"/>
              <a:sym typeface="Calibri"/>
            </a:endParaRPr>
          </a:p>
        </p:txBody>
      </p:sp>
    </p:spTree>
    <p:extLst>
      <p:ext uri="{BB962C8B-B14F-4D97-AF65-F5344CB8AC3E}">
        <p14:creationId xmlns:p14="http://schemas.microsoft.com/office/powerpoint/2010/main" val="2149778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descr="Black Crappie"/>
          <p:cNvPicPr/>
          <p:nvPr/>
        </p:nvPicPr>
        <p:blipFill rotWithShape="1">
          <a:blip r:embed="rId3" cstate="screen">
            <a:extLst>
              <a:ext uri="{28A0092B-C50C-407E-A947-70E740481C1C}">
                <a14:useLocalDpi xmlns:a14="http://schemas.microsoft.com/office/drawing/2010/main"/>
              </a:ext>
            </a:extLst>
          </a:blip>
          <a:srcRect t="8664" b="9836"/>
          <a:stretch/>
        </p:blipFill>
        <p:spPr bwMode="auto">
          <a:xfrm>
            <a:off x="7477524" y="226847"/>
            <a:ext cx="3020151" cy="1639877"/>
          </a:xfrm>
          <a:prstGeom prst="rect">
            <a:avLst/>
          </a:prstGeom>
          <a:noFill/>
          <a:ln>
            <a:noFill/>
          </a:ln>
        </p:spPr>
      </p:pic>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399" y="520393"/>
                <a:ext cx="6151419" cy="5786199"/>
              </a:xfrm>
              <a:prstGeom prst="rect">
                <a:avLst/>
              </a:prstGeom>
              <a:noFill/>
            </p:spPr>
            <p:txBody>
              <a:bodyPr wrap="square" rtlCol="0">
                <a:spAutoFit/>
              </a:bodyPr>
              <a:lstStyle/>
              <a:p>
                <a:pPr marL="457200" indent="-457200">
                  <a:spcAft>
                    <a:spcPts val="1200"/>
                  </a:spcAft>
                  <a:buFont typeface="+mj-lt"/>
                  <a:buAutoNum type="arabicPeriod" startAt="2"/>
                </a:pPr>
                <a:r>
                  <a:rPr lang="en-US" sz="2000" dirty="0">
                    <a:latin typeface="Verdana" pitchFamily="34" charset="0"/>
                    <a:ea typeface="Verdana" pitchFamily="34" charset="0"/>
                    <a:cs typeface="Helvetica Neue"/>
                  </a:rPr>
                  <a:t>Lake </a:t>
                </a:r>
                <a:r>
                  <a:rPr lang="en-US" sz="2000" dirty="0" err="1">
                    <a:latin typeface="Verdana" pitchFamily="34" charset="0"/>
                    <a:ea typeface="Verdana" pitchFamily="34" charset="0"/>
                    <a:cs typeface="Helvetica Neue"/>
                  </a:rPr>
                  <a:t>Talquin</a:t>
                </a:r>
                <a:r>
                  <a:rPr lang="en-US" sz="2000" dirty="0">
                    <a:latin typeface="Verdana" pitchFamily="34" charset="0"/>
                    <a:ea typeface="Verdana" pitchFamily="34" charset="0"/>
                    <a:cs typeface="Helvetica Neue"/>
                  </a:rPr>
                  <a:t> in northern Florida is known to have Calico Bass, a freshwater species that prefers warm climates. The equation </a:t>
                </a:r>
                <a14:m>
                  <m:oMath xmlns:m="http://schemas.openxmlformats.org/officeDocument/2006/math">
                    <m:r>
                      <a:rPr lang="en-US" sz="2000" i="1">
                        <a:latin typeface="Cambria Math"/>
                        <a:ea typeface="Helvetica Neue"/>
                        <a:cs typeface="Helvetica Neue"/>
                      </a:rPr>
                      <m:t>𝑙</m:t>
                    </m:r>
                    <m:r>
                      <a:rPr lang="en-US" sz="2000" i="1">
                        <a:latin typeface="Cambria Math"/>
                        <a:ea typeface="Helvetica Neue"/>
                        <a:cs typeface="Helvetica Neue"/>
                      </a:rPr>
                      <m:t>=3.08</m:t>
                    </m:r>
                    <m:r>
                      <a:rPr lang="en-US" sz="2000" i="1">
                        <a:latin typeface="Cambria Math"/>
                        <a:ea typeface="Helvetica Neue"/>
                        <a:cs typeface="Helvetica Neue"/>
                      </a:rPr>
                      <m:t>𝑤</m:t>
                    </m:r>
                    <m:r>
                      <a:rPr lang="en-US" sz="2000" i="1">
                        <a:latin typeface="Cambria Math"/>
                        <a:ea typeface="Helvetica Neue"/>
                        <a:cs typeface="Helvetica Neue"/>
                      </a:rPr>
                      <m:t>+7.844</m:t>
                    </m:r>
                  </m:oMath>
                </a14:m>
                <a:r>
                  <a:rPr lang="en-US" sz="2000" dirty="0">
                    <a:latin typeface="Verdana" pitchFamily="34" charset="0"/>
                    <a:ea typeface="Verdana" pitchFamily="34" charset="0"/>
                    <a:cs typeface="Helvetica Neue"/>
                  </a:rPr>
                  <a:t> models the relationship </a:t>
                </a:r>
                <a:br>
                  <a:rPr lang="en-US" sz="2000" dirty="0">
                    <a:latin typeface="Verdana" pitchFamily="34" charset="0"/>
                    <a:ea typeface="Verdana" pitchFamily="34" charset="0"/>
                    <a:cs typeface="Helvetica Neue"/>
                  </a:rPr>
                </a:br>
                <a:r>
                  <a:rPr lang="en-US" sz="2000" dirty="0">
                    <a:latin typeface="Verdana" pitchFamily="34" charset="0"/>
                    <a:ea typeface="Verdana" pitchFamily="34" charset="0"/>
                    <a:cs typeface="Helvetica Neue"/>
                  </a:rPr>
                  <a:t>between the length, </a:t>
                </a:r>
                <a:br>
                  <a:rPr lang="en-US" sz="2000" dirty="0">
                    <a:latin typeface="Verdana" pitchFamily="34" charset="0"/>
                    <a:ea typeface="Verdana" pitchFamily="34" charset="0"/>
                    <a:cs typeface="Helvetica Neue"/>
                  </a:rPr>
                </a:br>
                <a14:m>
                  <m:oMath xmlns:m="http://schemas.openxmlformats.org/officeDocument/2006/math">
                    <m:r>
                      <a:rPr lang="en-US" sz="2000" i="1">
                        <a:latin typeface="Cambria Math"/>
                        <a:ea typeface="Helvetica Neue"/>
                        <a:cs typeface="Helvetica Neue"/>
                      </a:rPr>
                      <m:t>𝑙</m:t>
                    </m:r>
                  </m:oMath>
                </a14:m>
                <a:r>
                  <a:rPr lang="en-US" sz="2000" dirty="0">
                    <a:latin typeface="Verdana" pitchFamily="34" charset="0"/>
                    <a:ea typeface="Verdana" pitchFamily="34" charset="0"/>
                    <a:cs typeface="Helvetica Neue"/>
                  </a:rPr>
                  <a:t> and the weight, </a:t>
                </a:r>
                <a14:m>
                  <m:oMath xmlns:m="http://schemas.openxmlformats.org/officeDocument/2006/math">
                    <m:r>
                      <a:rPr lang="en-US" sz="2000" i="1">
                        <a:latin typeface="Cambria Math"/>
                        <a:ea typeface="Helvetica Neue"/>
                        <a:cs typeface="Helvetica Neue"/>
                      </a:rPr>
                      <m:t>𝑤</m:t>
                    </m:r>
                  </m:oMath>
                </a14:m>
                <a:r>
                  <a:rPr lang="en-US" sz="2000" dirty="0">
                    <a:latin typeface="Verdana" pitchFamily="34" charset="0"/>
                    <a:ea typeface="Verdana" pitchFamily="34" charset="0"/>
                    <a:cs typeface="Helvetica Neue"/>
                  </a:rPr>
                  <a:t>, of </a:t>
                </a:r>
                <a:br>
                  <a:rPr lang="en-US" sz="2000" dirty="0">
                    <a:latin typeface="Verdana" pitchFamily="34" charset="0"/>
                    <a:ea typeface="Verdana" pitchFamily="34" charset="0"/>
                    <a:cs typeface="Helvetica Neue"/>
                  </a:rPr>
                </a:br>
                <a:r>
                  <a:rPr lang="en-US" sz="2000" dirty="0">
                    <a:latin typeface="Verdana" pitchFamily="34" charset="0"/>
                    <a:ea typeface="Verdana" pitchFamily="34" charset="0"/>
                    <a:cs typeface="Helvetica Neue"/>
                  </a:rPr>
                  <a:t>the average Calico Bass. </a:t>
                </a:r>
                <a:br>
                  <a:rPr lang="en-US" sz="2000" dirty="0">
                    <a:latin typeface="Verdana" pitchFamily="34" charset="0"/>
                    <a:ea typeface="Verdana" pitchFamily="34" charset="0"/>
                    <a:cs typeface="Helvetica Neue"/>
                  </a:rPr>
                </a:br>
                <a:r>
                  <a:rPr lang="en-US" sz="2000" dirty="0">
                    <a:latin typeface="Verdana" pitchFamily="34" charset="0"/>
                    <a:ea typeface="Verdana" pitchFamily="34" charset="0"/>
                    <a:cs typeface="Helvetica Neue"/>
                  </a:rPr>
                  <a:t>The graph of the </a:t>
                </a:r>
                <a:br>
                  <a:rPr lang="en-US" sz="2000" dirty="0">
                    <a:latin typeface="Verdana" pitchFamily="34" charset="0"/>
                    <a:ea typeface="Verdana" pitchFamily="34" charset="0"/>
                    <a:cs typeface="Helvetica Neue"/>
                  </a:rPr>
                </a:br>
                <a:r>
                  <a:rPr lang="en-US" sz="2000" dirty="0">
                    <a:latin typeface="Verdana" pitchFamily="34" charset="0"/>
                    <a:ea typeface="Verdana" pitchFamily="34" charset="0"/>
                    <a:cs typeface="Helvetica Neue"/>
                  </a:rPr>
                  <a:t>relationship is shown.</a:t>
                </a:r>
                <a:endParaRPr lang="en-PH" sz="2000" dirty="0">
                  <a:latin typeface="Verdana" pitchFamily="34" charset="0"/>
                  <a:ea typeface="Verdana" pitchFamily="34" charset="0"/>
                  <a:cs typeface="Times New Roman"/>
                </a:endParaRPr>
              </a:p>
              <a:p>
                <a:pPr marL="457200"/>
                <a:r>
                  <a:rPr lang="en-US" sz="2000" dirty="0">
                    <a:latin typeface="Verdana"/>
                    <a:ea typeface="Helvetica Neue"/>
                    <a:cs typeface="Helvetica Neue"/>
                  </a:rPr>
                  <a:t>Any Calico Bass caught in </a:t>
                </a:r>
                <a:br>
                  <a:rPr lang="en-US" sz="2000" dirty="0">
                    <a:latin typeface="Verdana"/>
                    <a:ea typeface="Helvetica Neue"/>
                    <a:cs typeface="Helvetica Neue"/>
                  </a:rPr>
                </a:br>
                <a:r>
                  <a:rPr lang="en-US" sz="2000" dirty="0">
                    <a:latin typeface="Verdana"/>
                    <a:ea typeface="Helvetica Neue"/>
                    <a:cs typeface="Helvetica Neue"/>
                  </a:rPr>
                  <a:t>Lake </a:t>
                </a:r>
                <a:r>
                  <a:rPr lang="en-US" sz="2000" dirty="0" err="1">
                    <a:latin typeface="Verdana"/>
                    <a:ea typeface="Helvetica Neue"/>
                    <a:cs typeface="Helvetica Neue"/>
                  </a:rPr>
                  <a:t>Talquin</a:t>
                </a:r>
                <a:r>
                  <a:rPr lang="en-US" sz="2000" dirty="0">
                    <a:latin typeface="Verdana"/>
                    <a:ea typeface="Helvetica Neue"/>
                    <a:cs typeface="Helvetica Neue"/>
                  </a:rPr>
                  <a:t> that is less </a:t>
                </a:r>
                <a:br>
                  <a:rPr lang="en-US" sz="2000" dirty="0">
                    <a:latin typeface="Verdana"/>
                    <a:ea typeface="Helvetica Neue"/>
                    <a:cs typeface="Helvetica Neue"/>
                  </a:rPr>
                </a:br>
                <a:r>
                  <a:rPr lang="en-US" sz="2000" dirty="0">
                    <a:latin typeface="Verdana"/>
                    <a:ea typeface="Helvetica Neue"/>
                    <a:cs typeface="Helvetica Neue"/>
                  </a:rPr>
                  <a:t>than </a:t>
                </a:r>
                <a14:m>
                  <m:oMath xmlns:m="http://schemas.openxmlformats.org/officeDocument/2006/math">
                    <m:r>
                      <a:rPr lang="en-US" sz="2000" i="1">
                        <a:latin typeface="Cambria Math"/>
                        <a:ea typeface="Helvetica Neue"/>
                        <a:cs typeface="Helvetica Neue"/>
                      </a:rPr>
                      <m:t>10</m:t>
                    </m:r>
                  </m:oMath>
                </a14:m>
                <a:r>
                  <a:rPr lang="en-US" sz="2000" dirty="0">
                    <a:latin typeface="Verdana"/>
                    <a:ea typeface="Helvetica Neue"/>
                    <a:cs typeface="Helvetica Neue"/>
                  </a:rPr>
                  <a:t> inches (in.) long </a:t>
                </a:r>
                <a:br>
                  <a:rPr lang="en-US" sz="2000" dirty="0">
                    <a:latin typeface="Verdana"/>
                    <a:ea typeface="Helvetica Neue"/>
                    <a:cs typeface="Helvetica Neue"/>
                  </a:rPr>
                </a:br>
                <a:r>
                  <a:rPr lang="en-US" sz="2000" dirty="0">
                    <a:latin typeface="Verdana"/>
                    <a:ea typeface="Helvetica Neue"/>
                    <a:cs typeface="Helvetica Neue"/>
                  </a:rPr>
                  <a:t>must be released </a:t>
                </a:r>
                <a:br>
                  <a:rPr lang="en-US" sz="2000" dirty="0">
                    <a:latin typeface="Verdana"/>
                    <a:ea typeface="Helvetica Neue"/>
                    <a:cs typeface="Helvetica Neue"/>
                  </a:rPr>
                </a:br>
                <a:r>
                  <a:rPr lang="en-US" sz="2000" dirty="0">
                    <a:latin typeface="Verdana"/>
                    <a:ea typeface="Helvetica Neue"/>
                    <a:cs typeface="Helvetica Neue"/>
                  </a:rPr>
                  <a:t>immediately. The inequality </a:t>
                </a:r>
                <a:br>
                  <a:rPr lang="en-US" sz="2000" dirty="0">
                    <a:latin typeface="Verdana"/>
                    <a:ea typeface="Helvetica Neue"/>
                    <a:cs typeface="Helvetica Neue"/>
                  </a:rPr>
                </a:br>
                <a14:m>
                  <m:oMath xmlns:m="http://schemas.openxmlformats.org/officeDocument/2006/math">
                    <m:r>
                      <a:rPr lang="en-US" sz="2000" i="1">
                        <a:latin typeface="Cambria Math"/>
                        <a:ea typeface="Helvetica Neue"/>
                        <a:cs typeface="Helvetica Neue"/>
                      </a:rPr>
                      <m:t>3.08</m:t>
                    </m:r>
                    <m:r>
                      <a:rPr lang="en-US" sz="2000" i="1">
                        <a:latin typeface="Cambria Math"/>
                        <a:ea typeface="Helvetica Neue"/>
                        <a:cs typeface="Helvetica Neue"/>
                      </a:rPr>
                      <m:t>𝑤</m:t>
                    </m:r>
                    <m:r>
                      <a:rPr lang="en-US" sz="2000" i="1">
                        <a:latin typeface="Cambria Math"/>
                        <a:ea typeface="Helvetica Neue"/>
                        <a:cs typeface="Helvetica Neue"/>
                      </a:rPr>
                      <m:t>+7.844≥10</m:t>
                    </m:r>
                  </m:oMath>
                </a14:m>
                <a:r>
                  <a:rPr lang="en-US" sz="2000" dirty="0">
                    <a:latin typeface="Verdana"/>
                    <a:ea typeface="Helvetica Neue"/>
                    <a:cs typeface="Helvetica Neue"/>
                  </a:rPr>
                  <a:t> can be </a:t>
                </a:r>
                <a:br>
                  <a:rPr lang="en-US" sz="2000" dirty="0">
                    <a:latin typeface="Verdana"/>
                    <a:ea typeface="Helvetica Neue"/>
                    <a:cs typeface="Helvetica Neue"/>
                  </a:rPr>
                </a:br>
                <a:r>
                  <a:rPr lang="en-US" sz="2000" dirty="0">
                    <a:latin typeface="Verdana"/>
                    <a:ea typeface="Helvetica Neue"/>
                    <a:cs typeface="Helvetica Neue"/>
                  </a:rPr>
                  <a:t>used to determine whether </a:t>
                </a:r>
                <a:br>
                  <a:rPr lang="en-US" sz="2000" dirty="0">
                    <a:latin typeface="Verdana"/>
                    <a:ea typeface="Helvetica Neue"/>
                    <a:cs typeface="Helvetica Neue"/>
                  </a:rPr>
                </a:br>
                <a:r>
                  <a:rPr lang="en-US" sz="2000" dirty="0">
                    <a:latin typeface="Verdana"/>
                    <a:ea typeface="Helvetica Neue"/>
                    <a:cs typeface="Helvetica Neue"/>
                  </a:rPr>
                  <a:t>a Calico Bass can be kept </a:t>
                </a:r>
                <a:br>
                  <a:rPr lang="en-US" sz="2000" dirty="0">
                    <a:latin typeface="Verdana"/>
                    <a:ea typeface="Helvetica Neue"/>
                    <a:cs typeface="Helvetica Neue"/>
                  </a:rPr>
                </a:br>
                <a:r>
                  <a:rPr lang="en-US" sz="2000" dirty="0">
                    <a:latin typeface="Verdana"/>
                    <a:ea typeface="Helvetica Neue"/>
                    <a:cs typeface="Helvetica Neue"/>
                  </a:rPr>
                  <a:t>once caught.</a:t>
                </a:r>
                <a:endParaRPr lang="en-PH" sz="2000" dirty="0">
                  <a:latin typeface="Cambria"/>
                  <a:ea typeface="MS Mincho"/>
                  <a:cs typeface="Times New Roman"/>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399" y="520393"/>
                <a:ext cx="6151419" cy="5786199"/>
              </a:xfrm>
              <a:prstGeom prst="rect">
                <a:avLst/>
              </a:prstGeom>
              <a:blipFill>
                <a:blip r:embed="rId5"/>
                <a:stretch>
                  <a:fillRect l="-1090" t="-632" b="-842"/>
                </a:stretch>
              </a:blipFill>
            </p:spPr>
            <p:txBody>
              <a:bodyPr/>
              <a:lstStyle/>
              <a:p>
                <a:r>
                  <a:rPr lang="en-US">
                    <a:noFill/>
                  </a:rPr>
                  <a:t> </a:t>
                </a:r>
              </a:p>
            </p:txBody>
          </p:sp>
        </mc:Fallback>
      </mc:AlternateContent>
      <p:pic>
        <p:nvPicPr>
          <p:cNvPr id="7170" name="Picture 2"/>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139137" y="1866725"/>
            <a:ext cx="4676775"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296</a:t>
            </a:r>
            <a:endParaRPr i="1" dirty="0">
              <a:latin typeface="Calibri"/>
              <a:ea typeface="Calibri"/>
              <a:cs typeface="Calibri"/>
              <a:sym typeface="Calibri"/>
            </a:endParaRPr>
          </a:p>
        </p:txBody>
      </p:sp>
    </p:spTree>
    <p:extLst>
      <p:ext uri="{BB962C8B-B14F-4D97-AF65-F5344CB8AC3E}">
        <p14:creationId xmlns:p14="http://schemas.microsoft.com/office/powerpoint/2010/main" val="4056051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524315"/>
              </a:xfrm>
              <a:prstGeom prst="rect">
                <a:avLst/>
              </a:prstGeom>
              <a:noFill/>
            </p:spPr>
            <p:txBody>
              <a:bodyPr wrap="square" rtlCol="0">
                <a:spAutoFit/>
              </a:bodyPr>
              <a:lstStyle/>
              <a:p>
                <a:pPr marL="914400" indent="-457200">
                  <a:buFont typeface="+mj-lt"/>
                  <a:buAutoNum type="alphaLcPeriod"/>
                </a:pPr>
                <a:r>
                  <a:rPr lang="en-US" sz="2400" dirty="0">
                    <a:latin typeface="Verdana" pitchFamily="34" charset="0"/>
                    <a:ea typeface="Verdana" pitchFamily="34" charset="0"/>
                    <a:cs typeface="Helvetica Neue"/>
                  </a:rPr>
                  <a:t>Solve the inequality </a:t>
                </a:r>
                <a14:m>
                  <m:oMath xmlns:m="http://schemas.openxmlformats.org/officeDocument/2006/math">
                    <m:r>
                      <a:rPr lang="en-US" sz="2400" i="1">
                        <a:latin typeface="Cambria Math"/>
                        <a:ea typeface="Helvetica Neue"/>
                        <a:cs typeface="Helvetica Neue"/>
                      </a:rPr>
                      <m:t>3.08</m:t>
                    </m:r>
                    <m:r>
                      <a:rPr lang="en-US" sz="2400" i="1">
                        <a:latin typeface="Cambria Math"/>
                        <a:ea typeface="Helvetica Neue"/>
                        <a:cs typeface="Helvetica Neue"/>
                      </a:rPr>
                      <m:t>𝑤</m:t>
                    </m:r>
                    <m:r>
                      <a:rPr lang="en-US" sz="2400" i="1">
                        <a:latin typeface="Cambria Math"/>
                        <a:ea typeface="Helvetica Neue"/>
                        <a:cs typeface="Helvetica Neue"/>
                      </a:rPr>
                      <m:t>+7.844≥10</m:t>
                    </m:r>
                  </m:oMath>
                </a14:m>
                <a:r>
                  <a:rPr lang="en-US" sz="2400" dirty="0">
                    <a:latin typeface="Verdana" pitchFamily="34" charset="0"/>
                    <a:ea typeface="Verdana" pitchFamily="34" charset="0"/>
                    <a:cs typeface="Helvetica Neue"/>
                  </a:rPr>
                  <a:t>.</a:t>
                </a:r>
                <a:endParaRPr lang="en-PH" sz="2400" dirty="0">
                  <a:latin typeface="Verdana" pitchFamily="34" charset="0"/>
                  <a:ea typeface="Verdana" pitchFamily="34" charset="0"/>
                  <a:cs typeface="Times New Roman"/>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r>
                  <a:rPr lang="en-US" sz="2400" dirty="0">
                    <a:latin typeface="Verdana" pitchFamily="34" charset="0"/>
                    <a:ea typeface="Verdana" pitchFamily="34" charset="0"/>
                    <a:cs typeface="Helvetica Neue"/>
                  </a:rPr>
                  <a:t>Explain what the solution set represents in the context.</a:t>
                </a:r>
                <a:endParaRPr lang="en-PH" sz="2400" dirty="0">
                  <a:latin typeface="Verdana" pitchFamily="34" charset="0"/>
                  <a:ea typeface="Verdana" pitchFamily="34" charset="0"/>
                  <a:cs typeface="Times New Roman"/>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endParaRPr lang="en-US" sz="2400" dirty="0">
                  <a:latin typeface="Verdana" pitchFamily="34" charset="0"/>
                  <a:ea typeface="Verdana" pitchFamily="34" charset="0"/>
                  <a:cs typeface="Helvetica Neue"/>
                </a:endParaRPr>
              </a:p>
              <a:p>
                <a:pPr marL="914400" indent="-457200">
                  <a:buFont typeface="+mj-lt"/>
                  <a:buAutoNum type="alphaLcPeriod"/>
                </a:pPr>
                <a:r>
                  <a:rPr lang="en-US" sz="2400" dirty="0">
                    <a:latin typeface="Verdana" pitchFamily="34" charset="0"/>
                    <a:ea typeface="Verdana" pitchFamily="34" charset="0"/>
                    <a:cs typeface="Helvetica Neue"/>
                  </a:rPr>
                  <a:t>Graph the solution set.</a:t>
                </a:r>
                <a:endParaRPr lang="en-PH" sz="2400" dirty="0">
                  <a:latin typeface="Verdana" pitchFamily="34" charset="0"/>
                  <a:ea typeface="Verdana" pitchFamily="34" charset="0"/>
                  <a:cs typeface="Times New Roman"/>
                </a:endParaRPr>
              </a:p>
              <a:p>
                <a:pPr marL="892175" indent="-457200">
                  <a:buFont typeface="+mj-lt"/>
                  <a:buAutoNum type="alphaLcPeriod"/>
                </a:pPr>
                <a:endParaRPr lang="en-US" sz="2400" dirty="0">
                  <a:latin typeface="Verdana" pitchFamily="34" charset="0"/>
                  <a:ea typeface="Verdana" pitchFamily="34" charset="0"/>
                  <a:cs typeface="Helvetica Neue"/>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4524315"/>
              </a:xfrm>
              <a:prstGeom prst="rect">
                <a:avLst/>
              </a:prstGeom>
              <a:blipFill>
                <a:blip r:embed="rId4"/>
                <a:stretch>
                  <a:fillRect t="-1211"/>
                </a:stretch>
              </a:blipFill>
            </p:spPr>
            <p:txBody>
              <a:bodyPr/>
              <a:lstStyle/>
              <a:p>
                <a:r>
                  <a:rPr lang="en-US">
                    <a:noFill/>
                  </a:rPr>
                  <a:t> </a:t>
                </a:r>
              </a:p>
            </p:txBody>
          </p:sp>
        </mc:Fallback>
      </mc:AlternateContent>
      <p:pic>
        <p:nvPicPr>
          <p:cNvPr id="6" name="Picture 5"/>
          <p:cNvPicPr/>
          <p:nvPr/>
        </p:nvPicPr>
        <p:blipFill>
          <a:blip r:embed="rId5" cstate="screen">
            <a:extLst>
              <a:ext uri="{28A0092B-C50C-407E-A947-70E740481C1C}">
                <a14:useLocalDpi xmlns:a14="http://schemas.microsoft.com/office/drawing/2010/main"/>
              </a:ext>
            </a:extLst>
          </a:blip>
          <a:stretch>
            <a:fillRect/>
          </a:stretch>
        </p:blipFill>
        <p:spPr>
          <a:xfrm>
            <a:off x="3001850" y="5149245"/>
            <a:ext cx="6946900" cy="529590"/>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296</a:t>
            </a:r>
            <a:endParaRPr i="1" dirty="0">
              <a:latin typeface="Calibri"/>
              <a:ea typeface="Calibri"/>
              <a:cs typeface="Calibri"/>
              <a:sym typeface="Calibri"/>
            </a:endParaRPr>
          </a:p>
        </p:txBody>
      </p:sp>
    </p:spTree>
    <p:extLst>
      <p:ext uri="{BB962C8B-B14F-4D97-AF65-F5344CB8AC3E}">
        <p14:creationId xmlns:p14="http://schemas.microsoft.com/office/powerpoint/2010/main" val="3567089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3785652"/>
              </a:xfrm>
              <a:prstGeom prst="rect">
                <a:avLst/>
              </a:prstGeom>
              <a:noFill/>
            </p:spPr>
            <p:txBody>
              <a:bodyPr wrap="square" rtlCol="0">
                <a:spAutoFit/>
              </a:bodyPr>
              <a:lstStyle/>
              <a:p>
                <a:pPr marL="914400" indent="-457200">
                  <a:buFont typeface="+mj-lt"/>
                  <a:buAutoNum type="alphaLcPeriod" startAt="4"/>
                </a:pPr>
                <a:r>
                  <a:rPr lang="en-US" sz="2400" dirty="0">
                    <a:latin typeface="Verdana"/>
                    <a:ea typeface="Helvetica Neue"/>
                    <a:cs typeface="Helvetica Neue"/>
                  </a:rPr>
                  <a:t>Lucia was fishing in Lake </a:t>
                </a:r>
                <a:r>
                  <a:rPr lang="en-US" sz="2400" dirty="0" err="1">
                    <a:latin typeface="Verdana"/>
                    <a:ea typeface="Helvetica Neue"/>
                    <a:cs typeface="Helvetica Neue"/>
                  </a:rPr>
                  <a:t>Talquin</a:t>
                </a:r>
                <a:r>
                  <a:rPr lang="en-US" sz="2400" dirty="0">
                    <a:latin typeface="Verdana"/>
                    <a:ea typeface="Helvetica Neue"/>
                    <a:cs typeface="Helvetica Neue"/>
                  </a:rPr>
                  <a:t> and caught a Calico Bass that weighed </a:t>
                </a:r>
                <a14:m>
                  <m:oMath xmlns:m="http://schemas.openxmlformats.org/officeDocument/2006/math">
                    <m:r>
                      <a:rPr lang="en-US" sz="2400" i="1">
                        <a:latin typeface="Cambria Math"/>
                        <a:ea typeface="Helvetica Neue"/>
                        <a:cs typeface="Helvetica Neue"/>
                      </a:rPr>
                      <m:t>0.58</m:t>
                    </m:r>
                  </m:oMath>
                </a14:m>
                <a:r>
                  <a:rPr lang="en-US" sz="2400" dirty="0">
                    <a:latin typeface="Verdana"/>
                    <a:ea typeface="Helvetica Neue"/>
                    <a:cs typeface="Helvetica Neue"/>
                  </a:rPr>
                  <a:t> pounds. Use the solution set to explain whether or not Lucia needs to release the fish.</a:t>
                </a:r>
                <a:endParaRPr lang="en-PH" sz="1600" dirty="0">
                  <a:latin typeface="Cambria"/>
                  <a:ea typeface="MS Mincho"/>
                  <a:cs typeface="Times New Roman"/>
                </a:endParaRPr>
              </a:p>
              <a:p>
                <a:pPr marL="914400" indent="-457200">
                  <a:buFont typeface="+mj-lt"/>
                  <a:buAutoNum type="alphaLcPeriod" startAt="4"/>
                </a:pPr>
                <a:endParaRPr lang="en-US" sz="2400" dirty="0">
                  <a:latin typeface="Verdana"/>
                  <a:ea typeface="Helvetica Neue"/>
                  <a:cs typeface="Helvetica Neue"/>
                </a:endParaRPr>
              </a:p>
              <a:p>
                <a:pPr marL="914400" indent="-457200">
                  <a:buFont typeface="+mj-lt"/>
                  <a:buAutoNum type="alphaLcPeriod" startAt="4"/>
                </a:pPr>
                <a:endParaRPr lang="en-US" sz="2400" dirty="0">
                  <a:latin typeface="Verdana"/>
                  <a:ea typeface="Helvetica Neue"/>
                  <a:cs typeface="Helvetica Neue"/>
                </a:endParaRPr>
              </a:p>
              <a:p>
                <a:pPr marL="914400" indent="-457200">
                  <a:buFont typeface="+mj-lt"/>
                  <a:buAutoNum type="alphaLcPeriod" startAt="4"/>
                </a:pPr>
                <a:endParaRPr lang="en-US" sz="2400" dirty="0">
                  <a:latin typeface="Verdana"/>
                  <a:ea typeface="Helvetica Neue"/>
                  <a:cs typeface="Helvetica Neue"/>
                </a:endParaRPr>
              </a:p>
              <a:p>
                <a:pPr marL="914400" indent="-457200">
                  <a:buFont typeface="+mj-lt"/>
                  <a:buAutoNum type="alphaLcPeriod" startAt="4"/>
                </a:pPr>
                <a:endParaRPr lang="en-US" sz="2400" dirty="0">
                  <a:latin typeface="Verdana"/>
                  <a:ea typeface="Helvetica Neue"/>
                  <a:cs typeface="Helvetica Neue"/>
                </a:endParaRPr>
              </a:p>
              <a:p>
                <a:pPr marL="914400" indent="-457200">
                  <a:buFont typeface="+mj-lt"/>
                  <a:buAutoNum type="alphaLcPeriod" startAt="4"/>
                </a:pPr>
                <a:r>
                  <a:rPr lang="en-US" sz="2400" dirty="0">
                    <a:latin typeface="Verdana"/>
                    <a:ea typeface="Helvetica Neue"/>
                    <a:cs typeface="Helvetica Neue"/>
                  </a:rPr>
                  <a:t>Discuss with your partner whether there are any solutions to the mathematical inequality that are not viable in the real-world context. Summarize your discussion.</a:t>
                </a:r>
                <a:endParaRPr lang="en-PH" sz="1600" dirty="0">
                  <a:latin typeface="Cambria"/>
                  <a:ea typeface="MS Mincho"/>
                  <a:cs typeface="Times New Roman"/>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3785652"/>
              </a:xfrm>
              <a:prstGeom prst="rect">
                <a:avLst/>
              </a:prstGeom>
              <a:blipFill>
                <a:blip r:embed="rId4"/>
                <a:stretch>
                  <a:fillRect t="-1288" r="-1391" b="-2576"/>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296</a:t>
            </a:r>
            <a:endParaRPr i="1" dirty="0">
              <a:latin typeface="Calibri"/>
              <a:ea typeface="Calibri"/>
              <a:cs typeface="Calibri"/>
              <a:sym typeface="Calibri"/>
            </a:endParaRPr>
          </a:p>
        </p:txBody>
      </p:sp>
    </p:spTree>
    <p:extLst>
      <p:ext uri="{BB962C8B-B14F-4D97-AF65-F5344CB8AC3E}">
        <p14:creationId xmlns:p14="http://schemas.microsoft.com/office/powerpoint/2010/main" val="3007282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20743"/>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2999" y="110831"/>
            <a:ext cx="9770423" cy="6462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6.1.5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11480"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14400" y="1362276"/>
            <a:ext cx="10515600" cy="4524315"/>
          </a:xfrm>
          <a:prstGeom prst="rect">
            <a:avLst/>
          </a:prstGeom>
          <a:noFill/>
        </p:spPr>
        <p:txBody>
          <a:bodyPr wrap="square" rtlCol="0">
            <a:spAutoFit/>
          </a:bodyPr>
          <a:lstStyle/>
          <a:p>
            <a:r>
              <a:rPr lang="en-US" sz="2400" dirty="0">
                <a:latin typeface="Verdana" pitchFamily="34" charset="0"/>
                <a:ea typeface="Verdana" pitchFamily="34" charset="0"/>
                <a:cs typeface="Times New Roman"/>
              </a:rPr>
              <a:t>“Many of life's failures are people who did not realize how close they were to success when they gave up.” - Thomas Edison</a:t>
            </a:r>
            <a:endParaRPr lang="en-PH" sz="2400" dirty="0">
              <a:latin typeface="Verdana" pitchFamily="34" charset="0"/>
              <a:ea typeface="Verdana" pitchFamily="34" charset="0"/>
              <a:cs typeface="Times New Roman"/>
            </a:endParaRPr>
          </a:p>
          <a:p>
            <a:endParaRPr lang="en-PH" sz="2400" dirty="0">
              <a:latin typeface="Verdana" pitchFamily="34" charset="0"/>
              <a:ea typeface="Verdana" pitchFamily="34" charset="0"/>
              <a:cs typeface="Times New Roman"/>
            </a:endParaRPr>
          </a:p>
          <a:p>
            <a:pPr marL="457200" indent="-457200">
              <a:buFont typeface="+mj-lt"/>
              <a:buAutoNum type="arabicPeriod"/>
            </a:pPr>
            <a:r>
              <a:rPr lang="en-US" sz="2400" dirty="0">
                <a:latin typeface="Verdana" pitchFamily="34" charset="0"/>
                <a:ea typeface="Verdana" pitchFamily="34" charset="0"/>
                <a:cs typeface="Times New Roman"/>
              </a:rPr>
              <a:t>If you start to feel like quitting, what will you do in that moment to persevere?</a:t>
            </a:r>
            <a:endParaRPr lang="en-PH" sz="2400" dirty="0">
              <a:latin typeface="Verdana" pitchFamily="34" charset="0"/>
              <a:ea typeface="Verdana" pitchFamily="34" charset="0"/>
              <a:cs typeface="Times New Roman"/>
            </a:endParaRPr>
          </a:p>
          <a:p>
            <a:pPr marL="457200" indent="-457200">
              <a:buFont typeface="+mj-lt"/>
              <a:buAutoNum type="arabicPeriod"/>
            </a:pPr>
            <a:endParaRPr lang="en-US" sz="2400" dirty="0">
              <a:latin typeface="Verdana" pitchFamily="34" charset="0"/>
              <a:ea typeface="Verdana" pitchFamily="34" charset="0"/>
              <a:cs typeface="Times New Roman"/>
            </a:endParaRPr>
          </a:p>
          <a:p>
            <a:pPr marL="457200" indent="-457200">
              <a:buFont typeface="+mj-lt"/>
              <a:buAutoNum type="arabicPeriod"/>
            </a:pPr>
            <a:endParaRPr lang="en-US" sz="2400" dirty="0">
              <a:latin typeface="Verdana" pitchFamily="34" charset="0"/>
              <a:ea typeface="Verdana" pitchFamily="34" charset="0"/>
              <a:cs typeface="Times New Roman"/>
            </a:endParaRPr>
          </a:p>
          <a:p>
            <a:pPr marL="457200" indent="-457200">
              <a:buFont typeface="+mj-lt"/>
              <a:buAutoNum type="arabicPeriod"/>
            </a:pPr>
            <a:endParaRPr lang="en-US" sz="2400" dirty="0">
              <a:latin typeface="Verdana" pitchFamily="34" charset="0"/>
              <a:ea typeface="Verdana" pitchFamily="34" charset="0"/>
              <a:cs typeface="Times New Roman"/>
            </a:endParaRPr>
          </a:p>
          <a:p>
            <a:pPr marL="457200" indent="-457200">
              <a:buFont typeface="+mj-lt"/>
              <a:buAutoNum type="arabicPeriod"/>
            </a:pPr>
            <a:r>
              <a:rPr lang="en-US" sz="2400" dirty="0">
                <a:latin typeface="Verdana" pitchFamily="34" charset="0"/>
                <a:ea typeface="Verdana" pitchFamily="34" charset="0"/>
                <a:cs typeface="Times New Roman"/>
              </a:rPr>
              <a:t>What would you want your teacher to say to you when they see you taking a risk, trying hard, or pushing through mistakes to pursue this goal?</a:t>
            </a:r>
            <a:endParaRPr lang="en-PH" sz="2400" dirty="0">
              <a:latin typeface="Verdana" pitchFamily="34" charset="0"/>
              <a:ea typeface="Verdana" pitchFamily="34" charset="0"/>
              <a:cs typeface="Times New Roman"/>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1396</TotalTime>
  <Words>1610</Words>
  <Application>Microsoft Office PowerPoint</Application>
  <PresentationFormat>Widescreen</PresentationFormat>
  <Paragraphs>228</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Verdana</vt:lpstr>
      <vt:lpstr>Century Gothic</vt:lpstr>
      <vt:lpstr>Calibri</vt:lpstr>
      <vt:lpstr>Arial Black</vt:lpstr>
      <vt:lpstr>Cambria Math</vt:lpstr>
      <vt:lpstr>Courier New</vt:lpstr>
      <vt:lpstr>Arial</vt:lpstr>
      <vt:lpstr>Cambria</vt:lpstr>
      <vt:lpstr>1_Office Theme</vt:lpstr>
      <vt:lpstr>Algebra 1  Unit 6, Lesson 1  Solving Linear Inequalities in One Variable  Volume 1, pg. 291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30</cp:revision>
  <dcterms:created xsi:type="dcterms:W3CDTF">2015-03-17T18:51:18Z</dcterms:created>
  <dcterms:modified xsi:type="dcterms:W3CDTF">2022-06-24T17:49:54Z</dcterms:modified>
</cp:coreProperties>
</file>