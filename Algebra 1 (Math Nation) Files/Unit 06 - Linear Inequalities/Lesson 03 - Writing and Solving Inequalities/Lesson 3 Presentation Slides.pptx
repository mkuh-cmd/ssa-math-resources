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fntdata" ContentType="application/x-fontdata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48" r:id="rId1"/>
  </p:sldMasterIdLst>
  <p:notesMasterIdLst>
    <p:notesMasterId r:id="rId31"/>
  </p:notesMasterIdLst>
  <p:sldIdLst>
    <p:sldId id="256" r:id="rId2"/>
    <p:sldId id="257" r:id="rId3"/>
    <p:sldId id="285" r:id="rId4"/>
    <p:sldId id="286" r:id="rId5"/>
    <p:sldId id="261" r:id="rId6"/>
    <p:sldId id="287" r:id="rId7"/>
    <p:sldId id="288" r:id="rId8"/>
    <p:sldId id="314" r:id="rId9"/>
    <p:sldId id="315" r:id="rId10"/>
    <p:sldId id="332" r:id="rId11"/>
    <p:sldId id="342" r:id="rId12"/>
    <p:sldId id="343" r:id="rId13"/>
    <p:sldId id="311" r:id="rId14"/>
    <p:sldId id="312" r:id="rId15"/>
    <p:sldId id="333" r:id="rId16"/>
    <p:sldId id="289" r:id="rId17"/>
    <p:sldId id="290" r:id="rId18"/>
    <p:sldId id="336" r:id="rId19"/>
    <p:sldId id="344" r:id="rId20"/>
    <p:sldId id="345" r:id="rId21"/>
    <p:sldId id="317" r:id="rId22"/>
    <p:sldId id="318" r:id="rId23"/>
    <p:sldId id="334" r:id="rId24"/>
    <p:sldId id="346" r:id="rId25"/>
    <p:sldId id="347" r:id="rId26"/>
    <p:sldId id="348" r:id="rId27"/>
    <p:sldId id="306" r:id="rId28"/>
    <p:sldId id="307" r:id="rId29"/>
    <p:sldId id="341" r:id="rId30"/>
  </p:sldIdLst>
  <p:sldSz cx="12192000" cy="6858000"/>
  <p:notesSz cx="6858000" cy="9144000"/>
  <p:embeddedFontLst>
    <p:embeddedFont>
      <p:font typeface="Calibri" pitchFamily="34" charset="0"/>
      <p:regular r:id="rId32"/>
      <p:bold r:id="rId33"/>
      <p:italic r:id="rId34"/>
      <p:boldItalic r:id="rId35"/>
    </p:embeddedFont>
    <p:embeddedFont>
      <p:font typeface="Century Gothic" pitchFamily="34" charset="0"/>
      <p:regular r:id="rId36"/>
      <p:bold r:id="rId37"/>
      <p:italic r:id="rId38"/>
      <p:boldItalic r:id="rId39"/>
    </p:embeddedFont>
    <p:embeddedFont>
      <p:font typeface="Cambria Math" pitchFamily="18" charset="0"/>
      <p:regular r:id="rId40"/>
    </p:embeddedFont>
    <p:embeddedFont>
      <p:font typeface="Arial Black" pitchFamily="34" charset="0"/>
      <p:bold r:id="rId41"/>
    </p:embeddedFont>
    <p:embeddedFont>
      <p:font typeface="Verdana" pitchFamily="34" charset="0"/>
      <p:regular r:id="rId42"/>
      <p:bold r:id="rId43"/>
      <p:italic r:id="rId44"/>
      <p:boldItalic r:id="rId45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 xmlns="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http://customooxmlschemas.google.com/">
      <go:slidesCustomData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xmlns:go="http://customooxmlschemas.google.com/" r:id="rId55" roundtripDataSignature="AMtx7miXGu+iP6Z2M0kNO/4dLqrShsAMT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276C46"/>
    <a:srgbClr val="C9DF6F"/>
    <a:srgbClr val="417DBF"/>
    <a:srgbClr val="3F2A67"/>
    <a:srgbClr val="E24E5F"/>
    <a:srgbClr val="26B7D4"/>
    <a:srgbClr val="54B5D1"/>
    <a:srgbClr val="33BEA6"/>
    <a:srgbClr val="2DA48F"/>
    <a:srgbClr val="52BDA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xmlns="" val="0"/>
    </p:ext>
  </p:extLst>
</p:presentationPr>
</file>

<file path=ppt/tableStyles.xml><?xml version="1.0" encoding="utf-8"?>
<a:tblStyleLst xmlns:a="http://schemas.openxmlformats.org/drawingml/2006/main" def="{A91F0D33-8C57-4600-99A7-42BC86742BE1}">
  <a:tblStyle styleId="{A91F0D33-8C57-4600-99A7-42BC86742BE1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napVertSplitter="1" vertBarState="minimized" horzBarState="maximized">
    <p:restoredLeft sz="27822"/>
    <p:restoredTop sz="94722"/>
  </p:normalViewPr>
  <p:slideViewPr>
    <p:cSldViewPr snapToGrid="0">
      <p:cViewPr varScale="1">
        <p:scale>
          <a:sx n="68" d="100"/>
          <a:sy n="68" d="100"/>
        </p:scale>
        <p:origin x="-126" y="-1056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font" Target="fonts/font8.fntdata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font" Target="fonts/font3.fntdata"/><Relationship Id="rId42" Type="http://schemas.openxmlformats.org/officeDocument/2006/relationships/font" Target="fonts/font11.fntdata"/><Relationship Id="rId55" Type="http://customschemas.google.com/relationships/presentationmetadata" Target="meta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font" Target="fonts/font2.fntdata"/><Relationship Id="rId38" Type="http://schemas.openxmlformats.org/officeDocument/2006/relationships/font" Target="fonts/font7.fntdata"/><Relationship Id="rId59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font" Target="fonts/font10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font" Target="fonts/font1.fntdata"/><Relationship Id="rId37" Type="http://schemas.openxmlformats.org/officeDocument/2006/relationships/font" Target="fonts/font6.fntdata"/><Relationship Id="rId40" Type="http://schemas.openxmlformats.org/officeDocument/2006/relationships/font" Target="fonts/font9.fntdata"/><Relationship Id="rId45" Type="http://schemas.openxmlformats.org/officeDocument/2006/relationships/font" Target="fonts/font14.fntdata"/><Relationship Id="rId58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font" Target="fonts/font5.fntdata"/><Relationship Id="rId57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notesMaster" Target="notesMasters/notesMaster1.xml"/><Relationship Id="rId44" Type="http://schemas.openxmlformats.org/officeDocument/2006/relationships/font" Target="fonts/font13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font" Target="fonts/font4.fntdata"/><Relationship Id="rId43" Type="http://schemas.openxmlformats.org/officeDocument/2006/relationships/font" Target="fonts/font12.fntdata"/><Relationship Id="rId56" Type="http://schemas.openxmlformats.org/officeDocument/2006/relationships/presProps" Target="presProps.xml"/><Relationship Id="rId8" Type="http://schemas.openxmlformats.org/officeDocument/2006/relationships/slide" Target="slides/slide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765004599"/>
      </p:ext>
    </p:extLst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7" name="Google Shape;257;g104476d1465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8" name="Google Shape;258;g104476d1465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2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3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32868339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4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74684046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Google Shape;305;g104476d1465_1_3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6" name="Google Shape;306;g104476d1465_1_3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7" name="Google Shape;307;g104476d1465_1_39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5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6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583378950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7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063993604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Google Shape;305;g104476d1465_1_3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6" name="Google Shape;306;g104476d1465_1_3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7" name="Google Shape;307;g104476d1465_1_39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8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58038002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9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639990615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10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4146022807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11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4146022807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12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4146022807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Google Shape;305;g104476d1465_1_3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6" name="Google Shape;306;g104476d1465_1_3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7" name="Google Shape;307;g104476d1465_1_39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13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505241380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14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120509344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15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511967242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Google Shape;305;g104476d1465_1_3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6" name="Google Shape;306;g104476d1465_1_3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7" name="Google Shape;307;g104476d1465_1_39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16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91886518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17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5627792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18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493720044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19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493720044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20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493720044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Google Shape;305;g104476d1465_1_3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6" name="Google Shape;306;g104476d1465_1_3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7" name="Google Shape;307;g104476d1465_1_39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21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803058107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22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670243750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23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239680498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24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239680498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25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239680498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26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239680498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Google Shape;305;g104476d1465_1_3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6" name="Google Shape;306;g104476d1465_1_3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7" name="Google Shape;307;g104476d1465_1_39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27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716688106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28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937328106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29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68496832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6.jpe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7.jpe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Title Slide">
  <p:cSld name="1_Title Slide">
    <p:bg>
      <p:bgPr>
        <a:blipFill>
          <a:blip r:embed="rId2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a:blipFill>
        <a:effectLst/>
      </p:bgPr>
    </p:bg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56"/>
          <p:cNvSpPr txBox="1">
            <a:spLocks noGrp="1"/>
          </p:cNvSpPr>
          <p:nvPr>
            <p:ph type="ctrTitle"/>
          </p:nvPr>
        </p:nvSpPr>
        <p:spPr>
          <a:xfrm>
            <a:off x="5299677" y="1070919"/>
            <a:ext cx="6526000" cy="361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Arial Black"/>
              <a:buNone/>
              <a:defRPr sz="3000">
                <a:solidFill>
                  <a:srgbClr val="FFFFFF"/>
                </a:solidFill>
                <a:latin typeface="Arial Black"/>
                <a:ea typeface="Arial Black"/>
                <a:cs typeface="Arial Black"/>
                <a:sym typeface="Arial Black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 sz="7200"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 sz="7200"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 sz="7200"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 sz="7200"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 sz="7200"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 sz="7200"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 sz="7200"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 sz="72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77"/>
          <p:cNvSpPr txBox="1">
            <a:spLocks noGrp="1"/>
          </p:cNvSpPr>
          <p:nvPr>
            <p:ph type="ctrTitle"/>
          </p:nvPr>
        </p:nvSpPr>
        <p:spPr>
          <a:xfrm>
            <a:off x="1524000" y="1122363"/>
            <a:ext cx="9144000" cy="238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Calibri"/>
              <a:buNone/>
              <a:defRPr sz="45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77"/>
          <p:cNvSpPr txBox="1"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1pPr>
            <a:lvl2pPr lvl="1" algn="ctr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/>
            </a:lvl2pPr>
            <a:lvl3pPr lvl="2" algn="ctr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None/>
              <a:defRPr sz="1350"/>
            </a:lvl3pPr>
            <a:lvl4pPr lvl="3" algn="ctr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4pPr>
            <a:lvl5pPr lvl="4" algn="ctr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5pPr>
            <a:lvl6pPr lvl="5" algn="ctr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6pPr>
            <a:lvl7pPr lvl="6" algn="ctr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7pPr>
            <a:lvl8pPr lvl="7" algn="ctr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8pPr>
            <a:lvl9pPr lvl="8" algn="ctr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9pPr>
          </a:lstStyle>
          <a:p>
            <a:endParaRPr/>
          </a:p>
        </p:txBody>
      </p:sp>
      <p:sp>
        <p:nvSpPr>
          <p:cNvPr id="20" name="Google Shape;20;p77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1" name="Google Shape;21;p77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77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78"/>
          <p:cNvSpPr txBox="1">
            <a:spLocks noGrp="1"/>
          </p:cNvSpPr>
          <p:nvPr>
            <p:ph type="title"/>
          </p:nvPr>
        </p:nvSpPr>
        <p:spPr>
          <a:xfrm>
            <a:off x="838200" y="365126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78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6" name="Google Shape;26;p78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78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8" name="Google Shape;28;p78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79"/>
          <p:cNvSpPr txBox="1">
            <a:spLocks noGrp="1"/>
          </p:cNvSpPr>
          <p:nvPr>
            <p:ph type="title"/>
          </p:nvPr>
        </p:nvSpPr>
        <p:spPr>
          <a:xfrm>
            <a:off x="831851" y="1709739"/>
            <a:ext cx="10515600" cy="285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Calibri"/>
              <a:buNone/>
              <a:defRPr sz="45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79"/>
          <p:cNvSpPr txBox="1">
            <a:spLocks noGrp="1"/>
          </p:cNvSpPr>
          <p:nvPr>
            <p:ph type="body" idx="1"/>
          </p:nvPr>
        </p:nvSpPr>
        <p:spPr>
          <a:xfrm>
            <a:off x="831851" y="4589464"/>
            <a:ext cx="10515600" cy="150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1pPr>
            <a:lvl2pPr marL="914400" lvl="1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 sz="1500">
                <a:solidFill>
                  <a:srgbClr val="888888"/>
                </a:solidFill>
              </a:defRPr>
            </a:lvl2pPr>
            <a:lvl3pPr marL="1371600" lvl="2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350"/>
              <a:buNone/>
              <a:defRPr sz="1350">
                <a:solidFill>
                  <a:srgbClr val="888888"/>
                </a:solidFill>
              </a:defRPr>
            </a:lvl3pPr>
            <a:lvl4pPr marL="1828800" lvl="3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4pPr>
            <a:lvl5pPr marL="2286000" lvl="4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5pPr>
            <a:lvl6pPr marL="2743200" lvl="5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6pPr>
            <a:lvl7pPr marL="3200400" lvl="6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7pPr>
            <a:lvl8pPr marL="3657600" lvl="7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8pPr>
            <a:lvl9pPr marL="4114800" lvl="8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32" name="Google Shape;32;p79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3" name="Google Shape;33;p79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4" name="Google Shape;34;p79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80"/>
          <p:cNvSpPr txBox="1">
            <a:spLocks noGrp="1"/>
          </p:cNvSpPr>
          <p:nvPr>
            <p:ph type="title"/>
          </p:nvPr>
        </p:nvSpPr>
        <p:spPr>
          <a:xfrm>
            <a:off x="838200" y="365126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7" name="Google Shape;37;p80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5181600" cy="435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8" name="Google Shape;38;p80"/>
          <p:cNvSpPr txBox="1">
            <a:spLocks noGrp="1"/>
          </p:cNvSpPr>
          <p:nvPr>
            <p:ph type="body" idx="2"/>
          </p:nvPr>
        </p:nvSpPr>
        <p:spPr>
          <a:xfrm>
            <a:off x="6172200" y="1825625"/>
            <a:ext cx="5181600" cy="435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9" name="Google Shape;39;p80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0" name="Google Shape;40;p80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1" name="Google Shape;41;p80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81"/>
          <p:cNvSpPr txBox="1">
            <a:spLocks noGrp="1"/>
          </p:cNvSpPr>
          <p:nvPr>
            <p:ph type="title"/>
          </p:nvPr>
        </p:nvSpPr>
        <p:spPr>
          <a:xfrm>
            <a:off x="839788" y="365126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4" name="Google Shape;44;p81"/>
          <p:cNvSpPr txBox="1">
            <a:spLocks noGrp="1"/>
          </p:cNvSpPr>
          <p:nvPr>
            <p:ph type="body" idx="1"/>
          </p:nvPr>
        </p:nvSpPr>
        <p:spPr>
          <a:xfrm>
            <a:off x="839789" y="1681163"/>
            <a:ext cx="5157600" cy="823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1pPr>
            <a:lvl2pPr marL="914400" lvl="1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 b="1"/>
            </a:lvl2pPr>
            <a:lvl3pPr marL="1371600" lvl="2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None/>
              <a:defRPr sz="1350" b="1"/>
            </a:lvl3pPr>
            <a:lvl4pPr marL="1828800" lvl="3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4pPr>
            <a:lvl5pPr marL="2286000" lvl="4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5pPr>
            <a:lvl6pPr marL="2743200" lvl="5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6pPr>
            <a:lvl7pPr marL="3200400" lvl="6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7pPr>
            <a:lvl8pPr marL="3657600" lvl="7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8pPr>
            <a:lvl9pPr marL="4114800" lvl="8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9pPr>
          </a:lstStyle>
          <a:p>
            <a:endParaRPr/>
          </a:p>
        </p:txBody>
      </p:sp>
      <p:sp>
        <p:nvSpPr>
          <p:cNvPr id="45" name="Google Shape;45;p81"/>
          <p:cNvSpPr txBox="1">
            <a:spLocks noGrp="1"/>
          </p:cNvSpPr>
          <p:nvPr>
            <p:ph type="body" idx="2"/>
          </p:nvPr>
        </p:nvSpPr>
        <p:spPr>
          <a:xfrm>
            <a:off x="839789" y="2505075"/>
            <a:ext cx="5157600" cy="3684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6" name="Google Shape;46;p81"/>
          <p:cNvSpPr txBox="1">
            <a:spLocks noGrp="1"/>
          </p:cNvSpPr>
          <p:nvPr>
            <p:ph type="body" idx="3"/>
          </p:nvPr>
        </p:nvSpPr>
        <p:spPr>
          <a:xfrm>
            <a:off x="6172200" y="1681163"/>
            <a:ext cx="5183200" cy="823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1pPr>
            <a:lvl2pPr marL="914400" lvl="1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 b="1"/>
            </a:lvl2pPr>
            <a:lvl3pPr marL="1371600" lvl="2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None/>
              <a:defRPr sz="1350" b="1"/>
            </a:lvl3pPr>
            <a:lvl4pPr marL="1828800" lvl="3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4pPr>
            <a:lvl5pPr marL="2286000" lvl="4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5pPr>
            <a:lvl6pPr marL="2743200" lvl="5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6pPr>
            <a:lvl7pPr marL="3200400" lvl="6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7pPr>
            <a:lvl8pPr marL="3657600" lvl="7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8pPr>
            <a:lvl9pPr marL="4114800" lvl="8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9pPr>
          </a:lstStyle>
          <a:p>
            <a:endParaRPr/>
          </a:p>
        </p:txBody>
      </p:sp>
      <p:sp>
        <p:nvSpPr>
          <p:cNvPr id="47" name="Google Shape;47;p81"/>
          <p:cNvSpPr txBox="1">
            <a:spLocks noGrp="1"/>
          </p:cNvSpPr>
          <p:nvPr>
            <p:ph type="body" idx="4"/>
          </p:nvPr>
        </p:nvSpPr>
        <p:spPr>
          <a:xfrm>
            <a:off x="6172200" y="2505075"/>
            <a:ext cx="5183200" cy="3684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8" name="Google Shape;48;p81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9" name="Google Shape;49;p81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0" name="Google Shape;50;p81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p82"/>
          <p:cNvSpPr txBox="1">
            <a:spLocks noGrp="1"/>
          </p:cNvSpPr>
          <p:nvPr>
            <p:ph type="title"/>
          </p:nvPr>
        </p:nvSpPr>
        <p:spPr>
          <a:xfrm>
            <a:off x="838200" y="365126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82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4" name="Google Shape;54;p82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5" name="Google Shape;55;p82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83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8" name="Google Shape;58;p83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83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84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400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  <a:defRPr sz="24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2" name="Google Shape;62;p84"/>
          <p:cNvSpPr txBox="1">
            <a:spLocks noGrp="1"/>
          </p:cNvSpPr>
          <p:nvPr>
            <p:ph type="body" idx="1"/>
          </p:nvPr>
        </p:nvSpPr>
        <p:spPr>
          <a:xfrm>
            <a:off x="5183188" y="987426"/>
            <a:ext cx="6172400" cy="487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619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  <a:defRPr sz="2100"/>
            </a:lvl2pPr>
            <a:lvl3pPr marL="1371600" lvl="2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4pPr>
            <a:lvl5pPr marL="2286000" lvl="4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5pPr>
            <a:lvl6pPr marL="2743200" lvl="5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6pPr>
            <a:lvl7pPr marL="3200400" lvl="6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7pPr>
            <a:lvl8pPr marL="3657600" lvl="7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8pPr>
            <a:lvl9pPr marL="4114800" lvl="8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9pPr>
          </a:lstStyle>
          <a:p>
            <a:endParaRPr/>
          </a:p>
        </p:txBody>
      </p:sp>
      <p:sp>
        <p:nvSpPr>
          <p:cNvPr id="63" name="Google Shape;63;p84"/>
          <p:cNvSpPr txBox="1">
            <a:spLocks noGrp="1"/>
          </p:cNvSpPr>
          <p:nvPr>
            <p:ph type="body" idx="2"/>
          </p:nvPr>
        </p:nvSpPr>
        <p:spPr>
          <a:xfrm>
            <a:off x="839788" y="2057400"/>
            <a:ext cx="3932400" cy="381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marL="914400" lvl="1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050"/>
              <a:buNone/>
              <a:defRPr sz="1050"/>
            </a:lvl2pPr>
            <a:lvl3pPr marL="1371600" lvl="2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marL="1828800" lvl="3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4pPr>
            <a:lvl5pPr marL="2286000" lvl="4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5pPr>
            <a:lvl6pPr marL="2743200" lvl="5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6pPr>
            <a:lvl7pPr marL="3200400" lvl="6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7pPr>
            <a:lvl8pPr marL="3657600" lvl="7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8pPr>
            <a:lvl9pPr marL="4114800" lvl="8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9pPr>
          </a:lstStyle>
          <a:p>
            <a:endParaRPr/>
          </a:p>
        </p:txBody>
      </p:sp>
      <p:sp>
        <p:nvSpPr>
          <p:cNvPr id="64" name="Google Shape;64;p84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5" name="Google Shape;65;p84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84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85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400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  <a:defRPr sz="24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9" name="Google Shape;69;p85"/>
          <p:cNvSpPr>
            <a:spLocks noGrp="1"/>
          </p:cNvSpPr>
          <p:nvPr>
            <p:ph type="pic" idx="2"/>
          </p:nvPr>
        </p:nvSpPr>
        <p:spPr>
          <a:xfrm>
            <a:off x="5183188" y="987426"/>
            <a:ext cx="6172400" cy="4873500"/>
          </a:xfrm>
          <a:prstGeom prst="rect">
            <a:avLst/>
          </a:prstGeom>
          <a:noFill/>
          <a:ln>
            <a:noFill/>
          </a:ln>
        </p:spPr>
      </p:sp>
      <p:sp>
        <p:nvSpPr>
          <p:cNvPr id="70" name="Google Shape;70;p85"/>
          <p:cNvSpPr txBox="1">
            <a:spLocks noGrp="1"/>
          </p:cNvSpPr>
          <p:nvPr>
            <p:ph type="body" idx="1"/>
          </p:nvPr>
        </p:nvSpPr>
        <p:spPr>
          <a:xfrm>
            <a:off x="839788" y="2057400"/>
            <a:ext cx="3932400" cy="381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marL="914400" lvl="1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050"/>
              <a:buNone/>
              <a:defRPr sz="1050"/>
            </a:lvl2pPr>
            <a:lvl3pPr marL="1371600" lvl="2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marL="1828800" lvl="3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4pPr>
            <a:lvl5pPr marL="2286000" lvl="4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5pPr>
            <a:lvl6pPr marL="2743200" lvl="5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6pPr>
            <a:lvl7pPr marL="3200400" lvl="6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7pPr>
            <a:lvl8pPr marL="3657600" lvl="7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8pPr>
            <a:lvl9pPr marL="4114800" lvl="8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9pPr>
          </a:lstStyle>
          <a:p>
            <a:endParaRPr/>
          </a:p>
        </p:txBody>
      </p:sp>
      <p:sp>
        <p:nvSpPr>
          <p:cNvPr id="71" name="Google Shape;71;p85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85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85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86"/>
          <p:cNvSpPr txBox="1">
            <a:spLocks noGrp="1"/>
          </p:cNvSpPr>
          <p:nvPr>
            <p:ph type="title"/>
          </p:nvPr>
        </p:nvSpPr>
        <p:spPr>
          <a:xfrm>
            <a:off x="838200" y="365126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86"/>
          <p:cNvSpPr txBox="1">
            <a:spLocks noGrp="1"/>
          </p:cNvSpPr>
          <p:nvPr>
            <p:ph type="body" idx="1"/>
          </p:nvPr>
        </p:nvSpPr>
        <p:spPr>
          <a:xfrm rot="5400000">
            <a:off x="3920400" y="-1256575"/>
            <a:ext cx="4351200" cy="105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7" name="Google Shape;77;p86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86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86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87"/>
          <p:cNvSpPr txBox="1">
            <a:spLocks noGrp="1"/>
          </p:cNvSpPr>
          <p:nvPr>
            <p:ph type="title"/>
          </p:nvPr>
        </p:nvSpPr>
        <p:spPr>
          <a:xfrm rot="5400000">
            <a:off x="7133450" y="1956675"/>
            <a:ext cx="5811900" cy="262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2" name="Google Shape;82;p87"/>
          <p:cNvSpPr txBox="1">
            <a:spLocks noGrp="1"/>
          </p:cNvSpPr>
          <p:nvPr>
            <p:ph type="body" idx="1"/>
          </p:nvPr>
        </p:nvSpPr>
        <p:spPr>
          <a:xfrm rot="5400000">
            <a:off x="1799350" y="-596125"/>
            <a:ext cx="5811900" cy="773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83" name="Google Shape;83;p87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4" name="Google Shape;84;p87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5" name="Google Shape;85;p87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ext Slide">
  <p:cSld name="Text Slide">
    <p:bg>
      <p:bgPr>
        <a:solidFill>
          <a:schemeClr val="lt1"/>
        </a:solidFill>
        <a:effectLst/>
      </p:bgPr>
    </p:bg>
    <p:spTree>
      <p:nvGrpSpPr>
        <p:cNvPr id="1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7" name="Google Shape;87;p88" descr="A picture containing text, sign, seat&#10;&#10;Description automatically generated"/>
          <p:cNvPicPr preferRelativeResize="0"/>
          <p:nvPr/>
        </p:nvPicPr>
        <p:blipFill rotWithShape="1">
          <a:blip r:embed="rId2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8576869" y="5603082"/>
            <a:ext cx="3413760" cy="1828800"/>
          </a:xfrm>
          <a:prstGeom prst="rect">
            <a:avLst/>
          </a:prstGeom>
          <a:noFill/>
          <a:ln>
            <a:noFill/>
          </a:ln>
        </p:spPr>
      </p:pic>
      <p:sp>
        <p:nvSpPr>
          <p:cNvPr id="88" name="Google Shape;88;p88"/>
          <p:cNvSpPr/>
          <p:nvPr/>
        </p:nvSpPr>
        <p:spPr>
          <a:xfrm>
            <a:off x="0" y="0"/>
            <a:ext cx="198000" cy="6858000"/>
          </a:xfrm>
          <a:prstGeom prst="rect">
            <a:avLst/>
          </a:prstGeom>
          <a:solidFill>
            <a:srgbClr val="2776B6"/>
          </a:solidFill>
          <a:ln w="12700" cap="flat" cmpd="sng">
            <a:solidFill>
              <a:srgbClr val="42719B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ivider 2">
  <p:cSld name="Divider 2">
    <p:spTree>
      <p:nvGrpSpPr>
        <p:cNvPr id="1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0" name="Google Shape;90;p89" descr="ANation-PPT22_5.jpg"/>
          <p:cNvPicPr preferRelativeResize="0"/>
          <p:nvPr/>
        </p:nvPicPr>
        <p:blipFill rotWithShape="1">
          <a:blip r:embed="rId2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" y="1"/>
            <a:ext cx="12191999" cy="6858001"/>
          </a:xfrm>
          <a:prstGeom prst="rect">
            <a:avLst/>
          </a:prstGeom>
          <a:noFill/>
          <a:ln>
            <a:noFill/>
          </a:ln>
        </p:spPr>
      </p:pic>
      <p:sp>
        <p:nvSpPr>
          <p:cNvPr id="91" name="Google Shape;91;p89"/>
          <p:cNvSpPr/>
          <p:nvPr/>
        </p:nvSpPr>
        <p:spPr>
          <a:xfrm>
            <a:off x="1" y="0"/>
            <a:ext cx="201200" cy="6858000"/>
          </a:xfrm>
          <a:prstGeom prst="rect">
            <a:avLst/>
          </a:prstGeom>
          <a:solidFill>
            <a:srgbClr val="296CA4">
              <a:alpha val="86670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2" name="Google Shape;92;p89"/>
          <p:cNvSpPr/>
          <p:nvPr/>
        </p:nvSpPr>
        <p:spPr>
          <a:xfrm>
            <a:off x="4851172" y="0"/>
            <a:ext cx="7340800" cy="6858000"/>
          </a:xfrm>
          <a:prstGeom prst="rect">
            <a:avLst/>
          </a:prstGeom>
          <a:solidFill>
            <a:srgbClr val="296CA4">
              <a:alpha val="86670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93" name="Google Shape;93;p89" descr="Text&#10;&#10;Description automatically generated with low confidence"/>
          <p:cNvPicPr preferRelativeResize="0"/>
          <p:nvPr/>
        </p:nvPicPr>
        <p:blipFill rotWithShape="1"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8549640" y="5553348"/>
            <a:ext cx="3474723" cy="186145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ivider 3">
  <p:cSld name="Divider 3">
    <p:spTree>
      <p:nvGrpSpPr>
        <p:cNvPr id="1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5" name="Google Shape;95;p90" descr="ANation-PPT22_6.jpg"/>
          <p:cNvPicPr preferRelativeResize="0"/>
          <p:nvPr/>
        </p:nvPicPr>
        <p:blipFill rotWithShape="1">
          <a:blip r:embed="rId2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" y="1"/>
            <a:ext cx="12191999" cy="6858001"/>
          </a:xfrm>
          <a:prstGeom prst="rect">
            <a:avLst/>
          </a:prstGeom>
          <a:noFill/>
          <a:ln>
            <a:noFill/>
          </a:ln>
        </p:spPr>
      </p:pic>
      <p:sp>
        <p:nvSpPr>
          <p:cNvPr id="96" name="Google Shape;96;p90"/>
          <p:cNvSpPr/>
          <p:nvPr/>
        </p:nvSpPr>
        <p:spPr>
          <a:xfrm>
            <a:off x="1" y="0"/>
            <a:ext cx="201200" cy="6858000"/>
          </a:xfrm>
          <a:prstGeom prst="rect">
            <a:avLst/>
          </a:prstGeom>
          <a:solidFill>
            <a:srgbClr val="296CA4">
              <a:alpha val="86670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7" name="Google Shape;97;p90"/>
          <p:cNvSpPr/>
          <p:nvPr/>
        </p:nvSpPr>
        <p:spPr>
          <a:xfrm>
            <a:off x="4851172" y="0"/>
            <a:ext cx="7340800" cy="6858000"/>
          </a:xfrm>
          <a:prstGeom prst="rect">
            <a:avLst/>
          </a:prstGeom>
          <a:solidFill>
            <a:srgbClr val="296CA4">
              <a:alpha val="86670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98" name="Google Shape;98;p90" descr="Text&#10;&#10;Description automatically generated with low confidence"/>
          <p:cNvPicPr preferRelativeResize="0"/>
          <p:nvPr/>
        </p:nvPicPr>
        <p:blipFill rotWithShape="1"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8549640" y="5553348"/>
            <a:ext cx="3474723" cy="186145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ivider 1">
  <p:cSld name="Divider 1">
    <p:spTree>
      <p:nvGrpSpPr>
        <p:cNvPr id="1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0" name="Google Shape;100;p91" descr="ANation-PPT22_2.jpg"/>
          <p:cNvPicPr preferRelativeResize="0"/>
          <p:nvPr/>
        </p:nvPicPr>
        <p:blipFill rotWithShape="1">
          <a:blip r:embed="rId2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" y="1"/>
            <a:ext cx="12191999" cy="6858001"/>
          </a:xfrm>
          <a:prstGeom prst="rect">
            <a:avLst/>
          </a:prstGeom>
          <a:noFill/>
          <a:ln>
            <a:noFill/>
          </a:ln>
        </p:spPr>
      </p:pic>
      <p:sp>
        <p:nvSpPr>
          <p:cNvPr id="101" name="Google Shape;101;p91"/>
          <p:cNvSpPr/>
          <p:nvPr/>
        </p:nvSpPr>
        <p:spPr>
          <a:xfrm>
            <a:off x="1" y="0"/>
            <a:ext cx="201200" cy="6858000"/>
          </a:xfrm>
          <a:prstGeom prst="rect">
            <a:avLst/>
          </a:prstGeom>
          <a:solidFill>
            <a:srgbClr val="296CA4">
              <a:alpha val="86670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2" name="Google Shape;102;p91"/>
          <p:cNvSpPr/>
          <p:nvPr/>
        </p:nvSpPr>
        <p:spPr>
          <a:xfrm>
            <a:off x="4851172" y="0"/>
            <a:ext cx="7340800" cy="6858000"/>
          </a:xfrm>
          <a:prstGeom prst="rect">
            <a:avLst/>
          </a:prstGeom>
          <a:solidFill>
            <a:srgbClr val="296CA4">
              <a:alpha val="86670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03" name="Google Shape;103;p91" descr="Text&#10;&#10;Description automatically generated with low confidence"/>
          <p:cNvPicPr preferRelativeResize="0"/>
          <p:nvPr/>
        </p:nvPicPr>
        <p:blipFill rotWithShape="1"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8549640" y="5553348"/>
            <a:ext cx="3474723" cy="186145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ivider 4">
  <p:cSld name="Divider 4">
    <p:spTree>
      <p:nvGrpSpPr>
        <p:cNvPr id="1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5" name="Google Shape;105;p92" descr="ANation-PPT2_7.jpg"/>
          <p:cNvPicPr preferRelativeResize="0"/>
          <p:nvPr/>
        </p:nvPicPr>
        <p:blipFill rotWithShape="1">
          <a:blip r:embed="rId2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" y="1"/>
            <a:ext cx="12191999" cy="6858001"/>
          </a:xfrm>
          <a:prstGeom prst="rect">
            <a:avLst/>
          </a:prstGeom>
          <a:noFill/>
          <a:ln>
            <a:noFill/>
          </a:ln>
        </p:spPr>
      </p:pic>
      <p:sp>
        <p:nvSpPr>
          <p:cNvPr id="106" name="Google Shape;106;p92"/>
          <p:cNvSpPr/>
          <p:nvPr/>
        </p:nvSpPr>
        <p:spPr>
          <a:xfrm>
            <a:off x="1" y="0"/>
            <a:ext cx="201200" cy="6858000"/>
          </a:xfrm>
          <a:prstGeom prst="rect">
            <a:avLst/>
          </a:prstGeom>
          <a:solidFill>
            <a:srgbClr val="296CA4">
              <a:alpha val="86670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7" name="Google Shape;107;p92"/>
          <p:cNvSpPr/>
          <p:nvPr/>
        </p:nvSpPr>
        <p:spPr>
          <a:xfrm>
            <a:off x="4851172" y="0"/>
            <a:ext cx="7340800" cy="6858000"/>
          </a:xfrm>
          <a:prstGeom prst="rect">
            <a:avLst/>
          </a:prstGeom>
          <a:solidFill>
            <a:srgbClr val="296CA4">
              <a:alpha val="86670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08" name="Google Shape;108;p92" descr="Text&#10;&#10;Description automatically generated with low confidence"/>
          <p:cNvPicPr preferRelativeResize="0"/>
          <p:nvPr/>
        </p:nvPicPr>
        <p:blipFill rotWithShape="1"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8549640" y="5553348"/>
            <a:ext cx="3474723" cy="186145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55"/>
          <p:cNvSpPr txBox="1">
            <a:spLocks noGrp="1"/>
          </p:cNvSpPr>
          <p:nvPr>
            <p:ph type="title"/>
          </p:nvPr>
        </p:nvSpPr>
        <p:spPr>
          <a:xfrm>
            <a:off x="838200" y="365126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Calibri"/>
              <a:buNone/>
              <a:defRPr sz="33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11" name="Google Shape;11;p55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36195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•"/>
              <a:defRPr sz="21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2" name="Google Shape;12;p55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3" name="Google Shape;13;p55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4" name="Google Shape;14;p55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  <p:sldLayoutId id="2147483664" r:id="rId16"/>
    <p:sldLayoutId id="2147483665" r:id="rId17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8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10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10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11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12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8.xml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14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15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8.xml"/><Relationship Id="rId5" Type="http://schemas.openxmlformats.org/officeDocument/2006/relationships/image" Target="../media/image160.png"/><Relationship Id="rId4" Type="http://schemas.openxmlformats.org/officeDocument/2006/relationships/image" Target="../media/image16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8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8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8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17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8.xml"/><Relationship Id="rId5" Type="http://schemas.openxmlformats.org/officeDocument/2006/relationships/image" Target="../media/image19.png"/><Relationship Id="rId4" Type="http://schemas.openxmlformats.org/officeDocument/2006/relationships/image" Target="../media/image18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10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21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21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22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23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24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25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26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8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8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8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8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27.pn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27.png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309;g104476d1465_1_39">
            <a:extLst>
              <a:ext uri="{FF2B5EF4-FFF2-40B4-BE49-F238E27FC236}">
                <a16:creationId xmlns:a16="http://schemas.microsoft.com/office/drawing/2014/main" xmlns="" id="{566F1422-A32C-7745-9E85-5AF7B9DBC697}"/>
              </a:ext>
            </a:extLst>
          </p:cNvPr>
          <p:cNvSpPr/>
          <p:nvPr/>
        </p:nvSpPr>
        <p:spPr>
          <a:xfrm>
            <a:off x="0" y="0"/>
            <a:ext cx="4094106" cy="6866100"/>
          </a:xfrm>
          <a:prstGeom prst="rect">
            <a:avLst/>
          </a:prstGeom>
          <a:solidFill>
            <a:srgbClr val="276C46"/>
          </a:solidFill>
          <a:ln w="9525" cap="flat" cmpd="sng">
            <a:solidFill>
              <a:srgbClr val="276C46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sp>
        <p:nvSpPr>
          <p:cNvPr id="261" name="Google Shape;261;g104476d1465_0_0"/>
          <p:cNvSpPr txBox="1">
            <a:spLocks noGrp="1"/>
          </p:cNvSpPr>
          <p:nvPr>
            <p:ph type="ctrTitle" idx="4294967295"/>
          </p:nvPr>
        </p:nvSpPr>
        <p:spPr>
          <a:xfrm>
            <a:off x="5742834" y="2054277"/>
            <a:ext cx="4925167" cy="3194455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38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  <a:t>Algebra 1</a:t>
            </a:r>
            <a:br>
              <a:rPr lang="en-US" sz="38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</a:br>
            <a:endParaRPr lang="en-US" sz="3800" b="1" dirty="0">
              <a:solidFill>
                <a:srgbClr val="417DBF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lvl="0" algn="ctr">
              <a:lnSpc>
                <a:spcPct val="100000"/>
              </a:lnSpc>
              <a:buClr>
                <a:srgbClr val="000000"/>
              </a:buClr>
            </a:pPr>
            <a:r>
              <a:rPr lang="en-US" sz="38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  <a:t>Unit 6, Lesson 3</a:t>
            </a:r>
            <a:br>
              <a:rPr lang="en-US" sz="38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</a:br>
            <a:r>
              <a:rPr lang="en-US" sz="38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  <a:t/>
            </a:r>
            <a:br>
              <a:rPr lang="en-US" sz="38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</a:br>
            <a:r>
              <a:rPr lang="en-US" sz="38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  <a:t>Writing and Solving Inequalities</a:t>
            </a:r>
            <a:br>
              <a:rPr lang="en-US" sz="38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</a:br>
            <a:r>
              <a:rPr lang="en-US" sz="38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  <a:t/>
            </a:r>
            <a:br>
              <a:rPr lang="en-US" sz="38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</a:br>
            <a:r>
              <a:rPr lang="en-US" sz="28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  <a:t>Volume 1, pg. 304</a:t>
            </a:r>
          </a:p>
          <a:p>
            <a:pPr algn="ctr">
              <a:lnSpc>
                <a:spcPct val="100000"/>
              </a:lnSpc>
              <a:buClr>
                <a:srgbClr val="000000"/>
              </a:buClr>
            </a:pPr>
            <a:endParaRPr lang="en-US" sz="3400" b="1" dirty="0">
              <a:solidFill>
                <a:srgbClr val="417DBF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algn="ctr">
              <a:lnSpc>
                <a:spcPct val="75000"/>
              </a:lnSpc>
            </a:pPr>
            <a:endParaRPr sz="3100" dirty="0">
              <a:solidFill>
                <a:srgbClr val="417DBF"/>
              </a:solidFill>
            </a:endParaRPr>
          </a:p>
        </p:txBody>
      </p:sp>
      <p:cxnSp>
        <p:nvCxnSpPr>
          <p:cNvPr id="262" name="Google Shape;262;g104476d1465_0_0"/>
          <p:cNvCxnSpPr/>
          <p:nvPr/>
        </p:nvCxnSpPr>
        <p:spPr>
          <a:xfrm>
            <a:off x="-1573225" y="3938167"/>
            <a:ext cx="1152600" cy="0"/>
          </a:xfrm>
          <a:prstGeom prst="straightConnector1">
            <a:avLst/>
          </a:prstGeom>
          <a:noFill/>
          <a:ln w="9525" cap="flat" cmpd="sng">
            <a:solidFill>
              <a:schemeClr val="lt1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6" name="Picture 5" descr="Logo&#10;&#10;Description automatically generated">
            <a:extLst>
              <a:ext uri="{FF2B5EF4-FFF2-40B4-BE49-F238E27FC236}">
                <a16:creationId xmlns:a16="http://schemas.microsoft.com/office/drawing/2014/main" xmlns="" id="{A3BF60F1-A9D6-B043-9905-FB1D55DD5BCA}"/>
              </a:ext>
            </a:extLst>
          </p:cNvPr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11480" y="1597002"/>
            <a:ext cx="2973100" cy="3465785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0"/>
            <a:ext cx="223200" cy="6866100"/>
          </a:xfrm>
          <a:prstGeom prst="rect">
            <a:avLst/>
          </a:prstGeom>
          <a:solidFill>
            <a:srgbClr val="276C46"/>
          </a:solidFill>
          <a:ln w="9525" cap="flat" cmpd="sng">
            <a:solidFill>
              <a:srgbClr val="276C46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sp>
        <p:nvSpPr>
          <p:cNvPr id="279" name="Google Shape;279;g104476d1465_1_17"/>
          <p:cNvSpPr txBox="1">
            <a:spLocks noGrp="1"/>
          </p:cNvSpPr>
          <p:nvPr>
            <p:ph type="title" idx="4294967295"/>
          </p:nvPr>
        </p:nvSpPr>
        <p:spPr>
          <a:xfrm>
            <a:off x="1143000" y="136525"/>
            <a:ext cx="75099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>
              <a:buSzPts val="5400"/>
            </a:pPr>
            <a:r>
              <a:rPr lang="en-US" sz="4700" b="1" dirty="0">
                <a:solidFill>
                  <a:srgbClr val="54B5D1"/>
                </a:solidFill>
                <a:latin typeface="Verdana"/>
                <a:ea typeface="Verdana"/>
                <a:cs typeface="Verdana"/>
                <a:sym typeface="Verdana"/>
              </a:rPr>
              <a:t>Benchmark</a:t>
            </a:r>
            <a:endParaRPr sz="3700" b="1" dirty="0">
              <a:solidFill>
                <a:srgbClr val="54B5D1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pic>
        <p:nvPicPr>
          <p:cNvPr id="281" name="Google Shape;281;g104476d1465_1_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11480" y="372300"/>
            <a:ext cx="747300" cy="747300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282" name="Google Shape;282;g104476d1465_1_17"/>
          <p:cNvSpPr txBox="1"/>
          <p:nvPr/>
        </p:nvSpPr>
        <p:spPr>
          <a:xfrm>
            <a:off x="8897112" y="6457675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pg. 304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83" name="Google Shape;283;g104476d1465_1_17"/>
          <p:cNvPicPr preferRelativeResize="0"/>
          <p:nvPr/>
        </p:nvPicPr>
        <p:blipFill>
          <a:blip r:embed="rId4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30584" y="6200600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8" name="Google Shape;280;g104476d1465_1_17">
            <a:extLst>
              <a:ext uri="{FF2B5EF4-FFF2-40B4-BE49-F238E27FC236}">
                <a16:creationId xmlns:a16="http://schemas.microsoft.com/office/drawing/2014/main" xmlns="" id="{527A9F9F-07B8-ED47-B967-E5507C67DBC5}"/>
              </a:ext>
            </a:extLst>
          </p:cNvPr>
          <p:cNvSpPr txBox="1">
            <a:spLocks/>
          </p:cNvSpPr>
          <p:nvPr/>
        </p:nvSpPr>
        <p:spPr>
          <a:xfrm>
            <a:off x="914400" y="1600200"/>
            <a:ext cx="10515600" cy="420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6195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•"/>
              <a:defRPr sz="21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indent="0">
              <a:buSzPts val="1100"/>
              <a:buNone/>
            </a:pPr>
            <a:r>
              <a:rPr lang="en-US" sz="3500" dirty="0">
                <a:solidFill>
                  <a:schemeClr val="tx1"/>
                </a:solidFill>
                <a:latin typeface="Verdana"/>
                <a:ea typeface="Verdana"/>
                <a:cs typeface="Verdana"/>
                <a:sym typeface="Verdana"/>
              </a:rPr>
              <a:t>MA.912.AR.2.6</a:t>
            </a:r>
          </a:p>
          <a:p>
            <a:pPr indent="0">
              <a:buNone/>
            </a:pPr>
            <a:r>
              <a:rPr lang="en-US" sz="3600" dirty="0">
                <a:solidFill>
                  <a:srgbClr val="000000"/>
                </a:solidFill>
                <a:latin typeface="Verdana"/>
              </a:rPr>
              <a:t>Given a mathematical or real-world context, write and solve one-variable linear inequalities, including compound inequalities. Represent solutions algebraically or graphically.</a:t>
            </a:r>
            <a:endParaRPr lang="en-US" dirty="0">
              <a:solidFill>
                <a:schemeClr val="tx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0"/>
            <a:ext cx="223200" cy="6866100"/>
          </a:xfrm>
          <a:prstGeom prst="rect">
            <a:avLst/>
          </a:prstGeom>
          <a:solidFill>
            <a:srgbClr val="276C46"/>
          </a:solidFill>
          <a:ln w="9525" cap="flat" cmpd="sng">
            <a:solidFill>
              <a:srgbClr val="276C46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281" name="Google Shape;281;g104476d1465_1_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11480" y="372300"/>
            <a:ext cx="747300" cy="747300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pic>
        <p:nvPicPr>
          <p:cNvPr id="283" name="Google Shape;283;g104476d1465_1_17"/>
          <p:cNvPicPr preferRelativeResize="0"/>
          <p:nvPr/>
        </p:nvPicPr>
        <p:blipFill>
          <a:blip r:embed="rId4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30584" y="6200600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8" name="Google Shape;295;g103996e1364_0_10">
            <a:extLst>
              <a:ext uri="{FF2B5EF4-FFF2-40B4-BE49-F238E27FC236}">
                <a16:creationId xmlns:a16="http://schemas.microsoft.com/office/drawing/2014/main" xmlns="" id="{08B3C7FF-E6D0-2145-9A84-003D15672764}"/>
              </a:ext>
            </a:extLst>
          </p:cNvPr>
          <p:cNvSpPr txBox="1">
            <a:spLocks/>
          </p:cNvSpPr>
          <p:nvPr/>
        </p:nvSpPr>
        <p:spPr>
          <a:xfrm>
            <a:off x="1143000" y="129667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lnSpc>
                <a:spcPct val="90000"/>
              </a:lnSpc>
              <a:buClr>
                <a:schemeClr val="dk1"/>
              </a:buClr>
              <a:buSzPts val="5400"/>
              <a:buFont typeface="Century Gothic"/>
              <a:buNone/>
            </a:pPr>
            <a:r>
              <a:rPr lang="en-US" sz="3200" b="1" dirty="0">
                <a:solidFill>
                  <a:srgbClr val="54B5D1"/>
                </a:solidFill>
                <a:latin typeface="Verdana"/>
                <a:ea typeface="Verdana"/>
                <a:cs typeface="Verdana"/>
                <a:sym typeface="Verdana"/>
              </a:rPr>
              <a:t>Integrated Mathematical Thinking and Reasoning Standards</a:t>
            </a:r>
          </a:p>
        </p:txBody>
      </p:sp>
      <p:sp>
        <p:nvSpPr>
          <p:cNvPr id="11" name="Google Shape;296;g103996e1364_0_10">
            <a:extLst>
              <a:ext uri="{FF2B5EF4-FFF2-40B4-BE49-F238E27FC236}">
                <a16:creationId xmlns:a16="http://schemas.microsoft.com/office/drawing/2014/main" xmlns="" id="{A6E18E39-B007-D647-9935-55A748533A45}"/>
              </a:ext>
            </a:extLst>
          </p:cNvPr>
          <p:cNvSpPr txBox="1">
            <a:spLocks/>
          </p:cNvSpPr>
          <p:nvPr/>
        </p:nvSpPr>
        <p:spPr>
          <a:xfrm>
            <a:off x="914400" y="1596390"/>
            <a:ext cx="10515600" cy="420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buSzPts val="523"/>
            </a:pPr>
            <a:r>
              <a:rPr lang="en-US" sz="180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  <a:sym typeface="Verdana"/>
              </a:rPr>
              <a:t>MA.K12.MTR.1.1 Actively participate in effortful learning both individually and collectively.</a:t>
            </a:r>
          </a:p>
          <a:p>
            <a:pPr marL="457200">
              <a:buSzPts val="523"/>
            </a:pPr>
            <a:endParaRPr lang="en-US" sz="1800" dirty="0">
              <a:solidFill>
                <a:schemeClr val="tx1"/>
              </a:solidFill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  <a:sym typeface="Verdana"/>
            </a:endParaRPr>
          </a:p>
          <a:p>
            <a:pPr>
              <a:buSzPts val="523"/>
            </a:pPr>
            <a:r>
              <a:rPr lang="en-US" sz="180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  <a:sym typeface="Verdana"/>
              </a:rPr>
              <a:t>MA.K12.MTR.2.1 Demonstrate understanding by representing problems in multiple ways.</a:t>
            </a:r>
          </a:p>
          <a:p>
            <a:pPr marL="457200">
              <a:buSzPts val="523"/>
            </a:pPr>
            <a:endParaRPr lang="en-US" sz="1800" dirty="0">
              <a:solidFill>
                <a:schemeClr val="tx1"/>
              </a:solidFill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  <a:sym typeface="Verdana"/>
            </a:endParaRPr>
          </a:p>
          <a:p>
            <a:pPr>
              <a:buSzPts val="523"/>
            </a:pPr>
            <a:r>
              <a:rPr lang="en-US" sz="180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  <a:sym typeface="Verdana"/>
              </a:rPr>
              <a:t>MA.K12.MTR.3.1 Complete tasks with mathematical fluency.</a:t>
            </a:r>
          </a:p>
          <a:p>
            <a:pPr marL="457200">
              <a:buSzPts val="523"/>
            </a:pPr>
            <a:endParaRPr lang="en-US" sz="1800" dirty="0">
              <a:solidFill>
                <a:schemeClr val="tx1"/>
              </a:solidFill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  <a:sym typeface="Verdana"/>
            </a:endParaRPr>
          </a:p>
          <a:p>
            <a:pPr>
              <a:buSzPts val="523"/>
            </a:pPr>
            <a:r>
              <a:rPr lang="en-US" sz="180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  <a:sym typeface="Verdana"/>
              </a:rPr>
              <a:t>MA.K12.MTR.4.1 Engage in discussions that reflect on the mathematical thinking of self and others.</a:t>
            </a:r>
          </a:p>
          <a:p>
            <a:pPr marL="457200">
              <a:buSzPts val="523"/>
            </a:pPr>
            <a:endParaRPr lang="en-US" sz="1800" dirty="0">
              <a:solidFill>
                <a:schemeClr val="tx1"/>
              </a:solidFill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  <a:sym typeface="Verdana"/>
            </a:endParaRPr>
          </a:p>
          <a:p>
            <a:pPr>
              <a:buSzPts val="523"/>
            </a:pPr>
            <a:r>
              <a:rPr lang="en-US" sz="180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  <a:sym typeface="Verdana"/>
              </a:rPr>
              <a:t>MA.K12.MTR.5.1 Use patterns and structure to help understand and connect mathematical concepts.</a:t>
            </a:r>
          </a:p>
          <a:p>
            <a:pPr>
              <a:buSzPts val="523"/>
            </a:pPr>
            <a:endParaRPr lang="en-US" sz="1800" dirty="0">
              <a:solidFill>
                <a:schemeClr val="tx1"/>
              </a:solidFill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  <a:sym typeface="Verdana"/>
            </a:endParaRPr>
          </a:p>
          <a:p>
            <a:pPr>
              <a:buSzPts val="523"/>
            </a:pPr>
            <a:r>
              <a:rPr lang="en-US" sz="180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  <a:sym typeface="Verdana"/>
              </a:rPr>
              <a:t>MA.K12.MTR.6.1 Assess the reasonableness of solutions.</a:t>
            </a:r>
          </a:p>
          <a:p>
            <a:pPr>
              <a:buSzPts val="523"/>
            </a:pPr>
            <a:endParaRPr lang="en-US" sz="1800" dirty="0">
              <a:solidFill>
                <a:schemeClr val="tx1"/>
              </a:solidFill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  <a:sym typeface="Verdana"/>
            </a:endParaRPr>
          </a:p>
          <a:p>
            <a:pPr>
              <a:buSzPts val="523"/>
            </a:pPr>
            <a:r>
              <a:rPr lang="en-US" sz="180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  <a:sym typeface="Verdana"/>
              </a:rPr>
              <a:t>MA.K12.MTR.7.1 </a:t>
            </a:r>
            <a:r>
              <a:rPr lang="en-US" sz="180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Apply mathematics to real-world contexts.</a:t>
            </a:r>
            <a:endParaRPr lang="en-US" sz="1800" dirty="0">
              <a:solidFill>
                <a:schemeClr val="tx1"/>
              </a:solidFill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  <a:sym typeface="Verdana"/>
            </a:endParaRPr>
          </a:p>
        </p:txBody>
      </p:sp>
      <p:sp>
        <p:nvSpPr>
          <p:cNvPr id="9" name="Google Shape;282;g104476d1465_1_17"/>
          <p:cNvSpPr txBox="1"/>
          <p:nvPr/>
        </p:nvSpPr>
        <p:spPr>
          <a:xfrm>
            <a:off x="8897112" y="6457675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pg. 304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0808422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0"/>
            <a:ext cx="223200" cy="6866100"/>
          </a:xfrm>
          <a:prstGeom prst="rect">
            <a:avLst/>
          </a:prstGeom>
          <a:solidFill>
            <a:srgbClr val="276C46"/>
          </a:solidFill>
          <a:ln w="9525" cap="flat" cmpd="sng">
            <a:solidFill>
              <a:srgbClr val="276C46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 dirty="0">
              <a:highlight>
                <a:srgbClr val="FFFF00"/>
              </a:highlight>
            </a:endParaRPr>
          </a:p>
        </p:txBody>
      </p:sp>
      <p:pic>
        <p:nvPicPr>
          <p:cNvPr id="283" name="Google Shape;283;g104476d1465_1_17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30584" y="6200600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10" name="Google Shape;301;g103996e1364_0_16">
            <a:extLst>
              <a:ext uri="{FF2B5EF4-FFF2-40B4-BE49-F238E27FC236}">
                <a16:creationId xmlns:a16="http://schemas.microsoft.com/office/drawing/2014/main" xmlns="" id="{5771FBFA-7311-BB45-8AFF-04B380531EE6}"/>
              </a:ext>
            </a:extLst>
          </p:cNvPr>
          <p:cNvSpPr txBox="1">
            <a:spLocks/>
          </p:cNvSpPr>
          <p:nvPr/>
        </p:nvSpPr>
        <p:spPr>
          <a:xfrm>
            <a:off x="1143000" y="30660"/>
            <a:ext cx="79584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lnSpc>
                <a:spcPct val="90000"/>
              </a:lnSpc>
              <a:buClr>
                <a:schemeClr val="dk1"/>
              </a:buClr>
              <a:buSzPts val="5400"/>
              <a:buFont typeface="Century Gothic"/>
              <a:buNone/>
            </a:pPr>
            <a:r>
              <a:rPr lang="en-US" sz="4700" b="1" dirty="0">
                <a:solidFill>
                  <a:srgbClr val="52BDA6"/>
                </a:solidFill>
                <a:latin typeface="Verdana"/>
                <a:ea typeface="Verdana"/>
                <a:cs typeface="Verdana"/>
                <a:sym typeface="Verdana"/>
              </a:rPr>
              <a:t>Learning Targets</a:t>
            </a:r>
          </a:p>
        </p:txBody>
      </p:sp>
      <p:pic>
        <p:nvPicPr>
          <p:cNvPr id="12" name="Google Shape;303;g103996e1364_0_16">
            <a:extLst>
              <a:ext uri="{FF2B5EF4-FFF2-40B4-BE49-F238E27FC236}">
                <a16:creationId xmlns:a16="http://schemas.microsoft.com/office/drawing/2014/main" xmlns="" id="{81DC7EB0-4FED-FC45-BAEC-D699ED5C2169}"/>
              </a:ext>
            </a:extLst>
          </p:cNvPr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11480" y="319860"/>
            <a:ext cx="747300" cy="747300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14" name="Google Shape;302;g103996e1364_0_16">
            <a:extLst>
              <a:ext uri="{FF2B5EF4-FFF2-40B4-BE49-F238E27FC236}">
                <a16:creationId xmlns:a16="http://schemas.microsoft.com/office/drawing/2014/main" xmlns="" id="{9B7C98EC-F13C-9146-B728-D7044DB4247D}"/>
              </a:ext>
            </a:extLst>
          </p:cNvPr>
          <p:cNvSpPr txBox="1">
            <a:spLocks/>
          </p:cNvSpPr>
          <p:nvPr/>
        </p:nvSpPr>
        <p:spPr>
          <a:xfrm>
            <a:off x="914400" y="1600200"/>
            <a:ext cx="10719582" cy="420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633413" indent="-627063">
              <a:spcAft>
                <a:spcPts val="1200"/>
              </a:spcAft>
              <a:buClr>
                <a:srgbClr val="434343"/>
              </a:buClr>
              <a:buSzPts val="3500"/>
              <a:buFont typeface="Verdana"/>
              <a:buChar char="❏"/>
            </a:pPr>
            <a:r>
              <a:rPr lang="en-US" sz="3200" dirty="0">
                <a:latin typeface="Verdana"/>
              </a:rPr>
              <a:t>I can write and solve a two-step, one-variable inequality.</a:t>
            </a:r>
          </a:p>
          <a:p>
            <a:pPr marL="633413" indent="-627063">
              <a:spcAft>
                <a:spcPts val="1200"/>
              </a:spcAft>
              <a:buClr>
                <a:srgbClr val="434343"/>
              </a:buClr>
              <a:buSzPts val="3500"/>
              <a:buFont typeface="Verdana"/>
              <a:buChar char="❏"/>
            </a:pPr>
            <a:r>
              <a:rPr lang="en-US" sz="3200" dirty="0" smtClean="0">
                <a:latin typeface="Verdana"/>
              </a:rPr>
              <a:t>I can write and solve a multi-step, one-variable inequality.</a:t>
            </a:r>
          </a:p>
          <a:p>
            <a:pPr marL="633413" indent="-627063">
              <a:spcAft>
                <a:spcPts val="1200"/>
              </a:spcAft>
              <a:buClr>
                <a:srgbClr val="434343"/>
              </a:buClr>
              <a:buSzPts val="3500"/>
              <a:buFont typeface="Verdana"/>
              <a:buChar char="❏"/>
            </a:pPr>
            <a:r>
              <a:rPr lang="en-US" sz="3200" dirty="0" smtClean="0">
                <a:latin typeface="Verdana"/>
              </a:rPr>
              <a:t>I </a:t>
            </a:r>
            <a:r>
              <a:rPr lang="en-US" sz="3200" dirty="0">
                <a:latin typeface="Verdana"/>
              </a:rPr>
              <a:t>can write and solve a compound one-variable inequality.</a:t>
            </a:r>
          </a:p>
          <a:p>
            <a:pPr marL="633413" indent="-627063">
              <a:buClr>
                <a:srgbClr val="434343"/>
              </a:buClr>
              <a:buSzPts val="3500"/>
              <a:buFont typeface="Verdana"/>
              <a:buChar char="❏"/>
            </a:pPr>
            <a:r>
              <a:rPr lang="en-US" sz="3200" dirty="0">
                <a:latin typeface="Verdana"/>
              </a:rPr>
              <a:t>I can interpret solutions to problems as viable or non-viable options.</a:t>
            </a:r>
            <a:endParaRPr lang="en-US" sz="3200" dirty="0">
              <a:solidFill>
                <a:schemeClr val="tx1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8" name="Google Shape;282;g104476d1465_1_17"/>
          <p:cNvSpPr txBox="1"/>
          <p:nvPr/>
        </p:nvSpPr>
        <p:spPr>
          <a:xfrm>
            <a:off x="8897112" y="6457675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pg. 304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07142034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Google Shape;309;g104476d1465_1_39"/>
          <p:cNvSpPr/>
          <p:nvPr/>
        </p:nvSpPr>
        <p:spPr>
          <a:xfrm>
            <a:off x="0" y="0"/>
            <a:ext cx="2731200" cy="6866100"/>
          </a:xfrm>
          <a:prstGeom prst="rect">
            <a:avLst/>
          </a:prstGeom>
          <a:solidFill>
            <a:srgbClr val="276C46"/>
          </a:solidFill>
          <a:ln w="9525" cap="flat" cmpd="sng">
            <a:solidFill>
              <a:srgbClr val="276C46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311" name="Google Shape;311;g104476d1465_1_39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30584" y="6200600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pic>
        <p:nvPicPr>
          <p:cNvPr id="312" name="Google Shape;312;g104476d1465_1_3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054096" y="2879325"/>
            <a:ext cx="1031750" cy="1031750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313" name="Google Shape;313;g104476d1465_1_39"/>
          <p:cNvSpPr txBox="1">
            <a:spLocks noGrp="1"/>
          </p:cNvSpPr>
          <p:nvPr>
            <p:ph type="title" idx="4294967295"/>
          </p:nvPr>
        </p:nvSpPr>
        <p:spPr>
          <a:xfrm>
            <a:off x="4087368" y="2766145"/>
            <a:ext cx="40482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algn="ctr">
              <a:buClr>
                <a:schemeClr val="lt1"/>
              </a:buClr>
              <a:buSzPts val="4800"/>
            </a:pPr>
            <a:r>
              <a:rPr lang="en-US" sz="5500" b="1" dirty="0">
                <a:solidFill>
                  <a:srgbClr val="3F2A67"/>
                </a:solidFill>
                <a:latin typeface="Verdana"/>
                <a:ea typeface="Verdana"/>
                <a:cs typeface="Verdana"/>
                <a:sym typeface="Verdana"/>
              </a:rPr>
              <a:t>Warm-Up</a:t>
            </a:r>
            <a:endParaRPr sz="5100" b="1" dirty="0">
              <a:solidFill>
                <a:srgbClr val="3F2A67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8" name="Google Shape;282;g104476d1465_1_17"/>
          <p:cNvSpPr txBox="1"/>
          <p:nvPr/>
        </p:nvSpPr>
        <p:spPr>
          <a:xfrm>
            <a:off x="8897112" y="6457675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pg. 305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0"/>
            <a:ext cx="223200" cy="6866100"/>
          </a:xfrm>
          <a:prstGeom prst="rect">
            <a:avLst/>
          </a:prstGeom>
          <a:solidFill>
            <a:srgbClr val="276C46"/>
          </a:solidFill>
          <a:ln w="9525" cap="flat" cmpd="sng">
            <a:solidFill>
              <a:srgbClr val="276C46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283" name="Google Shape;283;g104476d1465_1_17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30584" y="6200600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8" name="Google Shape;324;g103996e1364_0_25">
            <a:extLst>
              <a:ext uri="{FF2B5EF4-FFF2-40B4-BE49-F238E27FC236}">
                <a16:creationId xmlns:a16="http://schemas.microsoft.com/office/drawing/2014/main" xmlns="" id="{DB5796CA-12EB-BB4C-8338-B127D750A026}"/>
              </a:ext>
            </a:extLst>
          </p:cNvPr>
          <p:cNvSpPr txBox="1">
            <a:spLocks/>
          </p:cNvSpPr>
          <p:nvPr/>
        </p:nvSpPr>
        <p:spPr>
          <a:xfrm>
            <a:off x="1143000" y="-91715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lnSpc>
                <a:spcPct val="90000"/>
              </a:lnSpc>
              <a:buClr>
                <a:schemeClr val="dk1"/>
              </a:buClr>
              <a:buSzPts val="5400"/>
              <a:buFont typeface="Century Gothic"/>
              <a:buNone/>
            </a:pPr>
            <a:r>
              <a:rPr lang="en-US" sz="3600" b="1" dirty="0">
                <a:solidFill>
                  <a:srgbClr val="3F2A67"/>
                </a:solidFill>
                <a:latin typeface="Verdana"/>
                <a:ea typeface="Verdana"/>
                <a:cs typeface="Verdana"/>
                <a:sym typeface="Verdana"/>
              </a:rPr>
              <a:t>6.3.1 Warm-Up: Notice and Wonder</a:t>
            </a:r>
          </a:p>
        </p:txBody>
      </p:sp>
      <p:pic>
        <p:nvPicPr>
          <p:cNvPr id="13" name="Google Shape;326;g103996e1364_0_25">
            <a:extLst>
              <a:ext uri="{FF2B5EF4-FFF2-40B4-BE49-F238E27FC236}">
                <a16:creationId xmlns:a16="http://schemas.microsoft.com/office/drawing/2014/main" xmlns="" id="{0B25478F-1F7B-DF44-A9BD-898178E878B3}"/>
              </a:ext>
            </a:extLst>
          </p:cNvPr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11480" y="197485"/>
            <a:ext cx="747300" cy="747300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xmlns="" id="{E1D7562E-134F-D14B-AF1A-DF40E11EF758}"/>
              </a:ext>
            </a:extLst>
          </p:cNvPr>
          <p:cNvSpPr txBox="1"/>
          <p:nvPr/>
        </p:nvSpPr>
        <p:spPr>
          <a:xfrm>
            <a:off x="914400" y="1386025"/>
            <a:ext cx="105156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+mj-lt"/>
              <a:buAutoNum type="arabicPeriod"/>
            </a:pPr>
            <a:r>
              <a:rPr lang="en-US" sz="2400" dirty="0">
                <a:latin typeface="Verdana"/>
              </a:rPr>
              <a:t>Draw a line that separates the </a:t>
            </a:r>
            <a:r>
              <a:rPr lang="en-US" sz="2400" dirty="0">
                <a:solidFill>
                  <a:srgbClr val="0070C0"/>
                </a:solidFill>
                <a:latin typeface="Verdana"/>
              </a:rPr>
              <a:t>circles</a:t>
            </a:r>
            <a:r>
              <a:rPr lang="en-US" sz="2400" dirty="0">
                <a:solidFill>
                  <a:srgbClr val="1F497D"/>
                </a:solidFill>
                <a:latin typeface="Verdana"/>
              </a:rPr>
              <a:t> </a:t>
            </a:r>
            <a:r>
              <a:rPr lang="en-US" sz="2400" dirty="0">
                <a:latin typeface="Verdana"/>
              </a:rPr>
              <a:t>and the </a:t>
            </a:r>
            <a:r>
              <a:rPr lang="en-US" sz="2400" b="1" dirty="0" err="1">
                <a:solidFill>
                  <a:srgbClr val="943734"/>
                </a:solidFill>
                <a:latin typeface="Verdana"/>
              </a:rPr>
              <a:t>X</a:t>
            </a:r>
            <a:r>
              <a:rPr lang="en-US" sz="2400" dirty="0" err="1">
                <a:latin typeface="Verdana"/>
              </a:rPr>
              <a:t>s</a:t>
            </a:r>
            <a:r>
              <a:rPr lang="en-US" sz="2400" dirty="0">
                <a:latin typeface="Verdana"/>
              </a:rPr>
              <a:t> on the coordinate grid shown.</a:t>
            </a:r>
            <a:endParaRPr lang="en-US" sz="24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3832356" y="2321125"/>
            <a:ext cx="4679688" cy="4476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9" name="Google Shape;282;g104476d1465_1_17"/>
          <p:cNvSpPr txBox="1"/>
          <p:nvPr/>
        </p:nvSpPr>
        <p:spPr>
          <a:xfrm>
            <a:off x="8897112" y="6457675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pg. 305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94902991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0"/>
            <a:ext cx="223200" cy="6866100"/>
          </a:xfrm>
          <a:prstGeom prst="rect">
            <a:avLst/>
          </a:prstGeom>
          <a:solidFill>
            <a:srgbClr val="276C46"/>
          </a:solidFill>
          <a:ln w="9525" cap="flat" cmpd="sng">
            <a:solidFill>
              <a:srgbClr val="276C46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283" name="Google Shape;283;g104476d1465_1_17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30584" y="6200600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xmlns="" id="{2FA392D8-3ED3-7940-83A8-1451AA8A08D4}"/>
                  </a:ext>
                </a:extLst>
              </p:cNvPr>
              <p:cNvSpPr txBox="1"/>
              <p:nvPr/>
            </p:nvSpPr>
            <p:spPr>
              <a:xfrm>
                <a:off x="534574" y="520394"/>
                <a:ext cx="10515600" cy="563231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914400" indent="-457200">
                  <a:buFont typeface="+mj-lt"/>
                  <a:buAutoNum type="alphaLcPeriod"/>
                </a:pPr>
                <a:r>
                  <a:rPr lang="en-US" sz="2000" dirty="0">
                    <a:latin typeface="Verdana"/>
                  </a:rPr>
                  <a:t>Find any </a:t>
                </a:r>
                <a:r>
                  <a:rPr lang="en-US" sz="2000" b="1" dirty="0">
                    <a:solidFill>
                      <a:srgbClr val="943734"/>
                    </a:solidFill>
                    <a:latin typeface="Verdana"/>
                  </a:rPr>
                  <a:t>X</a:t>
                </a:r>
                <a:r>
                  <a:rPr lang="en-US" sz="2000" dirty="0">
                    <a:latin typeface="Verdana"/>
                  </a:rPr>
                  <a:t> whose </a:t>
                </a:r>
                <a14:m>
                  <m:oMath xmlns:m="http://schemas.openxmlformats.org/officeDocument/2006/math">
                    <m:r>
                      <a:rPr lang="en-US" sz="2000" i="1" dirty="0">
                        <a:latin typeface="Cambria Math"/>
                      </a:rPr>
                      <m:t>𝑥</m:t>
                    </m:r>
                  </m:oMath>
                </a14:m>
                <a:r>
                  <a:rPr lang="en-US" sz="2000" dirty="0">
                    <a:latin typeface="Verdana"/>
                  </a:rPr>
                  <a:t>-coordinate is greater than the </a:t>
                </a:r>
                <a14:m>
                  <m:oMath xmlns:m="http://schemas.openxmlformats.org/officeDocument/2006/math">
                    <m:r>
                      <a:rPr lang="en-US" sz="2000" i="1" dirty="0">
                        <a:latin typeface="Cambria Math"/>
                      </a:rPr>
                      <m:t>𝑥</m:t>
                    </m:r>
                  </m:oMath>
                </a14:m>
                <a:r>
                  <a:rPr lang="en-US" sz="2000" dirty="0">
                    <a:latin typeface="Verdana"/>
                  </a:rPr>
                  <a:t>-coordinate of a circle. Write their ordered pairs.</a:t>
                </a:r>
              </a:p>
              <a:p>
                <a:pPr marL="914400" indent="-457200">
                  <a:buFont typeface="+mj-lt"/>
                  <a:buAutoNum type="alphaLcPeriod"/>
                </a:pPr>
                <a:endParaRPr lang="en-PH" sz="2000" dirty="0">
                  <a:latin typeface="Verdana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914400" indent="-457200">
                  <a:buFont typeface="+mj-lt"/>
                  <a:buAutoNum type="alphaLcPeriod"/>
                </a:pPr>
                <a:endParaRPr lang="en-PH" sz="2000" dirty="0">
                  <a:latin typeface="Verdana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914400" indent="-457200">
                  <a:buFont typeface="+mj-lt"/>
                  <a:buAutoNum type="alphaLcPeriod"/>
                </a:pPr>
                <a:endParaRPr lang="en-PH" sz="2000" dirty="0">
                  <a:latin typeface="Verdana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914400" indent="-457200">
                  <a:buFont typeface="+mj-lt"/>
                  <a:buAutoNum type="alphaLcPeriod"/>
                </a:pPr>
                <a:endParaRPr lang="en-PH" sz="2000" dirty="0">
                  <a:latin typeface="Verdana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914400" indent="-457200">
                  <a:buFont typeface="+mj-lt"/>
                  <a:buAutoNum type="alphaLcPeriod"/>
                </a:pPr>
                <a:endParaRPr lang="en-PH" sz="2000" dirty="0">
                  <a:latin typeface="Verdana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914400" indent="-457200">
                  <a:buFont typeface="+mj-lt"/>
                  <a:buAutoNum type="alphaLcPeriod"/>
                </a:pPr>
                <a:r>
                  <a:rPr lang="en-US" sz="2000" dirty="0">
                    <a:latin typeface="Verdana"/>
                  </a:rPr>
                  <a:t>What do you notice about the </a:t>
                </a:r>
                <a14:m>
                  <m:oMath xmlns:m="http://schemas.openxmlformats.org/officeDocument/2006/math">
                    <m:r>
                      <a:rPr lang="en-US" sz="2000" i="1" dirty="0">
                        <a:latin typeface="Cambria Math"/>
                      </a:rPr>
                      <m:t>𝑦</m:t>
                    </m:r>
                  </m:oMath>
                </a14:m>
                <a:r>
                  <a:rPr lang="en-US" sz="2000" dirty="0">
                    <a:latin typeface="Verdana"/>
                  </a:rPr>
                  <a:t>-coordinates?</a:t>
                </a:r>
              </a:p>
              <a:p>
                <a:pPr marL="914400" indent="-457200">
                  <a:buFont typeface="+mj-lt"/>
                  <a:buAutoNum type="alphaLcPeriod"/>
                </a:pPr>
                <a:endParaRPr lang="en-PH" sz="2000" dirty="0">
                  <a:latin typeface="Verdana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914400" indent="-457200">
                  <a:buFont typeface="+mj-lt"/>
                  <a:buAutoNum type="alphaLcPeriod"/>
                </a:pPr>
                <a:endParaRPr lang="en-PH" sz="2000" dirty="0">
                  <a:latin typeface="Verdana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914400" indent="-457200">
                  <a:buFont typeface="+mj-lt"/>
                  <a:buAutoNum type="alphaLcPeriod"/>
                </a:pPr>
                <a:r>
                  <a:rPr lang="en-US" sz="2000" dirty="0">
                    <a:latin typeface="Verdana"/>
                  </a:rPr>
                  <a:t>Find any </a:t>
                </a:r>
                <a:r>
                  <a:rPr lang="en-US" sz="2000" b="1" dirty="0">
                    <a:solidFill>
                      <a:srgbClr val="943734"/>
                    </a:solidFill>
                    <a:latin typeface="Verdana"/>
                  </a:rPr>
                  <a:t>X</a:t>
                </a:r>
                <a:r>
                  <a:rPr lang="en-US" sz="2000" dirty="0">
                    <a:latin typeface="Verdana"/>
                  </a:rPr>
                  <a:t> whose </a:t>
                </a:r>
                <a14:m>
                  <m:oMath xmlns:m="http://schemas.openxmlformats.org/officeDocument/2006/math">
                    <m:r>
                      <a:rPr lang="en-US" sz="2000" i="1" dirty="0">
                        <a:latin typeface="Cambria Math"/>
                      </a:rPr>
                      <m:t>𝑥</m:t>
                    </m:r>
                  </m:oMath>
                </a14:m>
                <a:r>
                  <a:rPr lang="en-US" sz="2000" dirty="0">
                    <a:latin typeface="Verdana"/>
                  </a:rPr>
                  <a:t>-coordinate is the same as the </a:t>
                </a:r>
                <a14:m>
                  <m:oMath xmlns:m="http://schemas.openxmlformats.org/officeDocument/2006/math">
                    <m:r>
                      <a:rPr lang="en-US" sz="2000" i="1" dirty="0">
                        <a:latin typeface="Cambria Math"/>
                      </a:rPr>
                      <m:t>𝑥</m:t>
                    </m:r>
                  </m:oMath>
                </a14:m>
                <a:r>
                  <a:rPr lang="en-US" sz="2000" dirty="0">
                    <a:latin typeface="Verdana"/>
                  </a:rPr>
                  <a:t>-coordinate of a circle. Write their ordered pairs.</a:t>
                </a:r>
              </a:p>
              <a:p>
                <a:pPr marL="914400" indent="-457200">
                  <a:buFont typeface="+mj-lt"/>
                  <a:buAutoNum type="alphaLcPeriod"/>
                </a:pPr>
                <a:endParaRPr lang="en-PH" sz="2000" dirty="0">
                  <a:latin typeface="Verdana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914400" indent="-457200">
                  <a:buFont typeface="+mj-lt"/>
                  <a:buAutoNum type="alphaLcPeriod"/>
                </a:pPr>
                <a:endParaRPr lang="en-PH" sz="2000" dirty="0">
                  <a:latin typeface="Verdana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914400" indent="-457200">
                  <a:buFont typeface="+mj-lt"/>
                  <a:buAutoNum type="alphaLcPeriod"/>
                </a:pPr>
                <a:endParaRPr lang="en-PH" sz="2000" dirty="0">
                  <a:latin typeface="Verdana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914400" indent="-457200">
                  <a:buFont typeface="+mj-lt"/>
                  <a:buAutoNum type="alphaLcPeriod"/>
                </a:pPr>
                <a:endParaRPr lang="en-PH" sz="2000" dirty="0">
                  <a:latin typeface="Verdana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914400" indent="-457200">
                  <a:buFont typeface="+mj-lt"/>
                  <a:buAutoNum type="alphaLcPeriod"/>
                </a:pPr>
                <a:endParaRPr lang="en-PH" sz="2000" dirty="0">
                  <a:latin typeface="Verdana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914400" indent="-457200">
                  <a:buFont typeface="+mj-lt"/>
                  <a:buAutoNum type="alphaLcPeriod"/>
                </a:pPr>
                <a:r>
                  <a:rPr lang="en-US" sz="2000" dirty="0">
                    <a:latin typeface="Verdana"/>
                  </a:rPr>
                  <a:t>What do you notice about the </a:t>
                </a:r>
                <a14:m>
                  <m:oMath xmlns:m="http://schemas.openxmlformats.org/officeDocument/2006/math">
                    <m:r>
                      <a:rPr lang="en-US" sz="2000" i="1" dirty="0">
                        <a:latin typeface="Cambria Math"/>
                      </a:rPr>
                      <m:t>𝑦</m:t>
                    </m:r>
                  </m:oMath>
                </a14:m>
                <a:r>
                  <a:rPr lang="en-US" sz="2000" dirty="0">
                    <a:latin typeface="Verdana"/>
                  </a:rPr>
                  <a:t>-coordinates?</a:t>
                </a:r>
                <a:endParaRPr lang="en-US" sz="20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</p:txBody>
          </p:sp>
        </mc:Choice>
        <mc:Fallback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xmlns:a14="http://schemas.microsoft.com/office/drawing/2010/main" xmlns="" id="{2FA392D8-3ED3-7940-83A8-1451AA8A08D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4574" y="520394"/>
                <a:ext cx="10515600" cy="5632311"/>
              </a:xfrm>
              <a:prstGeom prst="rect">
                <a:avLst/>
              </a:prstGeom>
              <a:blipFill rotWithShape="1">
                <a:blip r:embed="rId4"/>
                <a:stretch>
                  <a:fillRect t="-649" b="-974"/>
                </a:stretch>
              </a:blipFill>
            </p:spPr>
            <p:txBody>
              <a:bodyPr/>
              <a:lstStyle/>
              <a:p>
                <a:r>
                  <a:rPr lang="en-PH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2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07653948"/>
              </p:ext>
            </p:extLst>
          </p:nvPr>
        </p:nvGraphicFramePr>
        <p:xfrm>
          <a:off x="2630074" y="1387475"/>
          <a:ext cx="6496050" cy="1036320"/>
        </p:xfrm>
        <a:graphic>
          <a:graphicData uri="http://schemas.openxmlformats.org/drawingml/2006/table">
            <a:tbl>
              <a:tblPr firstRow="1" bandRow="1">
                <a:tableStyleId>{A91F0D33-8C57-4600-99A7-42BC86742BE1}</a:tableStyleId>
              </a:tblPr>
              <a:tblGrid>
                <a:gridCol w="3248025">
                  <a:extLst>
                    <a:ext uri="{9D8B030D-6E8A-4147-A177-3AD203B41FA5}">
                      <a16:colId xmlns:a16="http://schemas.microsoft.com/office/drawing/2014/main" xmlns="" val="20000"/>
                    </a:ext>
                  </a:extLst>
                </a:gridCol>
                <a:gridCol w="3248025">
                  <a:extLst>
                    <a:ext uri="{9D8B030D-6E8A-4147-A177-3AD203B41FA5}">
                      <a16:colId xmlns:a16="http://schemas.microsoft.com/office/drawing/2014/main" xmlns="" val="20001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>
                          <a:solidFill>
                            <a:srgbClr val="943734"/>
                          </a:solidFill>
                          <a:latin typeface="Verdana"/>
                        </a:rPr>
                        <a:t>X</a:t>
                      </a:r>
                      <a:endParaRPr lang="en-US" sz="2000" dirty="0">
                        <a:latin typeface="Verdana" pitchFamily="34" charset="0"/>
                        <a:ea typeface="Verdana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3200" dirty="0">
                          <a:solidFill>
                            <a:schemeClr val="accent1">
                              <a:lumMod val="75000"/>
                            </a:schemeClr>
                          </a:solidFill>
                          <a:latin typeface="Verdana" pitchFamily="34" charset="0"/>
                          <a:ea typeface="Verdana" pitchFamily="34" charset="0"/>
                        </a:rPr>
                        <a:t>●</a:t>
                      </a:r>
                    </a:p>
                  </a:txBody>
                  <a:tcPr marT="0" marB="9144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xmlns="" val="10000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ctr"/>
                      <a:endParaRPr lang="en-US" sz="2000" dirty="0">
                        <a:latin typeface="Verdana" pitchFamily="34" charset="0"/>
                        <a:ea typeface="Verdana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2000" dirty="0">
                        <a:latin typeface="Verdana" pitchFamily="34" charset="0"/>
                        <a:ea typeface="Verdana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xmlns="" val="10001"/>
                  </a:ext>
                </a:extLst>
              </a:tr>
            </a:tbl>
          </a:graphicData>
        </a:graphic>
      </p:graphicFrame>
      <p:graphicFrame>
        <p:nvGraphicFramePr>
          <p:cNvPr id="7" name="Table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69149695"/>
              </p:ext>
            </p:extLst>
          </p:nvPr>
        </p:nvGraphicFramePr>
        <p:xfrm>
          <a:off x="2645314" y="4385945"/>
          <a:ext cx="6496050" cy="1036320"/>
        </p:xfrm>
        <a:graphic>
          <a:graphicData uri="http://schemas.openxmlformats.org/drawingml/2006/table">
            <a:tbl>
              <a:tblPr firstRow="1" bandRow="1">
                <a:tableStyleId>{A91F0D33-8C57-4600-99A7-42BC86742BE1}</a:tableStyleId>
              </a:tblPr>
              <a:tblGrid>
                <a:gridCol w="3248025">
                  <a:extLst>
                    <a:ext uri="{9D8B030D-6E8A-4147-A177-3AD203B41FA5}">
                      <a16:colId xmlns:a16="http://schemas.microsoft.com/office/drawing/2014/main" xmlns="" val="20000"/>
                    </a:ext>
                  </a:extLst>
                </a:gridCol>
                <a:gridCol w="3248025">
                  <a:extLst>
                    <a:ext uri="{9D8B030D-6E8A-4147-A177-3AD203B41FA5}">
                      <a16:colId xmlns:a16="http://schemas.microsoft.com/office/drawing/2014/main" xmlns="" val="20001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>
                          <a:solidFill>
                            <a:srgbClr val="943734"/>
                          </a:solidFill>
                          <a:latin typeface="Verdana"/>
                        </a:rPr>
                        <a:t>X</a:t>
                      </a:r>
                      <a:endParaRPr lang="en-US" sz="2000" dirty="0">
                        <a:latin typeface="Verdana" pitchFamily="34" charset="0"/>
                        <a:ea typeface="Verdana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3200" dirty="0">
                          <a:solidFill>
                            <a:schemeClr val="accent1">
                              <a:lumMod val="75000"/>
                            </a:schemeClr>
                          </a:solidFill>
                          <a:latin typeface="Verdana" pitchFamily="34" charset="0"/>
                          <a:ea typeface="Verdana" pitchFamily="34" charset="0"/>
                        </a:rPr>
                        <a:t>●</a:t>
                      </a:r>
                    </a:p>
                  </a:txBody>
                  <a:tcPr marT="0" marB="9144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xmlns="" val="10000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ctr"/>
                      <a:endParaRPr lang="en-US" sz="2000" dirty="0">
                        <a:latin typeface="Verdana" pitchFamily="34" charset="0"/>
                        <a:ea typeface="Verdana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2000" dirty="0">
                        <a:latin typeface="Verdana" pitchFamily="34" charset="0"/>
                        <a:ea typeface="Verdana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xmlns="" val="10001"/>
                  </a:ext>
                </a:extLst>
              </a:tr>
            </a:tbl>
          </a:graphicData>
        </a:graphic>
      </p:graphicFrame>
      <p:sp>
        <p:nvSpPr>
          <p:cNvPr id="8" name="Google Shape;282;g104476d1465_1_17"/>
          <p:cNvSpPr txBox="1"/>
          <p:nvPr/>
        </p:nvSpPr>
        <p:spPr>
          <a:xfrm>
            <a:off x="8897112" y="6457675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pg. 305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59823303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11" name="Google Shape;311;g104476d1465_1_39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30584" y="6200600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313" name="Google Shape;313;g104476d1465_1_39"/>
          <p:cNvSpPr txBox="1">
            <a:spLocks noGrp="1"/>
          </p:cNvSpPr>
          <p:nvPr>
            <p:ph type="title" idx="4294967295"/>
          </p:nvPr>
        </p:nvSpPr>
        <p:spPr>
          <a:xfrm>
            <a:off x="4270248" y="2766145"/>
            <a:ext cx="5002742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 fontScale="90000"/>
          </a:bodyPr>
          <a:lstStyle/>
          <a:p>
            <a:pPr algn="ctr">
              <a:buClr>
                <a:schemeClr val="lt1"/>
              </a:buClr>
              <a:buSzPts val="4800"/>
            </a:pPr>
            <a:r>
              <a:rPr lang="en-US" sz="5500" b="1" dirty="0">
                <a:solidFill>
                  <a:srgbClr val="33BEA6"/>
                </a:solidFill>
                <a:latin typeface="Verdana"/>
                <a:ea typeface="Verdana"/>
                <a:cs typeface="Verdana"/>
                <a:sym typeface="Verdana"/>
              </a:rPr>
              <a:t>Collaboration</a:t>
            </a:r>
            <a:endParaRPr sz="5100" b="1" dirty="0">
              <a:solidFill>
                <a:srgbClr val="33BEA6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pic>
        <p:nvPicPr>
          <p:cNvPr id="3074" name="Picture 2">
            <a:extLst>
              <a:ext uri="{FF2B5EF4-FFF2-40B4-BE49-F238E27FC236}">
                <a16:creationId xmlns:a16="http://schemas.microsoft.com/office/drawing/2014/main" xmlns="" id="{D0821C8B-4657-A74D-94B5-D6CF373A174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3054096" y="2852923"/>
            <a:ext cx="1152144" cy="1152144"/>
          </a:xfrm>
          <a:prstGeom prst="rect">
            <a:avLst/>
          </a:prstGeom>
          <a:noFill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Google Shape;282;g104476d1465_1_17"/>
          <p:cNvSpPr txBox="1"/>
          <p:nvPr/>
        </p:nvSpPr>
        <p:spPr>
          <a:xfrm>
            <a:off x="8897112" y="6457675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pg. 305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" name="Google Shape;309;g104476d1465_1_39">
            <a:extLst>
              <a:ext uri="{FF2B5EF4-FFF2-40B4-BE49-F238E27FC236}">
                <a16:creationId xmlns:a16="http://schemas.microsoft.com/office/drawing/2014/main" xmlns="" id="{909254FB-2744-6075-053B-25CE6B5BD7B1}"/>
              </a:ext>
            </a:extLst>
          </p:cNvPr>
          <p:cNvSpPr/>
          <p:nvPr/>
        </p:nvSpPr>
        <p:spPr>
          <a:xfrm>
            <a:off x="0" y="0"/>
            <a:ext cx="2731200" cy="6866100"/>
          </a:xfrm>
          <a:prstGeom prst="rect">
            <a:avLst/>
          </a:prstGeom>
          <a:solidFill>
            <a:srgbClr val="276C46"/>
          </a:solidFill>
          <a:ln w="9525" cap="flat" cmpd="sng">
            <a:solidFill>
              <a:srgbClr val="276C46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56078870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0"/>
            <a:ext cx="223200" cy="6866100"/>
          </a:xfrm>
          <a:prstGeom prst="rect">
            <a:avLst/>
          </a:prstGeom>
          <a:solidFill>
            <a:srgbClr val="276C46"/>
          </a:solidFill>
          <a:ln w="9525" cap="flat" cmpd="sng">
            <a:solidFill>
              <a:srgbClr val="276C46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283" name="Google Shape;283;g104476d1465_1_17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30584" y="6200600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8" name="Google Shape;324;g103996e1364_0_25">
            <a:extLst>
              <a:ext uri="{FF2B5EF4-FFF2-40B4-BE49-F238E27FC236}">
                <a16:creationId xmlns:a16="http://schemas.microsoft.com/office/drawing/2014/main" xmlns="" id="{DB5796CA-12EB-BB4C-8338-B127D750A026}"/>
              </a:ext>
            </a:extLst>
          </p:cNvPr>
          <p:cNvSpPr txBox="1">
            <a:spLocks/>
          </p:cNvSpPr>
          <p:nvPr/>
        </p:nvSpPr>
        <p:spPr>
          <a:xfrm>
            <a:off x="1143000" y="60325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lnSpc>
                <a:spcPct val="90000"/>
              </a:lnSpc>
              <a:buClr>
                <a:schemeClr val="dk1"/>
              </a:buClr>
              <a:buSzPts val="5400"/>
              <a:buFont typeface="Century Gothic"/>
              <a:buNone/>
            </a:pPr>
            <a:r>
              <a:rPr lang="en-US" sz="3200" b="1" dirty="0">
                <a:solidFill>
                  <a:srgbClr val="33BEA6"/>
                </a:solidFill>
                <a:latin typeface="Verdana"/>
                <a:ea typeface="Verdana"/>
                <a:cs typeface="Verdana"/>
                <a:sym typeface="Verdana"/>
              </a:rPr>
              <a:t>6.3.2 Collaboration: Inequalities in </a:t>
            </a:r>
            <a:r>
              <a:rPr lang="en-US" sz="3200" b="1" dirty="0" smtClean="0">
                <a:solidFill>
                  <a:srgbClr val="33BEA6"/>
                </a:solidFill>
                <a:latin typeface="Verdana"/>
                <a:ea typeface="Verdana"/>
                <a:cs typeface="Verdana"/>
                <a:sym typeface="Verdana"/>
              </a:rPr>
              <a:t/>
            </a:r>
            <a:br>
              <a:rPr lang="en-US" sz="3200" b="1" dirty="0" smtClean="0">
                <a:solidFill>
                  <a:srgbClr val="33BEA6"/>
                </a:solidFill>
                <a:latin typeface="Verdana"/>
                <a:ea typeface="Verdana"/>
                <a:cs typeface="Verdana"/>
                <a:sym typeface="Verdana"/>
              </a:rPr>
            </a:br>
            <a:r>
              <a:rPr lang="en-US" sz="3200" b="1" dirty="0" smtClean="0">
                <a:solidFill>
                  <a:srgbClr val="33BEA6"/>
                </a:solidFill>
                <a:latin typeface="Verdana"/>
                <a:ea typeface="Verdana"/>
                <a:cs typeface="Verdana"/>
                <a:sym typeface="Verdana"/>
              </a:rPr>
              <a:t>Real-World </a:t>
            </a:r>
            <a:r>
              <a:rPr lang="en-US" sz="3200" b="1" dirty="0">
                <a:solidFill>
                  <a:srgbClr val="33BEA6"/>
                </a:solidFill>
                <a:latin typeface="Verdana"/>
                <a:ea typeface="Verdana"/>
                <a:cs typeface="Verdana"/>
                <a:sym typeface="Verdana"/>
              </a:rPr>
              <a:t>Contexts</a:t>
            </a:r>
          </a:p>
        </p:txBody>
      </p:sp>
      <p:pic>
        <p:nvPicPr>
          <p:cNvPr id="9" name="Picture 2">
            <a:extLst>
              <a:ext uri="{FF2B5EF4-FFF2-40B4-BE49-F238E27FC236}">
                <a16:creationId xmlns:a16="http://schemas.microsoft.com/office/drawing/2014/main" xmlns="" id="{A80EBD0F-404F-0B4B-AC09-DA5A6DF6026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411480" y="348271"/>
            <a:ext cx="749808" cy="749808"/>
          </a:xfrm>
          <a:prstGeom prst="rect">
            <a:avLst/>
          </a:prstGeom>
          <a:noFill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xmlns="" id="{E44DF7DE-9172-3E4E-B74A-7A51585FB6EA}"/>
              </a:ext>
            </a:extLst>
          </p:cNvPr>
          <p:cNvSpPr txBox="1"/>
          <p:nvPr/>
        </p:nvSpPr>
        <p:spPr>
          <a:xfrm>
            <a:off x="914400" y="1386025"/>
            <a:ext cx="10515600" cy="34163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latin typeface="Verdana"/>
              </a:rPr>
              <a:t>Work with your partner to complete the following.</a:t>
            </a:r>
          </a:p>
          <a:p>
            <a:endParaRPr lang="en-PH" sz="2400" dirty="0">
              <a:latin typeface="Verdana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457200" indent="-457200">
              <a:buFont typeface="+mj-lt"/>
              <a:buAutoNum type="arabicPeriod"/>
            </a:pPr>
            <a:r>
              <a:rPr lang="en-US" sz="2400" dirty="0">
                <a:latin typeface="Verdana"/>
              </a:rPr>
              <a:t>Three inequalities are given. </a:t>
            </a:r>
            <a:br>
              <a:rPr lang="en-US" sz="2400" dirty="0">
                <a:latin typeface="Verdana"/>
              </a:rPr>
            </a:br>
            <a:r>
              <a:rPr lang="en-US" sz="2400" dirty="0">
                <a:latin typeface="Verdana"/>
              </a:rPr>
              <a:t/>
            </a:r>
            <a:br>
              <a:rPr lang="en-US" sz="2400" dirty="0">
                <a:latin typeface="Verdana"/>
              </a:rPr>
            </a:br>
            <a:r>
              <a:rPr lang="en-US" sz="2400" dirty="0">
                <a:latin typeface="Verdana"/>
              </a:rPr>
              <a:t/>
            </a:r>
            <a:br>
              <a:rPr lang="en-US" sz="2400" dirty="0">
                <a:latin typeface="Verdana"/>
              </a:rPr>
            </a:br>
            <a:r>
              <a:rPr lang="en-US" sz="2400" dirty="0">
                <a:latin typeface="Verdana"/>
              </a:rPr>
              <a:t/>
            </a:r>
            <a:br>
              <a:rPr lang="en-US" sz="2400" dirty="0">
                <a:latin typeface="Verdana"/>
              </a:rPr>
            </a:br>
            <a:r>
              <a:rPr lang="en-US" sz="2400" dirty="0">
                <a:latin typeface="Verdana"/>
              </a:rPr>
              <a:t>Match each of the inequalities to one of the situations below. Then, solve the inequality and explain how it matches the situation.</a:t>
            </a:r>
            <a:endParaRPr lang="en-US" sz="24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2" name="Table 1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383974558"/>
                  </p:ext>
                </p:extLst>
              </p:nvPr>
            </p:nvGraphicFramePr>
            <p:xfrm>
              <a:off x="2538222" y="2844783"/>
              <a:ext cx="7772400" cy="457200"/>
            </p:xfrm>
            <a:graphic>
              <a:graphicData uri="http://schemas.openxmlformats.org/drawingml/2006/table">
                <a:tbl>
                  <a:tblPr firstRow="1" bandRow="1">
                    <a:tableStyleId>{A91F0D33-8C57-4600-99A7-42BC86742BE1}</a:tableStyleId>
                  </a:tblPr>
                  <a:tblGrid>
                    <a:gridCol w="2514600">
                      <a:extLst>
                        <a:ext uri="{9D8B030D-6E8A-4147-A177-3AD203B41FA5}">
                          <a16:colId xmlns:a16="http://schemas.microsoft.com/office/drawing/2014/main" xmlns="" val="20000"/>
                        </a:ext>
                      </a:extLst>
                    </a:gridCol>
                    <a:gridCol w="2514600">
                      <a:extLst>
                        <a:ext uri="{9D8B030D-6E8A-4147-A177-3AD203B41FA5}">
                          <a16:colId xmlns:a16="http://schemas.microsoft.com/office/drawing/2014/main" xmlns="" val="20001"/>
                        </a:ext>
                      </a:extLst>
                    </a:gridCol>
                    <a:gridCol w="2743200">
                      <a:extLst>
                        <a:ext uri="{9D8B030D-6E8A-4147-A177-3AD203B41FA5}">
                          <a16:colId xmlns:a16="http://schemas.microsoft.com/office/drawing/2014/main" xmlns="" val="20002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pPr algn="l"/>
                          <a14:m>
                            <m:oMathPara xmlns:m="http://schemas.openxmlformats.org/officeDocument/2006/math">
                              <m:oMathParaPr>
                                <m:jc m:val="left"/>
                              </m:oMathParaPr>
                              <m:oMath xmlns:m="http://schemas.openxmlformats.org/officeDocument/2006/math">
                                <m:r>
                                  <a:rPr lang="en-PH" sz="2400" b="0" i="1" smtClean="0">
                                    <a:latin typeface="Cambria Math"/>
                                    <a:ea typeface="Verdana" pitchFamily="34" charset="0"/>
                                  </a:rPr>
                                  <m:t>5</m:t>
                                </m:r>
                                <m:r>
                                  <a:rPr lang="en-PH" sz="2400" b="0" i="1" smtClean="0">
                                    <a:latin typeface="Cambria Math"/>
                                    <a:ea typeface="Verdana" pitchFamily="34" charset="0"/>
                                  </a:rPr>
                                  <m:t>h</m:t>
                                </m:r>
                                <m:r>
                                  <a:rPr lang="en-PH" sz="2400" b="0" i="1" smtClean="0">
                                    <a:latin typeface="Cambria Math"/>
                                    <a:ea typeface="Verdana" pitchFamily="34" charset="0"/>
                                  </a:rPr>
                                  <m:t>+4.5≤20</m:t>
                                </m:r>
                              </m:oMath>
                            </m:oMathPara>
                          </a14:m>
                          <a:endParaRPr lang="en-US" sz="2400" dirty="0">
                            <a:latin typeface="Verdana" pitchFamily="34" charset="0"/>
                            <a:ea typeface="Verdana" pitchFamily="34" charset="0"/>
                          </a:endParaRP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l"/>
                          <a14:m>
                            <m:oMathPara xmlns:m="http://schemas.openxmlformats.org/officeDocument/2006/math">
                              <m:oMathParaPr>
                                <m:jc m:val="left"/>
                              </m:oMathParaPr>
                              <m:oMath xmlns:m="http://schemas.openxmlformats.org/officeDocument/2006/math">
                                <m:r>
                                  <a:rPr lang="en-PH" sz="2400" b="0" i="1" smtClean="0">
                                    <a:latin typeface="Cambria Math"/>
                                    <a:ea typeface="Verdana" pitchFamily="34" charset="0"/>
                                  </a:rPr>
                                  <m:t>4.5</m:t>
                                </m:r>
                                <m:r>
                                  <a:rPr lang="en-PH" sz="2400" b="0" i="1" smtClean="0">
                                    <a:latin typeface="Cambria Math"/>
                                    <a:ea typeface="Cambria Math"/>
                                  </a:rPr>
                                  <m:t>≤5</m:t>
                                </m:r>
                                <m:r>
                                  <a:rPr lang="en-PH" sz="2400" b="0" i="1" smtClean="0">
                                    <a:latin typeface="Cambria Math"/>
                                    <a:ea typeface="Cambria Math"/>
                                  </a:rPr>
                                  <m:t>𝑘</m:t>
                                </m:r>
                                <m:r>
                                  <a:rPr lang="en-PH" sz="2400" b="0" i="1" smtClean="0">
                                    <a:latin typeface="Cambria Math"/>
                                    <a:ea typeface="Cambria Math"/>
                                  </a:rPr>
                                  <m:t>≤20</m:t>
                                </m:r>
                              </m:oMath>
                            </m:oMathPara>
                          </a14:m>
                          <a:endParaRPr lang="en-US" sz="2400" dirty="0">
                            <a:latin typeface="Verdana" pitchFamily="34" charset="0"/>
                            <a:ea typeface="Verdana" pitchFamily="34" charset="0"/>
                          </a:endParaRP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l"/>
                          <a14:m>
                            <m:oMathPara xmlns:m="http://schemas.openxmlformats.org/officeDocument/2006/math">
                              <m:oMathParaPr>
                                <m:jc m:val="left"/>
                              </m:oMathParaPr>
                              <m:oMath xmlns:m="http://schemas.openxmlformats.org/officeDocument/2006/math">
                                <m:r>
                                  <a:rPr lang="en-PH" sz="2400" b="0" i="1" smtClean="0">
                                    <a:latin typeface="Cambria Math"/>
                                    <a:ea typeface="Verdana" pitchFamily="34" charset="0"/>
                                  </a:rPr>
                                  <m:t>5</m:t>
                                </m:r>
                                <m:r>
                                  <a:rPr lang="en-PH" sz="2400" b="0" i="1" smtClean="0">
                                    <a:latin typeface="Cambria Math"/>
                                    <a:ea typeface="Verdana" pitchFamily="34" charset="0"/>
                                  </a:rPr>
                                  <m:t>𝑚</m:t>
                                </m:r>
                                <m:r>
                                  <a:rPr lang="en-PH" sz="2400" b="0" i="1" smtClean="0">
                                    <a:latin typeface="Cambria Math"/>
                                    <a:ea typeface="Cambria Math"/>
                                  </a:rPr>
                                  <m:t>&gt;20+4.5</m:t>
                                </m:r>
                                <m:r>
                                  <a:rPr lang="en-PH" sz="2400" b="0" i="1" smtClean="0">
                                    <a:latin typeface="Cambria Math"/>
                                    <a:ea typeface="Cambria Math"/>
                                  </a:rPr>
                                  <m:t>𝑚</m:t>
                                </m:r>
                              </m:oMath>
                            </m:oMathPara>
                          </a14:m>
                          <a:endParaRPr lang="en-US" sz="2400" dirty="0">
                            <a:latin typeface="Verdana" pitchFamily="34" charset="0"/>
                            <a:ea typeface="Verdana" pitchFamily="34" charset="0"/>
                          </a:endParaRP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xmlns="" val="10000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2" name="Table 1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383974558"/>
                  </p:ext>
                </p:extLst>
              </p:nvPr>
            </p:nvGraphicFramePr>
            <p:xfrm>
              <a:off x="2538222" y="2844783"/>
              <a:ext cx="7772400" cy="457200"/>
            </p:xfrm>
            <a:graphic>
              <a:graphicData uri="http://schemas.openxmlformats.org/drawingml/2006/table">
                <a:tbl>
                  <a:tblPr firstRow="1" bandRow="1">
                    <a:tableStyleId>{A91F0D33-8C57-4600-99A7-42BC86742BE1}</a:tableStyleId>
                  </a:tblPr>
                  <a:tblGrid>
                    <a:gridCol w="2514600">
                      <a:extLst>
                        <a:ext uri="{9D8B030D-6E8A-4147-A177-3AD203B41FA5}">
                          <a16:colId xmlns:a16="http://schemas.microsoft.com/office/drawing/2014/main" val="20000"/>
                        </a:ext>
                      </a:extLst>
                    </a:gridCol>
                    <a:gridCol w="2514600">
                      <a:extLst>
                        <a:ext uri="{9D8B030D-6E8A-4147-A177-3AD203B41FA5}">
                          <a16:colId xmlns:a16="http://schemas.microsoft.com/office/drawing/2014/main" val="20001"/>
                        </a:ext>
                      </a:extLst>
                    </a:gridCol>
                    <a:gridCol w="2743200">
                      <a:extLst>
                        <a:ext uri="{9D8B030D-6E8A-4147-A177-3AD203B41FA5}">
                          <a16:colId xmlns:a16="http://schemas.microsoft.com/office/drawing/2014/main" val="20002"/>
                        </a:ext>
                      </a:extLst>
                    </a:gridCol>
                  </a:tblGrid>
                  <a:tr h="45720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5"/>
                          <a:stretch>
                            <a:fillRect r="-210101" b="-270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5"/>
                          <a:stretch>
                            <a:fillRect l="-99497" r="-109045" b="-270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5"/>
                          <a:stretch>
                            <a:fillRect l="-183796" r="-463" b="-2703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11" name="Google Shape;282;g104476d1465_1_17"/>
          <p:cNvSpPr txBox="1"/>
          <p:nvPr/>
        </p:nvSpPr>
        <p:spPr>
          <a:xfrm>
            <a:off x="8897112" y="6457675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pg. 305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67443704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5511394"/>
              </p:ext>
            </p:extLst>
          </p:nvPr>
        </p:nvGraphicFramePr>
        <p:xfrm>
          <a:off x="2007765" y="520393"/>
          <a:ext cx="8317336" cy="5425440"/>
        </p:xfrm>
        <a:graphic>
          <a:graphicData uri="http://schemas.openxmlformats.org/drawingml/2006/table">
            <a:tbl>
              <a:tblPr firstRow="1" bandRow="1">
                <a:tableStyleId>{A91F0D33-8C57-4600-99A7-42BC86742BE1}</a:tableStyleId>
              </a:tblPr>
              <a:tblGrid>
                <a:gridCol w="4158668">
                  <a:extLst>
                    <a:ext uri="{9D8B030D-6E8A-4147-A177-3AD203B41FA5}">
                      <a16:colId xmlns:a16="http://schemas.microsoft.com/office/drawing/2014/main" xmlns="" val="20000"/>
                    </a:ext>
                  </a:extLst>
                </a:gridCol>
                <a:gridCol w="4158668">
                  <a:extLst>
                    <a:ext uri="{9D8B030D-6E8A-4147-A177-3AD203B41FA5}">
                      <a16:colId xmlns:a16="http://schemas.microsoft.com/office/drawing/2014/main" xmlns="" val="20001"/>
                    </a:ext>
                  </a:extLst>
                </a:gridCol>
              </a:tblGrid>
              <a:tr h="457200">
                <a:tc gridSpan="2">
                  <a:txBody>
                    <a:bodyPr/>
                    <a:lstStyle/>
                    <a:p>
                      <a:pPr algn="ctr"/>
                      <a:r>
                        <a:rPr lang="en-US" sz="2000" b="1" i="0" u="none" strike="noStrike" dirty="0">
                          <a:solidFill>
                            <a:srgbClr val="000000"/>
                          </a:solidFill>
                          <a:effectLst/>
                          <a:latin typeface="Verdana"/>
                        </a:rPr>
                        <a:t>Situation A</a:t>
                      </a:r>
                      <a:endParaRPr lang="en-US" sz="2000" dirty="0">
                        <a:latin typeface="Verdana" pitchFamily="34" charset="0"/>
                        <a:ea typeface="Verdana" pitchFamily="34" charset="0"/>
                      </a:endParaRPr>
                    </a:p>
                  </a:txBody>
                  <a:tcPr marT="91440" marB="9144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xmlns="" val="10000"/>
                  </a:ext>
                </a:extLst>
              </a:tr>
              <a:tr h="457200">
                <a:tc gridSpan="2">
                  <a:txBody>
                    <a:bodyPr/>
                    <a:lstStyle/>
                    <a:p>
                      <a:pPr algn="l"/>
                      <a:r>
                        <a:rPr lang="en-US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Verdana"/>
                        </a:rPr>
                        <a:t>Markus went to his local coffee shop to get a latte and some coffee beans. The latte cost </a:t>
                      </a:r>
                      <a:r>
                        <a:rPr lang="en-US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Cambria Math"/>
                        </a:rPr>
                        <a:t>$4.50</a:t>
                      </a:r>
                      <a:r>
                        <a:rPr lang="en-US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Verdana"/>
                        </a:rPr>
                        <a:t> and beans cost </a:t>
                      </a:r>
                      <a:r>
                        <a:rPr lang="en-US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Cambria Math"/>
                        </a:rPr>
                        <a:t>$5</a:t>
                      </a:r>
                      <a:r>
                        <a:rPr lang="en-US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Verdana"/>
                        </a:rPr>
                        <a:t> per pound. He has a </a:t>
                      </a:r>
                      <a:r>
                        <a:rPr lang="en-US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Cambria Math"/>
                        </a:rPr>
                        <a:t>$20</a:t>
                      </a:r>
                      <a:r>
                        <a:rPr lang="en-US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Verdana"/>
                        </a:rPr>
                        <a:t> bill and wants to know how many pounds of beans he can buy.</a:t>
                      </a:r>
                      <a:endParaRPr lang="en-US" sz="2000" dirty="0">
                        <a:latin typeface="Verdana" pitchFamily="34" charset="0"/>
                        <a:ea typeface="Verdana" pitchFamily="34" charset="0"/>
                      </a:endParaRPr>
                    </a:p>
                  </a:txBody>
                  <a:tcPr marT="91440" marB="9144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xmlns="" val="10001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ctr"/>
                      <a:r>
                        <a:rPr lang="en-US" sz="2000" b="1" i="0" u="none" strike="noStrike" dirty="0">
                          <a:solidFill>
                            <a:srgbClr val="000000"/>
                          </a:solidFill>
                          <a:effectLst/>
                          <a:latin typeface="Verdana"/>
                        </a:rPr>
                        <a:t>Matching Inequality </a:t>
                      </a:r>
                      <a:br>
                        <a:rPr lang="en-US" sz="2000" b="1" i="0" u="none" strike="noStrike" dirty="0">
                          <a:solidFill>
                            <a:srgbClr val="000000"/>
                          </a:solidFill>
                          <a:effectLst/>
                          <a:latin typeface="Verdana"/>
                        </a:rPr>
                      </a:br>
                      <a:r>
                        <a:rPr lang="en-US" sz="2000" b="1" i="0" u="none" strike="noStrike" dirty="0">
                          <a:solidFill>
                            <a:srgbClr val="000000"/>
                          </a:solidFill>
                          <a:effectLst/>
                          <a:latin typeface="Verdana"/>
                        </a:rPr>
                        <a:t>and Solution</a:t>
                      </a:r>
                      <a:endParaRPr lang="en-US" sz="2000" b="1" dirty="0">
                        <a:latin typeface="Verdana" pitchFamily="34" charset="0"/>
                        <a:ea typeface="Verdana" pitchFamily="34" charset="0"/>
                      </a:endParaRPr>
                    </a:p>
                  </a:txBody>
                  <a:tcPr marT="91440" marB="9144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i="0" u="none" strike="noStrike" dirty="0">
                          <a:solidFill>
                            <a:srgbClr val="000000"/>
                          </a:solidFill>
                          <a:effectLst/>
                          <a:latin typeface="Verdana"/>
                        </a:rPr>
                        <a:t>How does the inequality</a:t>
                      </a:r>
                      <a:br>
                        <a:rPr lang="en-US" sz="2000" b="1" i="0" u="none" strike="noStrike" dirty="0">
                          <a:solidFill>
                            <a:srgbClr val="000000"/>
                          </a:solidFill>
                          <a:effectLst/>
                          <a:latin typeface="Verdana"/>
                        </a:rPr>
                      </a:br>
                      <a:r>
                        <a:rPr lang="en-US" sz="2000" b="1" i="0" u="none" strike="noStrike" dirty="0">
                          <a:solidFill>
                            <a:srgbClr val="000000"/>
                          </a:solidFill>
                          <a:effectLst/>
                          <a:latin typeface="Verdana"/>
                        </a:rPr>
                        <a:t>match the situation?</a:t>
                      </a:r>
                      <a:endParaRPr lang="en-US" sz="2000" b="1" dirty="0">
                        <a:latin typeface="Verdana" pitchFamily="34" charset="0"/>
                        <a:ea typeface="Verdana" pitchFamily="34" charset="0"/>
                      </a:endParaRPr>
                    </a:p>
                  </a:txBody>
                  <a:tcPr marT="91440" marB="9144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2"/>
                  </a:ext>
                </a:extLst>
              </a:tr>
              <a:tr h="2743200">
                <a:tc>
                  <a:txBody>
                    <a:bodyPr/>
                    <a:lstStyle/>
                    <a:p>
                      <a:pPr algn="ctr"/>
                      <a:endParaRPr lang="en-US" sz="2000" dirty="0">
                        <a:latin typeface="Verdana" pitchFamily="34" charset="0"/>
                        <a:ea typeface="Verdana" pitchFamily="34" charset="0"/>
                      </a:endParaRPr>
                    </a:p>
                  </a:txBody>
                  <a:tcPr marT="91440" marB="9144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2000" dirty="0">
                        <a:latin typeface="Verdana" pitchFamily="34" charset="0"/>
                        <a:ea typeface="Verdana" pitchFamily="34" charset="0"/>
                      </a:endParaRPr>
                    </a:p>
                  </a:txBody>
                  <a:tcPr marT="91440" marB="9144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xmlns="" val="10003"/>
                  </a:ext>
                </a:extLst>
              </a:tr>
            </a:tbl>
          </a:graphicData>
        </a:graphic>
      </p:graphicFrame>
      <p:sp>
        <p:nvSpPr>
          <p:cNvPr id="278" name="Google Shape;278;g104476d1465_1_17"/>
          <p:cNvSpPr/>
          <p:nvPr/>
        </p:nvSpPr>
        <p:spPr>
          <a:xfrm>
            <a:off x="0" y="0"/>
            <a:ext cx="223200" cy="6866100"/>
          </a:xfrm>
          <a:prstGeom prst="rect">
            <a:avLst/>
          </a:prstGeom>
          <a:solidFill>
            <a:srgbClr val="276C46"/>
          </a:solidFill>
          <a:ln w="9525" cap="flat" cmpd="sng">
            <a:solidFill>
              <a:srgbClr val="276C46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283" name="Google Shape;283;g104476d1465_1_17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30584" y="6200600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7" name="Google Shape;282;g104476d1465_1_17"/>
          <p:cNvSpPr txBox="1"/>
          <p:nvPr/>
        </p:nvSpPr>
        <p:spPr>
          <a:xfrm>
            <a:off x="8897112" y="6457675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pg. 305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313484167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96319554"/>
              </p:ext>
            </p:extLst>
          </p:nvPr>
        </p:nvGraphicFramePr>
        <p:xfrm>
          <a:off x="2007765" y="520393"/>
          <a:ext cx="8317336" cy="5501640"/>
        </p:xfrm>
        <a:graphic>
          <a:graphicData uri="http://schemas.openxmlformats.org/drawingml/2006/table">
            <a:tbl>
              <a:tblPr firstRow="1" bandRow="1">
                <a:tableStyleId>{A91F0D33-8C57-4600-99A7-42BC86742BE1}</a:tableStyleId>
              </a:tblPr>
              <a:tblGrid>
                <a:gridCol w="4158668">
                  <a:extLst>
                    <a:ext uri="{9D8B030D-6E8A-4147-A177-3AD203B41FA5}">
                      <a16:colId xmlns:a16="http://schemas.microsoft.com/office/drawing/2014/main" xmlns="" val="20000"/>
                    </a:ext>
                  </a:extLst>
                </a:gridCol>
                <a:gridCol w="4158668">
                  <a:extLst>
                    <a:ext uri="{9D8B030D-6E8A-4147-A177-3AD203B41FA5}">
                      <a16:colId xmlns:a16="http://schemas.microsoft.com/office/drawing/2014/main" xmlns="" val="20001"/>
                    </a:ext>
                  </a:extLst>
                </a:gridCol>
              </a:tblGrid>
              <a:tr h="457200">
                <a:tc gridSpan="2">
                  <a:txBody>
                    <a:bodyPr/>
                    <a:lstStyle/>
                    <a:p>
                      <a:pPr algn="ctr"/>
                      <a:r>
                        <a:rPr lang="en-US" sz="2000" b="1" i="0" u="none" strike="noStrike" dirty="0">
                          <a:solidFill>
                            <a:srgbClr val="000000"/>
                          </a:solidFill>
                          <a:effectLst/>
                          <a:latin typeface="Verdana"/>
                        </a:rPr>
                        <a:t>Situation B</a:t>
                      </a:r>
                      <a:endParaRPr lang="en-US" sz="2000" dirty="0">
                        <a:latin typeface="Verdana" pitchFamily="34" charset="0"/>
                        <a:ea typeface="Verdana" pitchFamily="34" charset="0"/>
                      </a:endParaRPr>
                    </a:p>
                  </a:txBody>
                  <a:tcPr marT="91440" marB="9144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xmlns="" val="10000"/>
                  </a:ext>
                </a:extLst>
              </a:tr>
              <a:tr h="457200">
                <a:tc gridSpan="2">
                  <a:txBody>
                    <a:bodyPr/>
                    <a:lstStyle/>
                    <a:p>
                      <a:pPr algn="l"/>
                      <a:r>
                        <a:rPr lang="en-US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Verdana"/>
                        </a:rPr>
                        <a:t>At Rolling Lanes Bowling Alley, the cost is </a:t>
                      </a:r>
                      <a:r>
                        <a:rPr lang="en-US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Cambria Math"/>
                        </a:rPr>
                        <a:t>$5</a:t>
                      </a:r>
                      <a:r>
                        <a:rPr lang="en-US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Verdana"/>
                        </a:rPr>
                        <a:t> per game for </a:t>
                      </a:r>
                      <a:br>
                        <a:rPr lang="en-US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Verdana"/>
                        </a:rPr>
                      </a:br>
                      <a:r>
                        <a:rPr lang="en-US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Verdana"/>
                        </a:rPr>
                        <a:t>non-members and </a:t>
                      </a:r>
                      <a:r>
                        <a:rPr lang="en-US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Cambria Math"/>
                        </a:rPr>
                        <a:t>$4.50</a:t>
                      </a:r>
                      <a:r>
                        <a:rPr lang="en-US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Verdana"/>
                        </a:rPr>
                        <a:t> per game for members. There is a </a:t>
                      </a:r>
                      <a:br>
                        <a:rPr lang="en-US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Verdana"/>
                        </a:rPr>
                      </a:br>
                      <a:r>
                        <a:rPr lang="en-US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Cambria Math"/>
                        </a:rPr>
                        <a:t>$20</a:t>
                      </a:r>
                      <a:r>
                        <a:rPr lang="en-US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Verdana"/>
                        </a:rPr>
                        <a:t> annual fee to be a member. Luna wants to know how many games she needs to play in a year in order for the membership to be a good deal.</a:t>
                      </a:r>
                      <a:endParaRPr lang="en-US" sz="2000" dirty="0">
                        <a:latin typeface="Verdana" pitchFamily="34" charset="0"/>
                        <a:ea typeface="Verdana" pitchFamily="34" charset="0"/>
                      </a:endParaRPr>
                    </a:p>
                  </a:txBody>
                  <a:tcPr marT="91440" marB="9144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xmlns="" val="10001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ctr"/>
                      <a:r>
                        <a:rPr lang="en-US" sz="2000" b="1" i="0" u="none" strike="noStrike" dirty="0">
                          <a:solidFill>
                            <a:srgbClr val="000000"/>
                          </a:solidFill>
                          <a:effectLst/>
                          <a:latin typeface="Verdana"/>
                        </a:rPr>
                        <a:t>Matching Inequality </a:t>
                      </a:r>
                      <a:br>
                        <a:rPr lang="en-US" sz="2000" b="1" i="0" u="none" strike="noStrike" dirty="0">
                          <a:solidFill>
                            <a:srgbClr val="000000"/>
                          </a:solidFill>
                          <a:effectLst/>
                          <a:latin typeface="Verdana"/>
                        </a:rPr>
                      </a:br>
                      <a:r>
                        <a:rPr lang="en-US" sz="2000" b="1" i="0" u="none" strike="noStrike" dirty="0">
                          <a:solidFill>
                            <a:srgbClr val="000000"/>
                          </a:solidFill>
                          <a:effectLst/>
                          <a:latin typeface="Verdana"/>
                        </a:rPr>
                        <a:t>and Solution</a:t>
                      </a:r>
                      <a:endParaRPr lang="en-US" sz="2000" b="1" dirty="0">
                        <a:latin typeface="Verdana" pitchFamily="34" charset="0"/>
                        <a:ea typeface="Verdana" pitchFamily="34" charset="0"/>
                      </a:endParaRPr>
                    </a:p>
                  </a:txBody>
                  <a:tcPr marT="91440" marB="9144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i="0" u="none" strike="noStrike" dirty="0">
                          <a:solidFill>
                            <a:srgbClr val="000000"/>
                          </a:solidFill>
                          <a:effectLst/>
                          <a:latin typeface="Verdana"/>
                        </a:rPr>
                        <a:t>How does the inequality</a:t>
                      </a:r>
                      <a:br>
                        <a:rPr lang="en-US" sz="2000" b="1" i="0" u="none" strike="noStrike" dirty="0">
                          <a:solidFill>
                            <a:srgbClr val="000000"/>
                          </a:solidFill>
                          <a:effectLst/>
                          <a:latin typeface="Verdana"/>
                        </a:rPr>
                      </a:br>
                      <a:r>
                        <a:rPr lang="en-US" sz="2000" b="1" i="0" u="none" strike="noStrike" dirty="0">
                          <a:solidFill>
                            <a:srgbClr val="000000"/>
                          </a:solidFill>
                          <a:effectLst/>
                          <a:latin typeface="Verdana"/>
                        </a:rPr>
                        <a:t>match the situation?</a:t>
                      </a:r>
                      <a:endParaRPr lang="en-US" sz="2000" b="1" dirty="0">
                        <a:latin typeface="Verdana" pitchFamily="34" charset="0"/>
                        <a:ea typeface="Verdana" pitchFamily="34" charset="0"/>
                      </a:endParaRPr>
                    </a:p>
                  </a:txBody>
                  <a:tcPr marT="91440" marB="9144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2"/>
                  </a:ext>
                </a:extLst>
              </a:tr>
              <a:tr h="2514600">
                <a:tc>
                  <a:txBody>
                    <a:bodyPr/>
                    <a:lstStyle/>
                    <a:p>
                      <a:pPr algn="ctr"/>
                      <a:endParaRPr lang="en-US" sz="2000" dirty="0">
                        <a:latin typeface="Verdana" pitchFamily="34" charset="0"/>
                        <a:ea typeface="Verdana" pitchFamily="34" charset="0"/>
                      </a:endParaRPr>
                    </a:p>
                  </a:txBody>
                  <a:tcPr marT="91440" marB="9144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2000" dirty="0">
                        <a:latin typeface="Verdana" pitchFamily="34" charset="0"/>
                        <a:ea typeface="Verdana" pitchFamily="34" charset="0"/>
                      </a:endParaRPr>
                    </a:p>
                  </a:txBody>
                  <a:tcPr marT="91440" marB="9144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xmlns="" val="10003"/>
                  </a:ext>
                </a:extLst>
              </a:tr>
            </a:tbl>
          </a:graphicData>
        </a:graphic>
      </p:graphicFrame>
      <p:sp>
        <p:nvSpPr>
          <p:cNvPr id="278" name="Google Shape;278;g104476d1465_1_17"/>
          <p:cNvSpPr/>
          <p:nvPr/>
        </p:nvSpPr>
        <p:spPr>
          <a:xfrm>
            <a:off x="0" y="0"/>
            <a:ext cx="223200" cy="6866100"/>
          </a:xfrm>
          <a:prstGeom prst="rect">
            <a:avLst/>
          </a:prstGeom>
          <a:solidFill>
            <a:srgbClr val="276C46"/>
          </a:solidFill>
          <a:ln w="9525" cap="flat" cmpd="sng">
            <a:solidFill>
              <a:srgbClr val="276C46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283" name="Google Shape;283;g104476d1465_1_17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30584" y="6200600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6" name="Google Shape;282;g104476d1465_1_17"/>
          <p:cNvSpPr txBox="1"/>
          <p:nvPr/>
        </p:nvSpPr>
        <p:spPr>
          <a:xfrm>
            <a:off x="8897112" y="6457675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pg. 306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320128662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12555427"/>
              </p:ext>
            </p:extLst>
          </p:nvPr>
        </p:nvGraphicFramePr>
        <p:xfrm>
          <a:off x="2007765" y="520393"/>
          <a:ext cx="8317336" cy="5501640"/>
        </p:xfrm>
        <a:graphic>
          <a:graphicData uri="http://schemas.openxmlformats.org/drawingml/2006/table">
            <a:tbl>
              <a:tblPr firstRow="1" bandRow="1">
                <a:tableStyleId>{A91F0D33-8C57-4600-99A7-42BC86742BE1}</a:tableStyleId>
              </a:tblPr>
              <a:tblGrid>
                <a:gridCol w="4158668">
                  <a:extLst>
                    <a:ext uri="{9D8B030D-6E8A-4147-A177-3AD203B41FA5}">
                      <a16:colId xmlns:a16="http://schemas.microsoft.com/office/drawing/2014/main" xmlns="" val="20000"/>
                    </a:ext>
                  </a:extLst>
                </a:gridCol>
                <a:gridCol w="4158668">
                  <a:extLst>
                    <a:ext uri="{9D8B030D-6E8A-4147-A177-3AD203B41FA5}">
                      <a16:colId xmlns:a16="http://schemas.microsoft.com/office/drawing/2014/main" xmlns="" val="20001"/>
                    </a:ext>
                  </a:extLst>
                </a:gridCol>
              </a:tblGrid>
              <a:tr h="457200">
                <a:tc gridSpan="2">
                  <a:txBody>
                    <a:bodyPr/>
                    <a:lstStyle/>
                    <a:p>
                      <a:pPr algn="ctr"/>
                      <a:r>
                        <a:rPr lang="en-US" sz="2000" b="1" i="0" u="none" strike="noStrike" dirty="0">
                          <a:solidFill>
                            <a:srgbClr val="000000"/>
                          </a:solidFill>
                          <a:effectLst/>
                          <a:latin typeface="Verdana"/>
                        </a:rPr>
                        <a:t>Situation C</a:t>
                      </a:r>
                      <a:endParaRPr lang="en-US" sz="2000" dirty="0">
                        <a:latin typeface="Verdana" pitchFamily="34" charset="0"/>
                        <a:ea typeface="Verdana" pitchFamily="34" charset="0"/>
                      </a:endParaRPr>
                    </a:p>
                  </a:txBody>
                  <a:tcPr marT="91440" marB="9144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xmlns="" val="10000"/>
                  </a:ext>
                </a:extLst>
              </a:tr>
              <a:tr h="457200">
                <a:tc gridSpan="2">
                  <a:txBody>
                    <a:bodyPr/>
                    <a:lstStyle/>
                    <a:p>
                      <a:pPr algn="l"/>
                      <a:r>
                        <a:rPr lang="en-US" sz="20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Verdana"/>
                        </a:rPr>
                        <a:t>Ihab</a:t>
                      </a:r>
                      <a:r>
                        <a:rPr lang="en-US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Verdana"/>
                        </a:rPr>
                        <a:t> is training for a marathon. He runs at a pace of </a:t>
                      </a:r>
                      <a:r>
                        <a:rPr lang="en-US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Cambria Math"/>
                        </a:rPr>
                        <a:t>5</a:t>
                      </a:r>
                      <a:r>
                        <a:rPr lang="en-US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Verdana"/>
                        </a:rPr>
                        <a:t> miles per hour (mph). In the past week, the distances of his runs have ranged from </a:t>
                      </a:r>
                      <a:r>
                        <a:rPr lang="en-US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Cambria Math"/>
                        </a:rPr>
                        <a:t>4.5</a:t>
                      </a:r>
                      <a:r>
                        <a:rPr lang="en-US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Verdana"/>
                        </a:rPr>
                        <a:t> miles to </a:t>
                      </a:r>
                      <a:r>
                        <a:rPr lang="en-US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Cambria Math"/>
                        </a:rPr>
                        <a:t>20</a:t>
                      </a:r>
                      <a:r>
                        <a:rPr lang="en-US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Verdana"/>
                        </a:rPr>
                        <a:t> miles. He writes an inequality that can be used to find the range of time he’s spent running in the past week.</a:t>
                      </a:r>
                      <a:endParaRPr lang="en-US" sz="2000" dirty="0">
                        <a:latin typeface="Verdana" pitchFamily="34" charset="0"/>
                        <a:ea typeface="Verdana" pitchFamily="34" charset="0"/>
                      </a:endParaRPr>
                    </a:p>
                  </a:txBody>
                  <a:tcPr marT="91440" marB="9144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xmlns="" val="10001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ctr"/>
                      <a:r>
                        <a:rPr lang="en-US" sz="2000" b="1" i="0" u="none" strike="noStrike" dirty="0">
                          <a:solidFill>
                            <a:srgbClr val="000000"/>
                          </a:solidFill>
                          <a:effectLst/>
                          <a:latin typeface="Verdana"/>
                        </a:rPr>
                        <a:t>Matching Inequality </a:t>
                      </a:r>
                      <a:br>
                        <a:rPr lang="en-US" sz="2000" b="1" i="0" u="none" strike="noStrike" dirty="0">
                          <a:solidFill>
                            <a:srgbClr val="000000"/>
                          </a:solidFill>
                          <a:effectLst/>
                          <a:latin typeface="Verdana"/>
                        </a:rPr>
                      </a:br>
                      <a:r>
                        <a:rPr lang="en-US" sz="2000" b="1" i="0" u="none" strike="noStrike" dirty="0">
                          <a:solidFill>
                            <a:srgbClr val="000000"/>
                          </a:solidFill>
                          <a:effectLst/>
                          <a:latin typeface="Verdana"/>
                        </a:rPr>
                        <a:t>and Solution</a:t>
                      </a:r>
                      <a:endParaRPr lang="en-US" sz="2000" b="1" dirty="0">
                        <a:latin typeface="Verdana" pitchFamily="34" charset="0"/>
                        <a:ea typeface="Verdana" pitchFamily="34" charset="0"/>
                      </a:endParaRPr>
                    </a:p>
                  </a:txBody>
                  <a:tcPr marT="91440" marB="9144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i="0" u="none" strike="noStrike" dirty="0">
                          <a:solidFill>
                            <a:srgbClr val="000000"/>
                          </a:solidFill>
                          <a:effectLst/>
                          <a:latin typeface="Verdana"/>
                        </a:rPr>
                        <a:t>How does the inequality</a:t>
                      </a:r>
                      <a:br>
                        <a:rPr lang="en-US" sz="2000" b="1" i="0" u="none" strike="noStrike" dirty="0">
                          <a:solidFill>
                            <a:srgbClr val="000000"/>
                          </a:solidFill>
                          <a:effectLst/>
                          <a:latin typeface="Verdana"/>
                        </a:rPr>
                      </a:br>
                      <a:r>
                        <a:rPr lang="en-US" sz="2000" b="1" i="0" u="none" strike="noStrike" dirty="0">
                          <a:solidFill>
                            <a:srgbClr val="000000"/>
                          </a:solidFill>
                          <a:effectLst/>
                          <a:latin typeface="Verdana"/>
                        </a:rPr>
                        <a:t>match the situation?</a:t>
                      </a:r>
                      <a:endParaRPr lang="en-US" sz="2000" b="1" dirty="0">
                        <a:latin typeface="Verdana" pitchFamily="34" charset="0"/>
                        <a:ea typeface="Verdana" pitchFamily="34" charset="0"/>
                      </a:endParaRPr>
                    </a:p>
                  </a:txBody>
                  <a:tcPr marT="91440" marB="9144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2"/>
                  </a:ext>
                </a:extLst>
              </a:tr>
              <a:tr h="2514600">
                <a:tc>
                  <a:txBody>
                    <a:bodyPr/>
                    <a:lstStyle/>
                    <a:p>
                      <a:pPr algn="ctr"/>
                      <a:endParaRPr lang="en-US" sz="2000" dirty="0">
                        <a:latin typeface="Verdana" pitchFamily="34" charset="0"/>
                        <a:ea typeface="Verdana" pitchFamily="34" charset="0"/>
                      </a:endParaRPr>
                    </a:p>
                  </a:txBody>
                  <a:tcPr marT="91440" marB="9144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2000" dirty="0">
                        <a:latin typeface="Verdana" pitchFamily="34" charset="0"/>
                        <a:ea typeface="Verdana" pitchFamily="34" charset="0"/>
                      </a:endParaRPr>
                    </a:p>
                  </a:txBody>
                  <a:tcPr marT="91440" marB="9144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xmlns="" val="10003"/>
                  </a:ext>
                </a:extLst>
              </a:tr>
            </a:tbl>
          </a:graphicData>
        </a:graphic>
      </p:graphicFrame>
      <p:sp>
        <p:nvSpPr>
          <p:cNvPr id="278" name="Google Shape;278;g104476d1465_1_17"/>
          <p:cNvSpPr/>
          <p:nvPr/>
        </p:nvSpPr>
        <p:spPr>
          <a:xfrm>
            <a:off x="0" y="0"/>
            <a:ext cx="223200" cy="6866100"/>
          </a:xfrm>
          <a:prstGeom prst="rect">
            <a:avLst/>
          </a:prstGeom>
          <a:solidFill>
            <a:srgbClr val="276C46"/>
          </a:solidFill>
          <a:ln w="9525" cap="flat" cmpd="sng">
            <a:solidFill>
              <a:srgbClr val="276C46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283" name="Google Shape;283;g104476d1465_1_17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30584" y="6200600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6" name="Google Shape;282;g104476d1465_1_17"/>
          <p:cNvSpPr txBox="1"/>
          <p:nvPr/>
        </p:nvSpPr>
        <p:spPr>
          <a:xfrm>
            <a:off x="8897112" y="6457675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pg. 306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93397752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Google Shape;309;g104476d1465_1_39"/>
          <p:cNvSpPr/>
          <p:nvPr/>
        </p:nvSpPr>
        <p:spPr>
          <a:xfrm>
            <a:off x="0" y="0"/>
            <a:ext cx="2731200" cy="6866100"/>
          </a:xfrm>
          <a:prstGeom prst="rect">
            <a:avLst/>
          </a:prstGeom>
          <a:solidFill>
            <a:srgbClr val="276C46"/>
          </a:solidFill>
          <a:ln w="9525" cap="flat" cmpd="sng">
            <a:solidFill>
              <a:srgbClr val="276C46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311" name="Google Shape;311;g104476d1465_1_39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30584" y="6200600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313" name="Google Shape;313;g104476d1465_1_39"/>
          <p:cNvSpPr txBox="1">
            <a:spLocks noGrp="1"/>
          </p:cNvSpPr>
          <p:nvPr>
            <p:ph type="title" idx="4294967295"/>
          </p:nvPr>
        </p:nvSpPr>
        <p:spPr>
          <a:xfrm>
            <a:off x="4270248" y="2766145"/>
            <a:ext cx="439693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 fontScale="90000"/>
          </a:bodyPr>
          <a:lstStyle/>
          <a:p>
            <a:pPr algn="ctr">
              <a:buClr>
                <a:schemeClr val="lt1"/>
              </a:buClr>
              <a:buSzPts val="4800"/>
            </a:pPr>
            <a:r>
              <a:rPr lang="en-US" sz="5500" b="1" dirty="0">
                <a:solidFill>
                  <a:srgbClr val="33BEA6"/>
                </a:solidFill>
                <a:latin typeface="Verdana"/>
                <a:ea typeface="Verdana"/>
                <a:cs typeface="Verdana"/>
                <a:sym typeface="Verdana"/>
              </a:rPr>
              <a:t>Exploration</a:t>
            </a:r>
            <a:endParaRPr sz="5100" b="1" dirty="0">
              <a:solidFill>
                <a:srgbClr val="33BEA6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pic>
        <p:nvPicPr>
          <p:cNvPr id="1026" name="Picture 2" descr="Icon&#10;&#10;Description automatically generated">
            <a:extLst>
              <a:ext uri="{FF2B5EF4-FFF2-40B4-BE49-F238E27FC236}">
                <a16:creationId xmlns:a16="http://schemas.microsoft.com/office/drawing/2014/main" xmlns="" id="{467567E5-BEAF-E24A-A492-D25759172D7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3054096" y="2814305"/>
            <a:ext cx="1156228" cy="1156228"/>
          </a:xfrm>
          <a:prstGeom prst="rect">
            <a:avLst/>
          </a:prstGeom>
          <a:noFill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Google Shape;282;g104476d1465_1_17"/>
          <p:cNvSpPr txBox="1"/>
          <p:nvPr/>
        </p:nvSpPr>
        <p:spPr>
          <a:xfrm>
            <a:off x="8897112" y="6457675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pg. 306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419697153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0"/>
            <a:ext cx="223200" cy="6866100"/>
          </a:xfrm>
          <a:prstGeom prst="rect">
            <a:avLst/>
          </a:prstGeom>
          <a:solidFill>
            <a:srgbClr val="276C46"/>
          </a:solidFill>
          <a:ln w="9525" cap="flat" cmpd="sng">
            <a:solidFill>
              <a:srgbClr val="276C46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283" name="Google Shape;283;g104476d1465_1_17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30584" y="6200600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8" name="Google Shape;324;g103996e1364_0_25">
            <a:extLst>
              <a:ext uri="{FF2B5EF4-FFF2-40B4-BE49-F238E27FC236}">
                <a16:creationId xmlns:a16="http://schemas.microsoft.com/office/drawing/2014/main" xmlns="" id="{DB5796CA-12EB-BB4C-8338-B127D750A026}"/>
              </a:ext>
            </a:extLst>
          </p:cNvPr>
          <p:cNvSpPr txBox="1">
            <a:spLocks/>
          </p:cNvSpPr>
          <p:nvPr/>
        </p:nvSpPr>
        <p:spPr>
          <a:xfrm>
            <a:off x="1192874" y="60325"/>
            <a:ext cx="10901559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lnSpc>
                <a:spcPct val="90000"/>
              </a:lnSpc>
              <a:buClr>
                <a:schemeClr val="dk1"/>
              </a:buClr>
              <a:buSzPts val="5400"/>
              <a:buFont typeface="Century Gothic"/>
              <a:buNone/>
            </a:pPr>
            <a:r>
              <a:rPr lang="en-US" sz="3600" b="1" dirty="0">
                <a:solidFill>
                  <a:srgbClr val="33BEA6"/>
                </a:solidFill>
                <a:latin typeface="Verdana"/>
                <a:ea typeface="Verdana"/>
                <a:cs typeface="Verdana"/>
                <a:sym typeface="Verdana"/>
              </a:rPr>
              <a:t>6.3.3 Exploration: Is There Enough Time?</a:t>
            </a:r>
          </a:p>
        </p:txBody>
      </p:sp>
      <p:pic>
        <p:nvPicPr>
          <p:cNvPr id="7" name="Picture 2" descr="Icon&#10;&#10;Description automatically generated">
            <a:extLst>
              <a:ext uri="{FF2B5EF4-FFF2-40B4-BE49-F238E27FC236}">
                <a16:creationId xmlns:a16="http://schemas.microsoft.com/office/drawing/2014/main" xmlns="" id="{A741EC39-D81C-A945-833B-CFC11AA40AE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411480" y="308450"/>
            <a:ext cx="752254" cy="752254"/>
          </a:xfrm>
          <a:prstGeom prst="rect">
            <a:avLst/>
          </a:prstGeom>
          <a:noFill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xmlns="" id="{152D1D4D-DCB8-A246-B186-D40316579D77}"/>
              </a:ext>
            </a:extLst>
          </p:cNvPr>
          <p:cNvSpPr txBox="1"/>
          <p:nvPr/>
        </p:nvSpPr>
        <p:spPr>
          <a:xfrm>
            <a:off x="914400" y="1386026"/>
            <a:ext cx="6034660" cy="37856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+mj-lt"/>
              <a:buAutoNum type="arabicPeriod"/>
            </a:pPr>
            <a:r>
              <a:rPr lang="en-US" sz="2400" dirty="0">
                <a:latin typeface="Verdana"/>
              </a:rPr>
              <a:t>Candace is getting ready to leave for the movies. She decides at the last minute to try to paint her nails before </a:t>
            </a:r>
            <a:r>
              <a:rPr lang="en-US" sz="2400" dirty="0" smtClean="0">
                <a:latin typeface="Verdana"/>
              </a:rPr>
              <a:t>she </a:t>
            </a:r>
            <a:r>
              <a:rPr lang="en-US" sz="2400" dirty="0">
                <a:latin typeface="Verdana"/>
              </a:rPr>
              <a:t>leaves.</a:t>
            </a:r>
            <a:br>
              <a:rPr lang="en-US" sz="2400" dirty="0">
                <a:latin typeface="Verdana"/>
              </a:rPr>
            </a:br>
            <a:r>
              <a:rPr lang="en-US" sz="2400" dirty="0">
                <a:latin typeface="Verdana"/>
              </a:rPr>
              <a:t/>
            </a:r>
            <a:br>
              <a:rPr lang="en-US" sz="2400" dirty="0">
                <a:latin typeface="Verdana"/>
              </a:rPr>
            </a:br>
            <a:r>
              <a:rPr lang="en-US" sz="2400" dirty="0">
                <a:latin typeface="Verdana"/>
              </a:rPr>
              <a:t>It’s </a:t>
            </a:r>
            <a:r>
              <a:rPr lang="en-US" sz="2400" dirty="0">
                <a:latin typeface="Cambria Math"/>
              </a:rPr>
              <a:t>6:40</a:t>
            </a:r>
            <a:r>
              <a:rPr lang="en-US" sz="2400" dirty="0">
                <a:latin typeface="Verdana"/>
              </a:rPr>
              <a:t> p.m., and Candace needs to leave at </a:t>
            </a:r>
            <a:r>
              <a:rPr lang="en-US" sz="2400" dirty="0">
                <a:latin typeface="Cambria Math"/>
              </a:rPr>
              <a:t>7:00</a:t>
            </a:r>
            <a:r>
              <a:rPr lang="en-US" sz="2400" dirty="0">
                <a:latin typeface="Verdana"/>
              </a:rPr>
              <a:t> p.m. What information do you need to determine if she will have enough time to paint her nails?</a:t>
            </a:r>
            <a:endParaRPr lang="en-US" sz="24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</p:txBody>
      </p:sp>
      <p:pic>
        <p:nvPicPr>
          <p:cNvPr id="2053" name="Picture 5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6949060" y="1386025"/>
            <a:ext cx="3438525" cy="32194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11" name="Google Shape;282;g104476d1465_1_17"/>
          <p:cNvSpPr txBox="1"/>
          <p:nvPr/>
        </p:nvSpPr>
        <p:spPr>
          <a:xfrm>
            <a:off x="8897112" y="6457675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pg. 306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23524808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2597078" y="1721959"/>
            <a:ext cx="7148511" cy="261273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xmlns="" id="{2FA392D8-3ED3-7940-83A8-1451AA8A08D4}"/>
              </a:ext>
            </a:extLst>
          </p:cNvPr>
          <p:cNvSpPr txBox="1"/>
          <p:nvPr/>
        </p:nvSpPr>
        <p:spPr>
          <a:xfrm>
            <a:off x="914400" y="520394"/>
            <a:ext cx="10616184" cy="532453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+mj-lt"/>
              <a:buAutoNum type="arabicPeriod" startAt="2"/>
            </a:pPr>
            <a:r>
              <a:rPr lang="en-US" sz="2000" dirty="0">
                <a:latin typeface="Verdana"/>
              </a:rPr>
              <a:t>The images shown give additional information about the situation. The first image shows it takes her </a:t>
            </a:r>
            <a:r>
              <a:rPr lang="en-US" sz="2000" dirty="0">
                <a:latin typeface="Cambria Math"/>
              </a:rPr>
              <a:t>42</a:t>
            </a:r>
            <a:r>
              <a:rPr lang="en-US" sz="2000" dirty="0">
                <a:latin typeface="Verdana"/>
              </a:rPr>
              <a:t> seconds </a:t>
            </a:r>
            <a:r>
              <a:rPr lang="en-US" sz="2000" dirty="0" smtClean="0">
                <a:latin typeface="Verdana"/>
              </a:rPr>
              <a:t>to </a:t>
            </a:r>
            <a:r>
              <a:rPr lang="en-US" sz="2000" dirty="0">
                <a:latin typeface="Verdana"/>
              </a:rPr>
              <a:t>paint the first three nails. The second image gives the amount of time she needs to let her nails dry before leaving.</a:t>
            </a:r>
          </a:p>
          <a:p>
            <a:pPr marL="457200" indent="-457200">
              <a:buFont typeface="+mj-lt"/>
              <a:buAutoNum type="arabicPeriod" startAt="2"/>
            </a:pPr>
            <a:endParaRPr lang="en-PH" sz="2000" dirty="0">
              <a:latin typeface="Verdana"/>
            </a:endParaRPr>
          </a:p>
          <a:p>
            <a:pPr marL="457200" indent="-457200">
              <a:buFont typeface="+mj-lt"/>
              <a:buAutoNum type="arabicPeriod" startAt="2"/>
            </a:pPr>
            <a:endParaRPr lang="en-PH" sz="2000" dirty="0">
              <a:latin typeface="Verdana"/>
            </a:endParaRPr>
          </a:p>
          <a:p>
            <a:pPr marL="457200" indent="-457200">
              <a:buFont typeface="+mj-lt"/>
              <a:buAutoNum type="arabicPeriod" startAt="2"/>
            </a:pPr>
            <a:endParaRPr lang="en-PH" sz="2000" dirty="0">
              <a:latin typeface="Verdana"/>
            </a:endParaRPr>
          </a:p>
          <a:p>
            <a:pPr marL="457200" indent="-457200">
              <a:buFont typeface="+mj-lt"/>
              <a:buAutoNum type="arabicPeriod" startAt="2"/>
            </a:pPr>
            <a:endParaRPr lang="en-PH" sz="2000" dirty="0">
              <a:latin typeface="Verdana"/>
            </a:endParaRPr>
          </a:p>
          <a:p>
            <a:pPr marL="457200" indent="-457200">
              <a:buFont typeface="+mj-lt"/>
              <a:buAutoNum type="arabicPeriod" startAt="2"/>
            </a:pPr>
            <a:endParaRPr lang="en-PH" sz="2000" dirty="0">
              <a:latin typeface="Verdana"/>
            </a:endParaRPr>
          </a:p>
          <a:p>
            <a:pPr marL="457200" indent="-457200">
              <a:buFont typeface="+mj-lt"/>
              <a:buAutoNum type="arabicPeriod" startAt="2"/>
            </a:pPr>
            <a:endParaRPr lang="en-PH" sz="2000" dirty="0">
              <a:latin typeface="Verdana"/>
            </a:endParaRPr>
          </a:p>
          <a:p>
            <a:pPr marL="457200" indent="-457200">
              <a:buFont typeface="+mj-lt"/>
              <a:buAutoNum type="arabicPeriod" startAt="2"/>
            </a:pPr>
            <a:endParaRPr lang="en-PH" sz="2000" dirty="0">
              <a:latin typeface="Verdana"/>
            </a:endParaRPr>
          </a:p>
          <a:p>
            <a:pPr marL="457200" indent="-457200">
              <a:buFont typeface="+mj-lt"/>
              <a:buAutoNum type="arabicPeriod" startAt="2"/>
            </a:pPr>
            <a:endParaRPr lang="en-PH" sz="2000" dirty="0">
              <a:latin typeface="Verdana"/>
            </a:endParaRPr>
          </a:p>
          <a:p>
            <a:pPr marL="457200" indent="-457200">
              <a:buFont typeface="+mj-lt"/>
              <a:buAutoNum type="arabicPeriod" startAt="2"/>
            </a:pPr>
            <a:endParaRPr lang="en-PH" sz="2000" dirty="0">
              <a:latin typeface="Verdana"/>
            </a:endParaRPr>
          </a:p>
          <a:p>
            <a:pPr marL="457200" indent="-457200">
              <a:buFont typeface="+mj-lt"/>
              <a:buAutoNum type="arabicPeriod" startAt="2"/>
            </a:pPr>
            <a:endParaRPr lang="en-PH" sz="2000" dirty="0">
              <a:latin typeface="Verdana"/>
            </a:endParaRPr>
          </a:p>
          <a:p>
            <a:pPr marL="914400" indent="-457200">
              <a:buFont typeface="+mj-lt"/>
              <a:buAutoNum type="alphaLcPeriod"/>
            </a:pPr>
            <a:r>
              <a:rPr lang="en-US" sz="2000" dirty="0">
                <a:latin typeface="Verdana"/>
              </a:rPr>
              <a:t>How long does it take her to paint each nail, on average?</a:t>
            </a:r>
          </a:p>
          <a:p>
            <a:pPr marL="914400" indent="-457200">
              <a:buFont typeface="+mj-lt"/>
              <a:buAutoNum type="alphaLcPeriod"/>
            </a:pPr>
            <a:endParaRPr lang="en-PH" sz="2000" dirty="0">
              <a:latin typeface="Verdana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914400" indent="-457200">
              <a:buFont typeface="+mj-lt"/>
              <a:buAutoNum type="alphaLcPeriod"/>
            </a:pPr>
            <a:r>
              <a:rPr lang="en-US" sz="2000" dirty="0">
                <a:latin typeface="Verdana"/>
              </a:rPr>
              <a:t>Explain whether or not you think Candace will have enough time to paint her nails.</a:t>
            </a:r>
            <a:endParaRPr lang="en-US" sz="20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</p:txBody>
      </p:sp>
      <p:sp>
        <p:nvSpPr>
          <p:cNvPr id="278" name="Google Shape;278;g104476d1465_1_17"/>
          <p:cNvSpPr/>
          <p:nvPr/>
        </p:nvSpPr>
        <p:spPr>
          <a:xfrm>
            <a:off x="0" y="0"/>
            <a:ext cx="223200" cy="6866100"/>
          </a:xfrm>
          <a:prstGeom prst="rect">
            <a:avLst/>
          </a:prstGeom>
          <a:solidFill>
            <a:srgbClr val="276C46"/>
          </a:solidFill>
          <a:ln w="9525" cap="flat" cmpd="sng">
            <a:solidFill>
              <a:srgbClr val="276C46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283" name="Google Shape;283;g104476d1465_1_17"/>
          <p:cNvPicPr preferRelativeResize="0"/>
          <p:nvPr/>
        </p:nvPicPr>
        <p:blipFill>
          <a:blip r:embed="rId4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30584" y="6200600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7" name="Google Shape;282;g104476d1465_1_17"/>
          <p:cNvSpPr txBox="1"/>
          <p:nvPr/>
        </p:nvSpPr>
        <p:spPr>
          <a:xfrm>
            <a:off x="8897112" y="6457675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pg. 307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5525155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Google Shape;309;g104476d1465_1_39"/>
          <p:cNvSpPr/>
          <p:nvPr/>
        </p:nvSpPr>
        <p:spPr>
          <a:xfrm>
            <a:off x="0" y="-4050"/>
            <a:ext cx="2731200" cy="6866100"/>
          </a:xfrm>
          <a:prstGeom prst="rect">
            <a:avLst/>
          </a:prstGeom>
          <a:solidFill>
            <a:srgbClr val="276C46"/>
          </a:solidFill>
          <a:ln w="9525" cap="flat" cmpd="sng">
            <a:solidFill>
              <a:srgbClr val="276C46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311" name="Google Shape;311;g104476d1465_1_39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30584" y="6200600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313" name="Google Shape;313;g104476d1465_1_39"/>
          <p:cNvSpPr txBox="1">
            <a:spLocks noGrp="1"/>
          </p:cNvSpPr>
          <p:nvPr>
            <p:ph type="title" idx="4294967295"/>
          </p:nvPr>
        </p:nvSpPr>
        <p:spPr>
          <a:xfrm>
            <a:off x="4087368" y="2766145"/>
            <a:ext cx="448075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 fontScale="90000"/>
          </a:bodyPr>
          <a:lstStyle/>
          <a:p>
            <a:pPr algn="ctr">
              <a:buClr>
                <a:schemeClr val="lt1"/>
              </a:buClr>
              <a:buSzPts val="4800"/>
            </a:pPr>
            <a:r>
              <a:rPr lang="en-US" sz="5500" b="1" dirty="0">
                <a:solidFill>
                  <a:srgbClr val="54B5D1"/>
                </a:solidFill>
                <a:latin typeface="Verdana"/>
                <a:ea typeface="Verdana"/>
                <a:cs typeface="Verdana"/>
                <a:sym typeface="Verdana"/>
              </a:rPr>
              <a:t>Guided Instruction</a:t>
            </a:r>
            <a:endParaRPr sz="5100" b="1" dirty="0">
              <a:solidFill>
                <a:srgbClr val="54B5D1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pic>
        <p:nvPicPr>
          <p:cNvPr id="7" name="Google Shape;338;g103996e1364_0_315">
            <a:extLst>
              <a:ext uri="{FF2B5EF4-FFF2-40B4-BE49-F238E27FC236}">
                <a16:creationId xmlns:a16="http://schemas.microsoft.com/office/drawing/2014/main" xmlns="" id="{2AC58C8F-2DD8-F347-9ECA-58EE9E1B7E9C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3054096" y="2849920"/>
            <a:ext cx="1145792" cy="1158150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9" name="Google Shape;282;g104476d1465_1_17"/>
          <p:cNvSpPr txBox="1"/>
          <p:nvPr/>
        </p:nvSpPr>
        <p:spPr>
          <a:xfrm>
            <a:off x="8897112" y="6457675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pg. 307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370261244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0"/>
            <a:ext cx="223200" cy="6866100"/>
          </a:xfrm>
          <a:prstGeom prst="rect">
            <a:avLst/>
          </a:prstGeom>
          <a:solidFill>
            <a:srgbClr val="276C46"/>
          </a:solidFill>
          <a:ln w="9525" cap="flat" cmpd="sng">
            <a:solidFill>
              <a:srgbClr val="276C46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283" name="Google Shape;283;g104476d1465_1_17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30584" y="6200600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7" name="Google Shape;343;g103996e1364_0_321">
            <a:extLst>
              <a:ext uri="{FF2B5EF4-FFF2-40B4-BE49-F238E27FC236}">
                <a16:creationId xmlns:a16="http://schemas.microsoft.com/office/drawing/2014/main" xmlns="" id="{21B1DF8E-16A0-FA4E-8CEB-434668DFA68D}"/>
              </a:ext>
            </a:extLst>
          </p:cNvPr>
          <p:cNvSpPr txBox="1">
            <a:spLocks/>
          </p:cNvSpPr>
          <p:nvPr/>
        </p:nvSpPr>
        <p:spPr>
          <a:xfrm>
            <a:off x="1143000" y="85660"/>
            <a:ext cx="10851078" cy="11184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lnSpc>
                <a:spcPct val="90000"/>
              </a:lnSpc>
              <a:buClr>
                <a:schemeClr val="dk1"/>
              </a:buClr>
              <a:buSzPts val="5400"/>
              <a:buFont typeface="Century Gothic"/>
              <a:buNone/>
            </a:pPr>
            <a:r>
              <a:rPr lang="en-US" sz="3200" b="1" dirty="0">
                <a:solidFill>
                  <a:srgbClr val="54B5D1"/>
                </a:solidFill>
                <a:latin typeface="Verdana"/>
                <a:ea typeface="Verdana"/>
                <a:cs typeface="Verdana"/>
                <a:sym typeface="Verdana"/>
              </a:rPr>
              <a:t>6.3.4 Guided Instruction: Writing Inequalities to Represent Real-World Contexts</a:t>
            </a:r>
          </a:p>
        </p:txBody>
      </p:sp>
      <p:pic>
        <p:nvPicPr>
          <p:cNvPr id="9" name="Google Shape;345;g103996e1364_0_321">
            <a:extLst>
              <a:ext uri="{FF2B5EF4-FFF2-40B4-BE49-F238E27FC236}">
                <a16:creationId xmlns:a16="http://schemas.microsoft.com/office/drawing/2014/main" xmlns="" id="{CBDD45DF-949B-9F42-BFF6-A7167F0CF795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411480" y="271228"/>
            <a:ext cx="747300" cy="747300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xmlns="" id="{C01B13E8-EC8D-E443-A329-C5E3593DD13A}"/>
              </a:ext>
            </a:extLst>
          </p:cNvPr>
          <p:cNvSpPr txBox="1"/>
          <p:nvPr/>
        </p:nvSpPr>
        <p:spPr>
          <a:xfrm>
            <a:off x="914400" y="1386026"/>
            <a:ext cx="10515600" cy="37856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+mj-lt"/>
              <a:buAutoNum type="arabicPeriod"/>
            </a:pPr>
            <a:r>
              <a:rPr lang="en-US" sz="2000" dirty="0">
                <a:latin typeface="Verdana"/>
              </a:rPr>
              <a:t>The nail polish scenario provides an example of how inequalities can be used to solve problems in the real world.</a:t>
            </a:r>
          </a:p>
          <a:p>
            <a:pPr marL="457200" indent="-457200">
              <a:buFont typeface="+mj-lt"/>
              <a:buAutoNum type="arabicPeriod"/>
            </a:pPr>
            <a:endParaRPr lang="en-US" sz="2000" dirty="0">
              <a:latin typeface="Verdana"/>
            </a:endParaRPr>
          </a:p>
          <a:p>
            <a:pPr marL="914400" indent="-457200">
              <a:buFont typeface="+mj-lt"/>
              <a:buAutoNum type="alphaLcPeriod"/>
            </a:pPr>
            <a:r>
              <a:rPr lang="en-US" sz="2000" dirty="0">
                <a:latin typeface="Verdana"/>
              </a:rPr>
              <a:t>Let </a:t>
            </a:r>
            <a:r>
              <a:rPr lang="en-US" sz="2000" i="1" dirty="0">
                <a:latin typeface="Cambria Math"/>
              </a:rPr>
              <a:t>t</a:t>
            </a:r>
            <a:r>
              <a:rPr lang="en-US" sz="2000" dirty="0">
                <a:latin typeface="Verdana"/>
              </a:rPr>
              <a:t> be the time it takes to paint one nail, in minutes. Write an expression in terms of </a:t>
            </a:r>
            <a:r>
              <a:rPr lang="en-US" sz="2000" i="1" dirty="0">
                <a:latin typeface="Cambria Math"/>
              </a:rPr>
              <a:t>t</a:t>
            </a:r>
            <a:r>
              <a:rPr lang="en-US" sz="2000" dirty="0">
                <a:latin typeface="Verdana"/>
              </a:rPr>
              <a:t> that represents the total amount of time it takes for the nail polish process to be complete, including </a:t>
            </a:r>
            <a:r>
              <a:rPr lang="en-US" sz="2000" dirty="0">
                <a:latin typeface="Cambria Math"/>
              </a:rPr>
              <a:t>15</a:t>
            </a:r>
            <a:r>
              <a:rPr lang="en-US" sz="2000" dirty="0">
                <a:latin typeface="Verdana"/>
              </a:rPr>
              <a:t> minutes for drying.</a:t>
            </a:r>
          </a:p>
          <a:p>
            <a:pPr marL="914400" indent="-457200">
              <a:buFont typeface="+mj-lt"/>
              <a:buAutoNum type="alphaLcPeriod"/>
            </a:pPr>
            <a:endParaRPr lang="en-PH" sz="2000" dirty="0">
              <a:latin typeface="Verdana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914400" indent="-457200">
              <a:buFont typeface="+mj-lt"/>
              <a:buAutoNum type="alphaLcPeriod"/>
            </a:pPr>
            <a:endParaRPr lang="en-PH" sz="2000" dirty="0">
              <a:latin typeface="Verdana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914400" indent="-457200">
              <a:buFont typeface="+mj-lt"/>
              <a:buAutoNum type="alphaLcPeriod"/>
            </a:pPr>
            <a:endParaRPr lang="en-PH" sz="2000" dirty="0">
              <a:latin typeface="Verdana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914400" indent="-457200">
              <a:buFont typeface="+mj-lt"/>
              <a:buAutoNum type="alphaLcPeriod"/>
            </a:pPr>
            <a:r>
              <a:rPr lang="en-US" sz="2000" dirty="0">
                <a:latin typeface="Verdana"/>
              </a:rPr>
              <a:t>In the Exploration, Candace had a maximum of </a:t>
            </a:r>
            <a:r>
              <a:rPr lang="en-US" sz="2000" dirty="0">
                <a:latin typeface="Cambria Math"/>
              </a:rPr>
              <a:t>20</a:t>
            </a:r>
            <a:r>
              <a:rPr lang="en-US" sz="2000" dirty="0">
                <a:latin typeface="Verdana"/>
              </a:rPr>
              <a:t> minutes. Using your expression from Part A, write an inequality that represents this situation.</a:t>
            </a:r>
            <a:endParaRPr lang="en-US" sz="20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</p:txBody>
      </p:sp>
      <p:sp>
        <p:nvSpPr>
          <p:cNvPr id="8" name="Google Shape;282;g104476d1465_1_17"/>
          <p:cNvSpPr txBox="1"/>
          <p:nvPr/>
        </p:nvSpPr>
        <p:spPr>
          <a:xfrm>
            <a:off x="8897112" y="6457675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pg. 307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390245789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0"/>
            <a:ext cx="223200" cy="6866100"/>
          </a:xfrm>
          <a:prstGeom prst="rect">
            <a:avLst/>
          </a:prstGeom>
          <a:solidFill>
            <a:srgbClr val="276C46"/>
          </a:solidFill>
          <a:ln w="9525" cap="flat" cmpd="sng">
            <a:solidFill>
              <a:srgbClr val="276C46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283" name="Google Shape;283;g104476d1465_1_17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30584" y="6200600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xmlns="" id="{2FA392D8-3ED3-7940-83A8-1451AA8A08D4}"/>
              </a:ext>
            </a:extLst>
          </p:cNvPr>
          <p:cNvSpPr txBox="1"/>
          <p:nvPr/>
        </p:nvSpPr>
        <p:spPr>
          <a:xfrm>
            <a:off x="534573" y="520394"/>
            <a:ext cx="10515600" cy="37856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914400" indent="-457200">
              <a:buFont typeface="+mj-lt"/>
              <a:buAutoNum type="alphaLcPeriod" startAt="3"/>
            </a:pPr>
            <a:r>
              <a:rPr lang="en-US" sz="2400" dirty="0">
                <a:latin typeface="Verdana"/>
              </a:rPr>
              <a:t>Solve the inequality.</a:t>
            </a:r>
          </a:p>
          <a:p>
            <a:pPr marL="914400" indent="-457200">
              <a:buFont typeface="+mj-lt"/>
              <a:buAutoNum type="alphaLcPeriod" startAt="3"/>
            </a:pPr>
            <a:endParaRPr lang="en-PH" sz="2400" dirty="0">
              <a:latin typeface="Verdana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914400" indent="-457200">
              <a:buFont typeface="+mj-lt"/>
              <a:buAutoNum type="alphaLcPeriod" startAt="3"/>
            </a:pPr>
            <a:endParaRPr lang="en-PH" sz="2400" dirty="0">
              <a:latin typeface="Verdana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914400" indent="-457200">
              <a:buFont typeface="+mj-lt"/>
              <a:buAutoNum type="alphaLcPeriod" startAt="3"/>
            </a:pPr>
            <a:endParaRPr lang="en-PH" sz="2400" dirty="0">
              <a:latin typeface="Verdana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914400" indent="-457200">
              <a:buFont typeface="+mj-lt"/>
              <a:buAutoNum type="alphaLcPeriod" startAt="3"/>
            </a:pPr>
            <a:r>
              <a:rPr lang="en-US" sz="2400" dirty="0">
                <a:latin typeface="Verdana"/>
              </a:rPr>
              <a:t>Explain how the maximum value in the solution set relates to the nail polish situation.</a:t>
            </a:r>
          </a:p>
          <a:p>
            <a:pPr marL="914400" indent="-457200">
              <a:buFont typeface="+mj-lt"/>
              <a:buAutoNum type="alphaLcPeriod" startAt="3"/>
            </a:pPr>
            <a:endParaRPr lang="en-PH" sz="2400" dirty="0">
              <a:latin typeface="Verdana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914400" indent="-457200">
              <a:buFont typeface="+mj-lt"/>
              <a:buAutoNum type="alphaLcPeriod" startAt="3"/>
            </a:pPr>
            <a:endParaRPr lang="en-PH" sz="2400" dirty="0">
              <a:latin typeface="Verdana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914400" indent="-457200">
              <a:buFont typeface="+mj-lt"/>
              <a:buAutoNum type="alphaLcPeriod" startAt="3"/>
            </a:pPr>
            <a:endParaRPr lang="en-PH" sz="2400" dirty="0">
              <a:latin typeface="Verdana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914400" indent="-457200">
              <a:buFont typeface="+mj-lt"/>
              <a:buAutoNum type="alphaLcPeriod" startAt="3"/>
            </a:pPr>
            <a:r>
              <a:rPr lang="en-US" sz="2400" dirty="0">
                <a:latin typeface="Verdana"/>
              </a:rPr>
              <a:t>Graph the solution set.</a:t>
            </a:r>
            <a:endParaRPr lang="en-US" sz="24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</p:txBody>
      </p:sp>
      <p:pic>
        <p:nvPicPr>
          <p:cNvPr id="4098" name="Picture 2" descr="https://lh4.googleusercontent.com/XEV0g7zLaemKo7B4mUyhaqdqDZhc5wYJjz6tWwezBW6ln8V3NsGpEVivF5ByJ5-nhxhVLWmBcNaGQLYygsAVepAiU0Nfw9t1DoDkkqWDAR6Lz1dm0Y2MEd6FQzGnr1ElRJ0m-eMR"/>
          <p:cNvPicPr>
            <a:picLocks noChangeAspect="1" noChangeArrowheads="1"/>
          </p:cNvPicPr>
          <p:nvPr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3005026" y="5335587"/>
            <a:ext cx="6943725" cy="50482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Google Shape;282;g104476d1465_1_17"/>
          <p:cNvSpPr txBox="1"/>
          <p:nvPr/>
        </p:nvSpPr>
        <p:spPr>
          <a:xfrm>
            <a:off x="8897112" y="6457675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pg. 307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617750000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0"/>
            <a:ext cx="223200" cy="6866100"/>
          </a:xfrm>
          <a:prstGeom prst="rect">
            <a:avLst/>
          </a:prstGeom>
          <a:solidFill>
            <a:srgbClr val="276C46"/>
          </a:solidFill>
          <a:ln w="9525" cap="flat" cmpd="sng">
            <a:solidFill>
              <a:srgbClr val="276C46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283" name="Google Shape;283;g104476d1465_1_17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30584" y="6200600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xmlns="" id="{2FA392D8-3ED3-7940-83A8-1451AA8A08D4}"/>
                  </a:ext>
                </a:extLst>
              </p:cNvPr>
              <p:cNvSpPr txBox="1"/>
              <p:nvPr/>
            </p:nvSpPr>
            <p:spPr>
              <a:xfrm>
                <a:off x="534573" y="521208"/>
                <a:ext cx="10515600" cy="415498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914400" indent="-457200">
                  <a:buFont typeface="+mj-lt"/>
                  <a:buAutoNum type="alphaLcPeriod" startAt="6"/>
                </a:pPr>
                <a:r>
                  <a:rPr lang="en-US" sz="2400" dirty="0" smtClean="0">
                    <a:latin typeface="Verdana"/>
                  </a:rPr>
                  <a:t>The value </a:t>
                </a:r>
                <a14:m>
                  <m:oMath xmlns:m="http://schemas.openxmlformats.org/officeDocument/2006/math">
                    <m:r>
                      <a:rPr lang="en-US" sz="2400" b="0" i="0" dirty="0" smtClean="0">
                        <a:latin typeface="Cambria Math"/>
                      </a:rPr>
                      <m:t>−</m:t>
                    </m:r>
                    <m:r>
                      <a:rPr lang="en-US" sz="2400" i="1" dirty="0" smtClean="0">
                        <a:latin typeface="Cambria Math"/>
                      </a:rPr>
                      <m:t>0.5</m:t>
                    </m:r>
                  </m:oMath>
                </a14:m>
                <a:r>
                  <a:rPr lang="en-US" sz="2400" dirty="0" smtClean="0">
                    <a:latin typeface="Verdana"/>
                  </a:rPr>
                  <a:t> </a:t>
                </a:r>
                <a:r>
                  <a:rPr lang="en-US" sz="2400" dirty="0">
                    <a:latin typeface="Verdana"/>
                  </a:rPr>
                  <a:t>is in the solution set of the inequality. Discuss with your partner why this is not a viable solution in the real-world context. Write your explanation.</a:t>
                </a:r>
              </a:p>
              <a:p>
                <a:pPr marL="914400" indent="-457200">
                  <a:buFont typeface="+mj-lt"/>
                  <a:buAutoNum type="alphaLcPeriod" startAt="6"/>
                </a:pPr>
                <a:endParaRPr lang="en-PH" sz="2400" dirty="0">
                  <a:latin typeface="Verdana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914400" indent="-457200">
                  <a:buFont typeface="+mj-lt"/>
                  <a:buAutoNum type="alphaLcPeriod" startAt="6"/>
                </a:pPr>
                <a:endParaRPr lang="en-PH" sz="2400" dirty="0">
                  <a:latin typeface="Verdana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914400" indent="-457200">
                  <a:buFont typeface="+mj-lt"/>
                  <a:buAutoNum type="alphaLcPeriod" startAt="6"/>
                </a:pPr>
                <a:endParaRPr lang="en-PH" sz="2400" dirty="0">
                  <a:latin typeface="Verdana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914400" indent="-457200">
                  <a:buFont typeface="+mj-lt"/>
                  <a:buAutoNum type="alphaLcPeriod" startAt="6"/>
                </a:pPr>
                <a:endParaRPr lang="en-PH" sz="2400" dirty="0">
                  <a:latin typeface="Verdana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914400" indent="-457200">
                  <a:buFont typeface="+mj-lt"/>
                  <a:buAutoNum type="alphaLcPeriod" startAt="6"/>
                </a:pPr>
                <a:endParaRPr lang="en-PH" sz="2400" dirty="0">
                  <a:latin typeface="Verdana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914400" indent="-457200">
                  <a:buFont typeface="+mj-lt"/>
                  <a:buAutoNum type="alphaLcPeriod" startAt="6"/>
                </a:pPr>
                <a:endParaRPr lang="en-PH" sz="2400" dirty="0">
                  <a:latin typeface="Verdana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914400" indent="-457200">
                  <a:buFont typeface="+mj-lt"/>
                  <a:buAutoNum type="alphaLcPeriod" startAt="6"/>
                </a:pPr>
                <a:r>
                  <a:rPr lang="en-US" sz="2400" dirty="0">
                    <a:latin typeface="Verdana"/>
                  </a:rPr>
                  <a:t>Explain whether or not the value </a:t>
                </a:r>
                <a:r>
                  <a:rPr lang="en-US" sz="2400" dirty="0">
                    <a:latin typeface="Cambria Math"/>
                  </a:rPr>
                  <a:t>0</a:t>
                </a:r>
                <a:r>
                  <a:rPr lang="en-US" sz="2400" dirty="0">
                    <a:latin typeface="Verdana"/>
                  </a:rPr>
                  <a:t> is a viable solution in this context.</a:t>
                </a:r>
                <a:endParaRPr lang="en-US" sz="24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</p:txBody>
          </p:sp>
        </mc:Choice>
        <mc:Fallback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xmlns="" id="{2FA392D8-3ED3-7940-83A8-1451AA8A08D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4573" y="521208"/>
                <a:ext cx="10515600" cy="4154984"/>
              </a:xfrm>
              <a:prstGeom prst="rect">
                <a:avLst/>
              </a:prstGeom>
              <a:blipFill rotWithShape="1">
                <a:blip r:embed="rId4"/>
                <a:stretch>
                  <a:fillRect t="-1322" r="-986" b="-2349"/>
                </a:stretch>
              </a:blipFill>
            </p:spPr>
            <p:txBody>
              <a:bodyPr/>
              <a:lstStyle/>
              <a:p>
                <a:r>
                  <a:rPr lang="en-PH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Google Shape;282;g104476d1465_1_17"/>
          <p:cNvSpPr txBox="1"/>
          <p:nvPr/>
        </p:nvSpPr>
        <p:spPr>
          <a:xfrm>
            <a:off x="8897112" y="6457675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pg. 308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634633059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0"/>
            <a:ext cx="223200" cy="6866100"/>
          </a:xfrm>
          <a:prstGeom prst="rect">
            <a:avLst/>
          </a:prstGeom>
          <a:solidFill>
            <a:srgbClr val="276C46"/>
          </a:solidFill>
          <a:ln w="9525" cap="flat" cmpd="sng">
            <a:solidFill>
              <a:srgbClr val="276C46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283" name="Google Shape;283;g104476d1465_1_17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30584" y="6200600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xmlns="" id="{2FA392D8-3ED3-7940-83A8-1451AA8A08D4}"/>
                  </a:ext>
                </a:extLst>
              </p:cNvPr>
              <p:cNvSpPr txBox="1"/>
              <p:nvPr/>
            </p:nvSpPr>
            <p:spPr>
              <a:xfrm>
                <a:off x="534572" y="520394"/>
                <a:ext cx="10515600" cy="530401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914400" indent="-457200">
                  <a:buFont typeface="+mj-lt"/>
                  <a:buAutoNum type="alphaLcPeriod" startAt="8"/>
                </a:pPr>
                <a:r>
                  <a:rPr lang="en-US" sz="2400" dirty="0">
                    <a:latin typeface="Verdana"/>
                  </a:rPr>
                  <a:t>Select any statements that apply for values to be viable solutions in this context.</a:t>
                </a:r>
              </a:p>
              <a:p>
                <a:pPr marL="914400" indent="-457200">
                  <a:buFont typeface="+mj-lt"/>
                  <a:buAutoNum type="alphaLcPeriod" startAt="8"/>
                </a:pPr>
                <a:endParaRPr lang="en-US" sz="2400" dirty="0">
                  <a:latin typeface="Verdana"/>
                </a:endParaRPr>
              </a:p>
              <a:p>
                <a:pPr marL="1371600" indent="-457200">
                  <a:spcAft>
                    <a:spcPts val="800"/>
                  </a:spcAft>
                  <a:buFont typeface="Wingdings" pitchFamily="2" charset="2"/>
                  <a:buChar char="q"/>
                </a:pPr>
                <a:r>
                  <a:rPr lang="en-US" sz="2400" dirty="0">
                    <a:latin typeface="Verdana"/>
                  </a:rPr>
                  <a:t>Values must be non-negative.</a:t>
                </a:r>
              </a:p>
              <a:p>
                <a:pPr marL="1371600" indent="-457200">
                  <a:spcAft>
                    <a:spcPts val="800"/>
                  </a:spcAft>
                  <a:buFont typeface="Wingdings" pitchFamily="2" charset="2"/>
                  <a:buChar char="q"/>
                </a:pPr>
                <a:r>
                  <a:rPr lang="en-US" sz="2400" dirty="0">
                    <a:latin typeface="Verdana"/>
                  </a:rPr>
                  <a:t>Values must be greater than </a:t>
                </a:r>
                <a:r>
                  <a:rPr lang="en-US" sz="2400" dirty="0">
                    <a:latin typeface="Cambria Math"/>
                  </a:rPr>
                  <a:t>0</a:t>
                </a:r>
                <a:r>
                  <a:rPr lang="en-US" sz="2400" dirty="0">
                    <a:latin typeface="Verdana"/>
                  </a:rPr>
                  <a:t>.</a:t>
                </a:r>
              </a:p>
              <a:p>
                <a:pPr marL="1371600" indent="-457200">
                  <a:spcAft>
                    <a:spcPts val="800"/>
                  </a:spcAft>
                  <a:buFont typeface="Wingdings" pitchFamily="2" charset="2"/>
                  <a:buChar char="q"/>
                </a:pPr>
                <a:r>
                  <a:rPr lang="en-US" sz="2400" dirty="0">
                    <a:latin typeface="Verdana"/>
                  </a:rPr>
                  <a:t>Values must be integers.</a:t>
                </a:r>
              </a:p>
              <a:p>
                <a:pPr marL="1371600" indent="-457200">
                  <a:spcAft>
                    <a:spcPts val="800"/>
                  </a:spcAft>
                  <a:buFont typeface="Wingdings" pitchFamily="2" charset="2"/>
                  <a:buChar char="q"/>
                </a:pPr>
                <a:r>
                  <a:rPr lang="en-US" sz="2400" dirty="0">
                    <a:latin typeface="Verdana"/>
                  </a:rPr>
                  <a:t>Values cannot be more than ____ decimal places.</a:t>
                </a:r>
              </a:p>
              <a:p>
                <a:pPr marL="1371600" indent="-457200">
                  <a:buFont typeface="Wingdings" pitchFamily="2" charset="2"/>
                  <a:buChar char="q"/>
                </a:pPr>
                <a:r>
                  <a:rPr lang="en-US" sz="2400" dirty="0">
                    <a:latin typeface="Verdana"/>
                  </a:rPr>
                  <a:t>Values cannot be greater than </a:t>
                </a:r>
                <a:r>
                  <a:rPr lang="en-US" sz="2400" dirty="0">
                    <a:latin typeface="Cambria Math"/>
                  </a:rPr>
                  <a:t>0.5</a:t>
                </a:r>
                <a:r>
                  <a:rPr lang="en-US" sz="2400" dirty="0">
                    <a:latin typeface="Verdana"/>
                  </a:rPr>
                  <a:t>.</a:t>
                </a:r>
                <a:endParaRPr lang="en-PH" sz="2400" dirty="0">
                  <a:latin typeface="Verdana"/>
                </a:endParaRPr>
              </a:p>
              <a:p>
                <a:pPr marL="914400" indent="-457200">
                  <a:buFont typeface="+mj-lt"/>
                  <a:buAutoNum type="alphaLcPeriod" startAt="8"/>
                </a:pPr>
                <a:endParaRPr lang="en-US" sz="2400" dirty="0">
                  <a:latin typeface="Verdana"/>
                </a:endParaRPr>
              </a:p>
              <a:p>
                <a:pPr marL="914400" indent="-457200">
                  <a:buFont typeface="+mj-lt"/>
                  <a:buAutoNum type="alphaLcPeriod" startAt="9"/>
                </a:pPr>
                <a:r>
                  <a:rPr lang="en-US" sz="2400" dirty="0">
                    <a:latin typeface="Verdana"/>
                  </a:rPr>
                  <a:t>Complete the compound inequality that represents the full set of possible solutions in the real-world context.</a:t>
                </a:r>
              </a:p>
              <a:p>
                <a:pPr marL="914400" algn="ctr"/>
                <a:endParaRPr lang="en-US" sz="2400" dirty="0">
                  <a:latin typeface="Cambria Math"/>
                </a:endParaRPr>
              </a:p>
              <a:p>
                <a:pPr marL="914400" algn="ctr"/>
                <a:r>
                  <a:rPr lang="en-US" sz="2400" dirty="0">
                    <a:latin typeface="Cambria Math"/>
                  </a:rPr>
                  <a:t>_______</a:t>
                </a:r>
                <a14:m>
                  <m:oMath xmlns:m="http://schemas.openxmlformats.org/officeDocument/2006/math">
                    <m:r>
                      <a:rPr lang="en-US" sz="2400" i="1" dirty="0">
                        <a:latin typeface="Cambria Math"/>
                      </a:rPr>
                      <m:t>&lt;</m:t>
                    </m:r>
                    <m:r>
                      <a:rPr lang="en-US" sz="2400" i="1" dirty="0">
                        <a:latin typeface="Cambria Math"/>
                      </a:rPr>
                      <m:t>𝑡</m:t>
                    </m:r>
                    <m:r>
                      <a:rPr lang="en-US" sz="2400" i="1" dirty="0">
                        <a:latin typeface="Cambria Math"/>
                      </a:rPr>
                      <m:t>≤</m:t>
                    </m:r>
                  </m:oMath>
                </a14:m>
                <a:r>
                  <a:rPr lang="en-US" sz="2400" dirty="0">
                    <a:latin typeface="Cambria Math"/>
                  </a:rPr>
                  <a:t> _______</a:t>
                </a:r>
                <a:endParaRPr lang="en-US" sz="2400" dirty="0">
                  <a:latin typeface="Verdana"/>
                </a:endParaRPr>
              </a:p>
            </p:txBody>
          </p:sp>
        </mc:Choice>
        <mc:Fallback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xmlns:a14="http://schemas.microsoft.com/office/drawing/2010/main" xmlns="" id="{2FA392D8-3ED3-7940-83A8-1451AA8A08D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4572" y="520394"/>
                <a:ext cx="10515600" cy="5304016"/>
              </a:xfrm>
              <a:prstGeom prst="rect">
                <a:avLst/>
              </a:prstGeom>
              <a:blipFill rotWithShape="1">
                <a:blip r:embed="rId4"/>
                <a:stretch>
                  <a:fillRect t="-920" b="-1609"/>
                </a:stretch>
              </a:blipFill>
            </p:spPr>
            <p:txBody>
              <a:bodyPr/>
              <a:lstStyle/>
              <a:p>
                <a:r>
                  <a:rPr lang="en-PH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Google Shape;282;g104476d1465_1_17"/>
          <p:cNvSpPr txBox="1"/>
          <p:nvPr/>
        </p:nvSpPr>
        <p:spPr>
          <a:xfrm>
            <a:off x="8897112" y="6457675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pg. 308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4126360846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Google Shape;309;g104476d1465_1_39"/>
          <p:cNvSpPr/>
          <p:nvPr/>
        </p:nvSpPr>
        <p:spPr>
          <a:xfrm>
            <a:off x="0" y="0"/>
            <a:ext cx="2731200" cy="6866100"/>
          </a:xfrm>
          <a:prstGeom prst="rect">
            <a:avLst/>
          </a:prstGeom>
          <a:solidFill>
            <a:srgbClr val="276C46"/>
          </a:solidFill>
          <a:ln w="9525" cap="flat" cmpd="sng">
            <a:solidFill>
              <a:srgbClr val="276C46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311" name="Google Shape;311;g104476d1465_1_39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30584" y="6200600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313" name="Google Shape;313;g104476d1465_1_39"/>
          <p:cNvSpPr txBox="1">
            <a:spLocks noGrp="1"/>
          </p:cNvSpPr>
          <p:nvPr>
            <p:ph type="title" idx="4294967295"/>
          </p:nvPr>
        </p:nvSpPr>
        <p:spPr>
          <a:xfrm>
            <a:off x="3738237" y="2766145"/>
            <a:ext cx="439693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algn="ctr">
              <a:buClr>
                <a:schemeClr val="lt1"/>
              </a:buClr>
              <a:buSzPts val="4800"/>
            </a:pPr>
            <a:r>
              <a:rPr lang="en-US" sz="5500" b="1" dirty="0">
                <a:solidFill>
                  <a:srgbClr val="33BEA6"/>
                </a:solidFill>
                <a:latin typeface="Verdana"/>
                <a:ea typeface="Verdana"/>
                <a:cs typeface="Verdana"/>
                <a:sym typeface="Verdana"/>
              </a:rPr>
              <a:t>Activity</a:t>
            </a:r>
            <a:endParaRPr sz="5100" b="1" dirty="0">
              <a:solidFill>
                <a:srgbClr val="33BEA6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pic>
        <p:nvPicPr>
          <p:cNvPr id="5122" name="Picture 2" descr="Icon&#10;&#10;Description automatically generated">
            <a:extLst>
              <a:ext uri="{FF2B5EF4-FFF2-40B4-BE49-F238E27FC236}">
                <a16:creationId xmlns:a16="http://schemas.microsoft.com/office/drawing/2014/main" xmlns="" id="{217F3A92-AA2C-4D41-A73D-4DC6608D682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3054096" y="2852923"/>
            <a:ext cx="1152144" cy="1152144"/>
          </a:xfrm>
          <a:prstGeom prst="rect">
            <a:avLst/>
          </a:prstGeom>
          <a:noFill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Google Shape;282;g104476d1465_1_17"/>
          <p:cNvSpPr txBox="1"/>
          <p:nvPr/>
        </p:nvSpPr>
        <p:spPr>
          <a:xfrm>
            <a:off x="8897112" y="6457675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pg. 308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816111526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0"/>
            <a:ext cx="223200" cy="6866100"/>
          </a:xfrm>
          <a:prstGeom prst="rect">
            <a:avLst/>
          </a:prstGeom>
          <a:solidFill>
            <a:srgbClr val="276C46"/>
          </a:solidFill>
          <a:ln w="9525" cap="flat" cmpd="sng">
            <a:solidFill>
              <a:srgbClr val="276C46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283" name="Google Shape;283;g104476d1465_1_17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30584" y="6200600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8" name="Google Shape;324;g103996e1364_0_25">
            <a:extLst>
              <a:ext uri="{FF2B5EF4-FFF2-40B4-BE49-F238E27FC236}">
                <a16:creationId xmlns:a16="http://schemas.microsoft.com/office/drawing/2014/main" xmlns="" id="{DB5796CA-12EB-BB4C-8338-B127D750A026}"/>
              </a:ext>
            </a:extLst>
          </p:cNvPr>
          <p:cNvSpPr txBox="1">
            <a:spLocks/>
          </p:cNvSpPr>
          <p:nvPr/>
        </p:nvSpPr>
        <p:spPr>
          <a:xfrm>
            <a:off x="1143000" y="253275"/>
            <a:ext cx="8019300" cy="55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lnSpc>
                <a:spcPct val="90000"/>
              </a:lnSpc>
              <a:buClr>
                <a:schemeClr val="dk1"/>
              </a:buClr>
              <a:buSzPts val="5400"/>
              <a:buFont typeface="Century Gothic"/>
              <a:buNone/>
            </a:pPr>
            <a:r>
              <a:rPr lang="en-US" sz="3600" b="1" dirty="0">
                <a:solidFill>
                  <a:srgbClr val="33BEA6"/>
                </a:solidFill>
                <a:latin typeface="Verdana"/>
                <a:ea typeface="Verdana"/>
                <a:cs typeface="Verdana"/>
                <a:sym typeface="Verdana"/>
              </a:rPr>
              <a:t>6.3.5 Activity: Gallery Walk</a:t>
            </a:r>
          </a:p>
        </p:txBody>
      </p:sp>
      <p:pic>
        <p:nvPicPr>
          <p:cNvPr id="9" name="Picture 2" descr="Icon&#10;&#10;Description automatically generated">
            <a:extLst>
              <a:ext uri="{FF2B5EF4-FFF2-40B4-BE49-F238E27FC236}">
                <a16:creationId xmlns:a16="http://schemas.microsoft.com/office/drawing/2014/main" xmlns="" id="{37999C4E-6AE0-FA43-BC73-665C08EC572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411480" y="157771"/>
            <a:ext cx="749808" cy="749808"/>
          </a:xfrm>
          <a:prstGeom prst="rect">
            <a:avLst/>
          </a:prstGeom>
          <a:noFill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xmlns="" id="{A3547ABD-563B-A148-B65C-C7679A7B43D4}"/>
              </a:ext>
            </a:extLst>
          </p:cNvPr>
          <p:cNvSpPr txBox="1"/>
          <p:nvPr/>
        </p:nvSpPr>
        <p:spPr>
          <a:xfrm>
            <a:off x="914400" y="1214576"/>
            <a:ext cx="10515600" cy="31906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latin typeface="Verdana"/>
              </a:rPr>
              <a:t>Work with your partner or small group to complete the following for each real-world context.</a:t>
            </a:r>
          </a:p>
          <a:p>
            <a:endParaRPr lang="en-PH" sz="24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365125" indent="-365125">
              <a:spcAft>
                <a:spcPts val="2000"/>
              </a:spcAft>
              <a:buFont typeface="Arial" pitchFamily="34" charset="0"/>
              <a:buChar char="•"/>
            </a:pPr>
            <a:r>
              <a:rPr lang="en-US" sz="2400" dirty="0">
                <a:latin typeface="Verdana"/>
              </a:rPr>
              <a:t>Write an inequality to represent the situation, including defining the variable used.</a:t>
            </a:r>
          </a:p>
          <a:p>
            <a:pPr marL="365125" indent="-365125">
              <a:spcAft>
                <a:spcPts val="2000"/>
              </a:spcAft>
              <a:buFont typeface="Arial" pitchFamily="34" charset="0"/>
              <a:buChar char="•"/>
            </a:pPr>
            <a:r>
              <a:rPr lang="en-US" sz="2400" dirty="0">
                <a:latin typeface="Verdana"/>
              </a:rPr>
              <a:t>Solve the inequality and graph the solution.</a:t>
            </a:r>
          </a:p>
          <a:p>
            <a:pPr marL="365125" indent="-365125">
              <a:buFont typeface="Arial" pitchFamily="34" charset="0"/>
              <a:buChar char="•"/>
            </a:pPr>
            <a:r>
              <a:rPr lang="en-US" sz="2400" dirty="0">
                <a:latin typeface="Verdana"/>
              </a:rPr>
              <a:t>Identify and explain any non-viable solutions.</a:t>
            </a:r>
            <a:endParaRPr lang="en-US" sz="24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</p:txBody>
      </p:sp>
      <p:sp>
        <p:nvSpPr>
          <p:cNvPr id="11" name="Google Shape;282;g104476d1465_1_17"/>
          <p:cNvSpPr txBox="1"/>
          <p:nvPr/>
        </p:nvSpPr>
        <p:spPr>
          <a:xfrm>
            <a:off x="8897112" y="6457675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pg. 308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4069935244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65135022"/>
              </p:ext>
            </p:extLst>
          </p:nvPr>
        </p:nvGraphicFramePr>
        <p:xfrm>
          <a:off x="2007765" y="272240"/>
          <a:ext cx="7955280" cy="6202680"/>
        </p:xfrm>
        <a:graphic>
          <a:graphicData uri="http://schemas.openxmlformats.org/drawingml/2006/table">
            <a:tbl>
              <a:tblPr firstRow="1" bandRow="1">
                <a:tableStyleId>{A91F0D33-8C57-4600-99A7-42BC86742BE1}</a:tableStyleId>
              </a:tblPr>
              <a:tblGrid>
                <a:gridCol w="2130552">
                  <a:extLst>
                    <a:ext uri="{9D8B030D-6E8A-4147-A177-3AD203B41FA5}">
                      <a16:colId xmlns:a16="http://schemas.microsoft.com/office/drawing/2014/main" xmlns="" val="20000"/>
                    </a:ext>
                  </a:extLst>
                </a:gridCol>
                <a:gridCol w="5824728">
                  <a:extLst>
                    <a:ext uri="{9D8B030D-6E8A-4147-A177-3AD203B41FA5}">
                      <a16:colId xmlns:a16="http://schemas.microsoft.com/office/drawing/2014/main" xmlns="" val="20001"/>
                    </a:ext>
                  </a:extLst>
                </a:gridCol>
              </a:tblGrid>
              <a:tr h="457200">
                <a:tc gridSpan="2">
                  <a:txBody>
                    <a:bodyPr/>
                    <a:lstStyle/>
                    <a:p>
                      <a:pPr algn="ctr"/>
                      <a:r>
                        <a:rPr lang="en-US" sz="2000" b="1" i="0" u="none" strike="noStrike" dirty="0">
                          <a:solidFill>
                            <a:srgbClr val="000000"/>
                          </a:solidFill>
                          <a:effectLst/>
                          <a:latin typeface="Verdana"/>
                        </a:rPr>
                        <a:t>Context A – Vacation Savings</a:t>
                      </a:r>
                      <a:endParaRPr lang="en-US" sz="2000" dirty="0">
                        <a:latin typeface="Verdana" pitchFamily="34" charset="0"/>
                        <a:ea typeface="Verdana" pitchFamily="34" charset="0"/>
                      </a:endParaRPr>
                    </a:p>
                  </a:txBody>
                  <a:tcPr marT="91440" marB="9144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 sz="2000" dirty="0">
                        <a:latin typeface="Verdana" pitchFamily="34" charset="0"/>
                        <a:ea typeface="Verdana" pitchFamily="34" charset="0"/>
                      </a:endParaRPr>
                    </a:p>
                  </a:txBody>
                  <a:tcPr marT="91440" marB="9144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xmlns="" val="10000"/>
                  </a:ext>
                </a:extLst>
              </a:tr>
              <a:tr h="685800">
                <a:tc>
                  <a:txBody>
                    <a:bodyPr/>
                    <a:lstStyle/>
                    <a:p>
                      <a:r>
                        <a:rPr lang="en-US" sz="2000" b="1" i="0" u="none" strike="noStrike" dirty="0">
                          <a:solidFill>
                            <a:srgbClr val="000000"/>
                          </a:solidFill>
                          <a:effectLst/>
                          <a:latin typeface="Verdana"/>
                        </a:rPr>
                        <a:t>Inequality</a:t>
                      </a:r>
                      <a:endParaRPr lang="en-US" sz="2000" dirty="0">
                        <a:latin typeface="Verdana" pitchFamily="34" charset="0"/>
                        <a:ea typeface="Verdana" pitchFamily="34" charset="0"/>
                      </a:endParaRPr>
                    </a:p>
                  </a:txBody>
                  <a:tcPr marT="91440" marB="9144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2000" dirty="0">
                        <a:latin typeface="Verdana" pitchFamily="34" charset="0"/>
                        <a:ea typeface="Verdana" pitchFamily="34" charset="0"/>
                      </a:endParaRPr>
                    </a:p>
                  </a:txBody>
                  <a:tcPr marT="91440" marB="9144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xmlns="" val="10001"/>
                  </a:ext>
                </a:extLst>
              </a:tr>
              <a:tr h="1371600">
                <a:tc>
                  <a:txBody>
                    <a:bodyPr/>
                    <a:lstStyle/>
                    <a:p>
                      <a:r>
                        <a:rPr lang="en-US" sz="2000" b="1" i="0" u="none" strike="noStrike" dirty="0">
                          <a:solidFill>
                            <a:srgbClr val="000000"/>
                          </a:solidFill>
                          <a:effectLst/>
                          <a:latin typeface="Verdana"/>
                        </a:rPr>
                        <a:t>Solution</a:t>
                      </a:r>
                      <a:endParaRPr lang="en-US" sz="2000" dirty="0">
                        <a:latin typeface="Verdana" pitchFamily="34" charset="0"/>
                        <a:ea typeface="Verdana" pitchFamily="34" charset="0"/>
                      </a:endParaRPr>
                    </a:p>
                  </a:txBody>
                  <a:tcPr marT="91440" marB="9144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2000" dirty="0">
                        <a:latin typeface="Verdana" pitchFamily="34" charset="0"/>
                        <a:ea typeface="Verdana" pitchFamily="34" charset="0"/>
                      </a:endParaRPr>
                    </a:p>
                  </a:txBody>
                  <a:tcPr marT="91440" marB="9144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xmlns="" val="10002"/>
                  </a:ext>
                </a:extLst>
              </a:tr>
              <a:tr h="914400">
                <a:tc>
                  <a:txBody>
                    <a:bodyPr/>
                    <a:lstStyle/>
                    <a:p>
                      <a:r>
                        <a:rPr lang="en-US" sz="2000" b="1" i="0" u="none" strike="noStrike" dirty="0">
                          <a:solidFill>
                            <a:srgbClr val="000000"/>
                          </a:solidFill>
                          <a:effectLst/>
                          <a:latin typeface="Verdana"/>
                        </a:rPr>
                        <a:t>Graph</a:t>
                      </a:r>
                      <a:endParaRPr lang="en-US" sz="2000" dirty="0">
                        <a:latin typeface="Verdana" pitchFamily="34" charset="0"/>
                        <a:ea typeface="Verdana" pitchFamily="34" charset="0"/>
                      </a:endParaRPr>
                    </a:p>
                  </a:txBody>
                  <a:tcPr marT="91440" marB="9144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2000" dirty="0">
                        <a:latin typeface="Verdana" pitchFamily="34" charset="0"/>
                        <a:ea typeface="Verdana" pitchFamily="34" charset="0"/>
                      </a:endParaRPr>
                    </a:p>
                  </a:txBody>
                  <a:tcPr marT="91440" marB="9144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xmlns="" val="10003"/>
                  </a:ext>
                </a:extLst>
              </a:tr>
              <a:tr h="2743200">
                <a:tc>
                  <a:txBody>
                    <a:bodyPr/>
                    <a:lstStyle/>
                    <a:p>
                      <a:r>
                        <a:rPr lang="en-US" sz="2000" b="1" i="0" u="none" strike="noStrike" dirty="0">
                          <a:solidFill>
                            <a:srgbClr val="000000"/>
                          </a:solidFill>
                          <a:effectLst/>
                          <a:latin typeface="Verdana"/>
                        </a:rPr>
                        <a:t>Non-Viable Solutions in </a:t>
                      </a:r>
                      <a:br>
                        <a:rPr lang="en-US" sz="2000" b="1" i="0" u="none" strike="noStrike" dirty="0">
                          <a:solidFill>
                            <a:srgbClr val="000000"/>
                          </a:solidFill>
                          <a:effectLst/>
                          <a:latin typeface="Verdana"/>
                        </a:rPr>
                      </a:br>
                      <a:r>
                        <a:rPr lang="en-US" sz="2000" b="1" i="0" u="none" strike="noStrike" dirty="0">
                          <a:solidFill>
                            <a:srgbClr val="000000"/>
                          </a:solidFill>
                          <a:effectLst/>
                          <a:latin typeface="Verdana"/>
                        </a:rPr>
                        <a:t>the Set</a:t>
                      </a:r>
                      <a:endParaRPr lang="en-US" sz="2000" dirty="0">
                        <a:latin typeface="Verdana" pitchFamily="34" charset="0"/>
                        <a:ea typeface="Verdana" pitchFamily="34" charset="0"/>
                      </a:endParaRPr>
                    </a:p>
                  </a:txBody>
                  <a:tcPr marT="91440" marB="9144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Verdana"/>
                        </a:rPr>
                        <a:t>Check any that apply.</a:t>
                      </a:r>
                    </a:p>
                    <a:p>
                      <a:pPr marL="685800" indent="-342900">
                        <a:buFont typeface="Wingdings" pitchFamily="2" charset="2"/>
                        <a:buChar char="q"/>
                      </a:pPr>
                      <a:r>
                        <a:rPr lang="en-US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Verdana"/>
                        </a:rPr>
                        <a:t>Solutions must be non-negative</a:t>
                      </a:r>
                    </a:p>
                    <a:p>
                      <a:pPr marL="685800" indent="-342900">
                        <a:buFont typeface="Wingdings" pitchFamily="2" charset="2"/>
                        <a:buChar char="q"/>
                      </a:pPr>
                      <a:r>
                        <a:rPr lang="en-US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Verdana"/>
                        </a:rPr>
                        <a:t>Solutions must be integers</a:t>
                      </a:r>
                    </a:p>
                    <a:p>
                      <a:pPr marL="342900" indent="-342900">
                        <a:buFont typeface="Wingdings" pitchFamily="2" charset="2"/>
                        <a:buChar char="q"/>
                      </a:pPr>
                      <a:endParaRPr lang="en-PH" sz="2000" b="0" i="0" u="none" strike="noStrike" dirty="0">
                        <a:solidFill>
                          <a:srgbClr val="000000"/>
                        </a:solidFill>
                        <a:effectLst/>
                        <a:latin typeface="Verdana"/>
                        <a:ea typeface="Verdana" pitchFamily="34" charset="0"/>
                      </a:endParaRPr>
                    </a:p>
                    <a:p>
                      <a:pPr marL="0" indent="0">
                        <a:buFont typeface="Wingdings" pitchFamily="2" charset="2"/>
                        <a:buNone/>
                      </a:pPr>
                      <a:r>
                        <a:rPr lang="en-US" sz="2000" b="0" i="0" u="none" strike="noStrike" baseline="0" dirty="0">
                          <a:latin typeface="Verdana"/>
                        </a:rPr>
                        <a:t>Explain.</a:t>
                      </a:r>
                      <a:endParaRPr lang="en-US" sz="2000" dirty="0">
                        <a:latin typeface="Verdana" pitchFamily="34" charset="0"/>
                        <a:ea typeface="Verdana" pitchFamily="34" charset="0"/>
                      </a:endParaRPr>
                    </a:p>
                  </a:txBody>
                  <a:tcPr marT="91440" marB="9144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xmlns="" val="10004"/>
                  </a:ext>
                </a:extLst>
              </a:tr>
            </a:tbl>
          </a:graphicData>
        </a:graphic>
      </p:graphicFrame>
      <p:sp>
        <p:nvSpPr>
          <p:cNvPr id="278" name="Google Shape;278;g104476d1465_1_17"/>
          <p:cNvSpPr/>
          <p:nvPr/>
        </p:nvSpPr>
        <p:spPr>
          <a:xfrm>
            <a:off x="0" y="0"/>
            <a:ext cx="223200" cy="6866100"/>
          </a:xfrm>
          <a:prstGeom prst="rect">
            <a:avLst/>
          </a:prstGeom>
          <a:solidFill>
            <a:srgbClr val="276C46"/>
          </a:solidFill>
          <a:ln w="9525" cap="flat" cmpd="sng">
            <a:solidFill>
              <a:srgbClr val="276C46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283" name="Google Shape;283;g104476d1465_1_17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30584" y="6200600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cxnSp>
        <p:nvCxnSpPr>
          <p:cNvPr id="8" name="Straight Arrow Connector 7"/>
          <p:cNvCxnSpPr/>
          <p:nvPr/>
        </p:nvCxnSpPr>
        <p:spPr>
          <a:xfrm>
            <a:off x="4320540" y="3488055"/>
            <a:ext cx="5410200" cy="0"/>
          </a:xfrm>
          <a:prstGeom prst="straightConnector1">
            <a:avLst/>
          </a:prstGeom>
          <a:ln w="28575">
            <a:headEnd type="triangle" w="med" len="med"/>
            <a:tailEnd type="triangl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5" name="Google Shape;282;g104476d1465_1_17"/>
          <p:cNvSpPr txBox="1"/>
          <p:nvPr/>
        </p:nvSpPr>
        <p:spPr>
          <a:xfrm>
            <a:off x="8897112" y="6457675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pg. 308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303764387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07472330"/>
              </p:ext>
            </p:extLst>
          </p:nvPr>
        </p:nvGraphicFramePr>
        <p:xfrm>
          <a:off x="2007765" y="272240"/>
          <a:ext cx="7955280" cy="6202680"/>
        </p:xfrm>
        <a:graphic>
          <a:graphicData uri="http://schemas.openxmlformats.org/drawingml/2006/table">
            <a:tbl>
              <a:tblPr firstRow="1" bandRow="1">
                <a:tableStyleId>{A91F0D33-8C57-4600-99A7-42BC86742BE1}</a:tableStyleId>
              </a:tblPr>
              <a:tblGrid>
                <a:gridCol w="2130552">
                  <a:extLst>
                    <a:ext uri="{9D8B030D-6E8A-4147-A177-3AD203B41FA5}">
                      <a16:colId xmlns:a16="http://schemas.microsoft.com/office/drawing/2014/main" xmlns="" val="20000"/>
                    </a:ext>
                  </a:extLst>
                </a:gridCol>
                <a:gridCol w="5824728">
                  <a:extLst>
                    <a:ext uri="{9D8B030D-6E8A-4147-A177-3AD203B41FA5}">
                      <a16:colId xmlns:a16="http://schemas.microsoft.com/office/drawing/2014/main" xmlns="" val="20001"/>
                    </a:ext>
                  </a:extLst>
                </a:gridCol>
              </a:tblGrid>
              <a:tr h="457200">
                <a:tc gridSpan="2">
                  <a:txBody>
                    <a:bodyPr/>
                    <a:lstStyle/>
                    <a:p>
                      <a:pPr algn="ctr"/>
                      <a:r>
                        <a:rPr lang="en-US" sz="2000" b="1" i="0" u="none" strike="noStrike" dirty="0">
                          <a:solidFill>
                            <a:srgbClr val="000000"/>
                          </a:solidFill>
                          <a:effectLst/>
                          <a:latin typeface="Verdana"/>
                        </a:rPr>
                        <a:t>Context B – Non-Operating Temperatures</a:t>
                      </a:r>
                      <a:endParaRPr lang="en-US" sz="2000" dirty="0">
                        <a:latin typeface="Verdana" pitchFamily="34" charset="0"/>
                        <a:ea typeface="Verdana" pitchFamily="34" charset="0"/>
                      </a:endParaRPr>
                    </a:p>
                  </a:txBody>
                  <a:tcPr marT="91440" marB="9144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 sz="2000" dirty="0">
                        <a:latin typeface="Verdana" pitchFamily="34" charset="0"/>
                        <a:ea typeface="Verdana" pitchFamily="34" charset="0"/>
                      </a:endParaRPr>
                    </a:p>
                  </a:txBody>
                  <a:tcPr marT="91440" marB="9144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xmlns="" val="10000"/>
                  </a:ext>
                </a:extLst>
              </a:tr>
              <a:tr h="685800">
                <a:tc>
                  <a:txBody>
                    <a:bodyPr/>
                    <a:lstStyle/>
                    <a:p>
                      <a:r>
                        <a:rPr lang="en-US" sz="2000" b="1" i="0" u="none" strike="noStrike" dirty="0">
                          <a:solidFill>
                            <a:srgbClr val="000000"/>
                          </a:solidFill>
                          <a:effectLst/>
                          <a:latin typeface="Verdana"/>
                        </a:rPr>
                        <a:t>Inequality</a:t>
                      </a:r>
                      <a:endParaRPr lang="en-US" sz="2000" dirty="0">
                        <a:latin typeface="Verdana" pitchFamily="34" charset="0"/>
                        <a:ea typeface="Verdana" pitchFamily="34" charset="0"/>
                      </a:endParaRPr>
                    </a:p>
                  </a:txBody>
                  <a:tcPr marT="91440" marB="9144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2000" dirty="0">
                        <a:latin typeface="Verdana" pitchFamily="34" charset="0"/>
                        <a:ea typeface="Verdana" pitchFamily="34" charset="0"/>
                      </a:endParaRPr>
                    </a:p>
                  </a:txBody>
                  <a:tcPr marT="91440" marB="9144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xmlns="" val="10001"/>
                  </a:ext>
                </a:extLst>
              </a:tr>
              <a:tr h="1371600">
                <a:tc>
                  <a:txBody>
                    <a:bodyPr/>
                    <a:lstStyle/>
                    <a:p>
                      <a:r>
                        <a:rPr lang="en-US" sz="2000" b="1" i="0" u="none" strike="noStrike" dirty="0">
                          <a:solidFill>
                            <a:srgbClr val="000000"/>
                          </a:solidFill>
                          <a:effectLst/>
                          <a:latin typeface="Verdana"/>
                        </a:rPr>
                        <a:t>Solution</a:t>
                      </a:r>
                      <a:endParaRPr lang="en-US" sz="2000" dirty="0">
                        <a:latin typeface="Verdana" pitchFamily="34" charset="0"/>
                        <a:ea typeface="Verdana" pitchFamily="34" charset="0"/>
                      </a:endParaRPr>
                    </a:p>
                  </a:txBody>
                  <a:tcPr marT="91440" marB="9144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2000" dirty="0">
                        <a:latin typeface="Verdana" pitchFamily="34" charset="0"/>
                        <a:ea typeface="Verdana" pitchFamily="34" charset="0"/>
                      </a:endParaRPr>
                    </a:p>
                  </a:txBody>
                  <a:tcPr marT="91440" marB="9144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xmlns="" val="10002"/>
                  </a:ext>
                </a:extLst>
              </a:tr>
              <a:tr h="914400">
                <a:tc>
                  <a:txBody>
                    <a:bodyPr/>
                    <a:lstStyle/>
                    <a:p>
                      <a:r>
                        <a:rPr lang="en-US" sz="2000" b="1" i="0" u="none" strike="noStrike" dirty="0">
                          <a:solidFill>
                            <a:srgbClr val="000000"/>
                          </a:solidFill>
                          <a:effectLst/>
                          <a:latin typeface="Verdana"/>
                        </a:rPr>
                        <a:t>Graph</a:t>
                      </a:r>
                      <a:endParaRPr lang="en-US" sz="2000" dirty="0">
                        <a:latin typeface="Verdana" pitchFamily="34" charset="0"/>
                        <a:ea typeface="Verdana" pitchFamily="34" charset="0"/>
                      </a:endParaRPr>
                    </a:p>
                  </a:txBody>
                  <a:tcPr marT="91440" marB="9144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2000" dirty="0">
                        <a:latin typeface="Verdana" pitchFamily="34" charset="0"/>
                        <a:ea typeface="Verdana" pitchFamily="34" charset="0"/>
                      </a:endParaRPr>
                    </a:p>
                  </a:txBody>
                  <a:tcPr marT="91440" marB="9144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xmlns="" val="10003"/>
                  </a:ext>
                </a:extLst>
              </a:tr>
              <a:tr h="2743200">
                <a:tc>
                  <a:txBody>
                    <a:bodyPr/>
                    <a:lstStyle/>
                    <a:p>
                      <a:r>
                        <a:rPr lang="en-US" sz="2000" b="1" i="0" u="none" strike="noStrike" dirty="0">
                          <a:solidFill>
                            <a:srgbClr val="000000"/>
                          </a:solidFill>
                          <a:effectLst/>
                          <a:latin typeface="Verdana"/>
                        </a:rPr>
                        <a:t>Non-Viable Solutions in </a:t>
                      </a:r>
                      <a:br>
                        <a:rPr lang="en-US" sz="2000" b="1" i="0" u="none" strike="noStrike" dirty="0">
                          <a:solidFill>
                            <a:srgbClr val="000000"/>
                          </a:solidFill>
                          <a:effectLst/>
                          <a:latin typeface="Verdana"/>
                        </a:rPr>
                      </a:br>
                      <a:r>
                        <a:rPr lang="en-US" sz="2000" b="1" i="0" u="none" strike="noStrike" dirty="0">
                          <a:solidFill>
                            <a:srgbClr val="000000"/>
                          </a:solidFill>
                          <a:effectLst/>
                          <a:latin typeface="Verdana"/>
                        </a:rPr>
                        <a:t>the Set</a:t>
                      </a:r>
                      <a:endParaRPr lang="en-US" sz="2000" dirty="0">
                        <a:latin typeface="Verdana" pitchFamily="34" charset="0"/>
                        <a:ea typeface="Verdana" pitchFamily="34" charset="0"/>
                      </a:endParaRPr>
                    </a:p>
                  </a:txBody>
                  <a:tcPr marT="91440" marB="9144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Verdana"/>
                        </a:rPr>
                        <a:t>Check any that apply.</a:t>
                      </a:r>
                    </a:p>
                    <a:p>
                      <a:pPr marL="685800" indent="-342900">
                        <a:buFont typeface="Wingdings" pitchFamily="2" charset="2"/>
                        <a:buChar char="q"/>
                      </a:pPr>
                      <a:r>
                        <a:rPr lang="en-US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Verdana"/>
                        </a:rPr>
                        <a:t>Solutions must be non-negative</a:t>
                      </a:r>
                    </a:p>
                    <a:p>
                      <a:pPr marL="685800" indent="-342900">
                        <a:buFont typeface="Wingdings" pitchFamily="2" charset="2"/>
                        <a:buChar char="q"/>
                      </a:pPr>
                      <a:r>
                        <a:rPr lang="en-US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Verdana"/>
                        </a:rPr>
                        <a:t>Solutions must be integers</a:t>
                      </a:r>
                    </a:p>
                    <a:p>
                      <a:pPr marL="342900" indent="-342900">
                        <a:buFont typeface="Wingdings" pitchFamily="2" charset="2"/>
                        <a:buChar char="q"/>
                      </a:pPr>
                      <a:endParaRPr lang="en-PH" sz="2000" b="0" i="0" u="none" strike="noStrike" dirty="0">
                        <a:solidFill>
                          <a:srgbClr val="000000"/>
                        </a:solidFill>
                        <a:effectLst/>
                        <a:latin typeface="Verdana"/>
                        <a:ea typeface="Verdana" pitchFamily="34" charset="0"/>
                      </a:endParaRPr>
                    </a:p>
                    <a:p>
                      <a:pPr marL="0" indent="0">
                        <a:buFont typeface="Wingdings" pitchFamily="2" charset="2"/>
                        <a:buNone/>
                      </a:pPr>
                      <a:r>
                        <a:rPr lang="en-US" sz="2000" b="0" i="0" u="none" strike="noStrike" baseline="0" dirty="0">
                          <a:latin typeface="Verdana"/>
                        </a:rPr>
                        <a:t>Explain.</a:t>
                      </a:r>
                      <a:endParaRPr lang="en-US" sz="2000" dirty="0">
                        <a:latin typeface="Verdana" pitchFamily="34" charset="0"/>
                        <a:ea typeface="Verdana" pitchFamily="34" charset="0"/>
                      </a:endParaRPr>
                    </a:p>
                  </a:txBody>
                  <a:tcPr marT="91440" marB="9144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xmlns="" val="10004"/>
                  </a:ext>
                </a:extLst>
              </a:tr>
            </a:tbl>
          </a:graphicData>
        </a:graphic>
      </p:graphicFrame>
      <p:sp>
        <p:nvSpPr>
          <p:cNvPr id="278" name="Google Shape;278;g104476d1465_1_17"/>
          <p:cNvSpPr/>
          <p:nvPr/>
        </p:nvSpPr>
        <p:spPr>
          <a:xfrm>
            <a:off x="0" y="0"/>
            <a:ext cx="223200" cy="6866100"/>
          </a:xfrm>
          <a:prstGeom prst="rect">
            <a:avLst/>
          </a:prstGeom>
          <a:solidFill>
            <a:srgbClr val="276C46"/>
          </a:solidFill>
          <a:ln w="9525" cap="flat" cmpd="sng">
            <a:solidFill>
              <a:srgbClr val="276C46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283" name="Google Shape;283;g104476d1465_1_17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30584" y="6200600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cxnSp>
        <p:nvCxnSpPr>
          <p:cNvPr id="8" name="Straight Arrow Connector 7"/>
          <p:cNvCxnSpPr/>
          <p:nvPr/>
        </p:nvCxnSpPr>
        <p:spPr>
          <a:xfrm>
            <a:off x="4320540" y="3488055"/>
            <a:ext cx="5410200" cy="0"/>
          </a:xfrm>
          <a:prstGeom prst="straightConnector1">
            <a:avLst/>
          </a:prstGeom>
          <a:ln w="28575">
            <a:headEnd type="triangle" w="med" len="med"/>
            <a:tailEnd type="triangl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7" name="Google Shape;282;g104476d1465_1_17"/>
          <p:cNvSpPr txBox="1"/>
          <p:nvPr/>
        </p:nvSpPr>
        <p:spPr>
          <a:xfrm>
            <a:off x="8897112" y="6457675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pg. 309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306459978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24332921"/>
              </p:ext>
            </p:extLst>
          </p:nvPr>
        </p:nvGraphicFramePr>
        <p:xfrm>
          <a:off x="2007765" y="272240"/>
          <a:ext cx="7955280" cy="6202680"/>
        </p:xfrm>
        <a:graphic>
          <a:graphicData uri="http://schemas.openxmlformats.org/drawingml/2006/table">
            <a:tbl>
              <a:tblPr firstRow="1" bandRow="1">
                <a:tableStyleId>{A91F0D33-8C57-4600-99A7-42BC86742BE1}</a:tableStyleId>
              </a:tblPr>
              <a:tblGrid>
                <a:gridCol w="2130552">
                  <a:extLst>
                    <a:ext uri="{9D8B030D-6E8A-4147-A177-3AD203B41FA5}">
                      <a16:colId xmlns:a16="http://schemas.microsoft.com/office/drawing/2014/main" xmlns="" val="20000"/>
                    </a:ext>
                  </a:extLst>
                </a:gridCol>
                <a:gridCol w="5824728">
                  <a:extLst>
                    <a:ext uri="{9D8B030D-6E8A-4147-A177-3AD203B41FA5}">
                      <a16:colId xmlns:a16="http://schemas.microsoft.com/office/drawing/2014/main" xmlns="" val="20001"/>
                    </a:ext>
                  </a:extLst>
                </a:gridCol>
              </a:tblGrid>
              <a:tr h="457200">
                <a:tc gridSpan="2">
                  <a:txBody>
                    <a:bodyPr/>
                    <a:lstStyle/>
                    <a:p>
                      <a:pPr algn="ctr"/>
                      <a:r>
                        <a:rPr lang="en-US" sz="2000" b="1" i="0" u="none" strike="noStrike" dirty="0">
                          <a:solidFill>
                            <a:srgbClr val="000000"/>
                          </a:solidFill>
                          <a:effectLst/>
                          <a:latin typeface="Verdana"/>
                        </a:rPr>
                        <a:t>Context C – Gym Memberships</a:t>
                      </a:r>
                      <a:endParaRPr lang="en-US" sz="2000" dirty="0">
                        <a:latin typeface="Verdana" pitchFamily="34" charset="0"/>
                        <a:ea typeface="Verdana" pitchFamily="34" charset="0"/>
                      </a:endParaRPr>
                    </a:p>
                  </a:txBody>
                  <a:tcPr marT="91440" marB="9144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 sz="2000" dirty="0">
                        <a:latin typeface="Verdana" pitchFamily="34" charset="0"/>
                        <a:ea typeface="Verdana" pitchFamily="34" charset="0"/>
                      </a:endParaRPr>
                    </a:p>
                  </a:txBody>
                  <a:tcPr marT="91440" marB="9144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xmlns="" val="10000"/>
                  </a:ext>
                </a:extLst>
              </a:tr>
              <a:tr h="685800">
                <a:tc>
                  <a:txBody>
                    <a:bodyPr/>
                    <a:lstStyle/>
                    <a:p>
                      <a:r>
                        <a:rPr lang="en-US" sz="2000" b="1" i="0" u="none" strike="noStrike">
                          <a:solidFill>
                            <a:srgbClr val="000000"/>
                          </a:solidFill>
                          <a:effectLst/>
                          <a:latin typeface="Verdana"/>
                        </a:rPr>
                        <a:t>Inequality</a:t>
                      </a:r>
                      <a:endParaRPr lang="en-US" sz="2000" dirty="0">
                        <a:latin typeface="Verdana" pitchFamily="34" charset="0"/>
                        <a:ea typeface="Verdana" pitchFamily="34" charset="0"/>
                      </a:endParaRPr>
                    </a:p>
                  </a:txBody>
                  <a:tcPr marT="91440" marB="9144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2000" dirty="0">
                        <a:latin typeface="Verdana" pitchFamily="34" charset="0"/>
                        <a:ea typeface="Verdana" pitchFamily="34" charset="0"/>
                      </a:endParaRPr>
                    </a:p>
                  </a:txBody>
                  <a:tcPr marT="91440" marB="9144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xmlns="" val="10001"/>
                  </a:ext>
                </a:extLst>
              </a:tr>
              <a:tr h="1371600">
                <a:tc>
                  <a:txBody>
                    <a:bodyPr/>
                    <a:lstStyle/>
                    <a:p>
                      <a:r>
                        <a:rPr lang="en-US" sz="2000" b="1" i="0" u="none" strike="noStrike">
                          <a:solidFill>
                            <a:srgbClr val="000000"/>
                          </a:solidFill>
                          <a:effectLst/>
                          <a:latin typeface="Verdana"/>
                        </a:rPr>
                        <a:t>Solution</a:t>
                      </a:r>
                      <a:endParaRPr lang="en-US" sz="2000" dirty="0">
                        <a:latin typeface="Verdana" pitchFamily="34" charset="0"/>
                        <a:ea typeface="Verdana" pitchFamily="34" charset="0"/>
                      </a:endParaRPr>
                    </a:p>
                  </a:txBody>
                  <a:tcPr marT="91440" marB="9144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2000" dirty="0">
                        <a:latin typeface="Verdana" pitchFamily="34" charset="0"/>
                        <a:ea typeface="Verdana" pitchFamily="34" charset="0"/>
                      </a:endParaRPr>
                    </a:p>
                  </a:txBody>
                  <a:tcPr marT="91440" marB="9144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xmlns="" val="10002"/>
                  </a:ext>
                </a:extLst>
              </a:tr>
              <a:tr h="914400">
                <a:tc>
                  <a:txBody>
                    <a:bodyPr/>
                    <a:lstStyle/>
                    <a:p>
                      <a:r>
                        <a:rPr lang="en-US" sz="2000" b="1" i="0" u="none" strike="noStrike">
                          <a:solidFill>
                            <a:srgbClr val="000000"/>
                          </a:solidFill>
                          <a:effectLst/>
                          <a:latin typeface="Verdana"/>
                        </a:rPr>
                        <a:t>Graph</a:t>
                      </a:r>
                      <a:endParaRPr lang="en-US" sz="2000" dirty="0">
                        <a:latin typeface="Verdana" pitchFamily="34" charset="0"/>
                        <a:ea typeface="Verdana" pitchFamily="34" charset="0"/>
                      </a:endParaRPr>
                    </a:p>
                  </a:txBody>
                  <a:tcPr marT="91440" marB="9144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2000" dirty="0">
                        <a:latin typeface="Verdana" pitchFamily="34" charset="0"/>
                        <a:ea typeface="Verdana" pitchFamily="34" charset="0"/>
                      </a:endParaRPr>
                    </a:p>
                  </a:txBody>
                  <a:tcPr marT="91440" marB="9144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xmlns="" val="10003"/>
                  </a:ext>
                </a:extLst>
              </a:tr>
              <a:tr h="2743200">
                <a:tc>
                  <a:txBody>
                    <a:bodyPr/>
                    <a:lstStyle/>
                    <a:p>
                      <a:r>
                        <a:rPr lang="en-US" sz="2000" b="1" i="0" u="none" strike="noStrike">
                          <a:solidFill>
                            <a:srgbClr val="000000"/>
                          </a:solidFill>
                          <a:effectLst/>
                          <a:latin typeface="Verdana"/>
                        </a:rPr>
                        <a:t>Non-Viable Solutions in </a:t>
                      </a:r>
                      <a:br>
                        <a:rPr lang="en-US" sz="2000" b="1" i="0" u="none" strike="noStrike">
                          <a:solidFill>
                            <a:srgbClr val="000000"/>
                          </a:solidFill>
                          <a:effectLst/>
                          <a:latin typeface="Verdana"/>
                        </a:rPr>
                      </a:br>
                      <a:r>
                        <a:rPr lang="en-US" sz="2000" b="1" i="0" u="none" strike="noStrike">
                          <a:solidFill>
                            <a:srgbClr val="000000"/>
                          </a:solidFill>
                          <a:effectLst/>
                          <a:latin typeface="Verdana"/>
                        </a:rPr>
                        <a:t>the Set</a:t>
                      </a:r>
                      <a:endParaRPr lang="en-US" sz="2000" dirty="0">
                        <a:latin typeface="Verdana" pitchFamily="34" charset="0"/>
                        <a:ea typeface="Verdana" pitchFamily="34" charset="0"/>
                      </a:endParaRPr>
                    </a:p>
                  </a:txBody>
                  <a:tcPr marT="91440" marB="9144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Verdana"/>
                        </a:rPr>
                        <a:t>Check any that apply.</a:t>
                      </a:r>
                    </a:p>
                    <a:p>
                      <a:pPr marL="685800" indent="-342900">
                        <a:buFont typeface="Wingdings" pitchFamily="2" charset="2"/>
                        <a:buChar char="q"/>
                      </a:pPr>
                      <a:r>
                        <a:rPr lang="en-US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Verdana"/>
                        </a:rPr>
                        <a:t>Solutions must be non-negative</a:t>
                      </a:r>
                    </a:p>
                    <a:p>
                      <a:pPr marL="685800" indent="-342900">
                        <a:buFont typeface="Wingdings" pitchFamily="2" charset="2"/>
                        <a:buChar char="q"/>
                      </a:pPr>
                      <a:r>
                        <a:rPr lang="en-US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Verdana"/>
                        </a:rPr>
                        <a:t>Solutions must be integers</a:t>
                      </a:r>
                    </a:p>
                    <a:p>
                      <a:pPr marL="342900" indent="-342900">
                        <a:buFont typeface="Wingdings" pitchFamily="2" charset="2"/>
                        <a:buChar char="q"/>
                      </a:pPr>
                      <a:endParaRPr lang="en-PH" sz="2000" b="0" i="0" u="none" strike="noStrike" dirty="0">
                        <a:solidFill>
                          <a:srgbClr val="000000"/>
                        </a:solidFill>
                        <a:effectLst/>
                        <a:latin typeface="Verdana"/>
                        <a:ea typeface="Verdana" pitchFamily="34" charset="0"/>
                      </a:endParaRPr>
                    </a:p>
                    <a:p>
                      <a:pPr marL="0" indent="0">
                        <a:buFont typeface="Wingdings" pitchFamily="2" charset="2"/>
                        <a:buNone/>
                      </a:pPr>
                      <a:r>
                        <a:rPr lang="en-US" sz="2000" b="0" i="0" u="none" strike="noStrike" baseline="0" dirty="0">
                          <a:latin typeface="Verdana"/>
                        </a:rPr>
                        <a:t>Explain.</a:t>
                      </a:r>
                      <a:endParaRPr lang="en-US" sz="2000" dirty="0">
                        <a:latin typeface="Verdana" pitchFamily="34" charset="0"/>
                        <a:ea typeface="Verdana" pitchFamily="34" charset="0"/>
                      </a:endParaRPr>
                    </a:p>
                  </a:txBody>
                  <a:tcPr marT="91440" marB="9144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xmlns="" val="10004"/>
                  </a:ext>
                </a:extLst>
              </a:tr>
            </a:tbl>
          </a:graphicData>
        </a:graphic>
      </p:graphicFrame>
      <p:sp>
        <p:nvSpPr>
          <p:cNvPr id="278" name="Google Shape;278;g104476d1465_1_17"/>
          <p:cNvSpPr/>
          <p:nvPr/>
        </p:nvSpPr>
        <p:spPr>
          <a:xfrm>
            <a:off x="0" y="0"/>
            <a:ext cx="223200" cy="6866100"/>
          </a:xfrm>
          <a:prstGeom prst="rect">
            <a:avLst/>
          </a:prstGeom>
          <a:solidFill>
            <a:srgbClr val="276C46"/>
          </a:solidFill>
          <a:ln w="9525" cap="flat" cmpd="sng">
            <a:solidFill>
              <a:srgbClr val="276C46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283" name="Google Shape;283;g104476d1465_1_17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30584" y="6200600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cxnSp>
        <p:nvCxnSpPr>
          <p:cNvPr id="8" name="Straight Arrow Connector 7"/>
          <p:cNvCxnSpPr/>
          <p:nvPr/>
        </p:nvCxnSpPr>
        <p:spPr>
          <a:xfrm>
            <a:off x="4320540" y="3488055"/>
            <a:ext cx="5410200" cy="0"/>
          </a:xfrm>
          <a:prstGeom prst="straightConnector1">
            <a:avLst/>
          </a:prstGeom>
          <a:ln w="28575">
            <a:headEnd type="triangle" w="med" len="med"/>
            <a:tailEnd type="triangl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7" name="Google Shape;282;g104476d1465_1_17"/>
          <p:cNvSpPr txBox="1"/>
          <p:nvPr/>
        </p:nvSpPr>
        <p:spPr>
          <a:xfrm>
            <a:off x="8897112" y="6457675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pg. 309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773845526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64049278"/>
              </p:ext>
            </p:extLst>
          </p:nvPr>
        </p:nvGraphicFramePr>
        <p:xfrm>
          <a:off x="2007765" y="272240"/>
          <a:ext cx="7955280" cy="6202680"/>
        </p:xfrm>
        <a:graphic>
          <a:graphicData uri="http://schemas.openxmlformats.org/drawingml/2006/table">
            <a:tbl>
              <a:tblPr firstRow="1" bandRow="1">
                <a:tableStyleId>{A91F0D33-8C57-4600-99A7-42BC86742BE1}</a:tableStyleId>
              </a:tblPr>
              <a:tblGrid>
                <a:gridCol w="2130552">
                  <a:extLst>
                    <a:ext uri="{9D8B030D-6E8A-4147-A177-3AD203B41FA5}">
                      <a16:colId xmlns:a16="http://schemas.microsoft.com/office/drawing/2014/main" xmlns="" val="20000"/>
                    </a:ext>
                  </a:extLst>
                </a:gridCol>
                <a:gridCol w="5824728">
                  <a:extLst>
                    <a:ext uri="{9D8B030D-6E8A-4147-A177-3AD203B41FA5}">
                      <a16:colId xmlns:a16="http://schemas.microsoft.com/office/drawing/2014/main" xmlns="" val="20001"/>
                    </a:ext>
                  </a:extLst>
                </a:gridCol>
              </a:tblGrid>
              <a:tr h="457200">
                <a:tc gridSpan="2">
                  <a:txBody>
                    <a:bodyPr/>
                    <a:lstStyle/>
                    <a:p>
                      <a:pPr algn="ctr"/>
                      <a:r>
                        <a:rPr lang="en-US" sz="2000" b="1" i="0" u="none" strike="noStrike" dirty="0">
                          <a:solidFill>
                            <a:srgbClr val="000000"/>
                          </a:solidFill>
                          <a:effectLst/>
                          <a:latin typeface="Verdana"/>
                        </a:rPr>
                        <a:t>Context D – Planting Citrus Trees</a:t>
                      </a:r>
                      <a:endParaRPr lang="en-US" sz="2000" dirty="0">
                        <a:latin typeface="Verdana" pitchFamily="34" charset="0"/>
                        <a:ea typeface="Verdana" pitchFamily="34" charset="0"/>
                      </a:endParaRPr>
                    </a:p>
                  </a:txBody>
                  <a:tcPr marT="91440" marB="9144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 sz="2000" dirty="0">
                        <a:latin typeface="Verdana" pitchFamily="34" charset="0"/>
                        <a:ea typeface="Verdana" pitchFamily="34" charset="0"/>
                      </a:endParaRPr>
                    </a:p>
                  </a:txBody>
                  <a:tcPr marT="91440" marB="9144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xmlns="" val="10000"/>
                  </a:ext>
                </a:extLst>
              </a:tr>
              <a:tr h="685800">
                <a:tc>
                  <a:txBody>
                    <a:bodyPr/>
                    <a:lstStyle/>
                    <a:p>
                      <a:r>
                        <a:rPr lang="en-US" sz="2000" b="1" i="0" u="none" strike="noStrike">
                          <a:solidFill>
                            <a:srgbClr val="000000"/>
                          </a:solidFill>
                          <a:effectLst/>
                          <a:latin typeface="Verdana"/>
                        </a:rPr>
                        <a:t>Inequality</a:t>
                      </a:r>
                      <a:endParaRPr lang="en-US" sz="2000" dirty="0">
                        <a:latin typeface="Verdana" pitchFamily="34" charset="0"/>
                        <a:ea typeface="Verdana" pitchFamily="34" charset="0"/>
                      </a:endParaRPr>
                    </a:p>
                  </a:txBody>
                  <a:tcPr marT="91440" marB="9144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2000" dirty="0">
                        <a:latin typeface="Verdana" pitchFamily="34" charset="0"/>
                        <a:ea typeface="Verdana" pitchFamily="34" charset="0"/>
                      </a:endParaRPr>
                    </a:p>
                  </a:txBody>
                  <a:tcPr marT="91440" marB="9144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xmlns="" val="10001"/>
                  </a:ext>
                </a:extLst>
              </a:tr>
              <a:tr h="1371600">
                <a:tc>
                  <a:txBody>
                    <a:bodyPr/>
                    <a:lstStyle/>
                    <a:p>
                      <a:r>
                        <a:rPr lang="en-US" sz="2000" b="1" i="0" u="none" strike="noStrike">
                          <a:solidFill>
                            <a:srgbClr val="000000"/>
                          </a:solidFill>
                          <a:effectLst/>
                          <a:latin typeface="Verdana"/>
                        </a:rPr>
                        <a:t>Solution</a:t>
                      </a:r>
                      <a:endParaRPr lang="en-US" sz="2000" dirty="0">
                        <a:latin typeface="Verdana" pitchFamily="34" charset="0"/>
                        <a:ea typeface="Verdana" pitchFamily="34" charset="0"/>
                      </a:endParaRPr>
                    </a:p>
                  </a:txBody>
                  <a:tcPr marT="91440" marB="9144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2000" dirty="0">
                        <a:latin typeface="Verdana" pitchFamily="34" charset="0"/>
                        <a:ea typeface="Verdana" pitchFamily="34" charset="0"/>
                      </a:endParaRPr>
                    </a:p>
                  </a:txBody>
                  <a:tcPr marT="91440" marB="9144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xmlns="" val="10002"/>
                  </a:ext>
                </a:extLst>
              </a:tr>
              <a:tr h="914400">
                <a:tc>
                  <a:txBody>
                    <a:bodyPr/>
                    <a:lstStyle/>
                    <a:p>
                      <a:r>
                        <a:rPr lang="en-US" sz="2000" b="1" i="0" u="none" strike="noStrike">
                          <a:solidFill>
                            <a:srgbClr val="000000"/>
                          </a:solidFill>
                          <a:effectLst/>
                          <a:latin typeface="Verdana"/>
                        </a:rPr>
                        <a:t>Graph</a:t>
                      </a:r>
                      <a:endParaRPr lang="en-US" sz="2000" dirty="0">
                        <a:latin typeface="Verdana" pitchFamily="34" charset="0"/>
                        <a:ea typeface="Verdana" pitchFamily="34" charset="0"/>
                      </a:endParaRPr>
                    </a:p>
                  </a:txBody>
                  <a:tcPr marT="91440" marB="9144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2000" dirty="0">
                        <a:latin typeface="Verdana" pitchFamily="34" charset="0"/>
                        <a:ea typeface="Verdana" pitchFamily="34" charset="0"/>
                      </a:endParaRPr>
                    </a:p>
                  </a:txBody>
                  <a:tcPr marT="91440" marB="9144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xmlns="" val="10003"/>
                  </a:ext>
                </a:extLst>
              </a:tr>
              <a:tr h="2743200">
                <a:tc>
                  <a:txBody>
                    <a:bodyPr/>
                    <a:lstStyle/>
                    <a:p>
                      <a:r>
                        <a:rPr lang="en-US" sz="2000" b="1" i="0" u="none" strike="noStrike">
                          <a:solidFill>
                            <a:srgbClr val="000000"/>
                          </a:solidFill>
                          <a:effectLst/>
                          <a:latin typeface="Verdana"/>
                        </a:rPr>
                        <a:t>Non-Viable Solutions in </a:t>
                      </a:r>
                      <a:br>
                        <a:rPr lang="en-US" sz="2000" b="1" i="0" u="none" strike="noStrike">
                          <a:solidFill>
                            <a:srgbClr val="000000"/>
                          </a:solidFill>
                          <a:effectLst/>
                          <a:latin typeface="Verdana"/>
                        </a:rPr>
                      </a:br>
                      <a:r>
                        <a:rPr lang="en-US" sz="2000" b="1" i="0" u="none" strike="noStrike">
                          <a:solidFill>
                            <a:srgbClr val="000000"/>
                          </a:solidFill>
                          <a:effectLst/>
                          <a:latin typeface="Verdana"/>
                        </a:rPr>
                        <a:t>the Set</a:t>
                      </a:r>
                      <a:endParaRPr lang="en-US" sz="2000" dirty="0">
                        <a:latin typeface="Verdana" pitchFamily="34" charset="0"/>
                        <a:ea typeface="Verdana" pitchFamily="34" charset="0"/>
                      </a:endParaRPr>
                    </a:p>
                  </a:txBody>
                  <a:tcPr marT="91440" marB="9144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Verdana"/>
                        </a:rPr>
                        <a:t>Check any that apply.</a:t>
                      </a:r>
                    </a:p>
                    <a:p>
                      <a:pPr marL="685800" indent="-342900">
                        <a:buFont typeface="Wingdings" pitchFamily="2" charset="2"/>
                        <a:buChar char="q"/>
                      </a:pPr>
                      <a:r>
                        <a:rPr lang="en-US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Verdana"/>
                        </a:rPr>
                        <a:t>Solutions must be non-negative</a:t>
                      </a:r>
                    </a:p>
                    <a:p>
                      <a:pPr marL="685800" indent="-342900">
                        <a:buFont typeface="Wingdings" pitchFamily="2" charset="2"/>
                        <a:buChar char="q"/>
                      </a:pPr>
                      <a:r>
                        <a:rPr lang="en-US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Verdana"/>
                        </a:rPr>
                        <a:t>Solutions must be integers</a:t>
                      </a:r>
                    </a:p>
                    <a:p>
                      <a:pPr marL="342900" indent="-342900">
                        <a:buFont typeface="Wingdings" pitchFamily="2" charset="2"/>
                        <a:buChar char="q"/>
                      </a:pPr>
                      <a:endParaRPr lang="en-PH" sz="2000" b="0" i="0" u="none" strike="noStrike" dirty="0">
                        <a:solidFill>
                          <a:srgbClr val="000000"/>
                        </a:solidFill>
                        <a:effectLst/>
                        <a:latin typeface="Verdana"/>
                        <a:ea typeface="Verdana" pitchFamily="34" charset="0"/>
                      </a:endParaRPr>
                    </a:p>
                    <a:p>
                      <a:pPr marL="0" indent="0">
                        <a:buFont typeface="Wingdings" pitchFamily="2" charset="2"/>
                        <a:buNone/>
                      </a:pPr>
                      <a:r>
                        <a:rPr lang="en-US" sz="2000" b="0" i="0" u="none" strike="noStrike" baseline="0" dirty="0">
                          <a:latin typeface="Verdana"/>
                        </a:rPr>
                        <a:t>Explain.</a:t>
                      </a:r>
                      <a:endParaRPr lang="en-US" sz="2000" dirty="0">
                        <a:latin typeface="Verdana" pitchFamily="34" charset="0"/>
                        <a:ea typeface="Verdana" pitchFamily="34" charset="0"/>
                      </a:endParaRPr>
                    </a:p>
                  </a:txBody>
                  <a:tcPr marT="91440" marB="9144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xmlns="" val="10004"/>
                  </a:ext>
                </a:extLst>
              </a:tr>
            </a:tbl>
          </a:graphicData>
        </a:graphic>
      </p:graphicFrame>
      <p:sp>
        <p:nvSpPr>
          <p:cNvPr id="278" name="Google Shape;278;g104476d1465_1_17"/>
          <p:cNvSpPr/>
          <p:nvPr/>
        </p:nvSpPr>
        <p:spPr>
          <a:xfrm>
            <a:off x="0" y="0"/>
            <a:ext cx="223200" cy="6866100"/>
          </a:xfrm>
          <a:prstGeom prst="rect">
            <a:avLst/>
          </a:prstGeom>
          <a:solidFill>
            <a:srgbClr val="276C46"/>
          </a:solidFill>
          <a:ln w="9525" cap="flat" cmpd="sng">
            <a:solidFill>
              <a:srgbClr val="276C46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283" name="Google Shape;283;g104476d1465_1_17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30584" y="6200600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cxnSp>
        <p:nvCxnSpPr>
          <p:cNvPr id="8" name="Straight Arrow Connector 7"/>
          <p:cNvCxnSpPr/>
          <p:nvPr/>
        </p:nvCxnSpPr>
        <p:spPr>
          <a:xfrm>
            <a:off x="4320540" y="3488055"/>
            <a:ext cx="5410200" cy="0"/>
          </a:xfrm>
          <a:prstGeom prst="straightConnector1">
            <a:avLst/>
          </a:prstGeom>
          <a:ln w="28575">
            <a:headEnd type="triangle" w="med" len="med"/>
            <a:tailEnd type="triangl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7" name="Google Shape;282;g104476d1465_1_17"/>
          <p:cNvSpPr txBox="1"/>
          <p:nvPr/>
        </p:nvSpPr>
        <p:spPr>
          <a:xfrm>
            <a:off x="8897112" y="6457675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pg. 310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530999787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Google Shape;309;g104476d1465_1_39"/>
          <p:cNvSpPr/>
          <p:nvPr/>
        </p:nvSpPr>
        <p:spPr>
          <a:xfrm>
            <a:off x="0" y="-4050"/>
            <a:ext cx="2731200" cy="6866100"/>
          </a:xfrm>
          <a:prstGeom prst="rect">
            <a:avLst/>
          </a:prstGeom>
          <a:solidFill>
            <a:srgbClr val="276C46"/>
          </a:solidFill>
          <a:ln w="9525" cap="flat" cmpd="sng">
            <a:solidFill>
              <a:srgbClr val="276C46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311" name="Google Shape;311;g104476d1465_1_39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30584" y="6200600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313" name="Google Shape;313;g104476d1465_1_39"/>
          <p:cNvSpPr txBox="1">
            <a:spLocks noGrp="1"/>
          </p:cNvSpPr>
          <p:nvPr>
            <p:ph type="title" idx="4294967295"/>
          </p:nvPr>
        </p:nvSpPr>
        <p:spPr>
          <a:xfrm>
            <a:off x="4087368" y="2779100"/>
            <a:ext cx="448075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algn="ctr">
              <a:buClr>
                <a:schemeClr val="lt1"/>
              </a:buClr>
              <a:buSzPts val="4800"/>
            </a:pPr>
            <a:r>
              <a:rPr lang="en-US" sz="5500" b="1" dirty="0">
                <a:solidFill>
                  <a:srgbClr val="3F2A67"/>
                </a:solidFill>
                <a:latin typeface="Verdana"/>
                <a:ea typeface="Verdana"/>
                <a:cs typeface="Verdana"/>
                <a:sym typeface="Verdana"/>
              </a:rPr>
              <a:t>Wrap-Up</a:t>
            </a:r>
            <a:endParaRPr sz="5100" b="1" dirty="0">
              <a:solidFill>
                <a:srgbClr val="3F2A67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pic>
        <p:nvPicPr>
          <p:cNvPr id="7" name="Google Shape;450;g103996e1364_0_457">
            <a:extLst>
              <a:ext uri="{FF2B5EF4-FFF2-40B4-BE49-F238E27FC236}">
                <a16:creationId xmlns:a16="http://schemas.microsoft.com/office/drawing/2014/main" xmlns="" id="{DE95225C-59B5-E847-AFA2-B83DCFFA10D8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3054096" y="2933695"/>
            <a:ext cx="1008299" cy="1016513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8" name="Google Shape;282;g104476d1465_1_17"/>
          <p:cNvSpPr txBox="1"/>
          <p:nvPr/>
        </p:nvSpPr>
        <p:spPr>
          <a:xfrm>
            <a:off x="8897112" y="6457675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pg. 310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676908715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0"/>
            <a:ext cx="223200" cy="6866100"/>
          </a:xfrm>
          <a:prstGeom prst="rect">
            <a:avLst/>
          </a:prstGeom>
          <a:solidFill>
            <a:srgbClr val="276C46"/>
          </a:solidFill>
          <a:ln w="9525" cap="flat" cmpd="sng">
            <a:solidFill>
              <a:srgbClr val="276C46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283" name="Google Shape;283;g104476d1465_1_17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30584" y="6200600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7" name="Google Shape;456;g103996e1364_0_463">
            <a:extLst>
              <a:ext uri="{FF2B5EF4-FFF2-40B4-BE49-F238E27FC236}">
                <a16:creationId xmlns:a16="http://schemas.microsoft.com/office/drawing/2014/main" xmlns="" id="{68C03D65-F0BF-3F41-B52A-024F47388982}"/>
              </a:ext>
            </a:extLst>
          </p:cNvPr>
          <p:cNvSpPr txBox="1">
            <a:spLocks/>
          </p:cNvSpPr>
          <p:nvPr/>
        </p:nvSpPr>
        <p:spPr>
          <a:xfrm>
            <a:off x="1143000" y="102550"/>
            <a:ext cx="8019300" cy="6628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lnSpc>
                <a:spcPct val="90000"/>
              </a:lnSpc>
              <a:buClr>
                <a:schemeClr val="dk1"/>
              </a:buClr>
              <a:buSzPts val="5400"/>
              <a:buFont typeface="Century Gothic"/>
              <a:buNone/>
            </a:pPr>
            <a:r>
              <a:rPr lang="en-US" sz="3600" b="1" dirty="0">
                <a:solidFill>
                  <a:srgbClr val="3F2A67"/>
                </a:solidFill>
                <a:latin typeface="Verdana"/>
                <a:ea typeface="Verdana"/>
                <a:cs typeface="Verdana"/>
                <a:sym typeface="Verdana"/>
              </a:rPr>
              <a:t>6.3.6 Wrap-Up: Reflection</a:t>
            </a:r>
          </a:p>
        </p:txBody>
      </p:sp>
      <p:pic>
        <p:nvPicPr>
          <p:cNvPr id="9" name="Google Shape;458;g103996e1364_0_463">
            <a:extLst>
              <a:ext uri="{FF2B5EF4-FFF2-40B4-BE49-F238E27FC236}">
                <a16:creationId xmlns:a16="http://schemas.microsoft.com/office/drawing/2014/main" xmlns="" id="{EEA44D6C-2366-AC41-B1B5-EDDC34786A66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411480" y="60325"/>
            <a:ext cx="747300" cy="747300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graphicFrame>
        <p:nvGraphicFramePr>
          <p:cNvPr id="2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57706478"/>
              </p:ext>
            </p:extLst>
          </p:nvPr>
        </p:nvGraphicFramePr>
        <p:xfrm>
          <a:off x="2060448" y="1171820"/>
          <a:ext cx="7769352" cy="4998720"/>
        </p:xfrm>
        <a:graphic>
          <a:graphicData uri="http://schemas.openxmlformats.org/drawingml/2006/table">
            <a:tbl>
              <a:tblPr firstRow="1" bandRow="1">
                <a:tableStyleId>{A91F0D33-8C57-4600-99A7-42BC86742BE1}</a:tableStyleId>
              </a:tblPr>
              <a:tblGrid>
                <a:gridCol w="3884676">
                  <a:extLst>
                    <a:ext uri="{9D8B030D-6E8A-4147-A177-3AD203B41FA5}">
                      <a16:colId xmlns:a16="http://schemas.microsoft.com/office/drawing/2014/main" xmlns="" val="20000"/>
                    </a:ext>
                  </a:extLst>
                </a:gridCol>
                <a:gridCol w="3884676">
                  <a:extLst>
                    <a:ext uri="{9D8B030D-6E8A-4147-A177-3AD203B41FA5}">
                      <a16:colId xmlns:a16="http://schemas.microsoft.com/office/drawing/2014/main" xmlns="" val="20001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pPr algn="ctr"/>
                      <a:r>
                        <a:rPr lang="en-US" sz="2000" b="1" i="0" u="none" strike="noStrike" dirty="0">
                          <a:solidFill>
                            <a:srgbClr val="000000"/>
                          </a:solidFill>
                          <a:effectLst/>
                          <a:latin typeface="Verdana" pitchFamily="34" charset="0"/>
                          <a:ea typeface="Verdana" pitchFamily="34" charset="0"/>
                        </a:rPr>
                        <a:t>Which mindset did I demonstrate?</a:t>
                      </a:r>
                      <a:endParaRPr lang="en-US" sz="2000" dirty="0">
                        <a:latin typeface="Verdana" pitchFamily="34" charset="0"/>
                        <a:ea typeface="Verdana" pitchFamily="34" charset="0"/>
                      </a:endParaRPr>
                    </a:p>
                  </a:txBody>
                  <a:tcPr marT="91440" marB="9144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i="0" u="none" strike="noStrike" dirty="0">
                          <a:solidFill>
                            <a:srgbClr val="000000"/>
                          </a:solidFill>
                          <a:effectLst/>
                          <a:latin typeface="Verdana"/>
                        </a:rPr>
                        <a:t>Choose the best description.</a:t>
                      </a:r>
                      <a:endParaRPr lang="en-US" sz="2000" dirty="0">
                        <a:latin typeface="Verdana" pitchFamily="34" charset="0"/>
                        <a:ea typeface="Verdana" pitchFamily="34" charset="0"/>
                      </a:endParaRPr>
                    </a:p>
                  </a:txBody>
                  <a:tcPr marT="91440" marB="9144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0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lang="en-US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Verdana"/>
                        </a:rPr>
                        <a:t>Did I use the partner discussions as learning opportunities?</a:t>
                      </a:r>
                      <a:endParaRPr lang="en-US" sz="2000" dirty="0">
                        <a:latin typeface="Verdana" pitchFamily="34" charset="0"/>
                        <a:ea typeface="Verdana" pitchFamily="34" charset="0"/>
                      </a:endParaRPr>
                    </a:p>
                  </a:txBody>
                  <a:tcPr marT="91440" marB="9144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342900" indent="-342900" rtl="0" fontAlgn="base"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Courier New" pitchFamily="49" charset="0"/>
                        <a:buChar char="o"/>
                      </a:pPr>
                      <a:r>
                        <a:rPr lang="en-US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Verdana"/>
                        </a:rPr>
                        <a:t>Never</a:t>
                      </a:r>
                    </a:p>
                    <a:p>
                      <a:pPr marL="342900" indent="-342900" rtl="0" fontAlgn="base"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Courier New" pitchFamily="49" charset="0"/>
                        <a:buChar char="o"/>
                      </a:pPr>
                      <a:r>
                        <a:rPr lang="en-US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Verdana"/>
                        </a:rPr>
                        <a:t>Sometimes</a:t>
                      </a:r>
                    </a:p>
                    <a:p>
                      <a:pPr marL="342900" indent="-342900" rtl="0" fontAlgn="base"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Courier New" pitchFamily="49" charset="0"/>
                        <a:buChar char="o"/>
                      </a:pPr>
                      <a:r>
                        <a:rPr lang="en-US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Verdana"/>
                        </a:rPr>
                        <a:t>Usually</a:t>
                      </a:r>
                    </a:p>
                    <a:p>
                      <a:pPr marL="342900" indent="-342900" rtl="0" fontAlgn="base">
                        <a:spcBef>
                          <a:spcPts val="0"/>
                        </a:spcBef>
                        <a:spcAft>
                          <a:spcPts val="1000"/>
                        </a:spcAft>
                        <a:buFont typeface="Courier New" pitchFamily="49" charset="0"/>
                        <a:buChar char="o"/>
                      </a:pPr>
                      <a:r>
                        <a:rPr lang="en-US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Verdana"/>
                        </a:rPr>
                        <a:t>Always</a:t>
                      </a:r>
                    </a:p>
                  </a:txBody>
                  <a:tcPr marT="91440" marB="9144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xmlns="" val="10001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lang="en-US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Verdana"/>
                        </a:rPr>
                        <a:t>Did I work on problems that challenged me?</a:t>
                      </a:r>
                      <a:endParaRPr lang="en-US" sz="2000" dirty="0">
                        <a:latin typeface="Verdana" pitchFamily="34" charset="0"/>
                        <a:ea typeface="Verdana" pitchFamily="34" charset="0"/>
                      </a:endParaRPr>
                    </a:p>
                  </a:txBody>
                  <a:tcPr marT="91440" marB="9144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342900" indent="-342900" rtl="0" fontAlgn="base"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Courier New" pitchFamily="49" charset="0"/>
                        <a:buChar char="o"/>
                      </a:pPr>
                      <a:r>
                        <a:rPr lang="en-US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Verdana"/>
                        </a:rPr>
                        <a:t>Never</a:t>
                      </a:r>
                    </a:p>
                    <a:p>
                      <a:pPr marL="342900" indent="-342900" rtl="0" fontAlgn="base"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Courier New" pitchFamily="49" charset="0"/>
                        <a:buChar char="o"/>
                      </a:pPr>
                      <a:r>
                        <a:rPr lang="en-US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Verdana"/>
                        </a:rPr>
                        <a:t>Sometimes</a:t>
                      </a:r>
                    </a:p>
                    <a:p>
                      <a:pPr marL="342900" indent="-342900" rtl="0" fontAlgn="base"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Courier New" pitchFamily="49" charset="0"/>
                        <a:buChar char="o"/>
                      </a:pPr>
                      <a:r>
                        <a:rPr lang="en-US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Verdana"/>
                        </a:rPr>
                        <a:t>Usually</a:t>
                      </a:r>
                    </a:p>
                    <a:p>
                      <a:pPr marL="342900" indent="-342900" rtl="0" fontAlgn="base">
                        <a:spcBef>
                          <a:spcPts val="0"/>
                        </a:spcBef>
                        <a:spcAft>
                          <a:spcPts val="1000"/>
                        </a:spcAft>
                        <a:buFont typeface="Courier New" pitchFamily="49" charset="0"/>
                        <a:buChar char="o"/>
                      </a:pPr>
                      <a:r>
                        <a:rPr lang="en-US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Verdana"/>
                        </a:rPr>
                        <a:t>Always</a:t>
                      </a:r>
                    </a:p>
                  </a:txBody>
                  <a:tcPr marT="91440" marB="9144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xmlns="" val="10002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lang="en-US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Verdana"/>
                        </a:rPr>
                        <a:t>Did I use strategies to </a:t>
                      </a:r>
                      <a:br>
                        <a:rPr lang="en-US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Verdana"/>
                        </a:rPr>
                      </a:br>
                      <a:r>
                        <a:rPr lang="en-US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Verdana"/>
                        </a:rPr>
                        <a:t>“un-stick” myself when I found the problems difficult?</a:t>
                      </a:r>
                      <a:endParaRPr lang="en-US" sz="2000" dirty="0">
                        <a:latin typeface="Verdana" pitchFamily="34" charset="0"/>
                        <a:ea typeface="Verdana" pitchFamily="34" charset="0"/>
                      </a:endParaRPr>
                    </a:p>
                  </a:txBody>
                  <a:tcPr marT="91440" marB="9144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342900" indent="-342900" rtl="0" fontAlgn="base"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Courier New" pitchFamily="49" charset="0"/>
                        <a:buChar char="o"/>
                      </a:pPr>
                      <a:r>
                        <a:rPr lang="en-US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Verdana"/>
                        </a:rPr>
                        <a:t>Never</a:t>
                      </a:r>
                    </a:p>
                    <a:p>
                      <a:pPr marL="342900" indent="-342900" rtl="0" fontAlgn="base"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Courier New" pitchFamily="49" charset="0"/>
                        <a:buChar char="o"/>
                      </a:pPr>
                      <a:r>
                        <a:rPr lang="en-US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Verdana"/>
                        </a:rPr>
                        <a:t>Sometimes</a:t>
                      </a:r>
                    </a:p>
                    <a:p>
                      <a:pPr marL="342900" indent="-342900" rtl="0" fontAlgn="base"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Courier New" pitchFamily="49" charset="0"/>
                        <a:buChar char="o"/>
                      </a:pPr>
                      <a:r>
                        <a:rPr lang="en-US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Verdana"/>
                        </a:rPr>
                        <a:t>Usually</a:t>
                      </a:r>
                    </a:p>
                    <a:p>
                      <a:pPr marL="342900" indent="-342900" rtl="0" fontAlgn="base">
                        <a:spcBef>
                          <a:spcPts val="0"/>
                        </a:spcBef>
                        <a:spcAft>
                          <a:spcPts val="1000"/>
                        </a:spcAft>
                        <a:buFont typeface="Courier New" pitchFamily="49" charset="0"/>
                        <a:buChar char="o"/>
                      </a:pPr>
                      <a:r>
                        <a:rPr lang="en-US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Verdana"/>
                        </a:rPr>
                        <a:t>Always</a:t>
                      </a:r>
                    </a:p>
                  </a:txBody>
                  <a:tcPr marT="91440" marB="9144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xmlns="" val="10003"/>
                  </a:ext>
                </a:extLst>
              </a:tr>
            </a:tbl>
          </a:graphicData>
        </a:graphic>
      </p:graphicFrame>
      <p:sp>
        <p:nvSpPr>
          <p:cNvPr id="10" name="Google Shape;282;g104476d1465_1_17"/>
          <p:cNvSpPr txBox="1"/>
          <p:nvPr/>
        </p:nvSpPr>
        <p:spPr>
          <a:xfrm>
            <a:off x="8897112" y="6457675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pg. 310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553995615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0"/>
            <a:ext cx="223200" cy="6866100"/>
          </a:xfrm>
          <a:prstGeom prst="rect">
            <a:avLst/>
          </a:prstGeom>
          <a:solidFill>
            <a:srgbClr val="276C46"/>
          </a:solidFill>
          <a:ln w="9525" cap="flat" cmpd="sng">
            <a:solidFill>
              <a:srgbClr val="276C46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283" name="Google Shape;283;g104476d1465_1_17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30584" y="6200600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graphicFrame>
        <p:nvGraphicFramePr>
          <p:cNvPr id="6" name="Table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9239629"/>
              </p:ext>
            </p:extLst>
          </p:nvPr>
        </p:nvGraphicFramePr>
        <p:xfrm>
          <a:off x="2060448" y="520393"/>
          <a:ext cx="7769352" cy="3596640"/>
        </p:xfrm>
        <a:graphic>
          <a:graphicData uri="http://schemas.openxmlformats.org/drawingml/2006/table">
            <a:tbl>
              <a:tblPr firstRow="1" bandRow="1">
                <a:tableStyleId>{A91F0D33-8C57-4600-99A7-42BC86742BE1}</a:tableStyleId>
              </a:tblPr>
              <a:tblGrid>
                <a:gridCol w="3884676">
                  <a:extLst>
                    <a:ext uri="{9D8B030D-6E8A-4147-A177-3AD203B41FA5}">
                      <a16:colId xmlns:a16="http://schemas.microsoft.com/office/drawing/2014/main" xmlns="" val="20000"/>
                    </a:ext>
                  </a:extLst>
                </a:gridCol>
                <a:gridCol w="3884676">
                  <a:extLst>
                    <a:ext uri="{9D8B030D-6E8A-4147-A177-3AD203B41FA5}">
                      <a16:colId xmlns:a16="http://schemas.microsoft.com/office/drawing/2014/main" xmlns="" val="20001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pPr algn="ctr"/>
                      <a:r>
                        <a:rPr lang="en-US" sz="2000" b="1" i="0" u="none" strike="noStrike" dirty="0">
                          <a:solidFill>
                            <a:srgbClr val="000000"/>
                          </a:solidFill>
                          <a:effectLst/>
                          <a:latin typeface="Verdana" pitchFamily="34" charset="0"/>
                          <a:ea typeface="Verdana" pitchFamily="34" charset="0"/>
                        </a:rPr>
                        <a:t>Which mindset did I demonstrate?</a:t>
                      </a:r>
                      <a:endParaRPr lang="en-US" sz="2000" dirty="0">
                        <a:latin typeface="Verdana" pitchFamily="34" charset="0"/>
                        <a:ea typeface="Verdana" pitchFamily="34" charset="0"/>
                      </a:endParaRPr>
                    </a:p>
                  </a:txBody>
                  <a:tcPr marT="91440" marB="9144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i="0" u="none" strike="noStrike" dirty="0">
                          <a:solidFill>
                            <a:srgbClr val="000000"/>
                          </a:solidFill>
                          <a:effectLst/>
                          <a:latin typeface="Verdana"/>
                        </a:rPr>
                        <a:t>Choose the best description.</a:t>
                      </a:r>
                      <a:endParaRPr lang="en-US" sz="2000" dirty="0">
                        <a:latin typeface="Verdana" pitchFamily="34" charset="0"/>
                        <a:ea typeface="Verdana" pitchFamily="34" charset="0"/>
                      </a:endParaRPr>
                    </a:p>
                  </a:txBody>
                  <a:tcPr marT="91440" marB="9144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0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lang="en-US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Verdana"/>
                        </a:rPr>
                        <a:t>Did I re-read the problem to ensure understanding of the context?</a:t>
                      </a:r>
                      <a:endParaRPr lang="en-US" sz="2000" dirty="0">
                        <a:latin typeface="Verdana" pitchFamily="34" charset="0"/>
                        <a:ea typeface="Verdana" pitchFamily="34" charset="0"/>
                      </a:endParaRPr>
                    </a:p>
                  </a:txBody>
                  <a:tcPr marT="91440" marB="9144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342900" indent="-342900" rtl="0" fontAlgn="base"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Courier New" pitchFamily="49" charset="0"/>
                        <a:buChar char="o"/>
                      </a:pPr>
                      <a:r>
                        <a:rPr lang="en-US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Verdana"/>
                        </a:rPr>
                        <a:t>Never</a:t>
                      </a:r>
                    </a:p>
                    <a:p>
                      <a:pPr marL="342900" indent="-342900" rtl="0" fontAlgn="base"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Courier New" pitchFamily="49" charset="0"/>
                        <a:buChar char="o"/>
                      </a:pPr>
                      <a:r>
                        <a:rPr lang="en-US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Verdana"/>
                        </a:rPr>
                        <a:t>Sometimes</a:t>
                      </a:r>
                    </a:p>
                    <a:p>
                      <a:pPr marL="342900" indent="-342900" rtl="0" fontAlgn="base"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Courier New" pitchFamily="49" charset="0"/>
                        <a:buChar char="o"/>
                      </a:pPr>
                      <a:r>
                        <a:rPr lang="en-US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Verdana"/>
                        </a:rPr>
                        <a:t>Usually</a:t>
                      </a:r>
                    </a:p>
                    <a:p>
                      <a:pPr marL="342900" indent="-342900" rtl="0" fontAlgn="base">
                        <a:spcBef>
                          <a:spcPts val="0"/>
                        </a:spcBef>
                        <a:spcAft>
                          <a:spcPts val="1000"/>
                        </a:spcAft>
                        <a:buFont typeface="Courier New" pitchFamily="49" charset="0"/>
                        <a:buChar char="o"/>
                      </a:pPr>
                      <a:r>
                        <a:rPr lang="en-US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Verdana"/>
                        </a:rPr>
                        <a:t>Always</a:t>
                      </a:r>
                    </a:p>
                  </a:txBody>
                  <a:tcPr marT="91440" marB="9144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xmlns="" val="10001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lang="en-US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Verdana"/>
                        </a:rPr>
                        <a:t>Did I put as much effort as </a:t>
                      </a:r>
                      <a:br>
                        <a:rPr lang="en-US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Verdana"/>
                        </a:rPr>
                      </a:br>
                      <a:r>
                        <a:rPr lang="en-US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Verdana"/>
                        </a:rPr>
                        <a:t>I possibly could into the problems?</a:t>
                      </a:r>
                      <a:endParaRPr lang="en-US" sz="2000" dirty="0">
                        <a:latin typeface="Verdana" pitchFamily="34" charset="0"/>
                        <a:ea typeface="Verdana" pitchFamily="34" charset="0"/>
                      </a:endParaRPr>
                    </a:p>
                  </a:txBody>
                  <a:tcPr marT="91440" marB="9144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342900" indent="-342900" rtl="0" fontAlgn="base"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Courier New" pitchFamily="49" charset="0"/>
                        <a:buChar char="o"/>
                      </a:pPr>
                      <a:r>
                        <a:rPr lang="en-US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Verdana"/>
                        </a:rPr>
                        <a:t>Never</a:t>
                      </a:r>
                    </a:p>
                    <a:p>
                      <a:pPr marL="342900" indent="-342900" rtl="0" fontAlgn="base"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Courier New" pitchFamily="49" charset="0"/>
                        <a:buChar char="o"/>
                      </a:pPr>
                      <a:r>
                        <a:rPr lang="en-US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Verdana"/>
                        </a:rPr>
                        <a:t>Sometimes</a:t>
                      </a:r>
                    </a:p>
                    <a:p>
                      <a:pPr marL="342900" indent="-342900" rtl="0" fontAlgn="base"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Courier New" pitchFamily="49" charset="0"/>
                        <a:buChar char="o"/>
                      </a:pPr>
                      <a:r>
                        <a:rPr lang="en-US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Verdana"/>
                        </a:rPr>
                        <a:t>Usually</a:t>
                      </a:r>
                    </a:p>
                    <a:p>
                      <a:pPr marL="342900" indent="-342900" rtl="0" fontAlgn="base">
                        <a:spcBef>
                          <a:spcPts val="0"/>
                        </a:spcBef>
                        <a:spcAft>
                          <a:spcPts val="1000"/>
                        </a:spcAft>
                        <a:buFont typeface="Courier New" pitchFamily="49" charset="0"/>
                        <a:buChar char="o"/>
                      </a:pPr>
                      <a:r>
                        <a:rPr lang="en-US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Verdana"/>
                        </a:rPr>
                        <a:t>Always</a:t>
                      </a:r>
                    </a:p>
                  </a:txBody>
                  <a:tcPr marT="91440" marB="9144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xmlns="" val="10002"/>
                  </a:ext>
                </a:extLst>
              </a:tr>
            </a:tbl>
          </a:graphicData>
        </a:graphic>
      </p:graphicFrame>
      <p:sp>
        <p:nvSpPr>
          <p:cNvPr id="7" name="Google Shape;282;g104476d1465_1_17"/>
          <p:cNvSpPr txBox="1"/>
          <p:nvPr/>
        </p:nvSpPr>
        <p:spPr>
          <a:xfrm>
            <a:off x="8897112" y="6457675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pg. 310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241741093"/>
      </p:ext>
    </p:extLst>
  </p:cSld>
  <p:clrMapOvr>
    <a:masterClrMapping/>
  </p:clrMapOvr>
</p:sld>
</file>

<file path=ppt/theme/theme1.xml><?xml version="1.0" encoding="utf-8"?>
<a:theme xmlns:a="http://schemas.openxmlformats.org/drawingml/2006/main" name="1_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1533</TotalTime>
  <Words>1224</Words>
  <Application>Microsoft Office PowerPoint</Application>
  <PresentationFormat>Custom</PresentationFormat>
  <Paragraphs>255</Paragraphs>
  <Slides>29</Slides>
  <Notes>29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29</vt:i4>
      </vt:variant>
    </vt:vector>
  </HeadingPairs>
  <TitlesOfParts>
    <vt:vector size="38" baseType="lpstr">
      <vt:lpstr>Arial</vt:lpstr>
      <vt:lpstr>Calibri</vt:lpstr>
      <vt:lpstr>Courier New</vt:lpstr>
      <vt:lpstr>Century Gothic</vt:lpstr>
      <vt:lpstr>Cambria Math</vt:lpstr>
      <vt:lpstr>Wingdings</vt:lpstr>
      <vt:lpstr>Arial Black</vt:lpstr>
      <vt:lpstr>Verdana</vt:lpstr>
      <vt:lpstr>1_Office Theme</vt:lpstr>
      <vt:lpstr>Algebra 1  Unit 6, Lesson 3  Writing and Solving Inequalities  Volume 1, pg. 304  </vt:lpstr>
      <vt:lpstr>Benchmark</vt:lpstr>
      <vt:lpstr>PowerPoint Presentation</vt:lpstr>
      <vt:lpstr>PowerPoint Presentation</vt:lpstr>
      <vt:lpstr>Warm-Up</vt:lpstr>
      <vt:lpstr>PowerPoint Presentation</vt:lpstr>
      <vt:lpstr>PowerPoint Presentation</vt:lpstr>
      <vt:lpstr>Collaboration</vt:lpstr>
      <vt:lpstr>PowerPoint Presentation</vt:lpstr>
      <vt:lpstr>PowerPoint Presentation</vt:lpstr>
      <vt:lpstr>PowerPoint Presentation</vt:lpstr>
      <vt:lpstr>PowerPoint Presentation</vt:lpstr>
      <vt:lpstr>Exploration</vt:lpstr>
      <vt:lpstr>PowerPoint Presentation</vt:lpstr>
      <vt:lpstr>PowerPoint Presentation</vt:lpstr>
      <vt:lpstr>Guided Instruction</vt:lpstr>
      <vt:lpstr>PowerPoint Presentation</vt:lpstr>
      <vt:lpstr>PowerPoint Presentation</vt:lpstr>
      <vt:lpstr>PowerPoint Presentation</vt:lpstr>
      <vt:lpstr>PowerPoint Presentation</vt:lpstr>
      <vt:lpstr>Activity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Wrap-Up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Algebra 2 Unit 4 Lesson 4</dc:title>
  <dc:creator>Karen McKenzie</dc:creator>
  <cp:lastModifiedBy>Sensei</cp:lastModifiedBy>
  <cp:revision>38</cp:revision>
  <dcterms:created xsi:type="dcterms:W3CDTF">2015-03-17T18:51:18Z</dcterms:created>
  <dcterms:modified xsi:type="dcterms:W3CDTF">2022-07-28T07:14:58Z</dcterms:modified>
</cp:coreProperties>
</file>