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14" r:id="rId8"/>
    <p:sldId id="315" r:id="rId9"/>
    <p:sldId id="316" r:id="rId10"/>
    <p:sldId id="332" r:id="rId11"/>
    <p:sldId id="333" r:id="rId12"/>
    <p:sldId id="334" r:id="rId13"/>
    <p:sldId id="289" r:id="rId14"/>
    <p:sldId id="290" r:id="rId15"/>
    <p:sldId id="308" r:id="rId16"/>
    <p:sldId id="335" r:id="rId17"/>
    <p:sldId id="336" r:id="rId18"/>
    <p:sldId id="337" r:id="rId19"/>
    <p:sldId id="339" r:id="rId20"/>
    <p:sldId id="302" r:id="rId21"/>
    <p:sldId id="303" r:id="rId22"/>
    <p:sldId id="306" r:id="rId23"/>
    <p:sldId id="307"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54"/>
    <p:restoredTop sz="94648"/>
  </p:normalViewPr>
  <p:slideViewPr>
    <p:cSldViewPr snapToGrid="0">
      <p:cViewPr varScale="1">
        <p:scale>
          <a:sx n="108" d="100"/>
          <a:sy n="108" d="100"/>
        </p:scale>
        <p:origin x="222"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3979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698114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63056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31699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4900398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027069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593271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28.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0.png"/><Relationship Id="rId7"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0.png"/><Relationship Id="rId7"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52.png"/><Relationship Id="rId5" Type="http://schemas.openxmlformats.org/officeDocument/2006/relationships/image" Target="../media/image53.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56.png"/><Relationship Id="rId5" Type="http://schemas.openxmlformats.org/officeDocument/2006/relationships/image" Target="../media/image57.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Written Descriptions of a Sequence of Transformations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195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MA.912.GR.2.1 Given a preimage and image, describe the transformation and represent the transformation algebraically using coordinates.</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MA.912.GR.2.5 Given a geometric figure and a sequence of transformations, draw the transformed figure on a coordinate plane.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37892"/>
            <a:ext cx="85349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195</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11113">
              <a:buSzPts val="523"/>
            </a:pPr>
            <a:r>
              <a:rPr lang="en-US" sz="1800" dirty="0">
                <a:latin typeface="Verdana" panose="020B0604030504040204" pitchFamily="34" charset="0"/>
                <a:ea typeface="Verdana" panose="020B0604030504040204" pitchFamily="34" charset="0"/>
                <a:cs typeface="Verdana" panose="020B0604030504040204" pitchFamily="34" charset="0"/>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565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7441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195</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57200" y="1608425"/>
            <a:ext cx="110667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000" dirty="0">
                <a:latin typeface="Verdana" charset="0"/>
                <a:ea typeface="Verdana" charset="0"/>
                <a:cs typeface="Verdana" charset="0"/>
              </a:rPr>
              <a:t>I can draw an image given a pre-image and a written description of a sequence of transformations on a coordinate plane.</a:t>
            </a:r>
          </a:p>
          <a:p>
            <a:pPr marL="342900" indent="-342900">
              <a:buFont typeface="Wingdings" charset="2"/>
              <a:buChar char="q"/>
            </a:pPr>
            <a:r>
              <a:rPr lang="en-US" sz="2000" dirty="0">
                <a:latin typeface="Verdana" charset="0"/>
                <a:ea typeface="Verdana" charset="0"/>
                <a:cs typeface="Verdana" charset="0"/>
              </a:rPr>
              <a:t>I can describe a transformation on the coordinate plane using written descriptions.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1011"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34686"/>
            <a:ext cx="98316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4.4.1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7278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196</a:t>
            </a:r>
          </a:p>
        </p:txBody>
      </p:sp>
      <p:sp>
        <p:nvSpPr>
          <p:cNvPr id="2" name="TextBox 1">
            <a:extLst>
              <a:ext uri="{FF2B5EF4-FFF2-40B4-BE49-F238E27FC236}">
                <a16:creationId xmlns:a16="http://schemas.microsoft.com/office/drawing/2014/main" id="{E1D7562E-134F-D14B-AF1A-DF40E11EF758}"/>
              </a:ext>
            </a:extLst>
          </p:cNvPr>
          <p:cNvSpPr txBox="1"/>
          <p:nvPr/>
        </p:nvSpPr>
        <p:spPr>
          <a:xfrm>
            <a:off x="593247" y="1394251"/>
            <a:ext cx="10913537" cy="2862322"/>
          </a:xfrm>
          <a:prstGeom prst="rect">
            <a:avLst/>
          </a:prstGeom>
          <a:noFill/>
        </p:spPr>
        <p:txBody>
          <a:bodyPr wrap="square" rtlCol="0">
            <a:spAutoFit/>
          </a:bodyPr>
          <a:lstStyle/>
          <a:p>
            <a:r>
              <a:rPr lang="en-US" sz="2000" dirty="0">
                <a:latin typeface="Verdana" charset="0"/>
                <a:ea typeface="Verdana" charset="0"/>
                <a:cs typeface="Verdana" charset="0"/>
              </a:rPr>
              <a:t>A kaleidoscope is an instrument that contains loose bits of colored material, usually glass, between two flat plates and two plane mirrors. The plates can be moved so the colored material changes position. The mirrors then reflect the material in an endless variety of patterns.</a:t>
            </a:r>
          </a:p>
          <a:p>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What do you notice about the pattern from the kaleidoscope in the picture?</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 What do you wonder about the pattern?</a:t>
            </a:r>
          </a:p>
          <a:p>
            <a:endParaRPr lang="en-US" sz="2000" dirty="0">
              <a:latin typeface="Verdana" charset="0"/>
              <a:ea typeface="Verdana" charset="0"/>
              <a:cs typeface="Verdana" charset="0"/>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75831" y="3500340"/>
            <a:ext cx="2908479" cy="2839229"/>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196</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8550"/>
            <a:ext cx="105755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4.4.2 Collaboration: Drawing the Image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196</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5649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93247" y="1394251"/>
                <a:ext cx="9730623" cy="461665"/>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Quadrilateral </a:t>
                </a:r>
                <a14:m>
                  <m:oMath xmlns:m="http://schemas.openxmlformats.org/officeDocument/2006/math">
                    <m:r>
                      <a:rPr lang="en-US" sz="2400" i="1">
                        <a:latin typeface="Cambria Math" charset="0"/>
                        <a:ea typeface="Verdana" charset="0"/>
                        <a:cs typeface="Verdana" charset="0"/>
                      </a:rPr>
                      <m:t>𝐶𝐻𝑀𝑊</m:t>
                    </m:r>
                  </m:oMath>
                </a14:m>
                <a:r>
                  <a:rPr lang="en-US" sz="2400" dirty="0">
                    <a:latin typeface="Verdana" charset="0"/>
                    <a:ea typeface="Verdana" charset="0"/>
                    <a:cs typeface="Verdana" charset="0"/>
                  </a:rPr>
                  <a:t> is shown on the coordinate grid.</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93247" y="1394251"/>
                <a:ext cx="9730623" cy="461665"/>
              </a:xfrm>
              <a:prstGeom prst="rect">
                <a:avLst/>
              </a:prstGeom>
              <a:blipFill>
                <a:blip r:embed="rId5"/>
                <a:stretch>
                  <a:fillRect l="-939" t="-12000" b="-29333"/>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081959" y="2225247"/>
            <a:ext cx="4599577" cy="305844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93248" y="5413048"/>
                <a:ext cx="10930676" cy="707886"/>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Draw the quadrilateral that is the result of a reflection across the </a:t>
                </a:r>
                <a14:m>
                  <m:oMath xmlns:m="http://schemas.openxmlformats.org/officeDocument/2006/math">
                    <m:r>
                      <a:rPr lang="en-US" sz="2000" i="1">
                        <a:latin typeface="Cambria Math" charset="0"/>
                        <a:ea typeface="Verdana" charset="0"/>
                        <a:cs typeface="Verdana" charset="0"/>
                      </a:rPr>
                      <m:t>𝑦</m:t>
                    </m:r>
                  </m:oMath>
                </a14:m>
                <a:r>
                  <a:rPr lang="en-US" sz="2000" i="1" dirty="0">
                    <a:latin typeface="Verdana" charset="0"/>
                    <a:ea typeface="Verdana" charset="0"/>
                    <a:cs typeface="Verdana" charset="0"/>
                  </a:rPr>
                  <a:t> </a:t>
                </a:r>
                <a:r>
                  <a:rPr lang="en-US" sz="2000" dirty="0">
                    <a:latin typeface="Verdana" charset="0"/>
                    <a:ea typeface="Verdana" charset="0"/>
                    <a:cs typeface="Verdana" charset="0"/>
                  </a:rPr>
                  <a:t>-axis and then translated left 3 and up 1. Label the new quadrilateral </a:t>
                </a:r>
                <a14:m>
                  <m:oMath xmlns:m="http://schemas.openxmlformats.org/officeDocument/2006/math">
                    <m:r>
                      <a:rPr lang="en-US" sz="2000" i="1">
                        <a:latin typeface="Cambria Math" charset="0"/>
                        <a:ea typeface="Verdana" charset="0"/>
                        <a:cs typeface="Verdana" charset="0"/>
                      </a:rPr>
                      <m:t>𝐵𝑉𝑋𝑁</m:t>
                    </m:r>
                  </m:oMath>
                </a14:m>
                <a:r>
                  <a:rPr lang="en-US" sz="2000" dirty="0">
                    <a:latin typeface="Verdana" charset="0"/>
                    <a:ea typeface="Verdana" charset="0"/>
                    <a:cs typeface="Verdana"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593248" y="5413048"/>
                <a:ext cx="10930676" cy="707886"/>
              </a:xfrm>
              <a:prstGeom prst="rect">
                <a:avLst/>
              </a:prstGeom>
              <a:blipFill>
                <a:blip r:embed="rId7"/>
                <a:stretch>
                  <a:fillRect l="-613" t="-6034" b="-14655"/>
                </a:stretch>
              </a:blipFill>
            </p:spPr>
            <p:txBody>
              <a:bodyPr/>
              <a:lstStyle/>
              <a:p>
                <a:r>
                  <a:rPr lang="en-US">
                    <a:noFill/>
                  </a:rPr>
                  <a:t> </a:t>
                </a:r>
              </a:p>
            </p:txBody>
          </p:sp>
        </mc:Fallback>
      </mc:AlternateContent>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540564" y="456213"/>
                <a:ext cx="11087585" cy="5016758"/>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Check your graph with your partner. Make any necessary adjustments.</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Work with your partner to explain why quadrilateral </a:t>
                </a:r>
                <a14:m>
                  <m:oMath xmlns:m="http://schemas.openxmlformats.org/officeDocument/2006/math">
                    <m:r>
                      <a:rPr lang="en-US" sz="2000" i="1">
                        <a:latin typeface="Cambria Math" charset="0"/>
                        <a:ea typeface="Verdana" charset="0"/>
                        <a:cs typeface="Verdana" charset="0"/>
                      </a:rPr>
                      <m:t>𝐵𝑉𝑋𝑁</m:t>
                    </m:r>
                  </m:oMath>
                </a14:m>
                <a:r>
                  <a:rPr lang="en-US" sz="2000" dirty="0">
                    <a:latin typeface="Verdana" charset="0"/>
                    <a:ea typeface="Verdana" charset="0"/>
                    <a:cs typeface="Verdana" charset="0"/>
                  </a:rPr>
                  <a:t> is a result of a sequence of transformations.</a:t>
                </a:r>
              </a:p>
              <a:p>
                <a:pPr marL="457200" indent="-457200">
                  <a:buFont typeface="+mj-lt"/>
                  <a:buAutoNum type="alphaLcPeriod" startAt="2"/>
                </a:pPr>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4" y="456213"/>
                <a:ext cx="11087585" cy="5016758"/>
              </a:xfrm>
              <a:prstGeom prst="rect">
                <a:avLst/>
              </a:prstGeom>
              <a:blipFill>
                <a:blip r:embed="rId4"/>
                <a:stretch>
                  <a:fillRect l="-605" t="-851"/>
                </a:stretch>
              </a:blipFill>
            </p:spPr>
            <p:txBody>
              <a:bodyPr/>
              <a:lstStyle/>
              <a:p>
                <a:r>
                  <a:rPr lang="en-US">
                    <a:noFill/>
                  </a:rPr>
                  <a:t> </a:t>
                </a:r>
              </a:p>
            </p:txBody>
          </p:sp>
        </mc:Fallback>
      </mc:AlternateContent>
      <p:sp>
        <p:nvSpPr>
          <p:cNvPr id="7" name="Text Box 24"/>
          <p:cNvSpPr txBox="1"/>
          <p:nvPr/>
        </p:nvSpPr>
        <p:spPr>
          <a:xfrm>
            <a:off x="1579571" y="1774437"/>
            <a:ext cx="6629400" cy="1527814"/>
          </a:xfrm>
          <a:prstGeom prst="roundRect">
            <a:avLst/>
          </a:prstGeom>
          <a:solidFill>
            <a:schemeClr val="accent6">
              <a:lumMod val="20000"/>
              <a:lumOff val="80000"/>
            </a:schemeClr>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spcAft>
                <a:spcPts val="1000"/>
              </a:spcAft>
            </a:pPr>
            <a:r>
              <a:rPr lang="en-US" sz="2000" dirty="0">
                <a:solidFill>
                  <a:schemeClr val="accent6"/>
                </a:solidFill>
                <a:latin typeface="Verdana" panose="020B0604030504040204" pitchFamily="34" charset="0"/>
                <a:ea typeface="Times New Roman"/>
                <a:cs typeface="Times New Roman"/>
              </a:rPr>
              <a:t>A </a:t>
            </a:r>
            <a:r>
              <a:rPr lang="en-US" sz="2000" b="1" i="1" dirty="0">
                <a:solidFill>
                  <a:schemeClr val="accent6"/>
                </a:solidFill>
                <a:latin typeface="Verdana" panose="020B0604030504040204" pitchFamily="34" charset="0"/>
                <a:ea typeface="Times New Roman"/>
                <a:cs typeface="Times New Roman"/>
              </a:rPr>
              <a:t>sequence of transformations</a:t>
            </a:r>
            <a:r>
              <a:rPr lang="en-US" sz="2000" dirty="0">
                <a:solidFill>
                  <a:schemeClr val="accent6"/>
                </a:solidFill>
                <a:latin typeface="Verdana" panose="020B0604030504040204" pitchFamily="34" charset="0"/>
                <a:ea typeface="Times New Roman"/>
                <a:cs typeface="Times New Roman"/>
              </a:rPr>
              <a:t>, or a composition of transformations, is when two or more transformations are combined.</a:t>
            </a:r>
            <a:endParaRPr lang="en-US" sz="2000" dirty="0">
              <a:solidFill>
                <a:schemeClr val="accent6"/>
              </a:solidFill>
              <a:ea typeface="Times New Roman"/>
              <a:cs typeface="Times New Roman"/>
            </a:endParaRPr>
          </a:p>
        </p:txBody>
      </p:sp>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540565" y="418890"/>
                <a:ext cx="8327136" cy="400110"/>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Quadrilateral </a:t>
                </a:r>
                <a14:m>
                  <m:oMath xmlns:m="http://schemas.openxmlformats.org/officeDocument/2006/math">
                    <m:r>
                      <a:rPr lang="en-US" sz="2000" i="1">
                        <a:latin typeface="Cambria Math" panose="02040503050406030204" pitchFamily="18" charset="0"/>
                        <a:ea typeface="Verdana" charset="0"/>
                        <a:cs typeface="Verdana" charset="0"/>
                      </a:rPr>
                      <m:t>𝐶𝐻𝑀𝑊</m:t>
                    </m:r>
                  </m:oMath>
                </a14:m>
                <a:r>
                  <a:rPr lang="en-US" sz="2000" dirty="0">
                    <a:latin typeface="Verdana" charset="0"/>
                    <a:ea typeface="Verdana" charset="0"/>
                    <a:cs typeface="Verdana" charset="0"/>
                  </a:rPr>
                  <a:t> is shown on the coordinate grid.</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5" y="418890"/>
                <a:ext cx="8327136" cy="400110"/>
              </a:xfrm>
              <a:prstGeom prst="rect">
                <a:avLst/>
              </a:prstGeom>
              <a:blipFill>
                <a:blip r:embed="rId4"/>
                <a:stretch>
                  <a:fillRect l="-805" t="-10769" b="-27692"/>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87424" y="922455"/>
            <a:ext cx="5433418" cy="3527948"/>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749374" y="4598471"/>
                <a:ext cx="10878775" cy="1631216"/>
              </a:xfrm>
              <a:prstGeom prst="rect">
                <a:avLst/>
              </a:prstGeom>
            </p:spPr>
            <p:txBody>
              <a:bodyPr wrap="square">
                <a:spAutoFit/>
              </a:bodyPr>
              <a:lstStyle/>
              <a:p>
                <a:pPr marL="457200" indent="-457200">
                  <a:buFont typeface="+mj-lt"/>
                  <a:buAutoNum type="alphaLcPeriod"/>
                </a:pPr>
                <a:r>
                  <a:rPr lang="en-US" sz="2000" dirty="0">
                    <a:latin typeface="Verdana" charset="0"/>
                    <a:ea typeface="Verdana" charset="0"/>
                    <a:cs typeface="Verdana" charset="0"/>
                  </a:rPr>
                  <a:t>Draw the quadrilateral that is the result of a rotation of </a:t>
                </a:r>
                <a14:m>
                  <m:oMath xmlns:m="http://schemas.openxmlformats.org/officeDocument/2006/math">
                    <m:r>
                      <a:rPr lang="en-US" sz="2000" i="1">
                        <a:latin typeface="Cambria Math" panose="02040503050406030204" pitchFamily="18" charset="0"/>
                        <a:ea typeface="Verdana" charset="0"/>
                        <a:cs typeface="Verdana" charset="0"/>
                      </a:rPr>
                      <m:t>180°</m:t>
                    </m:r>
                  </m:oMath>
                </a14:m>
                <a:r>
                  <a:rPr lang="en-US" sz="2000" dirty="0">
                    <a:latin typeface="Verdana" charset="0"/>
                    <a:ea typeface="Verdana" charset="0"/>
                    <a:cs typeface="Verdana" charset="0"/>
                  </a:rPr>
                  <a:t> counterclockwise about the origin and then reflected across the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charset="0"/>
                    <a:ea typeface="Verdana" charset="0"/>
                    <a:cs typeface="Verdana" charset="0"/>
                  </a:rPr>
                  <a:t>-axis. Label the new quadrilateral </a:t>
                </a:r>
                <a14:m>
                  <m:oMath xmlns:m="http://schemas.openxmlformats.org/officeDocument/2006/math">
                    <m:r>
                      <a:rPr lang="en-US" sz="2000" i="1">
                        <a:latin typeface="Cambria Math" panose="02040503050406030204" pitchFamily="18" charset="0"/>
                        <a:ea typeface="Verdana" charset="0"/>
                        <a:cs typeface="Verdana" charset="0"/>
                      </a:rPr>
                      <m:t>𝐾𝐷𝑃𝐿</m:t>
                    </m:r>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Check your graph with your partner. Make any necessary adjustments.</a:t>
                </a:r>
              </a:p>
            </p:txBody>
          </p:sp>
        </mc:Choice>
        <mc:Fallback xmlns="">
          <p:sp>
            <p:nvSpPr>
              <p:cNvPr id="3" name="Rectangle 2"/>
              <p:cNvSpPr>
                <a:spLocks noRot="1" noChangeAspect="1" noMove="1" noResize="1" noEditPoints="1" noAdjustHandles="1" noChangeArrowheads="1" noChangeShapeType="1" noTextEdit="1"/>
              </p:cNvSpPr>
              <p:nvPr/>
            </p:nvSpPr>
            <p:spPr>
              <a:xfrm>
                <a:off x="749374" y="4598471"/>
                <a:ext cx="10878775" cy="1631216"/>
              </a:xfrm>
              <a:prstGeom prst="rect">
                <a:avLst/>
              </a:prstGeom>
              <a:blipFill>
                <a:blip r:embed="rId6"/>
                <a:stretch>
                  <a:fillRect l="-616" t="-2239" b="-5970"/>
                </a:stretch>
              </a:blipFill>
            </p:spPr>
            <p:txBody>
              <a:bodyPr/>
              <a:lstStyle/>
              <a:p>
                <a:r>
                  <a:rPr lang="en-US">
                    <a:noFill/>
                  </a:rPr>
                  <a:t> </a:t>
                </a:r>
              </a:p>
            </p:txBody>
          </p:sp>
        </mc:Fallback>
      </mc:AlternateContent>
    </p:spTree>
    <p:extLst>
      <p:ext uri="{BB962C8B-B14F-4D97-AF65-F5344CB8AC3E}">
        <p14:creationId xmlns:p14="http://schemas.microsoft.com/office/powerpoint/2010/main" val="856728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478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186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540565" y="418890"/>
                <a:ext cx="8327136" cy="400110"/>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Quadrilateral </a:t>
                </a:r>
                <a14:m>
                  <m:oMath xmlns:m="http://schemas.openxmlformats.org/officeDocument/2006/math">
                    <m:r>
                      <a:rPr lang="en-US" sz="2000" i="1">
                        <a:latin typeface="Cambria Math" panose="02040503050406030204" pitchFamily="18" charset="0"/>
                        <a:ea typeface="Verdana" charset="0"/>
                        <a:cs typeface="Verdana" charset="0"/>
                      </a:rPr>
                      <m:t>𝐶𝐻𝑀𝑊</m:t>
                    </m:r>
                  </m:oMath>
                </a14:m>
                <a:r>
                  <a:rPr lang="en-US" sz="2000" dirty="0">
                    <a:latin typeface="Verdana" charset="0"/>
                    <a:ea typeface="Verdana" charset="0"/>
                    <a:cs typeface="Verdana" charset="0"/>
                  </a:rPr>
                  <a:t> is shown on the coordinate grid.</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5" y="418890"/>
                <a:ext cx="8327136" cy="400110"/>
              </a:xfrm>
              <a:prstGeom prst="rect">
                <a:avLst/>
              </a:prstGeom>
              <a:blipFill>
                <a:blip r:embed="rId4"/>
                <a:stretch>
                  <a:fillRect l="-805" t="-10769" b="-27692"/>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47551" y="967075"/>
            <a:ext cx="4596545" cy="302260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40564" y="4131400"/>
                <a:ext cx="10983359" cy="1323439"/>
              </a:xfrm>
              <a:prstGeom prst="rect">
                <a:avLst/>
              </a:prstGeom>
            </p:spPr>
            <p:txBody>
              <a:bodyPr wrap="square">
                <a:spAutoFit/>
              </a:bodyPr>
              <a:lstStyle/>
              <a:p>
                <a:pPr marL="457200" indent="-457200">
                  <a:buFont typeface="+mj-lt"/>
                  <a:buAutoNum type="alphaLcPeriod"/>
                </a:pPr>
                <a:r>
                  <a:rPr lang="en-US" sz="2000" dirty="0">
                    <a:latin typeface="Verdana" charset="0"/>
                    <a:ea typeface="Verdana" charset="0"/>
                    <a:cs typeface="Verdana" charset="0"/>
                  </a:rPr>
                  <a:t>Draw the quadrilateral that is the result of a rotation of </a:t>
                </a:r>
                <a14:m>
                  <m:oMath xmlns:m="http://schemas.openxmlformats.org/officeDocument/2006/math">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clockwise about the point </a:t>
                </a:r>
                <a14:m>
                  <m:oMath xmlns:m="http://schemas.openxmlformats.org/officeDocument/2006/math">
                    <m:r>
                      <a:rPr lang="en-US" sz="2000" i="1">
                        <a:latin typeface="Cambria Math" panose="02040503050406030204" pitchFamily="18" charset="0"/>
                        <a:ea typeface="Verdana" charset="0"/>
                        <a:cs typeface="Verdana" charset="0"/>
                      </a:rPr>
                      <m:t>𝑊</m:t>
                    </m:r>
                  </m:oMath>
                </a14:m>
                <a:r>
                  <a:rPr lang="en-US" sz="2000" dirty="0">
                    <a:latin typeface="Verdana" charset="0"/>
                    <a:ea typeface="Verdana" charset="0"/>
                    <a:cs typeface="Verdana" charset="0"/>
                  </a:rPr>
                  <a:t> and then translated left 2 and up 5. Label the new quadrilateral </a:t>
                </a:r>
                <a14:m>
                  <m:oMath xmlns:m="http://schemas.openxmlformats.org/officeDocument/2006/math">
                    <m:r>
                      <a:rPr lang="en-US" sz="2000" i="1">
                        <a:latin typeface="Cambria Math" panose="02040503050406030204" pitchFamily="18" charset="0"/>
                        <a:ea typeface="Verdana" charset="0"/>
                        <a:cs typeface="Verdana" charset="0"/>
                      </a:rPr>
                      <m:t>𝑅𝑌𝐹𝐺</m:t>
                    </m:r>
                  </m:oMath>
                </a14:m>
                <a:r>
                  <a:rPr lang="en-US" sz="2000" dirty="0">
                    <a:latin typeface="Verdana" charset="0"/>
                    <a:ea typeface="Verdana" charset="0"/>
                    <a:cs typeface="Verdana" charset="0"/>
                  </a:rPr>
                  <a:t>.</a:t>
                </a:r>
              </a:p>
              <a:p>
                <a:pPr marL="13716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Check your graph with your partner. Make any necessary adjustments.</a:t>
                </a:r>
              </a:p>
            </p:txBody>
          </p:sp>
        </mc:Choice>
        <mc:Fallback xmlns="">
          <p:sp>
            <p:nvSpPr>
              <p:cNvPr id="3" name="Rectangle 2"/>
              <p:cNvSpPr>
                <a:spLocks noRot="1" noChangeAspect="1" noMove="1" noResize="1" noEditPoints="1" noAdjustHandles="1" noChangeArrowheads="1" noChangeShapeType="1" noTextEdit="1"/>
              </p:cNvSpPr>
              <p:nvPr/>
            </p:nvSpPr>
            <p:spPr>
              <a:xfrm>
                <a:off x="540564" y="4131400"/>
                <a:ext cx="10983359" cy="1323439"/>
              </a:xfrm>
              <a:prstGeom prst="rect">
                <a:avLst/>
              </a:prstGeom>
              <a:blipFill>
                <a:blip r:embed="rId6"/>
                <a:stretch>
                  <a:fillRect l="-611" t="-3226" b="-7373"/>
                </a:stretch>
              </a:blipFill>
            </p:spPr>
            <p:txBody>
              <a:bodyPr/>
              <a:lstStyle/>
              <a:p>
                <a:r>
                  <a:rPr lang="en-US">
                    <a:noFill/>
                  </a:rPr>
                  <a:t> </a:t>
                </a:r>
              </a:p>
            </p:txBody>
          </p:sp>
        </mc:Fallback>
      </mc:AlternateContent>
    </p:spTree>
    <p:extLst>
      <p:ext uri="{BB962C8B-B14F-4D97-AF65-F5344CB8AC3E}">
        <p14:creationId xmlns:p14="http://schemas.microsoft.com/office/powerpoint/2010/main" val="701192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198</a:t>
            </a:r>
          </a:p>
        </p:txBody>
      </p:sp>
      <p:sp>
        <p:nvSpPr>
          <p:cNvPr id="5" name="TextBox 4">
            <a:extLst>
              <a:ext uri="{FF2B5EF4-FFF2-40B4-BE49-F238E27FC236}">
                <a16:creationId xmlns:a16="http://schemas.microsoft.com/office/drawing/2014/main" id="{2AA35BC6-D428-FC41-BDE5-6438AB8840FC}"/>
              </a:ext>
            </a:extLst>
          </p:cNvPr>
          <p:cNvSpPr txBox="1"/>
          <p:nvPr/>
        </p:nvSpPr>
        <p:spPr>
          <a:xfrm>
            <a:off x="540564" y="418890"/>
            <a:ext cx="11087585" cy="707886"/>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For each sequence of transformations, summarize your mistakes and what you learned from them.</a:t>
            </a:r>
          </a:p>
        </p:txBody>
      </p:sp>
      <p:pic>
        <p:nvPicPr>
          <p:cNvPr id="7" name="Picture 6"/>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99168" y="1788400"/>
            <a:ext cx="2387600" cy="3289300"/>
          </a:xfrm>
          <a:prstGeom prst="rect">
            <a:avLst/>
          </a:prstGeom>
        </p:spPr>
      </p:pic>
      <p:pic>
        <p:nvPicPr>
          <p:cNvPr id="8" name="Picture 7"/>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90994" y="1126776"/>
            <a:ext cx="3116652" cy="5378450"/>
          </a:xfrm>
          <a:prstGeom prst="rect">
            <a:avLst/>
          </a:prstGeom>
        </p:spPr>
      </p:pic>
    </p:spTree>
    <p:extLst>
      <p:ext uri="{BB962C8B-B14F-4D97-AF65-F5344CB8AC3E}">
        <p14:creationId xmlns:p14="http://schemas.microsoft.com/office/powerpoint/2010/main" val="737558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198</a:t>
            </a:r>
          </a:p>
        </p:txBody>
      </p:sp>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5855"/>
            <a:ext cx="10834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4.4.3 Guided Instruction: Using Coordinates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409"/>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198</a:t>
            </a:r>
          </a:p>
        </p:txBody>
      </p:sp>
      <p:sp>
        <p:nvSpPr>
          <p:cNvPr id="13" name="TextBox 12">
            <a:extLst>
              <a:ext uri="{FF2B5EF4-FFF2-40B4-BE49-F238E27FC236}">
                <a16:creationId xmlns:a16="http://schemas.microsoft.com/office/drawing/2014/main" id="{C01B13E8-EC8D-E443-A329-C5E3593DD13A}"/>
              </a:ext>
            </a:extLst>
          </p:cNvPr>
          <p:cNvSpPr txBox="1"/>
          <p:nvPr/>
        </p:nvSpPr>
        <p:spPr>
          <a:xfrm>
            <a:off x="593248" y="1386149"/>
            <a:ext cx="8327136" cy="400110"/>
          </a:xfrm>
          <a:prstGeom prst="rect">
            <a:avLst/>
          </a:prstGeom>
          <a:noFill/>
        </p:spPr>
        <p:txBody>
          <a:bodyPr wrap="square" rtlCol="0">
            <a:spAutoFit/>
          </a:bodyPr>
          <a:lstStyle/>
          <a:p>
            <a:r>
              <a:rPr lang="en-US" sz="2000" b="1" dirty="0">
                <a:latin typeface="Verdana" charset="0"/>
                <a:ea typeface="Verdana" charset="0"/>
                <a:cs typeface="Verdana" charset="0"/>
              </a:rPr>
              <a:t>The Effect of Transformations on Coordinates</a:t>
            </a:r>
            <a:endParaRPr lang="en-US" sz="2000" dirty="0">
              <a:latin typeface="Verdana" charset="0"/>
              <a:ea typeface="Verdana" charset="0"/>
              <a:cs typeface="Verdana"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100380473"/>
                  </p:ext>
                </p:extLst>
              </p:nvPr>
            </p:nvGraphicFramePr>
            <p:xfrm>
              <a:off x="679000" y="1900240"/>
              <a:ext cx="6154964" cy="2133068"/>
            </p:xfrm>
            <a:graphic>
              <a:graphicData uri="http://schemas.openxmlformats.org/drawingml/2006/table">
                <a:tbl>
                  <a:tblPr firstRow="1" firstCol="1" bandRow="1"/>
                  <a:tblGrid>
                    <a:gridCol w="2074888">
                      <a:extLst>
                        <a:ext uri="{9D8B030D-6E8A-4147-A177-3AD203B41FA5}">
                          <a16:colId xmlns:a16="http://schemas.microsoft.com/office/drawing/2014/main" val="20000"/>
                        </a:ext>
                      </a:extLst>
                    </a:gridCol>
                    <a:gridCol w="2027653">
                      <a:extLst>
                        <a:ext uri="{9D8B030D-6E8A-4147-A177-3AD203B41FA5}">
                          <a16:colId xmlns:a16="http://schemas.microsoft.com/office/drawing/2014/main" val="20001"/>
                        </a:ext>
                      </a:extLst>
                    </a:gridCol>
                    <a:gridCol w="2052423">
                      <a:extLst>
                        <a:ext uri="{9D8B030D-6E8A-4147-A177-3AD203B41FA5}">
                          <a16:colId xmlns:a16="http://schemas.microsoft.com/office/drawing/2014/main" val="20002"/>
                        </a:ext>
                      </a:extLst>
                    </a:gridCol>
                  </a:tblGrid>
                  <a:tr h="278226">
                    <a:tc gridSpan="3">
                      <a:txBody>
                        <a:bodyPr/>
                        <a:lstStyle/>
                        <a:p>
                          <a:pPr marL="0" marR="0" algn="ctr">
                            <a:spcBef>
                              <a:spcPts val="0"/>
                            </a:spcBef>
                            <a:spcAft>
                              <a:spcPts val="0"/>
                            </a:spcAft>
                          </a:pPr>
                          <a:r>
                            <a:rPr lang="en-US" sz="1600" b="1">
                              <a:solidFill>
                                <a:srgbClr val="000000"/>
                              </a:solidFill>
                              <a:effectLst/>
                              <a:latin typeface="Verdana" charset="0"/>
                              <a:ea typeface="Verdana" charset="0"/>
                              <a:cs typeface="Verdana" charset="0"/>
                            </a:rPr>
                            <a:t>Rotations Clockwise About the Origin</a:t>
                          </a:r>
                          <a:endParaRPr lang="en-US" sz="110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7697">
                    <a:tc>
                      <a:txBody>
                        <a:bodyPr/>
                        <a:lstStyle/>
                        <a:p>
                          <a:pPr marL="0" marR="0" algn="ctr">
                            <a:spcBef>
                              <a:spcPts val="0"/>
                            </a:spcBef>
                            <a:spcAft>
                              <a:spcPts val="0"/>
                            </a:spcAft>
                          </a:pPr>
                          <a:r>
                            <a:rPr lang="en-US" sz="1600" b="1">
                              <a:solidFill>
                                <a:srgbClr val="000000"/>
                              </a:solidFill>
                              <a:effectLst/>
                              <a:latin typeface="Verdana" charset="0"/>
                              <a:ea typeface="Verdana" charset="0"/>
                              <a:cs typeface="Verdana" charset="0"/>
                            </a:rPr>
                            <a:t>Rotations of </a:t>
                          </a:r>
                          <a14:m>
                            <m:oMath xmlns:m="http://schemas.openxmlformats.org/officeDocument/2006/math">
                              <m:r>
                                <a:rPr lang="en-US" sz="1600" b="1" i="1">
                                  <a:solidFill>
                                    <a:srgbClr val="000000"/>
                                  </a:solidFill>
                                  <a:effectLst/>
                                  <a:latin typeface="Cambria Math" panose="02040503050406030204" pitchFamily="18" charset="0"/>
                                  <a:ea typeface="Verdana" charset="0"/>
                                  <a:cs typeface="Verdana" charset="0"/>
                                </a:rPr>
                                <m:t>𝟗𝟎</m:t>
                              </m:r>
                              <m:r>
                                <a:rPr lang="en-US" sz="1600" b="1" i="1">
                                  <a:solidFill>
                                    <a:srgbClr val="000000"/>
                                  </a:solidFill>
                                  <a:effectLst/>
                                  <a:latin typeface="Cambria Math" panose="02040503050406030204" pitchFamily="18" charset="0"/>
                                  <a:ea typeface="Verdana" charset="0"/>
                                  <a:cs typeface="Verdana" charset="0"/>
                                </a:rPr>
                                <m:t>°</m:t>
                              </m:r>
                            </m:oMath>
                          </a14:m>
                          <a:endParaRPr lang="en-US" sz="110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solidFill>
                                <a:srgbClr val="000000"/>
                              </a:solidFill>
                              <a:effectLst/>
                              <a:latin typeface="Verdana" charset="0"/>
                              <a:ea typeface="Verdana" charset="0"/>
                              <a:cs typeface="Verdana" charset="0"/>
                            </a:rPr>
                            <a:t>Rotations of </a:t>
                          </a:r>
                          <a14:m>
                            <m:oMath xmlns:m="http://schemas.openxmlformats.org/officeDocument/2006/math">
                              <m:r>
                                <a:rPr lang="en-US" sz="1600" b="1" i="1">
                                  <a:solidFill>
                                    <a:srgbClr val="000000"/>
                                  </a:solidFill>
                                  <a:effectLst/>
                                  <a:latin typeface="Cambria Math" panose="02040503050406030204" pitchFamily="18" charset="0"/>
                                  <a:ea typeface="Verdana" charset="0"/>
                                  <a:cs typeface="Verdana" charset="0"/>
                                </a:rPr>
                                <m:t>𝟏𝟖𝟎</m:t>
                              </m:r>
                              <m:r>
                                <a:rPr lang="en-US" sz="1600" b="1" i="1">
                                  <a:solidFill>
                                    <a:srgbClr val="000000"/>
                                  </a:solidFill>
                                  <a:effectLst/>
                                  <a:latin typeface="Cambria Math" panose="02040503050406030204" pitchFamily="18" charset="0"/>
                                  <a:ea typeface="Verdana" charset="0"/>
                                  <a:cs typeface="Verdana" charset="0"/>
                                </a:rPr>
                                <m:t>°</m:t>
                              </m:r>
                            </m:oMath>
                          </a14:m>
                          <a:endParaRPr lang="en-US" sz="110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solidFill>
                                <a:srgbClr val="000000"/>
                              </a:solidFill>
                              <a:effectLst/>
                              <a:latin typeface="Verdana" charset="0"/>
                              <a:ea typeface="Verdana" charset="0"/>
                              <a:cs typeface="Verdana" charset="0"/>
                            </a:rPr>
                            <a:t>Rotations of </a:t>
                          </a:r>
                          <a14:m>
                            <m:oMath xmlns:m="http://schemas.openxmlformats.org/officeDocument/2006/math">
                              <m:r>
                                <a:rPr lang="en-US" sz="1600" b="1" i="1">
                                  <a:solidFill>
                                    <a:srgbClr val="000000"/>
                                  </a:solidFill>
                                  <a:effectLst/>
                                  <a:latin typeface="Cambria Math" panose="02040503050406030204" pitchFamily="18" charset="0"/>
                                  <a:ea typeface="Verdana" charset="0"/>
                                  <a:cs typeface="Verdana" charset="0"/>
                                </a:rPr>
                                <m:t>𝟐𝟕𝟎</m:t>
                              </m:r>
                              <m:r>
                                <a:rPr lang="en-US" sz="1600" b="1" i="1">
                                  <a:solidFill>
                                    <a:srgbClr val="000000"/>
                                  </a:solidFill>
                                  <a:effectLst/>
                                  <a:latin typeface="Cambria Math" panose="02040503050406030204" pitchFamily="18" charset="0"/>
                                  <a:ea typeface="Verdana" charset="0"/>
                                  <a:cs typeface="Verdana" charset="0"/>
                                </a:rPr>
                                <m:t>°</m:t>
                              </m:r>
                            </m:oMath>
                          </a14:m>
                          <a:endParaRPr lang="en-US" sz="110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1357145">
                    <a:tc>
                      <a:txBody>
                        <a:bodyPr/>
                        <a:lstStyle/>
                        <a:p>
                          <a:pPr marL="0" marR="0" algn="ctr">
                            <a:spcBef>
                              <a:spcPts val="0"/>
                            </a:spcBef>
                            <a:spcAft>
                              <a:spcPts val="0"/>
                            </a:spcAft>
                          </a:pPr>
                          <a:r>
                            <a:rPr lang="en-US" sz="1600" dirty="0">
                              <a:solidFill>
                                <a:srgbClr val="000000"/>
                              </a:solidFill>
                              <a:effectLst/>
                              <a:latin typeface="Verdana" charset="0"/>
                              <a:ea typeface="Verdana" charset="0"/>
                              <a:cs typeface="Verdana" charset="0"/>
                            </a:rPr>
                            <a:t>Change the </a:t>
                          </a:r>
                          <a14:m>
                            <m:oMath xmlns:m="http://schemas.openxmlformats.org/officeDocument/2006/math">
                              <m:r>
                                <a:rPr lang="en-US" sz="1600" i="1">
                                  <a:solidFill>
                                    <a:srgbClr val="000000"/>
                                  </a:solidFill>
                                  <a:effectLst/>
                                  <a:latin typeface="Cambria Math" panose="02040503050406030204" pitchFamily="18" charset="0"/>
                                  <a:ea typeface="Verdana" charset="0"/>
                                  <a:cs typeface="Verdana" charset="0"/>
                                </a:rPr>
                                <m:t>𝑥</m:t>
                              </m:r>
                            </m:oMath>
                          </a14:m>
                          <a:r>
                            <a:rPr lang="en-US" sz="1600" dirty="0">
                              <a:solidFill>
                                <a:srgbClr val="000000"/>
                              </a:solidFill>
                              <a:effectLst/>
                              <a:latin typeface="Verdana" charset="0"/>
                              <a:ea typeface="Verdana" charset="0"/>
                              <a:cs typeface="Verdana" charset="0"/>
                            </a:rPr>
                            <a:t>‑coordinate to its opposite, then switch the coordinates</a:t>
                          </a:r>
                          <a:endParaRPr lang="en-US" sz="1100" dirty="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dirty="0">
                              <a:solidFill>
                                <a:srgbClr val="000000"/>
                              </a:solidFill>
                              <a:effectLst/>
                              <a:latin typeface="Verdana" charset="0"/>
                              <a:ea typeface="Verdana" charset="0"/>
                              <a:cs typeface="Verdana" charset="0"/>
                            </a:rPr>
                            <a:t>Change both coordinates to their opposite</a:t>
                          </a:r>
                          <a:endParaRPr lang="en-US" sz="1100" dirty="0">
                            <a:effectLst/>
                            <a:latin typeface="Verdana" charset="0"/>
                            <a:ea typeface="Verdana" charset="0"/>
                            <a:cs typeface="Verdana" charset="0"/>
                          </a:endParaRPr>
                        </a:p>
                        <a:p>
                          <a:pPr marL="0" marR="0" algn="ctr">
                            <a:spcBef>
                              <a:spcPts val="0"/>
                            </a:spcBef>
                            <a:spcAft>
                              <a:spcPts val="0"/>
                            </a:spcAft>
                          </a:pPr>
                          <a:r>
                            <a:rPr lang="en-US" sz="1600" dirty="0">
                              <a:solidFill>
                                <a:srgbClr val="000000"/>
                              </a:solidFill>
                              <a:effectLst/>
                              <a:latin typeface="Verdana" charset="0"/>
                              <a:ea typeface="Verdana" charset="0"/>
                              <a:cs typeface="Verdana" charset="0"/>
                            </a:rPr>
                            <a:t> </a:t>
                          </a:r>
                          <a:endParaRPr lang="en-US" sz="1100" dirty="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dirty="0">
                              <a:solidFill>
                                <a:srgbClr val="000000"/>
                              </a:solidFill>
                              <a:effectLst/>
                              <a:latin typeface="Verdana" charset="0"/>
                              <a:ea typeface="Verdana" charset="0"/>
                              <a:cs typeface="Verdana" charset="0"/>
                            </a:rPr>
                            <a:t>Change the </a:t>
                          </a:r>
                          <a14:m>
                            <m:oMath xmlns:m="http://schemas.openxmlformats.org/officeDocument/2006/math">
                              <m:r>
                                <a:rPr lang="en-US" sz="1600" i="1">
                                  <a:solidFill>
                                    <a:srgbClr val="000000"/>
                                  </a:solidFill>
                                  <a:effectLst/>
                                  <a:latin typeface="Cambria Math" panose="02040503050406030204" pitchFamily="18" charset="0"/>
                                  <a:ea typeface="Verdana" charset="0"/>
                                  <a:cs typeface="Verdana" charset="0"/>
                                </a:rPr>
                                <m:t>𝑦</m:t>
                              </m:r>
                            </m:oMath>
                          </a14:m>
                          <a:r>
                            <a:rPr lang="en-US" sz="1600" dirty="0">
                              <a:solidFill>
                                <a:srgbClr val="000000"/>
                              </a:solidFill>
                              <a:effectLst/>
                              <a:latin typeface="Verdana" charset="0"/>
                              <a:ea typeface="Verdana" charset="0"/>
                              <a:cs typeface="Verdana" charset="0"/>
                            </a:rPr>
                            <a:t>‑coordinate to its opposite, then switch the coordinates</a:t>
                          </a:r>
                          <a:endParaRPr lang="en-US" sz="1100" dirty="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100380473"/>
                  </p:ext>
                </p:extLst>
              </p:nvPr>
            </p:nvGraphicFramePr>
            <p:xfrm>
              <a:off x="679000" y="1900240"/>
              <a:ext cx="6154964" cy="2133068"/>
            </p:xfrm>
            <a:graphic>
              <a:graphicData uri="http://schemas.openxmlformats.org/drawingml/2006/table">
                <a:tbl>
                  <a:tblPr firstRow="1" firstCol="1" bandRow="1"/>
                  <a:tblGrid>
                    <a:gridCol w="2074888">
                      <a:extLst>
                        <a:ext uri="{9D8B030D-6E8A-4147-A177-3AD203B41FA5}">
                          <a16:colId xmlns:a16="http://schemas.microsoft.com/office/drawing/2014/main" val="20000"/>
                        </a:ext>
                      </a:extLst>
                    </a:gridCol>
                    <a:gridCol w="2027653">
                      <a:extLst>
                        <a:ext uri="{9D8B030D-6E8A-4147-A177-3AD203B41FA5}">
                          <a16:colId xmlns:a16="http://schemas.microsoft.com/office/drawing/2014/main" val="20001"/>
                        </a:ext>
                      </a:extLst>
                    </a:gridCol>
                    <a:gridCol w="2052423">
                      <a:extLst>
                        <a:ext uri="{9D8B030D-6E8A-4147-A177-3AD203B41FA5}">
                          <a16:colId xmlns:a16="http://schemas.microsoft.com/office/drawing/2014/main" val="20002"/>
                        </a:ext>
                      </a:extLst>
                    </a:gridCol>
                  </a:tblGrid>
                  <a:tr h="278226">
                    <a:tc gridSpan="3">
                      <a:txBody>
                        <a:bodyPr/>
                        <a:lstStyle/>
                        <a:p>
                          <a:pPr marL="0" marR="0" algn="ctr">
                            <a:spcBef>
                              <a:spcPts val="0"/>
                            </a:spcBef>
                            <a:spcAft>
                              <a:spcPts val="0"/>
                            </a:spcAft>
                          </a:pPr>
                          <a:r>
                            <a:rPr lang="en-US" sz="1600" b="1">
                              <a:solidFill>
                                <a:srgbClr val="000000"/>
                              </a:solidFill>
                              <a:effectLst/>
                              <a:latin typeface="Verdana" charset="0"/>
                              <a:ea typeface="Verdana" charset="0"/>
                              <a:cs typeface="Verdana" charset="0"/>
                            </a:rPr>
                            <a:t>Rotations Clockwise About the Origin</a:t>
                          </a:r>
                          <a:endParaRPr lang="en-US" sz="110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7697">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93" t="-64634" r="-197067" b="-282927"/>
                          </a:stretch>
                        </a:blipFill>
                      </a:tcPr>
                    </a:tc>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2703" t="-64634" r="-101802" b="-282927"/>
                          </a:stretch>
                        </a:blipFill>
                      </a:tcPr>
                    </a:tc>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0297" t="-64634" r="-593" b="-282927"/>
                          </a:stretch>
                        </a:blipFill>
                      </a:tcPr>
                    </a:tc>
                    <a:extLst>
                      <a:ext uri="{0D108BD9-81ED-4DB2-BD59-A6C34878D82A}">
                        <a16:rowId xmlns:a16="http://schemas.microsoft.com/office/drawing/2014/main" val="10001"/>
                      </a:ext>
                    </a:extLst>
                  </a:tr>
                  <a:tr h="1357145">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93" t="-60538" r="-197067" b="-4036"/>
                          </a:stretch>
                        </a:blipFill>
                      </a:tcPr>
                    </a:tc>
                    <a:tc>
                      <a:txBody>
                        <a:bodyPr/>
                        <a:lstStyle/>
                        <a:p>
                          <a:pPr marL="0" marR="0" algn="ctr">
                            <a:spcBef>
                              <a:spcPts val="0"/>
                            </a:spcBef>
                            <a:spcAft>
                              <a:spcPts val="0"/>
                            </a:spcAft>
                          </a:pPr>
                          <a:r>
                            <a:rPr lang="en-US" sz="1600" dirty="0">
                              <a:solidFill>
                                <a:srgbClr val="000000"/>
                              </a:solidFill>
                              <a:effectLst/>
                              <a:latin typeface="Verdana" charset="0"/>
                              <a:ea typeface="Verdana" charset="0"/>
                              <a:cs typeface="Verdana" charset="0"/>
                            </a:rPr>
                            <a:t>Change both coordinates to their opposite</a:t>
                          </a:r>
                          <a:endParaRPr lang="en-US" sz="1100" dirty="0">
                            <a:effectLst/>
                            <a:latin typeface="Verdana" charset="0"/>
                            <a:ea typeface="Verdana" charset="0"/>
                            <a:cs typeface="Verdana" charset="0"/>
                          </a:endParaRPr>
                        </a:p>
                        <a:p>
                          <a:pPr marL="0" marR="0" algn="ctr">
                            <a:spcBef>
                              <a:spcPts val="0"/>
                            </a:spcBef>
                            <a:spcAft>
                              <a:spcPts val="0"/>
                            </a:spcAft>
                          </a:pPr>
                          <a:r>
                            <a:rPr lang="en-US" sz="1600" dirty="0">
                              <a:solidFill>
                                <a:srgbClr val="000000"/>
                              </a:solidFill>
                              <a:effectLst/>
                              <a:latin typeface="Verdana" charset="0"/>
                              <a:ea typeface="Verdana" charset="0"/>
                              <a:cs typeface="Verdana" charset="0"/>
                            </a:rPr>
                            <a:t> </a:t>
                          </a:r>
                          <a:endParaRPr lang="en-US" sz="1100" dirty="0">
                            <a:effectLst/>
                            <a:latin typeface="Verdana" charset="0"/>
                            <a:ea typeface="Verdana" charset="0"/>
                            <a:cs typeface="Verdana"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0297" t="-60538" r="-593" b="-4036"/>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822162081"/>
                  </p:ext>
                </p:extLst>
              </p:nvPr>
            </p:nvGraphicFramePr>
            <p:xfrm>
              <a:off x="679000" y="4310907"/>
              <a:ext cx="6154965" cy="2146893"/>
            </p:xfrm>
            <a:graphic>
              <a:graphicData uri="http://schemas.openxmlformats.org/drawingml/2006/table">
                <a:tbl>
                  <a:tblPr firstRow="1" firstCol="1" bandRow="1"/>
                  <a:tblGrid>
                    <a:gridCol w="2074889">
                      <a:extLst>
                        <a:ext uri="{9D8B030D-6E8A-4147-A177-3AD203B41FA5}">
                          <a16:colId xmlns:a16="http://schemas.microsoft.com/office/drawing/2014/main" val="20000"/>
                        </a:ext>
                      </a:extLst>
                    </a:gridCol>
                    <a:gridCol w="2027653">
                      <a:extLst>
                        <a:ext uri="{9D8B030D-6E8A-4147-A177-3AD203B41FA5}">
                          <a16:colId xmlns:a16="http://schemas.microsoft.com/office/drawing/2014/main" val="20001"/>
                        </a:ext>
                      </a:extLst>
                    </a:gridCol>
                    <a:gridCol w="2052423">
                      <a:extLst>
                        <a:ext uri="{9D8B030D-6E8A-4147-A177-3AD203B41FA5}">
                          <a16:colId xmlns:a16="http://schemas.microsoft.com/office/drawing/2014/main" val="20002"/>
                        </a:ext>
                      </a:extLst>
                    </a:gridCol>
                  </a:tblGrid>
                  <a:tr h="278226">
                    <a:tc gridSpan="3">
                      <a:txBody>
                        <a:bodyPr/>
                        <a:lstStyle/>
                        <a:p>
                          <a:pPr marL="0" marR="0" algn="ctr">
                            <a:spcBef>
                              <a:spcPts val="0"/>
                            </a:spcBef>
                            <a:spcAft>
                              <a:spcPts val="0"/>
                            </a:spcAft>
                          </a:pPr>
                          <a:r>
                            <a:rPr lang="en-US" sz="1600" b="1">
                              <a:solidFill>
                                <a:srgbClr val="000000"/>
                              </a:solidFill>
                              <a:effectLst/>
                              <a:latin typeface="Verdana" charset="0"/>
                              <a:ea typeface="Times New Roman" charset="0"/>
                              <a:cs typeface="Arial" charset="0"/>
                            </a:rPr>
                            <a:t>Rotations Counterclockwise About the Origin</a:t>
                          </a:r>
                          <a:endParaRPr lang="en-US" sz="110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7697">
                    <a:tc>
                      <a:txBody>
                        <a:bodyPr/>
                        <a:lstStyle/>
                        <a:p>
                          <a:pPr marL="0" marR="0" algn="ctr">
                            <a:spcBef>
                              <a:spcPts val="0"/>
                            </a:spcBef>
                            <a:spcAft>
                              <a:spcPts val="0"/>
                            </a:spcAft>
                          </a:pPr>
                          <a:r>
                            <a:rPr lang="en-US" sz="1600" b="1">
                              <a:solidFill>
                                <a:srgbClr val="000000"/>
                              </a:solidFill>
                              <a:effectLst/>
                              <a:latin typeface="Verdana" charset="0"/>
                              <a:ea typeface="Times New Roman" charset="0"/>
                              <a:cs typeface="Arial" charset="0"/>
                            </a:rPr>
                            <a:t>Rotations of </a:t>
                          </a:r>
                          <a14:m>
                            <m:oMath xmlns:m="http://schemas.openxmlformats.org/officeDocument/2006/math">
                              <m:r>
                                <a:rPr lang="en-US" sz="1600" b="1" i="1">
                                  <a:solidFill>
                                    <a:srgbClr val="000000"/>
                                  </a:solidFill>
                                  <a:effectLst/>
                                  <a:latin typeface="Cambria Math" charset="0"/>
                                  <a:ea typeface="Times New Roman" charset="0"/>
                                  <a:cs typeface="Arial" charset="0"/>
                                </a:rPr>
                                <m:t>𝟗𝟎</m:t>
                              </m:r>
                              <m:r>
                                <a:rPr lang="en-US" sz="16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solidFill>
                                <a:srgbClr val="000000"/>
                              </a:solidFill>
                              <a:effectLst/>
                              <a:latin typeface="Verdana" charset="0"/>
                              <a:ea typeface="Times New Roman" charset="0"/>
                              <a:cs typeface="Arial" charset="0"/>
                            </a:rPr>
                            <a:t>Rotations of </a:t>
                          </a:r>
                          <a14:m>
                            <m:oMath xmlns:m="http://schemas.openxmlformats.org/officeDocument/2006/math">
                              <m:r>
                                <a:rPr lang="en-US" sz="1600" b="1" i="1">
                                  <a:solidFill>
                                    <a:srgbClr val="000000"/>
                                  </a:solidFill>
                                  <a:effectLst/>
                                  <a:latin typeface="Cambria Math" charset="0"/>
                                  <a:ea typeface="Times New Roman" charset="0"/>
                                  <a:cs typeface="Arial" charset="0"/>
                                </a:rPr>
                                <m:t>𝟏𝟖𝟎</m:t>
                              </m:r>
                              <m:r>
                                <a:rPr lang="en-US" sz="16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solidFill>
                                <a:srgbClr val="000000"/>
                              </a:solidFill>
                              <a:effectLst/>
                              <a:latin typeface="Verdana" charset="0"/>
                              <a:ea typeface="Times New Roman" charset="0"/>
                              <a:cs typeface="Arial" charset="0"/>
                            </a:rPr>
                            <a:t>Rotations of </a:t>
                          </a:r>
                          <a14:m>
                            <m:oMath xmlns:m="http://schemas.openxmlformats.org/officeDocument/2006/math">
                              <m:r>
                                <a:rPr lang="en-US" sz="1600" b="1" i="1">
                                  <a:solidFill>
                                    <a:srgbClr val="000000"/>
                                  </a:solidFill>
                                  <a:effectLst/>
                                  <a:latin typeface="Cambria Math" charset="0"/>
                                  <a:ea typeface="Times New Roman" charset="0"/>
                                  <a:cs typeface="Arial" charset="0"/>
                                </a:rPr>
                                <m:t>𝟐𝟕𝟎</m:t>
                              </m:r>
                              <m:r>
                                <a:rPr lang="en-US" sz="1600" b="1" i="1">
                                  <a:solidFill>
                                    <a:srgbClr val="000000"/>
                                  </a:solidFill>
                                  <a:effectLst/>
                                  <a:latin typeface="Cambria Math" charset="0"/>
                                  <a:ea typeface="Times New Roman" charset="0"/>
                                  <a:cs typeface="Arial" charset="0"/>
                                </a:rPr>
                                <m:t>°</m:t>
                              </m:r>
                            </m:oMath>
                          </a14:m>
                          <a:endParaRPr lang="en-US" sz="110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1370970">
                    <a:tc>
                      <a:txBody>
                        <a:bodyPr/>
                        <a:lstStyle/>
                        <a:p>
                          <a:pPr marL="0" marR="0" algn="ctr">
                            <a:spcBef>
                              <a:spcPts val="0"/>
                            </a:spcBef>
                            <a:spcAft>
                              <a:spcPts val="0"/>
                            </a:spcAft>
                          </a:pPr>
                          <a:r>
                            <a:rPr lang="en-US" sz="1600">
                              <a:solidFill>
                                <a:srgbClr val="000000"/>
                              </a:solidFill>
                              <a:effectLst/>
                              <a:latin typeface="Verdana" charset="0"/>
                              <a:ea typeface="Times New Roman" charset="0"/>
                              <a:cs typeface="Arial" charset="0"/>
                            </a:rPr>
                            <a:t>Change the </a:t>
                          </a:r>
                          <a14:m>
                            <m:oMath xmlns:m="http://schemas.openxmlformats.org/officeDocument/2006/math">
                              <m:r>
                                <a:rPr lang="en-US" sz="1600" i="1">
                                  <a:solidFill>
                                    <a:srgbClr val="000000"/>
                                  </a:solidFill>
                                  <a:effectLst/>
                                  <a:latin typeface="Cambria Math" charset="0"/>
                                  <a:ea typeface="Times New Roman" charset="0"/>
                                  <a:cs typeface="Arial" charset="0"/>
                                </a:rPr>
                                <m:t>𝑦</m:t>
                              </m:r>
                            </m:oMath>
                          </a14:m>
                          <a:r>
                            <a:rPr lang="en-US" sz="1600">
                              <a:solidFill>
                                <a:srgbClr val="000000"/>
                              </a:solidFill>
                              <a:effectLst/>
                              <a:latin typeface="Cambria Math" charset="0"/>
                              <a:ea typeface="Times New Roman" charset="0"/>
                              <a:cs typeface="Arial" charset="0"/>
                            </a:rPr>
                            <a:t>‑</a:t>
                          </a:r>
                          <a:r>
                            <a:rPr lang="en-US" sz="1600">
                              <a:solidFill>
                                <a:srgbClr val="000000"/>
                              </a:solidFill>
                              <a:effectLst/>
                              <a:latin typeface="Verdana" charset="0"/>
                              <a:ea typeface="Times New Roman" charset="0"/>
                              <a:cs typeface="Arial" charset="0"/>
                            </a:rPr>
                            <a:t>coordinate to its opposite, then switch the coordinates</a:t>
                          </a:r>
                          <a:endParaRPr lang="en-US" sz="110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a:solidFill>
                                <a:srgbClr val="000000"/>
                              </a:solidFill>
                              <a:effectLst/>
                              <a:latin typeface="Verdana" charset="0"/>
                              <a:ea typeface="Times New Roman" charset="0"/>
                              <a:cs typeface="Arial" charset="0"/>
                            </a:rPr>
                            <a:t>Change both coordinates to their opposite</a:t>
                          </a:r>
                          <a:endParaRPr lang="en-US" sz="1100">
                            <a:effectLst/>
                            <a:latin typeface="Cambria" charset="0"/>
                            <a:ea typeface="Times New Roman" charset="0"/>
                            <a:cs typeface="Times New Roman" charset="0"/>
                          </a:endParaRPr>
                        </a:p>
                        <a:p>
                          <a:pPr marL="0" marR="0" algn="ctr">
                            <a:spcBef>
                              <a:spcPts val="0"/>
                            </a:spcBef>
                            <a:spcAft>
                              <a:spcPts val="0"/>
                            </a:spcAft>
                          </a:pPr>
                          <a:r>
                            <a:rPr lang="en-US" sz="1600">
                              <a:solidFill>
                                <a:srgbClr val="000000"/>
                              </a:solidFill>
                              <a:effectLst/>
                              <a:latin typeface="Verdana" charset="0"/>
                              <a:ea typeface="Times New Roman" charset="0"/>
                              <a:cs typeface="Arial" charset="0"/>
                            </a:rPr>
                            <a:t> </a:t>
                          </a:r>
                          <a:endParaRPr lang="en-US" sz="110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charset="0"/>
                              <a:ea typeface="Times New Roman" charset="0"/>
                              <a:cs typeface="Arial" charset="0"/>
                            </a:rPr>
                            <a:t>Change the </a:t>
                          </a:r>
                          <a14:m>
                            <m:oMath xmlns:m="http://schemas.openxmlformats.org/officeDocument/2006/math">
                              <m:r>
                                <a:rPr lang="en-US" sz="1600" i="1">
                                  <a:effectLst/>
                                  <a:latin typeface="Cambria Math" charset="0"/>
                                  <a:ea typeface="Times New Roman" charset="0"/>
                                  <a:cs typeface="Arial" charset="0"/>
                                </a:rPr>
                                <m:t>𝑥</m:t>
                              </m:r>
                            </m:oMath>
                          </a14:m>
                          <a:r>
                            <a:rPr lang="en-US" sz="1600" dirty="0">
                              <a:effectLst/>
                              <a:latin typeface="Verdana" charset="0"/>
                              <a:ea typeface="Times New Roman" charset="0"/>
                              <a:cs typeface="Arial" charset="0"/>
                            </a:rPr>
                            <a:t>‑coordinate to its opposite, then switch the coordinates</a:t>
                          </a:r>
                          <a:endParaRPr lang="en-US" sz="1100" dirty="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822162081"/>
                  </p:ext>
                </p:extLst>
              </p:nvPr>
            </p:nvGraphicFramePr>
            <p:xfrm>
              <a:off x="679000" y="4310907"/>
              <a:ext cx="6154965" cy="2146893"/>
            </p:xfrm>
            <a:graphic>
              <a:graphicData uri="http://schemas.openxmlformats.org/drawingml/2006/table">
                <a:tbl>
                  <a:tblPr firstRow="1" firstCol="1" bandRow="1"/>
                  <a:tblGrid>
                    <a:gridCol w="2074889">
                      <a:extLst>
                        <a:ext uri="{9D8B030D-6E8A-4147-A177-3AD203B41FA5}">
                          <a16:colId xmlns:a16="http://schemas.microsoft.com/office/drawing/2014/main" val="20000"/>
                        </a:ext>
                      </a:extLst>
                    </a:gridCol>
                    <a:gridCol w="2027653">
                      <a:extLst>
                        <a:ext uri="{9D8B030D-6E8A-4147-A177-3AD203B41FA5}">
                          <a16:colId xmlns:a16="http://schemas.microsoft.com/office/drawing/2014/main" val="20001"/>
                        </a:ext>
                      </a:extLst>
                    </a:gridCol>
                    <a:gridCol w="2052423">
                      <a:extLst>
                        <a:ext uri="{9D8B030D-6E8A-4147-A177-3AD203B41FA5}">
                          <a16:colId xmlns:a16="http://schemas.microsoft.com/office/drawing/2014/main" val="20002"/>
                        </a:ext>
                      </a:extLst>
                    </a:gridCol>
                  </a:tblGrid>
                  <a:tr h="278226">
                    <a:tc gridSpan="3">
                      <a:txBody>
                        <a:bodyPr/>
                        <a:lstStyle/>
                        <a:p>
                          <a:pPr marL="0" marR="0" algn="ctr">
                            <a:spcBef>
                              <a:spcPts val="0"/>
                            </a:spcBef>
                            <a:spcAft>
                              <a:spcPts val="0"/>
                            </a:spcAft>
                          </a:pPr>
                          <a:r>
                            <a:rPr lang="en-US" sz="1600" b="1">
                              <a:solidFill>
                                <a:srgbClr val="000000"/>
                              </a:solidFill>
                              <a:effectLst/>
                              <a:latin typeface="Verdana" charset="0"/>
                              <a:ea typeface="Times New Roman" charset="0"/>
                              <a:cs typeface="Arial" charset="0"/>
                            </a:rPr>
                            <a:t>Rotations Counterclockwise About the Origin</a:t>
                          </a:r>
                          <a:endParaRPr lang="en-US" sz="110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7697">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93" t="-65854" r="-197067" b="-282927"/>
                          </a:stretch>
                        </a:blipFill>
                      </a:tcPr>
                    </a:tc>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2703" t="-65854" r="-101802" b="-282927"/>
                          </a:stretch>
                        </a:blipFill>
                      </a:tcPr>
                    </a:tc>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0297" t="-65854" r="-593" b="-282927"/>
                          </a:stretch>
                        </a:blipFill>
                      </a:tcPr>
                    </a:tc>
                    <a:extLst>
                      <a:ext uri="{0D108BD9-81ED-4DB2-BD59-A6C34878D82A}">
                        <a16:rowId xmlns:a16="http://schemas.microsoft.com/office/drawing/2014/main" val="10001"/>
                      </a:ext>
                    </a:extLst>
                  </a:tr>
                  <a:tr h="1370970">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93" t="-60444" r="-197067" b="-3111"/>
                          </a:stretch>
                        </a:blipFill>
                      </a:tcPr>
                    </a:tc>
                    <a:tc>
                      <a:txBody>
                        <a:bodyPr/>
                        <a:lstStyle/>
                        <a:p>
                          <a:pPr marL="0" marR="0" algn="ctr">
                            <a:spcBef>
                              <a:spcPts val="0"/>
                            </a:spcBef>
                            <a:spcAft>
                              <a:spcPts val="0"/>
                            </a:spcAft>
                          </a:pPr>
                          <a:r>
                            <a:rPr lang="en-US" sz="1600">
                              <a:solidFill>
                                <a:srgbClr val="000000"/>
                              </a:solidFill>
                              <a:effectLst/>
                              <a:latin typeface="Verdana" charset="0"/>
                              <a:ea typeface="Times New Roman" charset="0"/>
                              <a:cs typeface="Arial" charset="0"/>
                            </a:rPr>
                            <a:t>Change both coordinates to their opposite</a:t>
                          </a:r>
                          <a:endParaRPr lang="en-US" sz="1100">
                            <a:effectLst/>
                            <a:latin typeface="Cambria" charset="0"/>
                            <a:ea typeface="Times New Roman" charset="0"/>
                            <a:cs typeface="Times New Roman" charset="0"/>
                          </a:endParaRPr>
                        </a:p>
                        <a:p>
                          <a:pPr marL="0" marR="0" algn="ctr">
                            <a:spcBef>
                              <a:spcPts val="0"/>
                            </a:spcBef>
                            <a:spcAft>
                              <a:spcPts val="0"/>
                            </a:spcAft>
                          </a:pPr>
                          <a:r>
                            <a:rPr lang="en-US" sz="1600">
                              <a:solidFill>
                                <a:srgbClr val="000000"/>
                              </a:solidFill>
                              <a:effectLst/>
                              <a:latin typeface="Verdana" charset="0"/>
                              <a:ea typeface="Times New Roman" charset="0"/>
                              <a:cs typeface="Arial" charset="0"/>
                            </a:rPr>
                            <a:t> </a:t>
                          </a:r>
                          <a:endParaRPr lang="en-US" sz="1100">
                            <a:effectLst/>
                            <a:latin typeface="Cambria" charset="0"/>
                            <a:ea typeface="Times New Roman" charset="0"/>
                            <a:cs typeface="Times New Roman" charset="0"/>
                          </a:endParaRPr>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2212" marR="622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0297" t="-60444" r="-593" b="-3111"/>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198</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433026947"/>
                  </p:ext>
                </p:extLst>
              </p:nvPr>
            </p:nvGraphicFramePr>
            <p:xfrm>
              <a:off x="1307201" y="316513"/>
              <a:ext cx="6793865" cy="2302510"/>
            </p:xfrm>
            <a:graphic>
              <a:graphicData uri="http://schemas.openxmlformats.org/drawingml/2006/table">
                <a:tbl>
                  <a:tblPr firstRow="1" firstCol="1" bandRow="1"/>
                  <a:tblGrid>
                    <a:gridCol w="3362639">
                      <a:extLst>
                        <a:ext uri="{9D8B030D-6E8A-4147-A177-3AD203B41FA5}">
                          <a16:colId xmlns:a16="http://schemas.microsoft.com/office/drawing/2014/main" val="20000"/>
                        </a:ext>
                      </a:extLst>
                    </a:gridCol>
                    <a:gridCol w="3431226">
                      <a:extLst>
                        <a:ext uri="{9D8B030D-6E8A-4147-A177-3AD203B41FA5}">
                          <a16:colId xmlns:a16="http://schemas.microsoft.com/office/drawing/2014/main" val="20001"/>
                        </a:ext>
                      </a:extLst>
                    </a:gridCol>
                  </a:tblGrid>
                  <a:tr h="259080">
                    <a:tc gridSpan="2">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Translations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5908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Right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Left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778510">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Add to the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𝑥</m:t>
                              </m:r>
                            </m:oMath>
                          </a14:m>
                          <a:r>
                            <a:rPr lang="en-US" sz="2000" dirty="0">
                              <a:solidFill>
                                <a:srgbClr val="000000"/>
                              </a:solidFill>
                              <a:effectLst/>
                              <a:latin typeface="Verdana" charset="0"/>
                              <a:ea typeface="Verdana" charset="0"/>
                              <a:cs typeface="Verdana" charset="0"/>
                            </a:rPr>
                            <a:t>‑coordinate</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Subtract from the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𝑥</m:t>
                              </m:r>
                            </m:oMath>
                          </a14:m>
                          <a:r>
                            <a:rPr lang="en-US" sz="2000">
                              <a:solidFill>
                                <a:srgbClr val="000000"/>
                              </a:solidFill>
                              <a:effectLst/>
                              <a:latin typeface="Verdana" charset="0"/>
                              <a:ea typeface="Verdana" charset="0"/>
                              <a:cs typeface="Verdana" charset="0"/>
                            </a:rPr>
                            <a:t>‑coordinate</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908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Up</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Down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3"/>
                      </a:ext>
                    </a:extLst>
                  </a:tr>
                  <a:tr h="519430">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Add to the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𝑦</m:t>
                              </m:r>
                            </m:oMath>
                          </a14:m>
                          <a:r>
                            <a:rPr lang="en-US" sz="2000" dirty="0">
                              <a:solidFill>
                                <a:srgbClr val="000000"/>
                              </a:solidFill>
                              <a:effectLst/>
                              <a:latin typeface="Verdana" charset="0"/>
                              <a:ea typeface="Verdana" charset="0"/>
                              <a:cs typeface="Verdana" charset="0"/>
                            </a:rPr>
                            <a:t>‑coordinate</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Subtract from the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𝑦</m:t>
                              </m:r>
                            </m:oMath>
                          </a14:m>
                          <a:r>
                            <a:rPr lang="en-US" sz="2000" dirty="0">
                              <a:solidFill>
                                <a:srgbClr val="000000"/>
                              </a:solidFill>
                              <a:effectLst/>
                              <a:latin typeface="Verdana" charset="0"/>
                              <a:ea typeface="Verdana" charset="0"/>
                              <a:cs typeface="Verdana" charset="0"/>
                            </a:rPr>
                            <a:t>‑coordinate</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433026947"/>
                  </p:ext>
                </p:extLst>
              </p:nvPr>
            </p:nvGraphicFramePr>
            <p:xfrm>
              <a:off x="1307201" y="316513"/>
              <a:ext cx="6793865" cy="2302510"/>
            </p:xfrm>
            <a:graphic>
              <a:graphicData uri="http://schemas.openxmlformats.org/drawingml/2006/table">
                <a:tbl>
                  <a:tblPr firstRow="1" firstCol="1" bandRow="1"/>
                  <a:tblGrid>
                    <a:gridCol w="3362639">
                      <a:extLst>
                        <a:ext uri="{9D8B030D-6E8A-4147-A177-3AD203B41FA5}">
                          <a16:colId xmlns:a16="http://schemas.microsoft.com/office/drawing/2014/main" val="20000"/>
                        </a:ext>
                      </a:extLst>
                    </a:gridCol>
                    <a:gridCol w="3431226">
                      <a:extLst>
                        <a:ext uri="{9D8B030D-6E8A-4147-A177-3AD203B41FA5}">
                          <a16:colId xmlns:a16="http://schemas.microsoft.com/office/drawing/2014/main" val="20001"/>
                        </a:ext>
                      </a:extLst>
                    </a:gridCol>
                  </a:tblGrid>
                  <a:tr h="304800">
                    <a:tc gridSpan="2">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Translations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048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Right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Left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77851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81" t="-87500" r="-102355" b="-1375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8224" t="-87500" r="-355" b="-137500"/>
                          </a:stretch>
                        </a:blipFill>
                      </a:tcPr>
                    </a:tc>
                    <a:extLst>
                      <a:ext uri="{0D108BD9-81ED-4DB2-BD59-A6C34878D82A}">
                        <a16:rowId xmlns:a16="http://schemas.microsoft.com/office/drawing/2014/main" val="10002"/>
                      </a:ext>
                    </a:extLst>
                  </a:tr>
                  <a:tr h="30480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Up</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Down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3"/>
                      </a:ext>
                    </a:extLst>
                  </a:tr>
                  <a:tr h="6096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81" t="-291000" r="-102355" b="-25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8224" t="-291000" r="-355" b="-25000"/>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019713351"/>
                  </p:ext>
                </p:extLst>
              </p:nvPr>
            </p:nvGraphicFramePr>
            <p:xfrm>
              <a:off x="1307201" y="2884453"/>
              <a:ext cx="6820535" cy="2649220"/>
            </p:xfrm>
            <a:graphic>
              <a:graphicData uri="http://schemas.openxmlformats.org/drawingml/2006/table">
                <a:tbl>
                  <a:tblPr firstRow="1" firstCol="1" bandRow="1"/>
                  <a:tblGrid>
                    <a:gridCol w="3375660">
                      <a:extLst>
                        <a:ext uri="{9D8B030D-6E8A-4147-A177-3AD203B41FA5}">
                          <a16:colId xmlns:a16="http://schemas.microsoft.com/office/drawing/2014/main" val="20000"/>
                        </a:ext>
                      </a:extLst>
                    </a:gridCol>
                    <a:gridCol w="3444875">
                      <a:extLst>
                        <a:ext uri="{9D8B030D-6E8A-4147-A177-3AD203B41FA5}">
                          <a16:colId xmlns:a16="http://schemas.microsoft.com/office/drawing/2014/main" val="20001"/>
                        </a:ext>
                      </a:extLst>
                    </a:gridCol>
                  </a:tblGrid>
                  <a:tr h="272415">
                    <a:tc gridSpan="2">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Reflections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72415">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Verdana" charset="0"/>
                                  <a:cs typeface="Verdana" charset="0"/>
                                </a:rPr>
                                <m:t>𝒙</m:t>
                              </m:r>
                            </m:oMath>
                          </a14:m>
                          <a:r>
                            <a:rPr lang="en-US" sz="2000" b="1">
                              <a:solidFill>
                                <a:srgbClr val="000000"/>
                              </a:solidFill>
                              <a:effectLst/>
                              <a:latin typeface="Verdana" charset="0"/>
                              <a:ea typeface="Verdana" charset="0"/>
                              <a:cs typeface="Verdana" charset="0"/>
                            </a:rPr>
                            <a:t>-axis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Verdana" charset="0"/>
                                  <a:cs typeface="Verdana" charset="0"/>
                                </a:rPr>
                                <m:t>𝒚</m:t>
                              </m:r>
                            </m:oMath>
                          </a14:m>
                          <a:r>
                            <a:rPr lang="en-US" sz="2000" b="1">
                              <a:solidFill>
                                <a:srgbClr val="000000"/>
                              </a:solidFill>
                              <a:effectLst/>
                              <a:latin typeface="Verdana" charset="0"/>
                              <a:ea typeface="Verdana" charset="0"/>
                              <a:cs typeface="Verdana" charset="0"/>
                            </a:rPr>
                            <a:t>-axis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820420">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The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𝑦</m:t>
                              </m:r>
                            </m:oMath>
                          </a14:m>
                          <a:r>
                            <a:rPr lang="en-US" sz="2000" dirty="0">
                              <a:solidFill>
                                <a:srgbClr val="000000"/>
                              </a:solidFill>
                              <a:effectLst/>
                              <a:latin typeface="Verdana" charset="0"/>
                              <a:ea typeface="Verdana" charset="0"/>
                              <a:cs typeface="Verdana" charset="0"/>
                            </a:rPr>
                            <a:t>‑coordinate changes to its opposite.</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The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𝑥</m:t>
                              </m:r>
                            </m:oMath>
                          </a14:m>
                          <a:r>
                            <a:rPr lang="en-US" sz="2000">
                              <a:solidFill>
                                <a:srgbClr val="000000"/>
                              </a:solidFill>
                              <a:effectLst/>
                              <a:latin typeface="Verdana" charset="0"/>
                              <a:ea typeface="Verdana" charset="0"/>
                              <a:cs typeface="Verdana" charset="0"/>
                            </a:rPr>
                            <a:t>‑coordinate changes to its ____________.</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241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Verdana" charset="0"/>
                                    <a:cs typeface="Verdana" charset="0"/>
                                  </a:rPr>
                                  <m:t>𝒚</m:t>
                                </m:r>
                                <m:r>
                                  <a:rPr lang="en-US" sz="2000" b="1" i="1">
                                    <a:solidFill>
                                      <a:srgbClr val="000000"/>
                                    </a:solidFill>
                                    <a:effectLst/>
                                    <a:latin typeface="Cambria Math" panose="02040503050406030204" pitchFamily="18" charset="0"/>
                                    <a:ea typeface="Verdana" charset="0"/>
                                    <a:cs typeface="Verdana" charset="0"/>
                                  </a:rPr>
                                  <m:t>=</m:t>
                                </m:r>
                                <m:r>
                                  <a:rPr lang="en-US" sz="2000" b="1" i="1">
                                    <a:solidFill>
                                      <a:srgbClr val="000000"/>
                                    </a:solidFill>
                                    <a:effectLst/>
                                    <a:latin typeface="Cambria Math" panose="02040503050406030204" pitchFamily="18" charset="0"/>
                                    <a:ea typeface="Verdana" charset="0"/>
                                    <a:cs typeface="Verdana" charset="0"/>
                                  </a:rPr>
                                  <m:t>𝒙</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Verdana" charset="0"/>
                                    <a:cs typeface="Verdana" charset="0"/>
                                  </a:rPr>
                                  <m:t>𝒚</m:t>
                                </m:r>
                                <m:r>
                                  <a:rPr lang="en-US" sz="2000" b="1" i="1">
                                    <a:solidFill>
                                      <a:srgbClr val="000000"/>
                                    </a:solidFill>
                                    <a:effectLst/>
                                    <a:latin typeface="Cambria Math" panose="02040503050406030204" pitchFamily="18" charset="0"/>
                                    <a:ea typeface="Verdana" charset="0"/>
                                    <a:cs typeface="Verdana" charset="0"/>
                                  </a:rPr>
                                  <m:t>=−</m:t>
                                </m:r>
                                <m:r>
                                  <a:rPr lang="en-US" sz="2000" b="1" i="1">
                                    <a:solidFill>
                                      <a:srgbClr val="000000"/>
                                    </a:solidFill>
                                    <a:effectLst/>
                                    <a:latin typeface="Cambria Math" panose="02040503050406030204" pitchFamily="18" charset="0"/>
                                    <a:ea typeface="Verdana" charset="0"/>
                                    <a:cs typeface="Verdana" charset="0"/>
                                  </a:rPr>
                                  <m:t>𝒙</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3"/>
                      </a:ext>
                    </a:extLst>
                  </a:tr>
                  <a:tr h="546735">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The coordinates switch.</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The coordinates switch and become their opposite.</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019713351"/>
                  </p:ext>
                </p:extLst>
              </p:nvPr>
            </p:nvGraphicFramePr>
            <p:xfrm>
              <a:off x="1307201" y="2884453"/>
              <a:ext cx="6820535" cy="2649220"/>
            </p:xfrm>
            <a:graphic>
              <a:graphicData uri="http://schemas.openxmlformats.org/drawingml/2006/table">
                <a:tbl>
                  <a:tblPr firstRow="1" firstCol="1" bandRow="1"/>
                  <a:tblGrid>
                    <a:gridCol w="3375660">
                      <a:extLst>
                        <a:ext uri="{9D8B030D-6E8A-4147-A177-3AD203B41FA5}">
                          <a16:colId xmlns:a16="http://schemas.microsoft.com/office/drawing/2014/main" val="20000"/>
                        </a:ext>
                      </a:extLst>
                    </a:gridCol>
                    <a:gridCol w="3444875">
                      <a:extLst>
                        <a:ext uri="{9D8B030D-6E8A-4147-A177-3AD203B41FA5}">
                          <a16:colId xmlns:a16="http://schemas.microsoft.com/office/drawing/2014/main" val="20001"/>
                        </a:ext>
                      </a:extLst>
                    </a:gridCol>
                  </a:tblGrid>
                  <a:tr h="304800">
                    <a:tc gridSpan="2">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Reflections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048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81" t="-126000" r="-102527" b="-720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8057" t="-126000" r="-353" b="-720000"/>
                          </a:stretch>
                        </a:blipFill>
                      </a:tcPr>
                    </a:tc>
                    <a:extLst>
                      <a:ext uri="{0D108BD9-81ED-4DB2-BD59-A6C34878D82A}">
                        <a16:rowId xmlns:a16="http://schemas.microsoft.com/office/drawing/2014/main" val="10001"/>
                      </a:ext>
                    </a:extLst>
                  </a:tr>
                  <a:tr h="82042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81" t="-83704" r="-102527" b="-166667"/>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8057" t="-83704" r="-353" b="-166667"/>
                          </a:stretch>
                        </a:blipFill>
                      </a:tcPr>
                    </a:tc>
                    <a:extLst>
                      <a:ext uri="{0D108BD9-81ED-4DB2-BD59-A6C34878D82A}">
                        <a16:rowId xmlns:a16="http://schemas.microsoft.com/office/drawing/2014/main" val="10002"/>
                      </a:ext>
                    </a:extLst>
                  </a:tr>
                  <a:tr h="3048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81" t="-496000" r="-102527" b="-350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8057" t="-496000" r="-353" b="-350000"/>
                          </a:stretch>
                        </a:blipFill>
                      </a:tcPr>
                    </a:tc>
                    <a:extLst>
                      <a:ext uri="{0D108BD9-81ED-4DB2-BD59-A6C34878D82A}">
                        <a16:rowId xmlns:a16="http://schemas.microsoft.com/office/drawing/2014/main" val="10003"/>
                      </a:ext>
                    </a:extLst>
                  </a:tr>
                  <a:tr h="914400">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The coordinates switch.</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The coordinates switch and become their opposite.</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3393813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465232" y="296970"/>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 </a:t>
                </a:r>
                <a14:m>
                  <m:oMath xmlns:m="http://schemas.openxmlformats.org/officeDocument/2006/math">
                    <m:r>
                      <a:rPr lang="en-US" sz="2000" i="1">
                        <a:latin typeface="Cambria Math" panose="02040503050406030204" pitchFamily="18" charset="0"/>
                        <a:ea typeface="Verdana" charset="0"/>
                        <a:cs typeface="Verdana" charset="0"/>
                      </a:rPr>
                      <m:t>𝐶𝐻𝑋</m:t>
                    </m:r>
                  </m:oMath>
                </a14:m>
                <a:r>
                  <a:rPr lang="en-US" sz="2000" dirty="0">
                    <a:latin typeface="Verdana" charset="0"/>
                    <a:ea typeface="Verdana" charset="0"/>
                    <a:cs typeface="Verdana" charset="0"/>
                  </a:rPr>
                  <a:t> is shown on the coordinate grid.</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2" y="296970"/>
                <a:ext cx="8327136" cy="400110"/>
              </a:xfrm>
              <a:prstGeom prst="rect">
                <a:avLst/>
              </a:prstGeom>
              <a:blipFill>
                <a:blip r:embed="rId4"/>
                <a:stretch>
                  <a:fillRect l="-805" t="-10769" b="-27692"/>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38013" y="925681"/>
            <a:ext cx="4981575" cy="3487103"/>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3585885" y="4641383"/>
                <a:ext cx="2085827"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r>
                      <a:rPr lang="en-US" sz="2000" b="1" i="1">
                        <a:latin typeface="Cambria Math" panose="02040503050406030204" pitchFamily="18" charset="0"/>
                        <a:ea typeface="Verdana" charset="0"/>
                        <a:cs typeface="Verdana" charset="0"/>
                      </a:rPr>
                      <m:t>𝑪𝑯𝑿</m:t>
                    </m:r>
                  </m:oMath>
                </a14:m>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3585885" y="4641383"/>
                <a:ext cx="2085827" cy="400110"/>
              </a:xfrm>
              <a:prstGeom prst="rect">
                <a:avLst/>
              </a:prstGeom>
              <a:blipFill>
                <a:blip r:embed="rId6"/>
                <a:stretch>
                  <a:fillRect l="-2924"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187660969"/>
                  </p:ext>
                </p:extLst>
              </p:nvPr>
            </p:nvGraphicFramePr>
            <p:xfrm>
              <a:off x="3195446" y="5144096"/>
              <a:ext cx="2866707" cy="1219200"/>
            </p:xfrm>
            <a:graphic>
              <a:graphicData uri="http://schemas.openxmlformats.org/drawingml/2006/table">
                <a:tbl>
                  <a:tblPr firstRow="1" firstCol="1" bandRow="1"/>
                  <a:tblGrid>
                    <a:gridCol w="1230718">
                      <a:extLst>
                        <a:ext uri="{9D8B030D-6E8A-4147-A177-3AD203B41FA5}">
                          <a16:colId xmlns:a16="http://schemas.microsoft.com/office/drawing/2014/main" val="20000"/>
                        </a:ext>
                      </a:extLst>
                    </a:gridCol>
                    <a:gridCol w="681584">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2000" b="1">
                              <a:effectLst/>
                              <a:latin typeface="Verdana" charset="0"/>
                              <a:ea typeface="Verdana" charset="0"/>
                              <a:cs typeface="Verdana" charset="0"/>
                            </a:rPr>
                            <a:t>Vertex</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Verdana" charset="0"/>
                                    <a:cs typeface="Verdana" charset="0"/>
                                  </a:rPr>
                                  <m:t>𝒙</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Verdana" charset="0"/>
                                    <a:cs typeface="Verdana" charset="0"/>
                                  </a:rPr>
                                  <m:t>𝒚</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𝐶</m:t>
                                </m:r>
                              </m:oMath>
                            </m:oMathPara>
                          </a14:m>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−6</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𝐻</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5</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𝑋</m:t>
                                </m:r>
                              </m:oMath>
                            </m:oMathPara>
                          </a14:m>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7</m:t>
                                </m:r>
                              </m:oMath>
                            </m:oMathPara>
                          </a14:m>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m:t>
                                </m:r>
                              </m:oMath>
                            </m:oMathPara>
                          </a14:m>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187660969"/>
                  </p:ext>
                </p:extLst>
              </p:nvPr>
            </p:nvGraphicFramePr>
            <p:xfrm>
              <a:off x="3195446" y="5144096"/>
              <a:ext cx="2866707" cy="1219200"/>
            </p:xfrm>
            <a:graphic>
              <a:graphicData uri="http://schemas.openxmlformats.org/drawingml/2006/table">
                <a:tbl>
                  <a:tblPr firstRow="1" firstCol="1" bandRow="1"/>
                  <a:tblGrid>
                    <a:gridCol w="1230718">
                      <a:extLst>
                        <a:ext uri="{9D8B030D-6E8A-4147-A177-3AD203B41FA5}">
                          <a16:colId xmlns:a16="http://schemas.microsoft.com/office/drawing/2014/main" val="20000"/>
                        </a:ext>
                      </a:extLst>
                    </a:gridCol>
                    <a:gridCol w="681584">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304800">
                    <a:tc>
                      <a:txBody>
                        <a:bodyPr/>
                        <a:lstStyle/>
                        <a:p>
                          <a:pPr marL="0" marR="0" algn="ctr">
                            <a:spcBef>
                              <a:spcPts val="0"/>
                            </a:spcBef>
                            <a:spcAft>
                              <a:spcPts val="0"/>
                            </a:spcAft>
                          </a:pPr>
                          <a:r>
                            <a:rPr lang="en-US" sz="2000" b="1">
                              <a:effectLst/>
                              <a:latin typeface="Verdana" charset="0"/>
                              <a:ea typeface="Verdana" charset="0"/>
                              <a:cs typeface="Verdana" charset="0"/>
                            </a:rPr>
                            <a:t>Vertex</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81250" t="-24000" r="-141964" b="-312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0637" t="-24000" r="-1274" b="-312000"/>
                          </a:stretch>
                        </a:blipFill>
                      </a:tcPr>
                    </a:tc>
                    <a:extLst>
                      <a:ext uri="{0D108BD9-81ED-4DB2-BD59-A6C34878D82A}">
                        <a16:rowId xmlns:a16="http://schemas.microsoft.com/office/drawing/2014/main" val="10000"/>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495" t="-121569" r="-134158" b="-2058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81250" t="-121569" r="-141964" b="-2058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0637" t="-121569" r="-1274" b="-205882"/>
                          </a:stretch>
                        </a:blipFill>
                      </a:tcPr>
                    </a:tc>
                    <a:extLst>
                      <a:ext uri="{0D108BD9-81ED-4DB2-BD59-A6C34878D82A}">
                        <a16:rowId xmlns:a16="http://schemas.microsoft.com/office/drawing/2014/main" val="10001"/>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495" t="-226000" r="-134158" b="-11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81250" t="-226000" r="-141964" b="-11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0637" t="-226000" r="-1274" b="-110000"/>
                          </a:stretch>
                        </a:blipFill>
                      </a:tcPr>
                    </a:tc>
                    <a:extLst>
                      <a:ext uri="{0D108BD9-81ED-4DB2-BD59-A6C34878D82A}">
                        <a16:rowId xmlns:a16="http://schemas.microsoft.com/office/drawing/2014/main" val="10002"/>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495" t="-326000" r="-134158" b="-1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81250" t="-326000" r="-141964" b="-1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200637" t="-326000" r="-1274" b="-10000"/>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698068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465232" y="296971"/>
                <a:ext cx="10835492" cy="1323439"/>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Reflect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𝐶𝐻𝑋</m:t>
                    </m:r>
                  </m:oMath>
                </a14:m>
                <a:r>
                  <a:rPr lang="en-US" sz="2000" dirty="0">
                    <a:latin typeface="Verdana" charset="0"/>
                    <a:ea typeface="Verdana" charset="0"/>
                    <a:cs typeface="Verdana" charset="0"/>
                  </a:rPr>
                  <a:t> across the </a:t>
                </a:r>
                <a14:m>
                  <m:oMath xmlns:m="http://schemas.openxmlformats.org/officeDocument/2006/math">
                    <m:r>
                      <a:rPr lang="en-US" sz="2000" i="1">
                        <a:latin typeface="Cambria Math" panose="02040503050406030204" pitchFamily="18" charset="0"/>
                        <a:ea typeface="Verdana" charset="0"/>
                        <a:cs typeface="Verdana" charset="0"/>
                      </a:rPr>
                      <m:t>𝑦</m:t>
                    </m:r>
                  </m:oMath>
                </a14:m>
                <a:r>
                  <a:rPr lang="en-US" sz="2000" i="1" dirty="0">
                    <a:latin typeface="Verdana" charset="0"/>
                    <a:ea typeface="Verdana" charset="0"/>
                    <a:cs typeface="Verdana" charset="0"/>
                  </a:rPr>
                  <a:t> </a:t>
                </a:r>
                <a:r>
                  <a:rPr lang="en-US" sz="2000" dirty="0">
                    <a:latin typeface="Verdana" charset="0"/>
                    <a:ea typeface="Verdana" charset="0"/>
                    <a:cs typeface="Verdana" charset="0"/>
                  </a:rPr>
                  <a:t>-axis then rotate </a:t>
                </a:r>
                <a14:m>
                  <m:oMath xmlns:m="http://schemas.openxmlformats.org/officeDocument/2006/math">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clockwise about the origin. Show both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𝐻</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𝑋</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𝐻</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𝑋</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Complete the table of values for each vertex.</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2" y="296971"/>
                <a:ext cx="10835492" cy="1323439"/>
              </a:xfrm>
              <a:prstGeom prst="rect">
                <a:avLst/>
              </a:prstGeom>
              <a:blipFill>
                <a:blip r:embed="rId4"/>
                <a:stretch>
                  <a:fillRect l="-619" t="-3226" b="-7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570999200"/>
                  </p:ext>
                </p:extLst>
              </p:nvPr>
            </p:nvGraphicFramePr>
            <p:xfrm>
              <a:off x="1197839" y="2118364"/>
              <a:ext cx="2893695" cy="1219200"/>
            </p:xfrm>
            <a:graphic>
              <a:graphicData uri="http://schemas.openxmlformats.org/drawingml/2006/table">
                <a:tbl>
                  <a:tblPr firstRow="1" firstCol="1" bandRow="1"/>
                  <a:tblGrid>
                    <a:gridCol w="1103398">
                      <a:extLst>
                        <a:ext uri="{9D8B030D-6E8A-4147-A177-3AD203B41FA5}">
                          <a16:colId xmlns:a16="http://schemas.microsoft.com/office/drawing/2014/main" val="20000"/>
                        </a:ext>
                      </a:extLst>
                    </a:gridCol>
                    <a:gridCol w="835892">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2000" b="1" dirty="0">
                              <a:effectLst/>
                              <a:latin typeface="Verdana" charset="0"/>
                              <a:ea typeface="Verdana" charset="0"/>
                              <a:cs typeface="Verdana" charset="0"/>
                            </a:rPr>
                            <a:t>Vertex</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Verdana" charset="0"/>
                                    <a:cs typeface="Verdana" charset="0"/>
                                  </a:rPr>
                                  <m:t>𝒙</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Verdana" charset="0"/>
                                    <a:cs typeface="Verdana" charset="0"/>
                                  </a:rPr>
                                  <m:t>𝒚</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𝐶</m:t>
                                </m:r>
                                <m:r>
                                  <a:rPr lang="en-US" sz="2000" i="1">
                                    <a:effectLst/>
                                    <a:latin typeface="Cambria Math" panose="02040503050406030204" pitchFamily="18" charset="0"/>
                                    <a:ea typeface="Verdana" charset="0"/>
                                    <a:cs typeface="Verdana" charset="0"/>
                                  </a:rPr>
                                  <m:t>’</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𝐻</m:t>
                                </m:r>
                                <m:r>
                                  <a:rPr lang="en-US" sz="2000" i="1">
                                    <a:effectLst/>
                                    <a:latin typeface="Cambria Math" panose="02040503050406030204" pitchFamily="18" charset="0"/>
                                    <a:ea typeface="Verdana" charset="0"/>
                                    <a:cs typeface="Verdana" charset="0"/>
                                  </a:rPr>
                                  <m:t>’</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𝑋</m:t>
                                </m:r>
                                <m:r>
                                  <a:rPr lang="en-US" sz="2000" i="1">
                                    <a:effectLst/>
                                    <a:latin typeface="Cambria Math" panose="02040503050406030204" pitchFamily="18" charset="0"/>
                                    <a:ea typeface="Verdana" charset="0"/>
                                    <a:cs typeface="Verdana" charset="0"/>
                                  </a:rPr>
                                  <m:t>’</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570999200"/>
                  </p:ext>
                </p:extLst>
              </p:nvPr>
            </p:nvGraphicFramePr>
            <p:xfrm>
              <a:off x="1197839" y="2118364"/>
              <a:ext cx="2893695" cy="1219200"/>
            </p:xfrm>
            <a:graphic>
              <a:graphicData uri="http://schemas.openxmlformats.org/drawingml/2006/table">
                <a:tbl>
                  <a:tblPr firstRow="1" firstCol="1" bandRow="1"/>
                  <a:tblGrid>
                    <a:gridCol w="1103398">
                      <a:extLst>
                        <a:ext uri="{9D8B030D-6E8A-4147-A177-3AD203B41FA5}">
                          <a16:colId xmlns:a16="http://schemas.microsoft.com/office/drawing/2014/main" val="20000"/>
                        </a:ext>
                      </a:extLst>
                    </a:gridCol>
                    <a:gridCol w="835892">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304800">
                    <a:tc>
                      <a:txBody>
                        <a:bodyPr/>
                        <a:lstStyle/>
                        <a:p>
                          <a:pPr marL="0" marR="0" algn="ctr">
                            <a:spcBef>
                              <a:spcPts val="0"/>
                            </a:spcBef>
                            <a:spcAft>
                              <a:spcPts val="0"/>
                            </a:spcAft>
                          </a:pPr>
                          <a:r>
                            <a:rPr lang="en-US" sz="2000" b="1" dirty="0">
                              <a:effectLst/>
                              <a:latin typeface="Verdana" charset="0"/>
                              <a:ea typeface="Verdana" charset="0"/>
                              <a:cs typeface="Verdana" charset="0"/>
                            </a:rPr>
                            <a:t>Vertex</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33577" t="-24000" r="-116058" b="-312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3822" t="-24000" r="-1274" b="-312000"/>
                          </a:stretch>
                        </a:blipFill>
                      </a:tcPr>
                    </a:tc>
                    <a:extLst>
                      <a:ext uri="{0D108BD9-81ED-4DB2-BD59-A6C34878D82A}">
                        <a16:rowId xmlns:a16="http://schemas.microsoft.com/office/drawing/2014/main" val="10000"/>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9" t="-121569" r="-162637" b="-205882"/>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9" t="-226000" r="-162637" b="-110000"/>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9" t="-326000" r="-162637" b="-10000"/>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859793969"/>
                  </p:ext>
                </p:extLst>
              </p:nvPr>
            </p:nvGraphicFramePr>
            <p:xfrm>
              <a:off x="5066172" y="2118364"/>
              <a:ext cx="2893695" cy="1219200"/>
            </p:xfrm>
            <a:graphic>
              <a:graphicData uri="http://schemas.openxmlformats.org/drawingml/2006/table">
                <a:tbl>
                  <a:tblPr firstRow="1" firstCol="1" bandRow="1"/>
                  <a:tblGrid>
                    <a:gridCol w="1175298">
                      <a:extLst>
                        <a:ext uri="{9D8B030D-6E8A-4147-A177-3AD203B41FA5}">
                          <a16:colId xmlns:a16="http://schemas.microsoft.com/office/drawing/2014/main" val="20000"/>
                        </a:ext>
                      </a:extLst>
                    </a:gridCol>
                    <a:gridCol w="763992">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2000" b="1" dirty="0">
                              <a:effectLst/>
                              <a:latin typeface="Verdana" charset="0"/>
                              <a:ea typeface="Verdana" charset="0"/>
                              <a:cs typeface="Verdana" charset="0"/>
                            </a:rPr>
                            <a:t>Vertex</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Verdana" charset="0"/>
                                    <a:cs typeface="Verdana" charset="0"/>
                                  </a:rPr>
                                  <m:t>𝒙</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Verdana" charset="0"/>
                                    <a:cs typeface="Verdana" charset="0"/>
                                  </a:rPr>
                                  <m:t>𝒚</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𝐶</m:t>
                                </m:r>
                                <m:r>
                                  <a:rPr lang="en-US" sz="2000" i="1">
                                    <a:effectLst/>
                                    <a:latin typeface="Cambria Math" panose="02040503050406030204" pitchFamily="18" charset="0"/>
                                    <a:ea typeface="Verdana" charset="0"/>
                                    <a:cs typeface="Verdana" charset="0"/>
                                  </a:rPr>
                                  <m:t>’’</m:t>
                                </m:r>
                              </m:oMath>
                            </m:oMathPara>
                          </a14:m>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𝐻</m:t>
                                </m:r>
                                <m:r>
                                  <a:rPr lang="en-US" sz="2000" i="1">
                                    <a:effectLst/>
                                    <a:latin typeface="Cambria Math" panose="02040503050406030204" pitchFamily="18" charset="0"/>
                                    <a:ea typeface="Verdana" charset="0"/>
                                    <a:cs typeface="Verdana" charset="0"/>
                                  </a:rPr>
                                  <m:t>’’</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𝑋</m:t>
                                </m:r>
                                <m:r>
                                  <a:rPr lang="en-US" sz="2000" i="1">
                                    <a:effectLst/>
                                    <a:latin typeface="Cambria Math" panose="02040503050406030204" pitchFamily="18" charset="0"/>
                                    <a:ea typeface="Verdana" charset="0"/>
                                    <a:cs typeface="Verdana" charset="0"/>
                                  </a:rPr>
                                  <m:t>’’</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859793969"/>
                  </p:ext>
                </p:extLst>
              </p:nvPr>
            </p:nvGraphicFramePr>
            <p:xfrm>
              <a:off x="5066172" y="2118364"/>
              <a:ext cx="2893695" cy="1219200"/>
            </p:xfrm>
            <a:graphic>
              <a:graphicData uri="http://schemas.openxmlformats.org/drawingml/2006/table">
                <a:tbl>
                  <a:tblPr firstRow="1" firstCol="1" bandRow="1"/>
                  <a:tblGrid>
                    <a:gridCol w="1175298">
                      <a:extLst>
                        <a:ext uri="{9D8B030D-6E8A-4147-A177-3AD203B41FA5}">
                          <a16:colId xmlns:a16="http://schemas.microsoft.com/office/drawing/2014/main" val="20000"/>
                        </a:ext>
                      </a:extLst>
                    </a:gridCol>
                    <a:gridCol w="763992">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304800">
                    <a:tc>
                      <a:txBody>
                        <a:bodyPr/>
                        <a:lstStyle/>
                        <a:p>
                          <a:pPr marL="0" marR="0" algn="ctr">
                            <a:spcBef>
                              <a:spcPts val="0"/>
                            </a:spcBef>
                            <a:spcAft>
                              <a:spcPts val="0"/>
                            </a:spcAft>
                          </a:pPr>
                          <a:r>
                            <a:rPr lang="en-US" sz="2000" b="1" dirty="0">
                              <a:effectLst/>
                              <a:latin typeface="Verdana" charset="0"/>
                              <a:ea typeface="Verdana" charset="0"/>
                              <a:cs typeface="Verdana" charset="0"/>
                            </a:rPr>
                            <a:t>Vertex</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55200" t="-24000" r="-127200" b="-312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3185" t="-24000" r="-1274" b="-312000"/>
                          </a:stretch>
                        </a:blipFill>
                      </a:tcPr>
                    </a:tc>
                    <a:extLst>
                      <a:ext uri="{0D108BD9-81ED-4DB2-BD59-A6C34878D82A}">
                        <a16:rowId xmlns:a16="http://schemas.microsoft.com/office/drawing/2014/main" val="10000"/>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18" t="-121569" r="-147150" b="-205882"/>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18" t="-226000" r="-147150" b="-110000"/>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18" t="-326000" r="-147150" b="-10000"/>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4" name="Rectangle 3"/>
              <p:cNvSpPr/>
              <p:nvPr/>
            </p:nvSpPr>
            <p:spPr>
              <a:xfrm>
                <a:off x="1503188" y="1680601"/>
                <a:ext cx="2282997"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r>
                      <a:rPr lang="en-US" sz="2000" b="1" i="1">
                        <a:latin typeface="Cambria Math" panose="02040503050406030204" pitchFamily="18" charset="0"/>
                        <a:ea typeface="Verdana" charset="0"/>
                        <a:cs typeface="Verdana" charset="0"/>
                      </a:rPr>
                      <m:t>𝑪</m:t>
                    </m:r>
                    <m:r>
                      <a:rPr lang="en-US" sz="2000" b="1" i="1">
                        <a:latin typeface="Cambria Math" panose="02040503050406030204" pitchFamily="18" charset="0"/>
                        <a:ea typeface="Verdana" charset="0"/>
                        <a:cs typeface="Verdana" charset="0"/>
                      </a:rPr>
                      <m:t>′</m:t>
                    </m:r>
                    <m:r>
                      <a:rPr lang="en-US" sz="2000" b="1" i="1">
                        <a:latin typeface="Cambria Math" panose="02040503050406030204" pitchFamily="18" charset="0"/>
                        <a:ea typeface="Verdana" charset="0"/>
                        <a:cs typeface="Verdana" charset="0"/>
                      </a:rPr>
                      <m:t>𝑯</m:t>
                    </m:r>
                    <m:r>
                      <a:rPr lang="en-US" sz="2000" b="1" i="1">
                        <a:latin typeface="Cambria Math" panose="02040503050406030204" pitchFamily="18" charset="0"/>
                        <a:ea typeface="Verdana" charset="0"/>
                        <a:cs typeface="Verdana" charset="0"/>
                      </a:rPr>
                      <m:t>′</m:t>
                    </m:r>
                    <m:r>
                      <a:rPr lang="en-US" sz="2000" b="1" i="1">
                        <a:latin typeface="Cambria Math" panose="02040503050406030204" pitchFamily="18" charset="0"/>
                        <a:ea typeface="Verdana" charset="0"/>
                        <a:cs typeface="Verdana" charset="0"/>
                      </a:rPr>
                      <m:t>𝑿</m:t>
                    </m:r>
                    <m:r>
                      <a:rPr lang="en-US" sz="2000" b="1"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4" name="Rectangle 3"/>
              <p:cNvSpPr>
                <a:spLocks noRot="1" noChangeAspect="1" noMove="1" noResize="1" noEditPoints="1" noAdjustHandles="1" noChangeArrowheads="1" noChangeShapeType="1" noTextEdit="1"/>
              </p:cNvSpPr>
              <p:nvPr/>
            </p:nvSpPr>
            <p:spPr>
              <a:xfrm>
                <a:off x="1503188" y="1680601"/>
                <a:ext cx="2282997" cy="400110"/>
              </a:xfrm>
              <a:prstGeom prst="rect">
                <a:avLst/>
              </a:prstGeom>
              <a:blipFill>
                <a:blip r:embed="rId7"/>
                <a:stretch>
                  <a:fillRect l="-2941"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272935" y="1669331"/>
                <a:ext cx="2480166" cy="400110"/>
              </a:xfrm>
              <a:prstGeom prst="rect">
                <a:avLst/>
              </a:prstGeom>
            </p:spPr>
            <p:txBody>
              <a:bodyPr wrap="none">
                <a:spAutoFit/>
              </a:bodyPr>
              <a:lstStyle/>
              <a:p>
                <a:r>
                  <a:rPr lang="en-US" sz="2000" b="1" dirty="0">
                    <a:latin typeface="Verdana" charset="0"/>
                    <a:ea typeface="Verdana" charset="0"/>
                    <a:cs typeface="Verdana" charset="0"/>
                  </a:rPr>
                  <a:t>Triangle </a:t>
                </a:r>
                <a14:m>
                  <m:oMath xmlns:m="http://schemas.openxmlformats.org/officeDocument/2006/math">
                    <m:r>
                      <a:rPr lang="en-US" sz="2000" b="1" i="1">
                        <a:latin typeface="Cambria Math" panose="02040503050406030204" pitchFamily="18" charset="0"/>
                        <a:ea typeface="Verdana" charset="0"/>
                        <a:cs typeface="Verdana" charset="0"/>
                      </a:rPr>
                      <m:t>𝑪</m:t>
                    </m:r>
                    <m:r>
                      <a:rPr lang="en-US" sz="2000" b="1" i="1">
                        <a:latin typeface="Cambria Math" panose="02040503050406030204" pitchFamily="18" charset="0"/>
                        <a:ea typeface="Verdana" charset="0"/>
                        <a:cs typeface="Verdana" charset="0"/>
                      </a:rPr>
                      <m:t>′′</m:t>
                    </m:r>
                    <m:r>
                      <a:rPr lang="en-US" sz="2000" b="1" i="1">
                        <a:latin typeface="Cambria Math" panose="02040503050406030204" pitchFamily="18" charset="0"/>
                        <a:ea typeface="Verdana" charset="0"/>
                        <a:cs typeface="Verdana" charset="0"/>
                      </a:rPr>
                      <m:t>𝑯</m:t>
                    </m:r>
                    <m:r>
                      <a:rPr lang="en-US" sz="2000" b="1" i="1">
                        <a:latin typeface="Cambria Math" panose="02040503050406030204" pitchFamily="18" charset="0"/>
                        <a:ea typeface="Verdana" charset="0"/>
                        <a:cs typeface="Verdana" charset="0"/>
                      </a:rPr>
                      <m:t>′′</m:t>
                    </m:r>
                    <m:r>
                      <a:rPr lang="en-US" sz="2000" b="1" i="1">
                        <a:latin typeface="Cambria Math" panose="02040503050406030204" pitchFamily="18" charset="0"/>
                        <a:ea typeface="Verdana" charset="0"/>
                        <a:cs typeface="Verdana" charset="0"/>
                      </a:rPr>
                      <m:t>𝑿</m:t>
                    </m:r>
                    <m:r>
                      <a:rPr lang="en-US" sz="2000" b="1"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6" name="Rectangle 5"/>
              <p:cNvSpPr>
                <a:spLocks noRot="1" noChangeAspect="1" noMove="1" noResize="1" noEditPoints="1" noAdjustHandles="1" noChangeArrowheads="1" noChangeShapeType="1" noTextEdit="1"/>
              </p:cNvSpPr>
              <p:nvPr/>
            </p:nvSpPr>
            <p:spPr>
              <a:xfrm>
                <a:off x="5272935" y="1669331"/>
                <a:ext cx="2480166" cy="400110"/>
              </a:xfrm>
              <a:prstGeom prst="rect">
                <a:avLst/>
              </a:prstGeom>
              <a:blipFill>
                <a:blip r:embed="rId8"/>
                <a:stretch>
                  <a:fillRect l="-2703" t="-9231" b="-27692"/>
                </a:stretch>
              </a:blipFill>
            </p:spPr>
            <p:txBody>
              <a:bodyPr/>
              <a:lstStyle/>
              <a:p>
                <a:r>
                  <a:rPr lang="en-US">
                    <a:noFill/>
                  </a:rPr>
                  <a:t> </a:t>
                </a:r>
              </a:p>
            </p:txBody>
          </p:sp>
        </mc:Fallback>
      </mc:AlternateContent>
      <p:sp>
        <p:nvSpPr>
          <p:cNvPr id="7" name="Rectangle 6"/>
          <p:cNvSpPr/>
          <p:nvPr/>
        </p:nvSpPr>
        <p:spPr>
          <a:xfrm>
            <a:off x="465233" y="3628995"/>
            <a:ext cx="11058691" cy="1015663"/>
          </a:xfrm>
          <a:prstGeom prst="rect">
            <a:avLst/>
          </a:prstGeom>
        </p:spPr>
        <p:txBody>
          <a:bodyPr wrap="square">
            <a:spAutoFit/>
          </a:bodyPr>
          <a:lstStyle/>
          <a:p>
            <a:pPr marL="457200" indent="-457200">
              <a:buFont typeface="+mj-lt"/>
              <a:buAutoNum type="alphaLcPeriod" startAt="3"/>
            </a:pPr>
            <a:r>
              <a:rPr lang="en-US" sz="2000" dirty="0">
                <a:latin typeface="Verdana" charset="0"/>
                <a:ea typeface="Verdana" charset="0"/>
                <a:cs typeface="Verdana" charset="0"/>
              </a:rPr>
              <a:t>Discuss with your partner how the tables show the effect of transformations on coordinates.</a:t>
            </a:r>
          </a:p>
          <a:p>
            <a:pPr marL="457200" indent="-457200">
              <a:buFont typeface="+mj-lt"/>
              <a:buAutoNum type="alphaLcPeriod" startAt="3"/>
            </a:pPr>
            <a:endParaRPr lang="en-US" sz="2000" dirty="0">
              <a:latin typeface="Verdana" charset="0"/>
              <a:ea typeface="Verdana" charset="0"/>
              <a:cs typeface="Verdana" charset="0"/>
            </a:endParaRPr>
          </a:p>
        </p:txBody>
      </p:sp>
    </p:spTree>
    <p:extLst>
      <p:ext uri="{BB962C8B-B14F-4D97-AF65-F5344CB8AC3E}">
        <p14:creationId xmlns:p14="http://schemas.microsoft.com/office/powerpoint/2010/main" val="519614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465230" y="162274"/>
                <a:ext cx="11162919" cy="1200329"/>
              </a:xfrm>
              <a:prstGeom prst="rect">
                <a:avLst/>
              </a:prstGeom>
              <a:noFill/>
            </p:spPr>
            <p:txBody>
              <a:bodyPr wrap="square" rtlCol="0">
                <a:spAutoFit/>
              </a:bodyPr>
              <a:lstStyle/>
              <a:p>
                <a:r>
                  <a:rPr lang="en-US" sz="1800" dirty="0">
                    <a:latin typeface="Verdana" charset="0"/>
                    <a:ea typeface="Verdana" charset="0"/>
                    <a:cs typeface="Verdana" charset="0"/>
                  </a:rPr>
                  <a:t>One strategy to apply transformations is to use tables of ordered pairs and then to plot the ordered pairs.</a:t>
                </a:r>
              </a:p>
              <a:p>
                <a:endParaRPr lang="en-US" sz="1800" dirty="0">
                  <a:latin typeface="Verdana" charset="0"/>
                  <a:ea typeface="Verdana" charset="0"/>
                  <a:cs typeface="Verdana" charset="0"/>
                </a:endParaRPr>
              </a:p>
              <a:p>
                <a:pPr marL="457200" indent="-457200">
                  <a:buFont typeface="+mj-lt"/>
                  <a:buAutoNum type="arabicPeriod" startAt="2"/>
                </a:pPr>
                <a:r>
                  <a:rPr lang="en-US" sz="1800" dirty="0">
                    <a:latin typeface="Verdana" charset="0"/>
                    <a:ea typeface="Verdana" charset="0"/>
                    <a:cs typeface="Verdana" charset="0"/>
                  </a:rPr>
                  <a:t>The table of values shows the coordinates of the vertices of quadrilateral </a:t>
                </a:r>
                <a14:m>
                  <m:oMath xmlns:m="http://schemas.openxmlformats.org/officeDocument/2006/math">
                    <m:r>
                      <a:rPr lang="en-US" sz="1800" i="1">
                        <a:latin typeface="Cambria Math" panose="02040503050406030204" pitchFamily="18" charset="0"/>
                        <a:ea typeface="Verdana" charset="0"/>
                        <a:cs typeface="Verdana" charset="0"/>
                      </a:rPr>
                      <m:t>𝑊𝐵𝐾𝑇</m:t>
                    </m:r>
                    <m:r>
                      <a:rPr lang="en-US" sz="1800" i="1">
                        <a:latin typeface="Cambria Math" panose="02040503050406030204" pitchFamily="18" charset="0"/>
                        <a:ea typeface="Verdana" charset="0"/>
                        <a:cs typeface="Verdana" charset="0"/>
                      </a:rPr>
                      <m:t>.</m:t>
                    </m:r>
                  </m:oMath>
                </a14:m>
                <a:r>
                  <a:rPr lang="en-US" sz="1800" dirty="0">
                    <a:latin typeface="Verdana" charset="0"/>
                    <a:ea typeface="Verdana" charset="0"/>
                    <a:cs typeface="Verdana" charset="0"/>
                  </a:rPr>
                  <a:t> </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65230" y="162274"/>
                <a:ext cx="11162919" cy="1200329"/>
              </a:xfrm>
              <a:prstGeom prst="rect">
                <a:avLst/>
              </a:prstGeom>
              <a:blipFill>
                <a:blip r:embed="rId4"/>
                <a:stretch>
                  <a:fillRect l="-437" t="-304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460039079"/>
                  </p:ext>
                </p:extLst>
              </p:nvPr>
            </p:nvGraphicFramePr>
            <p:xfrm>
              <a:off x="3015548" y="1932746"/>
              <a:ext cx="2893695" cy="1470660"/>
            </p:xfrm>
            <a:graphic>
              <a:graphicData uri="http://schemas.openxmlformats.org/drawingml/2006/table">
                <a:tbl>
                  <a:tblPr firstRow="1" firstCol="1" bandRow="1"/>
                  <a:tblGrid>
                    <a:gridCol w="1108918">
                      <a:extLst>
                        <a:ext uri="{9D8B030D-6E8A-4147-A177-3AD203B41FA5}">
                          <a16:colId xmlns:a16="http://schemas.microsoft.com/office/drawing/2014/main" val="20000"/>
                        </a:ext>
                      </a:extLst>
                    </a:gridCol>
                    <a:gridCol w="830372">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𝒙</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𝒚</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𝑊</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−17</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−5</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𝐵</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−11</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−5</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𝐾</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−4</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−11</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𝑇</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−14</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−16</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460039079"/>
                  </p:ext>
                </p:extLst>
              </p:nvPr>
            </p:nvGraphicFramePr>
            <p:xfrm>
              <a:off x="3015548" y="1932746"/>
              <a:ext cx="2893695" cy="1470660"/>
            </p:xfrm>
            <a:graphic>
              <a:graphicData uri="http://schemas.openxmlformats.org/drawingml/2006/table">
                <a:tbl>
                  <a:tblPr firstRow="1" firstCol="1" bandRow="1"/>
                  <a:tblGrid>
                    <a:gridCol w="1108918">
                      <a:extLst>
                        <a:ext uri="{9D8B030D-6E8A-4147-A177-3AD203B41FA5}">
                          <a16:colId xmlns:a16="http://schemas.microsoft.com/office/drawing/2014/main" val="20000"/>
                        </a:ext>
                      </a:extLst>
                    </a:gridCol>
                    <a:gridCol w="830372">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33577" t="-26531" r="-116058" b="-397959"/>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3822" t="-26531" r="-1274" b="-397959"/>
                          </a:stretch>
                        </a:blipFill>
                      </a:tcPr>
                    </a:tc>
                    <a:extLst>
                      <a:ext uri="{0D108BD9-81ED-4DB2-BD59-A6C34878D82A}">
                        <a16:rowId xmlns:a16="http://schemas.microsoft.com/office/drawing/2014/main" val="10000"/>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9" t="-126531" r="-162637" b="-297959"/>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33577" t="-126531" r="-116058" b="-297959"/>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3822" t="-126531" r="-1274" b="-297959"/>
                          </a:stretch>
                        </a:blipFill>
                      </a:tcPr>
                    </a:tc>
                    <a:extLst>
                      <a:ext uri="{0D108BD9-81ED-4DB2-BD59-A6C34878D82A}">
                        <a16:rowId xmlns:a16="http://schemas.microsoft.com/office/drawing/2014/main" val="10001"/>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9" t="-226531" r="-162637" b="-197959"/>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33577" t="-226531" r="-116058" b="-197959"/>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3822" t="-226531" r="-1274" b="-197959"/>
                          </a:stretch>
                        </a:blipFill>
                      </a:tcPr>
                    </a:tc>
                    <a:extLst>
                      <a:ext uri="{0D108BD9-81ED-4DB2-BD59-A6C34878D82A}">
                        <a16:rowId xmlns:a16="http://schemas.microsoft.com/office/drawing/2014/main" val="10002"/>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9" t="-333333" r="-162637" b="-10208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33577" t="-333333" r="-116058" b="-102083"/>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3822" t="-333333" r="-1274" b="-102083"/>
                          </a:stretch>
                        </a:blipFill>
                      </a:tcPr>
                    </a:tc>
                    <a:extLst>
                      <a:ext uri="{0D108BD9-81ED-4DB2-BD59-A6C34878D82A}">
                        <a16:rowId xmlns:a16="http://schemas.microsoft.com/office/drawing/2014/main" val="10003"/>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9" t="-442553" r="-162637" b="-425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33577" t="-442553" r="-116058" b="-425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3822" t="-442553" r="-1274" b="-4255"/>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3" name="Rectangle 2"/>
              <p:cNvSpPr/>
              <p:nvPr/>
            </p:nvSpPr>
            <p:spPr>
              <a:xfrm>
                <a:off x="3077240" y="1535011"/>
                <a:ext cx="2770310" cy="369332"/>
              </a:xfrm>
              <a:prstGeom prst="rect">
                <a:avLst/>
              </a:prstGeom>
            </p:spPr>
            <p:txBody>
              <a:bodyPr wrap="none">
                <a:spAutoFit/>
              </a:bodyPr>
              <a:lstStyle/>
              <a:p>
                <a:r>
                  <a:rPr lang="en-US" sz="1800" b="1" dirty="0">
                    <a:latin typeface="Verdana" charset="0"/>
                    <a:ea typeface="Verdana" charset="0"/>
                    <a:cs typeface="Verdana" charset="0"/>
                  </a:rPr>
                  <a:t>Quadrilateral </a:t>
                </a:r>
                <a14:m>
                  <m:oMath xmlns:m="http://schemas.openxmlformats.org/officeDocument/2006/math">
                    <m:r>
                      <a:rPr lang="en-US" sz="1800" b="1" i="1">
                        <a:latin typeface="Cambria Math" panose="02040503050406030204" pitchFamily="18" charset="0"/>
                        <a:ea typeface="Verdana" charset="0"/>
                        <a:cs typeface="Verdana" charset="0"/>
                      </a:rPr>
                      <m:t>𝑾𝑩𝑲𝑻</m:t>
                    </m:r>
                  </m:oMath>
                </a14:m>
                <a:r>
                  <a:rPr lang="en-US" sz="18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3077240" y="1535011"/>
                <a:ext cx="2770310" cy="369332"/>
              </a:xfrm>
              <a:prstGeom prst="rect">
                <a:avLst/>
              </a:prstGeom>
              <a:blipFill>
                <a:blip r:embed="rId6"/>
                <a:stretch>
                  <a:fillRect l="-1982"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465231" y="3466100"/>
                <a:ext cx="11162918" cy="1200329"/>
              </a:xfrm>
              <a:prstGeom prst="rect">
                <a:avLst/>
              </a:prstGeom>
            </p:spPr>
            <p:txBody>
              <a:bodyPr wrap="square">
                <a:spAutoFit/>
              </a:bodyPr>
              <a:lstStyle/>
              <a:p>
                <a:pPr marL="342900" indent="-342900">
                  <a:buFont typeface="+mj-lt"/>
                  <a:buAutoNum type="alphaLcPeriod"/>
                </a:pPr>
                <a:r>
                  <a:rPr lang="en-US" sz="1800" dirty="0">
                    <a:latin typeface="Verdana" charset="0"/>
                    <a:ea typeface="Verdana" charset="0"/>
                    <a:cs typeface="Verdana" charset="0"/>
                  </a:rPr>
                  <a:t>Complete the table of values for the given sequence of transformations of quadrilateral </a:t>
                </a:r>
                <a14:m>
                  <m:oMath xmlns:m="http://schemas.openxmlformats.org/officeDocument/2006/math">
                    <m:r>
                      <a:rPr lang="en-US" sz="1800" i="1">
                        <a:latin typeface="Cambria Math" panose="02040503050406030204" pitchFamily="18" charset="0"/>
                        <a:ea typeface="Verdana" charset="0"/>
                        <a:cs typeface="Verdana" charset="0"/>
                      </a:rPr>
                      <m:t>𝑊𝐵𝐾𝑇</m:t>
                    </m:r>
                    <m:r>
                      <a:rPr lang="en-US" sz="1800" i="1">
                        <a:latin typeface="Cambria Math" panose="02040503050406030204" pitchFamily="18" charset="0"/>
                        <a:ea typeface="Verdana" charset="0"/>
                        <a:cs typeface="Verdana" charset="0"/>
                      </a:rPr>
                      <m:t>.</m:t>
                    </m:r>
                  </m:oMath>
                </a14:m>
                <a:r>
                  <a:rPr lang="en-US" sz="1800" dirty="0">
                    <a:latin typeface="Verdana" charset="0"/>
                    <a:ea typeface="Verdana" charset="0"/>
                    <a:cs typeface="Verdana" charset="0"/>
                  </a:rPr>
                  <a:t> </a:t>
                </a:r>
              </a:p>
              <a:p>
                <a:pPr lvl="2"/>
                <a:r>
                  <a:rPr lang="en-US" sz="1800" dirty="0">
                    <a:latin typeface="Verdana" charset="0"/>
                    <a:ea typeface="Verdana" charset="0"/>
                    <a:cs typeface="Verdana" charset="0"/>
                  </a:rPr>
                  <a:t>	Rotate quadrilateral </a:t>
                </a:r>
                <a14:m>
                  <m:oMath xmlns:m="http://schemas.openxmlformats.org/officeDocument/2006/math">
                    <m:r>
                      <a:rPr lang="en-US" sz="1800" i="1">
                        <a:latin typeface="Cambria Math" panose="02040503050406030204" pitchFamily="18" charset="0"/>
                        <a:ea typeface="Verdana" charset="0"/>
                        <a:cs typeface="Verdana" charset="0"/>
                      </a:rPr>
                      <m:t>𝑊𝐵𝐾𝑇</m:t>
                    </m:r>
                  </m:oMath>
                </a14:m>
                <a:r>
                  <a:rPr lang="en-US" sz="1800" dirty="0">
                    <a:latin typeface="Verdana" charset="0"/>
                    <a:ea typeface="Verdana" charset="0"/>
                    <a:cs typeface="Verdana" charset="0"/>
                  </a:rPr>
                  <a:t> </a:t>
                </a:r>
                <a14:m>
                  <m:oMath xmlns:m="http://schemas.openxmlformats.org/officeDocument/2006/math">
                    <m:r>
                      <a:rPr lang="en-US" sz="1800" i="1">
                        <a:latin typeface="Cambria Math" panose="02040503050406030204" pitchFamily="18" charset="0"/>
                        <a:ea typeface="Verdana" charset="0"/>
                        <a:cs typeface="Verdana" charset="0"/>
                      </a:rPr>
                      <m:t>180°</m:t>
                    </m:r>
                  </m:oMath>
                </a14:m>
                <a:r>
                  <a:rPr lang="en-US" sz="1800" dirty="0">
                    <a:latin typeface="Verdana" charset="0"/>
                    <a:ea typeface="Verdana" charset="0"/>
                    <a:cs typeface="Verdana" charset="0"/>
                  </a:rPr>
                  <a:t> counterclockwise about the origin, then translate it right </a:t>
                </a:r>
                <a14:m>
                  <m:oMath xmlns:m="http://schemas.openxmlformats.org/officeDocument/2006/math">
                    <m:r>
                      <a:rPr lang="en-US" sz="1800" i="1">
                        <a:latin typeface="Cambria Math" panose="02040503050406030204" pitchFamily="18" charset="0"/>
                        <a:ea typeface="Verdana" charset="0"/>
                        <a:cs typeface="Verdana" charset="0"/>
                      </a:rPr>
                      <m:t>7</m:t>
                    </m:r>
                  </m:oMath>
                </a14:m>
                <a:r>
                  <a:rPr lang="en-US" sz="1800" dirty="0">
                    <a:latin typeface="Verdana" charset="0"/>
                    <a:ea typeface="Verdana" charset="0"/>
                    <a:cs typeface="Verdana" charset="0"/>
                  </a:rPr>
                  <a:t> down </a:t>
                </a:r>
                <a14:m>
                  <m:oMath xmlns:m="http://schemas.openxmlformats.org/officeDocument/2006/math">
                    <m:r>
                      <a:rPr lang="en-US" sz="1800" i="1">
                        <a:latin typeface="Cambria Math" panose="02040503050406030204" pitchFamily="18" charset="0"/>
                        <a:ea typeface="Verdana" charset="0"/>
                        <a:cs typeface="Verdana" charset="0"/>
                      </a:rPr>
                      <m:t>4</m:t>
                    </m:r>
                  </m:oMath>
                </a14:m>
                <a:r>
                  <a:rPr lang="en-US" sz="1800" dirty="0">
                    <a:latin typeface="Verdana" charset="0"/>
                    <a:ea typeface="Verdana" charset="0"/>
                    <a:cs typeface="Verdana" charset="0"/>
                  </a:rPr>
                  <a:t>.</a:t>
                </a:r>
              </a:p>
            </p:txBody>
          </p:sp>
        </mc:Choice>
        <mc:Fallback xmlns="">
          <p:sp>
            <p:nvSpPr>
              <p:cNvPr id="4" name="Rectangle 3"/>
              <p:cNvSpPr>
                <a:spLocks noRot="1" noChangeAspect="1" noMove="1" noResize="1" noEditPoints="1" noAdjustHandles="1" noChangeArrowheads="1" noChangeShapeType="1" noTextEdit="1"/>
              </p:cNvSpPr>
              <p:nvPr/>
            </p:nvSpPr>
            <p:spPr>
              <a:xfrm>
                <a:off x="465231" y="3466100"/>
                <a:ext cx="11162918" cy="1200329"/>
              </a:xfrm>
              <a:prstGeom prst="rect">
                <a:avLst/>
              </a:prstGeom>
              <a:blipFill>
                <a:blip r:embed="rId7"/>
                <a:stretch>
                  <a:fillRect l="-437" t="-3061" b="-7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B88D826B-E889-5344-B701-C74A417B1215}"/>
                  </a:ext>
                </a:extLst>
              </p:cNvPr>
              <p:cNvSpPr/>
              <p:nvPr/>
            </p:nvSpPr>
            <p:spPr>
              <a:xfrm>
                <a:off x="1125514" y="4702305"/>
                <a:ext cx="3007555" cy="369332"/>
              </a:xfrm>
              <a:prstGeom prst="rect">
                <a:avLst/>
              </a:prstGeom>
            </p:spPr>
            <p:txBody>
              <a:bodyPr wrap="none">
                <a:spAutoFit/>
              </a:bodyPr>
              <a:lstStyle/>
              <a:p>
                <a:r>
                  <a:rPr lang="es-ES" sz="1800" b="1" dirty="0" err="1">
                    <a:latin typeface="Verdana" charset="0"/>
                    <a:ea typeface="Verdana" charset="0"/>
                    <a:cs typeface="Verdana" charset="0"/>
                  </a:rPr>
                  <a:t>Quadrilateral</a:t>
                </a:r>
                <a:r>
                  <a:rPr lang="es-ES" sz="1800" b="1" dirty="0">
                    <a:latin typeface="Verdana" charset="0"/>
                    <a:ea typeface="Verdana" charset="0"/>
                    <a:cs typeface="Verdana" charset="0"/>
                  </a:rPr>
                  <a:t> </a:t>
                </a:r>
                <a14:m>
                  <m:oMath xmlns:m="http://schemas.openxmlformats.org/officeDocument/2006/math">
                    <m:r>
                      <a:rPr lang="en-US" sz="1800" b="1" i="1">
                        <a:latin typeface="Cambria Math" panose="02040503050406030204" pitchFamily="18" charset="0"/>
                        <a:ea typeface="Verdana" charset="0"/>
                        <a:cs typeface="Verdana" charset="0"/>
                      </a:rPr>
                      <m:t>𝑾</m:t>
                    </m:r>
                    <m:r>
                      <a:rPr lang="es-ES" sz="1800" b="1" i="1">
                        <a:latin typeface="Cambria Math" panose="02040503050406030204" pitchFamily="18" charset="0"/>
                        <a:ea typeface="Verdana" charset="0"/>
                        <a:cs typeface="Verdana" charset="0"/>
                      </a:rPr>
                      <m:t>′</m:t>
                    </m:r>
                    <m:r>
                      <a:rPr lang="en-US" sz="1800" b="1" i="1">
                        <a:latin typeface="Cambria Math" panose="02040503050406030204" pitchFamily="18" charset="0"/>
                        <a:ea typeface="Verdana" charset="0"/>
                        <a:cs typeface="Verdana" charset="0"/>
                      </a:rPr>
                      <m:t>𝑩</m:t>
                    </m:r>
                    <m:r>
                      <a:rPr lang="es-ES" sz="1800" b="1" i="1">
                        <a:latin typeface="Cambria Math" panose="02040503050406030204" pitchFamily="18" charset="0"/>
                        <a:ea typeface="Verdana" charset="0"/>
                        <a:cs typeface="Verdana" charset="0"/>
                      </a:rPr>
                      <m:t>′</m:t>
                    </m:r>
                    <m:r>
                      <a:rPr lang="en-US" sz="1800" b="1" i="1">
                        <a:latin typeface="Cambria Math" panose="02040503050406030204" pitchFamily="18" charset="0"/>
                        <a:ea typeface="Verdana" charset="0"/>
                        <a:cs typeface="Verdana" charset="0"/>
                      </a:rPr>
                      <m:t>𝑲</m:t>
                    </m:r>
                    <m:r>
                      <a:rPr lang="es-ES" sz="1800" b="1" i="1">
                        <a:latin typeface="Cambria Math" panose="02040503050406030204" pitchFamily="18" charset="0"/>
                        <a:ea typeface="Verdana" charset="0"/>
                        <a:cs typeface="Verdana" charset="0"/>
                      </a:rPr>
                      <m:t>′</m:t>
                    </m:r>
                    <m:r>
                      <a:rPr lang="en-US" sz="1800" b="1" i="1">
                        <a:latin typeface="Cambria Math" panose="02040503050406030204" pitchFamily="18" charset="0"/>
                        <a:ea typeface="Verdana" charset="0"/>
                        <a:cs typeface="Verdana" charset="0"/>
                      </a:rPr>
                      <m:t>𝑻</m:t>
                    </m:r>
                    <m:r>
                      <a:rPr lang="es-ES" sz="1800" b="1" i="1">
                        <a:latin typeface="Cambria Math" panose="02040503050406030204" pitchFamily="18" charset="0"/>
                        <a:ea typeface="Verdana" charset="0"/>
                        <a:cs typeface="Verdana" charset="0"/>
                      </a:rPr>
                      <m:t>′</m:t>
                    </m:r>
                  </m:oMath>
                </a14:m>
                <a:r>
                  <a:rPr lang="en-US" sz="1800" dirty="0">
                    <a:latin typeface="Verdana" charset="0"/>
                    <a:ea typeface="Verdana" charset="0"/>
                    <a:cs typeface="Verdana" charset="0"/>
                  </a:rPr>
                  <a:t> </a:t>
                </a:r>
              </a:p>
            </p:txBody>
          </p:sp>
        </mc:Choice>
        <mc:Fallback xmlns="">
          <p:sp>
            <p:nvSpPr>
              <p:cNvPr id="9" name="Rectangle 8">
                <a:extLst>
                  <a:ext uri="{FF2B5EF4-FFF2-40B4-BE49-F238E27FC236}">
                    <a16:creationId xmlns:a16="http://schemas.microsoft.com/office/drawing/2014/main" id="{B88D826B-E889-5344-B701-C74A417B1215}"/>
                  </a:ext>
                </a:extLst>
              </p:cNvPr>
              <p:cNvSpPr>
                <a:spLocks noRot="1" noChangeAspect="1" noMove="1" noResize="1" noEditPoints="1" noAdjustHandles="1" noChangeArrowheads="1" noChangeShapeType="1" noTextEdit="1"/>
              </p:cNvSpPr>
              <p:nvPr/>
            </p:nvSpPr>
            <p:spPr>
              <a:xfrm>
                <a:off x="1125514" y="4702305"/>
                <a:ext cx="3007555" cy="369332"/>
              </a:xfrm>
              <a:prstGeom prst="rect">
                <a:avLst/>
              </a:prstGeom>
              <a:blipFill>
                <a:blip r:embed="rId8"/>
                <a:stretch>
                  <a:fillRect l="-182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5048243-56E2-B343-9623-25DEA4567583}"/>
                  </a:ext>
                </a:extLst>
              </p:cNvPr>
              <p:cNvSpPr/>
              <p:nvPr/>
            </p:nvSpPr>
            <p:spPr>
              <a:xfrm>
                <a:off x="4372818" y="4661620"/>
                <a:ext cx="3393878" cy="400110"/>
              </a:xfrm>
              <a:prstGeom prst="rect">
                <a:avLst/>
              </a:prstGeom>
            </p:spPr>
            <p:txBody>
              <a:bodyPr wrap="none">
                <a:spAutoFit/>
              </a:bodyPr>
              <a:lstStyle/>
              <a:p>
                <a:r>
                  <a:rPr lang="es-ES" sz="1800" b="1" dirty="0" err="1">
                    <a:latin typeface="Verdana" charset="0"/>
                    <a:ea typeface="Verdana" charset="0"/>
                    <a:cs typeface="Verdana" charset="0"/>
                  </a:rPr>
                  <a:t>Quadrilateral</a:t>
                </a:r>
                <a:r>
                  <a:rPr lang="es-ES" sz="2000" b="1" dirty="0">
                    <a:latin typeface="Verdana" charset="0"/>
                    <a:ea typeface="Verdana" charset="0"/>
                    <a:cs typeface="Verdana" charset="0"/>
                  </a:rPr>
                  <a:t> </a:t>
                </a:r>
                <a14:m>
                  <m:oMath xmlns:m="http://schemas.openxmlformats.org/officeDocument/2006/math">
                    <m:r>
                      <a:rPr lang="en-US" sz="2000" b="1" i="1">
                        <a:latin typeface="Cambria Math" panose="02040503050406030204" pitchFamily="18" charset="0"/>
                        <a:ea typeface="Verdana" charset="0"/>
                        <a:cs typeface="Verdana" charset="0"/>
                      </a:rPr>
                      <m:t>𝑾</m:t>
                    </m:r>
                    <m:r>
                      <a:rPr lang="es-ES" sz="2000" b="1" i="1">
                        <a:latin typeface="Cambria Math" panose="02040503050406030204" pitchFamily="18" charset="0"/>
                        <a:ea typeface="Verdana" charset="0"/>
                        <a:cs typeface="Verdana" charset="0"/>
                      </a:rPr>
                      <m:t>′′</m:t>
                    </m:r>
                    <m:r>
                      <a:rPr lang="en-US" sz="2000" b="1" i="1">
                        <a:latin typeface="Cambria Math" panose="02040503050406030204" pitchFamily="18" charset="0"/>
                        <a:ea typeface="Verdana" charset="0"/>
                        <a:cs typeface="Verdana" charset="0"/>
                      </a:rPr>
                      <m:t>𝑩</m:t>
                    </m:r>
                    <m:r>
                      <a:rPr lang="es-ES" sz="2000" b="1" i="1">
                        <a:latin typeface="Cambria Math" panose="02040503050406030204" pitchFamily="18" charset="0"/>
                        <a:ea typeface="Verdana" charset="0"/>
                        <a:cs typeface="Verdana" charset="0"/>
                      </a:rPr>
                      <m:t>′′</m:t>
                    </m:r>
                    <m:r>
                      <a:rPr lang="en-US" sz="2000" b="1" i="1">
                        <a:latin typeface="Cambria Math" panose="02040503050406030204" pitchFamily="18" charset="0"/>
                        <a:ea typeface="Verdana" charset="0"/>
                        <a:cs typeface="Verdana" charset="0"/>
                      </a:rPr>
                      <m:t>𝑲</m:t>
                    </m:r>
                    <m:r>
                      <a:rPr lang="es-ES" sz="2000" b="1" i="1">
                        <a:latin typeface="Cambria Math" panose="02040503050406030204" pitchFamily="18" charset="0"/>
                        <a:ea typeface="Verdana" charset="0"/>
                        <a:cs typeface="Verdana" charset="0"/>
                      </a:rPr>
                      <m:t>′′</m:t>
                    </m:r>
                    <m:r>
                      <a:rPr lang="en-US" sz="2000" b="1" i="1">
                        <a:latin typeface="Cambria Math" panose="02040503050406030204" pitchFamily="18" charset="0"/>
                        <a:ea typeface="Verdana" charset="0"/>
                        <a:cs typeface="Verdana" charset="0"/>
                      </a:rPr>
                      <m:t>𝑻</m:t>
                    </m:r>
                    <m:r>
                      <a:rPr lang="es-ES" sz="2000" b="1"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10" name="Rectangle 9">
                <a:extLst>
                  <a:ext uri="{FF2B5EF4-FFF2-40B4-BE49-F238E27FC236}">
                    <a16:creationId xmlns:a16="http://schemas.microsoft.com/office/drawing/2014/main" id="{05048243-56E2-B343-9623-25DEA4567583}"/>
                  </a:ext>
                </a:extLst>
              </p:cNvPr>
              <p:cNvSpPr>
                <a:spLocks noRot="1" noChangeAspect="1" noMove="1" noResize="1" noEditPoints="1" noAdjustHandles="1" noChangeArrowheads="1" noChangeShapeType="1" noTextEdit="1"/>
              </p:cNvSpPr>
              <p:nvPr/>
            </p:nvSpPr>
            <p:spPr>
              <a:xfrm>
                <a:off x="4372818" y="4661620"/>
                <a:ext cx="3393878" cy="400110"/>
              </a:xfrm>
              <a:prstGeom prst="rect">
                <a:avLst/>
              </a:prstGeom>
              <a:blipFill>
                <a:blip r:embed="rId9"/>
                <a:stretch>
                  <a:fillRect l="-1436" t="-3077"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1D10B92-A812-B84B-A7F8-ACBDAE81C2D2}"/>
                  </a:ext>
                </a:extLst>
              </p:cNvPr>
              <p:cNvGraphicFramePr>
                <a:graphicFrameLocks noGrp="1"/>
              </p:cNvGraphicFramePr>
              <p:nvPr>
                <p:extLst>
                  <p:ext uri="{D42A27DB-BD31-4B8C-83A1-F6EECF244321}">
                    <p14:modId xmlns:p14="http://schemas.microsoft.com/office/powerpoint/2010/main" val="664686399"/>
                  </p:ext>
                </p:extLst>
              </p:nvPr>
            </p:nvGraphicFramePr>
            <p:xfrm>
              <a:off x="1125514" y="5107514"/>
              <a:ext cx="2893695" cy="1470660"/>
            </p:xfrm>
            <a:graphic>
              <a:graphicData uri="http://schemas.openxmlformats.org/drawingml/2006/table">
                <a:tbl>
                  <a:tblPr firstRow="1" firstCol="1" bandRow="1"/>
                  <a:tblGrid>
                    <a:gridCol w="1166921">
                      <a:extLst>
                        <a:ext uri="{9D8B030D-6E8A-4147-A177-3AD203B41FA5}">
                          <a16:colId xmlns:a16="http://schemas.microsoft.com/office/drawing/2014/main" val="20000"/>
                        </a:ext>
                      </a:extLst>
                    </a:gridCol>
                    <a:gridCol w="772369">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Vertex</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𝒙</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𝒚</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Times New Roman" charset="0"/>
                                  </a:rPr>
                                  <m:t>𝑊</m:t>
                                </m:r>
                                <m:r>
                                  <a:rPr lang="en-US" sz="1800" i="1">
                                    <a:solidFill>
                                      <a:srgbClr val="000000"/>
                                    </a:solidFill>
                                    <a:effectLst/>
                                    <a:latin typeface="Cambria Math" charset="0"/>
                                    <a:ea typeface="Times New Roman" charset="0"/>
                                    <a:cs typeface="Times New Roman" charset="0"/>
                                  </a:rPr>
                                  <m:t>′</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Times New Roman" charset="0"/>
                                  </a:rPr>
                                  <m:t>𝐵</m:t>
                                </m:r>
                                <m:r>
                                  <a:rPr lang="en-US" sz="1800" i="1">
                                    <a:solidFill>
                                      <a:srgbClr val="000000"/>
                                    </a:solidFill>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Times New Roman" charset="0"/>
                                  </a:rPr>
                                  <m:t>𝐾</m:t>
                                </m:r>
                                <m:r>
                                  <a:rPr lang="en-US" sz="1800" i="1">
                                    <a:solidFill>
                                      <a:srgbClr val="000000"/>
                                    </a:solidFill>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Times New Roman" charset="0"/>
                                  </a:rPr>
                                  <m:t>𝑇</m:t>
                                </m:r>
                                <m:r>
                                  <a:rPr lang="en-US" sz="1800" i="1">
                                    <a:solidFill>
                                      <a:srgbClr val="000000"/>
                                    </a:solidFill>
                                    <a:effectLst/>
                                    <a:latin typeface="Cambria Math" charset="0"/>
                                    <a:ea typeface="Times New Roman" charset="0"/>
                                    <a:cs typeface="Times New Roman"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i="1" dirty="0">
                              <a:effectLst/>
                              <a:latin typeface="Cambria Math"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11" name="Table 10">
                <a:extLst>
                  <a:ext uri="{FF2B5EF4-FFF2-40B4-BE49-F238E27FC236}">
                    <a16:creationId xmlns:a16="http://schemas.microsoft.com/office/drawing/2014/main" id="{01D10B92-A812-B84B-A7F8-ACBDAE81C2D2}"/>
                  </a:ext>
                </a:extLst>
              </p:cNvPr>
              <p:cNvGraphicFramePr>
                <a:graphicFrameLocks noGrp="1"/>
              </p:cNvGraphicFramePr>
              <p:nvPr>
                <p:extLst>
                  <p:ext uri="{D42A27DB-BD31-4B8C-83A1-F6EECF244321}">
                    <p14:modId xmlns:p14="http://schemas.microsoft.com/office/powerpoint/2010/main" val="664686399"/>
                  </p:ext>
                </p:extLst>
              </p:nvPr>
            </p:nvGraphicFramePr>
            <p:xfrm>
              <a:off x="1125514" y="5107514"/>
              <a:ext cx="2893695" cy="1470660"/>
            </p:xfrm>
            <a:graphic>
              <a:graphicData uri="http://schemas.openxmlformats.org/drawingml/2006/table">
                <a:tbl>
                  <a:tblPr firstRow="1" firstCol="1" bandRow="1"/>
                  <a:tblGrid>
                    <a:gridCol w="1166921">
                      <a:extLst>
                        <a:ext uri="{9D8B030D-6E8A-4147-A177-3AD203B41FA5}">
                          <a16:colId xmlns:a16="http://schemas.microsoft.com/office/drawing/2014/main" val="20000"/>
                        </a:ext>
                      </a:extLst>
                    </a:gridCol>
                    <a:gridCol w="772369">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Vertex</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0"/>
                          <a:stretch>
                            <a:fillRect l="-151969" t="-24490" r="-125197" b="-4020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0"/>
                          <a:stretch>
                            <a:fillRect l="-203822" t="-24490" r="-1274" b="-402041"/>
                          </a:stretch>
                        </a:blipFill>
                      </a:tcPr>
                    </a:tc>
                    <a:extLst>
                      <a:ext uri="{0D108BD9-81ED-4DB2-BD59-A6C34878D82A}">
                        <a16:rowId xmlns:a16="http://schemas.microsoft.com/office/drawing/2014/main" val="10000"/>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0"/>
                          <a:stretch>
                            <a:fillRect l="-521" t="-122000" r="-148958" b="-294000"/>
                          </a:stretch>
                        </a:blipFill>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0"/>
                          <a:stretch>
                            <a:fillRect l="-521" t="-226531" r="-148958" b="-200000"/>
                          </a:stretch>
                        </a:blipFill>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0"/>
                          <a:stretch>
                            <a:fillRect l="-521" t="-340426" r="-148958" b="-108511"/>
                          </a:stretch>
                        </a:blipFill>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0"/>
                          <a:stretch>
                            <a:fillRect l="-521" t="-431250" r="-148958" b="-6250"/>
                          </a:stretch>
                        </a:blipFill>
                      </a:tcPr>
                    </a:tc>
                    <a:tc>
                      <a:txBody>
                        <a:bodyPr/>
                        <a:lstStyle/>
                        <a:p>
                          <a:pPr marL="0" marR="0" algn="ctr">
                            <a:spcBef>
                              <a:spcPts val="0"/>
                            </a:spcBef>
                            <a:spcAft>
                              <a:spcPts val="0"/>
                            </a:spcAft>
                          </a:pPr>
                          <a:r>
                            <a:rPr lang="en-US" sz="1800" i="1" dirty="0">
                              <a:effectLst/>
                              <a:latin typeface="Cambria Math"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1A9E8438-3E29-DE46-86CB-DDF62150CC67}"/>
                  </a:ext>
                </a:extLst>
              </p:cNvPr>
              <p:cNvGraphicFramePr>
                <a:graphicFrameLocks noGrp="1"/>
              </p:cNvGraphicFramePr>
              <p:nvPr>
                <p:extLst>
                  <p:ext uri="{D42A27DB-BD31-4B8C-83A1-F6EECF244321}">
                    <p14:modId xmlns:p14="http://schemas.microsoft.com/office/powerpoint/2010/main" val="112942864"/>
                  </p:ext>
                </p:extLst>
              </p:nvPr>
            </p:nvGraphicFramePr>
            <p:xfrm>
              <a:off x="4695802" y="5071637"/>
              <a:ext cx="2628900" cy="1470660"/>
            </p:xfrm>
            <a:graphic>
              <a:graphicData uri="http://schemas.openxmlformats.org/drawingml/2006/table">
                <a:tbl>
                  <a:tblPr firstRow="1" firstCol="1" bandRow="1"/>
                  <a:tblGrid>
                    <a:gridCol w="1075911">
                      <a:extLst>
                        <a:ext uri="{9D8B030D-6E8A-4147-A177-3AD203B41FA5}">
                          <a16:colId xmlns:a16="http://schemas.microsoft.com/office/drawing/2014/main" val="20000"/>
                        </a:ext>
                      </a:extLst>
                    </a:gridCol>
                    <a:gridCol w="795130">
                      <a:extLst>
                        <a:ext uri="{9D8B030D-6E8A-4147-A177-3AD203B41FA5}">
                          <a16:colId xmlns:a16="http://schemas.microsoft.com/office/drawing/2014/main" val="20001"/>
                        </a:ext>
                      </a:extLst>
                    </a:gridCol>
                    <a:gridCol w="757859">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𝒙</m:t>
                                </m:r>
                              </m:oMath>
                            </m:oMathPara>
                          </a14:m>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b="1" i="1">
                                    <a:effectLst/>
                                    <a:latin typeface="Cambria Math" charset="0"/>
                                    <a:ea typeface="Times New Roman" charset="0"/>
                                    <a:cs typeface="Times New Roman" charset="0"/>
                                  </a:rPr>
                                  <m:t>𝒚</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Arial" charset="0"/>
                                  </a:rPr>
                                  <m:t>𝑊</m:t>
                                </m:r>
                                <m:r>
                                  <a:rPr lang="en-US" sz="1800" i="1">
                                    <a:solidFill>
                                      <a:srgbClr val="000000"/>
                                    </a:solidFill>
                                    <a:effectLst/>
                                    <a:latin typeface="Cambria Math" charset="0"/>
                                    <a:ea typeface="Times New Roman" charset="0"/>
                                    <a:cs typeface="Arial"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Arial" charset="0"/>
                                  </a:rPr>
                                  <m:t>𝐵</m:t>
                                </m:r>
                                <m:r>
                                  <a:rPr lang="en-US" sz="1800" i="1">
                                    <a:solidFill>
                                      <a:srgbClr val="000000"/>
                                    </a:solidFill>
                                    <a:effectLst/>
                                    <a:latin typeface="Cambria Math" charset="0"/>
                                    <a:ea typeface="Times New Roman" charset="0"/>
                                    <a:cs typeface="Arial"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Arial" charset="0"/>
                                  </a:rPr>
                                  <m:t>𝐾</m:t>
                                </m:r>
                                <m:r>
                                  <a:rPr lang="en-US" sz="1800" i="1">
                                    <a:solidFill>
                                      <a:srgbClr val="000000"/>
                                    </a:solidFill>
                                    <a:effectLst/>
                                    <a:latin typeface="Cambria Math" charset="0"/>
                                    <a:ea typeface="Times New Roman" charset="0"/>
                                    <a:cs typeface="Arial"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charset="0"/>
                                    <a:ea typeface="Times New Roman" charset="0"/>
                                    <a:cs typeface="Arial" charset="0"/>
                                  </a:rPr>
                                  <m:t>𝑇</m:t>
                                </m:r>
                                <m:r>
                                  <a:rPr lang="en-US" sz="1800" i="1">
                                    <a:solidFill>
                                      <a:srgbClr val="000000"/>
                                    </a:solidFill>
                                    <a:effectLst/>
                                    <a:latin typeface="Cambria Math" charset="0"/>
                                    <a:ea typeface="Times New Roman" charset="0"/>
                                    <a:cs typeface="Arial" charset="0"/>
                                  </a:rPr>
                                  <m:t>′′</m:t>
                                </m:r>
                              </m:oMath>
                            </m:oMathPara>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i="1">
                              <a:effectLst/>
                              <a:latin typeface="Cambria Math"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13" name="Table 12">
                <a:extLst>
                  <a:ext uri="{FF2B5EF4-FFF2-40B4-BE49-F238E27FC236}">
                    <a16:creationId xmlns:a16="http://schemas.microsoft.com/office/drawing/2014/main" id="{1A9E8438-3E29-DE46-86CB-DDF62150CC67}"/>
                  </a:ext>
                </a:extLst>
              </p:cNvPr>
              <p:cNvGraphicFramePr>
                <a:graphicFrameLocks noGrp="1"/>
              </p:cNvGraphicFramePr>
              <p:nvPr>
                <p:extLst>
                  <p:ext uri="{D42A27DB-BD31-4B8C-83A1-F6EECF244321}">
                    <p14:modId xmlns:p14="http://schemas.microsoft.com/office/powerpoint/2010/main" val="112942864"/>
                  </p:ext>
                </p:extLst>
              </p:nvPr>
            </p:nvGraphicFramePr>
            <p:xfrm>
              <a:off x="4695802" y="5071637"/>
              <a:ext cx="2628900" cy="1470660"/>
            </p:xfrm>
            <a:graphic>
              <a:graphicData uri="http://schemas.openxmlformats.org/drawingml/2006/table">
                <a:tbl>
                  <a:tblPr firstRow="1" firstCol="1" bandRow="1"/>
                  <a:tblGrid>
                    <a:gridCol w="1075911">
                      <a:extLst>
                        <a:ext uri="{9D8B030D-6E8A-4147-A177-3AD203B41FA5}">
                          <a16:colId xmlns:a16="http://schemas.microsoft.com/office/drawing/2014/main" val="20000"/>
                        </a:ext>
                      </a:extLst>
                    </a:gridCol>
                    <a:gridCol w="795130">
                      <a:extLst>
                        <a:ext uri="{9D8B030D-6E8A-4147-A177-3AD203B41FA5}">
                          <a16:colId xmlns:a16="http://schemas.microsoft.com/office/drawing/2014/main" val="20001"/>
                        </a:ext>
                      </a:extLst>
                    </a:gridCol>
                    <a:gridCol w="757859">
                      <a:extLst>
                        <a:ext uri="{9D8B030D-6E8A-4147-A177-3AD203B41FA5}">
                          <a16:colId xmlns:a16="http://schemas.microsoft.com/office/drawing/2014/main" val="20002"/>
                        </a:ext>
                      </a:extLst>
                    </a:gridCol>
                  </a:tblGrid>
                  <a:tr h="298450">
                    <a:tc>
                      <a:txBody>
                        <a:bodyPr/>
                        <a:lstStyle/>
                        <a:p>
                          <a:pPr marL="0" marR="0" algn="ctr">
                            <a:spcBef>
                              <a:spcPts val="0"/>
                            </a:spcBef>
                            <a:spcAft>
                              <a:spcPts val="0"/>
                            </a:spcAft>
                          </a:pPr>
                          <a:r>
                            <a:rPr lang="en-US" sz="1800" b="1">
                              <a:effectLst/>
                              <a:latin typeface="Verdana" charset="0"/>
                              <a:ea typeface="Times New Roman" charset="0"/>
                              <a:cs typeface="Times New Roman" charset="0"/>
                            </a:rPr>
                            <a:t>Vertex</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1"/>
                          <a:stretch>
                            <a:fillRect l="-136923" t="-24490" r="-97692" b="-4020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1"/>
                          <a:stretch>
                            <a:fillRect l="-246400" t="-24490" r="-1600" b="-402041"/>
                          </a:stretch>
                        </a:blipFill>
                      </a:tcPr>
                    </a:tc>
                    <a:extLst>
                      <a:ext uri="{0D108BD9-81ED-4DB2-BD59-A6C34878D82A}">
                        <a16:rowId xmlns:a16="http://schemas.microsoft.com/office/drawing/2014/main" val="10000"/>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1"/>
                          <a:stretch>
                            <a:fillRect l="-565" t="-122000" r="-145198" b="-294000"/>
                          </a:stretch>
                        </a:blipFill>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45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1"/>
                          <a:stretch>
                            <a:fillRect l="-565" t="-226531" r="-145198" b="-200000"/>
                          </a:stretch>
                        </a:blipFill>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1"/>
                          <a:stretch>
                            <a:fillRect l="-565" t="-340426" r="-145198" b="-108511"/>
                          </a:stretch>
                        </a:blipFill>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765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11"/>
                          <a:stretch>
                            <a:fillRect l="-565" t="-431250" r="-145198" b="-6250"/>
                          </a:stretch>
                        </a:blipFill>
                      </a:tcPr>
                    </a:tc>
                    <a:tc>
                      <a:txBody>
                        <a:bodyPr/>
                        <a:lstStyle/>
                        <a:p>
                          <a:pPr marL="0" marR="0" algn="ctr">
                            <a:spcBef>
                              <a:spcPts val="0"/>
                            </a:spcBef>
                            <a:spcAft>
                              <a:spcPts val="0"/>
                            </a:spcAft>
                          </a:pPr>
                          <a:r>
                            <a:rPr lang="en-US" sz="1800" i="1">
                              <a:effectLst/>
                              <a:latin typeface="Cambria Math"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637904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200</a:t>
            </a:r>
          </a:p>
        </p:txBody>
      </p:sp>
      <mc:AlternateContent xmlns:mc="http://schemas.openxmlformats.org/markup-compatibility/2006" xmlns:a14="http://schemas.microsoft.com/office/drawing/2010/main">
        <mc:Choice Requires="a14">
          <p:sp>
            <p:nvSpPr>
              <p:cNvPr id="4" name="Rectangle 3"/>
              <p:cNvSpPr/>
              <p:nvPr/>
            </p:nvSpPr>
            <p:spPr>
              <a:xfrm>
                <a:off x="540564" y="318651"/>
                <a:ext cx="11087585" cy="1015663"/>
              </a:xfrm>
              <a:prstGeom prst="rect">
                <a:avLst/>
              </a:prstGeom>
            </p:spPr>
            <p:txBody>
              <a:bodyPr wrap="square">
                <a:spAutoFit/>
              </a:bodyPr>
              <a:lstStyle/>
              <a:p>
                <a:pPr marL="457200" indent="-457200">
                  <a:buFont typeface="+mj-lt"/>
                  <a:buAutoNum type="alphaLcPeriod" startAt="2"/>
                </a:pPr>
                <a:r>
                  <a:rPr lang="en-US" sz="2000" dirty="0">
                    <a:latin typeface="Verdana" charset="0"/>
                    <a:ea typeface="Verdana" charset="0"/>
                    <a:cs typeface="Verdana" charset="0"/>
                  </a:rPr>
                  <a:t>Quadrilateral </a:t>
                </a:r>
                <a14:m>
                  <m:oMath xmlns:m="http://schemas.openxmlformats.org/officeDocument/2006/math">
                    <m:r>
                      <a:rPr lang="en-US" sz="2000" i="1">
                        <a:latin typeface="Cambria Math" panose="02040503050406030204" pitchFamily="18" charset="0"/>
                        <a:ea typeface="Verdana" charset="0"/>
                        <a:cs typeface="Verdana" charset="0"/>
                      </a:rPr>
                      <m:t>𝑊𝐵𝐾𝑇</m:t>
                    </m:r>
                  </m:oMath>
                </a14:m>
                <a:r>
                  <a:rPr lang="en-US" sz="2000" dirty="0">
                    <a:latin typeface="Verdana" charset="0"/>
                    <a:ea typeface="Verdana" charset="0"/>
                    <a:cs typeface="Verdana" charset="0"/>
                  </a:rPr>
                  <a:t> is shown on the coordinate grid. Show the sequence of transformations on the coordinate grid by rotating quadrilateral </a:t>
                </a:r>
                <a14:m>
                  <m:oMath xmlns:m="http://schemas.openxmlformats.org/officeDocument/2006/math">
                    <m:r>
                      <a:rPr lang="en-US" sz="2000" i="1">
                        <a:latin typeface="Cambria Math" panose="02040503050406030204" pitchFamily="18" charset="0"/>
                        <a:ea typeface="Verdana" charset="0"/>
                        <a:cs typeface="Verdana" charset="0"/>
                      </a:rPr>
                      <m:t>𝑊𝐵𝐾𝑇</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180°</m:t>
                    </m:r>
                  </m:oMath>
                </a14:m>
                <a:r>
                  <a:rPr lang="en-US" sz="2000" dirty="0">
                    <a:latin typeface="Verdana" charset="0"/>
                    <a:ea typeface="Verdana" charset="0"/>
                    <a:cs typeface="Verdana" charset="0"/>
                  </a:rPr>
                  <a:t> counterclockwise about the origin, then translating it right </a:t>
                </a:r>
                <a14:m>
                  <m:oMath xmlns:m="http://schemas.openxmlformats.org/officeDocument/2006/math">
                    <m:r>
                      <a:rPr lang="en-US" sz="2000" i="1">
                        <a:latin typeface="Cambria Math" panose="02040503050406030204" pitchFamily="18" charset="0"/>
                        <a:ea typeface="Verdana" charset="0"/>
                        <a:cs typeface="Verdana" charset="0"/>
                      </a:rPr>
                      <m:t>7</m:t>
                    </m:r>
                  </m:oMath>
                </a14:m>
                <a:r>
                  <a:rPr lang="en-US" sz="2000" dirty="0">
                    <a:latin typeface="Verdana" charset="0"/>
                    <a:ea typeface="Verdana" charset="0"/>
                    <a:cs typeface="Verdana" charset="0"/>
                  </a:rPr>
                  <a:t> and down </a:t>
                </a:r>
                <a14:m>
                  <m:oMath xmlns:m="http://schemas.openxmlformats.org/officeDocument/2006/math">
                    <m:r>
                      <a:rPr lang="en-US" sz="2000" i="1">
                        <a:latin typeface="Cambria Math" panose="02040503050406030204" pitchFamily="18" charset="0"/>
                        <a:ea typeface="Verdana" charset="0"/>
                        <a:cs typeface="Verdana" charset="0"/>
                      </a:rPr>
                      <m:t>4</m:t>
                    </m:r>
                  </m:oMath>
                </a14:m>
                <a:r>
                  <a:rPr lang="en-US" sz="2000" dirty="0">
                    <a:latin typeface="Verdana" charset="0"/>
                    <a:ea typeface="Verdana" charset="0"/>
                    <a:cs typeface="Verdana" charset="0"/>
                  </a:rPr>
                  <a:t>.</a:t>
                </a:r>
              </a:p>
            </p:txBody>
          </p:sp>
        </mc:Choice>
        <mc:Fallback xmlns="">
          <p:sp>
            <p:nvSpPr>
              <p:cNvPr id="4" name="Rectangle 3"/>
              <p:cNvSpPr>
                <a:spLocks noRot="1" noChangeAspect="1" noMove="1" noResize="1" noEditPoints="1" noAdjustHandles="1" noChangeArrowheads="1" noChangeShapeType="1" noTextEdit="1"/>
              </p:cNvSpPr>
              <p:nvPr/>
            </p:nvSpPr>
            <p:spPr>
              <a:xfrm>
                <a:off x="540564" y="318651"/>
                <a:ext cx="11087585" cy="1015663"/>
              </a:xfrm>
              <a:prstGeom prst="rect">
                <a:avLst/>
              </a:prstGeom>
              <a:blipFill>
                <a:blip r:embed="rId4"/>
                <a:stretch>
                  <a:fillRect l="-605" t="-3593" b="-9581"/>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609198" y="1787611"/>
            <a:ext cx="6189870" cy="4275692"/>
          </a:xfrm>
          <a:prstGeom prst="rect">
            <a:avLst/>
          </a:prstGeom>
        </p:spPr>
      </p:pic>
    </p:spTree>
    <p:extLst>
      <p:ext uri="{BB962C8B-B14F-4D97-AF65-F5344CB8AC3E}">
        <p14:creationId xmlns:p14="http://schemas.microsoft.com/office/powerpoint/2010/main" val="724696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200</a:t>
            </a:r>
          </a:p>
        </p:txBody>
      </p:sp>
    </p:spTree>
    <p:extLst>
      <p:ext uri="{BB962C8B-B14F-4D97-AF65-F5344CB8AC3E}">
        <p14:creationId xmlns:p14="http://schemas.microsoft.com/office/powerpoint/2010/main" val="1790839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515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052650" y="6855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4.4.4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05350" y="68550"/>
            <a:ext cx="747300" cy="747300"/>
          </a:xfrm>
          <a:prstGeom prst="rect">
            <a:avLst/>
          </a:prstGeom>
          <a:noFill/>
          <a:ln>
            <a:noFill/>
          </a:ln>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836194"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200</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593248" y="1394250"/>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Polygon </a:t>
                </a:r>
                <a14:m>
                  <m:oMath xmlns:m="http://schemas.openxmlformats.org/officeDocument/2006/math">
                    <m:r>
                      <a:rPr lang="en-US" sz="2000" i="1">
                        <a:latin typeface="Cambria Math" panose="02040503050406030204" pitchFamily="18" charset="0"/>
                        <a:ea typeface="Verdana" charset="0"/>
                        <a:cs typeface="Verdana" charset="0"/>
                      </a:rPr>
                      <m:t>𝐵𝐾𝐻𝑊𝑌</m:t>
                    </m:r>
                  </m:oMath>
                </a14:m>
                <a:r>
                  <a:rPr lang="en-US" sz="2000" dirty="0">
                    <a:latin typeface="Verdana" charset="0"/>
                    <a:ea typeface="Verdana" charset="0"/>
                    <a:cs typeface="Verdana" charset="0"/>
                  </a:rPr>
                  <a:t> is shown on the coordinate grid.</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93248" y="1394250"/>
                <a:ext cx="8327136" cy="400110"/>
              </a:xfrm>
              <a:prstGeom prst="rect">
                <a:avLst/>
              </a:prstGeom>
              <a:blipFill>
                <a:blip r:embed="rId5"/>
                <a:stretch>
                  <a:fillRect l="-805" t="-10769" b="-27692"/>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397374" y="1852282"/>
            <a:ext cx="4713446" cy="3320113"/>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93247" y="5254719"/>
                <a:ext cx="10261565" cy="1015663"/>
              </a:xfrm>
              <a:prstGeom prst="rect">
                <a:avLst/>
              </a:prstGeom>
            </p:spPr>
            <p:txBody>
              <a:bodyPr wrap="square">
                <a:spAutoFit/>
              </a:bodyPr>
              <a:lstStyle/>
              <a:p>
                <a:pPr marL="457200"/>
                <a:r>
                  <a:rPr lang="en-US" sz="2000" dirty="0">
                    <a:latin typeface="Verdana" charset="0"/>
                    <a:ea typeface="Verdana" charset="0"/>
                    <a:cs typeface="Verdana" charset="0"/>
                  </a:rPr>
                  <a:t>On the coordinate grid, translate polygon </a:t>
                </a:r>
                <a14:m>
                  <m:oMath xmlns:m="http://schemas.openxmlformats.org/officeDocument/2006/math">
                    <m:r>
                      <a:rPr lang="en-US" sz="2000" i="1">
                        <a:latin typeface="Cambria Math" panose="02040503050406030204" pitchFamily="18" charset="0"/>
                        <a:ea typeface="Verdana" charset="0"/>
                        <a:cs typeface="Verdana" charset="0"/>
                      </a:rPr>
                      <m:t>𝐵𝐾𝐻𝑊𝑌</m:t>
                    </m:r>
                  </m:oMath>
                </a14:m>
                <a:r>
                  <a:rPr lang="en-US" sz="2000" dirty="0">
                    <a:latin typeface="Verdana" charset="0"/>
                    <a:ea typeface="Verdana" charset="0"/>
                    <a:cs typeface="Verdana" charset="0"/>
                  </a:rPr>
                  <a:t> right 5 and down 3. Then, reflect the result across the line </a:t>
                </a:r>
                <a14:m>
                  <m:oMath xmlns:m="http://schemas.openxmlformats.org/officeDocument/2006/math">
                    <m:r>
                      <a:rPr lang="en-US" sz="2000" i="1">
                        <a:latin typeface="Cambria Math" panose="02040503050406030204" pitchFamily="18" charset="0"/>
                        <a:ea typeface="Verdana" charset="0"/>
                        <a:cs typeface="Verdana" charset="0"/>
                      </a:rPr>
                      <m:t>𝑥</m:t>
                    </m:r>
                    <m:r>
                      <a:rPr lang="en-US" sz="2000" i="1">
                        <a:latin typeface="Cambria Math" panose="02040503050406030204" pitchFamily="18" charset="0"/>
                        <a:ea typeface="Verdana" charset="0"/>
                        <a:cs typeface="Verdana" charset="0"/>
                      </a:rPr>
                      <m:t>=4</m:t>
                    </m:r>
                  </m:oMath>
                </a14:m>
                <a:r>
                  <a:rPr lang="en-US" sz="2000" dirty="0">
                    <a:latin typeface="Verdana" charset="0"/>
                    <a:ea typeface="Verdana" charset="0"/>
                    <a:cs typeface="Verdana" charset="0"/>
                  </a:rPr>
                  <a:t>. Label the resulting polygon </a:t>
                </a:r>
                <a14:m>
                  <m:oMath xmlns:m="http://schemas.openxmlformats.org/officeDocument/2006/math">
                    <m:r>
                      <a:rPr lang="en-US" sz="2000" i="1">
                        <a:latin typeface="Cambria Math" panose="02040503050406030204" pitchFamily="18" charset="0"/>
                        <a:ea typeface="Verdana" charset="0"/>
                        <a:cs typeface="Verdana" charset="0"/>
                      </a:rPr>
                      <m:t>𝐵</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𝐻</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𝑌</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593247" y="5254719"/>
                <a:ext cx="10261565" cy="1015663"/>
              </a:xfrm>
              <a:prstGeom prst="rect">
                <a:avLst/>
              </a:prstGeom>
              <a:blipFill>
                <a:blip r:embed="rId7"/>
                <a:stretch>
                  <a:fillRect t="-3593" b="-9581"/>
                </a:stretch>
              </a:blipFill>
            </p:spPr>
            <p:txBody>
              <a:bodyPr/>
              <a:lstStyle/>
              <a:p>
                <a:r>
                  <a:rPr lang="en-US">
                    <a:noFill/>
                  </a:rPr>
                  <a:t> </a:t>
                </a:r>
              </a:p>
            </p:txBody>
          </p:sp>
        </mc:Fallback>
      </mc:AlternateContent>
    </p:spTree>
    <p:extLst>
      <p:ext uri="{BB962C8B-B14F-4D97-AF65-F5344CB8AC3E}">
        <p14:creationId xmlns:p14="http://schemas.microsoft.com/office/powerpoint/2010/main" val="3101299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201</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201</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170935"/>
            <a:ext cx="98969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4.4.5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44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593248" y="1386149"/>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 </a:t>
                </a:r>
                <a14:m>
                  <m:oMath xmlns:m="http://schemas.openxmlformats.org/officeDocument/2006/math">
                    <m:r>
                      <a:rPr lang="en-US" sz="2000" i="1">
                        <a:latin typeface="Cambria Math" panose="02040503050406030204" pitchFamily="18" charset="0"/>
                        <a:ea typeface="Verdana" charset="0"/>
                        <a:cs typeface="Verdana" charset="0"/>
                      </a:rPr>
                      <m:t>𝐻𝑀𝑇</m:t>
                    </m:r>
                  </m:oMath>
                </a14:m>
                <a:r>
                  <a:rPr lang="en-US" sz="2000" dirty="0">
                    <a:latin typeface="Verdana" charset="0"/>
                    <a:ea typeface="Verdana" charset="0"/>
                    <a:cs typeface="Verdana" charset="0"/>
                  </a:rPr>
                  <a:t> is shown on the coordinate grid.</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93248" y="1386149"/>
                <a:ext cx="8327136" cy="400110"/>
              </a:xfrm>
              <a:prstGeom prst="rect">
                <a:avLst/>
              </a:prstGeom>
              <a:blipFill>
                <a:blip r:embed="rId5"/>
                <a:stretch>
                  <a:fillRect l="-805" t="-9091" b="-27273"/>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395810" y="1929156"/>
            <a:ext cx="4757530" cy="3318205"/>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93248" y="5566825"/>
                <a:ext cx="11034902" cy="707886"/>
              </a:xfrm>
              <a:prstGeom prst="rect">
                <a:avLst/>
              </a:prstGeom>
            </p:spPr>
            <p:txBody>
              <a:bodyPr wrap="square">
                <a:spAutoFit/>
              </a:bodyPr>
              <a:lstStyle/>
              <a:p>
                <a:pPr marL="457200"/>
                <a:r>
                  <a:rPr lang="en-US" sz="2000" dirty="0">
                    <a:latin typeface="Verdana" charset="0"/>
                    <a:ea typeface="Verdana" charset="0"/>
                    <a:cs typeface="Verdana" charset="0"/>
                  </a:rPr>
                  <a:t>Draw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𝐵𝑊𝐹</m:t>
                    </m:r>
                  </m:oMath>
                </a14:m>
                <a:r>
                  <a:rPr lang="en-US" sz="2000" dirty="0">
                    <a:latin typeface="Verdana" charset="0"/>
                    <a:ea typeface="Verdana" charset="0"/>
                    <a:cs typeface="Verdana" charset="0"/>
                  </a:rPr>
                  <a:t>, which is the result of translating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𝐻𝑀𝑇</m:t>
                    </m:r>
                  </m:oMath>
                </a14:m>
                <a:r>
                  <a:rPr lang="en-US" sz="2000" dirty="0">
                    <a:latin typeface="Verdana" charset="0"/>
                    <a:ea typeface="Verdana" charset="0"/>
                    <a:cs typeface="Verdana" charset="0"/>
                  </a:rPr>
                  <a:t> left 3 and up 3, then rotating the result </a:t>
                </a:r>
                <a14:m>
                  <m:oMath xmlns:m="http://schemas.openxmlformats.org/officeDocument/2006/math">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clockwise about the origin.</a:t>
                </a:r>
              </a:p>
            </p:txBody>
          </p:sp>
        </mc:Choice>
        <mc:Fallback xmlns="">
          <p:sp>
            <p:nvSpPr>
              <p:cNvPr id="3" name="Rectangle 2"/>
              <p:cNvSpPr>
                <a:spLocks noRot="1" noChangeAspect="1" noMove="1" noResize="1" noEditPoints="1" noAdjustHandles="1" noChangeArrowheads="1" noChangeShapeType="1" noTextEdit="1"/>
              </p:cNvSpPr>
              <p:nvPr/>
            </p:nvSpPr>
            <p:spPr>
              <a:xfrm>
                <a:off x="593248" y="5566825"/>
                <a:ext cx="11034902" cy="707886"/>
              </a:xfrm>
              <a:prstGeom prst="rect">
                <a:avLst/>
              </a:prstGeom>
              <a:blipFill>
                <a:blip r:embed="rId7"/>
                <a:stretch>
                  <a:fillRect t="-4310" r="-1215" b="-14655"/>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1292</TotalTime>
  <Words>1243</Words>
  <Application>Microsoft Office PowerPoint</Application>
  <PresentationFormat>Widescreen</PresentationFormat>
  <Paragraphs>239</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Black</vt:lpstr>
      <vt:lpstr>Calibri</vt:lpstr>
      <vt:lpstr>Cambria</vt:lpstr>
      <vt:lpstr>Cambria Math</vt:lpstr>
      <vt:lpstr>Century Gothic</vt:lpstr>
      <vt:lpstr>Verdana</vt:lpstr>
      <vt:lpstr>Wingdings</vt:lpstr>
      <vt:lpstr>1_Office Theme</vt:lpstr>
      <vt:lpstr>Geometry  Unit 4, Lesson 4  Written Descriptions of a Sequence of Transformations  Volume 1, pg. 195  </vt:lpstr>
      <vt:lpstr>Benchmarks</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Heather  Rideout</cp:lastModifiedBy>
  <cp:revision>23</cp:revision>
  <dcterms:created xsi:type="dcterms:W3CDTF">2015-03-17T18:51:18Z</dcterms:created>
  <dcterms:modified xsi:type="dcterms:W3CDTF">2023-02-27T15:01:15Z</dcterms:modified>
</cp:coreProperties>
</file>