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4" r:id="rId8"/>
    <p:sldId id="315" r:id="rId9"/>
    <p:sldId id="316" r:id="rId10"/>
    <p:sldId id="335" r:id="rId11"/>
    <p:sldId id="336" r:id="rId12"/>
    <p:sldId id="337" r:id="rId13"/>
    <p:sldId id="332" r:id="rId14"/>
    <p:sldId id="333" r:id="rId15"/>
    <p:sldId id="334" r:id="rId16"/>
    <p:sldId id="338" r:id="rId17"/>
    <p:sldId id="339" r:id="rId18"/>
    <p:sldId id="340" r:id="rId19"/>
    <p:sldId id="341" r:id="rId20"/>
    <p:sldId id="329" r:id="rId21"/>
    <p:sldId id="330"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7"/>
    <p:restoredTop sz="94041" autoAdjust="0"/>
  </p:normalViewPr>
  <p:slideViewPr>
    <p:cSldViewPr snapToGrid="0">
      <p:cViewPr varScale="1">
        <p:scale>
          <a:sx n="81" d="100"/>
          <a:sy n="81" d="100"/>
        </p:scale>
        <p:origin x="184" y="7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83244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297233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6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084098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25747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75517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04346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31716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16882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793866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40.png"/><Relationship Id="rId6" Type="http://schemas.openxmlformats.org/officeDocument/2006/relationships/image" Target="../media/image16.png"/><Relationship Id="rId7" Type="http://schemas.openxmlformats.org/officeDocument/2006/relationships/image" Target="../media/image160.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18.png"/><Relationship Id="rId6" Type="http://schemas.openxmlformats.org/officeDocument/2006/relationships/image" Target="../media/image21.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2.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9.png"/><Relationship Id="rId5" Type="http://schemas.openxmlformats.org/officeDocument/2006/relationships/image" Target="../media/image5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51.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55.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55.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Algebraic Descriptions for Translations and Rotations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177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latin typeface="Verdana" charset="0"/>
                <a:ea typeface="Verdana" charset="0"/>
                <a:cs typeface="Verdana" charset="0"/>
              </a:rPr>
              <a:t>MA.912.GR.2.1 </a:t>
            </a:r>
          </a:p>
          <a:p>
            <a:pPr marL="0" indent="0">
              <a:buSzPts val="1100"/>
              <a:buNone/>
            </a:pPr>
            <a:r>
              <a:rPr lang="en-US" sz="2400" dirty="0">
                <a:latin typeface="Verdana" charset="0"/>
                <a:ea typeface="Verdana" charset="0"/>
                <a:cs typeface="Verdana" charset="0"/>
              </a:rPr>
              <a:t>Given a preimage and image, describe the transformation and represent the transformation algebraically using coordinates. </a:t>
            </a:r>
            <a:endParaRPr lang="en-US" sz="2400" dirty="0">
              <a:solidFill>
                <a:schemeClr val="tx1"/>
              </a:solidFill>
              <a:latin typeface="Verdana" charset="0"/>
              <a:ea typeface="Verdana" charset="0"/>
              <a:cs typeface="Verdana"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199" y="129791"/>
            <a:ext cx="87267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177</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60" y="1596514"/>
            <a:ext cx="105263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1998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177</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200" y="1600324"/>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charset="2"/>
              <a:buChar char="q"/>
            </a:pPr>
            <a:r>
              <a:rPr lang="en-US" sz="2400" dirty="0">
                <a:latin typeface="Verdana" charset="0"/>
                <a:ea typeface="Verdana" charset="0"/>
                <a:cs typeface="Verdana" charset="0"/>
              </a:rPr>
              <a:t>I can relate a translation on the coordinate plane to an algebraic notation of the transformation.</a:t>
            </a:r>
          </a:p>
          <a:p>
            <a:pPr marL="571500" indent="-571500">
              <a:buFont typeface="Wingdings" charset="2"/>
              <a:buChar char="q"/>
            </a:pPr>
            <a:r>
              <a:rPr lang="en-US" sz="2400" dirty="0">
                <a:latin typeface="Verdana" charset="0"/>
                <a:ea typeface="Verdana" charset="0"/>
                <a:cs typeface="Verdana" charset="0"/>
              </a:rPr>
              <a:t>I can relate a rotation about the origin on the coordinate plane to an algebraic notation of the transformation.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9159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4.1.1 Warm-Up: A Career in Pharmacy</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60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177</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93248" y="1386149"/>
            <a:ext cx="7872835" cy="3785652"/>
          </a:xfrm>
          <a:prstGeom prst="rect">
            <a:avLst/>
          </a:prstGeom>
          <a:noFill/>
        </p:spPr>
        <p:txBody>
          <a:bodyPr wrap="square" rtlCol="0">
            <a:spAutoFit/>
          </a:bodyPr>
          <a:lstStyle/>
          <a:p>
            <a:r>
              <a:rPr lang="en-US" sz="2000" dirty="0">
                <a:latin typeface="Verdana" charset="0"/>
                <a:ea typeface="Verdana" charset="0"/>
                <a:cs typeface="Verdana" charset="0"/>
              </a:rPr>
              <a:t>A career as a pharmacist is just one of many jobs in the health care field. Pharmacists need an understanding of both science and mathematics. Pharmacists also need to work with patients on their prescriptions to ensure the medication is working as it should. </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What is one thing you learned about pharmacists that you did not know?</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How does paying attention to detail help you to learn mathematics?</a:t>
            </a:r>
          </a:p>
          <a:p>
            <a:pPr lvl="0"/>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9924" y="1234109"/>
            <a:ext cx="2769221" cy="2749511"/>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178</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449"/>
            <a:ext cx="108365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4.1.2 Collaboration: Discovering Algebraic Descriptions for Translations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178</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593247" y="1386149"/>
                <a:ext cx="10099333"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Parallelograms </a:t>
                </a:r>
                <a14:m>
                  <m:oMath xmlns:m="http://schemas.openxmlformats.org/officeDocument/2006/math">
                    <m:r>
                      <a:rPr lang="en-US" sz="2000" i="1">
                        <a:latin typeface="Cambria Math" panose="02040503050406030204" pitchFamily="18" charset="0"/>
                        <a:ea typeface="Verdana" charset="0"/>
                        <a:cs typeface="Verdana" charset="0"/>
                      </a:rPr>
                      <m:t>𝐷𝑁𝐾𝑇</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𝐺𝑋𝑊𝑅</m:t>
                    </m:r>
                  </m:oMath>
                </a14:m>
                <a:r>
                  <a:rPr lang="en-US" sz="2000" dirty="0">
                    <a:latin typeface="Verdana" charset="0"/>
                    <a:ea typeface="Verdana" charset="0"/>
                    <a:cs typeface="Verdana" charset="0"/>
                  </a:rPr>
                  <a:t> are shown on the coordinate grid.</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7" y="1386149"/>
                <a:ext cx="10099333" cy="400110"/>
              </a:xfrm>
              <a:prstGeom prst="rect">
                <a:avLst/>
              </a:prstGeom>
              <a:blipFill>
                <a:blip r:embed="rId5"/>
                <a:stretch>
                  <a:fillRect l="-664" t="-9091" b="-27273"/>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52650" y="2148574"/>
            <a:ext cx="2761488" cy="2542322"/>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2401" y="4797884"/>
                <a:ext cx="10350901" cy="1015663"/>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Describe the transformation if parallelogram </a:t>
                </a:r>
                <a14:m>
                  <m:oMath xmlns:m="http://schemas.openxmlformats.org/officeDocument/2006/math">
                    <m:r>
                      <a:rPr lang="en-US" sz="2000" i="1">
                        <a:latin typeface="Cambria Math" panose="02040503050406030204" pitchFamily="18" charset="0"/>
                        <a:ea typeface="Verdana" charset="0"/>
                        <a:cs typeface="Verdana" charset="0"/>
                      </a:rPr>
                      <m:t>𝐷𝑁𝐾𝑇</m:t>
                    </m:r>
                  </m:oMath>
                </a14:m>
                <a:r>
                  <a:rPr lang="en-US" sz="2000" dirty="0">
                    <a:latin typeface="Verdana" charset="0"/>
                    <a:ea typeface="Verdana" charset="0"/>
                    <a:cs typeface="Verdana" charset="0"/>
                  </a:rPr>
                  <a:t> is the preimage.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Describe the transformation if parallelogram </a:t>
                </a:r>
                <a14:m>
                  <m:oMath xmlns:m="http://schemas.openxmlformats.org/officeDocument/2006/math">
                    <m:r>
                      <a:rPr lang="en-US" sz="2000" i="1">
                        <a:latin typeface="Cambria Math" panose="02040503050406030204" pitchFamily="18" charset="0"/>
                        <a:ea typeface="Verdana" charset="0"/>
                        <a:cs typeface="Verdana" charset="0"/>
                      </a:rPr>
                      <m:t>𝐺𝑋𝑊𝑅</m:t>
                    </m:r>
                  </m:oMath>
                </a14:m>
                <a:r>
                  <a:rPr lang="en-US" sz="2000" dirty="0">
                    <a:latin typeface="Verdana" charset="0"/>
                    <a:ea typeface="Verdana" charset="0"/>
                    <a:cs typeface="Verdana" charset="0"/>
                  </a:rPr>
                  <a:t> is the preimage.</a:t>
                </a:r>
              </a:p>
            </p:txBody>
          </p:sp>
        </mc:Choice>
        <mc:Fallback xmlns="">
          <p:sp>
            <p:nvSpPr>
              <p:cNvPr id="3" name="Rectangle 2"/>
              <p:cNvSpPr>
                <a:spLocks noRot="1" noChangeAspect="1" noMove="1" noResize="1" noEditPoints="1" noAdjustHandles="1" noChangeArrowheads="1" noChangeShapeType="1" noTextEdit="1"/>
              </p:cNvSpPr>
              <p:nvPr/>
            </p:nvSpPr>
            <p:spPr>
              <a:xfrm>
                <a:off x="592401" y="4797884"/>
                <a:ext cx="10350901" cy="1015663"/>
              </a:xfrm>
              <a:prstGeom prst="rect">
                <a:avLst/>
              </a:prstGeom>
              <a:blipFill>
                <a:blip r:embed="rId7"/>
                <a:stretch>
                  <a:fillRect l="-648" t="-4192" b="-10180"/>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207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384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4" y="418890"/>
                <a:ext cx="11651435" cy="400110"/>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Complete the table by writing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-value of each vertex in the columns provided.</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18890"/>
                <a:ext cx="11651435" cy="400110"/>
              </a:xfrm>
              <a:prstGeom prst="rect">
                <a:avLst/>
              </a:prstGeom>
              <a:blipFill>
                <a:blip r:embed="rId4"/>
                <a:stretch>
                  <a:fillRect l="-576" t="-10769"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039781" y="819000"/>
                <a:ext cx="10488063" cy="1015663"/>
              </a:xfrm>
              <a:prstGeom prst="rect">
                <a:avLst/>
              </a:prstGeom>
            </p:spPr>
            <p:txBody>
              <a:bodyPr wrap="square">
                <a:spAutoFit/>
              </a:bodyPr>
              <a:lstStyle/>
              <a:p>
                <a:pPr lvl="0"/>
                <a:r>
                  <a:rPr lang="en-US" sz="2000" dirty="0">
                    <a:latin typeface="Verdana" charset="0"/>
                    <a:ea typeface="Verdana" charset="0"/>
                    <a:cs typeface="Verdana" charset="0"/>
                  </a:rPr>
                  <a:t>Then, determine the number of units that should be added or subtracted to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-value for the vertices of parallelogram </a:t>
                </a:r>
                <a14:m>
                  <m:oMath xmlns:m="http://schemas.openxmlformats.org/officeDocument/2006/math">
                    <m:r>
                      <a:rPr lang="en-US" sz="2000" i="1">
                        <a:latin typeface="Cambria Math" panose="02040503050406030204" pitchFamily="18" charset="0"/>
                        <a:ea typeface="Verdana" charset="0"/>
                        <a:cs typeface="Verdana" charset="0"/>
                      </a:rPr>
                      <m:t>𝐷𝑁𝐾𝑇</m:t>
                    </m:r>
                  </m:oMath>
                </a14:m>
                <a:r>
                  <a:rPr lang="en-US" sz="2000" dirty="0">
                    <a:latin typeface="Verdana" charset="0"/>
                    <a:ea typeface="Verdana" charset="0"/>
                    <a:cs typeface="Verdana" charset="0"/>
                  </a:rPr>
                  <a:t> to get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-value for the vertices of parallelogram </a:t>
                </a:r>
                <a14:m>
                  <m:oMath xmlns:m="http://schemas.openxmlformats.org/officeDocument/2006/math">
                    <m:r>
                      <a:rPr lang="en-US" sz="2000" i="1">
                        <a:latin typeface="Cambria Math" panose="02040503050406030204" pitchFamily="18" charset="0"/>
                        <a:ea typeface="Verdana" charset="0"/>
                        <a:cs typeface="Verdana" charset="0"/>
                      </a:rPr>
                      <m:t>𝐺𝑋𝑊𝑅</m:t>
                    </m:r>
                  </m:oMath>
                </a14:m>
                <a:r>
                  <a:rPr lang="en-US" sz="2000" dirty="0">
                    <a:latin typeface="Verdana" charset="0"/>
                    <a:ea typeface="Verdana" charset="0"/>
                    <a:cs typeface="Verdana"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1039781" y="819000"/>
                <a:ext cx="10488063" cy="1015663"/>
              </a:xfrm>
              <a:prstGeom prst="rect">
                <a:avLst/>
              </a:prstGeom>
              <a:blipFill>
                <a:blip r:embed="rId5"/>
                <a:stretch>
                  <a:fillRect l="-640" t="-2994" b="-9581"/>
                </a:stretch>
              </a:blipFill>
            </p:spPr>
            <p:txBody>
              <a:bodyPr/>
              <a:lstStyle/>
              <a:p>
                <a:r>
                  <a:rPr lang="en-US">
                    <a:noFill/>
                  </a:rPr>
                  <a:t> </a:t>
                </a:r>
              </a:p>
            </p:txBody>
          </p:sp>
        </mc:Fallback>
      </mc:AlternateContent>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502665" y="2065228"/>
            <a:ext cx="7289804" cy="4373882"/>
          </a:xfrm>
          <a:prstGeom prst="rect">
            <a:avLst/>
          </a:prstGeom>
        </p:spPr>
      </p:pic>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5" y="418890"/>
                <a:ext cx="11216006" cy="400110"/>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Complete the table by writing the </a:t>
                </a:r>
                <a14:m>
                  <m:oMath xmlns:m="http://schemas.openxmlformats.org/officeDocument/2006/math">
                    <m:r>
                      <a:rPr lang="en-US" sz="2000" i="1">
                        <a:latin typeface="Cambria Math" panose="02040503050406030204" pitchFamily="18" charset="0"/>
                        <a:ea typeface="Verdana" charset="0"/>
                        <a:cs typeface="Verdana" charset="0"/>
                      </a:rPr>
                      <m:t>𝑦</m:t>
                    </m:r>
                  </m:oMath>
                </a14:m>
                <a:r>
                  <a:rPr lang="en-US" sz="2000" dirty="0">
                    <a:latin typeface="Verdana" charset="0"/>
                    <a:ea typeface="Verdana" charset="0"/>
                    <a:cs typeface="Verdana" charset="0"/>
                  </a:rPr>
                  <a:t>-value of each vertex in the columns provided. </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8890"/>
                <a:ext cx="11216006" cy="400110"/>
              </a:xfrm>
              <a:prstGeom prst="rect">
                <a:avLst/>
              </a:prstGeom>
              <a:blipFill>
                <a:blip r:embed="rId4"/>
                <a:stretch>
                  <a:fillRect l="-598" t="-10769" r="-652"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039781" y="819000"/>
                <a:ext cx="10484143" cy="1015663"/>
              </a:xfrm>
              <a:prstGeom prst="rect">
                <a:avLst/>
              </a:prstGeom>
            </p:spPr>
            <p:txBody>
              <a:bodyPr wrap="square">
                <a:spAutoFit/>
              </a:bodyPr>
              <a:lstStyle/>
              <a:p>
                <a:pPr lvl="0"/>
                <a:r>
                  <a:rPr lang="en-US" sz="2000" dirty="0">
                    <a:latin typeface="Verdana" charset="0"/>
                    <a:ea typeface="Verdana" charset="0"/>
                    <a:cs typeface="Verdana" charset="0"/>
                  </a:rPr>
                  <a:t>Then, determine the number of units that should be added or subtracted to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-value for the vertices of parallelogram </a:t>
                </a:r>
                <a14:m>
                  <m:oMath xmlns:m="http://schemas.openxmlformats.org/officeDocument/2006/math">
                    <m:r>
                      <a:rPr lang="en-US" sz="2000" i="1">
                        <a:latin typeface="Cambria Math" panose="02040503050406030204" pitchFamily="18" charset="0"/>
                        <a:ea typeface="Verdana" charset="0"/>
                        <a:cs typeface="Verdana" charset="0"/>
                      </a:rPr>
                      <m:t>𝐷𝑁𝐾𝑇</m:t>
                    </m:r>
                  </m:oMath>
                </a14:m>
                <a:r>
                  <a:rPr lang="en-US" sz="2000" dirty="0">
                    <a:latin typeface="Verdana" charset="0"/>
                    <a:ea typeface="Verdana" charset="0"/>
                    <a:cs typeface="Verdana" charset="0"/>
                  </a:rPr>
                  <a:t> to get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-value for the vertices of parallelogram </a:t>
                </a:r>
                <a14:m>
                  <m:oMath xmlns:m="http://schemas.openxmlformats.org/officeDocument/2006/math">
                    <m:r>
                      <a:rPr lang="en-US" sz="2000" i="1">
                        <a:latin typeface="Cambria Math" panose="02040503050406030204" pitchFamily="18" charset="0"/>
                        <a:ea typeface="Verdana" charset="0"/>
                        <a:cs typeface="Verdana" charset="0"/>
                      </a:rPr>
                      <m:t>𝐺𝑋𝑊𝑅</m:t>
                    </m:r>
                  </m:oMath>
                </a14:m>
                <a:r>
                  <a:rPr lang="en-US" sz="2000" dirty="0">
                    <a:latin typeface="Verdana" charset="0"/>
                    <a:ea typeface="Verdana" charset="0"/>
                    <a:cs typeface="Verdana"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1039781" y="819000"/>
                <a:ext cx="10484143" cy="1015663"/>
              </a:xfrm>
              <a:prstGeom prst="rect">
                <a:avLst/>
              </a:prstGeom>
              <a:blipFill>
                <a:blip r:embed="rId5"/>
                <a:stretch>
                  <a:fillRect l="-640" t="-2994" r="-58" b="-9581"/>
                </a:stretch>
              </a:blipFill>
            </p:spPr>
            <p:txBody>
              <a:bodyPr/>
              <a:lstStyle/>
              <a:p>
                <a:r>
                  <a:rPr lang="en-US">
                    <a:noFill/>
                  </a:rPr>
                  <a:t> </a:t>
                </a:r>
              </a:p>
            </p:txBody>
          </p:sp>
        </mc:Fallback>
      </mc:AlternateContent>
      <p:pic>
        <p:nvPicPr>
          <p:cNvPr id="4" name="Picture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688224" y="1988401"/>
            <a:ext cx="7092919" cy="4450710"/>
          </a:xfrm>
          <a:prstGeom prst="rect">
            <a:avLst/>
          </a:prstGeom>
        </p:spPr>
      </p:pic>
    </p:spTree>
    <p:extLst>
      <p:ext uri="{BB962C8B-B14F-4D97-AF65-F5344CB8AC3E}">
        <p14:creationId xmlns:p14="http://schemas.microsoft.com/office/powerpoint/2010/main" val="1151458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179</a:t>
            </a:r>
          </a:p>
        </p:txBody>
      </p:sp>
      <p:sp>
        <p:nvSpPr>
          <p:cNvPr id="5" name="TextBox 4">
            <a:extLst>
              <a:ext uri="{FF2B5EF4-FFF2-40B4-BE49-F238E27FC236}">
                <a16:creationId xmlns:a16="http://schemas.microsoft.com/office/drawing/2014/main" xmlns="" id="{2AA35BC6-D428-FC41-BDE5-6438AB8840FC}"/>
              </a:ext>
            </a:extLst>
          </p:cNvPr>
          <p:cNvSpPr txBox="1"/>
          <p:nvPr/>
        </p:nvSpPr>
        <p:spPr>
          <a:xfrm>
            <a:off x="540565" y="410789"/>
            <a:ext cx="10678978" cy="400110"/>
          </a:xfrm>
          <a:prstGeom prst="rect">
            <a:avLst/>
          </a:prstGeom>
          <a:noFill/>
        </p:spPr>
        <p:txBody>
          <a:bodyPr wrap="square" rtlCol="0">
            <a:spAutoFit/>
          </a:bodyPr>
          <a:lstStyle/>
          <a:p>
            <a:r>
              <a:rPr lang="en-US" sz="2000" dirty="0">
                <a:latin typeface="Verdana" charset="0"/>
                <a:ea typeface="Verdana" charset="0"/>
                <a:cs typeface="Verdana" charset="0"/>
              </a:rPr>
              <a:t>Transformations can be described using words, as well as using a notation. </a:t>
            </a:r>
          </a:p>
        </p:txBody>
      </p:sp>
      <mc:AlternateContent xmlns:mc="http://schemas.openxmlformats.org/markup-compatibility/2006" xmlns:a14="http://schemas.microsoft.com/office/drawing/2010/main">
        <mc:Choice Requires="a14">
          <p:sp>
            <p:nvSpPr>
              <p:cNvPr id="7" name="Rectangle 6"/>
              <p:cNvSpPr/>
              <p:nvPr/>
            </p:nvSpPr>
            <p:spPr>
              <a:xfrm>
                <a:off x="540564" y="1327245"/>
                <a:ext cx="10983359" cy="707886"/>
              </a:xfrm>
              <a:prstGeom prst="rect">
                <a:avLst/>
              </a:prstGeom>
            </p:spPr>
            <p:txBody>
              <a:bodyPr wrap="square">
                <a:spAutoFit/>
              </a:bodyPr>
              <a:lstStyle/>
              <a:p>
                <a:pPr marL="457200" indent="-457200">
                  <a:buFont typeface="+mj-lt"/>
                  <a:buAutoNum type="alphaLcPeriod" startAt="5"/>
                </a:pPr>
                <a:r>
                  <a:rPr lang="en-US" sz="2000" dirty="0">
                    <a:latin typeface="Verdana" charset="0"/>
                    <a:ea typeface="Verdana" charset="0"/>
                    <a:cs typeface="Verdana" charset="0"/>
                  </a:rPr>
                  <a:t>Use the tables to complete the algebraic description of the transformation if parallelogram </a:t>
                </a:r>
                <a14:m>
                  <m:oMath xmlns:m="http://schemas.openxmlformats.org/officeDocument/2006/math">
                    <m:r>
                      <a:rPr lang="en-US" sz="2000" i="1">
                        <a:latin typeface="Cambria Math" panose="02040503050406030204" pitchFamily="18" charset="0"/>
                        <a:ea typeface="Verdana" charset="0"/>
                        <a:cs typeface="Verdana" charset="0"/>
                      </a:rPr>
                      <m:t>𝐷𝑁𝐾𝑇</m:t>
                    </m:r>
                  </m:oMath>
                </a14:m>
                <a:r>
                  <a:rPr lang="en-US" sz="2000" dirty="0">
                    <a:latin typeface="Verdana" charset="0"/>
                    <a:ea typeface="Verdana" charset="0"/>
                    <a:cs typeface="Verdana" charset="0"/>
                  </a:rPr>
                  <a:t> is the preimage.</a:t>
                </a:r>
              </a:p>
            </p:txBody>
          </p:sp>
        </mc:Choice>
        <mc:Fallback xmlns="">
          <p:sp>
            <p:nvSpPr>
              <p:cNvPr id="7" name="Rectangle 6"/>
              <p:cNvSpPr>
                <a:spLocks noRot="1" noChangeAspect="1" noMove="1" noResize="1" noEditPoints="1" noAdjustHandles="1" noChangeArrowheads="1" noChangeShapeType="1" noTextEdit="1"/>
              </p:cNvSpPr>
              <p:nvPr/>
            </p:nvSpPr>
            <p:spPr>
              <a:xfrm>
                <a:off x="540564" y="1327245"/>
                <a:ext cx="10983359" cy="707886"/>
              </a:xfrm>
              <a:prstGeom prst="rect">
                <a:avLst/>
              </a:prstGeom>
              <a:blipFill>
                <a:blip r:embed="rId4"/>
                <a:stretch>
                  <a:fillRect l="-611" t="-6034"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40564" y="3502375"/>
                <a:ext cx="11087585" cy="707886"/>
              </a:xfrm>
              <a:prstGeom prst="rect">
                <a:avLst/>
              </a:prstGeom>
            </p:spPr>
            <p:txBody>
              <a:bodyPr wrap="square">
                <a:spAutoFit/>
              </a:bodyPr>
              <a:lstStyle/>
              <a:p>
                <a:pPr marL="457200" indent="-457200">
                  <a:buFont typeface="+mj-lt"/>
                  <a:buAutoNum type="alphaLcPeriod" startAt="6"/>
                </a:pPr>
                <a:r>
                  <a:rPr lang="en-US" sz="2000" dirty="0">
                    <a:latin typeface="Verdana" charset="0"/>
                    <a:ea typeface="Verdana" charset="0"/>
                    <a:cs typeface="Verdana" charset="0"/>
                  </a:rPr>
                  <a:t>Discuss with your partner how the algebraic description of the transformation would change if parallelogram </a:t>
                </a:r>
                <a14:m>
                  <m:oMath xmlns:m="http://schemas.openxmlformats.org/officeDocument/2006/math">
                    <m:r>
                      <a:rPr lang="en-US" sz="2000" i="1">
                        <a:latin typeface="Cambria Math" panose="02040503050406030204" pitchFamily="18" charset="0"/>
                        <a:ea typeface="Verdana" charset="0"/>
                        <a:cs typeface="Verdana" charset="0"/>
                      </a:rPr>
                      <m:t>𝐺𝑋𝑊𝑅</m:t>
                    </m:r>
                  </m:oMath>
                </a14:m>
                <a:r>
                  <a:rPr lang="en-US" sz="2000" dirty="0">
                    <a:latin typeface="Verdana" charset="0"/>
                    <a:ea typeface="Verdana" charset="0"/>
                    <a:cs typeface="Verdana" charset="0"/>
                  </a:rPr>
                  <a:t> is the preimage.</a:t>
                </a:r>
              </a:p>
            </p:txBody>
          </p:sp>
        </mc:Choice>
        <mc:Fallback xmlns="">
          <p:sp>
            <p:nvSpPr>
              <p:cNvPr id="10" name="Rectangle 9"/>
              <p:cNvSpPr>
                <a:spLocks noRot="1" noChangeAspect="1" noMove="1" noResize="1" noEditPoints="1" noAdjustHandles="1" noChangeArrowheads="1" noChangeShapeType="1" noTextEdit="1"/>
              </p:cNvSpPr>
              <p:nvPr/>
            </p:nvSpPr>
            <p:spPr>
              <a:xfrm>
                <a:off x="540564" y="3502375"/>
                <a:ext cx="11087585" cy="707886"/>
              </a:xfrm>
              <a:prstGeom prst="rect">
                <a:avLst/>
              </a:prstGeom>
              <a:blipFill>
                <a:blip r:embed="rId5"/>
                <a:stretch>
                  <a:fillRect l="-605" t="-6034" b="-14655"/>
                </a:stretch>
              </a:blipFill>
            </p:spPr>
            <p:txBody>
              <a:bodyPr/>
              <a:lstStyle/>
              <a:p>
                <a:r>
                  <a:rPr lang="en-US">
                    <a:noFill/>
                  </a:rPr>
                  <a:t> </a:t>
                </a:r>
              </a:p>
            </p:txBody>
          </p:sp>
        </mc:Fallback>
      </mc:AlternateContent>
      <p:pic>
        <p:nvPicPr>
          <p:cNvPr id="11" name="Picture 10"/>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608633" y="2540152"/>
            <a:ext cx="4191000" cy="457200"/>
          </a:xfrm>
          <a:prstGeom prst="rect">
            <a:avLst/>
          </a:prstGeom>
        </p:spPr>
      </p:pic>
    </p:spTree>
    <p:extLst>
      <p:ext uri="{BB962C8B-B14F-4D97-AF65-F5344CB8AC3E}">
        <p14:creationId xmlns:p14="http://schemas.microsoft.com/office/powerpoint/2010/main" val="2077030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5" y="410789"/>
                <a:ext cx="10708006"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Quadrilaterals </a:t>
                </a:r>
                <a14:m>
                  <m:oMath xmlns:m="http://schemas.openxmlformats.org/officeDocument/2006/math">
                    <m:r>
                      <a:rPr lang="en-US" sz="2000" i="1">
                        <a:latin typeface="Cambria Math" panose="02040503050406030204" pitchFamily="18" charset="0"/>
                        <a:ea typeface="Verdana" charset="0"/>
                        <a:cs typeface="Verdana" charset="0"/>
                      </a:rPr>
                      <m:t>𝐺𝑅𝑇𝑁</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𝑍𝐹𝐷𝐶</m:t>
                    </m:r>
                  </m:oMath>
                </a14:m>
                <a:r>
                  <a:rPr lang="en-US" sz="2000" dirty="0">
                    <a:latin typeface="Verdana" charset="0"/>
                    <a:ea typeface="Verdana" charset="0"/>
                    <a:cs typeface="Verdana" charset="0"/>
                  </a:rPr>
                  <a:t> are shown on the coordinate grid. A mapping of vertex </a:t>
                </a:r>
                <a14:m>
                  <m:oMath xmlns:m="http://schemas.openxmlformats.org/officeDocument/2006/math">
                    <m:r>
                      <a:rPr lang="en-US" sz="2000" i="1">
                        <a:latin typeface="Cambria Math" panose="02040503050406030204" pitchFamily="18" charset="0"/>
                        <a:ea typeface="Verdana" charset="0"/>
                        <a:cs typeface="Verdana" charset="0"/>
                      </a:rPr>
                      <m:t>𝐹</m:t>
                    </m:r>
                  </m:oMath>
                </a14:m>
                <a:r>
                  <a:rPr lang="en-US" sz="2000" dirty="0">
                    <a:latin typeface="Verdana" charset="0"/>
                    <a:ea typeface="Verdana" charset="0"/>
                    <a:cs typeface="Verdana" charset="0"/>
                  </a:rPr>
                  <a:t> is shown.</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0789"/>
                <a:ext cx="10708006" cy="707886"/>
              </a:xfrm>
              <a:prstGeom prst="rect">
                <a:avLst/>
              </a:prstGeom>
              <a:blipFill>
                <a:blip r:embed="rId4"/>
                <a:stretch>
                  <a:fillRect l="-626" t="-5128" r="-1139" b="-1367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13594" y="1332135"/>
            <a:ext cx="3781078" cy="293855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5" y="4485810"/>
                <a:ext cx="10708006" cy="1323439"/>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Map the transformation for the other vertices of quadrilateral </a:t>
                </a:r>
                <a14:m>
                  <m:oMath xmlns:m="http://schemas.openxmlformats.org/officeDocument/2006/math">
                    <m:r>
                      <a:rPr lang="en-US" sz="2000" i="1">
                        <a:latin typeface="Cambria Math" panose="02040503050406030204" pitchFamily="18" charset="0"/>
                        <a:ea typeface="Verdana" charset="0"/>
                        <a:cs typeface="Verdana" charset="0"/>
                      </a:rPr>
                      <m:t>𝑍𝐹𝐷𝐶</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Discuss with your partner how the algebraic description of the transformation, </a:t>
                </a:r>
              </a:p>
              <a:p>
                <a:pPr lvl="0"/>
                <a:r>
                  <a:rPr lang="en-US" sz="2000" dirty="0">
                    <a:ea typeface="Verdana" charset="0"/>
                    <a:cs typeface="Verdana" charset="0"/>
                  </a:rPr>
                  <a:t>      </a:t>
                </a:r>
                <a14:m>
                  <m:oMath xmlns:m="http://schemas.openxmlformats.org/officeDocument/2006/math">
                    <m:d>
                      <m:dPr>
                        <m:ctrlPr>
                          <a:rPr lang="en-US" sz="2000" i="1">
                            <a:latin typeface="Cambria Math" charset="0"/>
                            <a:ea typeface="Verdana" charset="0"/>
                            <a:cs typeface="Verdana" charset="0"/>
                          </a:rPr>
                        </m:ctrlPr>
                      </m:dPr>
                      <m:e>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𝑦</m:t>
                        </m:r>
                      </m:e>
                    </m:d>
                    <m:r>
                      <a:rPr lang="en-US" sz="2000" i="1">
                        <a:latin typeface="Cambria Math" panose="02040503050406030204" pitchFamily="18" charset="0"/>
                        <a:ea typeface="Verdana" charset="0"/>
                        <a:cs typeface="Verdana" charset="0"/>
                      </a:rPr>
                      <m:t>→</m:t>
                    </m:r>
                    <m:d>
                      <m:dPr>
                        <m:ctrlPr>
                          <a:rPr lang="en-US" sz="2000" i="1">
                            <a:latin typeface="Cambria Math" charset="0"/>
                            <a:ea typeface="Verdana" charset="0"/>
                            <a:cs typeface="Verdana" charset="0"/>
                          </a:rPr>
                        </m:ctrlPr>
                      </m:dPr>
                      <m:e>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−16,</m:t>
                        </m:r>
                        <m:r>
                          <a:rPr lang="en-US" sz="2000" i="1">
                            <a:latin typeface="Cambria Math" panose="02040503050406030204" pitchFamily="18" charset="0"/>
                            <a:ea typeface="Verdana" charset="0"/>
                            <a:cs typeface="Verdana" charset="0"/>
                          </a:rPr>
                          <m:t>𝑦</m:t>
                        </m:r>
                        <m:r>
                          <a:rPr lang="en-US" sz="2000" i="1">
                            <a:latin typeface="Cambria Math" panose="02040503050406030204" pitchFamily="18" charset="0"/>
                            <a:ea typeface="Verdana" charset="0"/>
                            <a:cs typeface="Verdana" charset="0"/>
                          </a:rPr>
                          <m:t>+4</m:t>
                        </m:r>
                      </m:e>
                    </m:d>
                  </m:oMath>
                </a14:m>
                <a:r>
                  <a:rPr lang="en-US" sz="2000" i="1" dirty="0">
                    <a:latin typeface="Verdana" charset="0"/>
                    <a:ea typeface="Verdana" charset="0"/>
                    <a:cs typeface="Verdana" charset="0"/>
                  </a:rPr>
                  <a:t>, </a:t>
                </a:r>
                <a:r>
                  <a:rPr lang="en-US" sz="2000" dirty="0">
                    <a:latin typeface="Verdana" charset="0"/>
                    <a:ea typeface="Verdana" charset="0"/>
                    <a:cs typeface="Verdana" charset="0"/>
                  </a:rPr>
                  <a:t>is revealed in the mapping.</a:t>
                </a:r>
              </a:p>
            </p:txBody>
          </p:sp>
        </mc:Choice>
        <mc:Fallback xmlns="">
          <p:sp>
            <p:nvSpPr>
              <p:cNvPr id="3" name="Rectangle 2"/>
              <p:cNvSpPr>
                <a:spLocks noRot="1" noChangeAspect="1" noMove="1" noResize="1" noEditPoints="1" noAdjustHandles="1" noChangeArrowheads="1" noChangeShapeType="1" noTextEdit="1"/>
              </p:cNvSpPr>
              <p:nvPr/>
            </p:nvSpPr>
            <p:spPr>
              <a:xfrm>
                <a:off x="540565" y="4485810"/>
                <a:ext cx="10708006" cy="1323439"/>
              </a:xfrm>
              <a:prstGeom prst="rect">
                <a:avLst/>
              </a:prstGeom>
              <a:blipFill>
                <a:blip r:embed="rId6"/>
                <a:stretch>
                  <a:fillRect l="-626" t="-3226" r="-854" b="-7373"/>
                </a:stretch>
              </a:blipFill>
            </p:spPr>
            <p:txBody>
              <a:bodyPr/>
              <a:lstStyle/>
              <a:p>
                <a:r>
                  <a:rPr lang="en-US">
                    <a:noFill/>
                  </a:rPr>
                  <a:t> </a:t>
                </a:r>
              </a:p>
            </p:txBody>
          </p:sp>
        </mc:Fallback>
      </mc:AlternateContent>
    </p:spTree>
    <p:extLst>
      <p:ext uri="{BB962C8B-B14F-4D97-AF65-F5344CB8AC3E}">
        <p14:creationId xmlns:p14="http://schemas.microsoft.com/office/powerpoint/2010/main" val="917183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180</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642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449"/>
            <a:ext cx="104712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4.1.3. Collaboration: Discovering Algebraic Descriptions for Rotations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180</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593248" y="1386150"/>
                <a:ext cx="109306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panose="02040503050406030204" pitchFamily="18" charset="0"/>
                        <a:ea typeface="Verdana" charset="0"/>
                        <a:cs typeface="Verdana" charset="0"/>
                      </a:rPr>
                      <m:t>𝐵𝑋𝑀</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𝐺𝑊𝑅</m:t>
                    </m:r>
                  </m:oMath>
                </a14:m>
                <a:r>
                  <a:rPr lang="en-US" sz="2000" dirty="0">
                    <a:latin typeface="Verdana" charset="0"/>
                    <a:ea typeface="Verdana" charset="0"/>
                    <a:cs typeface="Verdana" charset="0"/>
                  </a:rPr>
                  <a:t> are shown on the coordinate grid, where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𝐺𝑊𝑅</m:t>
                    </m:r>
                  </m:oMath>
                </a14:m>
                <a:r>
                  <a:rPr lang="en-US" sz="2000" dirty="0">
                    <a:latin typeface="Verdana" charset="0"/>
                    <a:ea typeface="Verdana" charset="0"/>
                    <a:cs typeface="Verdana" charset="0"/>
                  </a:rPr>
                  <a:t> is the preimage. A mapping of vertex </a:t>
                </a:r>
                <a14:m>
                  <m:oMath xmlns:m="http://schemas.openxmlformats.org/officeDocument/2006/math">
                    <m:r>
                      <a:rPr lang="en-US" sz="2000" i="1">
                        <a:latin typeface="Cambria Math" panose="02040503050406030204" pitchFamily="18" charset="0"/>
                        <a:ea typeface="Verdana" charset="0"/>
                        <a:cs typeface="Verdana" charset="0"/>
                      </a:rPr>
                      <m:t>𝐺</m:t>
                    </m:r>
                  </m:oMath>
                </a14:m>
                <a:r>
                  <a:rPr lang="en-US" sz="2000" dirty="0">
                    <a:latin typeface="Verdana" charset="0"/>
                    <a:ea typeface="Verdana" charset="0"/>
                    <a:cs typeface="Verdana" charset="0"/>
                  </a:rPr>
                  <a:t> is shown.</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8" y="1386150"/>
                <a:ext cx="10930676" cy="707886"/>
              </a:xfrm>
              <a:prstGeom prst="rect">
                <a:avLst/>
              </a:prstGeom>
              <a:blipFill>
                <a:blip r:embed="rId5"/>
                <a:stretch>
                  <a:fillRect l="-613" t="-5128" b="-13675"/>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59535" y="2497870"/>
            <a:ext cx="3461180" cy="2657131"/>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8" y="5251059"/>
                <a:ext cx="10930676" cy="1015663"/>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Map the transformation for the other vertices of triangle </a:t>
                </a:r>
                <a14:m>
                  <m:oMath xmlns:m="http://schemas.openxmlformats.org/officeDocument/2006/math">
                    <m:r>
                      <a:rPr lang="en-US" sz="2000" i="1">
                        <a:latin typeface="Cambria Math" panose="02040503050406030204" pitchFamily="18" charset="0"/>
                        <a:ea typeface="Verdana" charset="0"/>
                        <a:cs typeface="Verdana" charset="0"/>
                      </a:rPr>
                      <m:t>𝐺𝑊𝑅</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457200" indent="-457200">
                  <a:buFont typeface="+mj-lt"/>
                  <a:buAutoNum type="alphaLcPeriod" startAt="2"/>
                </a:pPr>
                <a:r>
                  <a:rPr lang="en-US" sz="2000" dirty="0">
                    <a:latin typeface="Verdana" charset="0"/>
                    <a:ea typeface="Verdana" charset="0"/>
                    <a:cs typeface="Verdana" charset="0"/>
                  </a:rPr>
                  <a:t>Describe the transformation if triangle </a:t>
                </a:r>
                <a14:m>
                  <m:oMath xmlns:m="http://schemas.openxmlformats.org/officeDocument/2006/math">
                    <m:r>
                      <a:rPr lang="en-US" sz="2000" i="1">
                        <a:latin typeface="Cambria Math" panose="02040503050406030204" pitchFamily="18" charset="0"/>
                        <a:ea typeface="Verdana" charset="0"/>
                        <a:cs typeface="Verdana" charset="0"/>
                      </a:rPr>
                      <m:t>𝐺𝑊𝑅</m:t>
                    </m:r>
                  </m:oMath>
                </a14:m>
                <a:r>
                  <a:rPr lang="en-US" sz="2000" dirty="0">
                    <a:latin typeface="Verdana" charset="0"/>
                    <a:ea typeface="Verdana" charset="0"/>
                    <a:cs typeface="Verdana" charset="0"/>
                  </a:rPr>
                  <a:t> is the preimage.</a:t>
                </a:r>
              </a:p>
            </p:txBody>
          </p:sp>
        </mc:Choice>
        <mc:Fallback xmlns="">
          <p:sp>
            <p:nvSpPr>
              <p:cNvPr id="3" name="Rectangle 2"/>
              <p:cNvSpPr>
                <a:spLocks noRot="1" noChangeAspect="1" noMove="1" noResize="1" noEditPoints="1" noAdjustHandles="1" noChangeArrowheads="1" noChangeShapeType="1" noTextEdit="1"/>
              </p:cNvSpPr>
              <p:nvPr/>
            </p:nvSpPr>
            <p:spPr>
              <a:xfrm>
                <a:off x="593248" y="5251059"/>
                <a:ext cx="10930676" cy="1015663"/>
              </a:xfrm>
              <a:prstGeom prst="rect">
                <a:avLst/>
              </a:prstGeom>
              <a:blipFill>
                <a:blip r:embed="rId7"/>
                <a:stretch>
                  <a:fillRect l="-613" t="-3593" b="-10180"/>
                </a:stretch>
              </a:blipFill>
            </p:spPr>
            <p:txBody>
              <a:bodyPr/>
              <a:lstStyle/>
              <a:p>
                <a:r>
                  <a:rPr lang="en-US">
                    <a:noFill/>
                  </a:rPr>
                  <a:t> </a:t>
                </a:r>
              </a:p>
            </p:txBody>
          </p:sp>
        </mc:Fallback>
      </mc:AlternateContent>
    </p:spTree>
    <p:extLst>
      <p:ext uri="{BB962C8B-B14F-4D97-AF65-F5344CB8AC3E}">
        <p14:creationId xmlns:p14="http://schemas.microsoft.com/office/powerpoint/2010/main" val="1422455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180</a:t>
            </a:r>
          </a:p>
        </p:txBody>
      </p:sp>
      <p:sp>
        <p:nvSpPr>
          <p:cNvPr id="5" name="TextBox 4">
            <a:extLst>
              <a:ext uri="{FF2B5EF4-FFF2-40B4-BE49-F238E27FC236}">
                <a16:creationId xmlns:a16="http://schemas.microsoft.com/office/drawing/2014/main" xmlns="" id="{2AA35BC6-D428-FC41-BDE5-6438AB8840FC}"/>
              </a:ext>
            </a:extLst>
          </p:cNvPr>
          <p:cNvSpPr txBox="1"/>
          <p:nvPr/>
        </p:nvSpPr>
        <p:spPr>
          <a:xfrm>
            <a:off x="540564" y="410790"/>
            <a:ext cx="10983359" cy="830997"/>
          </a:xfrm>
          <a:prstGeom prst="rect">
            <a:avLst/>
          </a:prstGeom>
          <a:noFill/>
        </p:spPr>
        <p:txBody>
          <a:bodyPr wrap="square" rtlCol="0">
            <a:spAutoFit/>
          </a:bodyPr>
          <a:lstStyle/>
          <a:p>
            <a:pPr marL="457200" indent="-457200">
              <a:buFont typeface="+mj-lt"/>
              <a:buAutoNum type="alphaLcPeriod" startAt="3"/>
            </a:pPr>
            <a:r>
              <a:rPr lang="en-US" sz="2400" dirty="0"/>
              <a:t>Discuss with your partner how to use the table of values to describe the relationship of the corresponding vertices using an algebraic description.</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8799058"/>
                  </p:ext>
                </p:extLst>
              </p:nvPr>
            </p:nvGraphicFramePr>
            <p:xfrm>
              <a:off x="623734" y="1979672"/>
              <a:ext cx="3780754" cy="1545655"/>
            </p:xfrm>
            <a:graphic>
              <a:graphicData uri="http://schemas.openxmlformats.org/drawingml/2006/table">
                <a:tbl>
                  <a:tblPr firstRow="1" firstCol="1" bandRow="1"/>
                  <a:tblGrid>
                    <a:gridCol w="1370016">
                      <a:extLst>
                        <a:ext uri="{9D8B030D-6E8A-4147-A177-3AD203B41FA5}">
                          <a16:colId xmlns:a16="http://schemas.microsoft.com/office/drawing/2014/main" xmlns="" val="20000"/>
                        </a:ext>
                      </a:extLst>
                    </a:gridCol>
                    <a:gridCol w="1163761">
                      <a:extLst>
                        <a:ext uri="{9D8B030D-6E8A-4147-A177-3AD203B41FA5}">
                          <a16:colId xmlns:a16="http://schemas.microsoft.com/office/drawing/2014/main" xmlns="" val="20001"/>
                        </a:ext>
                      </a:extLst>
                    </a:gridCol>
                    <a:gridCol w="1246977">
                      <a:extLst>
                        <a:ext uri="{9D8B030D-6E8A-4147-A177-3AD203B41FA5}">
                          <a16:colId xmlns:a16="http://schemas.microsoft.com/office/drawing/2014/main" xmlns="" val="20002"/>
                        </a:ext>
                      </a:extLst>
                    </a:gridCol>
                  </a:tblGrid>
                  <a:tr h="389940">
                    <a:tc>
                      <a:txBody>
                        <a:bodyPr/>
                        <a:lstStyle/>
                        <a:p>
                          <a:pPr marL="0" marR="0" algn="ctr">
                            <a:spcBef>
                              <a:spcPts val="0"/>
                            </a:spcBef>
                            <a:spcAft>
                              <a:spcPts val="0"/>
                            </a:spcAft>
                          </a:pPr>
                          <a:r>
                            <a:rPr lang="en-US" sz="2400" b="1" dirty="0">
                              <a:effectLst/>
                              <a:latin typeface="Verdana" charset="0"/>
                              <a:ea typeface="Times New Roman" charset="0"/>
                              <a:cs typeface="Times New Roman" charset="0"/>
                            </a:rPr>
                            <a:t>Vertex</a:t>
                          </a:r>
                          <a:endParaRPr lang="en-US" sz="1600" dirty="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Times New Roman" charset="0"/>
                                    <a:cs typeface="Times New Roman" charset="0"/>
                                  </a:rPr>
                                  <m:t>𝒙</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Times New Roman" charset="0"/>
                                    <a:cs typeface="Times New Roman" charset="0"/>
                                  </a:rPr>
                                  <m:t>𝒚</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899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𝐺</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10</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m:t>
                                </m:r>
                                <m:r>
                                  <a:rPr lang="en-US" sz="2400">
                                    <a:effectLst/>
                                    <a:latin typeface="Cambria Math" charset="0"/>
                                    <a:ea typeface="Times New Roman" charset="0"/>
                                    <a:cs typeface="Times New Roman" charset="0"/>
                                  </a:rPr>
                                  <m:t>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899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𝑊</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−10</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7583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𝑅</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−15</m:t>
                                </m:r>
                              </m:oMath>
                            </m:oMathPara>
                          </a14:m>
                          <a:endParaRPr lang="en-US" sz="1600" dirty="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8799058"/>
                  </p:ext>
                </p:extLst>
              </p:nvPr>
            </p:nvGraphicFramePr>
            <p:xfrm>
              <a:off x="623734" y="1979672"/>
              <a:ext cx="3780754" cy="1545655"/>
            </p:xfrm>
            <a:graphic>
              <a:graphicData uri="http://schemas.openxmlformats.org/drawingml/2006/table">
                <a:tbl>
                  <a:tblPr firstRow="1" firstCol="1" bandRow="1"/>
                  <a:tblGrid>
                    <a:gridCol w="1370016">
                      <a:extLst>
                        <a:ext uri="{9D8B030D-6E8A-4147-A177-3AD203B41FA5}">
                          <a16:colId xmlns:a16="http://schemas.microsoft.com/office/drawing/2014/main" val="20000"/>
                        </a:ext>
                      </a:extLst>
                    </a:gridCol>
                    <a:gridCol w="1163761">
                      <a:extLst>
                        <a:ext uri="{9D8B030D-6E8A-4147-A177-3AD203B41FA5}">
                          <a16:colId xmlns:a16="http://schemas.microsoft.com/office/drawing/2014/main" val="20001"/>
                        </a:ext>
                      </a:extLst>
                    </a:gridCol>
                    <a:gridCol w="1246977">
                      <a:extLst>
                        <a:ext uri="{9D8B030D-6E8A-4147-A177-3AD203B41FA5}">
                          <a16:colId xmlns:a16="http://schemas.microsoft.com/office/drawing/2014/main" val="20002"/>
                        </a:ext>
                      </a:extLst>
                    </a:gridCol>
                  </a:tblGrid>
                  <a:tr h="389940">
                    <a:tc>
                      <a:txBody>
                        <a:bodyPr/>
                        <a:lstStyle/>
                        <a:p>
                          <a:pPr marL="0" marR="0" algn="ctr">
                            <a:spcBef>
                              <a:spcPts val="0"/>
                            </a:spcBef>
                            <a:spcAft>
                              <a:spcPts val="0"/>
                            </a:spcAft>
                          </a:pPr>
                          <a:r>
                            <a:rPr lang="en-US" sz="2400" b="1" dirty="0">
                              <a:effectLst/>
                              <a:latin typeface="Verdana" charset="0"/>
                              <a:ea typeface="Times New Roman" charset="0"/>
                              <a:cs typeface="Times New Roman" charset="0"/>
                            </a:rPr>
                            <a:t>Vertex</a:t>
                          </a:r>
                          <a:endParaRPr lang="en-US" sz="1600" dirty="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8325" t="-25000" r="-108377" b="-306250"/>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3415" t="-25000" r="-976" b="-306250"/>
                          </a:stretch>
                        </a:blipFill>
                      </a:tcPr>
                    </a:tc>
                    <a:extLst>
                      <a:ext uri="{0D108BD9-81ED-4DB2-BD59-A6C34878D82A}">
                        <a16:rowId xmlns:a16="http://schemas.microsoft.com/office/drawing/2014/main" val="10000"/>
                      </a:ext>
                    </a:extLst>
                  </a:tr>
                  <a:tr h="389940">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44" t="-123077" r="-176889" b="-20153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8325" t="-123077" r="-108377" b="-20153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3415" t="-123077" r="-976" b="-201538"/>
                          </a:stretch>
                        </a:blipFill>
                      </a:tcPr>
                    </a:tc>
                    <a:extLst>
                      <a:ext uri="{0D108BD9-81ED-4DB2-BD59-A6C34878D82A}">
                        <a16:rowId xmlns:a16="http://schemas.microsoft.com/office/drawing/2014/main" val="10001"/>
                      </a:ext>
                    </a:extLst>
                  </a:tr>
                  <a:tr h="389940">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44" t="-226563" r="-176889" b="-10468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8325" t="-226563" r="-108377" b="-10468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3415" t="-226563" r="-976" b="-104688"/>
                          </a:stretch>
                        </a:blipFill>
                      </a:tcPr>
                    </a:tc>
                    <a:extLst>
                      <a:ext uri="{0D108BD9-81ED-4DB2-BD59-A6C34878D82A}">
                        <a16:rowId xmlns:a16="http://schemas.microsoft.com/office/drawing/2014/main" val="10002"/>
                      </a:ext>
                    </a:extLst>
                  </a:tr>
                  <a:tr h="375835">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44" t="-337097" r="-176889" b="-8065"/>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8325" t="-337097" r="-108377" b="-8065"/>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3415" t="-337097" r="-976" b="-8065"/>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170162336"/>
                  </p:ext>
                </p:extLst>
              </p:nvPr>
            </p:nvGraphicFramePr>
            <p:xfrm>
              <a:off x="4521121" y="1979672"/>
              <a:ext cx="4346581" cy="1545655"/>
            </p:xfrm>
            <a:graphic>
              <a:graphicData uri="http://schemas.openxmlformats.org/drawingml/2006/table">
                <a:tbl>
                  <a:tblPr firstRow="1" firstCol="1" bandRow="1"/>
                  <a:tblGrid>
                    <a:gridCol w="1436139">
                      <a:extLst>
                        <a:ext uri="{9D8B030D-6E8A-4147-A177-3AD203B41FA5}">
                          <a16:colId xmlns:a16="http://schemas.microsoft.com/office/drawing/2014/main" xmlns="" val="20000"/>
                        </a:ext>
                      </a:extLst>
                    </a:gridCol>
                    <a:gridCol w="1455221">
                      <a:extLst>
                        <a:ext uri="{9D8B030D-6E8A-4147-A177-3AD203B41FA5}">
                          <a16:colId xmlns:a16="http://schemas.microsoft.com/office/drawing/2014/main" xmlns="" val="20001"/>
                        </a:ext>
                      </a:extLst>
                    </a:gridCol>
                    <a:gridCol w="1455221">
                      <a:extLst>
                        <a:ext uri="{9D8B030D-6E8A-4147-A177-3AD203B41FA5}">
                          <a16:colId xmlns:a16="http://schemas.microsoft.com/office/drawing/2014/main" xmlns="" val="20002"/>
                        </a:ext>
                      </a:extLst>
                    </a:gridCol>
                  </a:tblGrid>
                  <a:tr h="389940">
                    <a:tc>
                      <a:txBody>
                        <a:bodyPr/>
                        <a:lstStyle/>
                        <a:p>
                          <a:pPr marL="0" marR="0" algn="ctr">
                            <a:spcBef>
                              <a:spcPts val="0"/>
                            </a:spcBef>
                            <a:spcAft>
                              <a:spcPts val="0"/>
                            </a:spcAft>
                          </a:pPr>
                          <a:r>
                            <a:rPr lang="en-US" sz="2400" b="1">
                              <a:effectLst/>
                              <a:latin typeface="Verdana" charset="0"/>
                              <a:ea typeface="Times New Roman" charset="0"/>
                              <a:cs typeface="Times New Roman" charset="0"/>
                            </a:rPr>
                            <a:t>Vertex</a:t>
                          </a:r>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Times New Roman" charset="0"/>
                                    <a:cs typeface="Times New Roman" charset="0"/>
                                  </a:rPr>
                                  <m:t>𝒙</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Times New Roman" charset="0"/>
                                    <a:cs typeface="Times New Roman" charset="0"/>
                                  </a:rPr>
                                  <m:t>𝒚</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899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𝐵</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−10</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899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𝑋</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−10</m:t>
                                </m:r>
                              </m:oMath>
                            </m:oMathPara>
                          </a14:m>
                          <a:endParaRPr lang="en-US" sz="1600" dirty="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7583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𝑀</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−15</m:t>
                                </m:r>
                              </m:oMath>
                            </m:oMathPara>
                          </a14:m>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−15</m:t>
                                </m:r>
                              </m:oMath>
                            </m:oMathPara>
                          </a14:m>
                          <a:endParaRPr lang="en-US" sz="1600" dirty="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170162336"/>
                  </p:ext>
                </p:extLst>
              </p:nvPr>
            </p:nvGraphicFramePr>
            <p:xfrm>
              <a:off x="4521121" y="1979672"/>
              <a:ext cx="4346581" cy="1545655"/>
            </p:xfrm>
            <a:graphic>
              <a:graphicData uri="http://schemas.openxmlformats.org/drawingml/2006/table">
                <a:tbl>
                  <a:tblPr firstRow="1" firstCol="1" bandRow="1"/>
                  <a:tblGrid>
                    <a:gridCol w="1436139">
                      <a:extLst>
                        <a:ext uri="{9D8B030D-6E8A-4147-A177-3AD203B41FA5}">
                          <a16:colId xmlns:a16="http://schemas.microsoft.com/office/drawing/2014/main" val="20000"/>
                        </a:ext>
                      </a:extLst>
                    </a:gridCol>
                    <a:gridCol w="1455221">
                      <a:extLst>
                        <a:ext uri="{9D8B030D-6E8A-4147-A177-3AD203B41FA5}">
                          <a16:colId xmlns:a16="http://schemas.microsoft.com/office/drawing/2014/main" val="20001"/>
                        </a:ext>
                      </a:extLst>
                    </a:gridCol>
                    <a:gridCol w="1455221">
                      <a:extLst>
                        <a:ext uri="{9D8B030D-6E8A-4147-A177-3AD203B41FA5}">
                          <a16:colId xmlns:a16="http://schemas.microsoft.com/office/drawing/2014/main" val="20002"/>
                        </a:ext>
                      </a:extLst>
                    </a:gridCol>
                  </a:tblGrid>
                  <a:tr h="389940">
                    <a:tc>
                      <a:txBody>
                        <a:bodyPr/>
                        <a:lstStyle/>
                        <a:p>
                          <a:pPr marL="0" marR="0" algn="ctr">
                            <a:spcBef>
                              <a:spcPts val="0"/>
                            </a:spcBef>
                            <a:spcAft>
                              <a:spcPts val="0"/>
                            </a:spcAft>
                          </a:pPr>
                          <a:r>
                            <a:rPr lang="en-US" sz="2400" b="1">
                              <a:effectLst/>
                              <a:latin typeface="Verdana" charset="0"/>
                              <a:ea typeface="Times New Roman" charset="0"/>
                              <a:cs typeface="Times New Roman" charset="0"/>
                            </a:rPr>
                            <a:t>Vertex</a:t>
                          </a:r>
                          <a:endParaRPr lang="en-US" sz="1600">
                            <a:effectLst/>
                            <a:latin typeface="Cambria" charset="0"/>
                            <a:ea typeface="Times New Roman" charset="0"/>
                            <a:cs typeface="Times New Roman" charset="0"/>
                          </a:endParaRPr>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9163" t="-25000" r="-100837" b="-306250"/>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99163" t="-25000" r="-837" b="-306250"/>
                          </a:stretch>
                        </a:blipFill>
                      </a:tcPr>
                    </a:tc>
                    <a:extLst>
                      <a:ext uri="{0D108BD9-81ED-4DB2-BD59-A6C34878D82A}">
                        <a16:rowId xmlns:a16="http://schemas.microsoft.com/office/drawing/2014/main" val="10000"/>
                      </a:ext>
                    </a:extLst>
                  </a:tr>
                  <a:tr h="389940">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4" t="-123077" r="-203390" b="-20153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9163" t="-123077" r="-100837" b="-20153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99163" t="-123077" r="-837" b="-201538"/>
                          </a:stretch>
                        </a:blipFill>
                      </a:tcPr>
                    </a:tc>
                    <a:extLst>
                      <a:ext uri="{0D108BD9-81ED-4DB2-BD59-A6C34878D82A}">
                        <a16:rowId xmlns:a16="http://schemas.microsoft.com/office/drawing/2014/main" val="10001"/>
                      </a:ext>
                    </a:extLst>
                  </a:tr>
                  <a:tr h="389940">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4" t="-226563" r="-203390" b="-10468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9163" t="-226563" r="-100837" b="-104688"/>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99163" t="-226563" r="-837" b="-104688"/>
                          </a:stretch>
                        </a:blipFill>
                      </a:tcPr>
                    </a:tc>
                    <a:extLst>
                      <a:ext uri="{0D108BD9-81ED-4DB2-BD59-A6C34878D82A}">
                        <a16:rowId xmlns:a16="http://schemas.microsoft.com/office/drawing/2014/main" val="10002"/>
                      </a:ext>
                    </a:extLst>
                  </a:tr>
                  <a:tr h="375835">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4" t="-337097" r="-203390" b="-8065"/>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9163" t="-337097" r="-100837" b="-8065"/>
                          </a:stretch>
                        </a:blipFill>
                      </a:tcPr>
                    </a:tc>
                    <a:tc>
                      <a:txBody>
                        <a:bodyPr/>
                        <a:lstStyle/>
                        <a:p>
                          <a:endParaRPr lang="en-US"/>
                        </a:p>
                      </a:txBody>
                      <a:tcPr marL="89603" marR="89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99163" t="-337097" r="-837" b="-8065"/>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4" name="Rectangle 3"/>
              <p:cNvSpPr/>
              <p:nvPr/>
            </p:nvSpPr>
            <p:spPr>
              <a:xfrm>
                <a:off x="1440740" y="1469311"/>
                <a:ext cx="2146742"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panose="02040503050406030204" pitchFamily="18" charset="0"/>
                        <a:ea typeface="Verdana" charset="0"/>
                        <a:cs typeface="Verdana" charset="0"/>
                      </a:rPr>
                      <m:t>𝑮𝑾𝑹</m:t>
                    </m:r>
                  </m:oMath>
                </a14:m>
                <a:r>
                  <a:rPr lang="en-US" sz="2000" dirty="0">
                    <a:latin typeface="Verdana" charset="0"/>
                    <a:ea typeface="Verdana" charset="0"/>
                    <a:cs typeface="Verdana"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1440740" y="1469311"/>
                <a:ext cx="2146742" cy="400110"/>
              </a:xfrm>
              <a:prstGeom prst="rect">
                <a:avLst/>
              </a:prstGeom>
              <a:blipFill>
                <a:blip r:embed="rId6"/>
                <a:stretch>
                  <a:fillRect l="-2841"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621039" y="1469311"/>
                <a:ext cx="2143536"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charset="0"/>
                        <a:ea typeface="Verdana" charset="0"/>
                        <a:cs typeface="Verdana" charset="0"/>
                      </a:rPr>
                      <m:t>𝑩𝑿𝑴</m:t>
                    </m:r>
                  </m:oMath>
                </a14:m>
                <a:r>
                  <a:rPr lang="en-US" sz="2000" dirty="0">
                    <a:latin typeface="Verdana" charset="0"/>
                    <a:ea typeface="Verdana" charset="0"/>
                    <a:cs typeface="Verdana" charset="0"/>
                  </a:rPr>
                  <a:t> </a:t>
                </a:r>
              </a:p>
            </p:txBody>
          </p:sp>
        </mc:Choice>
        <mc:Fallback xmlns="">
          <p:sp>
            <p:nvSpPr>
              <p:cNvPr id="9" name="Rectangle 8"/>
              <p:cNvSpPr>
                <a:spLocks noRot="1" noChangeAspect="1" noMove="1" noResize="1" noEditPoints="1" noAdjustHandles="1" noChangeArrowheads="1" noChangeShapeType="1" noTextEdit="1"/>
              </p:cNvSpPr>
              <p:nvPr/>
            </p:nvSpPr>
            <p:spPr>
              <a:xfrm>
                <a:off x="5621039" y="1469311"/>
                <a:ext cx="2143536" cy="400110"/>
              </a:xfrm>
              <a:prstGeom prst="rect">
                <a:avLst/>
              </a:prstGeom>
              <a:blipFill>
                <a:blip r:embed="rId7"/>
                <a:stretch>
                  <a:fillRect l="-2841" t="-7576" b="-25758"/>
                </a:stretch>
              </a:blipFill>
            </p:spPr>
            <p:txBody>
              <a:bodyPr/>
              <a:lstStyle/>
              <a:p>
                <a:r>
                  <a:rPr lang="en-US">
                    <a:noFill/>
                  </a:rPr>
                  <a:t> </a:t>
                </a:r>
              </a:p>
            </p:txBody>
          </p:sp>
        </mc:Fallback>
      </mc:AlternateContent>
      <p:sp>
        <p:nvSpPr>
          <p:cNvPr id="6" name="Rectangle 5"/>
          <p:cNvSpPr/>
          <p:nvPr/>
        </p:nvSpPr>
        <p:spPr>
          <a:xfrm>
            <a:off x="623734" y="3785932"/>
            <a:ext cx="10900189" cy="707886"/>
          </a:xfrm>
          <a:prstGeom prst="rect">
            <a:avLst/>
          </a:prstGeom>
        </p:spPr>
        <p:txBody>
          <a:bodyPr wrap="square">
            <a:spAutoFit/>
          </a:bodyPr>
          <a:lstStyle/>
          <a:p>
            <a:pPr marL="457200" indent="-457200">
              <a:buFont typeface="+mj-lt"/>
              <a:buAutoNum type="alphaLcPeriod" startAt="4"/>
            </a:pPr>
            <a:r>
              <a:rPr lang="en-US" sz="2000" dirty="0">
                <a:latin typeface="Verdana" charset="0"/>
                <a:ea typeface="Times New Roman" charset="0"/>
                <a:cs typeface="Arial" charset="0"/>
              </a:rPr>
              <a:t>Write a conjecture that you and your partner think will work for the algebraic description of the rotation.</a:t>
            </a:r>
            <a:endParaRPr lang="en-US" sz="2000" dirty="0">
              <a:latin typeface="Cambria" charset="0"/>
              <a:ea typeface="Times New Roman" charset="0"/>
              <a:cs typeface="Times New Roman" charset="0"/>
            </a:endParaRPr>
          </a:p>
        </p:txBody>
      </p:sp>
      <p:pic>
        <p:nvPicPr>
          <p:cNvPr id="7" name="Picture 6"/>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1040911" y="4721342"/>
            <a:ext cx="2946400" cy="393700"/>
          </a:xfrm>
          <a:prstGeom prst="rect">
            <a:avLst/>
          </a:prstGeom>
        </p:spPr>
      </p:pic>
    </p:spTree>
    <p:extLst>
      <p:ext uri="{BB962C8B-B14F-4D97-AF65-F5344CB8AC3E}">
        <p14:creationId xmlns:p14="http://schemas.microsoft.com/office/powerpoint/2010/main" val="148141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4" y="410789"/>
                <a:ext cx="11087585"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Triangles </a:t>
                </a:r>
                <a14:m>
                  <m:oMath xmlns:m="http://schemas.openxmlformats.org/officeDocument/2006/math">
                    <m:r>
                      <a:rPr lang="en-US" sz="2000" i="1">
                        <a:latin typeface="Cambria Math" panose="02040503050406030204" pitchFamily="18" charset="0"/>
                        <a:ea typeface="Verdana" charset="0"/>
                        <a:cs typeface="Verdana" charset="0"/>
                      </a:rPr>
                      <m:t>𝐶𝐿𝑊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are shown on the coordinate grid. Triangle </a:t>
                </a:r>
                <a14:m>
                  <m:oMath xmlns:m="http://schemas.openxmlformats.org/officeDocument/2006/math">
                    <m:r>
                      <a:rPr lang="en-US" sz="2000" i="1">
                        <a:latin typeface="Cambria Math" panose="02040503050406030204" pitchFamily="18" charset="0"/>
                        <a:ea typeface="Verdana" charset="0"/>
                        <a:cs typeface="Verdana" charset="0"/>
                      </a:rPr>
                      <m:t>𝐶𝐿𝑊</m:t>
                    </m:r>
                  </m:oMath>
                </a14:m>
                <a:r>
                  <a:rPr lang="en-US" sz="2000" dirty="0">
                    <a:latin typeface="Verdana" charset="0"/>
                    <a:ea typeface="Verdana" charset="0"/>
                    <a:cs typeface="Verdana" charset="0"/>
                  </a:rPr>
                  <a:t> was rotated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about </a:t>
                </a:r>
                <a14:m>
                  <m:oMath xmlns:m="http://schemas.openxmlformats.org/officeDocument/2006/math">
                    <m:r>
                      <a:rPr lang="en-US" sz="2000" i="1">
                        <a:latin typeface="Cambria Math" panose="02040503050406030204" pitchFamily="18" charset="0"/>
                        <a:ea typeface="Verdana" charset="0"/>
                        <a:cs typeface="Verdana" charset="0"/>
                      </a:rPr>
                      <m:t>𝑀</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10789"/>
                <a:ext cx="11087585" cy="707886"/>
              </a:xfrm>
              <a:prstGeom prst="rect">
                <a:avLst/>
              </a:prstGeom>
              <a:blipFill>
                <a:blip r:embed="rId4"/>
                <a:stretch>
                  <a:fillRect l="-605" t="-5128" b="-136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579492" y="4601747"/>
                <a:ext cx="2103461"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charset="0"/>
                        <a:ea typeface="Verdana" charset="0"/>
                        <a:cs typeface="Verdana" charset="0"/>
                      </a:rPr>
                      <m:t>𝑪𝑳𝑾</m:t>
                    </m:r>
                  </m:oMath>
                </a14:m>
                <a:r>
                  <a:rPr lang="en-US" sz="2000" dirty="0">
                    <a:latin typeface="Verdana" charset="0"/>
                    <a:ea typeface="Verdana" charset="0"/>
                    <a:cs typeface="Verdana"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1579492" y="4601747"/>
                <a:ext cx="2103461" cy="400110"/>
              </a:xfrm>
              <a:prstGeom prst="rect">
                <a:avLst/>
              </a:prstGeom>
              <a:blipFill>
                <a:blip r:embed="rId5"/>
                <a:stretch>
                  <a:fillRect l="-2899" t="-9091" b="-25758"/>
                </a:stretch>
              </a:blipFill>
            </p:spPr>
            <p:txBody>
              <a:bodyPr/>
              <a:lstStyle/>
              <a:p>
                <a:r>
                  <a:rPr lang="en-US">
                    <a:noFill/>
                  </a:rPr>
                  <a:t> </a:t>
                </a:r>
              </a:p>
            </p:txBody>
          </p:sp>
        </mc:Fallback>
      </mc:AlternateContent>
      <p:pic>
        <p:nvPicPr>
          <p:cNvPr id="8" name="Picture 7"/>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01544" y="1214819"/>
            <a:ext cx="3581400" cy="3290785"/>
          </a:xfrm>
          <a:prstGeom prst="rect">
            <a:avLst/>
          </a:prstGeom>
        </p:spPr>
      </p:pic>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395688317"/>
                  </p:ext>
                </p:extLst>
              </p:nvPr>
            </p:nvGraphicFramePr>
            <p:xfrm>
              <a:off x="1184376" y="5155553"/>
              <a:ext cx="2893695" cy="1183005"/>
            </p:xfrm>
            <a:graphic>
              <a:graphicData uri="http://schemas.openxmlformats.org/drawingml/2006/table">
                <a:tbl>
                  <a:tblPr firstRow="1" firstCol="1" bandRow="1"/>
                  <a:tblGrid>
                    <a:gridCol w="1062172">
                      <a:extLst>
                        <a:ext uri="{9D8B030D-6E8A-4147-A177-3AD203B41FA5}">
                          <a16:colId xmlns:a16="http://schemas.microsoft.com/office/drawing/2014/main" xmlns="" val="20000"/>
                        </a:ext>
                      </a:extLst>
                    </a:gridCol>
                    <a:gridCol w="877118">
                      <a:extLst>
                        <a:ext uri="{9D8B030D-6E8A-4147-A177-3AD203B41FA5}">
                          <a16:colId xmlns:a16="http://schemas.microsoft.com/office/drawing/2014/main" xmlns="" val="20001"/>
                        </a:ext>
                      </a:extLst>
                    </a:gridCol>
                    <a:gridCol w="954405">
                      <a:extLst>
                        <a:ext uri="{9D8B030D-6E8A-4147-A177-3AD203B41FA5}">
                          <a16:colId xmlns:a16="http://schemas.microsoft.com/office/drawing/2014/main" xmlns=""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𝐶</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𝐿</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2</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𝑊</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395688317"/>
                  </p:ext>
                </p:extLst>
              </p:nvPr>
            </p:nvGraphicFramePr>
            <p:xfrm>
              <a:off x="1184376" y="5155553"/>
              <a:ext cx="2893695" cy="1183005"/>
            </p:xfrm>
            <a:graphic>
              <a:graphicData uri="http://schemas.openxmlformats.org/drawingml/2006/table">
                <a:tbl>
                  <a:tblPr firstRow="1" firstCol="1" bandRow="1"/>
                  <a:tblGrid>
                    <a:gridCol w="1062172">
                      <a:extLst>
                        <a:ext uri="{9D8B030D-6E8A-4147-A177-3AD203B41FA5}">
                          <a16:colId xmlns:a16="http://schemas.microsoft.com/office/drawing/2014/main" val="20000"/>
                        </a:ext>
                      </a:extLst>
                    </a:gridCol>
                    <a:gridCol w="877118">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528" t="-24490" r="-111111" b="-3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3185" t="-24490" r="-1911" b="-302041"/>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75" t="-124490" r="-174713" b="-2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528" t="-124490" r="-111111" b="-2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3185" t="-124490" r="-1911" b="-202041"/>
                          </a:stretch>
                        </a:blipFill>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75" t="-220000" r="-174713" b="-98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528" t="-220000" r="-111111" b="-98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3185" t="-220000" r="-1911" b="-98000"/>
                          </a:stretch>
                        </a:blipFill>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75" t="-340426" r="-174713"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528" t="-340426" r="-111111"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3185" t="-340426" r="-1911" b="-4255"/>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3666124926"/>
                  </p:ext>
                </p:extLst>
              </p:nvPr>
            </p:nvGraphicFramePr>
            <p:xfrm>
              <a:off x="4668541" y="5155553"/>
              <a:ext cx="3326765" cy="1183005"/>
            </p:xfrm>
            <a:graphic>
              <a:graphicData uri="http://schemas.openxmlformats.org/drawingml/2006/table">
                <a:tbl>
                  <a:tblPr firstRow="1" firstCol="1" bandRow="1"/>
                  <a:tblGrid>
                    <a:gridCol w="1099185">
                      <a:extLst>
                        <a:ext uri="{9D8B030D-6E8A-4147-A177-3AD203B41FA5}">
                          <a16:colId xmlns:a16="http://schemas.microsoft.com/office/drawing/2014/main" xmlns="" val="20000"/>
                        </a:ext>
                      </a:extLst>
                    </a:gridCol>
                    <a:gridCol w="1113790">
                      <a:extLst>
                        <a:ext uri="{9D8B030D-6E8A-4147-A177-3AD203B41FA5}">
                          <a16:colId xmlns:a16="http://schemas.microsoft.com/office/drawing/2014/main" xmlns="" val="20001"/>
                        </a:ext>
                      </a:extLst>
                    </a:gridCol>
                    <a:gridCol w="1113790">
                      <a:extLst>
                        <a:ext uri="{9D8B030D-6E8A-4147-A177-3AD203B41FA5}">
                          <a16:colId xmlns:a16="http://schemas.microsoft.com/office/drawing/2014/main" xmlns=""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𝐶</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𝐿</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−2</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𝑊</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3666124926"/>
                  </p:ext>
                </p:extLst>
              </p:nvPr>
            </p:nvGraphicFramePr>
            <p:xfrm>
              <a:off x="4668541" y="5155553"/>
              <a:ext cx="3326765" cy="1183005"/>
            </p:xfrm>
            <a:graphic>
              <a:graphicData uri="http://schemas.openxmlformats.org/drawingml/2006/table">
                <a:tbl>
                  <a:tblPr firstRow="1" firstCol="1" bandRow="1"/>
                  <a:tblGrid>
                    <a:gridCol w="1099185">
                      <a:extLst>
                        <a:ext uri="{9D8B030D-6E8A-4147-A177-3AD203B41FA5}">
                          <a16:colId xmlns:a16="http://schemas.microsoft.com/office/drawing/2014/main" val="20000"/>
                        </a:ext>
                      </a:extLst>
                    </a:gridCol>
                    <a:gridCol w="1113790">
                      <a:extLst>
                        <a:ext uri="{9D8B030D-6E8A-4147-A177-3AD203B41FA5}">
                          <a16:colId xmlns:a16="http://schemas.microsoft.com/office/drawing/2014/main" val="20001"/>
                        </a:ext>
                      </a:extLst>
                    </a:gridCol>
                    <a:gridCol w="1113790">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99454" t="-24490" r="-101093" b="-3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199454" t="-24490" r="-1093" b="-304082"/>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552" t="-124490" r="-203315" b="-2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99454" t="-124490" r="-101093" b="-2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199454" t="-124490" r="-1093" b="-204082"/>
                          </a:stretch>
                        </a:blipFill>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552" t="-220000" r="-203315" b="-10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99454" t="-220000" r="-101093" b="-10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199454" t="-220000" r="-1093" b="-100000"/>
                          </a:stretch>
                        </a:blipFill>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552" t="-340426" r="-203315" b="-63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99454" t="-340426" r="-101093" b="-63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8"/>
                          <a:stretch>
                            <a:fillRect l="-199454" t="-340426" r="-1093" b="-6383"/>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15" name="Rectangle 14"/>
              <p:cNvSpPr/>
              <p:nvPr/>
            </p:nvSpPr>
            <p:spPr>
              <a:xfrm>
                <a:off x="5280191" y="4636200"/>
                <a:ext cx="2325124"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sSup>
                      <m:sSupPr>
                        <m:ctrlPr>
                          <a:rPr lang="en-US" sz="2000" b="1" i="1">
                            <a:latin typeface="Cambria Math" charset="0"/>
                            <a:ea typeface="Verdana" charset="0"/>
                            <a:cs typeface="Verdana" charset="0"/>
                          </a:rPr>
                        </m:ctrlPr>
                      </m:sSupPr>
                      <m:e>
                        <m:r>
                          <a:rPr lang="en-US" sz="2000" b="1" i="1">
                            <a:latin typeface="Cambria Math" charset="0"/>
                            <a:ea typeface="Verdana" charset="0"/>
                            <a:cs typeface="Verdana" charset="0"/>
                          </a:rPr>
                          <m:t>𝑪</m:t>
                        </m:r>
                      </m:e>
                      <m:sup>
                        <m:r>
                          <a:rPr lang="en-US" sz="2000" b="1" i="1">
                            <a:latin typeface="Cambria Math" charset="0"/>
                            <a:ea typeface="Verdana" charset="0"/>
                            <a:cs typeface="Verdana" charset="0"/>
                          </a:rPr>
                          <m:t>′</m:t>
                        </m:r>
                      </m:sup>
                    </m:sSup>
                    <m:sSup>
                      <m:sSupPr>
                        <m:ctrlPr>
                          <a:rPr lang="en-US" sz="2000" b="1" i="1">
                            <a:latin typeface="Cambria Math" charset="0"/>
                            <a:ea typeface="Verdana" charset="0"/>
                            <a:cs typeface="Verdana" charset="0"/>
                          </a:rPr>
                        </m:ctrlPr>
                      </m:sSupPr>
                      <m:e>
                        <m:r>
                          <a:rPr lang="en-US" sz="2000" b="1" i="1">
                            <a:latin typeface="Cambria Math" charset="0"/>
                            <a:ea typeface="Verdana" charset="0"/>
                            <a:cs typeface="Verdana" charset="0"/>
                          </a:rPr>
                          <m:t>𝑳</m:t>
                        </m:r>
                      </m:e>
                      <m:sup>
                        <m:r>
                          <a:rPr lang="en-US" sz="2000" b="1" i="1">
                            <a:latin typeface="Cambria Math" charset="0"/>
                            <a:ea typeface="Verdana" charset="0"/>
                            <a:cs typeface="Verdana" charset="0"/>
                          </a:rPr>
                          <m:t>′</m:t>
                        </m:r>
                      </m:sup>
                    </m:sSup>
                    <m:r>
                      <a:rPr lang="en-US" sz="2000" b="1" i="1">
                        <a:latin typeface="Cambria Math" charset="0"/>
                        <a:ea typeface="Verdana" charset="0"/>
                        <a:cs typeface="Verdana" charset="0"/>
                      </a:rPr>
                      <m:t>𝑾</m:t>
                    </m:r>
                    <m:r>
                      <a:rPr lang="en-US" sz="2000" b="1" i="1">
                        <a:latin typeface="Cambria Math"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15" name="Rectangle 14"/>
              <p:cNvSpPr>
                <a:spLocks noRot="1" noChangeAspect="1" noMove="1" noResize="1" noEditPoints="1" noAdjustHandles="1" noChangeArrowheads="1" noChangeShapeType="1" noTextEdit="1"/>
              </p:cNvSpPr>
              <p:nvPr/>
            </p:nvSpPr>
            <p:spPr>
              <a:xfrm>
                <a:off x="5280191" y="4636200"/>
                <a:ext cx="2325124" cy="400110"/>
              </a:xfrm>
              <a:prstGeom prst="rect">
                <a:avLst/>
              </a:prstGeom>
              <a:blipFill>
                <a:blip r:embed="rId9"/>
                <a:stretch>
                  <a:fillRect l="-2618" t="-9231" b="-27692"/>
                </a:stretch>
              </a:blipFill>
            </p:spPr>
            <p:txBody>
              <a:bodyPr/>
              <a:lstStyle/>
              <a:p>
                <a:r>
                  <a:rPr lang="en-US">
                    <a:noFill/>
                  </a:rPr>
                  <a:t> </a:t>
                </a:r>
              </a:p>
            </p:txBody>
          </p:sp>
        </mc:Fallback>
      </mc:AlternateContent>
    </p:spTree>
    <p:extLst>
      <p:ext uri="{BB962C8B-B14F-4D97-AF65-F5344CB8AC3E}">
        <p14:creationId xmlns:p14="http://schemas.microsoft.com/office/powerpoint/2010/main" val="740395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108"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74882"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4" y="410789"/>
                <a:ext cx="10968317" cy="3785652"/>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It was stated that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𝐶𝐿𝑊</m:t>
                    </m:r>
                  </m:oMath>
                </a14:m>
                <a:r>
                  <a:rPr lang="en-US" sz="2000" dirty="0">
                    <a:latin typeface="Verdana" charset="0"/>
                    <a:ea typeface="Verdana" charset="0"/>
                    <a:cs typeface="Verdana" charset="0"/>
                  </a:rPr>
                  <a:t> was rotated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about </a:t>
                </a:r>
                <a14:m>
                  <m:oMath xmlns:m="http://schemas.openxmlformats.org/officeDocument/2006/math">
                    <m:r>
                      <a:rPr lang="en-US" sz="2000" i="1">
                        <a:latin typeface="Cambria Math" panose="02040503050406030204" pitchFamily="18" charset="0"/>
                        <a:ea typeface="Verdana" charset="0"/>
                        <a:cs typeface="Verdana" charset="0"/>
                      </a:rPr>
                      <m:t>𝑀</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Was that rotation clockwise or counterclockwise?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Discuss with your partner how your previous conjecture works with rotating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𝐶𝐿𝑊</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about </a:t>
                </a:r>
                <a14:m>
                  <m:oMath xmlns:m="http://schemas.openxmlformats.org/officeDocument/2006/math">
                    <m:r>
                      <a:rPr lang="en-US" sz="2000" i="1">
                        <a:latin typeface="Cambria Math" panose="02040503050406030204" pitchFamily="18" charset="0"/>
                        <a:ea typeface="Verdana" charset="0"/>
                        <a:cs typeface="Verdana" charset="0"/>
                      </a:rPr>
                      <m:t>𝑀</m:t>
                    </m:r>
                  </m:oMath>
                </a14:m>
                <a:r>
                  <a:rPr lang="en-US" sz="2000" dirty="0">
                    <a:latin typeface="Verdana" charset="0"/>
                    <a:ea typeface="Verdana" charset="0"/>
                    <a:cs typeface="Verdana" charset="0"/>
                  </a:rPr>
                  <a:t>. If necessary, write a new conjecture that works for rotations of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about the origin. Include the direction of the rotation determined.</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Assuming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was the preimage and is rotated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about the origin, test whether your previous or new conjecture works to describe this rotation. Include the direction of rotation.</a:t>
                </a:r>
              </a:p>
              <a:p>
                <a:pPr marL="457200" indent="-457200">
                  <a:buFont typeface="+mj-lt"/>
                  <a:buAutoNum type="alphaLcPeriod"/>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10789"/>
                <a:ext cx="10968317" cy="3785652"/>
              </a:xfrm>
              <a:prstGeom prst="rect">
                <a:avLst/>
              </a:prstGeom>
              <a:blipFill>
                <a:blip r:embed="rId4"/>
                <a:stretch>
                  <a:fillRect l="-611" t="-966"/>
                </a:stretch>
              </a:blipFill>
            </p:spPr>
            <p:txBody>
              <a:bodyPr/>
              <a:lstStyle/>
              <a:p>
                <a:r>
                  <a:rPr lang="en-US">
                    <a:noFill/>
                  </a:rPr>
                  <a:t> </a:t>
                </a:r>
              </a:p>
            </p:txBody>
          </p:sp>
        </mc:Fallback>
      </mc:AlternateContent>
    </p:spTree>
    <p:extLst>
      <p:ext uri="{BB962C8B-B14F-4D97-AF65-F5344CB8AC3E}">
        <p14:creationId xmlns:p14="http://schemas.microsoft.com/office/powerpoint/2010/main" val="559580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182</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4" y="410790"/>
                <a:ext cx="11087585" cy="70788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Triangles </a:t>
                </a:r>
                <a14:m>
                  <m:oMath xmlns:m="http://schemas.openxmlformats.org/officeDocument/2006/math">
                    <m:r>
                      <a:rPr lang="en-US" sz="2000" i="1">
                        <a:latin typeface="Cambria Math" panose="02040503050406030204" pitchFamily="18" charset="0"/>
                        <a:ea typeface="Verdana" charset="0"/>
                        <a:cs typeface="Verdana" charset="0"/>
                      </a:rPr>
                      <m:t>𝑌𝐶𝑅</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are shown on the coordinate grid.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𝑌𝐶𝑅</m:t>
                    </m:r>
                  </m:oMath>
                </a14:m>
                <a:r>
                  <a:rPr lang="en-US" sz="2000" dirty="0">
                    <a:latin typeface="Verdana" charset="0"/>
                    <a:ea typeface="Verdana" charset="0"/>
                    <a:cs typeface="Verdana" charset="0"/>
                  </a:rPr>
                  <a:t> was rotated </a:t>
                </a:r>
                <a14:m>
                  <m:oMath xmlns:m="http://schemas.openxmlformats.org/officeDocument/2006/math">
                    <m:r>
                      <a:rPr lang="en-US" sz="2000" i="1">
                        <a:latin typeface="Cambria Math" panose="02040503050406030204" pitchFamily="18" charset="0"/>
                        <a:ea typeface="Verdana" charset="0"/>
                        <a:cs typeface="Verdana" charset="0"/>
                      </a:rPr>
                      <m:t>270°</m:t>
                    </m:r>
                  </m:oMath>
                </a14:m>
                <a:r>
                  <a:rPr lang="en-US" sz="2000" dirty="0">
                    <a:latin typeface="Verdana" charset="0"/>
                    <a:ea typeface="Verdana" charset="0"/>
                    <a:cs typeface="Verdana" charset="0"/>
                  </a:rPr>
                  <a:t> counterclockwise about </a:t>
                </a:r>
                <a14:m>
                  <m:oMath xmlns:m="http://schemas.openxmlformats.org/officeDocument/2006/math">
                    <m:r>
                      <a:rPr lang="en-US" sz="2000" i="1">
                        <a:latin typeface="Cambria Math" panose="02040503050406030204" pitchFamily="18" charset="0"/>
                        <a:ea typeface="Verdana" charset="0"/>
                        <a:cs typeface="Verdana" charset="0"/>
                      </a:rPr>
                      <m:t>𝑇</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10790"/>
                <a:ext cx="11087585" cy="707886"/>
              </a:xfrm>
              <a:prstGeom prst="rect">
                <a:avLst/>
              </a:prstGeom>
              <a:blipFill>
                <a:blip r:embed="rId4"/>
                <a:stretch>
                  <a:fillRect l="-605" t="-5128" b="-136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579492" y="4601747"/>
                <a:ext cx="2047355"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charset="0"/>
                        <a:ea typeface="Verdana" charset="0"/>
                        <a:cs typeface="Verdana" charset="0"/>
                      </a:rPr>
                      <m:t>𝒀𝑪𝑹</m:t>
                    </m:r>
                  </m:oMath>
                </a14:m>
                <a:r>
                  <a:rPr lang="en-US" sz="2000" dirty="0">
                    <a:latin typeface="Verdana" charset="0"/>
                    <a:ea typeface="Verdana" charset="0"/>
                    <a:cs typeface="Verdana"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1579492" y="4601747"/>
                <a:ext cx="2047355" cy="400110"/>
              </a:xfrm>
              <a:prstGeom prst="rect">
                <a:avLst/>
              </a:prstGeom>
              <a:blipFill>
                <a:blip r:embed="rId5"/>
                <a:stretch>
                  <a:fillRect l="-2976" t="-9091"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578739885"/>
                  </p:ext>
                </p:extLst>
              </p:nvPr>
            </p:nvGraphicFramePr>
            <p:xfrm>
              <a:off x="1184376" y="5155553"/>
              <a:ext cx="2893695" cy="1183005"/>
            </p:xfrm>
            <a:graphic>
              <a:graphicData uri="http://schemas.openxmlformats.org/drawingml/2006/table">
                <a:tbl>
                  <a:tblPr firstRow="1" firstCol="1" bandRow="1"/>
                  <a:tblGrid>
                    <a:gridCol w="1062172">
                      <a:extLst>
                        <a:ext uri="{9D8B030D-6E8A-4147-A177-3AD203B41FA5}">
                          <a16:colId xmlns:a16="http://schemas.microsoft.com/office/drawing/2014/main" xmlns="" val="20000"/>
                        </a:ext>
                      </a:extLst>
                    </a:gridCol>
                    <a:gridCol w="877118">
                      <a:extLst>
                        <a:ext uri="{9D8B030D-6E8A-4147-A177-3AD203B41FA5}">
                          <a16:colId xmlns:a16="http://schemas.microsoft.com/office/drawing/2014/main" xmlns="" val="20001"/>
                        </a:ext>
                      </a:extLst>
                    </a:gridCol>
                    <a:gridCol w="954405">
                      <a:extLst>
                        <a:ext uri="{9D8B030D-6E8A-4147-A177-3AD203B41FA5}">
                          <a16:colId xmlns:a16="http://schemas.microsoft.com/office/drawing/2014/main" xmlns=""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𝑌</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6</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8</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𝐶</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𝑅</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2</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6</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578739885"/>
                  </p:ext>
                </p:extLst>
              </p:nvPr>
            </p:nvGraphicFramePr>
            <p:xfrm>
              <a:off x="1184376" y="5155553"/>
              <a:ext cx="2893695" cy="1183005"/>
            </p:xfrm>
            <a:graphic>
              <a:graphicData uri="http://schemas.openxmlformats.org/drawingml/2006/table">
                <a:tbl>
                  <a:tblPr firstRow="1" firstCol="1" bandRow="1"/>
                  <a:tblGrid>
                    <a:gridCol w="1062172">
                      <a:extLst>
                        <a:ext uri="{9D8B030D-6E8A-4147-A177-3AD203B41FA5}">
                          <a16:colId xmlns:a16="http://schemas.microsoft.com/office/drawing/2014/main" val="20000"/>
                        </a:ext>
                      </a:extLst>
                    </a:gridCol>
                    <a:gridCol w="877118">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21528" t="-24490" r="-111111" b="-3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3185" t="-24490" r="-1911" b="-302041"/>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75" t="-124490" r="-174713" b="-2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21528" t="-124490" r="-111111" b="-2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3185" t="-124490" r="-1911" b="-202041"/>
                          </a:stretch>
                        </a:blipFill>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75" t="-220000" r="-174713" b="-98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21528" t="-220000" r="-111111" b="-98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3185" t="-220000" r="-1911" b="-98000"/>
                          </a:stretch>
                        </a:blipFill>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75" t="-340426" r="-174713"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21528" t="-340426" r="-111111"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3185" t="-340426" r="-1911" b="-4255"/>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709975739"/>
                  </p:ext>
                </p:extLst>
              </p:nvPr>
            </p:nvGraphicFramePr>
            <p:xfrm>
              <a:off x="4668541" y="5155553"/>
              <a:ext cx="3326765" cy="1183005"/>
            </p:xfrm>
            <a:graphic>
              <a:graphicData uri="http://schemas.openxmlformats.org/drawingml/2006/table">
                <a:tbl>
                  <a:tblPr firstRow="1" firstCol="1" bandRow="1"/>
                  <a:tblGrid>
                    <a:gridCol w="1099185">
                      <a:extLst>
                        <a:ext uri="{9D8B030D-6E8A-4147-A177-3AD203B41FA5}">
                          <a16:colId xmlns:a16="http://schemas.microsoft.com/office/drawing/2014/main" xmlns="" val="20000"/>
                        </a:ext>
                      </a:extLst>
                    </a:gridCol>
                    <a:gridCol w="1113790">
                      <a:extLst>
                        <a:ext uri="{9D8B030D-6E8A-4147-A177-3AD203B41FA5}">
                          <a16:colId xmlns:a16="http://schemas.microsoft.com/office/drawing/2014/main" xmlns="" val="20001"/>
                        </a:ext>
                      </a:extLst>
                    </a:gridCol>
                    <a:gridCol w="1113790">
                      <a:extLst>
                        <a:ext uri="{9D8B030D-6E8A-4147-A177-3AD203B41FA5}">
                          <a16:colId xmlns:a16="http://schemas.microsoft.com/office/drawing/2014/main" xmlns=""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𝑌</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8</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−6</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𝐶</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−3</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𝑅</m:t>
                                </m:r>
                                <m:r>
                                  <a:rPr lang="en-US" sz="1800" i="1">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6</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−2</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709975739"/>
                  </p:ext>
                </p:extLst>
              </p:nvPr>
            </p:nvGraphicFramePr>
            <p:xfrm>
              <a:off x="4668541" y="5155553"/>
              <a:ext cx="3326765" cy="1183005"/>
            </p:xfrm>
            <a:graphic>
              <a:graphicData uri="http://schemas.openxmlformats.org/drawingml/2006/table">
                <a:tbl>
                  <a:tblPr firstRow="1" firstCol="1" bandRow="1"/>
                  <a:tblGrid>
                    <a:gridCol w="1099185">
                      <a:extLst>
                        <a:ext uri="{9D8B030D-6E8A-4147-A177-3AD203B41FA5}">
                          <a16:colId xmlns:a16="http://schemas.microsoft.com/office/drawing/2014/main" val="20000"/>
                        </a:ext>
                      </a:extLst>
                    </a:gridCol>
                    <a:gridCol w="1113790">
                      <a:extLst>
                        <a:ext uri="{9D8B030D-6E8A-4147-A177-3AD203B41FA5}">
                          <a16:colId xmlns:a16="http://schemas.microsoft.com/office/drawing/2014/main" val="20001"/>
                        </a:ext>
                      </a:extLst>
                    </a:gridCol>
                    <a:gridCol w="1113790">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9454" t="-24490" r="-101093" b="-3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99454" t="-24490" r="-1093" b="-304082"/>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52" t="-124490" r="-203315" b="-2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9454" t="-124490" r="-101093" b="-20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99454" t="-124490" r="-1093" b="-204082"/>
                          </a:stretch>
                        </a:blipFill>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52" t="-220000" r="-203315" b="-10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9454" t="-220000" r="-101093" b="-10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99454" t="-220000" r="-1093" b="-100000"/>
                          </a:stretch>
                        </a:blipFill>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552" t="-340426" r="-203315" b="-63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9454" t="-340426" r="-101093" b="-63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99454" t="-340426" r="-1093" b="-6383"/>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15" name="Rectangle 14"/>
              <p:cNvSpPr/>
              <p:nvPr/>
            </p:nvSpPr>
            <p:spPr>
              <a:xfrm>
                <a:off x="5280191" y="4636200"/>
                <a:ext cx="2269532"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sSup>
                      <m:sSupPr>
                        <m:ctrlPr>
                          <a:rPr lang="en-US" sz="2000" b="1" i="1">
                            <a:latin typeface="Cambria Math" charset="0"/>
                            <a:ea typeface="Verdana" charset="0"/>
                            <a:cs typeface="Verdana" charset="0"/>
                          </a:rPr>
                        </m:ctrlPr>
                      </m:sSupPr>
                      <m:e>
                        <m:r>
                          <a:rPr lang="en-US" sz="2000" b="1">
                            <a:latin typeface="Cambria Math" charset="0"/>
                            <a:ea typeface="Verdana" charset="0"/>
                            <a:cs typeface="Verdana" charset="0"/>
                          </a:rPr>
                          <m:t>𝐘</m:t>
                        </m:r>
                      </m:e>
                      <m:sup>
                        <m:r>
                          <a:rPr lang="en-US" sz="2000" b="1">
                            <a:latin typeface="Cambria Math" charset="0"/>
                            <a:ea typeface="Verdana" charset="0"/>
                            <a:cs typeface="Verdana" charset="0"/>
                          </a:rPr>
                          <m:t>′</m:t>
                        </m:r>
                      </m:sup>
                    </m:sSup>
                    <m:sSup>
                      <m:sSupPr>
                        <m:ctrlPr>
                          <a:rPr lang="en-US" sz="2000" b="1" i="1">
                            <a:latin typeface="Cambria Math" charset="0"/>
                            <a:ea typeface="Verdana" charset="0"/>
                            <a:cs typeface="Verdana" charset="0"/>
                          </a:rPr>
                        </m:ctrlPr>
                      </m:sSupPr>
                      <m:e>
                        <m:r>
                          <a:rPr lang="en-US" sz="2000" b="1">
                            <a:latin typeface="Cambria Math" charset="0"/>
                            <a:ea typeface="Verdana" charset="0"/>
                            <a:cs typeface="Verdana" charset="0"/>
                          </a:rPr>
                          <m:t>𝐂</m:t>
                        </m:r>
                      </m:e>
                      <m:sup>
                        <m:r>
                          <a:rPr lang="en-US" sz="2000" b="1">
                            <a:latin typeface="Cambria Math" charset="0"/>
                            <a:ea typeface="Verdana" charset="0"/>
                            <a:cs typeface="Verdana" charset="0"/>
                          </a:rPr>
                          <m:t>′</m:t>
                        </m:r>
                      </m:sup>
                    </m:sSup>
                    <m:r>
                      <a:rPr lang="en-US" sz="2000" b="1">
                        <a:latin typeface="Cambria Math" charset="0"/>
                        <a:ea typeface="Verdana" charset="0"/>
                        <a:cs typeface="Verdana" charset="0"/>
                      </a:rPr>
                      <m:t>𝐑</m:t>
                    </m:r>
                    <m:r>
                      <a:rPr lang="en-US" sz="2000" b="1" i="1">
                        <a:latin typeface="Cambria Math"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15" name="Rectangle 14"/>
              <p:cNvSpPr>
                <a:spLocks noRot="1" noChangeAspect="1" noMove="1" noResize="1" noEditPoints="1" noAdjustHandles="1" noChangeArrowheads="1" noChangeShapeType="1" noTextEdit="1"/>
              </p:cNvSpPr>
              <p:nvPr/>
            </p:nvSpPr>
            <p:spPr>
              <a:xfrm>
                <a:off x="5280191" y="4636200"/>
                <a:ext cx="2269532" cy="400110"/>
              </a:xfrm>
              <a:prstGeom prst="rect">
                <a:avLst/>
              </a:prstGeom>
              <a:blipFill>
                <a:blip r:embed="rId8"/>
                <a:stretch>
                  <a:fillRect l="-2688" t="-9231" b="-27692"/>
                </a:stretch>
              </a:blipFill>
            </p:spPr>
            <p:txBody>
              <a:bodyPr/>
              <a:lstStyle/>
              <a:p>
                <a:r>
                  <a:rPr lang="en-US">
                    <a:noFill/>
                  </a:rPr>
                  <a:t> </a:t>
                </a:r>
              </a:p>
            </p:txBody>
          </p:sp>
        </mc:Fallback>
      </mc:AlternateContent>
      <p:pic>
        <p:nvPicPr>
          <p:cNvPr id="2" name="Picture 1"/>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277640" y="1426452"/>
            <a:ext cx="4027111" cy="2925492"/>
          </a:xfrm>
          <a:prstGeom prst="rect">
            <a:avLst/>
          </a:prstGeom>
        </p:spPr>
      </p:pic>
    </p:spTree>
    <p:extLst>
      <p:ext uri="{BB962C8B-B14F-4D97-AF65-F5344CB8AC3E}">
        <p14:creationId xmlns:p14="http://schemas.microsoft.com/office/powerpoint/2010/main" val="583119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182</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540564" y="410790"/>
                <a:ext cx="11087585" cy="3785652"/>
              </a:xfrm>
              <a:prstGeom prst="rect">
                <a:avLst/>
              </a:prstGeom>
              <a:noFill/>
            </p:spPr>
            <p:txBody>
              <a:bodyPr wrap="square" rtlCol="0">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rPr>
                  <a:t>Discuss with your partner how the ordered pairs for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𝑌𝐶𝑅</m:t>
                    </m:r>
                  </m:oMath>
                </a14:m>
                <a:r>
                  <a:rPr lang="en-US" sz="2000" dirty="0">
                    <a:latin typeface="Verdana" panose="020B0604030504040204" pitchFamily="34" charset="0"/>
                    <a:ea typeface="Verdana" panose="020B0604030504040204" pitchFamily="34" charset="0"/>
                  </a:rPr>
                  <a:t> and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𝐶</m:t>
                    </m:r>
                    <m:r>
                      <a:rPr lang="en-US" sz="2000" i="1">
                        <a:latin typeface="Cambria Math" panose="02040503050406030204" pitchFamily="18" charset="0"/>
                      </a:rPr>
                      <m:t>′</m:t>
                    </m:r>
                    <m:r>
                      <a:rPr lang="en-US" sz="2000" i="1">
                        <a:latin typeface="Cambria Math" panose="02040503050406030204" pitchFamily="18" charset="0"/>
                      </a:rPr>
                      <m:t>𝑅</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rPr>
                  <a:t> could be used to write a conjecture that works for rotations of </a:t>
                </a:r>
                <a14:m>
                  <m:oMath xmlns:m="http://schemas.openxmlformats.org/officeDocument/2006/math">
                    <m:r>
                      <a:rPr lang="en-US" sz="2000" i="1">
                        <a:latin typeface="Cambria Math" panose="02040503050406030204" pitchFamily="18" charset="0"/>
                      </a:rPr>
                      <m:t>270°</m:t>
                    </m:r>
                  </m:oMath>
                </a14:m>
                <a:r>
                  <a:rPr lang="en-US" sz="2000" dirty="0">
                    <a:latin typeface="Verdana" panose="020B0604030504040204" pitchFamily="34" charset="0"/>
                    <a:ea typeface="Verdana" panose="020B0604030504040204" pitchFamily="34" charset="0"/>
                  </a:rPr>
                  <a:t> counterclockwise about the origin.</a:t>
                </a:r>
              </a:p>
              <a:p>
                <a:pPr marL="457200" indent="-457200">
                  <a:buFont typeface="+mj-lt"/>
                  <a:buAutoNum type="alphaLcPeriod"/>
                </a:pPr>
                <a:endParaRPr lang="en-US" sz="2000" dirty="0">
                  <a:latin typeface="Verdana" panose="020B0604030504040204" pitchFamily="34" charset="0"/>
                  <a:ea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rPr>
                  <a:t>Test your conjecture for rotations of </a:t>
                </a:r>
                <a14:m>
                  <m:oMath xmlns:m="http://schemas.openxmlformats.org/officeDocument/2006/math">
                    <m:r>
                      <a:rPr lang="en-US" sz="2000" i="1">
                        <a:latin typeface="Cambria Math" panose="02040503050406030204" pitchFamily="18" charset="0"/>
                      </a:rPr>
                      <m:t>270°</m:t>
                    </m:r>
                  </m:oMath>
                </a14:m>
                <a:r>
                  <a:rPr lang="en-US" sz="2000" dirty="0">
                    <a:latin typeface="Verdana" panose="020B0604030504040204" pitchFamily="34" charset="0"/>
                    <a:ea typeface="Verdana" panose="020B0604030504040204" pitchFamily="34" charset="0"/>
                  </a:rPr>
                  <a:t> counterclockwise by looking at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𝐵𝑋𝑀</m:t>
                    </m:r>
                  </m:oMath>
                </a14:m>
                <a:r>
                  <a:rPr lang="en-US" sz="2000" dirty="0">
                    <a:latin typeface="Verdana" panose="020B0604030504040204" pitchFamily="34" charset="0"/>
                    <a:ea typeface="Verdana" panose="020B0604030504040204" pitchFamily="34" charset="0"/>
                  </a:rPr>
                  <a:t> and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𝐺𝑊𝑅</m:t>
                    </m:r>
                  </m:oMath>
                </a14:m>
                <a:r>
                  <a:rPr lang="en-US" sz="2000" dirty="0">
                    <a:latin typeface="Verdana" panose="020B0604030504040204" pitchFamily="34" charset="0"/>
                    <a:ea typeface="Verdana" panose="020B0604030504040204" pitchFamily="34" charset="0"/>
                  </a:rPr>
                  <a:t> from question 1. Assume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𝐺𝑊𝑅</m:t>
                    </m:r>
                  </m:oMath>
                </a14:m>
                <a:r>
                  <a:rPr lang="en-US" sz="2000" dirty="0">
                    <a:latin typeface="Verdana" panose="020B0604030504040204" pitchFamily="34" charset="0"/>
                    <a:ea typeface="Verdana" panose="020B0604030504040204" pitchFamily="34" charset="0"/>
                  </a:rPr>
                  <a:t> is the preimage and was rotated </a:t>
                </a:r>
                <a14:m>
                  <m:oMath xmlns:m="http://schemas.openxmlformats.org/officeDocument/2006/math">
                    <m:r>
                      <a:rPr lang="en-US" sz="2000" i="1">
                        <a:latin typeface="Cambria Math" panose="02040503050406030204" pitchFamily="18" charset="0"/>
                      </a:rPr>
                      <m:t>270°</m:t>
                    </m:r>
                  </m:oMath>
                </a14:m>
                <a:r>
                  <a:rPr lang="en-US" sz="2000" dirty="0">
                    <a:latin typeface="Verdana" panose="020B0604030504040204" pitchFamily="34" charset="0"/>
                    <a:ea typeface="Verdana" panose="020B0604030504040204" pitchFamily="34" charset="0"/>
                  </a:rPr>
                  <a:t> counterclockwise about the origin. If necessary, adjust your conjecture.</a:t>
                </a:r>
              </a:p>
              <a:p>
                <a:pPr marL="457200" indent="-457200">
                  <a:buFont typeface="+mj-lt"/>
                  <a:buAutoNum type="alphaLcPeriod"/>
                </a:pPr>
                <a:endParaRPr lang="en-US" sz="2000" dirty="0">
                  <a:latin typeface="Verdana" panose="020B0604030504040204" pitchFamily="34" charset="0"/>
                  <a:ea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rPr>
                  <a:t>Discuss with your partner why the same conjecture should work for a rotation of </a:t>
                </a:r>
                <a14:m>
                  <m:oMath xmlns:m="http://schemas.openxmlformats.org/officeDocument/2006/math">
                    <m:r>
                      <a:rPr lang="en-US" sz="2000" i="1">
                        <a:latin typeface="Cambria Math" panose="02040503050406030204" pitchFamily="18" charset="0"/>
                      </a:rPr>
                      <m:t>270°</m:t>
                    </m:r>
                  </m:oMath>
                </a14:m>
                <a:r>
                  <a:rPr lang="en-US" sz="2000" dirty="0">
                    <a:latin typeface="Verdana" panose="020B0604030504040204" pitchFamily="34" charset="0"/>
                    <a:ea typeface="Verdana" panose="020B0604030504040204" pitchFamily="34" charset="0"/>
                  </a:rPr>
                  <a:t> counterclockwise and </a:t>
                </a:r>
                <a14:m>
                  <m:oMath xmlns:m="http://schemas.openxmlformats.org/officeDocument/2006/math">
                    <m:r>
                      <a:rPr lang="en-US" sz="2000" i="1">
                        <a:latin typeface="Cambria Math" panose="02040503050406030204" pitchFamily="18" charset="0"/>
                      </a:rPr>
                      <m:t>90°</m:t>
                    </m:r>
                  </m:oMath>
                </a14:m>
                <a:r>
                  <a:rPr lang="en-US" sz="2000" dirty="0">
                    <a:latin typeface="Verdana" panose="020B0604030504040204" pitchFamily="34" charset="0"/>
                    <a:ea typeface="Verdana" panose="020B0604030504040204" pitchFamily="34" charset="0"/>
                  </a:rPr>
                  <a:t> clockwise about the origin.</a:t>
                </a:r>
              </a:p>
              <a:p>
                <a:pPr marL="457200" indent="-457200">
                  <a:buFont typeface="+mj-lt"/>
                  <a:buAutoNum type="alphaLcPeriod"/>
                </a:pPr>
                <a:endParaRPr lang="en-US" sz="2000" dirty="0"/>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10790"/>
                <a:ext cx="11087585" cy="3785652"/>
              </a:xfrm>
              <a:prstGeom prst="rect">
                <a:avLst/>
              </a:prstGeom>
              <a:blipFill>
                <a:blip r:embed="rId4"/>
                <a:stretch>
                  <a:fillRect l="-605" t="-966" r="-1319"/>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86483" y="1454762"/>
            <a:ext cx="3035300" cy="419100"/>
          </a:xfrm>
          <a:prstGeom prst="rect">
            <a:avLst/>
          </a:prstGeom>
        </p:spPr>
      </p:pic>
    </p:spTree>
    <p:extLst>
      <p:ext uri="{BB962C8B-B14F-4D97-AF65-F5344CB8AC3E}">
        <p14:creationId xmlns:p14="http://schemas.microsoft.com/office/powerpoint/2010/main" val="1165210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183</a:t>
            </a: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602"/>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3426"/>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99542" y="0"/>
            <a:ext cx="105286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4.1.4 Bring It Together: Algebraic Descriptions for Translations and Rotations</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9924" y="647050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183</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56611337"/>
                  </p:ext>
                </p:extLst>
              </p:nvPr>
            </p:nvGraphicFramePr>
            <p:xfrm>
              <a:off x="2302194" y="1438954"/>
              <a:ext cx="4741560" cy="2214267"/>
            </p:xfrm>
            <a:graphic>
              <a:graphicData uri="http://schemas.openxmlformats.org/drawingml/2006/table">
                <a:tbl>
                  <a:tblPr firstRow="1" firstCol="1" bandRow="1"/>
                  <a:tblGrid>
                    <a:gridCol w="2152021">
                      <a:extLst>
                        <a:ext uri="{9D8B030D-6E8A-4147-A177-3AD203B41FA5}">
                          <a16:colId xmlns:a16="http://schemas.microsoft.com/office/drawing/2014/main" xmlns="" val="20000"/>
                        </a:ext>
                      </a:extLst>
                    </a:gridCol>
                    <a:gridCol w="2589539">
                      <a:extLst>
                        <a:ext uri="{9D8B030D-6E8A-4147-A177-3AD203B41FA5}">
                          <a16:colId xmlns:a16="http://schemas.microsoft.com/office/drawing/2014/main" xmlns="" val="20001"/>
                        </a:ext>
                      </a:extLst>
                    </a:gridCol>
                  </a:tblGrid>
                  <a:tr h="201297">
                    <a:tc gridSpan="2">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Translations</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xmlns="" val="10000"/>
                      </a:ext>
                    </a:extLst>
                  </a:tr>
                  <a:tr h="201297">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Right</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Left</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402594">
                    <a:tc>
                      <a:txBody>
                        <a:bodyPr/>
                        <a:lstStyle/>
                        <a:p>
                          <a:pPr marL="0" marR="0" algn="ctr">
                            <a:spcBef>
                              <a:spcPts val="0"/>
                            </a:spcBef>
                            <a:spcAft>
                              <a:spcPts val="0"/>
                            </a:spcAft>
                          </a:pPr>
                          <a:r>
                            <a:rPr lang="en-US" sz="1300">
                              <a:solidFill>
                                <a:srgbClr val="000000"/>
                              </a:solidFill>
                              <a:effectLst/>
                              <a:latin typeface="Verdana" charset="0"/>
                              <a:ea typeface="Times New Roman" charset="0"/>
                              <a:cs typeface="Arial" charset="0"/>
                            </a:rPr>
                            <a:t>Add to the </a:t>
                          </a:r>
                          <a14:m>
                            <m:oMath xmlns:m="http://schemas.openxmlformats.org/officeDocument/2006/math">
                              <m:r>
                                <a:rPr lang="en-US" sz="1300" i="1">
                                  <a:solidFill>
                                    <a:srgbClr val="000000"/>
                                  </a:solidFill>
                                  <a:effectLst/>
                                  <a:latin typeface="Cambria Math" charset="0"/>
                                  <a:ea typeface="Times New Roman" charset="0"/>
                                  <a:cs typeface="Arial" charset="0"/>
                                </a:rPr>
                                <m:t>𝑥</m:t>
                              </m:r>
                            </m:oMath>
                          </a14:m>
                          <a:r>
                            <a:rPr lang="en-US" sz="1300">
                              <a:solidFill>
                                <a:srgbClr val="000000"/>
                              </a:solidFill>
                              <a:effectLst/>
                              <a:latin typeface="Verdana" charset="0"/>
                              <a:ea typeface="Times New Roman" charset="0"/>
                              <a:cs typeface="Arial" charset="0"/>
                            </a:rPr>
                            <a:t>-coordinate</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r>
                            <a:rPr lang="en-US" sz="1300" dirty="0">
                              <a:solidFill>
                                <a:srgbClr val="000000"/>
                              </a:solidFill>
                              <a:effectLst/>
                              <a:latin typeface="Verdana" charset="0"/>
                              <a:ea typeface="Times New Roman" charset="0"/>
                              <a:cs typeface="Arial" charset="0"/>
                            </a:rPr>
                            <a:t>Subtract from the </a:t>
                          </a:r>
                          <a14:m>
                            <m:oMath xmlns:m="http://schemas.openxmlformats.org/officeDocument/2006/math">
                              <m:r>
                                <a:rPr lang="en-US" sz="1300" i="1">
                                  <a:solidFill>
                                    <a:srgbClr val="000000"/>
                                  </a:solidFill>
                                  <a:effectLst/>
                                  <a:latin typeface="Cambria Math" charset="0"/>
                                  <a:ea typeface="Times New Roman" charset="0"/>
                                  <a:cs typeface="Arial" charset="0"/>
                                </a:rPr>
                                <m:t>𝑥</m:t>
                              </m:r>
                            </m:oMath>
                          </a14:m>
                          <a:r>
                            <a:rPr lang="en-US" sz="1300" dirty="0">
                              <a:solidFill>
                                <a:srgbClr val="000000"/>
                              </a:solidFill>
                              <a:effectLst/>
                              <a:latin typeface="Verdana" charset="0"/>
                              <a:ea typeface="Times New Roman" charset="0"/>
                              <a:cs typeface="Arial" charset="0"/>
                            </a:rPr>
                            <a:t>-coordinate</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2"/>
                      </a:ext>
                    </a:extLst>
                  </a:tr>
                  <a:tr h="4025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+______,______</m:t>
                                    </m:r>
                                  </m:e>
                                </m:d>
                              </m:oMath>
                            </m:oMathPara>
                          </a14:m>
                          <a:endParaRPr lang="en-US" sz="700">
                            <a:effectLst/>
                            <a:latin typeface="Cambria" charset="0"/>
                            <a:ea typeface="Times New Roman" charset="0"/>
                            <a:cs typeface="Times New Roman" charset="0"/>
                          </a:endParaRPr>
                        </a:p>
                        <a:p>
                          <a:pPr marL="0" marR="0" algn="ctr">
                            <a:spcBef>
                              <a:spcPts val="0"/>
                            </a:spcBef>
                            <a:spcAft>
                              <a:spcPts val="0"/>
                            </a:spcAft>
                          </a:pPr>
                          <a:r>
                            <a:rPr lang="en-US" sz="1300">
                              <a:solidFill>
                                <a:srgbClr val="000000"/>
                              </a:solidFill>
                              <a:effectLst/>
                              <a:latin typeface="Verdana" charset="0"/>
                              <a:ea typeface="Times New Roman" charset="0"/>
                              <a:cs typeface="Arial" charset="0"/>
                            </a:rPr>
                            <a:t> </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−______,______</m:t>
                                    </m:r>
                                  </m:e>
                                </m:d>
                              </m:oMath>
                            </m:oMathPara>
                          </a14:m>
                          <a:endParaRPr lang="en-US" sz="700">
                            <a:effectLst/>
                            <a:latin typeface="Cambria" charset="0"/>
                            <a:ea typeface="Times New Roman" charset="0"/>
                            <a:cs typeface="Times New Roman" charset="0"/>
                          </a:endParaRPr>
                        </a:p>
                        <a:p>
                          <a:pPr marL="0" marR="0" algn="ctr">
                            <a:spcBef>
                              <a:spcPts val="0"/>
                            </a:spcBef>
                            <a:spcAft>
                              <a:spcPts val="0"/>
                            </a:spcAft>
                          </a:pPr>
                          <a:r>
                            <a:rPr lang="en-US" sz="1300">
                              <a:solidFill>
                                <a:srgbClr val="000000"/>
                              </a:solidFill>
                              <a:effectLst/>
                              <a:latin typeface="Verdana" charset="0"/>
                              <a:ea typeface="Times New Roman" charset="0"/>
                              <a:cs typeface="Arial" charset="0"/>
                            </a:rPr>
                            <a:t> </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01297">
                    <a:tc>
                      <a:txBody>
                        <a:bodyPr/>
                        <a:lstStyle/>
                        <a:p>
                          <a:pPr marL="0" marR="0" algn="ctr">
                            <a:spcBef>
                              <a:spcPts val="0"/>
                            </a:spcBef>
                            <a:spcAft>
                              <a:spcPts val="0"/>
                            </a:spcAft>
                          </a:pPr>
                          <a:r>
                            <a:rPr lang="en-US" sz="1300" b="1" dirty="0">
                              <a:solidFill>
                                <a:srgbClr val="000000"/>
                              </a:solidFill>
                              <a:effectLst/>
                              <a:latin typeface="Verdana" charset="0"/>
                              <a:ea typeface="Times New Roman" charset="0"/>
                              <a:cs typeface="Arial" charset="0"/>
                            </a:rPr>
                            <a:t>Up</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Down</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4"/>
                      </a:ext>
                    </a:extLst>
                  </a:tr>
                  <a:tr h="402594">
                    <a:tc>
                      <a:txBody>
                        <a:bodyPr/>
                        <a:lstStyle/>
                        <a:p>
                          <a:pPr marL="0" marR="0" algn="ctr">
                            <a:spcBef>
                              <a:spcPts val="0"/>
                            </a:spcBef>
                            <a:spcAft>
                              <a:spcPts val="0"/>
                            </a:spcAft>
                          </a:pPr>
                          <a:r>
                            <a:rPr lang="en-US" sz="1300" dirty="0">
                              <a:solidFill>
                                <a:srgbClr val="000000"/>
                              </a:solidFill>
                              <a:effectLst/>
                              <a:latin typeface="Verdana" charset="0"/>
                              <a:ea typeface="Times New Roman" charset="0"/>
                              <a:cs typeface="Arial" charset="0"/>
                            </a:rPr>
                            <a:t>Add to the </a:t>
                          </a:r>
                          <a14:m>
                            <m:oMath xmlns:m="http://schemas.openxmlformats.org/officeDocument/2006/math">
                              <m:r>
                                <a:rPr lang="en-US" sz="1300" i="1">
                                  <a:solidFill>
                                    <a:srgbClr val="000000"/>
                                  </a:solidFill>
                                  <a:effectLst/>
                                  <a:latin typeface="Cambria Math" charset="0"/>
                                  <a:ea typeface="Times New Roman" charset="0"/>
                                  <a:cs typeface="Arial" charset="0"/>
                                </a:rPr>
                                <m:t>𝑦</m:t>
                              </m:r>
                            </m:oMath>
                          </a14:m>
                          <a:r>
                            <a:rPr lang="en-US" sz="1300" dirty="0">
                              <a:solidFill>
                                <a:srgbClr val="000000"/>
                              </a:solidFill>
                              <a:effectLst/>
                              <a:latin typeface="Verdana" charset="0"/>
                              <a:ea typeface="Times New Roman" charset="0"/>
                              <a:cs typeface="Arial" charset="0"/>
                            </a:rPr>
                            <a:t>-coordinate</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r>
                            <a:rPr lang="en-US" sz="1300" dirty="0">
                              <a:solidFill>
                                <a:srgbClr val="000000"/>
                              </a:solidFill>
                              <a:effectLst/>
                              <a:latin typeface="Verdana" charset="0"/>
                              <a:ea typeface="Times New Roman" charset="0"/>
                              <a:cs typeface="Arial" charset="0"/>
                            </a:rPr>
                            <a:t>Subtract from the </a:t>
                          </a:r>
                          <a14:m>
                            <m:oMath xmlns:m="http://schemas.openxmlformats.org/officeDocument/2006/math">
                              <m:r>
                                <a:rPr lang="en-US" sz="1300" i="1">
                                  <a:solidFill>
                                    <a:srgbClr val="000000"/>
                                  </a:solidFill>
                                  <a:effectLst/>
                                  <a:latin typeface="Cambria Math" charset="0"/>
                                  <a:ea typeface="Times New Roman" charset="0"/>
                                  <a:cs typeface="Arial" charset="0"/>
                                </a:rPr>
                                <m:t>𝑦</m:t>
                              </m:r>
                            </m:oMath>
                          </a14:m>
                          <a:r>
                            <a:rPr lang="en-US" sz="1300" dirty="0">
                              <a:solidFill>
                                <a:srgbClr val="000000"/>
                              </a:solidFill>
                              <a:effectLst/>
                              <a:latin typeface="Verdana" charset="0"/>
                              <a:ea typeface="Times New Roman" charset="0"/>
                              <a:cs typeface="Arial" charset="0"/>
                            </a:rPr>
                            <a:t>-coordinate</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5"/>
                      </a:ext>
                    </a:extLst>
                  </a:tr>
                  <a:tr h="4025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m:t>
                                    </m:r>
                                    <m:r>
                                      <a:rPr lang="en-US" sz="1300" i="1">
                                        <a:effectLst/>
                                        <a:latin typeface="Cambria Math" charset="0"/>
                                        <a:ea typeface="Times New Roman" charset="0"/>
                                        <a:cs typeface="Times New Roman" charset="0"/>
                                      </a:rPr>
                                      <m:t>𝑦</m:t>
                                    </m:r>
                                    <m:r>
                                      <a:rPr lang="en-US" sz="1300" i="1">
                                        <a:effectLst/>
                                        <a:latin typeface="Cambria Math" charset="0"/>
                                        <a:ea typeface="Times New Roman" charset="0"/>
                                        <a:cs typeface="Times New Roman" charset="0"/>
                                      </a:rPr>
                                      <m:t>+______</m:t>
                                    </m:r>
                                  </m:e>
                                </m:d>
                              </m:oMath>
                            </m:oMathPara>
                          </a14:m>
                          <a:endParaRPr lang="en-US" sz="700">
                            <a:effectLst/>
                            <a:latin typeface="Cambria" charset="0"/>
                            <a:ea typeface="Times New Roman" charset="0"/>
                            <a:cs typeface="Times New Roman" charset="0"/>
                          </a:endParaRPr>
                        </a:p>
                        <a:p>
                          <a:pPr marL="0" marR="0" algn="ctr">
                            <a:spcBef>
                              <a:spcPts val="0"/>
                            </a:spcBef>
                            <a:spcAft>
                              <a:spcPts val="0"/>
                            </a:spcAft>
                          </a:pPr>
                          <a:r>
                            <a:rPr lang="en-US" sz="1300">
                              <a:solidFill>
                                <a:srgbClr val="000000"/>
                              </a:solidFill>
                              <a:effectLst/>
                              <a:latin typeface="Verdana" charset="0"/>
                              <a:ea typeface="Times New Roman" charset="0"/>
                              <a:cs typeface="Arial" charset="0"/>
                            </a:rPr>
                            <a:t> </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m:t>
                                    </m:r>
                                    <m:r>
                                      <a:rPr lang="en-US" sz="1300" i="1">
                                        <a:effectLst/>
                                        <a:latin typeface="Cambria Math" charset="0"/>
                                        <a:ea typeface="Times New Roman" charset="0"/>
                                        <a:cs typeface="Times New Roman" charset="0"/>
                                      </a:rPr>
                                      <m:t>𝑦</m:t>
                                    </m:r>
                                    <m:r>
                                      <a:rPr lang="en-US" sz="1300" i="1">
                                        <a:effectLst/>
                                        <a:latin typeface="Cambria Math" charset="0"/>
                                        <a:ea typeface="Times New Roman" charset="0"/>
                                        <a:cs typeface="Times New Roman" charset="0"/>
                                      </a:rPr>
                                      <m:t>−______</m:t>
                                    </m:r>
                                  </m:e>
                                </m:d>
                              </m:oMath>
                            </m:oMathPara>
                          </a14:m>
                          <a:endParaRPr lang="en-US" sz="700" dirty="0">
                            <a:effectLst/>
                            <a:latin typeface="Cambria" charset="0"/>
                            <a:ea typeface="Times New Roman" charset="0"/>
                            <a:cs typeface="Times New Roman" charset="0"/>
                          </a:endParaRPr>
                        </a:p>
                        <a:p>
                          <a:pPr marL="0" marR="0" algn="ctr">
                            <a:spcBef>
                              <a:spcPts val="0"/>
                            </a:spcBef>
                            <a:spcAft>
                              <a:spcPts val="0"/>
                            </a:spcAft>
                          </a:pPr>
                          <a:r>
                            <a:rPr lang="en-US" sz="1300" dirty="0">
                              <a:solidFill>
                                <a:srgbClr val="000000"/>
                              </a:solidFill>
                              <a:effectLst/>
                              <a:latin typeface="Verdana" charset="0"/>
                              <a:ea typeface="Times New Roman" charset="0"/>
                              <a:cs typeface="Arial" charset="0"/>
                            </a:rPr>
                            <a:t> </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56611337"/>
                  </p:ext>
                </p:extLst>
              </p:nvPr>
            </p:nvGraphicFramePr>
            <p:xfrm>
              <a:off x="2302194" y="1438954"/>
              <a:ext cx="4741560" cy="2214267"/>
            </p:xfrm>
            <a:graphic>
              <a:graphicData uri="http://schemas.openxmlformats.org/drawingml/2006/table">
                <a:tbl>
                  <a:tblPr firstRow="1" firstCol="1" bandRow="1"/>
                  <a:tblGrid>
                    <a:gridCol w="2152021">
                      <a:extLst>
                        <a:ext uri="{9D8B030D-6E8A-4147-A177-3AD203B41FA5}">
                          <a16:colId xmlns:a16="http://schemas.microsoft.com/office/drawing/2014/main" val="20000"/>
                        </a:ext>
                      </a:extLst>
                    </a:gridCol>
                    <a:gridCol w="2589539">
                      <a:extLst>
                        <a:ext uri="{9D8B030D-6E8A-4147-A177-3AD203B41FA5}">
                          <a16:colId xmlns:a16="http://schemas.microsoft.com/office/drawing/2014/main" val="20001"/>
                        </a:ext>
                      </a:extLst>
                    </a:gridCol>
                  </a:tblGrid>
                  <a:tr h="201297">
                    <a:tc gridSpan="2">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Translations</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01297">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Right</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Left</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402594">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4"/>
                          <a:stretch>
                            <a:fillRect l="-282" t="-112121" r="-120621" b="-354545"/>
                          </a:stretch>
                        </a:blipFill>
                      </a:tcPr>
                    </a:tc>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4"/>
                          <a:stretch>
                            <a:fillRect l="-83529" t="-112121" r="-471" b="-354545"/>
                          </a:stretch>
                        </a:blipFill>
                      </a:tcPr>
                    </a:tc>
                    <a:extLst>
                      <a:ext uri="{0D108BD9-81ED-4DB2-BD59-A6C34878D82A}">
                        <a16:rowId xmlns:a16="http://schemas.microsoft.com/office/drawing/2014/main" val="10002"/>
                      </a:ext>
                    </a:extLst>
                  </a:tr>
                  <a:tr h="402594">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4"/>
                          <a:stretch>
                            <a:fillRect l="-282" t="-208955" r="-120621" b="-249254"/>
                          </a:stretch>
                        </a:blipFill>
                      </a:tcPr>
                    </a:tc>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4"/>
                          <a:stretch>
                            <a:fillRect l="-83529" t="-208955" r="-471" b="-249254"/>
                          </a:stretch>
                        </a:blipFill>
                      </a:tcPr>
                    </a:tc>
                    <a:extLst>
                      <a:ext uri="{0D108BD9-81ED-4DB2-BD59-A6C34878D82A}">
                        <a16:rowId xmlns:a16="http://schemas.microsoft.com/office/drawing/2014/main" val="10003"/>
                      </a:ext>
                    </a:extLst>
                  </a:tr>
                  <a:tr h="201297">
                    <a:tc>
                      <a:txBody>
                        <a:bodyPr/>
                        <a:lstStyle/>
                        <a:p>
                          <a:pPr marL="0" marR="0" algn="ctr">
                            <a:spcBef>
                              <a:spcPts val="0"/>
                            </a:spcBef>
                            <a:spcAft>
                              <a:spcPts val="0"/>
                            </a:spcAft>
                          </a:pPr>
                          <a:r>
                            <a:rPr lang="en-US" sz="1300" b="1" dirty="0">
                              <a:solidFill>
                                <a:srgbClr val="000000"/>
                              </a:solidFill>
                              <a:effectLst/>
                              <a:latin typeface="Verdana" charset="0"/>
                              <a:ea typeface="Times New Roman" charset="0"/>
                              <a:cs typeface="Arial" charset="0"/>
                            </a:rPr>
                            <a:t>Up</a:t>
                          </a:r>
                          <a:endParaRPr lang="en-US" sz="700" dirty="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Down</a:t>
                          </a:r>
                          <a:endParaRPr lang="en-US" sz="700">
                            <a:effectLst/>
                            <a:latin typeface="Cambria" charset="0"/>
                            <a:ea typeface="Times New Roman" charset="0"/>
                            <a:cs typeface="Times New Roman" charset="0"/>
                          </a:endParaRPr>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4"/>
                      </a:ext>
                    </a:extLst>
                  </a:tr>
                  <a:tr h="402594">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4"/>
                          <a:stretch>
                            <a:fillRect l="-282" t="-363636" r="-120621" b="-103030"/>
                          </a:stretch>
                        </a:blipFill>
                      </a:tcPr>
                    </a:tc>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4"/>
                          <a:stretch>
                            <a:fillRect l="-83529" t="-363636" r="-471" b="-103030"/>
                          </a:stretch>
                        </a:blipFill>
                      </a:tcPr>
                    </a:tc>
                    <a:extLst>
                      <a:ext uri="{0D108BD9-81ED-4DB2-BD59-A6C34878D82A}">
                        <a16:rowId xmlns:a16="http://schemas.microsoft.com/office/drawing/2014/main" val="10005"/>
                      </a:ext>
                    </a:extLst>
                  </a:tr>
                  <a:tr h="402594">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4"/>
                          <a:stretch>
                            <a:fillRect l="-282" t="-463636" r="-120621" b="-3030"/>
                          </a:stretch>
                        </a:blipFill>
                      </a:tcPr>
                    </a:tc>
                    <a:tc>
                      <a:txBody>
                        <a:bodyPr/>
                        <a:lstStyle/>
                        <a:p>
                          <a:endParaRPr lang="en-US"/>
                        </a:p>
                      </a:txBody>
                      <a:tcPr marL="48613" marR="48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4"/>
                          <a:stretch>
                            <a:fillRect l="-83529" t="-463636" r="-471" b="-3030"/>
                          </a:stretch>
                        </a:blip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38306576"/>
                  </p:ext>
                </p:extLst>
              </p:nvPr>
            </p:nvGraphicFramePr>
            <p:xfrm>
              <a:off x="1005759" y="3814309"/>
              <a:ext cx="7330377" cy="2052920"/>
            </p:xfrm>
            <a:graphic>
              <a:graphicData uri="http://schemas.openxmlformats.org/drawingml/2006/table">
                <a:tbl>
                  <a:tblPr firstRow="1" firstCol="1" bandRow="1"/>
                  <a:tblGrid>
                    <a:gridCol w="2525604">
                      <a:extLst>
                        <a:ext uri="{9D8B030D-6E8A-4147-A177-3AD203B41FA5}">
                          <a16:colId xmlns:a16="http://schemas.microsoft.com/office/drawing/2014/main" xmlns="" val="20000"/>
                        </a:ext>
                      </a:extLst>
                    </a:gridCol>
                    <a:gridCol w="2525604">
                      <a:extLst>
                        <a:ext uri="{9D8B030D-6E8A-4147-A177-3AD203B41FA5}">
                          <a16:colId xmlns:a16="http://schemas.microsoft.com/office/drawing/2014/main" xmlns="" val="20001"/>
                        </a:ext>
                      </a:extLst>
                    </a:gridCol>
                    <a:gridCol w="2279169">
                      <a:extLst>
                        <a:ext uri="{9D8B030D-6E8A-4147-A177-3AD203B41FA5}">
                          <a16:colId xmlns:a16="http://schemas.microsoft.com/office/drawing/2014/main" xmlns="" val="20002"/>
                        </a:ext>
                      </a:extLst>
                    </a:gridCol>
                  </a:tblGrid>
                  <a:tr h="255309">
                    <a:tc gridSpan="3">
                      <a:txBody>
                        <a:bodyPr/>
                        <a:lstStyle/>
                        <a:p>
                          <a:pPr marL="0" marR="0" algn="ctr">
                            <a:spcBef>
                              <a:spcPts val="0"/>
                            </a:spcBef>
                            <a:spcAft>
                              <a:spcPts val="0"/>
                            </a:spcAft>
                          </a:pPr>
                          <a:r>
                            <a:rPr lang="en-US" sz="1500" b="1">
                              <a:solidFill>
                                <a:srgbClr val="000000"/>
                              </a:solidFill>
                              <a:effectLst/>
                              <a:latin typeface="Verdana" charset="0"/>
                              <a:ea typeface="Times New Roman" charset="0"/>
                              <a:cs typeface="Arial" charset="0"/>
                            </a:rPr>
                            <a:t>Rotations clockwise about the origin</a:t>
                          </a:r>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266274">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𝟗𝟎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𝟏𝟖𝟎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𝟐𝟕𝟎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51009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dirty="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55309">
                    <a:tc gridSpan="3">
                      <a:txBody>
                        <a:bodyPr/>
                        <a:lstStyle/>
                        <a:p>
                          <a:pPr marL="0" marR="0" algn="ctr">
                            <a:spcBef>
                              <a:spcPts val="0"/>
                            </a:spcBef>
                            <a:spcAft>
                              <a:spcPts val="0"/>
                            </a:spcAft>
                          </a:pPr>
                          <a:r>
                            <a:rPr lang="en-US" sz="1500" b="1">
                              <a:solidFill>
                                <a:srgbClr val="000000"/>
                              </a:solidFill>
                              <a:effectLst/>
                              <a:latin typeface="Verdana" charset="0"/>
                              <a:ea typeface="Times New Roman" charset="0"/>
                              <a:cs typeface="Arial" charset="0"/>
                            </a:rPr>
                            <a:t>Rotations counterclockwise about the origin</a:t>
                          </a:r>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3"/>
                      </a:ext>
                    </a:extLst>
                  </a:tr>
                  <a:tr h="266274">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𝟗𝟎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𝟏𝟖𝟎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300" b="1">
                              <a:solidFill>
                                <a:srgbClr val="000000"/>
                              </a:solidFill>
                              <a:effectLst/>
                              <a:latin typeface="Verdana" charset="0"/>
                              <a:ea typeface="Times New Roman" charset="0"/>
                              <a:cs typeface="Arial" charset="0"/>
                            </a:rPr>
                            <a:t>Rotations of </a:t>
                          </a:r>
                          <a14:m>
                            <m:oMath xmlns:m="http://schemas.openxmlformats.org/officeDocument/2006/math">
                              <m:r>
                                <a:rPr lang="en-US" sz="1300" b="1" i="1">
                                  <a:solidFill>
                                    <a:srgbClr val="000000"/>
                                  </a:solidFill>
                                  <a:effectLst/>
                                  <a:latin typeface="Cambria Math" charset="0"/>
                                  <a:ea typeface="Times New Roman" charset="0"/>
                                  <a:cs typeface="Arial" charset="0"/>
                                </a:rPr>
                                <m:t>𝟐𝟕𝟎</m:t>
                              </m:r>
                              <m:r>
                                <a:rPr lang="en-US" sz="13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4"/>
                      </a:ext>
                    </a:extLst>
                  </a:tr>
                  <a:tr h="49965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dirty="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𝑥</m:t>
                                    </m:r>
                                    <m:r>
                                      <a:rPr lang="en-US" sz="1300" i="1">
                                        <a:effectLst/>
                                        <a:latin typeface="Cambria Math" charset="0"/>
                                        <a:ea typeface="Times New Roman" charset="0"/>
                                        <a:cs typeface="Times New Roman" charset="0"/>
                                      </a:rPr>
                                      <m:t>,</m:t>
                                    </m:r>
                                    <m:r>
                                      <a:rPr lang="en-US" sz="1300" i="1">
                                        <a:effectLst/>
                                        <a:latin typeface="Cambria Math" charset="0"/>
                                        <a:ea typeface="Times New Roman" charset="0"/>
                                        <a:cs typeface="Times New Roman" charset="0"/>
                                      </a:rPr>
                                      <m:t>𝑦</m:t>
                                    </m:r>
                                  </m:e>
                                </m:d>
                                <m:r>
                                  <a:rPr lang="en-US" sz="1300" i="1">
                                    <a:effectLst/>
                                    <a:latin typeface="Cambria Math" charset="0"/>
                                    <a:ea typeface="Times New Roman" charset="0"/>
                                    <a:cs typeface="Times New Roman" charset="0"/>
                                  </a:rPr>
                                  <m:t>→</m:t>
                                </m:r>
                                <m:d>
                                  <m:dPr>
                                    <m:ctrlPr>
                                      <a:rPr lang="en-US" sz="1300" i="1">
                                        <a:effectLst/>
                                        <a:latin typeface="Cambria Math" charset="0"/>
                                        <a:ea typeface="Times New Roman" charset="0"/>
                                        <a:cs typeface="Times New Roman" charset="0"/>
                                      </a:rPr>
                                    </m:ctrlPr>
                                  </m:dPr>
                                  <m:e>
                                    <m:r>
                                      <a:rPr lang="en-US" sz="1300" i="1">
                                        <a:effectLst/>
                                        <a:latin typeface="Cambria Math" charset="0"/>
                                        <a:ea typeface="Times New Roman" charset="0"/>
                                        <a:cs typeface="Times New Roman" charset="0"/>
                                      </a:rPr>
                                      <m:t>______,______</m:t>
                                    </m:r>
                                  </m:e>
                                </m:d>
                              </m:oMath>
                            </m:oMathPara>
                          </a14:m>
                          <a:endParaRPr lang="en-US" sz="1100" dirty="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38306576"/>
                  </p:ext>
                </p:extLst>
              </p:nvPr>
            </p:nvGraphicFramePr>
            <p:xfrm>
              <a:off x="1005759" y="3814309"/>
              <a:ext cx="7330377" cy="2052920"/>
            </p:xfrm>
            <a:graphic>
              <a:graphicData uri="http://schemas.openxmlformats.org/drawingml/2006/table">
                <a:tbl>
                  <a:tblPr firstRow="1" firstCol="1" bandRow="1"/>
                  <a:tblGrid>
                    <a:gridCol w="2525604">
                      <a:extLst>
                        <a:ext uri="{9D8B030D-6E8A-4147-A177-3AD203B41FA5}">
                          <a16:colId xmlns:a16="http://schemas.microsoft.com/office/drawing/2014/main" val="20000"/>
                        </a:ext>
                      </a:extLst>
                    </a:gridCol>
                    <a:gridCol w="2525604">
                      <a:extLst>
                        <a:ext uri="{9D8B030D-6E8A-4147-A177-3AD203B41FA5}">
                          <a16:colId xmlns:a16="http://schemas.microsoft.com/office/drawing/2014/main" val="20001"/>
                        </a:ext>
                      </a:extLst>
                    </a:gridCol>
                    <a:gridCol w="2279169">
                      <a:extLst>
                        <a:ext uri="{9D8B030D-6E8A-4147-A177-3AD203B41FA5}">
                          <a16:colId xmlns:a16="http://schemas.microsoft.com/office/drawing/2014/main" val="20002"/>
                        </a:ext>
                      </a:extLst>
                    </a:gridCol>
                  </a:tblGrid>
                  <a:tr h="255309">
                    <a:tc gridSpan="3">
                      <a:txBody>
                        <a:bodyPr/>
                        <a:lstStyle/>
                        <a:p>
                          <a:pPr marL="0" marR="0" algn="ctr">
                            <a:spcBef>
                              <a:spcPts val="0"/>
                            </a:spcBef>
                            <a:spcAft>
                              <a:spcPts val="0"/>
                            </a:spcAft>
                          </a:pPr>
                          <a:r>
                            <a:rPr lang="en-US" sz="1500" b="1">
                              <a:solidFill>
                                <a:srgbClr val="000000"/>
                              </a:solidFill>
                              <a:effectLst/>
                              <a:latin typeface="Verdana" charset="0"/>
                              <a:ea typeface="Times New Roman" charset="0"/>
                              <a:cs typeface="Arial" charset="0"/>
                            </a:rPr>
                            <a:t>Rotations clockwise about the origin</a:t>
                          </a:r>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6274">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1" t="-109091" r="-190602" b="-577273"/>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241" t="-109091" r="-90602" b="-577273"/>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2193" t="-109091" r="-535" b="-577273"/>
                          </a:stretch>
                        </a:blipFill>
                      </a:tcPr>
                    </a:tc>
                    <a:extLst>
                      <a:ext uri="{0D108BD9-81ED-4DB2-BD59-A6C34878D82A}">
                        <a16:rowId xmlns:a16="http://schemas.microsoft.com/office/drawing/2014/main" val="10001"/>
                      </a:ext>
                    </a:extLst>
                  </a:tr>
                  <a:tr h="510098">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1" t="-109524" r="-190602" b="-202381"/>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241" t="-109524" r="-90602" b="-202381"/>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2193" t="-109524" r="-535" b="-202381"/>
                          </a:stretch>
                        </a:blipFill>
                      </a:tcPr>
                    </a:tc>
                    <a:extLst>
                      <a:ext uri="{0D108BD9-81ED-4DB2-BD59-A6C34878D82A}">
                        <a16:rowId xmlns:a16="http://schemas.microsoft.com/office/drawing/2014/main" val="10002"/>
                      </a:ext>
                    </a:extLst>
                  </a:tr>
                  <a:tr h="255309">
                    <a:tc gridSpan="3">
                      <a:txBody>
                        <a:bodyPr/>
                        <a:lstStyle/>
                        <a:p>
                          <a:pPr marL="0" marR="0" algn="ctr">
                            <a:spcBef>
                              <a:spcPts val="0"/>
                            </a:spcBef>
                            <a:spcAft>
                              <a:spcPts val="0"/>
                            </a:spcAft>
                          </a:pPr>
                          <a:r>
                            <a:rPr lang="en-US" sz="1500" b="1">
                              <a:solidFill>
                                <a:srgbClr val="000000"/>
                              </a:solidFill>
                              <a:effectLst/>
                              <a:latin typeface="Verdana" charset="0"/>
                              <a:ea typeface="Times New Roman" charset="0"/>
                              <a:cs typeface="Arial" charset="0"/>
                            </a:rPr>
                            <a:t>Rotations counterclockwise about the origin</a:t>
                          </a:r>
                          <a:endParaRPr lang="en-US" sz="1100">
                            <a:effectLst/>
                            <a:latin typeface="Cambria" charset="0"/>
                            <a:ea typeface="Times New Roman" charset="0"/>
                            <a:cs typeface="Times New Roman" charset="0"/>
                          </a:endParaRPr>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66274">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1" t="-495455" r="-190602" b="-190909"/>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241" t="-495455" r="-90602" b="-190909"/>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2193" t="-495455" r="-535" b="-190909"/>
                          </a:stretch>
                        </a:blipFill>
                      </a:tcPr>
                    </a:tc>
                    <a:extLst>
                      <a:ext uri="{0D108BD9-81ED-4DB2-BD59-A6C34878D82A}">
                        <a16:rowId xmlns:a16="http://schemas.microsoft.com/office/drawing/2014/main" val="10004"/>
                      </a:ext>
                    </a:extLst>
                  </a:tr>
                  <a:tr h="499656">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1" t="-319512" r="-190602" b="-2439"/>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241" t="-319512" r="-90602" b="-2439"/>
                          </a:stretch>
                        </a:blipFill>
                      </a:tcPr>
                    </a:tc>
                    <a:tc>
                      <a:txBody>
                        <a:bodyPr/>
                        <a:lstStyle/>
                        <a:p>
                          <a:endParaRPr lang="en-US"/>
                        </a:p>
                      </a:txBody>
                      <a:tcPr marL="56387" marR="563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2193" t="-319512" r="-535" b="-2439"/>
                          </a:stretch>
                        </a:blipFill>
                      </a:tcPr>
                    </a:tc>
                    <a:extLst>
                      <a:ext uri="{0D108BD9-81ED-4DB2-BD59-A6C34878D82A}">
                        <a16:rowId xmlns:a16="http://schemas.microsoft.com/office/drawing/2014/main" val="10005"/>
                      </a:ext>
                    </a:extLst>
                  </a:tr>
                </a:tbl>
              </a:graphicData>
            </a:graphic>
          </p:graphicFrame>
        </mc:Fallback>
      </mc:AlternateContent>
      <p:sp>
        <p:nvSpPr>
          <p:cNvPr id="4" name="Rectangle 3"/>
          <p:cNvSpPr/>
          <p:nvPr/>
        </p:nvSpPr>
        <p:spPr>
          <a:xfrm>
            <a:off x="637926" y="5962716"/>
            <a:ext cx="9623674" cy="400110"/>
          </a:xfrm>
          <a:prstGeom prst="rect">
            <a:avLst/>
          </a:prstGeom>
        </p:spPr>
        <p:txBody>
          <a:bodyPr wrap="square">
            <a:spAutoFit/>
          </a:bodyPr>
          <a:lstStyle/>
          <a:p>
            <a:pPr marL="342900" indent="-342900">
              <a:buFont typeface="+mj-lt"/>
              <a:buAutoNum type="arabicPeriod"/>
            </a:pPr>
            <a:r>
              <a:rPr lang="en-US" sz="2000" dirty="0">
                <a:latin typeface="Verdana" charset="0"/>
                <a:ea typeface="Times New Roman" charset="0"/>
                <a:cs typeface="Arial" charset="0"/>
              </a:rPr>
              <a:t>What do you notice about the algebraic descriptions for rotations?</a:t>
            </a:r>
            <a:endParaRPr lang="en-US" sz="2000" dirty="0">
              <a:latin typeface="Cambria" charset="0"/>
              <a:ea typeface="Times New Roman" charset="0"/>
              <a:cs typeface="Times New Roman" charset="0"/>
            </a:endParaRPr>
          </a:p>
        </p:txBody>
      </p:sp>
      <p:pic>
        <p:nvPicPr>
          <p:cNvPr id="10" name="Picture 2" descr="Icon&#10;&#10;Description automatically generated">
            <a:extLst>
              <a:ext uri="{FF2B5EF4-FFF2-40B4-BE49-F238E27FC236}">
                <a16:creationId xmlns:a16="http://schemas.microsoft.com/office/drawing/2014/main" xmlns="" id="{4515CEC6-4B88-4E4D-9009-27AE4931CE5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97353" y="10077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56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093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183</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69508"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183</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7734"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4800" y="-8244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4.1.5 Wrap-Up: </a:t>
            </a:r>
            <a:r>
              <a:rPr lang="en-US" sz="3600" b="1" dirty="0" smtClean="0">
                <a:solidFill>
                  <a:srgbClr val="3F2A67"/>
                </a:solidFill>
                <a:latin typeface="Verdana"/>
                <a:ea typeface="Verdana"/>
                <a:cs typeface="Verdana"/>
                <a:sym typeface="Verdana"/>
              </a:rPr>
              <a:t>Cool Down</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193751"/>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93248" y="1386149"/>
            <a:ext cx="10910260" cy="1015663"/>
          </a:xfrm>
          <a:prstGeom prst="rect">
            <a:avLst/>
          </a:prstGeom>
          <a:noFill/>
        </p:spPr>
        <p:txBody>
          <a:bodyPr wrap="square" rtlCol="0">
            <a:spAutoFit/>
          </a:bodyPr>
          <a:lstStyle/>
          <a:p>
            <a:pPr marL="457200" indent="-457200" fontAlgn="base">
              <a:buFont typeface="+mj-lt"/>
              <a:buAutoNum type="arabicPeriod"/>
            </a:pPr>
            <a:r>
              <a:rPr lang="en-US" sz="2000" dirty="0">
                <a:latin typeface="Verdana" charset="0"/>
                <a:ea typeface="Verdana" charset="0"/>
                <a:cs typeface="Verdana" charset="0"/>
              </a:rPr>
              <a:t>A student asks you for help with algebraic descriptions for rotations because they are stuck on how to do it. Describe the process using what you learned in this lesson, highlighting any potential misconceptions they may have.</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TotalTime>
  <Words>1295</Words>
  <Application>Microsoft Macintosh PowerPoint</Application>
  <PresentationFormat>Widescreen</PresentationFormat>
  <Paragraphs>223</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 Black</vt:lpstr>
      <vt:lpstr>Calibri</vt:lpstr>
      <vt:lpstr>Cambria</vt:lpstr>
      <vt:lpstr>Cambria Math</vt:lpstr>
      <vt:lpstr>Century Gothic</vt:lpstr>
      <vt:lpstr>Times New Roman</vt:lpstr>
      <vt:lpstr>Verdana</vt:lpstr>
      <vt:lpstr>Wingdings</vt:lpstr>
      <vt:lpstr>Arial</vt:lpstr>
      <vt:lpstr>1_Office Theme</vt:lpstr>
      <vt:lpstr>Geometry  Unit 4, Lesson 1  Algebraic Descriptions for Translations and Rotations  Volume 1, pg. 177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27</cp:revision>
  <dcterms:created xsi:type="dcterms:W3CDTF">2015-03-17T18:51:18Z</dcterms:created>
  <dcterms:modified xsi:type="dcterms:W3CDTF">2022-07-27T17:28:44Z</dcterms:modified>
</cp:coreProperties>
</file>