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32" r:id="rId12"/>
    <p:sldId id="333" r:id="rId13"/>
    <p:sldId id="334" r:id="rId14"/>
    <p:sldId id="335" r:id="rId15"/>
    <p:sldId id="336" r:id="rId16"/>
    <p:sldId id="323" r:id="rId17"/>
    <p:sldId id="324" r:id="rId18"/>
    <p:sldId id="325" r:id="rId19"/>
    <p:sldId id="302" r:id="rId20"/>
    <p:sldId id="303" r:id="rId21"/>
    <p:sldId id="309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96"/>
    <p:restoredTop sz="94707"/>
  </p:normalViewPr>
  <p:slideViewPr>
    <p:cSldViewPr snapToGrid="0">
      <p:cViewPr varScale="1">
        <p:scale>
          <a:sx n="65" d="100"/>
          <a:sy n="65" d="100"/>
        </p:scale>
        <p:origin x="240" y="1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251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366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125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002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7644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300.png"/><Relationship Id="rId6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Sequences of Transformations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190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MA.912.GR.2.2 </a:t>
            </a:r>
          </a:p>
          <a:p>
            <a:pPr marL="633413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transformations that do or do not preserve distance.</a:t>
            </a:r>
          </a:p>
          <a:p>
            <a:pPr marL="9525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MA.912.GR.2.3 </a:t>
            </a:r>
          </a:p>
          <a:p>
            <a:pPr marL="633413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Specify a sequence of transformations that will map a given figure onto itself, or onto another congruent or similar figure.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6382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190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</a:t>
            </a:r>
          </a:p>
          <a:p>
            <a:pPr marL="350838"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MA.K12.MTR.4.1 </a:t>
            </a:r>
          </a:p>
          <a:p>
            <a:pPr marL="350838">
              <a:buSzPts val="52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</a:t>
            </a:r>
          </a:p>
          <a:p>
            <a:pPr marL="350838"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190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0324"/>
            <a:ext cx="111709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transformations that preserve distance.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1500" indent="-571500">
              <a:buFont typeface="Wingdings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specify a sequence of transformations that will map a given figure onto another congruent figure.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4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4.3.1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7" y="1386149"/>
                <a:ext cx="91259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𝑀𝐶𝑌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𝐾𝑋𝐻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𝑁𝑅𝐵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𝑆𝑊𝐷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149"/>
                <a:ext cx="9125939" cy="400110"/>
              </a:xfrm>
              <a:prstGeom prst="rect">
                <a:avLst/>
              </a:prstGeom>
              <a:blipFill>
                <a:blip r:embed="rId5"/>
                <a:stretch>
                  <a:fillRect l="-668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1754" y="2222573"/>
            <a:ext cx="6145047" cy="41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8618"/>
                <a:ext cx="10983359" cy="264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each statement.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𝑀𝐶𝑌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reflected across __________, it will map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𝐾𝑋𝐻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𝑁𝑅𝐵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reflected across __________, it will map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𝑆𝑊𝐷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reflected across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-axis, it will map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8618"/>
                <a:ext cx="10983359" cy="2649315"/>
              </a:xfrm>
              <a:prstGeom prst="rect">
                <a:avLst/>
              </a:prstGeom>
              <a:blipFill>
                <a:blip r:embed="rId4"/>
                <a:stretch>
                  <a:fillRect l="-611" t="-1382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191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855"/>
            <a:ext cx="78677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4.3.2 Guided Instruction: Sequence of Transformations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150"/>
                <a:ext cx="1093067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𝑅𝐾𝐻𝐷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transformed to create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Then,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transformed to create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quadrilaterals are shown on the coordinate grid.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50"/>
                <a:ext cx="10930676" cy="1015663"/>
              </a:xfrm>
              <a:prstGeom prst="rect">
                <a:avLst/>
              </a:prstGeom>
              <a:blipFill rotWithShape="0">
                <a:blip r:embed="rId5"/>
                <a:stretch>
                  <a:fillRect l="-613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0339" y="2722627"/>
            <a:ext cx="48133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2" y="296971"/>
            <a:ext cx="110586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On the graph, show the mappings of the vertices of the first transformation. 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On the graph, show the mappings of the vertices of the second transformation.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0517048"/>
                  </p:ext>
                </p:extLst>
              </p:nvPr>
            </p:nvGraphicFramePr>
            <p:xfrm>
              <a:off x="3783451" y="1480691"/>
              <a:ext cx="5366175" cy="389661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6522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5198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948966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10837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𝑹𝑲𝑯𝑫</m:t>
                              </m:r>
                            </m:oMath>
                          </a14:m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Transformed to 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𝑹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𝑯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𝑫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</m:t>
                              </m:r>
                            </m:oMath>
                          </a14:m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𝑹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𝑯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𝑫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14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Transformed to 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𝑹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𝑯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′′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𝑫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′′</m:t>
                              </m:r>
                            </m:oMath>
                          </a14:m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40645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Written Description</a:t>
                          </a:r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40645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Algebraic Description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0517048"/>
                  </p:ext>
                </p:extLst>
              </p:nvPr>
            </p:nvGraphicFramePr>
            <p:xfrm>
              <a:off x="3783451" y="1480691"/>
              <a:ext cx="5366175" cy="389661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652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519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489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837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824" t="-4651" r="-91176" b="-2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5325" t="-4651" r="-649" b="-2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0645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Written Description</a:t>
                          </a:r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0645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Algebraic Description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Arial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52742" marR="527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465232" y="5567660"/>
            <a:ext cx="86843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how to know if a sequence of transformations preserves distance.</a:t>
            </a: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96971"/>
                <a:ext cx="1105869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𝐻𝑇𝐶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𝑉𝐾𝐶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𝑊𝐺𝑌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grid.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𝐻𝑇𝐶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pre-image.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𝑉𝐾𝐶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result of the first transformation,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𝑊𝐺𝑌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result of the second transformation.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96971"/>
                <a:ext cx="11058692" cy="1015663"/>
              </a:xfrm>
              <a:prstGeom prst="rect">
                <a:avLst/>
              </a:prstGeom>
              <a:blipFill>
                <a:blip r:embed="rId4"/>
                <a:stretch>
                  <a:fillRect l="-606" t="-4217" r="-82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8396" y="1514785"/>
            <a:ext cx="6076332" cy="415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2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1" y="288869"/>
            <a:ext cx="1126153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Describe the first transformation.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patty paper to show that the transformation preserved distance.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Describe the second transformation.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patty paper to show that the second transformation preserved distance.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Work with your partner to complete the statement. Because the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                               of                    is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8"/>
              <p:cNvSpPr/>
              <p:nvPr/>
            </p:nvSpPr>
            <p:spPr>
              <a:xfrm>
                <a:off x="6259449" y="3350583"/>
                <a:ext cx="1657509" cy="1367661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buFont typeface="Courier New" panose="02070309020205020404" pitchFamily="49" charset="0"/>
                  <a:buChar char="o"/>
                </a:pPr>
                <a:endParaRPr lang="en-US" sz="1800" i="1" dirty="0">
                  <a:latin typeface="Cambria Math" panose="02040503050406030204" pitchFamily="18" charset="0"/>
                  <a:ea typeface="Times New Roman"/>
                  <a:cs typeface="Times New Roman"/>
                </a:endParaRP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(0, 0)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/>
                    <a:cs typeface="Times New Roman"/>
                  </a:rPr>
                  <a:t>,</a:t>
                </a:r>
                <a:endParaRPr lang="en-US" sz="1200" dirty="0">
                  <a:ea typeface="Times New Roman"/>
                  <a:cs typeface="Times New Roman"/>
                </a:endParaRP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(−5, −10)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/>
                    <a:cs typeface="Times New Roman"/>
                  </a:rPr>
                  <a:t>,</a:t>
                </a:r>
                <a:endParaRPr lang="en-US" sz="1200" dirty="0">
                  <a:ea typeface="Times New Roman"/>
                  <a:cs typeface="Times New Roman"/>
                </a:endParaRP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=0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/>
                    <a:cs typeface="Times New Roman"/>
                  </a:rPr>
                  <a:t>,</a:t>
                </a:r>
                <a:endParaRPr lang="en-US" sz="1200" dirty="0">
                  <a:ea typeface="Times New Roman"/>
                  <a:cs typeface="Times New Roman"/>
                </a:endParaRP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=10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/>
                    <a:cs typeface="Times New Roman"/>
                  </a:rPr>
                  <a:t>,</a:t>
                </a:r>
                <a:endParaRPr lang="en-US" sz="1200" dirty="0">
                  <a:ea typeface="Times New Roman"/>
                  <a:cs typeface="Times New Roman"/>
                </a:endParaRPr>
              </a:p>
              <a:p>
                <a:pPr marL="228600">
                  <a:spcAft>
                    <a:spcPts val="1000"/>
                  </a:spcAft>
                </a:pPr>
                <a:r>
                  <a:rPr lang="en-US" sz="1800" dirty="0">
                    <a:latin typeface="Verdana" panose="020B0604030504040204" pitchFamily="34" charset="0"/>
                    <a:ea typeface="Times New Roman"/>
                    <a:cs typeface="Times New Roman"/>
                  </a:rPr>
                  <a:t> </a:t>
                </a:r>
                <a:endParaRPr lang="en-US" sz="1200" dirty="0"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Rectangle: Rounded Corners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449" y="3350583"/>
                <a:ext cx="1657509" cy="1367661"/>
              </a:xfrm>
              <a:prstGeom prst="roundRect">
                <a:avLst/>
              </a:prstGeom>
              <a:blipFill>
                <a:blip r:embed="rId4"/>
                <a:stretch>
                  <a:fillRect t="-5310" b="-10619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9"/>
          <p:cNvSpPr/>
          <p:nvPr/>
        </p:nvSpPr>
        <p:spPr>
          <a:xfrm>
            <a:off x="4175943" y="4815009"/>
            <a:ext cx="1403985" cy="80835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Times New Roman"/>
                <a:cs typeface="Times New Roman"/>
              </a:rPr>
              <a:t>can</a:t>
            </a:r>
            <a:endParaRPr lang="en-US" sz="1200" dirty="0">
              <a:ea typeface="Times New Roman"/>
              <a:cs typeface="Times New Roman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Times New Roman"/>
                <a:cs typeface="Times New Roman"/>
              </a:rPr>
              <a:t>cannot </a:t>
            </a:r>
            <a:endParaRPr lang="en-US" sz="1200" dirty="0">
              <a:ea typeface="Times New Roman"/>
              <a:cs typeface="Times New Roman"/>
            </a:endParaRPr>
          </a:p>
        </p:txBody>
      </p:sp>
      <p:sp>
        <p:nvSpPr>
          <p:cNvPr id="15" name="Rectangle: Rounded Corners 11"/>
          <p:cNvSpPr/>
          <p:nvPr/>
        </p:nvSpPr>
        <p:spPr>
          <a:xfrm>
            <a:off x="1061164" y="3423037"/>
            <a:ext cx="2545080" cy="80962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Times New Roman"/>
                <a:cs typeface="Times New Roman"/>
              </a:rPr>
              <a:t>center of rotation</a:t>
            </a:r>
            <a:endParaRPr lang="en-US" sz="1200" dirty="0">
              <a:ea typeface="Times New Roman"/>
              <a:cs typeface="Times New Roman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Times New Roman"/>
                <a:cs typeface="Times New Roman"/>
              </a:rPr>
              <a:t>line of reflection </a:t>
            </a:r>
            <a:endParaRPr lang="en-US" sz="1200" dirty="0">
              <a:ea typeface="Times New Roman"/>
              <a:cs typeface="Times New Roman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65233" y="4118455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5943" y="3299889"/>
            <a:ext cx="1513806" cy="108129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56655" y="4979840"/>
            <a:ext cx="32512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an algebraic description</a:t>
            </a:r>
            <a:endParaRPr lang="en-US" sz="2000" dirty="0"/>
          </a:p>
        </p:txBody>
      </p:sp>
      <p:sp>
        <p:nvSpPr>
          <p:cNvPr id="22" name="Rectangle 21"/>
          <p:cNvSpPr/>
          <p:nvPr/>
        </p:nvSpPr>
        <p:spPr>
          <a:xfrm>
            <a:off x="5579928" y="4975509"/>
            <a:ext cx="13035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Be used.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4050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3BC97A7-8575-5A46-8E72-A886A83AEC7E}"/>
              </a:ext>
            </a:extLst>
          </p:cNvPr>
          <p:cNvSpPr txBox="1"/>
          <p:nvPr/>
        </p:nvSpPr>
        <p:spPr>
          <a:xfrm>
            <a:off x="465232" y="394507"/>
            <a:ext cx="11162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6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Judeline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and Carmen completed the statement above, they had different correct answers. Write the second correct answer. </a:t>
            </a:r>
          </a:p>
        </p:txBody>
      </p:sp>
      <p:sp>
        <p:nvSpPr>
          <p:cNvPr id="6" name="Text Box 40"/>
          <p:cNvSpPr txBox="1"/>
          <p:nvPr/>
        </p:nvSpPr>
        <p:spPr>
          <a:xfrm>
            <a:off x="1466500" y="1774090"/>
            <a:ext cx="6629400" cy="914400"/>
          </a:xfrm>
          <a:prstGeom prst="roundRect">
            <a:avLst/>
          </a:prstGeom>
          <a:solidFill>
            <a:srgbClr val="B8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85800" algn="just">
              <a:spcAft>
                <a:spcPts val="1000"/>
              </a:spcAft>
            </a:pP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To use an algebraic description of a rotation the center of rotation must be ________.  </a:t>
            </a:r>
            <a:endParaRPr lang="en-US" sz="2000" dirty="0">
              <a:ea typeface="Times New Roman"/>
              <a:cs typeface="Times New Roman"/>
            </a:endParaRPr>
          </a:p>
        </p:txBody>
      </p:sp>
      <p:sp>
        <p:nvSpPr>
          <p:cNvPr id="7" name="Text Box 24"/>
          <p:cNvSpPr txBox="1"/>
          <p:nvPr/>
        </p:nvSpPr>
        <p:spPr>
          <a:xfrm>
            <a:off x="1473500" y="3045590"/>
            <a:ext cx="6629400" cy="1527814"/>
          </a:xfrm>
          <a:prstGeom prst="roundRect">
            <a:avLst/>
          </a:prstGeom>
          <a:solidFill>
            <a:srgbClr val="B8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>
              <a:spcAft>
                <a:spcPts val="1000"/>
              </a:spcAft>
            </a:pP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To use an algebraic description of a reflection the line of reflection must be _________, _________, _________, </a:t>
            </a:r>
            <a:r>
              <a:rPr lang="en-US" sz="2000">
                <a:solidFill>
                  <a:srgbClr val="0075BF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or _________.</a:t>
            </a:r>
            <a:endParaRPr lang="en-US" sz="2000" dirty="0">
              <a:ea typeface="Times New Roman"/>
              <a:cs typeface="Times New Roman"/>
            </a:endParaRPr>
          </a:p>
        </p:txBody>
      </p:sp>
      <p:pic>
        <p:nvPicPr>
          <p:cNvPr id="3075" name="Picture 1" descr="Icon&#10;&#10;Description automatically generated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05087" y="3546443"/>
            <a:ext cx="539750" cy="539750"/>
          </a:xfrm>
          <a:prstGeom prst="rect">
            <a:avLst/>
          </a:prstGeom>
          <a:noFill/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2" descr="Icon&#10;&#10;Description automatically generated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05087" y="1961415"/>
            <a:ext cx="539750" cy="539750"/>
          </a:xfrm>
          <a:prstGeom prst="rect">
            <a:avLst/>
          </a:prstGeom>
          <a:noFill/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09201" y="235337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209200" y="17662"/>
            <a:ext cx="12105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x-none" altLang="x-none" sz="1800">
                <a:solidFill>
                  <a:schemeClr val="tx1"/>
                </a:solidFill>
                <a:latin typeface="Arial" charset="0"/>
              </a:rPr>
              <a:t/>
            </a:r>
            <a:br>
              <a:rPr lang="x-none" altLang="x-none" sz="1800">
                <a:solidFill>
                  <a:schemeClr val="tx1"/>
                </a:solidFill>
                <a:latin typeface="Arial" charset="0"/>
              </a:rPr>
            </a:br>
            <a:endParaRPr lang="x-none" altLang="x-none" sz="1800">
              <a:solidFill>
                <a:schemeClr val="tx1"/>
              </a:solidFill>
              <a:latin typeface="Arial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x-none" altLang="x-none" sz="1800">
                <a:solidFill>
                  <a:schemeClr val="tx1"/>
                </a:solidFill>
                <a:latin typeface="Arial" charset="0"/>
              </a:rPr>
              <a:t>     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x-none" altLang="x-none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209201" y="46393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42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94506"/>
                <a:ext cx="1105869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𝑁𝑉𝐺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grid.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𝑁𝑉𝐺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transformed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4506"/>
                <a:ext cx="11058692" cy="707886"/>
              </a:xfrm>
              <a:prstGeom prst="rect">
                <a:avLst/>
              </a:prstGeom>
              <a:blipFill>
                <a:blip r:embed="rId4"/>
                <a:stretch>
                  <a:fillRect l="-606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9132" y="1357960"/>
            <a:ext cx="5659336" cy="41501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9375" y="5727236"/>
            <a:ext cx="107745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which features of the two triangles can be used to determine that the transformations were rigid motions.</a:t>
            </a:r>
          </a:p>
        </p:txBody>
      </p:sp>
    </p:spTree>
    <p:extLst>
      <p:ext uri="{BB962C8B-B14F-4D97-AF65-F5344CB8AC3E}">
        <p14:creationId xmlns:p14="http://schemas.microsoft.com/office/powerpoint/2010/main" val="1865118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94507"/>
                <a:ext cx="1116291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Adele told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Kiriam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she knows one of the rigid motions is a rotation. Discuss with your partner which clues in the location of the vertices Adele used to draw her conclusion.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determine a sequence of transformations that includes a rotation about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so that when applied,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𝑁𝑉𝐺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will map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4507"/>
                <a:ext cx="11162918" cy="2246769"/>
              </a:xfrm>
              <a:prstGeom prst="rect">
                <a:avLst/>
              </a:prstGeom>
              <a:blipFill>
                <a:blip r:embed="rId4"/>
                <a:stretch>
                  <a:fillRect l="-600" t="-1902" r="-218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8104049"/>
                  </p:ext>
                </p:extLst>
              </p:nvPr>
            </p:nvGraphicFramePr>
            <p:xfrm>
              <a:off x="1360823" y="2896393"/>
              <a:ext cx="7450476" cy="248676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8325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48325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4839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6216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Transformation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Mapping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Algebraic Description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9325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𝑁𝑉𝐺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→∆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𝑁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𝑉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𝐺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9325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𝑁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𝑉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𝐺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′→∆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𝑁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′′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𝑉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′′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𝐺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8104049"/>
                  </p:ext>
                </p:extLst>
              </p:nvPr>
            </p:nvGraphicFramePr>
            <p:xfrm>
              <a:off x="1360823" y="2896393"/>
              <a:ext cx="7450476" cy="248676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832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832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39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16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Transformation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Mapping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Algebraic Description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325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91" t="-74026" r="-100737" b="-10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325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91" t="-175163" r="-100737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782" marR="757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2941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194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37087"/>
            <a:ext cx="87845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4.3.3 Guided Practice: Sequence of Transformations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194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7" y="1386149"/>
                <a:ext cx="103353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𝑇𝑊𝐹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plane.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149"/>
                <a:ext cx="10335307" cy="400110"/>
              </a:xfrm>
              <a:prstGeom prst="rect">
                <a:avLst/>
              </a:prstGeom>
              <a:blipFill>
                <a:blip r:embed="rId5"/>
                <a:stretch>
                  <a:fillRect l="-649"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8793" y="1883795"/>
            <a:ext cx="5096879" cy="361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1" y="394506"/>
                <a:ext cx="103010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a sequence of transformations that will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𝑇𝑊𝐹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394506"/>
                <a:ext cx="10301091" cy="707886"/>
              </a:xfrm>
              <a:prstGeom prst="rect">
                <a:avLst/>
              </a:prstGeom>
              <a:blipFill>
                <a:blip r:embed="rId4"/>
                <a:stretch>
                  <a:fillRect l="-592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8512152"/>
                  </p:ext>
                </p:extLst>
              </p:nvPr>
            </p:nvGraphicFramePr>
            <p:xfrm>
              <a:off x="1249965" y="1577521"/>
              <a:ext cx="6757670" cy="220662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5234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25234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25298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518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Transformation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Mapping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Algebraic Description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274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∆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𝑇𝑊𝐹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→∆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𝑇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𝑊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𝐹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274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∆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𝑇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𝑊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𝐹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′→∆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𝑇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′′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𝑊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′′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𝐹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8512152"/>
                  </p:ext>
                </p:extLst>
              </p:nvPr>
            </p:nvGraphicFramePr>
            <p:xfrm>
              <a:off x="1249965" y="1577521"/>
              <a:ext cx="6757670" cy="220662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523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523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529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518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Transformation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Mapping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Algebraic Description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74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42" t="-75735" r="-100813" b="-1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74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42" t="-175735" r="-100813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194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836194" y="64714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7" y="1394250"/>
                <a:ext cx="102763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𝑀𝐶𝐺𝑊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transformed to create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94250"/>
                <a:ext cx="10276313" cy="400110"/>
              </a:xfrm>
              <a:prstGeom prst="rect">
                <a:avLst/>
              </a:prstGeom>
              <a:blipFill>
                <a:blip r:embed="rId5"/>
                <a:stretch>
                  <a:fillRect l="-652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2511" y="2188312"/>
            <a:ext cx="4623955" cy="419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406698"/>
                <a:ext cx="1105869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the sequence of transformations that will map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𝑀𝐶𝐺𝑊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sequence of transformations using algebraic descriptions.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06698"/>
                <a:ext cx="11058692" cy="1323439"/>
              </a:xfrm>
              <a:prstGeom prst="rect">
                <a:avLst/>
              </a:prstGeom>
              <a:blipFill>
                <a:blip r:embed="rId4"/>
                <a:stretch>
                  <a:fillRect l="-606" t="-3226" r="-386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195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753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195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76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7434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4.3.5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93248" y="1394250"/>
            <a:ext cx="10084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Check the box that describes your understanding of each learning target.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256518"/>
              </p:ext>
            </p:extLst>
          </p:nvPr>
        </p:nvGraphicFramePr>
        <p:xfrm>
          <a:off x="679000" y="2245034"/>
          <a:ext cx="10842534" cy="3982079"/>
        </p:xfrm>
        <a:graphic>
          <a:graphicData uri="http://schemas.openxmlformats.org/drawingml/2006/table">
            <a:tbl>
              <a:tblPr firstRow="1" firstCol="1" bandRow="1"/>
              <a:tblGrid>
                <a:gridCol w="108425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7759">
                <a:tc>
                  <a:txBody>
                    <a:bodyPr/>
                    <a:lstStyle/>
                    <a:p>
                      <a:pPr marL="342900" marR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q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  <a:sym typeface="Arial"/>
                        </a:rPr>
                        <a:t>I can identify transformations that preserve distance and I am ready for the next lesson.</a:t>
                      </a:r>
                      <a:r>
                        <a:rPr lang="en-US" sz="18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 </a:t>
                      </a:r>
                    </a:p>
                    <a:p>
                      <a:pPr marL="342900" marR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q"/>
                      </a:pPr>
                      <a:r>
                        <a:rPr lang="en-US" sz="18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need some help identifying transformations that preserve distance. One area in which I need help is_____________________________________.</a:t>
                      </a:r>
                    </a:p>
                    <a:p>
                      <a:pPr marL="342900" marR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q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  <a:sym typeface="Arial"/>
                        </a:rPr>
                        <a:t>I can specify a sequence of transformation that will map a given figure onto another congruent figure.</a:t>
                      </a:r>
                      <a:r>
                        <a:rPr lang="en-US" sz="18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charset="2"/>
                        <a:buChar char="q"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</a:t>
                      </a: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  <a:sym typeface="Arial"/>
                        </a:rPr>
                        <a:t>need some help specifying a sequence of transformation that will map a given figure onto another congruent figure. One area in which I need help is </a:t>
                      </a:r>
                      <a:r>
                        <a:rPr lang="en-US" sz="18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____________________________________.</a:t>
                      </a:r>
                    </a:p>
                    <a:p>
                      <a:pPr marL="285750" indent="-285750">
                        <a:buFont typeface="Wingdings" charset="2"/>
                        <a:buChar char="q"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  <a:sym typeface="Arial"/>
                        </a:rPr>
                        <a:t>I need more support in knowing how to identify transformations that preserve distance. I am concerned I will not be ready to move on.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charset="2"/>
                        <a:buChar char="q"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  <a:sym typeface="Arial"/>
                        </a:rPr>
                        <a:t>One area in which I need help is</a:t>
                      </a:r>
                      <a:r>
                        <a:rPr lang="en-US" sz="18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__________________________.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6033">
                <a:tc>
                  <a:txBody>
                    <a:bodyPr/>
                    <a:lstStyle/>
                    <a:p>
                      <a:pPr marL="342900" marR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q"/>
                      </a:pPr>
                      <a:endParaRPr lang="en-US" sz="18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1032</Words>
  <Application>Microsoft Macintosh PowerPoint</Application>
  <PresentationFormat>Widescreen</PresentationFormat>
  <Paragraphs>174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 Black</vt:lpstr>
      <vt:lpstr>Calibri</vt:lpstr>
      <vt:lpstr>Cambria</vt:lpstr>
      <vt:lpstr>Cambria Math</vt:lpstr>
      <vt:lpstr>Century Gothic</vt:lpstr>
      <vt:lpstr>Courier New</vt:lpstr>
      <vt:lpstr>Times New Roman</vt:lpstr>
      <vt:lpstr>Verdana</vt:lpstr>
      <vt:lpstr>Wingdings</vt:lpstr>
      <vt:lpstr>Arial</vt:lpstr>
      <vt:lpstr>1_Office Theme</vt:lpstr>
      <vt:lpstr>Geometry  Unit 4, Lesson 3  Sequences of Transformations  Volume 1, pg. 190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23</cp:revision>
  <dcterms:created xsi:type="dcterms:W3CDTF">2015-03-17T18:51:18Z</dcterms:created>
  <dcterms:modified xsi:type="dcterms:W3CDTF">2022-07-27T20:19:03Z</dcterms:modified>
</cp:coreProperties>
</file>