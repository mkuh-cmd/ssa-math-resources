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56" r:id="rId2"/>
    <p:sldId id="257" r:id="rId3"/>
    <p:sldId id="285" r:id="rId4"/>
    <p:sldId id="286" r:id="rId5"/>
    <p:sldId id="261" r:id="rId6"/>
    <p:sldId id="287" r:id="rId7"/>
    <p:sldId id="311" r:id="rId8"/>
    <p:sldId id="312" r:id="rId9"/>
    <p:sldId id="313" r:id="rId10"/>
    <p:sldId id="332" r:id="rId11"/>
    <p:sldId id="333" r:id="rId12"/>
    <p:sldId id="334" r:id="rId13"/>
    <p:sldId id="335" r:id="rId14"/>
    <p:sldId id="336" r:id="rId15"/>
    <p:sldId id="337" r:id="rId16"/>
    <p:sldId id="338" r:id="rId17"/>
    <p:sldId id="329" r:id="rId18"/>
    <p:sldId id="330" r:id="rId19"/>
    <p:sldId id="331" r:id="rId20"/>
    <p:sldId id="306" r:id="rId21"/>
    <p:sldId id="307" r:id="rId22"/>
    <p:sldId id="310"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BEA6"/>
    <a:srgbClr val="54B5D1"/>
    <a:srgbClr val="C9DF6F"/>
    <a:srgbClr val="417DBF"/>
    <a:srgbClr val="3F2A67"/>
    <a:srgbClr val="E24E5F"/>
    <a:srgbClr val="26B7D4"/>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316"/>
    <p:restoredTop sz="94622"/>
  </p:normalViewPr>
  <p:slideViewPr>
    <p:cSldViewPr snapToGrid="0">
      <p:cViewPr varScale="1">
        <p:scale>
          <a:sx n="85" d="100"/>
          <a:sy n="85" d="100"/>
        </p:scale>
        <p:origin x="176" y="6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 Id="rId55" Type="http://customschemas.google.com/relationships/presentationmetadata" Target="metadata"/><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743575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5510920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6540147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4324049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6018910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8111989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3094060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32481965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1215227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8406461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3484926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1.png"/><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2.png"/><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image" Target="../media/image13.png"/><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4.png"/><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5.png"/><Relationship Id="rId5" Type="http://schemas.openxmlformats.org/officeDocument/2006/relationships/image" Target="../media/image150.png"/><Relationship Id="rId6" Type="http://schemas.openxmlformats.org/officeDocument/2006/relationships/image" Target="../media/image16.png"/><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7.png"/><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4.png"/><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5.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1.png"/><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2.png"/><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6.png"/><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0.png"/><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image" Target="../media/image36.png"/><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60.png"/><Relationship Id="rId5" Type="http://schemas.openxmlformats.org/officeDocument/2006/relationships/image" Target="../media/image37.png"/><Relationship Id="rId6" Type="http://schemas.openxmlformats.org/officeDocument/2006/relationships/image" Target="../media/image38.png"/><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9.png"/><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42.png"/><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Geometry</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4, Lesson 6</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Isometry</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206</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xmlns=""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08753"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14475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805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206</a:t>
            </a: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514000" y="1608425"/>
            <a:ext cx="11009924"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400" dirty="0">
                <a:latin typeface="Verdana" charset="0"/>
                <a:ea typeface="Verdana" charset="0"/>
                <a:cs typeface="Verdana" charset="0"/>
              </a:rPr>
              <a:t>MA.912.GR.2.3 Specify a sequence of transformations that will map a given figure onto itself, or onto another congruent or similar figure.</a:t>
            </a:r>
          </a:p>
          <a:p>
            <a:pPr marL="95250" indent="0">
              <a:buNone/>
            </a:pPr>
            <a:r>
              <a:rPr lang="en-US" sz="2400" dirty="0">
                <a:latin typeface="Verdana" charset="0"/>
                <a:ea typeface="Verdana" charset="0"/>
                <a:cs typeface="Verdana" charset="0"/>
              </a:rPr>
              <a:t> </a:t>
            </a:r>
          </a:p>
          <a:p>
            <a:pPr marL="95250" indent="0">
              <a:buNone/>
            </a:pPr>
            <a:r>
              <a:rPr lang="en-US" sz="2400" dirty="0">
                <a:latin typeface="Verdana" charset="0"/>
                <a:ea typeface="Verdana" charset="0"/>
                <a:cs typeface="Verdana" charset="0"/>
              </a:rPr>
              <a:t>MA.912.GR.2.6 Apply rigid transformations to map one figure onto another to justify that the two figures are congruent.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00550" y="380525"/>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25199" y="137892"/>
            <a:ext cx="865298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xmlns="" id="{E701C7D4-7BD4-5F4C-ACEB-5781D00837A2}"/>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206</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1101760" y="1604615"/>
            <a:ext cx="1042216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800" dirty="0">
                <a:latin typeface="Verdana" panose="020B0604030504040204" pitchFamily="34" charset="0"/>
                <a:ea typeface="Verdana" panose="020B0604030504040204" pitchFamily="34" charset="0"/>
                <a:cs typeface="Verdana" panose="020B0604030504040204" pitchFamily="34" charset="0"/>
              </a:rPr>
              <a:t>MA.K12.MTR.1.1 Actively participate in effortful learning both individually and collectively.</a:t>
            </a:r>
          </a:p>
          <a:p>
            <a:endParaRPr lang="en-US" sz="1800" dirty="0">
              <a:latin typeface="Verdana" panose="020B0604030504040204" pitchFamily="34" charset="0"/>
              <a:ea typeface="Verdana" panose="020B0604030504040204" pitchFamily="34" charset="0"/>
              <a:cs typeface="Verdana" panose="020B0604030504040204" pitchFamily="34" charset="0"/>
            </a:endParaRPr>
          </a:p>
          <a:p>
            <a:r>
              <a:rPr lang="en-US" sz="1800" dirty="0">
                <a:latin typeface="Verdana" panose="020B0604030504040204" pitchFamily="34" charset="0"/>
                <a:ea typeface="Verdana" panose="020B0604030504040204" pitchFamily="34" charset="0"/>
                <a:cs typeface="Verdana" panose="020B0604030504040204" pitchFamily="34" charset="0"/>
              </a:rPr>
              <a:t>MA.K12.MTR.2.1 Demonstrate understanding by representing problems in multiple ways.</a:t>
            </a:r>
          </a:p>
          <a:p>
            <a:pPr>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latin typeface="Verdana" panose="020B0604030504040204" pitchFamily="34" charset="0"/>
                <a:ea typeface="Verdana" panose="020B0604030504040204" pitchFamily="34" charset="0"/>
                <a:cs typeface="Verdana" panose="020B0604030504040204" pitchFamily="34" charset="0"/>
              </a:rPr>
              <a:t>MA.K12.MTR.4.1 Engage in discussions that reflect on the mathematical thinking of self and others.</a:t>
            </a: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p:txBody>
      </p:sp>
    </p:spTree>
    <p:extLst>
      <p:ext uri="{BB962C8B-B14F-4D97-AF65-F5344CB8AC3E}">
        <p14:creationId xmlns:p14="http://schemas.microsoft.com/office/powerpoint/2010/main" val="20808422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056575" y="38885"/>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a:t>
            </a:r>
            <a:r>
              <a:rPr lang="en-US" sz="4700" b="1" dirty="0" smtClean="0">
                <a:solidFill>
                  <a:srgbClr val="52BDA6"/>
                </a:solidFill>
                <a:latin typeface="Verdana"/>
                <a:ea typeface="Verdana"/>
                <a:cs typeface="Verdana"/>
                <a:sym typeface="Verdana"/>
              </a:rPr>
              <a:t>Targets</a:t>
            </a:r>
            <a:endParaRPr lang="en-US" sz="4700" b="1" dirty="0">
              <a:solidFill>
                <a:srgbClr val="52BDA6"/>
              </a:solidFill>
              <a:latin typeface="Verdana"/>
              <a:ea typeface="Verdana"/>
              <a:cs typeface="Verdana"/>
              <a:sym typeface="Verdana"/>
            </a:endParaRP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274413" y="328085"/>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xmlns="" id="{3ECD2D46-55D5-C547-91DD-0801CE9D6AD7}"/>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206</a:t>
            </a:r>
          </a:p>
        </p:txBody>
      </p:sp>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457200" y="1608425"/>
            <a:ext cx="1106672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Wingdings" charset="2"/>
              <a:buChar char="q"/>
            </a:pPr>
            <a:r>
              <a:rPr lang="en-US" sz="2400" dirty="0">
                <a:latin typeface="Verdana" charset="0"/>
                <a:ea typeface="Verdana" charset="0"/>
                <a:cs typeface="Verdana" charset="0"/>
              </a:rPr>
              <a:t>I can describe a sequence of transformations that map one figure onto another congruent figure.</a:t>
            </a:r>
          </a:p>
          <a:p>
            <a:pPr marL="342900" indent="-342900">
              <a:buFont typeface="Wingdings" charset="2"/>
              <a:buChar char="q"/>
            </a:pPr>
            <a:r>
              <a:rPr lang="en-US" sz="2400" dirty="0">
                <a:latin typeface="Verdana" charset="0"/>
                <a:ea typeface="Verdana" charset="0"/>
                <a:cs typeface="Verdana" charset="0"/>
              </a:rPr>
              <a:t>I can draw an image given a preimage and a sequence of transformations on a coordinate plane.</a:t>
            </a:r>
          </a:p>
        </p:txBody>
      </p:sp>
    </p:spTree>
    <p:extLst>
      <p:ext uri="{BB962C8B-B14F-4D97-AF65-F5344CB8AC3E}">
        <p14:creationId xmlns:p14="http://schemas.microsoft.com/office/powerpoint/2010/main" val="2071420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207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052650" y="68550"/>
            <a:ext cx="975791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4.6.1 Warm-Up: Which One Doesn’t Belong?</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305350" y="205710"/>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207</a:t>
            </a:r>
          </a:p>
        </p:txBody>
      </p:sp>
      <p:sp>
        <p:nvSpPr>
          <p:cNvPr id="2" name="TextBox 1">
            <a:extLst>
              <a:ext uri="{FF2B5EF4-FFF2-40B4-BE49-F238E27FC236}">
                <a16:creationId xmlns:a16="http://schemas.microsoft.com/office/drawing/2014/main" xmlns="" id="{E1D7562E-134F-D14B-AF1A-DF40E11EF758}"/>
              </a:ext>
            </a:extLst>
          </p:cNvPr>
          <p:cNvSpPr txBox="1"/>
          <p:nvPr/>
        </p:nvSpPr>
        <p:spPr>
          <a:xfrm>
            <a:off x="593248" y="1394250"/>
            <a:ext cx="8327136" cy="400110"/>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Which one doesn’t belong? Explain your choice. </a:t>
            </a:r>
          </a:p>
        </p:txBody>
      </p:sp>
      <p:pic>
        <p:nvPicPr>
          <p:cNvPr id="3" name="Picture 2"/>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540666" y="1985437"/>
            <a:ext cx="4432300" cy="3632200"/>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207</a:t>
            </a:r>
          </a:p>
        </p:txBody>
      </p:sp>
      <p:pic>
        <p:nvPicPr>
          <p:cNvPr id="1026" name="Picture 2" descr="Icon&#10;&#10;Description automatically generated">
            <a:extLst>
              <a:ext uri="{FF2B5EF4-FFF2-40B4-BE49-F238E27FC236}">
                <a16:creationId xmlns:a16="http://schemas.microsoft.com/office/drawing/2014/main" xmlns=""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697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052650" y="68550"/>
            <a:ext cx="907949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4.6.2 Exploration: Transforming Parts</a:t>
            </a:r>
          </a:p>
        </p:txBody>
      </p:sp>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207</a:t>
            </a:r>
          </a:p>
        </p:txBody>
      </p:sp>
      <p:pic>
        <p:nvPicPr>
          <p:cNvPr id="7" name="Picture 2" descr="Icon&#10;&#10;Description automatically generated">
            <a:extLst>
              <a:ext uri="{FF2B5EF4-FFF2-40B4-BE49-F238E27FC236}">
                <a16:creationId xmlns:a16="http://schemas.microsoft.com/office/drawing/2014/main" xmlns=""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96352" y="316675"/>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xmlns="" id="{152D1D4D-DCB8-A246-B186-D40316579D77}"/>
                  </a:ext>
                </a:extLst>
              </p:cNvPr>
              <p:cNvSpPr txBox="1"/>
              <p:nvPr/>
            </p:nvSpPr>
            <p:spPr>
              <a:xfrm>
                <a:off x="593248" y="1394251"/>
                <a:ext cx="11034902" cy="732765"/>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Traci drew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panose="02040503050406030204" pitchFamily="18" charset="0"/>
                            <a:ea typeface="Verdana" charset="0"/>
                            <a:cs typeface="Verdana" charset="0"/>
                          </a:rPr>
                          <m:t>𝐴𝐵</m:t>
                        </m:r>
                      </m:e>
                    </m:acc>
                  </m:oMath>
                </a14:m>
                <a:r>
                  <a:rPr lang="en-US" sz="2000" dirty="0">
                    <a:latin typeface="Verdana" charset="0"/>
                    <a:ea typeface="Verdana" charset="0"/>
                    <a:cs typeface="Verdana" charset="0"/>
                  </a:rPr>
                  <a:t> on a piece of graph paper. She then moved the graph paper up and over to the right, as shown by the arrows. The movement created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panose="02040503050406030204" pitchFamily="18" charset="0"/>
                            <a:ea typeface="Verdana" charset="0"/>
                            <a:cs typeface="Verdana" charset="0"/>
                          </a:rPr>
                          <m:t>𝐴</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𝐵</m:t>
                        </m:r>
                        <m:r>
                          <a:rPr lang="en-US" sz="2000" i="1">
                            <a:latin typeface="Cambria Math" panose="02040503050406030204" pitchFamily="18" charset="0"/>
                            <a:ea typeface="Verdana" charset="0"/>
                            <a:cs typeface="Verdana" charset="0"/>
                          </a:rPr>
                          <m:t>′</m:t>
                        </m:r>
                      </m:e>
                    </m:acc>
                  </m:oMath>
                </a14:m>
                <a:r>
                  <a:rPr lang="en-US" sz="2000" dirty="0">
                    <a:latin typeface="Verdana" charset="0"/>
                    <a:ea typeface="Verdana" charset="0"/>
                    <a:cs typeface="Verdana" charset="0"/>
                  </a:rPr>
                  <a:t>. </a:t>
                </a:r>
              </a:p>
            </p:txBody>
          </p:sp>
        </mc:Choice>
        <mc:Fallback xmlns="">
          <p:sp>
            <p:nvSpPr>
              <p:cNvPr id="10" name="TextBox 9">
                <a:extLst>
                  <a:ext uri="{FF2B5EF4-FFF2-40B4-BE49-F238E27FC236}">
                    <a16:creationId xmlns:a16="http://schemas.microsoft.com/office/drawing/2014/main" id="{152D1D4D-DCB8-A246-B186-D40316579D77}"/>
                  </a:ext>
                </a:extLst>
              </p:cNvPr>
              <p:cNvSpPr txBox="1">
                <a:spLocks noRot="1" noChangeAspect="1" noMove="1" noResize="1" noEditPoints="1" noAdjustHandles="1" noChangeArrowheads="1" noChangeShapeType="1" noTextEdit="1"/>
              </p:cNvSpPr>
              <p:nvPr/>
            </p:nvSpPr>
            <p:spPr>
              <a:xfrm>
                <a:off x="593248" y="1394251"/>
                <a:ext cx="11034902" cy="732765"/>
              </a:xfrm>
              <a:prstGeom prst="rect">
                <a:avLst/>
              </a:prstGeom>
              <a:blipFill>
                <a:blip r:embed="rId5"/>
                <a:stretch>
                  <a:fillRect l="-607" t="-5833" b="-14167"/>
                </a:stretch>
              </a:blipFill>
            </p:spPr>
            <p:txBody>
              <a:bodyPr/>
              <a:lstStyle/>
              <a:p>
                <a:r>
                  <a:rPr lang="en-US">
                    <a:noFill/>
                  </a:rPr>
                  <a:t> </a:t>
                </a:r>
              </a:p>
            </p:txBody>
          </p:sp>
        </mc:Fallback>
      </mc:AlternateContent>
      <p:sp>
        <p:nvSpPr>
          <p:cNvPr id="2" name="Rectangle 1"/>
          <p:cNvSpPr/>
          <p:nvPr/>
        </p:nvSpPr>
        <p:spPr>
          <a:xfrm>
            <a:off x="593248" y="4992267"/>
            <a:ext cx="10930676" cy="1015663"/>
          </a:xfrm>
          <a:prstGeom prst="rect">
            <a:avLst/>
          </a:prstGeom>
        </p:spPr>
        <p:txBody>
          <a:bodyPr wrap="square">
            <a:spAutoFit/>
          </a:bodyPr>
          <a:lstStyle/>
          <a:p>
            <a:r>
              <a:rPr lang="en-US" sz="2000" dirty="0">
                <a:latin typeface="Verdana" charset="0"/>
                <a:ea typeface="Verdana" charset="0"/>
                <a:cs typeface="Verdana" charset="0"/>
              </a:rPr>
              <a:t>The graph paper is a real-life example of a plane. When an object is moved, flipped, or rotated, it is the plane that the object is on that moved. This means that every point on the plane is moved, flipped, or rotated. </a:t>
            </a:r>
          </a:p>
        </p:txBody>
      </p:sp>
      <p:pic>
        <p:nvPicPr>
          <p:cNvPr id="3" name="Picture 2"/>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032675" y="2202216"/>
            <a:ext cx="5310724" cy="2714851"/>
          </a:xfrm>
          <a:prstGeom prst="rect">
            <a:avLst/>
          </a:prstGeom>
        </p:spPr>
      </p:pic>
    </p:spTree>
    <p:extLst>
      <p:ext uri="{BB962C8B-B14F-4D97-AF65-F5344CB8AC3E}">
        <p14:creationId xmlns:p14="http://schemas.microsoft.com/office/powerpoint/2010/main" val="2235248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pg. 207/208</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B74EB5C6-2FDE-474B-866F-02AD6706D73C}"/>
                  </a:ext>
                </a:extLst>
              </p:cNvPr>
              <p:cNvSpPr txBox="1"/>
              <p:nvPr/>
            </p:nvSpPr>
            <p:spPr>
              <a:xfrm>
                <a:off x="540565" y="382314"/>
                <a:ext cx="8327136" cy="3243324"/>
              </a:xfrm>
              <a:prstGeom prst="rect">
                <a:avLst/>
              </a:prstGeom>
              <a:noFill/>
            </p:spPr>
            <p:txBody>
              <a:bodyPr wrap="square" rtlCol="0">
                <a:spAutoFit/>
              </a:bodyPr>
              <a:lstStyle/>
              <a:p>
                <a:pPr marL="457200" indent="-457200">
                  <a:buFont typeface="+mj-lt"/>
                  <a:buAutoNum type="alphaLcPeriod"/>
                </a:pPr>
                <a:r>
                  <a:rPr lang="en-US" sz="2000" dirty="0">
                    <a:latin typeface="Verdana" charset="0"/>
                    <a:ea typeface="Verdana" charset="0"/>
                    <a:cs typeface="Verdana" charset="0"/>
                  </a:rPr>
                  <a:t>Draw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panose="02040503050406030204" pitchFamily="18" charset="0"/>
                            <a:ea typeface="Verdana" charset="0"/>
                            <a:cs typeface="Verdana" charset="0"/>
                          </a:rPr>
                          <m:t>𝑌𝑍</m:t>
                        </m:r>
                      </m:e>
                    </m:acc>
                    <m:r>
                      <a:rPr lang="en-US" sz="2000" i="1">
                        <a:latin typeface="Cambria Math" panose="02040503050406030204" pitchFamily="18" charset="0"/>
                        <a:ea typeface="Verdana" charset="0"/>
                        <a:cs typeface="Verdana" charset="0"/>
                      </a:rPr>
                      <m:t> </m:t>
                    </m:r>
                  </m:oMath>
                </a14:m>
                <a:r>
                  <a:rPr lang="en-US" sz="2000" dirty="0">
                    <a:latin typeface="Verdana" charset="0"/>
                    <a:ea typeface="Verdana" charset="0"/>
                    <a:cs typeface="Verdana" charset="0"/>
                  </a:rPr>
                  <a:t>on the same plane as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panose="02040503050406030204" pitchFamily="18" charset="0"/>
                            <a:ea typeface="Verdana" charset="0"/>
                            <a:cs typeface="Verdana" charset="0"/>
                          </a:rPr>
                          <m:t>𝐴𝐵</m:t>
                        </m:r>
                      </m:e>
                    </m:acc>
                  </m:oMath>
                </a14:m>
                <a:r>
                  <a:rPr lang="en-US" sz="2000" dirty="0">
                    <a:latin typeface="Verdana" charset="0"/>
                    <a:ea typeface="Verdana" charset="0"/>
                    <a:cs typeface="Verdana" charset="0"/>
                  </a:rPr>
                  <a:t>. Then, draw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panose="02040503050406030204" pitchFamily="18" charset="0"/>
                            <a:ea typeface="Verdana" charset="0"/>
                            <a:cs typeface="Verdana" charset="0"/>
                          </a:rPr>
                          <m:t>𝑌</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𝑍</m:t>
                        </m:r>
                        <m:r>
                          <a:rPr lang="en-US" sz="2000" i="1">
                            <a:latin typeface="Cambria Math" panose="02040503050406030204" pitchFamily="18" charset="0"/>
                            <a:ea typeface="Verdana" charset="0"/>
                            <a:cs typeface="Verdana" charset="0"/>
                          </a:rPr>
                          <m:t>′</m:t>
                        </m:r>
                      </m:e>
                    </m:acc>
                  </m:oMath>
                </a14:m>
                <a:r>
                  <a:rPr lang="en-US" sz="2000" dirty="0">
                    <a:latin typeface="Verdana" charset="0"/>
                    <a:ea typeface="Verdana" charset="0"/>
                    <a:cs typeface="Verdana" charset="0"/>
                  </a:rPr>
                  <a:t> on the second plane to show how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panose="02040503050406030204" pitchFamily="18" charset="0"/>
                            <a:ea typeface="Verdana" charset="0"/>
                            <a:cs typeface="Verdana" charset="0"/>
                          </a:rPr>
                          <m:t>𝑌𝑍</m:t>
                        </m:r>
                      </m:e>
                    </m:acc>
                  </m:oMath>
                </a14:m>
                <a:r>
                  <a:rPr lang="en-US" sz="2000" dirty="0">
                    <a:latin typeface="Verdana" charset="0"/>
                    <a:ea typeface="Verdana" charset="0"/>
                    <a:cs typeface="Verdana" charset="0"/>
                  </a:rPr>
                  <a:t> would move in the same way as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panose="02040503050406030204" pitchFamily="18" charset="0"/>
                            <a:ea typeface="Verdana" charset="0"/>
                            <a:cs typeface="Verdana" charset="0"/>
                          </a:rPr>
                          <m:t>𝐴𝐵</m:t>
                        </m:r>
                      </m:e>
                    </m:acc>
                  </m:oMath>
                </a14:m>
                <a:r>
                  <a:rPr lang="en-US" sz="2000" dirty="0">
                    <a:latin typeface="Verdana" charset="0"/>
                    <a:ea typeface="Verdana" charset="0"/>
                    <a:cs typeface="Verdana" charset="0"/>
                  </a:rPr>
                  <a:t> when the plane is moved.</a:t>
                </a:r>
              </a:p>
              <a:p>
                <a:pPr marL="1371600" indent="-457200">
                  <a:buFont typeface="+mj-lt"/>
                  <a:buAutoNum type="alphaLcPeriod"/>
                </a:pPr>
                <a:endParaRPr lang="en-US" sz="2000" dirty="0">
                  <a:latin typeface="Verdana" charset="0"/>
                  <a:ea typeface="Verdana" charset="0"/>
                  <a:cs typeface="Verdana" charset="0"/>
                </a:endParaRPr>
              </a:p>
              <a:p>
                <a:pPr marL="13716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r>
                  <a:rPr lang="en-US" sz="2000" dirty="0">
                    <a:latin typeface="Verdana" charset="0"/>
                    <a:ea typeface="Verdana" charset="0"/>
                    <a:cs typeface="Verdana" charset="0"/>
                  </a:rPr>
                  <a:t>Draw the arrows from the endpoints of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panose="02040503050406030204" pitchFamily="18" charset="0"/>
                            <a:ea typeface="Verdana" charset="0"/>
                            <a:cs typeface="Verdana" charset="0"/>
                          </a:rPr>
                          <m:t>𝑌𝑍</m:t>
                        </m:r>
                      </m:e>
                    </m:acc>
                  </m:oMath>
                </a14:m>
                <a:r>
                  <a:rPr lang="en-US" sz="2000" dirty="0">
                    <a:latin typeface="Verdana" charset="0"/>
                    <a:ea typeface="Verdana" charset="0"/>
                    <a:cs typeface="Verdana" charset="0"/>
                  </a:rPr>
                  <a:t> to the endpoints of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panose="02040503050406030204" pitchFamily="18" charset="0"/>
                            <a:ea typeface="Verdana" charset="0"/>
                            <a:cs typeface="Verdana" charset="0"/>
                          </a:rPr>
                          <m:t>𝑌</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𝑍</m:t>
                        </m:r>
                        <m:r>
                          <a:rPr lang="en-US" sz="2000" i="1">
                            <a:latin typeface="Cambria Math" panose="02040503050406030204" pitchFamily="18" charset="0"/>
                            <a:ea typeface="Verdana" charset="0"/>
                            <a:cs typeface="Verdana" charset="0"/>
                          </a:rPr>
                          <m:t>′</m:t>
                        </m:r>
                      </m:e>
                    </m:acc>
                  </m:oMath>
                </a14:m>
                <a:r>
                  <a:rPr lang="en-US" sz="2000" dirty="0">
                    <a:latin typeface="Verdana" charset="0"/>
                    <a:ea typeface="Verdana" charset="0"/>
                    <a:cs typeface="Verdana" charset="0"/>
                  </a:rPr>
                  <a:t>. Compare the arrows from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panose="02040503050406030204" pitchFamily="18" charset="0"/>
                            <a:ea typeface="Verdana" charset="0"/>
                            <a:cs typeface="Verdana" charset="0"/>
                          </a:rPr>
                          <m:t>𝑌𝑍</m:t>
                        </m:r>
                      </m:e>
                    </m:acc>
                  </m:oMath>
                </a14:m>
                <a:r>
                  <a:rPr lang="en-US" sz="2000" dirty="0">
                    <a:latin typeface="Verdana" charset="0"/>
                    <a:ea typeface="Verdana" charset="0"/>
                    <a:cs typeface="Verdana" charset="0"/>
                  </a:rPr>
                  <a:t> to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panose="02040503050406030204" pitchFamily="18" charset="0"/>
                            <a:ea typeface="Verdana" charset="0"/>
                            <a:cs typeface="Verdana" charset="0"/>
                          </a:rPr>
                          <m:t>𝑌</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𝑍</m:t>
                        </m:r>
                        <m:r>
                          <a:rPr lang="en-US" sz="2000" i="1">
                            <a:latin typeface="Cambria Math" panose="02040503050406030204" pitchFamily="18" charset="0"/>
                            <a:ea typeface="Verdana" charset="0"/>
                            <a:cs typeface="Verdana" charset="0"/>
                          </a:rPr>
                          <m:t>′</m:t>
                        </m:r>
                      </m:e>
                    </m:acc>
                  </m:oMath>
                </a14:m>
                <a:r>
                  <a:rPr lang="en-US" sz="2000" dirty="0">
                    <a:latin typeface="Verdana" charset="0"/>
                    <a:ea typeface="Verdana" charset="0"/>
                    <a:cs typeface="Verdana" charset="0"/>
                  </a:rPr>
                  <a:t> to the arrows from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panose="02040503050406030204" pitchFamily="18" charset="0"/>
                            <a:ea typeface="Verdana" charset="0"/>
                            <a:cs typeface="Verdana" charset="0"/>
                          </a:rPr>
                          <m:t>𝐴𝐵</m:t>
                        </m:r>
                      </m:e>
                    </m:acc>
                  </m:oMath>
                </a14:m>
                <a:r>
                  <a:rPr lang="en-US" sz="2000" dirty="0">
                    <a:latin typeface="Verdana" charset="0"/>
                    <a:ea typeface="Verdana" charset="0"/>
                    <a:cs typeface="Verdana" charset="0"/>
                  </a:rPr>
                  <a:t> to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panose="02040503050406030204" pitchFamily="18" charset="0"/>
                            <a:ea typeface="Verdana" charset="0"/>
                            <a:cs typeface="Verdana" charset="0"/>
                          </a:rPr>
                          <m:t>𝐴</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𝐵</m:t>
                        </m:r>
                        <m:r>
                          <a:rPr lang="en-US" sz="2000" i="1">
                            <a:latin typeface="Cambria Math" panose="02040503050406030204" pitchFamily="18" charset="0"/>
                            <a:ea typeface="Verdana" charset="0"/>
                            <a:cs typeface="Verdana" charset="0"/>
                          </a:rPr>
                          <m:t>′</m:t>
                        </m:r>
                      </m:e>
                    </m:acc>
                  </m:oMath>
                </a14:m>
                <a:r>
                  <a:rPr lang="en-US" sz="2000" dirty="0">
                    <a:latin typeface="Verdana" charset="0"/>
                    <a:ea typeface="Verdana" charset="0"/>
                    <a:cs typeface="Verdana" charset="0"/>
                  </a:rPr>
                  <a:t>. What do you notice?</a:t>
                </a: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540565" y="382314"/>
                <a:ext cx="8327136" cy="3243324"/>
              </a:xfrm>
              <a:prstGeom prst="rect">
                <a:avLst/>
              </a:prstGeom>
              <a:blipFill>
                <a:blip r:embed="rId4"/>
                <a:stretch>
                  <a:fillRect l="-805" t="-564" r="-586"/>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xmlns="" id="{04A75260-77CC-4696-8727-AA25EA5A6426}"/>
              </a:ext>
            </a:extLst>
          </p:cNvPr>
          <p:cNvSpPr txBox="1"/>
          <p:nvPr/>
        </p:nvSpPr>
        <p:spPr>
          <a:xfrm>
            <a:off x="512914" y="4782140"/>
            <a:ext cx="8327136" cy="1323439"/>
          </a:xfrm>
          <a:prstGeom prst="rect">
            <a:avLst/>
          </a:prstGeom>
          <a:noFill/>
        </p:spPr>
        <p:txBody>
          <a:bodyPr wrap="square" rtlCol="0">
            <a:spAutoFit/>
          </a:bodyPr>
          <a:lstStyle/>
          <a:p>
            <a:pPr lvl="0"/>
            <a:endParaRPr lang="en-US" sz="2000" dirty="0">
              <a:latin typeface="Verdana" charset="0"/>
              <a:ea typeface="Verdana" charset="0"/>
              <a:cs typeface="Verdana" charset="0"/>
            </a:endParaRPr>
          </a:p>
          <a:p>
            <a:pPr marL="468313" indent="-457200">
              <a:buFont typeface="+mj-lt"/>
              <a:buAutoNum type="alphaLcPeriod" startAt="3"/>
            </a:pPr>
            <a:r>
              <a:rPr lang="en-US" sz="2000" dirty="0">
                <a:latin typeface="Verdana" charset="0"/>
                <a:ea typeface="Verdana" charset="0"/>
                <a:cs typeface="Verdana" charset="0"/>
              </a:rPr>
              <a:t>Use the definition of isometry to justify that Traci’s example is an isometry.</a:t>
            </a:r>
          </a:p>
          <a:p>
            <a:pPr marL="457200" indent="-457200">
              <a:buFont typeface="+mj-lt"/>
              <a:buAutoNum type="alphaLcPeriod" startAt="3"/>
            </a:pPr>
            <a:endParaRPr lang="en-US" sz="2000" dirty="0">
              <a:latin typeface="Verdana" charset="0"/>
              <a:ea typeface="Verdana" charset="0"/>
              <a:cs typeface="Verdana" charset="0"/>
            </a:endParaRPr>
          </a:p>
        </p:txBody>
      </p:sp>
      <p:sp>
        <p:nvSpPr>
          <p:cNvPr id="9" name="Text Box 40">
            <a:extLst>
              <a:ext uri="{FF2B5EF4-FFF2-40B4-BE49-F238E27FC236}">
                <a16:creationId xmlns:a16="http://schemas.microsoft.com/office/drawing/2014/main" xmlns="" id="{FEF3EC16-71D2-4ACC-B095-D175494BAF5F}"/>
              </a:ext>
            </a:extLst>
          </p:cNvPr>
          <p:cNvSpPr txBox="1"/>
          <p:nvPr/>
        </p:nvSpPr>
        <p:spPr>
          <a:xfrm>
            <a:off x="1389433" y="3625638"/>
            <a:ext cx="6629400" cy="914400"/>
          </a:xfrm>
          <a:prstGeom prst="roundRect">
            <a:avLst/>
          </a:prstGeom>
          <a:solidFill>
            <a:schemeClr val="accent6">
              <a:lumMod val="20000"/>
              <a:lumOff val="80000"/>
            </a:schemeClr>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685800">
              <a:spcAft>
                <a:spcPts val="1000"/>
              </a:spcAft>
            </a:pPr>
            <a:r>
              <a:rPr lang="en-US" sz="2000" b="1" i="1" dirty="0">
                <a:solidFill>
                  <a:schemeClr val="accent6"/>
                </a:solidFill>
                <a:latin typeface="Verdana" panose="020B0604030504040204" pitchFamily="34" charset="0"/>
                <a:ea typeface="Times New Roman"/>
                <a:cs typeface="Times New Roman"/>
              </a:rPr>
              <a:t>Isometry </a:t>
            </a:r>
            <a:r>
              <a:rPr lang="en-US" sz="2000" dirty="0">
                <a:solidFill>
                  <a:schemeClr val="accent6"/>
                </a:solidFill>
                <a:latin typeface="Verdana" panose="020B0604030504040204" pitchFamily="34" charset="0"/>
                <a:ea typeface="Times New Roman"/>
                <a:cs typeface="Times New Roman"/>
              </a:rPr>
              <a:t>is a transformation that preserves distance and angle measure</a:t>
            </a:r>
            <a:endParaRPr lang="en-US" sz="2000" b="1" i="1" dirty="0">
              <a:solidFill>
                <a:schemeClr val="accent6"/>
              </a:solidFill>
              <a:ea typeface="Times New Roman"/>
              <a:cs typeface="Times New Roman"/>
            </a:endParaRPr>
          </a:p>
        </p:txBody>
      </p:sp>
    </p:spTree>
    <p:extLst>
      <p:ext uri="{BB962C8B-B14F-4D97-AF65-F5344CB8AC3E}">
        <p14:creationId xmlns:p14="http://schemas.microsoft.com/office/powerpoint/2010/main" val="687834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208</a:t>
            </a:r>
          </a:p>
        </p:txBody>
      </p:sp>
      <p:pic>
        <p:nvPicPr>
          <p:cNvPr id="1026" name="Picture 2" descr="Icon&#10;&#10;Description automatically generated">
            <a:extLst>
              <a:ext uri="{FF2B5EF4-FFF2-40B4-BE49-F238E27FC236}">
                <a16:creationId xmlns:a16="http://schemas.microsoft.com/office/drawing/2014/main" xmlns=""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59840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052650" y="68550"/>
            <a:ext cx="105755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3BEA6"/>
                </a:solidFill>
                <a:latin typeface="Verdana"/>
                <a:ea typeface="Verdana"/>
                <a:cs typeface="Verdana"/>
                <a:sym typeface="Verdana"/>
              </a:rPr>
              <a:t>4.6.3 Exploration: Transformations and Isometry</a:t>
            </a:r>
          </a:p>
        </p:txBody>
      </p:sp>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208</a:t>
            </a:r>
          </a:p>
        </p:txBody>
      </p:sp>
      <p:pic>
        <p:nvPicPr>
          <p:cNvPr id="7" name="Picture 2" descr="Icon&#10;&#10;Description automatically generated">
            <a:extLst>
              <a:ext uri="{FF2B5EF4-FFF2-40B4-BE49-F238E27FC236}">
                <a16:creationId xmlns:a16="http://schemas.microsoft.com/office/drawing/2014/main" xmlns=""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96352" y="316675"/>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xmlns="" id="{152D1D4D-DCB8-A246-B186-D40316579D77}"/>
                  </a:ext>
                </a:extLst>
              </p:cNvPr>
              <p:cNvSpPr txBox="1"/>
              <p:nvPr/>
            </p:nvSpPr>
            <p:spPr>
              <a:xfrm>
                <a:off x="593248" y="1394250"/>
                <a:ext cx="8327136" cy="400110"/>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Quadrilateral </a:t>
                </a:r>
                <a14:m>
                  <m:oMath xmlns:m="http://schemas.openxmlformats.org/officeDocument/2006/math">
                    <m:r>
                      <a:rPr lang="en-US" sz="2000" i="1">
                        <a:latin typeface="Cambria Math" panose="02040503050406030204" pitchFamily="18" charset="0"/>
                        <a:ea typeface="Verdana" charset="0"/>
                        <a:cs typeface="Verdana" charset="0"/>
                      </a:rPr>
                      <m:t>𝐾𝐷𝑅𝐹</m:t>
                    </m:r>
                  </m:oMath>
                </a14:m>
                <a:r>
                  <a:rPr lang="en-US" sz="2000" dirty="0">
                    <a:latin typeface="Verdana" charset="0"/>
                    <a:ea typeface="Verdana" charset="0"/>
                    <a:cs typeface="Verdana" charset="0"/>
                  </a:rPr>
                  <a:t> is shown.</a:t>
                </a:r>
              </a:p>
            </p:txBody>
          </p:sp>
        </mc:Choice>
        <mc:Fallback xmlns="">
          <p:sp>
            <p:nvSpPr>
              <p:cNvPr id="10" name="TextBox 9">
                <a:extLst>
                  <a:ext uri="{FF2B5EF4-FFF2-40B4-BE49-F238E27FC236}">
                    <a16:creationId xmlns:a16="http://schemas.microsoft.com/office/drawing/2014/main" id="{152D1D4D-DCB8-A246-B186-D40316579D77}"/>
                  </a:ext>
                </a:extLst>
              </p:cNvPr>
              <p:cNvSpPr txBox="1">
                <a:spLocks noRot="1" noChangeAspect="1" noMove="1" noResize="1" noEditPoints="1" noAdjustHandles="1" noChangeArrowheads="1" noChangeShapeType="1" noTextEdit="1"/>
              </p:cNvSpPr>
              <p:nvPr/>
            </p:nvSpPr>
            <p:spPr>
              <a:xfrm>
                <a:off x="593248" y="1394250"/>
                <a:ext cx="8327136" cy="400110"/>
              </a:xfrm>
              <a:prstGeom prst="rect">
                <a:avLst/>
              </a:prstGeom>
              <a:blipFill>
                <a:blip r:embed="rId5"/>
                <a:stretch>
                  <a:fillRect l="-805" t="-10769" b="-27692"/>
                </a:stretch>
              </a:blipFill>
            </p:spPr>
            <p:txBody>
              <a:bodyPr/>
              <a:lstStyle/>
              <a:p>
                <a:r>
                  <a:rPr lang="en-US">
                    <a:noFill/>
                  </a:rPr>
                  <a:t> </a:t>
                </a:r>
              </a:p>
            </p:txBody>
          </p:sp>
        </mc:Fallback>
      </mc:AlternateContent>
      <p:pic>
        <p:nvPicPr>
          <p:cNvPr id="2" name="Picture 1"/>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9227850" y="1394250"/>
            <a:ext cx="2400300" cy="2540000"/>
          </a:xfrm>
          <a:prstGeom prst="rect">
            <a:avLst/>
          </a:prstGeom>
        </p:spPr>
      </p:pic>
      <mc:AlternateContent xmlns:mc="http://schemas.openxmlformats.org/markup-compatibility/2006" xmlns:a14="http://schemas.microsoft.com/office/drawing/2010/main">
        <mc:Choice Requires="a14">
          <p:sp>
            <p:nvSpPr>
              <p:cNvPr id="3" name="Rectangle 2"/>
              <p:cNvSpPr/>
              <p:nvPr/>
            </p:nvSpPr>
            <p:spPr>
              <a:xfrm>
                <a:off x="593248" y="2058350"/>
                <a:ext cx="8327136" cy="1655390"/>
              </a:xfrm>
              <a:prstGeom prst="rect">
                <a:avLst/>
              </a:prstGeom>
            </p:spPr>
            <p:txBody>
              <a:bodyPr wrap="square">
                <a:spAutoFit/>
              </a:bodyPr>
              <a:lstStyle/>
              <a:p>
                <a:pPr marL="342900" indent="-342900">
                  <a:buFont typeface="+mj-lt"/>
                  <a:buAutoNum type="alphaLcPeriod"/>
                </a:pPr>
                <a:r>
                  <a:rPr lang="en-US" sz="2000" dirty="0">
                    <a:latin typeface="Verdana" charset="0"/>
                    <a:ea typeface="Verdana" charset="0"/>
                    <a:cs typeface="Verdana" charset="0"/>
                  </a:rPr>
                  <a:t>Use patty paper to copy the length of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panose="02040503050406030204" pitchFamily="18" charset="0"/>
                            <a:ea typeface="Verdana" charset="0"/>
                            <a:cs typeface="Verdana" charset="0"/>
                          </a:rPr>
                          <m:t>𝑅𝐹</m:t>
                        </m:r>
                      </m:e>
                    </m:acc>
                  </m:oMath>
                </a14:m>
                <a:r>
                  <a:rPr lang="en-US" sz="2000" dirty="0">
                    <a:latin typeface="Verdana" charset="0"/>
                    <a:ea typeface="Verdana" charset="0"/>
                    <a:cs typeface="Verdana" charset="0"/>
                  </a:rPr>
                  <a:t>. Label the endpoints on the patty paper. Flip the patty paper and place it in the space to the left of quadrilateral </a:t>
                </a:r>
                <a14:m>
                  <m:oMath xmlns:m="http://schemas.openxmlformats.org/officeDocument/2006/math">
                    <m:r>
                      <a:rPr lang="en-US" sz="2000" i="1">
                        <a:latin typeface="Cambria Math" panose="02040503050406030204" pitchFamily="18" charset="0"/>
                        <a:ea typeface="Verdana" charset="0"/>
                        <a:cs typeface="Verdana" charset="0"/>
                      </a:rPr>
                      <m:t>𝐾𝐷𝑅𝐹</m:t>
                    </m:r>
                  </m:oMath>
                </a14:m>
                <a:r>
                  <a:rPr lang="en-US" sz="2000" dirty="0">
                    <a:latin typeface="Verdana" charset="0"/>
                    <a:ea typeface="Verdana" charset="0"/>
                    <a:cs typeface="Verdana" charset="0"/>
                  </a:rPr>
                  <a:t>. Use the patty paper and any other tools to draw the copy of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panose="02040503050406030204" pitchFamily="18" charset="0"/>
                            <a:ea typeface="Verdana" charset="0"/>
                            <a:cs typeface="Verdana" charset="0"/>
                          </a:rPr>
                          <m:t>𝑅𝐹</m:t>
                        </m:r>
                      </m:e>
                    </m:acc>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 Name it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panose="02040503050406030204" pitchFamily="18" charset="0"/>
                            <a:ea typeface="Verdana" charset="0"/>
                            <a:cs typeface="Verdana" charset="0"/>
                          </a:rPr>
                          <m:t>𝑅</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𝐹</m:t>
                        </m:r>
                        <m:r>
                          <a:rPr lang="en-US" sz="2000" i="1">
                            <a:latin typeface="Cambria Math" panose="02040503050406030204" pitchFamily="18" charset="0"/>
                            <a:ea typeface="Verdana" charset="0"/>
                            <a:cs typeface="Verdana" charset="0"/>
                          </a:rPr>
                          <m:t>′</m:t>
                        </m:r>
                      </m:e>
                    </m:acc>
                  </m:oMath>
                </a14:m>
                <a:r>
                  <a:rPr lang="en-US" sz="2000" dirty="0">
                    <a:latin typeface="Verdana" charset="0"/>
                    <a:ea typeface="Verdana" charset="0"/>
                    <a:cs typeface="Verdana" charset="0"/>
                  </a:rPr>
                  <a:t>. </a:t>
                </a:r>
              </a:p>
            </p:txBody>
          </p:sp>
        </mc:Choice>
        <mc:Fallback xmlns="">
          <p:sp>
            <p:nvSpPr>
              <p:cNvPr id="3" name="Rectangle 2"/>
              <p:cNvSpPr>
                <a:spLocks noRot="1" noChangeAspect="1" noMove="1" noResize="1" noEditPoints="1" noAdjustHandles="1" noChangeArrowheads="1" noChangeShapeType="1" noTextEdit="1"/>
              </p:cNvSpPr>
              <p:nvPr/>
            </p:nvSpPr>
            <p:spPr>
              <a:xfrm>
                <a:off x="593248" y="2058350"/>
                <a:ext cx="8327136" cy="1655390"/>
              </a:xfrm>
              <a:prstGeom prst="rect">
                <a:avLst/>
              </a:prstGeom>
              <a:blipFill>
                <a:blip r:embed="rId7"/>
                <a:stretch>
                  <a:fillRect l="-805" t="-2583" r="-952" b="-5904"/>
                </a:stretch>
              </a:blipFill>
            </p:spPr>
            <p:txBody>
              <a:bodyPr/>
              <a:lstStyle/>
              <a:p>
                <a:r>
                  <a:rPr lang="en-US">
                    <a:noFill/>
                  </a:rPr>
                  <a:t> </a:t>
                </a:r>
              </a:p>
            </p:txBody>
          </p:sp>
        </mc:Fallback>
      </mc:AlternateContent>
      <p:sp>
        <p:nvSpPr>
          <p:cNvPr id="11" name="Text Box 40"/>
          <p:cNvSpPr txBox="1"/>
          <p:nvPr/>
        </p:nvSpPr>
        <p:spPr>
          <a:xfrm>
            <a:off x="1442116" y="3934250"/>
            <a:ext cx="6629400" cy="914400"/>
          </a:xfrm>
          <a:prstGeom prst="roundRect">
            <a:avLst/>
          </a:prstGeom>
          <a:solidFill>
            <a:schemeClr val="accent6">
              <a:lumMod val="20000"/>
              <a:lumOff val="80000"/>
            </a:schemeClr>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685800">
              <a:spcAft>
                <a:spcPts val="1000"/>
              </a:spcAft>
            </a:pPr>
            <a:r>
              <a:rPr lang="en-US" sz="2000" dirty="0">
                <a:solidFill>
                  <a:schemeClr val="accent6"/>
                </a:solidFill>
                <a:latin typeface="Verdana" panose="020B0604030504040204" pitchFamily="34" charset="0"/>
                <a:ea typeface="Times New Roman"/>
                <a:cs typeface="Times New Roman"/>
              </a:rPr>
              <a:t>A </a:t>
            </a:r>
            <a:r>
              <a:rPr lang="en-US" sz="2000" b="1" i="1" dirty="0">
                <a:solidFill>
                  <a:schemeClr val="accent6"/>
                </a:solidFill>
                <a:latin typeface="Verdana" panose="020B0604030504040204" pitchFamily="34" charset="0"/>
                <a:ea typeface="Times New Roman"/>
                <a:cs typeface="Times New Roman"/>
              </a:rPr>
              <a:t>transformation </a:t>
            </a:r>
            <a:r>
              <a:rPr lang="en-US" sz="2000" dirty="0">
                <a:solidFill>
                  <a:schemeClr val="accent6"/>
                </a:solidFill>
                <a:latin typeface="Verdana" panose="020B0604030504040204" pitchFamily="34" charset="0"/>
                <a:ea typeface="Times New Roman"/>
                <a:cs typeface="Times New Roman"/>
              </a:rPr>
              <a:t>is a one-to-one correspondence between two sets of points.</a:t>
            </a:r>
            <a:endParaRPr lang="en-US" sz="2000" b="1" i="1" dirty="0">
              <a:solidFill>
                <a:schemeClr val="accent6"/>
              </a:solidFill>
              <a:ea typeface="Times New Roman"/>
              <a:cs typeface="Times New Roman"/>
            </a:endParaRPr>
          </a:p>
        </p:txBody>
      </p:sp>
    </p:spTree>
    <p:extLst>
      <p:ext uri="{BB962C8B-B14F-4D97-AF65-F5344CB8AC3E}">
        <p14:creationId xmlns:p14="http://schemas.microsoft.com/office/powerpoint/2010/main" val="670645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4596"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86370"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208</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B74EB5C6-2FDE-474B-866F-02AD6706D73C}"/>
                  </a:ext>
                </a:extLst>
              </p:cNvPr>
              <p:cNvSpPr txBox="1"/>
              <p:nvPr/>
            </p:nvSpPr>
            <p:spPr>
              <a:xfrm>
                <a:off x="540564" y="382314"/>
                <a:ext cx="11084031" cy="5020092"/>
              </a:xfrm>
              <a:prstGeom prst="rect">
                <a:avLst/>
              </a:prstGeom>
              <a:noFill/>
            </p:spPr>
            <p:txBody>
              <a:bodyPr wrap="square" rtlCol="0">
                <a:spAutoFit/>
              </a:bodyPr>
              <a:lstStyle/>
              <a:p>
                <a:pPr marL="457200" indent="-457200">
                  <a:buFont typeface="+mj-lt"/>
                  <a:buAutoNum type="alphaLcPeriod" startAt="2"/>
                </a:pPr>
                <a:r>
                  <a:rPr lang="en-US" sz="2000" dirty="0">
                    <a:latin typeface="Verdana" charset="0"/>
                    <a:ea typeface="Verdana" charset="0"/>
                    <a:cs typeface="Verdana" charset="0"/>
                  </a:rPr>
                  <a:t>Work with your partner to complete the statement: </a:t>
                </a:r>
              </a:p>
              <a:p>
                <a:pPr marL="457200" indent="-457200">
                  <a:buFont typeface="+mj-lt"/>
                  <a:buAutoNum type="alphaLcPeriod" startAt="2"/>
                </a:pPr>
                <a:endParaRPr lang="en-US" sz="2000" dirty="0">
                  <a:latin typeface="Verdana" charset="0"/>
                  <a:ea typeface="Verdana" charset="0"/>
                  <a:cs typeface="Verdana" charset="0"/>
                </a:endParaRPr>
              </a:p>
              <a:p>
                <a:r>
                  <a:rPr lang="en-US" sz="2000" dirty="0">
                    <a:latin typeface="Verdana" charset="0"/>
                    <a:ea typeface="Verdana" charset="0"/>
                    <a:cs typeface="Verdana" charset="0"/>
                  </a:rPr>
                  <a:t> </a:t>
                </a:r>
              </a:p>
              <a:p>
                <a:r>
                  <a:rPr lang="en-US" sz="2000" dirty="0">
                    <a:latin typeface="Verdana" charset="0"/>
                    <a:ea typeface="Verdana" charset="0"/>
                    <a:cs typeface="Verdana" charset="0"/>
                  </a:rPr>
                  <a:t>Since there are a set of points on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panose="02040503050406030204" pitchFamily="18" charset="0"/>
                            <a:ea typeface="Verdana" charset="0"/>
                            <a:cs typeface="Verdana" charset="0"/>
                          </a:rPr>
                          <m:t>𝑅𝐹</m:t>
                        </m:r>
                      </m:e>
                    </m:acc>
                  </m:oMath>
                </a14:m>
                <a:r>
                  <a:rPr lang="en-US" sz="2000" dirty="0">
                    <a:latin typeface="Verdana" charset="0"/>
                    <a:ea typeface="Verdana" charset="0"/>
                    <a:cs typeface="Verdana" charset="0"/>
                  </a:rPr>
                  <a:t> and a set of points on</a:t>
                </a:r>
              </a:p>
              <a:p>
                <a:endParaRPr lang="en-US" sz="2000" dirty="0">
                  <a:latin typeface="Verdana" charset="0"/>
                  <a:ea typeface="Verdana" charset="0"/>
                  <a:cs typeface="Verdana" charset="0"/>
                </a:endParaRPr>
              </a:p>
              <a:p>
                <a:r>
                  <a:rPr lang="en-US" sz="2000" dirty="0">
                    <a:latin typeface="Verdana" charset="0"/>
                    <a:ea typeface="Verdana" charset="0"/>
                    <a:cs typeface="Verdana" charset="0"/>
                  </a:rPr>
                  <a:t> </a:t>
                </a:r>
                <a14:m>
                  <m:oMath xmlns:m="http://schemas.openxmlformats.org/officeDocument/2006/math">
                    <m:acc>
                      <m:accPr>
                        <m:chr m:val="̅"/>
                        <m:ctrlPr>
                          <a:rPr lang="en-US" sz="2000" i="1">
                            <a:latin typeface="Cambria Math" charset="0"/>
                            <a:ea typeface="Verdana" charset="0"/>
                            <a:cs typeface="Verdana" charset="0"/>
                          </a:rPr>
                        </m:ctrlPr>
                      </m:accPr>
                      <m:e>
                        <m:sSup>
                          <m:sSupPr>
                            <m:ctrlPr>
                              <a:rPr lang="en-US" sz="2000" i="1">
                                <a:latin typeface="Cambria Math" charset="0"/>
                                <a:ea typeface="Verdana" charset="0"/>
                                <a:cs typeface="Verdana" charset="0"/>
                              </a:rPr>
                            </m:ctrlPr>
                          </m:sSupPr>
                          <m:e>
                            <m:r>
                              <a:rPr lang="en-US" sz="2000" i="1">
                                <a:latin typeface="Cambria Math" panose="02040503050406030204" pitchFamily="18" charset="0"/>
                                <a:ea typeface="Verdana" charset="0"/>
                                <a:cs typeface="Verdana" charset="0"/>
                              </a:rPr>
                              <m:t>𝑅</m:t>
                            </m:r>
                          </m:e>
                          <m:sup>
                            <m:r>
                              <a:rPr lang="en-US" sz="2000" i="1">
                                <a:latin typeface="Cambria Math" panose="02040503050406030204" pitchFamily="18" charset="0"/>
                                <a:ea typeface="Verdana" charset="0"/>
                                <a:cs typeface="Verdana" charset="0"/>
                              </a:rPr>
                              <m:t>′</m:t>
                            </m:r>
                          </m:sup>
                        </m:sSup>
                        <m:sSup>
                          <m:sSupPr>
                            <m:ctrlPr>
                              <a:rPr lang="en-US" sz="2000" i="1">
                                <a:latin typeface="Cambria Math" charset="0"/>
                                <a:ea typeface="Verdana" charset="0"/>
                                <a:cs typeface="Verdana" charset="0"/>
                              </a:rPr>
                            </m:ctrlPr>
                          </m:sSupPr>
                          <m:e>
                            <m:r>
                              <a:rPr lang="en-US" sz="2000" i="1">
                                <a:latin typeface="Cambria Math" panose="02040503050406030204" pitchFamily="18" charset="0"/>
                                <a:ea typeface="Verdana" charset="0"/>
                                <a:cs typeface="Verdana" charset="0"/>
                              </a:rPr>
                              <m:t>𝐹</m:t>
                            </m:r>
                          </m:e>
                          <m:sup>
                            <m:r>
                              <a:rPr lang="en-US" sz="2000" i="1">
                                <a:latin typeface="Cambria Math" panose="02040503050406030204" pitchFamily="18" charset="0"/>
                                <a:ea typeface="Verdana" charset="0"/>
                                <a:cs typeface="Verdana" charset="0"/>
                              </a:rPr>
                              <m:t>′</m:t>
                            </m:r>
                          </m:sup>
                        </m:sSup>
                      </m:e>
                    </m:acc>
                  </m:oMath>
                </a14:m>
                <a:r>
                  <a:rPr lang="en-US" sz="2000" dirty="0">
                    <a:latin typeface="Verdana" charset="0"/>
                    <a:ea typeface="Verdana" charset="0"/>
                    <a:cs typeface="Verdana" charset="0"/>
                  </a:rPr>
                  <a:t>, it is not enough to just state that the endpoints </a:t>
                </a:r>
                <a14:m>
                  <m:oMath xmlns:m="http://schemas.openxmlformats.org/officeDocument/2006/math">
                    <m:r>
                      <a:rPr lang="en-US" sz="2000" i="1">
                        <a:latin typeface="Cambria Math" panose="02040503050406030204" pitchFamily="18" charset="0"/>
                        <a:ea typeface="Verdana" charset="0"/>
                        <a:cs typeface="Verdana" charset="0"/>
                      </a:rPr>
                      <m:t>𝑅</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𝐹</m:t>
                    </m:r>
                  </m:oMath>
                </a14:m>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r>
                  <a:rPr lang="en-US" sz="2000" dirty="0">
                    <a:latin typeface="Verdana" charset="0"/>
                    <a:ea typeface="Verdana" charset="0"/>
                    <a:cs typeface="Verdana" charset="0"/>
                  </a:rPr>
                  <a:t> correspond with endpoints </a:t>
                </a:r>
                <a14:m>
                  <m:oMath xmlns:m="http://schemas.openxmlformats.org/officeDocument/2006/math">
                    <m:r>
                      <a:rPr lang="en-US" sz="2000" i="1">
                        <a:latin typeface="Cambria Math" panose="02040503050406030204" pitchFamily="18" charset="0"/>
                        <a:ea typeface="Verdana" charset="0"/>
                        <a:cs typeface="Verdana" charset="0"/>
                      </a:rPr>
                      <m:t>𝑅</m:t>
                    </m:r>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𝐹</m:t>
                    </m:r>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 because a transformation</a:t>
                </a:r>
              </a:p>
              <a:p>
                <a:endParaRPr lang="en-US" sz="2000" dirty="0">
                  <a:latin typeface="Verdana" charset="0"/>
                  <a:ea typeface="Verdana" charset="0"/>
                  <a:cs typeface="Verdana" charset="0"/>
                </a:endParaRPr>
              </a:p>
              <a:p>
                <a:r>
                  <a:rPr lang="en-US" sz="2000" dirty="0">
                    <a:latin typeface="Verdana" charset="0"/>
                    <a:ea typeface="Verdana" charset="0"/>
                    <a:cs typeface="Verdana" charset="0"/>
                  </a:rPr>
                  <a:t> is a _____________________________ between two sets of</a:t>
                </a:r>
              </a:p>
              <a:p>
                <a:endParaRPr lang="en-US" sz="2000" dirty="0">
                  <a:latin typeface="Verdana" charset="0"/>
                  <a:ea typeface="Verdana" charset="0"/>
                  <a:cs typeface="Verdana" charset="0"/>
                </a:endParaRPr>
              </a:p>
              <a:p>
                <a:r>
                  <a:rPr lang="en-US" sz="2000" dirty="0">
                    <a:latin typeface="Verdana" charset="0"/>
                    <a:ea typeface="Verdana" charset="0"/>
                    <a:cs typeface="Verdana" charset="0"/>
                  </a:rPr>
                  <a:t> points. Therefore, to show that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panose="02040503050406030204" pitchFamily="18" charset="0"/>
                            <a:ea typeface="Verdana" charset="0"/>
                            <a:cs typeface="Verdana" charset="0"/>
                          </a:rPr>
                          <m:t>𝑅𝐹</m:t>
                        </m:r>
                      </m:e>
                    </m:acc>
                    <m:r>
                      <a:rPr lang="en-US" sz="2000" i="1">
                        <a:latin typeface="Cambria Math" panose="02040503050406030204" pitchFamily="18" charset="0"/>
                        <a:ea typeface="Verdana" charset="0"/>
                        <a:cs typeface="Verdana" charset="0"/>
                      </a:rPr>
                      <m:t>≅_________</m:t>
                    </m:r>
                  </m:oMath>
                </a14:m>
                <a:r>
                  <a:rPr lang="en-US" sz="2000" dirty="0">
                    <a:latin typeface="Verdana" charset="0"/>
                    <a:ea typeface="Verdana" charset="0"/>
                    <a:cs typeface="Verdana" charset="0"/>
                  </a:rPr>
                  <a:t>, all of the points</a:t>
                </a:r>
              </a:p>
              <a:p>
                <a:endParaRPr lang="en-US" sz="2000" dirty="0">
                  <a:latin typeface="Verdana" charset="0"/>
                  <a:ea typeface="Verdana" charset="0"/>
                  <a:cs typeface="Verdana" charset="0"/>
                </a:endParaRPr>
              </a:p>
              <a:p>
                <a:r>
                  <a:rPr lang="en-US" sz="2000" dirty="0">
                    <a:latin typeface="Verdana" charset="0"/>
                    <a:ea typeface="Verdana" charset="0"/>
                    <a:cs typeface="Verdana" charset="0"/>
                  </a:rPr>
                  <a:t> on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panose="02040503050406030204" pitchFamily="18" charset="0"/>
                            <a:ea typeface="Verdana" charset="0"/>
                            <a:cs typeface="Verdana" charset="0"/>
                          </a:rPr>
                          <m:t>𝑅𝐹</m:t>
                        </m:r>
                      </m:e>
                    </m:acc>
                  </m:oMath>
                </a14:m>
                <a:r>
                  <a:rPr lang="en-US" sz="2000" dirty="0">
                    <a:latin typeface="Verdana" charset="0"/>
                    <a:ea typeface="Verdana" charset="0"/>
                    <a:cs typeface="Verdana" charset="0"/>
                  </a:rPr>
                  <a:t> have to have a matching point on </a:t>
                </a:r>
                <a14:m>
                  <m:oMath xmlns:m="http://schemas.openxmlformats.org/officeDocument/2006/math">
                    <m:acc>
                      <m:accPr>
                        <m:chr m:val="̅"/>
                        <m:ctrlPr>
                          <a:rPr lang="en-US" sz="2000" i="1">
                            <a:latin typeface="Cambria Math" charset="0"/>
                            <a:ea typeface="Verdana" charset="0"/>
                            <a:cs typeface="Verdana" charset="0"/>
                          </a:rPr>
                        </m:ctrlPr>
                      </m:accPr>
                      <m:e>
                        <m:sSup>
                          <m:sSupPr>
                            <m:ctrlPr>
                              <a:rPr lang="en-US" sz="2000" i="1">
                                <a:latin typeface="Cambria Math" charset="0"/>
                                <a:ea typeface="Verdana" charset="0"/>
                                <a:cs typeface="Verdana" charset="0"/>
                              </a:rPr>
                            </m:ctrlPr>
                          </m:sSupPr>
                          <m:e>
                            <m:r>
                              <a:rPr lang="en-US" sz="2000" i="1">
                                <a:latin typeface="Cambria Math" panose="02040503050406030204" pitchFamily="18" charset="0"/>
                                <a:ea typeface="Verdana" charset="0"/>
                                <a:cs typeface="Verdana" charset="0"/>
                              </a:rPr>
                              <m:t>𝑅</m:t>
                            </m:r>
                          </m:e>
                          <m:sup>
                            <m:r>
                              <a:rPr lang="en-US" sz="2000" i="1">
                                <a:latin typeface="Cambria Math" panose="02040503050406030204" pitchFamily="18" charset="0"/>
                                <a:ea typeface="Verdana" charset="0"/>
                                <a:cs typeface="Verdana" charset="0"/>
                              </a:rPr>
                              <m:t>′</m:t>
                            </m:r>
                          </m:sup>
                        </m:sSup>
                        <m:sSup>
                          <m:sSupPr>
                            <m:ctrlPr>
                              <a:rPr lang="en-US" sz="2000" i="1">
                                <a:latin typeface="Cambria Math" charset="0"/>
                                <a:ea typeface="Verdana" charset="0"/>
                                <a:cs typeface="Verdana" charset="0"/>
                              </a:rPr>
                            </m:ctrlPr>
                          </m:sSupPr>
                          <m:e>
                            <m:r>
                              <a:rPr lang="en-US" sz="2000" i="1">
                                <a:latin typeface="Cambria Math" panose="02040503050406030204" pitchFamily="18" charset="0"/>
                                <a:ea typeface="Verdana" charset="0"/>
                                <a:cs typeface="Verdana" charset="0"/>
                              </a:rPr>
                              <m:t>𝐹</m:t>
                            </m:r>
                          </m:e>
                          <m:sup>
                            <m:r>
                              <a:rPr lang="en-US" sz="2000" i="1">
                                <a:latin typeface="Cambria Math" panose="02040503050406030204" pitchFamily="18" charset="0"/>
                                <a:ea typeface="Verdana" charset="0"/>
                                <a:cs typeface="Verdana" charset="0"/>
                              </a:rPr>
                              <m:t>′</m:t>
                            </m:r>
                          </m:sup>
                        </m:sSup>
                      </m:e>
                    </m:acc>
                  </m:oMath>
                </a14:m>
                <a:r>
                  <a:rPr lang="en-US" sz="2000" dirty="0">
                    <a:latin typeface="Verdana" charset="0"/>
                    <a:ea typeface="Verdana" charset="0"/>
                    <a:cs typeface="Verdana" charset="0"/>
                  </a:rPr>
                  <a:t>.</a:t>
                </a: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540564" y="382314"/>
                <a:ext cx="11084031" cy="5020092"/>
              </a:xfrm>
              <a:prstGeom prst="rect">
                <a:avLst/>
              </a:prstGeom>
              <a:blipFill>
                <a:blip r:embed="rId4"/>
                <a:stretch>
                  <a:fillRect l="-605" t="-851"/>
                </a:stretch>
              </a:blipFill>
            </p:spPr>
            <p:txBody>
              <a:bodyPr/>
              <a:lstStyle/>
              <a:p>
                <a:r>
                  <a:rPr lang="en-US">
                    <a:noFill/>
                  </a:rPr>
                  <a:t> </a:t>
                </a:r>
              </a:p>
            </p:txBody>
          </p:sp>
        </mc:Fallback>
      </mc:AlternateContent>
    </p:spTree>
    <p:extLst>
      <p:ext uri="{BB962C8B-B14F-4D97-AF65-F5344CB8AC3E}">
        <p14:creationId xmlns:p14="http://schemas.microsoft.com/office/powerpoint/2010/main" val="14333300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209</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B74EB5C6-2FDE-474B-866F-02AD6706D73C}"/>
                  </a:ext>
                </a:extLst>
              </p:cNvPr>
              <p:cNvSpPr txBox="1"/>
              <p:nvPr/>
            </p:nvSpPr>
            <p:spPr>
              <a:xfrm>
                <a:off x="540564" y="382315"/>
                <a:ext cx="11087585" cy="4190121"/>
              </a:xfrm>
              <a:prstGeom prst="rect">
                <a:avLst/>
              </a:prstGeom>
              <a:noFill/>
            </p:spPr>
            <p:txBody>
              <a:bodyPr wrap="square" rtlCol="0">
                <a:spAutoFit/>
              </a:bodyPr>
              <a:lstStyle/>
              <a:p>
                <a:pPr marL="457200" indent="-457200">
                  <a:buFont typeface="+mj-lt"/>
                  <a:buAutoNum type="alphaLcPeriod" startAt="3"/>
                </a:pPr>
                <a:r>
                  <a:rPr lang="en-US" sz="2000" dirty="0">
                    <a:latin typeface="Verdana" charset="0"/>
                    <a:ea typeface="Verdana" charset="0"/>
                    <a:cs typeface="Verdana" charset="0"/>
                  </a:rPr>
                  <a:t>Use the steps to apply the same transformations to each part of quadrilateral </a:t>
                </a:r>
                <a14:m>
                  <m:oMath xmlns:m="http://schemas.openxmlformats.org/officeDocument/2006/math">
                    <m:r>
                      <a:rPr lang="en-US" sz="2000" i="1">
                        <a:latin typeface="Cambria Math" panose="02040503050406030204" pitchFamily="18" charset="0"/>
                        <a:ea typeface="Verdana" charset="0"/>
                        <a:cs typeface="Verdana" charset="0"/>
                      </a:rPr>
                      <m:t>𝐾𝐷𝑅𝐹</m:t>
                    </m:r>
                  </m:oMath>
                </a14:m>
                <a:r>
                  <a:rPr lang="en-US" sz="2000" dirty="0">
                    <a:latin typeface="Verdana" charset="0"/>
                    <a:ea typeface="Verdana" charset="0"/>
                    <a:cs typeface="Verdana" charset="0"/>
                  </a:rPr>
                  <a:t>. </a:t>
                </a:r>
              </a:p>
              <a:p>
                <a:r>
                  <a:rPr lang="en-US" sz="2000" dirty="0">
                    <a:latin typeface="Verdana" charset="0"/>
                    <a:ea typeface="Verdana" charset="0"/>
                    <a:cs typeface="Verdana" charset="0"/>
                  </a:rPr>
                  <a:t> </a:t>
                </a:r>
              </a:p>
              <a:p>
                <a:pPr marL="342900" indent="-342900">
                  <a:buFont typeface="Arial" charset="0"/>
                  <a:buChar char="•"/>
                </a:pPr>
                <a:r>
                  <a:rPr lang="en-US" sz="2000" dirty="0">
                    <a:latin typeface="Verdana" charset="0"/>
                    <a:ea typeface="Verdana" charset="0"/>
                    <a:cs typeface="Verdana" charset="0"/>
                  </a:rPr>
                  <a:t>Use patty paper to copy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𝑅𝐹𝐾</m:t>
                    </m:r>
                  </m:oMath>
                </a14:m>
                <a:r>
                  <a:rPr lang="en-US" sz="2000" dirty="0">
                    <a:latin typeface="Verdana" charset="0"/>
                    <a:ea typeface="Verdana" charset="0"/>
                    <a:cs typeface="Verdana" charset="0"/>
                  </a:rPr>
                  <a:t>. Use the copy of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𝑅𝐹𝐾</m:t>
                    </m:r>
                  </m:oMath>
                </a14:m>
                <a:r>
                  <a:rPr lang="en-US" sz="2000" dirty="0">
                    <a:latin typeface="Verdana" charset="0"/>
                    <a:ea typeface="Verdana" charset="0"/>
                    <a:cs typeface="Verdana" charset="0"/>
                  </a:rPr>
                  <a:t> to create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𝑅</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𝐹</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𝐾</m:t>
                    </m:r>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 </a:t>
                </a:r>
              </a:p>
              <a:p>
                <a:pPr marL="342900" indent="-342900">
                  <a:buFont typeface="Arial" charset="0"/>
                  <a:buChar char="•"/>
                </a:pPr>
                <a:r>
                  <a:rPr lang="en-US" sz="2000" dirty="0">
                    <a:latin typeface="Verdana" charset="0"/>
                    <a:ea typeface="Verdana" charset="0"/>
                    <a:cs typeface="Verdana" charset="0"/>
                  </a:rPr>
                  <a:t>Use the patty paper and any other tools to draw the copy of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panose="02040503050406030204" pitchFamily="18" charset="0"/>
                            <a:ea typeface="Verdana" charset="0"/>
                            <a:cs typeface="Verdana" charset="0"/>
                          </a:rPr>
                          <m:t>𝐾𝐹</m:t>
                        </m:r>
                      </m:e>
                    </m:acc>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 Name it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panose="02040503050406030204" pitchFamily="18" charset="0"/>
                            <a:ea typeface="Verdana" charset="0"/>
                            <a:cs typeface="Verdana" charset="0"/>
                          </a:rPr>
                          <m:t>𝐾</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𝐹</m:t>
                        </m:r>
                        <m:r>
                          <a:rPr lang="en-US" sz="2000" i="1">
                            <a:latin typeface="Cambria Math" panose="02040503050406030204" pitchFamily="18" charset="0"/>
                            <a:ea typeface="Verdana" charset="0"/>
                            <a:cs typeface="Verdana" charset="0"/>
                          </a:rPr>
                          <m:t>′</m:t>
                        </m:r>
                      </m:e>
                    </m:acc>
                  </m:oMath>
                </a14:m>
                <a:r>
                  <a:rPr lang="en-US" sz="2000" dirty="0">
                    <a:latin typeface="Verdana" charset="0"/>
                    <a:ea typeface="Verdana" charset="0"/>
                    <a:cs typeface="Verdana" charset="0"/>
                  </a:rPr>
                  <a:t>. </a:t>
                </a:r>
              </a:p>
              <a:p>
                <a:pPr marL="342900" indent="-342900">
                  <a:buFont typeface="Arial" charset="0"/>
                  <a:buChar char="•"/>
                </a:pPr>
                <a:r>
                  <a:rPr lang="en-US" sz="2000" dirty="0">
                    <a:latin typeface="Verdana" charset="0"/>
                    <a:ea typeface="Verdana" charset="0"/>
                    <a:cs typeface="Verdana" charset="0"/>
                  </a:rPr>
                  <a:t>Use patty paper to copy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𝐹𝑅𝐷</m:t>
                    </m:r>
                  </m:oMath>
                </a14:m>
                <a:r>
                  <a:rPr lang="en-US" sz="2000" dirty="0">
                    <a:latin typeface="Verdana" charset="0"/>
                    <a:ea typeface="Verdana" charset="0"/>
                    <a:cs typeface="Verdana" charset="0"/>
                  </a:rPr>
                  <a:t>. Use the copy of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𝐹𝑅𝐷</m:t>
                    </m:r>
                  </m:oMath>
                </a14:m>
                <a:r>
                  <a:rPr lang="en-US" sz="2000" dirty="0">
                    <a:latin typeface="Verdana" charset="0"/>
                    <a:ea typeface="Verdana" charset="0"/>
                    <a:cs typeface="Verdana" charset="0"/>
                  </a:rPr>
                  <a:t> to create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𝐹</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𝑅</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𝐷</m:t>
                    </m:r>
                    <m:r>
                      <a:rPr lang="en-US" sz="2000" i="1">
                        <a:latin typeface="Cambria Math" panose="02040503050406030204" pitchFamily="18" charset="0"/>
                        <a:ea typeface="Verdana" charset="0"/>
                        <a:cs typeface="Verdana" charset="0"/>
                      </a:rPr>
                      <m:t>′</m:t>
                    </m:r>
                  </m:oMath>
                </a14:m>
                <a:endParaRPr lang="en-US" sz="2000" dirty="0">
                  <a:latin typeface="Verdana" charset="0"/>
                  <a:ea typeface="Verdana" charset="0"/>
                  <a:cs typeface="Verdana" charset="0"/>
                </a:endParaRPr>
              </a:p>
              <a:p>
                <a:pPr marL="342900" indent="-342900">
                  <a:buFont typeface="Arial" charset="0"/>
                  <a:buChar char="•"/>
                </a:pPr>
                <a:r>
                  <a:rPr lang="en-US" sz="2000" dirty="0">
                    <a:latin typeface="Verdana" charset="0"/>
                    <a:ea typeface="Verdana" charset="0"/>
                    <a:cs typeface="Verdana" charset="0"/>
                  </a:rPr>
                  <a:t>Use the patty paper and any other tools to draw the copy of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panose="02040503050406030204" pitchFamily="18" charset="0"/>
                            <a:ea typeface="Verdana" charset="0"/>
                            <a:cs typeface="Verdana" charset="0"/>
                          </a:rPr>
                          <m:t>𝑅𝐷</m:t>
                        </m:r>
                      </m:e>
                    </m:acc>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 Name it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panose="02040503050406030204" pitchFamily="18" charset="0"/>
                            <a:ea typeface="Verdana" charset="0"/>
                            <a:cs typeface="Verdana" charset="0"/>
                          </a:rPr>
                          <m:t>𝑅</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𝐷</m:t>
                        </m:r>
                        <m:r>
                          <a:rPr lang="en-US" sz="2000" i="1">
                            <a:latin typeface="Cambria Math" panose="02040503050406030204" pitchFamily="18" charset="0"/>
                            <a:ea typeface="Verdana" charset="0"/>
                            <a:cs typeface="Verdana" charset="0"/>
                          </a:rPr>
                          <m:t>′</m:t>
                        </m:r>
                      </m:e>
                    </m:acc>
                  </m:oMath>
                </a14:m>
                <a:r>
                  <a:rPr lang="en-US" sz="2000" dirty="0">
                    <a:latin typeface="Verdana" charset="0"/>
                    <a:ea typeface="Verdana" charset="0"/>
                    <a:cs typeface="Verdana" charset="0"/>
                  </a:rPr>
                  <a:t>. </a:t>
                </a:r>
              </a:p>
              <a:p>
                <a:pPr marL="342900" indent="-342900">
                  <a:buFont typeface="Arial" charset="0"/>
                  <a:buChar char="•"/>
                </a:pPr>
                <a:r>
                  <a:rPr lang="en-US" sz="2000" dirty="0">
                    <a:latin typeface="Verdana" charset="0"/>
                    <a:ea typeface="Verdana" charset="0"/>
                    <a:cs typeface="Verdana" charset="0"/>
                  </a:rPr>
                  <a:t>Use patty paper to copy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𝐹𝐾𝐷</m:t>
                    </m:r>
                  </m:oMath>
                </a14:m>
                <a:r>
                  <a:rPr lang="en-US" sz="2000" dirty="0">
                    <a:latin typeface="Verdana" charset="0"/>
                    <a:ea typeface="Verdana" charset="0"/>
                    <a:cs typeface="Verdana" charset="0"/>
                  </a:rPr>
                  <a:t>. Use the copy of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𝐹𝐾𝐷</m:t>
                    </m:r>
                  </m:oMath>
                </a14:m>
                <a:r>
                  <a:rPr lang="en-US" sz="2000" dirty="0">
                    <a:latin typeface="Verdana" charset="0"/>
                    <a:ea typeface="Verdana" charset="0"/>
                    <a:cs typeface="Verdana" charset="0"/>
                  </a:rPr>
                  <a:t> to create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𝐹</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𝐾</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𝐷</m:t>
                    </m:r>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a:t>
                </a:r>
              </a:p>
              <a:p>
                <a:pPr marL="342900" indent="-342900">
                  <a:buFont typeface="Arial" charset="0"/>
                  <a:buChar char="•"/>
                </a:pPr>
                <a:r>
                  <a:rPr lang="en-US" sz="2000" dirty="0">
                    <a:latin typeface="Verdana" charset="0"/>
                    <a:ea typeface="Verdana" charset="0"/>
                    <a:cs typeface="Verdana" charset="0"/>
                  </a:rPr>
                  <a:t>Use the patty paper and any other tools to draw the copy of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panose="02040503050406030204" pitchFamily="18" charset="0"/>
                            <a:ea typeface="Verdana" charset="0"/>
                            <a:cs typeface="Verdana" charset="0"/>
                          </a:rPr>
                          <m:t>𝐾𝐷</m:t>
                        </m:r>
                      </m:e>
                    </m:acc>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 Name it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panose="02040503050406030204" pitchFamily="18" charset="0"/>
                            <a:ea typeface="Verdana" charset="0"/>
                            <a:cs typeface="Verdana" charset="0"/>
                          </a:rPr>
                          <m:t>𝐾</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𝐷</m:t>
                        </m:r>
                        <m:r>
                          <a:rPr lang="en-US" sz="2000" i="1">
                            <a:latin typeface="Cambria Math" panose="02040503050406030204" pitchFamily="18" charset="0"/>
                            <a:ea typeface="Verdana" charset="0"/>
                            <a:cs typeface="Verdana" charset="0"/>
                          </a:rPr>
                          <m:t>′</m:t>
                        </m:r>
                      </m:e>
                    </m:acc>
                  </m:oMath>
                </a14:m>
                <a:r>
                  <a:rPr lang="en-US" sz="2000" dirty="0">
                    <a:latin typeface="Verdana" charset="0"/>
                    <a:ea typeface="Verdana" charset="0"/>
                    <a:cs typeface="Verdana" charset="0"/>
                  </a:rPr>
                  <a:t>. </a:t>
                </a:r>
              </a:p>
              <a:p>
                <a:r>
                  <a:rPr lang="en-US" sz="2000" dirty="0">
                    <a:latin typeface="Verdana" charset="0"/>
                    <a:ea typeface="Verdana" charset="0"/>
                    <a:cs typeface="Verdana" charset="0"/>
                  </a:rPr>
                  <a:t> </a:t>
                </a:r>
              </a:p>
              <a:p>
                <a:pPr marL="457200" indent="-457200">
                  <a:buFont typeface="+mj-lt"/>
                  <a:buAutoNum type="alphaLcPeriod" startAt="4"/>
                </a:pPr>
                <a:r>
                  <a:rPr lang="en-US" sz="2000" dirty="0">
                    <a:latin typeface="Verdana" charset="0"/>
                    <a:ea typeface="Verdana" charset="0"/>
                    <a:cs typeface="Verdana" charset="0"/>
                  </a:rPr>
                  <a:t>Explain why when drawing all of the parts of the quadrilateral </a:t>
                </a:r>
                <a14:m>
                  <m:oMath xmlns:m="http://schemas.openxmlformats.org/officeDocument/2006/math">
                    <m:r>
                      <a:rPr lang="en-US" sz="2000" i="1">
                        <a:latin typeface="Cambria Math" panose="02040503050406030204" pitchFamily="18" charset="0"/>
                        <a:ea typeface="Verdana" charset="0"/>
                        <a:cs typeface="Verdana" charset="0"/>
                      </a:rPr>
                      <m:t>𝐾𝐷𝑅𝐹</m:t>
                    </m:r>
                  </m:oMath>
                </a14:m>
                <a:r>
                  <a:rPr lang="en-US" sz="2000" dirty="0">
                    <a:latin typeface="Verdana" charset="0"/>
                    <a:ea typeface="Verdana" charset="0"/>
                    <a:cs typeface="Verdana" charset="0"/>
                  </a:rPr>
                  <a:t> to create quadrilateral </a:t>
                </a:r>
                <a14:m>
                  <m:oMath xmlns:m="http://schemas.openxmlformats.org/officeDocument/2006/math">
                    <m:sSup>
                      <m:sSupPr>
                        <m:ctrlPr>
                          <a:rPr lang="en-US" sz="2000" i="1">
                            <a:latin typeface="Cambria Math" charset="0"/>
                            <a:ea typeface="Verdana" charset="0"/>
                            <a:cs typeface="Verdana" charset="0"/>
                          </a:rPr>
                        </m:ctrlPr>
                      </m:sSupPr>
                      <m:e>
                        <m:r>
                          <a:rPr lang="en-US" sz="2000" i="1">
                            <a:latin typeface="Cambria Math" panose="02040503050406030204" pitchFamily="18" charset="0"/>
                            <a:ea typeface="Verdana" charset="0"/>
                            <a:cs typeface="Verdana" charset="0"/>
                          </a:rPr>
                          <m:t>𝐾</m:t>
                        </m:r>
                      </m:e>
                      <m:sup>
                        <m:r>
                          <a:rPr lang="en-US" sz="2000" i="1">
                            <a:latin typeface="Cambria Math" panose="02040503050406030204" pitchFamily="18" charset="0"/>
                            <a:ea typeface="Verdana" charset="0"/>
                            <a:cs typeface="Verdana" charset="0"/>
                          </a:rPr>
                          <m:t>′</m:t>
                        </m:r>
                      </m:sup>
                    </m:sSup>
                    <m:sSup>
                      <m:sSupPr>
                        <m:ctrlPr>
                          <a:rPr lang="en-US" sz="2000" i="1">
                            <a:latin typeface="Cambria Math" charset="0"/>
                            <a:ea typeface="Verdana" charset="0"/>
                            <a:cs typeface="Verdana" charset="0"/>
                          </a:rPr>
                        </m:ctrlPr>
                      </m:sSupPr>
                      <m:e>
                        <m:r>
                          <a:rPr lang="en-US" sz="2000" i="1">
                            <a:latin typeface="Cambria Math" panose="02040503050406030204" pitchFamily="18" charset="0"/>
                            <a:ea typeface="Verdana" charset="0"/>
                            <a:cs typeface="Verdana" charset="0"/>
                          </a:rPr>
                          <m:t>𝐷</m:t>
                        </m:r>
                      </m:e>
                      <m:sup>
                        <m:r>
                          <a:rPr lang="en-US" sz="2000" i="1">
                            <a:latin typeface="Cambria Math" panose="02040503050406030204" pitchFamily="18" charset="0"/>
                            <a:ea typeface="Verdana" charset="0"/>
                            <a:cs typeface="Verdana" charset="0"/>
                          </a:rPr>
                          <m:t>′</m:t>
                        </m:r>
                      </m:sup>
                    </m:sSup>
                    <m:sSup>
                      <m:sSupPr>
                        <m:ctrlPr>
                          <a:rPr lang="en-US" sz="2000" i="1">
                            <a:latin typeface="Cambria Math" charset="0"/>
                            <a:ea typeface="Verdana" charset="0"/>
                            <a:cs typeface="Verdana" charset="0"/>
                          </a:rPr>
                        </m:ctrlPr>
                      </m:sSupPr>
                      <m:e>
                        <m:r>
                          <a:rPr lang="en-US" sz="2000" i="1">
                            <a:latin typeface="Cambria Math" panose="02040503050406030204" pitchFamily="18" charset="0"/>
                            <a:ea typeface="Verdana" charset="0"/>
                            <a:cs typeface="Verdana" charset="0"/>
                          </a:rPr>
                          <m:t>𝑅</m:t>
                        </m:r>
                      </m:e>
                      <m:sup>
                        <m:r>
                          <a:rPr lang="en-US" sz="2000" i="1">
                            <a:latin typeface="Cambria Math" panose="02040503050406030204" pitchFamily="18" charset="0"/>
                            <a:ea typeface="Verdana" charset="0"/>
                            <a:cs typeface="Verdana" charset="0"/>
                          </a:rPr>
                          <m:t>′</m:t>
                        </m:r>
                      </m:sup>
                    </m:sSup>
                    <m:sSup>
                      <m:sSupPr>
                        <m:ctrlPr>
                          <a:rPr lang="en-US" sz="2000" i="1">
                            <a:latin typeface="Cambria Math" charset="0"/>
                            <a:ea typeface="Verdana" charset="0"/>
                            <a:cs typeface="Verdana" charset="0"/>
                          </a:rPr>
                        </m:ctrlPr>
                      </m:sSupPr>
                      <m:e>
                        <m:r>
                          <a:rPr lang="en-US" sz="2000" i="1">
                            <a:latin typeface="Cambria Math" panose="02040503050406030204" pitchFamily="18" charset="0"/>
                            <a:ea typeface="Verdana" charset="0"/>
                            <a:cs typeface="Verdana" charset="0"/>
                          </a:rPr>
                          <m:t>𝐹</m:t>
                        </m:r>
                      </m:e>
                      <m:sup>
                        <m:r>
                          <a:rPr lang="en-US" sz="2000" i="1">
                            <a:latin typeface="Cambria Math" panose="02040503050406030204" pitchFamily="18" charset="0"/>
                            <a:ea typeface="Verdana" charset="0"/>
                            <a:cs typeface="Verdana" charset="0"/>
                          </a:rPr>
                          <m:t>′</m:t>
                        </m:r>
                      </m:sup>
                    </m:sSup>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 the movements of the patty paper were the same as when drawing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panose="02040503050406030204" pitchFamily="18" charset="0"/>
                            <a:ea typeface="Verdana" charset="0"/>
                            <a:cs typeface="Verdana" charset="0"/>
                          </a:rPr>
                          <m:t>𝑅</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𝐹</m:t>
                        </m:r>
                        <m:r>
                          <a:rPr lang="en-US" sz="2000" i="1">
                            <a:latin typeface="Cambria Math" panose="02040503050406030204" pitchFamily="18" charset="0"/>
                            <a:ea typeface="Verdana" charset="0"/>
                            <a:cs typeface="Verdana" charset="0"/>
                          </a:rPr>
                          <m:t>′</m:t>
                        </m:r>
                      </m:e>
                    </m:acc>
                  </m:oMath>
                </a14:m>
                <a:r>
                  <a:rPr lang="en-US" sz="2000" dirty="0">
                    <a:latin typeface="Verdana" charset="0"/>
                    <a:ea typeface="Verdana" charset="0"/>
                    <a:cs typeface="Verdana" charset="0"/>
                  </a:rPr>
                  <a:t>.</a:t>
                </a: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540564" y="382315"/>
                <a:ext cx="11087585" cy="4190121"/>
              </a:xfrm>
              <a:prstGeom prst="rect">
                <a:avLst/>
              </a:prstGeom>
              <a:blipFill>
                <a:blip r:embed="rId4"/>
                <a:stretch>
                  <a:fillRect l="-605" t="-1019" r="-715" b="-1601"/>
                </a:stretch>
              </a:blipFill>
            </p:spPr>
            <p:txBody>
              <a:bodyPr/>
              <a:lstStyle/>
              <a:p>
                <a:r>
                  <a:rPr lang="en-US">
                    <a:noFill/>
                  </a:rPr>
                  <a:t> </a:t>
                </a:r>
              </a:p>
            </p:txBody>
          </p:sp>
        </mc:Fallback>
      </mc:AlternateContent>
    </p:spTree>
    <p:extLst>
      <p:ext uri="{BB962C8B-B14F-4D97-AF65-F5344CB8AC3E}">
        <p14:creationId xmlns:p14="http://schemas.microsoft.com/office/powerpoint/2010/main" val="20024185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4596"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86370"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209</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B74EB5C6-2FDE-474B-866F-02AD6706D73C}"/>
                  </a:ext>
                </a:extLst>
              </p:cNvPr>
              <p:cNvSpPr txBox="1"/>
              <p:nvPr/>
            </p:nvSpPr>
            <p:spPr>
              <a:xfrm>
                <a:off x="540564" y="382314"/>
                <a:ext cx="10979805" cy="400110"/>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Quadrilaterals </a:t>
                </a:r>
                <a14:m>
                  <m:oMath xmlns:m="http://schemas.openxmlformats.org/officeDocument/2006/math">
                    <m:r>
                      <a:rPr lang="en-US" sz="2000" i="1">
                        <a:latin typeface="Cambria Math" panose="02040503050406030204" pitchFamily="18" charset="0"/>
                        <a:ea typeface="Verdana" charset="0"/>
                        <a:cs typeface="Verdana" charset="0"/>
                      </a:rPr>
                      <m:t>𝐾𝐷𝑅𝐹</m:t>
                    </m:r>
                  </m:oMath>
                </a14:m>
                <a:r>
                  <a:rPr lang="en-US" sz="2000" dirty="0">
                    <a:latin typeface="Verdana" charset="0"/>
                    <a:ea typeface="Verdana" charset="0"/>
                    <a:cs typeface="Verdana" charset="0"/>
                  </a:rPr>
                  <a:t>, </a:t>
                </a:r>
                <a14:m>
                  <m:oMath xmlns:m="http://schemas.openxmlformats.org/officeDocument/2006/math">
                    <m:r>
                      <a:rPr lang="en-US" sz="2000" i="1">
                        <a:latin typeface="Cambria Math" panose="02040503050406030204" pitchFamily="18" charset="0"/>
                        <a:ea typeface="Verdana" charset="0"/>
                        <a:cs typeface="Verdana" charset="0"/>
                      </a:rPr>
                      <m:t>𝐾</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𝐷</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𝑅</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𝐹</m:t>
                    </m:r>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𝐾</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𝐷</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𝑅</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𝐹</m:t>
                    </m:r>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 are shown on the coordinate grid.</a:t>
                </a: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540564" y="382314"/>
                <a:ext cx="10979805" cy="400110"/>
              </a:xfrm>
              <a:prstGeom prst="rect">
                <a:avLst/>
              </a:prstGeom>
              <a:blipFill>
                <a:blip r:embed="rId4"/>
                <a:stretch>
                  <a:fillRect l="-611" t="-10769" b="-27692"/>
                </a:stretch>
              </a:blipFill>
            </p:spPr>
            <p:txBody>
              <a:bodyPr/>
              <a:lstStyle/>
              <a:p>
                <a:r>
                  <a:rPr lang="en-US">
                    <a:noFill/>
                  </a:rPr>
                  <a:t> </a:t>
                </a:r>
              </a:p>
            </p:txBody>
          </p:sp>
        </mc:Fallback>
      </mc:AlternateContent>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697198" y="1090201"/>
            <a:ext cx="4013870" cy="2870679"/>
          </a:xfrm>
          <a:prstGeom prst="rect">
            <a:avLst/>
          </a:prstGeom>
        </p:spPr>
      </p:pic>
      <mc:AlternateContent xmlns:mc="http://schemas.openxmlformats.org/markup-compatibility/2006" xmlns:a14="http://schemas.microsoft.com/office/drawing/2010/main">
        <mc:Choice Requires="a14">
          <p:sp>
            <p:nvSpPr>
              <p:cNvPr id="3" name="Rectangle 2"/>
              <p:cNvSpPr/>
              <p:nvPr/>
            </p:nvSpPr>
            <p:spPr>
              <a:xfrm>
                <a:off x="540564" y="4099293"/>
                <a:ext cx="11084031" cy="1938992"/>
              </a:xfrm>
              <a:prstGeom prst="rect">
                <a:avLst/>
              </a:prstGeom>
            </p:spPr>
            <p:txBody>
              <a:bodyPr wrap="square">
                <a:spAutoFit/>
              </a:bodyPr>
              <a:lstStyle/>
              <a:p>
                <a:pPr marL="342900" indent="-342900">
                  <a:buFont typeface="+mj-lt"/>
                  <a:buAutoNum type="alphaLcPeriod"/>
                </a:pPr>
                <a:r>
                  <a:rPr lang="en-US" sz="2000" dirty="0">
                    <a:latin typeface="Verdana" charset="0"/>
                    <a:ea typeface="Verdana" charset="0"/>
                    <a:cs typeface="Verdana" charset="0"/>
                  </a:rPr>
                  <a:t>Use patty paper to copy quadrilateral </a:t>
                </a:r>
                <a14:m>
                  <m:oMath xmlns:m="http://schemas.openxmlformats.org/officeDocument/2006/math">
                    <m:r>
                      <a:rPr lang="en-US" sz="2000" i="1">
                        <a:latin typeface="Cambria Math" panose="02040503050406030204" pitchFamily="18" charset="0"/>
                        <a:ea typeface="Verdana" charset="0"/>
                        <a:cs typeface="Verdana" charset="0"/>
                      </a:rPr>
                      <m:t>𝐾𝐷𝑅𝐹</m:t>
                    </m:r>
                  </m:oMath>
                </a14:m>
                <a:r>
                  <a:rPr lang="en-US" sz="2000" dirty="0">
                    <a:latin typeface="Verdana" charset="0"/>
                    <a:ea typeface="Verdana" charset="0"/>
                    <a:cs typeface="Verdana" charset="0"/>
                  </a:rPr>
                  <a:t>. </a:t>
                </a:r>
              </a:p>
              <a:p>
                <a:pPr marL="342900" indent="-342900">
                  <a:buFont typeface="+mj-lt"/>
                  <a:buAutoNum type="alphaLcPeriod"/>
                </a:pPr>
                <a:endParaRPr lang="en-US" sz="2000" dirty="0">
                  <a:latin typeface="Verdana" charset="0"/>
                  <a:ea typeface="Verdana" charset="0"/>
                  <a:cs typeface="Verdana" charset="0"/>
                </a:endParaRPr>
              </a:p>
              <a:p>
                <a:pPr marL="342900" indent="-342900">
                  <a:buFont typeface="+mj-lt"/>
                  <a:buAutoNum type="alphaLcPeriod"/>
                </a:pPr>
                <a:r>
                  <a:rPr lang="en-US" sz="2000" dirty="0">
                    <a:latin typeface="Verdana" charset="0"/>
                    <a:ea typeface="Verdana" charset="0"/>
                    <a:cs typeface="Verdana" charset="0"/>
                  </a:rPr>
                  <a:t>Lay the copy of quadrilateral </a:t>
                </a:r>
                <a14:m>
                  <m:oMath xmlns:m="http://schemas.openxmlformats.org/officeDocument/2006/math">
                    <m:r>
                      <a:rPr lang="en-US" sz="2000" i="1">
                        <a:latin typeface="Cambria Math" panose="02040503050406030204" pitchFamily="18" charset="0"/>
                        <a:ea typeface="Verdana" charset="0"/>
                        <a:cs typeface="Verdana" charset="0"/>
                      </a:rPr>
                      <m:t>𝐾𝐷𝑅𝐹</m:t>
                    </m:r>
                  </m:oMath>
                </a14:m>
                <a:r>
                  <a:rPr lang="en-US" sz="2000" dirty="0">
                    <a:latin typeface="Verdana" charset="0"/>
                    <a:ea typeface="Verdana" charset="0"/>
                    <a:cs typeface="Verdana" charset="0"/>
                  </a:rPr>
                  <a:t> on top of quadrilateral </a:t>
                </a:r>
                <a14:m>
                  <m:oMath xmlns:m="http://schemas.openxmlformats.org/officeDocument/2006/math">
                    <m:r>
                      <a:rPr lang="en-US" sz="2000" i="1">
                        <a:latin typeface="Cambria Math" panose="02040503050406030204" pitchFamily="18" charset="0"/>
                        <a:ea typeface="Verdana" charset="0"/>
                        <a:cs typeface="Verdana" charset="0"/>
                      </a:rPr>
                      <m:t>𝐾𝐷𝑅𝐹</m:t>
                    </m:r>
                  </m:oMath>
                </a14:m>
                <a:r>
                  <a:rPr lang="en-US" sz="2000" dirty="0">
                    <a:latin typeface="Verdana" charset="0"/>
                    <a:ea typeface="Verdana" charset="0"/>
                    <a:cs typeface="Verdana" charset="0"/>
                  </a:rPr>
                  <a:t>. </a:t>
                </a:r>
              </a:p>
              <a:p>
                <a:pPr marL="342900" indent="-342900">
                  <a:buFont typeface="+mj-lt"/>
                  <a:buAutoNum type="alphaLcPeriod"/>
                </a:pPr>
                <a:endParaRPr lang="en-US" sz="2000" dirty="0">
                  <a:latin typeface="Verdana" charset="0"/>
                  <a:ea typeface="Verdana" charset="0"/>
                  <a:cs typeface="Verdana" charset="0"/>
                </a:endParaRPr>
              </a:p>
              <a:p>
                <a:pPr marL="342900" indent="-342900">
                  <a:buFont typeface="+mj-lt"/>
                  <a:buAutoNum type="alphaLcPeriod"/>
                </a:pPr>
                <a:r>
                  <a:rPr lang="en-US" sz="2000" dirty="0">
                    <a:latin typeface="Verdana" charset="0"/>
                    <a:ea typeface="Verdana" charset="0"/>
                    <a:cs typeface="Verdana" charset="0"/>
                  </a:rPr>
                  <a:t>Describe what should be done so that the copy of quadrilateral </a:t>
                </a:r>
                <a14:m>
                  <m:oMath xmlns:m="http://schemas.openxmlformats.org/officeDocument/2006/math">
                    <m:r>
                      <a:rPr lang="en-US" sz="2000" i="1">
                        <a:latin typeface="Cambria Math" panose="02040503050406030204" pitchFamily="18" charset="0"/>
                        <a:ea typeface="Verdana" charset="0"/>
                        <a:cs typeface="Verdana" charset="0"/>
                      </a:rPr>
                      <m:t>𝐾𝐷𝑅𝐹</m:t>
                    </m:r>
                  </m:oMath>
                </a14:m>
                <a:r>
                  <a:rPr lang="en-US" sz="2000" dirty="0">
                    <a:latin typeface="Verdana" charset="0"/>
                    <a:ea typeface="Verdana" charset="0"/>
                    <a:cs typeface="Verdana" charset="0"/>
                  </a:rPr>
                  <a:t> lays on top of quadrilateral </a:t>
                </a:r>
                <a14:m>
                  <m:oMath xmlns:m="http://schemas.openxmlformats.org/officeDocument/2006/math">
                    <m:r>
                      <a:rPr lang="en-US" sz="2000" i="1">
                        <a:latin typeface="Cambria Math" panose="02040503050406030204" pitchFamily="18" charset="0"/>
                        <a:ea typeface="Verdana" charset="0"/>
                        <a:cs typeface="Verdana" charset="0"/>
                      </a:rPr>
                      <m:t>𝐾</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𝐷</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𝑅</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𝐹</m:t>
                    </m:r>
                  </m:oMath>
                </a14:m>
                <a:r>
                  <a:rPr lang="en-US" sz="2000" dirty="0">
                    <a:latin typeface="Verdana" charset="0"/>
                    <a:ea typeface="Verdana" charset="0"/>
                    <a:cs typeface="Verdana" charset="0"/>
                  </a:rPr>
                  <a:t>’.</a:t>
                </a:r>
              </a:p>
            </p:txBody>
          </p:sp>
        </mc:Choice>
        <mc:Fallback xmlns="">
          <p:sp>
            <p:nvSpPr>
              <p:cNvPr id="3" name="Rectangle 2"/>
              <p:cNvSpPr>
                <a:spLocks noRot="1" noChangeAspect="1" noMove="1" noResize="1" noEditPoints="1" noAdjustHandles="1" noChangeArrowheads="1" noChangeShapeType="1" noTextEdit="1"/>
              </p:cNvSpPr>
              <p:nvPr/>
            </p:nvSpPr>
            <p:spPr>
              <a:xfrm>
                <a:off x="540564" y="4099293"/>
                <a:ext cx="11084031" cy="1938992"/>
              </a:xfrm>
              <a:prstGeom prst="rect">
                <a:avLst/>
              </a:prstGeom>
              <a:blipFill>
                <a:blip r:embed="rId6"/>
                <a:stretch>
                  <a:fillRect l="-605" t="-1881" b="-4389"/>
                </a:stretch>
              </a:blipFill>
            </p:spPr>
            <p:txBody>
              <a:bodyPr/>
              <a:lstStyle/>
              <a:p>
                <a:r>
                  <a:rPr lang="en-US">
                    <a:noFill/>
                  </a:rPr>
                  <a:t> </a:t>
                </a:r>
              </a:p>
            </p:txBody>
          </p:sp>
        </mc:Fallback>
      </mc:AlternateContent>
    </p:spTree>
    <p:extLst>
      <p:ext uri="{BB962C8B-B14F-4D97-AF65-F5344CB8AC3E}">
        <p14:creationId xmlns:p14="http://schemas.microsoft.com/office/powerpoint/2010/main" val="11760600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209/210</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B74EB5C6-2FDE-474B-866F-02AD6706D73C}"/>
                  </a:ext>
                </a:extLst>
              </p:cNvPr>
              <p:cNvSpPr txBox="1"/>
              <p:nvPr/>
            </p:nvSpPr>
            <p:spPr>
              <a:xfrm>
                <a:off x="540564" y="162533"/>
                <a:ext cx="11087586" cy="5324535"/>
              </a:xfrm>
              <a:prstGeom prst="rect">
                <a:avLst/>
              </a:prstGeom>
              <a:noFill/>
            </p:spPr>
            <p:txBody>
              <a:bodyPr wrap="square" rtlCol="0">
                <a:spAutoFit/>
              </a:bodyPr>
              <a:lstStyle/>
              <a:p>
                <a:pPr marL="457200" indent="-457200">
                  <a:buFont typeface="+mj-lt"/>
                  <a:buAutoNum type="alphaLcPeriod" startAt="4"/>
                </a:pPr>
                <a:r>
                  <a:rPr lang="en-US" sz="2000" dirty="0">
                    <a:latin typeface="Verdana" charset="0"/>
                    <a:ea typeface="Verdana" charset="0"/>
                    <a:cs typeface="Verdana" charset="0"/>
                  </a:rPr>
                  <a:t>Was the movement of the patty paper an example of isometry?</a:t>
                </a:r>
              </a:p>
              <a:p>
                <a:pPr marL="457200" indent="-457200">
                  <a:buFont typeface="+mj-lt"/>
                  <a:buAutoNum type="alphaLcPeriod" startAt="4"/>
                </a:pPr>
                <a:endParaRPr lang="en-US" sz="2000" dirty="0">
                  <a:latin typeface="Verdana" charset="0"/>
                  <a:ea typeface="Verdana" charset="0"/>
                  <a:cs typeface="Verdana" charset="0"/>
                </a:endParaRPr>
              </a:p>
              <a:p>
                <a:pPr marL="457200" indent="-457200">
                  <a:buFont typeface="+mj-lt"/>
                  <a:buAutoNum type="alphaLcPeriod" startAt="4"/>
                </a:pPr>
                <a:r>
                  <a:rPr lang="en-US" sz="2000" dirty="0">
                    <a:latin typeface="Verdana" charset="0"/>
                    <a:ea typeface="Verdana" charset="0"/>
                    <a:cs typeface="Verdana" charset="0"/>
                  </a:rPr>
                  <a:t>Lay the copy of quadrilateral </a:t>
                </a:r>
                <a14:m>
                  <m:oMath xmlns:m="http://schemas.openxmlformats.org/officeDocument/2006/math">
                    <m:r>
                      <a:rPr lang="en-US" sz="2000" i="1">
                        <a:latin typeface="Cambria Math" panose="02040503050406030204" pitchFamily="18" charset="0"/>
                        <a:ea typeface="Verdana" charset="0"/>
                        <a:cs typeface="Verdana" charset="0"/>
                      </a:rPr>
                      <m:t>𝐾𝐷𝑅𝐹</m:t>
                    </m:r>
                  </m:oMath>
                </a14:m>
                <a:r>
                  <a:rPr lang="en-US" sz="2000" dirty="0">
                    <a:latin typeface="Verdana" charset="0"/>
                    <a:ea typeface="Verdana" charset="0"/>
                    <a:cs typeface="Verdana" charset="0"/>
                  </a:rPr>
                  <a:t> on top of quadrilateral </a:t>
                </a:r>
                <a14:m>
                  <m:oMath xmlns:m="http://schemas.openxmlformats.org/officeDocument/2006/math">
                    <m:r>
                      <a:rPr lang="en-US" sz="2000" i="1">
                        <a:latin typeface="Cambria Math" panose="02040503050406030204" pitchFamily="18" charset="0"/>
                        <a:ea typeface="Verdana" charset="0"/>
                        <a:cs typeface="Verdana" charset="0"/>
                      </a:rPr>
                      <m:t>𝐾</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𝐷</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𝑅</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𝐹</m:t>
                    </m:r>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 </a:t>
                </a:r>
              </a:p>
              <a:p>
                <a:pPr marL="457200" indent="-457200">
                  <a:buFont typeface="+mj-lt"/>
                  <a:buAutoNum type="alphaLcPeriod" startAt="4"/>
                </a:pPr>
                <a:endParaRPr lang="en-US" sz="2000" dirty="0">
                  <a:latin typeface="Verdana" charset="0"/>
                  <a:ea typeface="Verdana" charset="0"/>
                  <a:cs typeface="Verdana" charset="0"/>
                </a:endParaRPr>
              </a:p>
              <a:p>
                <a:pPr marL="457200" indent="-457200">
                  <a:buFont typeface="+mj-lt"/>
                  <a:buAutoNum type="alphaLcPeriod" startAt="4"/>
                </a:pPr>
                <a:r>
                  <a:rPr lang="en-US" sz="2000" dirty="0">
                    <a:latin typeface="Verdana" charset="0"/>
                    <a:ea typeface="Verdana" charset="0"/>
                    <a:cs typeface="Verdana" charset="0"/>
                  </a:rPr>
                  <a:t>Describe what should be done next so that the copy of quadrilateral </a:t>
                </a:r>
                <a14:m>
                  <m:oMath xmlns:m="http://schemas.openxmlformats.org/officeDocument/2006/math">
                    <m:r>
                      <a:rPr lang="en-US" sz="2000" i="1">
                        <a:latin typeface="Cambria Math" panose="02040503050406030204" pitchFamily="18" charset="0"/>
                        <a:ea typeface="Verdana" charset="0"/>
                        <a:cs typeface="Verdana" charset="0"/>
                      </a:rPr>
                      <m:t>𝐾𝐷𝑅𝐹</m:t>
                    </m:r>
                  </m:oMath>
                </a14:m>
                <a:r>
                  <a:rPr lang="en-US" sz="2000" dirty="0">
                    <a:latin typeface="Verdana" charset="0"/>
                    <a:ea typeface="Verdana" charset="0"/>
                    <a:cs typeface="Verdana" charset="0"/>
                  </a:rPr>
                  <a:t> lays on top of quadrilateral </a:t>
                </a:r>
                <a14:m>
                  <m:oMath xmlns:m="http://schemas.openxmlformats.org/officeDocument/2006/math">
                    <m:r>
                      <a:rPr lang="en-US" sz="2000" i="1">
                        <a:latin typeface="Cambria Math" panose="02040503050406030204" pitchFamily="18" charset="0"/>
                        <a:ea typeface="Verdana" charset="0"/>
                        <a:cs typeface="Verdana" charset="0"/>
                      </a:rPr>
                      <m:t>𝐾</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𝐷</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𝑅</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𝐹</m:t>
                    </m:r>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a:t>
                </a:r>
              </a:p>
              <a:p>
                <a:pPr marL="457200" indent="-457200">
                  <a:buFont typeface="+mj-lt"/>
                  <a:buAutoNum type="alphaLcPeriod" startAt="4"/>
                </a:pPr>
                <a:endParaRPr lang="en-US" sz="2000" dirty="0">
                  <a:latin typeface="Verdana" charset="0"/>
                  <a:ea typeface="Verdana" charset="0"/>
                  <a:cs typeface="Verdana" charset="0"/>
                </a:endParaRPr>
              </a:p>
              <a:p>
                <a:pPr marL="457200" indent="-457200">
                  <a:buFont typeface="+mj-lt"/>
                  <a:buAutoNum type="alphaLcPeriod" startAt="4"/>
                </a:pPr>
                <a:r>
                  <a:rPr lang="en-US" sz="2000" dirty="0">
                    <a:latin typeface="Verdana" charset="0"/>
                    <a:ea typeface="Verdana" charset="0"/>
                    <a:cs typeface="Verdana" charset="0"/>
                  </a:rPr>
                  <a:t> Was the movement of the patty paper an example of isometry?</a:t>
                </a:r>
              </a:p>
              <a:p>
                <a:pPr marL="457200" indent="-457200">
                  <a:buFont typeface="+mj-lt"/>
                  <a:buAutoNum type="alphaLcPeriod" startAt="4"/>
                </a:pPr>
                <a:endParaRPr lang="en-US" sz="2000" dirty="0">
                  <a:latin typeface="Verdana" charset="0"/>
                  <a:ea typeface="Verdana" charset="0"/>
                  <a:cs typeface="Verdana" charset="0"/>
                </a:endParaRPr>
              </a:p>
              <a:p>
                <a:pPr marL="457200" indent="-457200">
                  <a:buFont typeface="+mj-lt"/>
                  <a:buAutoNum type="alphaLcPeriod" startAt="4"/>
                </a:pPr>
                <a:r>
                  <a:rPr lang="en-US" sz="2000" dirty="0">
                    <a:latin typeface="Verdana" charset="0"/>
                    <a:ea typeface="Verdana" charset="0"/>
                    <a:cs typeface="Verdana" charset="0"/>
                  </a:rPr>
                  <a:t> Determine if the copy of quadrilateral </a:t>
                </a:r>
                <a14:m>
                  <m:oMath xmlns:m="http://schemas.openxmlformats.org/officeDocument/2006/math">
                    <m:r>
                      <a:rPr lang="en-US" sz="2000" i="1">
                        <a:latin typeface="Cambria Math" panose="02040503050406030204" pitchFamily="18" charset="0"/>
                        <a:ea typeface="Verdana" charset="0"/>
                        <a:cs typeface="Verdana" charset="0"/>
                      </a:rPr>
                      <m:t>𝐾𝐷𝑅𝐹</m:t>
                    </m:r>
                  </m:oMath>
                </a14:m>
                <a:r>
                  <a:rPr lang="en-US" sz="2000" dirty="0">
                    <a:latin typeface="Verdana" charset="0"/>
                    <a:ea typeface="Verdana" charset="0"/>
                    <a:cs typeface="Verdana" charset="0"/>
                  </a:rPr>
                  <a:t> could be moved with just one transformation so that it lays on top of quadrilateral </a:t>
                </a:r>
                <a14:m>
                  <m:oMath xmlns:m="http://schemas.openxmlformats.org/officeDocument/2006/math">
                    <m:r>
                      <a:rPr lang="en-US" sz="2000" i="1">
                        <a:latin typeface="Cambria Math" panose="02040503050406030204" pitchFamily="18" charset="0"/>
                        <a:ea typeface="Verdana" charset="0"/>
                        <a:cs typeface="Verdana" charset="0"/>
                      </a:rPr>
                      <m:t>𝐾</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𝐷</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𝑅</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𝐹</m:t>
                    </m:r>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a:t>
                </a:r>
              </a:p>
              <a:p>
                <a:pPr marL="457200" indent="-457200">
                  <a:buFont typeface="+mj-lt"/>
                  <a:buAutoNum type="alphaLcPeriod" startAt="4"/>
                </a:pPr>
                <a:endParaRPr lang="en-US" sz="2000" dirty="0">
                  <a:latin typeface="Verdana" charset="0"/>
                  <a:ea typeface="Verdana" charset="0"/>
                  <a:cs typeface="Verdana" charset="0"/>
                </a:endParaRPr>
              </a:p>
              <a:p>
                <a:pPr marL="457200" indent="-457200">
                  <a:buFont typeface="+mj-lt"/>
                  <a:buAutoNum type="arabicPeriod" startAt="3"/>
                </a:pPr>
                <a:r>
                  <a:rPr lang="en-US" sz="2000" dirty="0">
                    <a:latin typeface="Verdana" charset="0"/>
                    <a:ea typeface="Verdana" charset="0"/>
                    <a:cs typeface="Verdana" charset="0"/>
                  </a:rPr>
                  <a:t>There is at least one other sequence of transformations that can be used to move the copy of quadrilateral </a:t>
                </a:r>
                <a14:m>
                  <m:oMath xmlns:m="http://schemas.openxmlformats.org/officeDocument/2006/math">
                    <m:r>
                      <a:rPr lang="en-US" sz="2000" i="1">
                        <a:latin typeface="Cambria Math" panose="02040503050406030204" pitchFamily="18" charset="0"/>
                        <a:ea typeface="Verdana" charset="0"/>
                        <a:cs typeface="Verdana" charset="0"/>
                      </a:rPr>
                      <m:t>𝐾𝐷𝑅𝐹</m:t>
                    </m:r>
                  </m:oMath>
                </a14:m>
                <a:r>
                  <a:rPr lang="en-US" sz="2000" dirty="0">
                    <a:latin typeface="Verdana" charset="0"/>
                    <a:ea typeface="Verdana" charset="0"/>
                    <a:cs typeface="Verdana" charset="0"/>
                  </a:rPr>
                  <a:t> so that it lays on top of quadrilateral </a:t>
                </a:r>
                <a14:m>
                  <m:oMath xmlns:m="http://schemas.openxmlformats.org/officeDocument/2006/math">
                    <m:r>
                      <a:rPr lang="en-US" sz="2000" i="1">
                        <a:latin typeface="Cambria Math" panose="02040503050406030204" pitchFamily="18" charset="0"/>
                        <a:ea typeface="Verdana" charset="0"/>
                        <a:cs typeface="Verdana" charset="0"/>
                      </a:rPr>
                      <m:t>𝐾</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𝐷</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𝑅</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𝐹</m:t>
                    </m:r>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 Work with your partner to describe one of these sequences of transformations.</a:t>
                </a:r>
              </a:p>
              <a:p>
                <a:pPr marL="457200" indent="-457200">
                  <a:buFont typeface="+mj-lt"/>
                  <a:buAutoNum type="arabicPeriod" startAt="3"/>
                </a:pPr>
                <a:endParaRPr lang="en-US" sz="2000" dirty="0">
                  <a:latin typeface="Verdana" charset="0"/>
                  <a:ea typeface="Verdana" charset="0"/>
                  <a:cs typeface="Verdana" charset="0"/>
                </a:endParaRP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540564" y="162533"/>
                <a:ext cx="11087586" cy="5324535"/>
              </a:xfrm>
              <a:prstGeom prst="rect">
                <a:avLst/>
              </a:prstGeom>
              <a:blipFill>
                <a:blip r:embed="rId4"/>
                <a:stretch>
                  <a:fillRect l="-605" t="-802"/>
                </a:stretch>
              </a:blipFill>
            </p:spPr>
            <p:txBody>
              <a:bodyPr/>
              <a:lstStyle/>
              <a:p>
                <a:r>
                  <a:rPr lang="en-US">
                    <a:noFill/>
                  </a:rPr>
                  <a:t> </a:t>
                </a:r>
              </a:p>
            </p:txBody>
          </p:sp>
        </mc:Fallback>
      </mc:AlternateContent>
    </p:spTree>
    <p:extLst>
      <p:ext uri="{BB962C8B-B14F-4D97-AF65-F5344CB8AC3E}">
        <p14:creationId xmlns:p14="http://schemas.microsoft.com/office/powerpoint/2010/main" val="18162160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210</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B74EB5C6-2FDE-474B-866F-02AD6706D73C}"/>
                  </a:ext>
                </a:extLst>
              </p:cNvPr>
              <p:cNvSpPr txBox="1"/>
              <p:nvPr/>
            </p:nvSpPr>
            <p:spPr>
              <a:xfrm>
                <a:off x="540564" y="382314"/>
                <a:ext cx="11087585" cy="707886"/>
              </a:xfrm>
              <a:prstGeom prst="rect">
                <a:avLst/>
              </a:prstGeom>
              <a:noFill/>
            </p:spPr>
            <p:txBody>
              <a:bodyPr wrap="square" rtlCol="0">
                <a:spAutoFit/>
              </a:bodyPr>
              <a:lstStyle/>
              <a:p>
                <a:pPr marL="457200" indent="-457200">
                  <a:buFont typeface="+mj-lt"/>
                  <a:buAutoNum type="arabicPeriod" startAt="4"/>
                </a:pPr>
                <a:r>
                  <a:rPr lang="en-US" sz="2000" dirty="0">
                    <a:latin typeface="Verdana" charset="0"/>
                    <a:ea typeface="Verdana" charset="0"/>
                    <a:cs typeface="Verdana" charset="0"/>
                  </a:rPr>
                  <a:t>The coordinate grid shows a different sequence of transformations of quadrilateral </a:t>
                </a:r>
                <a14:m>
                  <m:oMath xmlns:m="http://schemas.openxmlformats.org/officeDocument/2006/math">
                    <m:r>
                      <a:rPr lang="en-US" sz="2000" i="1">
                        <a:latin typeface="Cambria Math" panose="02040503050406030204" pitchFamily="18" charset="0"/>
                        <a:ea typeface="Verdana" charset="0"/>
                        <a:cs typeface="Verdana" charset="0"/>
                      </a:rPr>
                      <m:t>𝐾𝐷𝑅𝐹</m:t>
                    </m:r>
                  </m:oMath>
                </a14:m>
                <a:r>
                  <a:rPr lang="en-US" sz="2000" dirty="0">
                    <a:latin typeface="Verdana" charset="0"/>
                    <a:ea typeface="Verdana" charset="0"/>
                    <a:cs typeface="Verdana" charset="0"/>
                  </a:rPr>
                  <a:t>. </a:t>
                </a: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540564" y="382314"/>
                <a:ext cx="11087585" cy="707886"/>
              </a:xfrm>
              <a:prstGeom prst="rect">
                <a:avLst/>
              </a:prstGeom>
              <a:blipFill>
                <a:blip r:embed="rId4"/>
                <a:stretch>
                  <a:fillRect l="-605" t="-6034" b="-14655"/>
                </a:stretch>
              </a:blipFill>
            </p:spPr>
            <p:txBody>
              <a:bodyPr/>
              <a:lstStyle/>
              <a:p>
                <a:r>
                  <a:rPr lang="en-US">
                    <a:noFill/>
                  </a:rPr>
                  <a:t> </a:t>
                </a:r>
              </a:p>
            </p:txBody>
          </p:sp>
        </mc:Fallback>
      </mc:AlternateContent>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054146" y="1090201"/>
            <a:ext cx="5299974" cy="3815981"/>
          </a:xfrm>
          <a:prstGeom prst="rect">
            <a:avLst/>
          </a:prstGeom>
        </p:spPr>
      </p:pic>
      <mc:AlternateContent xmlns:mc="http://schemas.openxmlformats.org/markup-compatibility/2006" xmlns:a14="http://schemas.microsoft.com/office/drawing/2010/main">
        <mc:Choice Requires="a14">
          <p:sp>
            <p:nvSpPr>
              <p:cNvPr id="3" name="Rectangle 2"/>
              <p:cNvSpPr/>
              <p:nvPr/>
            </p:nvSpPr>
            <p:spPr>
              <a:xfrm>
                <a:off x="540564" y="5024322"/>
                <a:ext cx="10983359" cy="1015663"/>
              </a:xfrm>
              <a:prstGeom prst="rect">
                <a:avLst/>
              </a:prstGeom>
            </p:spPr>
            <p:txBody>
              <a:bodyPr wrap="square">
                <a:spAutoFit/>
              </a:bodyPr>
              <a:lstStyle/>
              <a:p>
                <a:pPr marL="457200"/>
                <a:r>
                  <a:rPr lang="en-US" sz="2000" dirty="0">
                    <a:latin typeface="Verdana" charset="0"/>
                    <a:ea typeface="Verdana" charset="0"/>
                    <a:cs typeface="Verdana" charset="0"/>
                  </a:rPr>
                  <a:t>Describe what movements should be done with your patty paper copy of quadrilateral </a:t>
                </a:r>
                <a14:m>
                  <m:oMath xmlns:m="http://schemas.openxmlformats.org/officeDocument/2006/math">
                    <m:r>
                      <a:rPr lang="en-US" sz="2000" i="1">
                        <a:latin typeface="Cambria Math" panose="02040503050406030204" pitchFamily="18" charset="0"/>
                        <a:ea typeface="Verdana" charset="0"/>
                        <a:cs typeface="Verdana" charset="0"/>
                      </a:rPr>
                      <m:t>𝐾𝐷𝑅𝐹</m:t>
                    </m:r>
                  </m:oMath>
                </a14:m>
                <a:r>
                  <a:rPr lang="en-US" sz="2000" dirty="0">
                    <a:latin typeface="Verdana" charset="0"/>
                    <a:ea typeface="Verdana" charset="0"/>
                    <a:cs typeface="Verdana" charset="0"/>
                  </a:rPr>
                  <a:t> so that the copy of quadrilateral </a:t>
                </a:r>
                <a14:m>
                  <m:oMath xmlns:m="http://schemas.openxmlformats.org/officeDocument/2006/math">
                    <m:r>
                      <a:rPr lang="en-US" sz="2000" i="1">
                        <a:latin typeface="Cambria Math" panose="02040503050406030204" pitchFamily="18" charset="0"/>
                        <a:ea typeface="Verdana" charset="0"/>
                        <a:cs typeface="Verdana" charset="0"/>
                      </a:rPr>
                      <m:t>𝐾𝐷𝑅𝐹</m:t>
                    </m:r>
                  </m:oMath>
                </a14:m>
                <a:r>
                  <a:rPr lang="en-US" sz="2000" dirty="0">
                    <a:latin typeface="Verdana" charset="0"/>
                    <a:ea typeface="Verdana" charset="0"/>
                    <a:cs typeface="Verdana" charset="0"/>
                  </a:rPr>
                  <a:t> lays on top of quadrilateral </a:t>
                </a:r>
                <a14:m>
                  <m:oMath xmlns:m="http://schemas.openxmlformats.org/officeDocument/2006/math">
                    <m:r>
                      <a:rPr lang="en-US" sz="2000" i="1">
                        <a:latin typeface="Cambria Math" panose="02040503050406030204" pitchFamily="18" charset="0"/>
                        <a:ea typeface="Verdana" charset="0"/>
                        <a:cs typeface="Verdana" charset="0"/>
                      </a:rPr>
                      <m:t>𝐾</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𝐷</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𝑅</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𝐹</m:t>
                    </m:r>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 by first laying on top of quadrilateral</a:t>
                </a:r>
                <a14:m>
                  <m:oMath xmlns:m="http://schemas.openxmlformats.org/officeDocument/2006/math">
                    <m:r>
                      <a:rPr lang="en-US" sz="2000" i="1">
                        <a:latin typeface="Cambria Math" panose="02040503050406030204" pitchFamily="18" charset="0"/>
                        <a:ea typeface="Verdana" charset="0"/>
                        <a:cs typeface="Verdana" charset="0"/>
                      </a:rPr>
                      <m:t> </m:t>
                    </m:r>
                    <m:r>
                      <a:rPr lang="en-US" sz="2000" i="1">
                        <a:latin typeface="Cambria Math" panose="02040503050406030204" pitchFamily="18" charset="0"/>
                        <a:ea typeface="Verdana" charset="0"/>
                        <a:cs typeface="Verdana" charset="0"/>
                      </a:rPr>
                      <m:t>𝐾</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𝐷</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𝑅</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𝐹</m:t>
                    </m:r>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a:t>
                </a:r>
              </a:p>
            </p:txBody>
          </p:sp>
        </mc:Choice>
        <mc:Fallback xmlns="">
          <p:sp>
            <p:nvSpPr>
              <p:cNvPr id="3" name="Rectangle 2"/>
              <p:cNvSpPr>
                <a:spLocks noRot="1" noChangeAspect="1" noMove="1" noResize="1" noEditPoints="1" noAdjustHandles="1" noChangeArrowheads="1" noChangeShapeType="1" noTextEdit="1"/>
              </p:cNvSpPr>
              <p:nvPr/>
            </p:nvSpPr>
            <p:spPr>
              <a:xfrm>
                <a:off x="540564" y="5024322"/>
                <a:ext cx="10983359" cy="1015663"/>
              </a:xfrm>
              <a:prstGeom prst="rect">
                <a:avLst/>
              </a:prstGeom>
              <a:blipFill>
                <a:blip r:embed="rId6"/>
                <a:stretch>
                  <a:fillRect t="-2994" b="-9581"/>
                </a:stretch>
              </a:blipFill>
            </p:spPr>
            <p:txBody>
              <a:bodyPr/>
              <a:lstStyle/>
              <a:p>
                <a:r>
                  <a:rPr lang="en-US">
                    <a:noFill/>
                  </a:rPr>
                  <a:t> </a:t>
                </a:r>
              </a:p>
            </p:txBody>
          </p:sp>
        </mc:Fallback>
      </mc:AlternateContent>
    </p:spTree>
    <p:extLst>
      <p:ext uri="{BB962C8B-B14F-4D97-AF65-F5344CB8AC3E}">
        <p14:creationId xmlns:p14="http://schemas.microsoft.com/office/powerpoint/2010/main" val="9326942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Bring It Together</a:t>
            </a:r>
            <a:endParaRPr sz="5100" b="1" dirty="0">
              <a:solidFill>
                <a:srgbClr val="26B7D4"/>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xmlns="" id="{33005AFD-D615-1344-BDC0-5A40F6454816}"/>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211</a:t>
            </a:r>
          </a:p>
        </p:txBody>
      </p:sp>
      <p:pic>
        <p:nvPicPr>
          <p:cNvPr id="13314" name="Picture 2" descr="Icon&#10;&#10;Description automatically generated">
            <a:extLst>
              <a:ext uri="{FF2B5EF4-FFF2-40B4-BE49-F238E27FC236}">
                <a16:creationId xmlns:a16="http://schemas.microsoft.com/office/drawing/2014/main" xmlns="" id="{31E4CCCA-703A-4C46-A49C-ABEAC0061CD4}"/>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705255"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60658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4602"/>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9158"/>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052650" y="0"/>
            <a:ext cx="1047127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4.6.4 Bring It Together: Definition of Congruence in Terms of Rigid Motions</a:t>
            </a:r>
          </a:p>
        </p:txBody>
      </p:sp>
      <p:sp>
        <p:nvSpPr>
          <p:cNvPr id="12" name="Google Shape;282;g104476d1465_1_17">
            <a:extLst>
              <a:ext uri="{FF2B5EF4-FFF2-40B4-BE49-F238E27FC236}">
                <a16:creationId xmlns:a16="http://schemas.microsoft.com/office/drawing/2014/main" xmlns="" id="{B2B1ECCC-8E07-F247-BB16-7B958B8E6B20}"/>
              </a:ext>
            </a:extLst>
          </p:cNvPr>
          <p:cNvSpPr txBox="1"/>
          <p:nvPr/>
        </p:nvSpPr>
        <p:spPr>
          <a:xfrm>
            <a:off x="8889924" y="6456233"/>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211</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xmlns="" id="{669E00F9-F39F-5043-888E-B0A2D8C9AE0F}"/>
                  </a:ext>
                </a:extLst>
              </p:cNvPr>
              <p:cNvSpPr txBox="1"/>
              <p:nvPr/>
            </p:nvSpPr>
            <p:spPr>
              <a:xfrm>
                <a:off x="593248" y="1398853"/>
                <a:ext cx="8327136" cy="4708981"/>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For both sequences of transformations of quadrilateral </a:t>
                </a:r>
              </a:p>
              <a:p>
                <a:r>
                  <a:rPr lang="en-US" sz="2000" dirty="0">
                    <a:latin typeface="Verdana" charset="0"/>
                    <a:ea typeface="Verdana" charset="0"/>
                    <a:cs typeface="Verdana" charset="0"/>
                  </a:rPr>
                  <a:t> </a:t>
                </a:r>
              </a:p>
              <a:p>
                <a14:m>
                  <m:oMath xmlns:m="http://schemas.openxmlformats.org/officeDocument/2006/math">
                    <m:r>
                      <a:rPr lang="en-US" sz="2000" i="1">
                        <a:latin typeface="Cambria Math" panose="02040503050406030204" pitchFamily="18" charset="0"/>
                        <a:ea typeface="Verdana" charset="0"/>
                        <a:cs typeface="Verdana" charset="0"/>
                      </a:rPr>
                      <m:t>𝐾𝐷𝑅𝐹</m:t>
                    </m:r>
                  </m:oMath>
                </a14:m>
                <a:r>
                  <a:rPr lang="en-US" sz="2000" dirty="0">
                    <a:latin typeface="Verdana" charset="0"/>
                    <a:ea typeface="Verdana" charset="0"/>
                    <a:cs typeface="Verdana" charset="0"/>
                  </a:rPr>
                  <a:t>, the paper copy of quadrilateral </a:t>
                </a:r>
                <a14:m>
                  <m:oMath xmlns:m="http://schemas.openxmlformats.org/officeDocument/2006/math">
                    <m:r>
                      <a:rPr lang="en-US" sz="2000" i="1">
                        <a:latin typeface="Cambria Math" panose="02040503050406030204" pitchFamily="18" charset="0"/>
                        <a:ea typeface="Verdana" charset="0"/>
                        <a:cs typeface="Verdana" charset="0"/>
                      </a:rPr>
                      <m:t>𝐾𝐷𝑅𝐹</m:t>
                    </m:r>
                  </m:oMath>
                </a14:m>
                <a:r>
                  <a:rPr lang="en-US" sz="2000" dirty="0">
                    <a:latin typeface="Verdana" charset="0"/>
                    <a:ea typeface="Verdana" charset="0"/>
                    <a:cs typeface="Verdana" charset="0"/>
                  </a:rPr>
                  <a:t> was</a:t>
                </a:r>
              </a:p>
              <a:p>
                <a:endParaRPr lang="en-US" sz="2000" dirty="0">
                  <a:latin typeface="Verdana" charset="0"/>
                  <a:ea typeface="Verdana" charset="0"/>
                  <a:cs typeface="Verdana" charset="0"/>
                </a:endParaRPr>
              </a:p>
              <a:p>
                <a:r>
                  <a:rPr lang="en-US" sz="2000" dirty="0">
                    <a:latin typeface="Verdana" charset="0"/>
                    <a:ea typeface="Verdana" charset="0"/>
                    <a:cs typeface="Verdana" charset="0"/>
                  </a:rPr>
                  <a:t>to                                         The transformations </a:t>
                </a: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r>
                  <a:rPr lang="en-US" sz="2000" dirty="0">
                    <a:latin typeface="Verdana" charset="0"/>
                    <a:ea typeface="Verdana" charset="0"/>
                    <a:cs typeface="Verdana" charset="0"/>
                  </a:rPr>
                  <a:t>used in both sequences were</a:t>
                </a: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r>
                  <a:rPr lang="en-US" sz="2000" dirty="0">
                    <a:latin typeface="Verdana" charset="0"/>
                    <a:ea typeface="Verdana" charset="0"/>
                    <a:cs typeface="Verdana" charset="0"/>
                  </a:rPr>
                  <a:t>All of the points of</a:t>
                </a: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r>
                  <a:rPr lang="en-US" sz="2000" dirty="0">
                    <a:latin typeface="Verdana" charset="0"/>
                    <a:ea typeface="Verdana" charset="0"/>
                    <a:cs typeface="Verdana" charset="0"/>
                  </a:rPr>
                  <a:t>can be mapped to all of  the points of </a:t>
                </a:r>
                <a14:m>
                  <m:oMath xmlns:m="http://schemas.openxmlformats.org/officeDocument/2006/math">
                    <m:r>
                      <a:rPr lang="en-US" sz="2000" i="1">
                        <a:latin typeface="Cambria Math" panose="02040503050406030204" pitchFamily="18" charset="0"/>
                      </a:rPr>
                      <m:t>𝐾𝐷𝑅𝐹</m:t>
                    </m:r>
                    <m:r>
                      <a:rPr lang="en-US" sz="2000" i="1">
                        <a:latin typeface="Cambria Math" panose="02040503050406030204" pitchFamily="18" charset="0"/>
                      </a:rPr>
                      <m:t>.</m:t>
                    </m:r>
                  </m:oMath>
                </a14:m>
                <a:endParaRPr lang="en-US" sz="2000" dirty="0"/>
              </a:p>
              <a:p>
                <a:endParaRPr lang="en-US" sz="2000" dirty="0">
                  <a:latin typeface="Verdana" charset="0"/>
                  <a:ea typeface="Verdana" charset="0"/>
                  <a:cs typeface="Verdana" charset="0"/>
                </a:endParaRPr>
              </a:p>
            </p:txBody>
          </p:sp>
        </mc:Choice>
        <mc:Fallback xmlns="">
          <p:sp>
            <p:nvSpPr>
              <p:cNvPr id="8" name="TextBox 7">
                <a:extLst>
                  <a:ext uri="{FF2B5EF4-FFF2-40B4-BE49-F238E27FC236}">
                    <a16:creationId xmlns:a16="http://schemas.microsoft.com/office/drawing/2014/main" id="{669E00F9-F39F-5043-888E-B0A2D8C9AE0F}"/>
                  </a:ext>
                </a:extLst>
              </p:cNvPr>
              <p:cNvSpPr txBox="1">
                <a:spLocks noRot="1" noChangeAspect="1" noMove="1" noResize="1" noEditPoints="1" noAdjustHandles="1" noChangeArrowheads="1" noChangeShapeType="1" noTextEdit="1"/>
              </p:cNvSpPr>
              <p:nvPr/>
            </p:nvSpPr>
            <p:spPr>
              <a:xfrm>
                <a:off x="593248" y="1398853"/>
                <a:ext cx="8327136" cy="4708981"/>
              </a:xfrm>
              <a:prstGeom prst="rect">
                <a:avLst/>
              </a:prstGeom>
              <a:blipFill>
                <a:blip r:embed="rId4"/>
                <a:stretch>
                  <a:fillRect l="-805" t="-776"/>
                </a:stretch>
              </a:blipFill>
            </p:spPr>
            <p:txBody>
              <a:bodyPr/>
              <a:lstStyle/>
              <a:p>
                <a:r>
                  <a:rPr lang="en-US">
                    <a:noFill/>
                  </a:rPr>
                  <a:t> </a:t>
                </a:r>
              </a:p>
            </p:txBody>
          </p:sp>
        </mc:Fallback>
      </mc:AlternateContent>
      <p:pic>
        <p:nvPicPr>
          <p:cNvPr id="2" name="Picture 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6862150" y="1833102"/>
            <a:ext cx="2209800" cy="850900"/>
          </a:xfrm>
          <a:prstGeom prst="rect">
            <a:avLst/>
          </a:prstGeom>
        </p:spPr>
      </p:pic>
      <p:pic>
        <p:nvPicPr>
          <p:cNvPr id="3" name="Picture 2"/>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1052650" y="2407170"/>
            <a:ext cx="3454400" cy="1130300"/>
          </a:xfrm>
          <a:prstGeom prst="rect">
            <a:avLst/>
          </a:prstGeom>
        </p:spPr>
      </p:pic>
      <p:pic>
        <p:nvPicPr>
          <p:cNvPr id="4" name="Picture 3"/>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4576150" y="3136833"/>
            <a:ext cx="3390900" cy="1054100"/>
          </a:xfrm>
          <a:prstGeom prst="rect">
            <a:avLst/>
          </a:prstGeom>
        </p:spPr>
      </p:pic>
      <p:pic>
        <p:nvPicPr>
          <p:cNvPr id="5" name="Picture 4"/>
          <p:cNvPicPr>
            <a:picLocks noChangeAspect="1"/>
          </p:cNvPicPr>
          <p:nvPr/>
        </p:nvPicPr>
        <p:blipFill>
          <a:blip r:embed="rId8">
            <a:extLst>
              <a:ext uri="{28A0092B-C50C-407E-A947-70E740481C1C}">
                <a14:useLocalDpi xmlns:a14="http://schemas.microsoft.com/office/drawing/2010/main"/>
              </a:ext>
            </a:extLst>
          </a:blip>
          <a:stretch>
            <a:fillRect/>
          </a:stretch>
        </p:blipFill>
        <p:spPr>
          <a:xfrm>
            <a:off x="3105142" y="4183251"/>
            <a:ext cx="3581400" cy="1092200"/>
          </a:xfrm>
          <a:prstGeom prst="rect">
            <a:avLst/>
          </a:prstGeom>
        </p:spPr>
      </p:pic>
      <p:pic>
        <p:nvPicPr>
          <p:cNvPr id="13" name="Picture 2" descr="Icon&#10;&#10;Description automatically generated">
            <a:extLst>
              <a:ext uri="{FF2B5EF4-FFF2-40B4-BE49-F238E27FC236}">
                <a16:creationId xmlns:a16="http://schemas.microsoft.com/office/drawing/2014/main" xmlns="" id="{9CB0AE63-3BE3-3046-B894-8215C4BDD743}"/>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302842" y="229083"/>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98569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211</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A08C1C0E-C7C0-F14B-88E2-57B6133AD69D}"/>
                  </a:ext>
                </a:extLst>
              </p:cNvPr>
              <p:cNvSpPr txBox="1"/>
              <p:nvPr/>
            </p:nvSpPr>
            <p:spPr>
              <a:xfrm>
                <a:off x="540565" y="2731551"/>
                <a:ext cx="10211010" cy="1039772"/>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Use the definition of congruence in terms of rigid motions to explain how both sequences of transformations for quadrilateral </a:t>
                </a:r>
                <a14:m>
                  <m:oMath xmlns:m="http://schemas.openxmlformats.org/officeDocument/2006/math">
                    <m:r>
                      <a:rPr lang="en-US" sz="2000" i="1">
                        <a:latin typeface="Cambria Math" panose="02040503050406030204" pitchFamily="18" charset="0"/>
                        <a:ea typeface="Verdana" charset="0"/>
                        <a:cs typeface="Verdana" charset="0"/>
                      </a:rPr>
                      <m:t>𝐾𝐷𝑅𝐹</m:t>
                    </m:r>
                  </m:oMath>
                </a14:m>
                <a:r>
                  <a:rPr lang="en-US" sz="2000" dirty="0">
                    <a:latin typeface="Verdana" charset="0"/>
                    <a:ea typeface="Verdana" charset="0"/>
                    <a:cs typeface="Verdana" charset="0"/>
                  </a:rPr>
                  <a:t> resulted in </a:t>
                </a:r>
                <a14:m>
                  <m:oMath xmlns:m="http://schemas.openxmlformats.org/officeDocument/2006/math">
                    <m:r>
                      <a:rPr lang="en-US" sz="2000" i="1">
                        <a:latin typeface="Cambria Math" panose="02040503050406030204" pitchFamily="18" charset="0"/>
                        <a:ea typeface="Verdana" charset="0"/>
                        <a:cs typeface="Verdana" charset="0"/>
                      </a:rPr>
                      <m:t>𝐾𝐷𝑅𝐹</m:t>
                    </m:r>
                    <m:r>
                      <a:rPr lang="en-US" sz="2000" i="1">
                        <a:latin typeface="Cambria Math" panose="02040503050406030204" pitchFamily="18" charset="0"/>
                        <a:ea typeface="Verdana" charset="0"/>
                        <a:cs typeface="Verdana" charset="0"/>
                      </a:rPr>
                      <m:t>≅</m:t>
                    </m:r>
                    <m:sSup>
                      <m:sSupPr>
                        <m:ctrlPr>
                          <a:rPr lang="en-US" sz="2000" i="1">
                            <a:latin typeface="Cambria Math" charset="0"/>
                            <a:ea typeface="Verdana" charset="0"/>
                            <a:cs typeface="Verdana" charset="0"/>
                          </a:rPr>
                        </m:ctrlPr>
                      </m:sSupPr>
                      <m:e>
                        <m:r>
                          <a:rPr lang="en-US" sz="2000" i="1">
                            <a:latin typeface="Cambria Math" panose="02040503050406030204" pitchFamily="18" charset="0"/>
                            <a:ea typeface="Verdana" charset="0"/>
                            <a:cs typeface="Verdana" charset="0"/>
                          </a:rPr>
                          <m:t>𝐾</m:t>
                        </m:r>
                      </m:e>
                      <m:sup>
                        <m:r>
                          <a:rPr lang="en-US" sz="2000" i="1">
                            <a:latin typeface="Cambria Math" panose="02040503050406030204" pitchFamily="18" charset="0"/>
                            <a:ea typeface="Verdana" charset="0"/>
                            <a:cs typeface="Verdana" charset="0"/>
                          </a:rPr>
                          <m:t>′′</m:t>
                        </m:r>
                      </m:sup>
                    </m:sSup>
                    <m:sSup>
                      <m:sSupPr>
                        <m:ctrlPr>
                          <a:rPr lang="en-US" sz="2000" i="1">
                            <a:latin typeface="Cambria Math" charset="0"/>
                            <a:ea typeface="Verdana" charset="0"/>
                            <a:cs typeface="Verdana" charset="0"/>
                          </a:rPr>
                        </m:ctrlPr>
                      </m:sSupPr>
                      <m:e>
                        <m:r>
                          <a:rPr lang="en-US" sz="2000" i="1">
                            <a:latin typeface="Cambria Math" panose="02040503050406030204" pitchFamily="18" charset="0"/>
                            <a:ea typeface="Verdana" charset="0"/>
                            <a:cs typeface="Verdana" charset="0"/>
                          </a:rPr>
                          <m:t>𝐷</m:t>
                        </m:r>
                      </m:e>
                      <m:sup>
                        <m:r>
                          <a:rPr lang="en-US" sz="2000" i="1">
                            <a:latin typeface="Cambria Math" panose="02040503050406030204" pitchFamily="18" charset="0"/>
                            <a:ea typeface="Verdana" charset="0"/>
                            <a:cs typeface="Verdana" charset="0"/>
                          </a:rPr>
                          <m:t>′′</m:t>
                        </m:r>
                      </m:sup>
                    </m:sSup>
                    <m:sSup>
                      <m:sSupPr>
                        <m:ctrlPr>
                          <a:rPr lang="en-US" sz="2000" i="1">
                            <a:latin typeface="Cambria Math" charset="0"/>
                            <a:ea typeface="Verdana" charset="0"/>
                            <a:cs typeface="Verdana" charset="0"/>
                          </a:rPr>
                        </m:ctrlPr>
                      </m:sSupPr>
                      <m:e>
                        <m:r>
                          <a:rPr lang="en-US" sz="2000" i="1">
                            <a:latin typeface="Cambria Math" panose="02040503050406030204" pitchFamily="18" charset="0"/>
                            <a:ea typeface="Verdana" charset="0"/>
                            <a:cs typeface="Verdana" charset="0"/>
                          </a:rPr>
                          <m:t>𝑅</m:t>
                        </m:r>
                      </m:e>
                      <m:sup>
                        <m:r>
                          <a:rPr lang="en-US" sz="2000" i="1">
                            <a:latin typeface="Cambria Math" panose="02040503050406030204" pitchFamily="18" charset="0"/>
                            <a:ea typeface="Verdana" charset="0"/>
                            <a:cs typeface="Verdana" charset="0"/>
                          </a:rPr>
                          <m:t>′′</m:t>
                        </m:r>
                      </m:sup>
                    </m:sSup>
                    <m:sSup>
                      <m:sSupPr>
                        <m:ctrlPr>
                          <a:rPr lang="en-US" sz="2000" i="1">
                            <a:latin typeface="Cambria Math" charset="0"/>
                            <a:ea typeface="Verdana" charset="0"/>
                            <a:cs typeface="Verdana" charset="0"/>
                          </a:rPr>
                        </m:ctrlPr>
                      </m:sSupPr>
                      <m:e>
                        <m:r>
                          <a:rPr lang="en-US" sz="2000" i="1">
                            <a:latin typeface="Cambria Math" panose="02040503050406030204" pitchFamily="18" charset="0"/>
                            <a:ea typeface="Verdana" charset="0"/>
                            <a:cs typeface="Verdana" charset="0"/>
                          </a:rPr>
                          <m:t>𝐹</m:t>
                        </m:r>
                      </m:e>
                      <m:sup>
                        <m:r>
                          <a:rPr lang="en-US" sz="2000" i="1">
                            <a:latin typeface="Cambria Math" panose="02040503050406030204" pitchFamily="18" charset="0"/>
                            <a:ea typeface="Verdana" charset="0"/>
                            <a:cs typeface="Verdana" charset="0"/>
                          </a:rPr>
                          <m:t>′′</m:t>
                        </m:r>
                      </m:sup>
                    </m:sSup>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 </a:t>
                </a:r>
              </a:p>
            </p:txBody>
          </p:sp>
        </mc:Choice>
        <mc:Fallback xmlns="">
          <p:sp>
            <p:nvSpPr>
              <p:cNvPr id="5" name="TextBox 4">
                <a:extLst>
                  <a:ext uri="{FF2B5EF4-FFF2-40B4-BE49-F238E27FC236}">
                    <a16:creationId xmlns:a16="http://schemas.microsoft.com/office/drawing/2014/main" id="{A08C1C0E-C7C0-F14B-88E2-57B6133AD69D}"/>
                  </a:ext>
                </a:extLst>
              </p:cNvPr>
              <p:cNvSpPr txBox="1">
                <a:spLocks noRot="1" noChangeAspect="1" noMove="1" noResize="1" noEditPoints="1" noAdjustHandles="1" noChangeArrowheads="1" noChangeShapeType="1" noTextEdit="1"/>
              </p:cNvSpPr>
              <p:nvPr/>
            </p:nvSpPr>
            <p:spPr>
              <a:xfrm>
                <a:off x="540565" y="2731551"/>
                <a:ext cx="10211010" cy="1039772"/>
              </a:xfrm>
              <a:prstGeom prst="rect">
                <a:avLst/>
              </a:prstGeom>
              <a:blipFill>
                <a:blip r:embed="rId4"/>
                <a:stretch>
                  <a:fillRect l="-657" t="-4094"/>
                </a:stretch>
              </a:blipFill>
            </p:spPr>
            <p:txBody>
              <a:bodyPr/>
              <a:lstStyle/>
              <a:p>
                <a:r>
                  <a:rPr lang="en-US">
                    <a:noFill/>
                  </a:rPr>
                  <a:t> </a:t>
                </a:r>
              </a:p>
            </p:txBody>
          </p:sp>
        </mc:Fallback>
      </mc:AlternateContent>
      <p:sp>
        <p:nvSpPr>
          <p:cNvPr id="7" name="Text Box 40"/>
          <p:cNvSpPr txBox="1"/>
          <p:nvPr/>
        </p:nvSpPr>
        <p:spPr>
          <a:xfrm>
            <a:off x="1442116" y="319353"/>
            <a:ext cx="6629400" cy="1938805"/>
          </a:xfrm>
          <a:prstGeom prst="roundRect">
            <a:avLst/>
          </a:prstGeom>
          <a:blipFill dpi="0" rotWithShape="1">
            <a:blip r:embed="rId5">
              <a:extLst>
                <a:ext uri="{28A0092B-C50C-407E-A947-70E740481C1C}">
                  <a14:useLocalDpi xmlns:a14="http://schemas.microsoft.com/office/drawing/2010/main"/>
                </a:ext>
              </a:extLst>
            </a:blip>
            <a:srcRect/>
            <a:stretch>
              <a:fillRect/>
            </a:stretch>
          </a:blip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685800">
              <a:spcAft>
                <a:spcPts val="1000"/>
              </a:spcAft>
            </a:pPr>
            <a:r>
              <a:rPr lang="en-US" sz="2000" b="1" i="1" dirty="0">
                <a:solidFill>
                  <a:srgbClr val="0070C0"/>
                </a:solidFill>
                <a:latin typeface="Verdana" charset="0"/>
                <a:ea typeface="Verdana" charset="0"/>
                <a:cs typeface="Verdana" charset="0"/>
              </a:rPr>
              <a:t>Definition of Congruence in Terms of Rigid Motions </a:t>
            </a:r>
          </a:p>
          <a:p>
            <a:r>
              <a:rPr lang="en-US" sz="2000" dirty="0">
                <a:solidFill>
                  <a:srgbClr val="0070C0"/>
                </a:solidFill>
                <a:latin typeface="Verdana" charset="0"/>
                <a:ea typeface="Verdana" charset="0"/>
                <a:cs typeface="Verdana" charset="0"/>
              </a:rPr>
              <a:t>	Two figures are congruent if and only if 	there exists one or more rigid motions, 	which will map one figure onto the other.</a:t>
            </a:r>
          </a:p>
        </p:txBody>
      </p:sp>
      <p:pic>
        <p:nvPicPr>
          <p:cNvPr id="3" name="Picture 2"/>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1623453" y="1023579"/>
            <a:ext cx="542544" cy="530352"/>
          </a:xfrm>
          <a:prstGeom prst="rect">
            <a:avLst/>
          </a:prstGeom>
        </p:spPr>
      </p:pic>
    </p:spTree>
    <p:extLst>
      <p:ext uri="{BB962C8B-B14F-4D97-AF65-F5344CB8AC3E}">
        <p14:creationId xmlns:p14="http://schemas.microsoft.com/office/powerpoint/2010/main" val="7722731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212</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89924" y="6449157"/>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212</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208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134800" y="-148086"/>
            <a:ext cx="899734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4.6.5 Wrap-Up: Growth Mindset</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4">
            <a:alphaModFix/>
          </a:blip>
          <a:srcRect/>
          <a:stretch/>
        </p:blipFill>
        <p:spPr>
          <a:xfrm>
            <a:off x="305350" y="68550"/>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xmlns="" id="{0370EDB7-6994-3D43-ABF9-E04CBAFB9CD9}"/>
              </a:ext>
            </a:extLst>
          </p:cNvPr>
          <p:cNvSpPr txBox="1"/>
          <p:nvPr/>
        </p:nvSpPr>
        <p:spPr>
          <a:xfrm>
            <a:off x="593248" y="1394250"/>
            <a:ext cx="8327136" cy="4093428"/>
          </a:xfrm>
          <a:prstGeom prst="rect">
            <a:avLst/>
          </a:prstGeom>
          <a:noFill/>
        </p:spPr>
        <p:txBody>
          <a:bodyPr wrap="square" rtlCol="0">
            <a:spAutoFit/>
          </a:bodyPr>
          <a:lstStyle/>
          <a:p>
            <a:r>
              <a:rPr lang="en-US" sz="2000" dirty="0">
                <a:latin typeface="Verdana" charset="0"/>
                <a:ea typeface="Verdana" charset="0"/>
                <a:cs typeface="Verdana" charset="0"/>
              </a:rPr>
              <a:t>The power of “YET.”  </a:t>
            </a:r>
          </a:p>
          <a:p>
            <a:r>
              <a:rPr lang="en-US" sz="2000" dirty="0">
                <a:latin typeface="Verdana" charset="0"/>
                <a:ea typeface="Verdana" charset="0"/>
                <a:cs typeface="Verdana" charset="0"/>
              </a:rPr>
              <a:t> </a:t>
            </a:r>
          </a:p>
          <a:p>
            <a:r>
              <a:rPr lang="en-US" sz="2000" dirty="0">
                <a:latin typeface="Verdana" charset="0"/>
                <a:ea typeface="Verdana" charset="0"/>
                <a:cs typeface="Verdana" charset="0"/>
              </a:rPr>
              <a:t>“The power of believing that you can improve.” - Carol </a:t>
            </a:r>
            <a:r>
              <a:rPr lang="en-US" sz="2000" dirty="0" err="1">
                <a:latin typeface="Verdana" charset="0"/>
                <a:ea typeface="Verdana" charset="0"/>
                <a:cs typeface="Verdana" charset="0"/>
              </a:rPr>
              <a:t>Dweck</a:t>
            </a:r>
            <a:endParaRPr lang="en-US" sz="2000" dirty="0">
              <a:latin typeface="Verdana" charset="0"/>
              <a:ea typeface="Verdana" charset="0"/>
              <a:cs typeface="Verdana" charset="0"/>
            </a:endParaRPr>
          </a:p>
          <a:p>
            <a:r>
              <a:rPr lang="en-US" sz="2000" dirty="0">
                <a:latin typeface="Verdana" charset="0"/>
                <a:ea typeface="Verdana" charset="0"/>
                <a:cs typeface="Verdana" charset="0"/>
              </a:rPr>
              <a:t> </a:t>
            </a:r>
          </a:p>
          <a:p>
            <a:r>
              <a:rPr lang="en-US" sz="2000" dirty="0">
                <a:latin typeface="Verdana" charset="0"/>
                <a:ea typeface="Verdana" charset="0"/>
                <a:cs typeface="Verdana" charset="0"/>
              </a:rPr>
              <a:t>Select all of the concepts that apply to your understanding right now.</a:t>
            </a:r>
          </a:p>
          <a:p>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I don’t understand                                     YET.</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                                                 	doesn’t make sense 					 	to me YET.</a:t>
            </a:r>
          </a:p>
        </p:txBody>
      </p:sp>
      <p:pic>
        <p:nvPicPr>
          <p:cNvPr id="2" name="Picture 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3576000" y="2968665"/>
            <a:ext cx="3136900" cy="1663700"/>
          </a:xfrm>
          <a:prstGeom prst="rect">
            <a:avLst/>
          </a:prstGeom>
        </p:spPr>
      </p:pic>
      <p:pic>
        <p:nvPicPr>
          <p:cNvPr id="4" name="Picture 3"/>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1418597" y="4641333"/>
            <a:ext cx="4356100" cy="1981200"/>
          </a:xfrm>
          <a:prstGeom prst="rect">
            <a:avLst/>
          </a:prstGeom>
        </p:spPr>
      </p:pic>
    </p:spTree>
    <p:extLst>
      <p:ext uri="{BB962C8B-B14F-4D97-AF65-F5344CB8AC3E}">
        <p14:creationId xmlns:p14="http://schemas.microsoft.com/office/powerpoint/2010/main" val="5539956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7345"/>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89924" y="645442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212</a:t>
            </a:r>
          </a:p>
        </p:txBody>
      </p:sp>
      <p:sp>
        <p:nvSpPr>
          <p:cNvPr id="5" name="TextBox 4">
            <a:extLst>
              <a:ext uri="{FF2B5EF4-FFF2-40B4-BE49-F238E27FC236}">
                <a16:creationId xmlns:a16="http://schemas.microsoft.com/office/drawing/2014/main" xmlns="" id="{4CE9D117-FAE6-F74F-940B-9CD1479755BE}"/>
              </a:ext>
            </a:extLst>
          </p:cNvPr>
          <p:cNvSpPr txBox="1"/>
          <p:nvPr/>
        </p:nvSpPr>
        <p:spPr>
          <a:xfrm>
            <a:off x="465232" y="431082"/>
            <a:ext cx="8327136" cy="400110"/>
          </a:xfrm>
          <a:prstGeom prst="rect">
            <a:avLst/>
          </a:prstGeom>
          <a:noFill/>
        </p:spPr>
        <p:txBody>
          <a:bodyPr wrap="square" rtlCol="0">
            <a:spAutoFit/>
          </a:bodyPr>
          <a:lstStyle/>
          <a:p>
            <a:pPr marL="457200" indent="-457200">
              <a:buFont typeface="+mj-lt"/>
              <a:buAutoNum type="arabicPeriod" startAt="3"/>
            </a:pPr>
            <a:r>
              <a:rPr lang="en-US" sz="2000" dirty="0">
                <a:latin typeface="Verdana" charset="0"/>
                <a:ea typeface="Verdana" charset="0"/>
                <a:cs typeface="Verdana" charset="0"/>
              </a:rPr>
              <a:t>I can explain</a:t>
            </a:r>
          </a:p>
        </p:txBody>
      </p:sp>
      <p:pic>
        <p:nvPicPr>
          <p:cNvPr id="6" name="Picture 5"/>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2744950" y="253480"/>
            <a:ext cx="4419600" cy="1701800"/>
          </a:xfrm>
          <a:prstGeom prst="rect">
            <a:avLst/>
          </a:prstGeom>
        </p:spPr>
      </p:pic>
    </p:spTree>
    <p:extLst>
      <p:ext uri="{BB962C8B-B14F-4D97-AF65-F5344CB8AC3E}">
        <p14:creationId xmlns:p14="http://schemas.microsoft.com/office/powerpoint/2010/main" val="112339640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1357</TotalTime>
  <Words>879</Words>
  <Application>Microsoft Macintosh PowerPoint</Application>
  <PresentationFormat>Widescreen</PresentationFormat>
  <Paragraphs>156</Paragraphs>
  <Slides>22</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Arial Black</vt:lpstr>
      <vt:lpstr>Calibri</vt:lpstr>
      <vt:lpstr>Cambria Math</vt:lpstr>
      <vt:lpstr>Century Gothic</vt:lpstr>
      <vt:lpstr>Times New Roman</vt:lpstr>
      <vt:lpstr>Verdana</vt:lpstr>
      <vt:lpstr>Wingdings</vt:lpstr>
      <vt:lpstr>Arial</vt:lpstr>
      <vt:lpstr>1_Office Theme</vt:lpstr>
      <vt:lpstr>Geometry  Unit 4, Lesson 6  Isometry  Volume 1, pg. 206  </vt:lpstr>
      <vt:lpstr>Benchmarks</vt:lpstr>
      <vt:lpstr>PowerPoint Presentation</vt:lpstr>
      <vt:lpstr>PowerPoint Presentation</vt:lpstr>
      <vt:lpstr>Warm-Up</vt:lpstr>
      <vt:lpstr>PowerPoint Presentation</vt:lpstr>
      <vt:lpstr>Exploration</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Bring It Together</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15.0032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jslater9816@gmail.com</cp:lastModifiedBy>
  <cp:revision>26</cp:revision>
  <dcterms:created xsi:type="dcterms:W3CDTF">2015-03-17T18:51:18Z</dcterms:created>
  <dcterms:modified xsi:type="dcterms:W3CDTF">2022-07-27T20:43:40Z</dcterms:modified>
</cp:coreProperties>
</file>