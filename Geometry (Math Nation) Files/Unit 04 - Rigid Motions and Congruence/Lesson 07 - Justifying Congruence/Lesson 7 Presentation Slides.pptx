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56" r:id="rId2"/>
    <p:sldId id="257" r:id="rId3"/>
    <p:sldId id="285" r:id="rId4"/>
    <p:sldId id="286" r:id="rId5"/>
    <p:sldId id="261" r:id="rId6"/>
    <p:sldId id="287" r:id="rId7"/>
    <p:sldId id="288" r:id="rId8"/>
    <p:sldId id="289" r:id="rId9"/>
    <p:sldId id="290" r:id="rId10"/>
    <p:sldId id="308" r:id="rId11"/>
    <p:sldId id="326" r:id="rId12"/>
    <p:sldId id="327" r:id="rId13"/>
    <p:sldId id="328" r:id="rId14"/>
    <p:sldId id="330" r:id="rId15"/>
    <p:sldId id="323" r:id="rId16"/>
    <p:sldId id="324" r:id="rId17"/>
    <p:sldId id="325" r:id="rId18"/>
    <p:sldId id="329" r:id="rId19"/>
    <p:sldId id="302" r:id="rId20"/>
    <p:sldId id="303" r:id="rId21"/>
    <p:sldId id="306" r:id="rId22"/>
    <p:sldId id="307" r:id="rId23"/>
    <p:sldId id="310"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631"/>
    <p:restoredTop sz="94622"/>
  </p:normalViewPr>
  <p:slideViewPr>
    <p:cSldViewPr snapToGrid="0">
      <p:cViewPr varScale="1">
        <p:scale>
          <a:sx n="88" d="100"/>
          <a:sy n="88" d="100"/>
        </p:scale>
        <p:origin x="200" y="61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 Id="rId55" Type="http://customschemas.google.com/relationships/presentationmetadata" Target="metadata"/><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7139343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4646427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8062906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4533227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2384142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2002963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3484926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1.png"/><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2.png"/><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5.png"/><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3.png"/><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7.png"/><Relationship Id="rId5" Type="http://schemas.openxmlformats.org/officeDocument/2006/relationships/image" Target="../media/image28.png"/><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9.png"/><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0.png"/><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1.png"/><Relationship Id="rId5" Type="http://schemas.openxmlformats.org/officeDocument/2006/relationships/image" Target="../media/image310.png"/><Relationship Id="rId6" Type="http://schemas.openxmlformats.org/officeDocument/2006/relationships/image" Target="../media/image32.png"/><Relationship Id="rId7" Type="http://schemas.openxmlformats.org/officeDocument/2006/relationships/image" Target="../media/image33.png"/><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4.png"/><Relationship Id="rId5" Type="http://schemas.openxmlformats.org/officeDocument/2006/relationships/image" Target="../media/image35.png"/><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png"/><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40.png"/><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image" Target="../media/image43.png"/><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44.png"/><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47.png"/><Relationship Id="rId5" Type="http://schemas.openxmlformats.org/officeDocument/2006/relationships/image" Target="../media/image48.png"/><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Geometry</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4, Lesson 7</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Justifying Congruence</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212</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8753"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4475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805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212</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514000" y="1608425"/>
            <a:ext cx="11009924"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000" dirty="0">
                <a:latin typeface="Verdana" charset="0"/>
                <a:ea typeface="Verdana" charset="0"/>
                <a:cs typeface="Verdana" charset="0"/>
              </a:rPr>
              <a:t>MA.912.GR.2.3 Specify a sequence of transformations that will map a given figure onto itself, or onto another congruent or similar figure.</a:t>
            </a:r>
          </a:p>
          <a:p>
            <a:pPr marL="95250" indent="0">
              <a:buNone/>
            </a:pPr>
            <a:r>
              <a:rPr lang="en-US" sz="2000" dirty="0">
                <a:latin typeface="Verdana" charset="0"/>
                <a:ea typeface="Verdana" charset="0"/>
                <a:cs typeface="Verdana" charset="0"/>
              </a:rPr>
              <a:t> </a:t>
            </a:r>
          </a:p>
          <a:p>
            <a:pPr marL="95250" indent="0">
              <a:buNone/>
            </a:pPr>
            <a:r>
              <a:rPr lang="en-US" sz="2000" dirty="0">
                <a:latin typeface="Verdana" charset="0"/>
                <a:ea typeface="Verdana" charset="0"/>
                <a:cs typeface="Verdana" charset="0"/>
              </a:rPr>
              <a:t>MA.912.GR.2.6 Apply rigid transformations to map one figure onto another to justify that the two figures are congruent.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00550" y="380525"/>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25200" y="137892"/>
            <a:ext cx="884471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xmlns="" id="{E701C7D4-7BD4-5F4C-ACEB-5781D00837A2}"/>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tr-TR" i="1" dirty="0" err="1">
                <a:latin typeface="Calibri"/>
                <a:ea typeface="Calibri"/>
                <a:cs typeface="Calibri"/>
                <a:sym typeface="Calibri"/>
              </a:rPr>
              <a:t>volume</a:t>
            </a:r>
            <a:r>
              <a:rPr lang="tr-TR" i="1" dirty="0">
                <a:latin typeface="Calibri"/>
                <a:ea typeface="Calibri"/>
                <a:cs typeface="Calibri"/>
                <a:sym typeface="Calibri"/>
              </a:rPr>
              <a:t> 1, </a:t>
            </a:r>
            <a:r>
              <a:rPr lang="tr-TR" i="1" dirty="0" err="1">
                <a:latin typeface="Calibri"/>
                <a:ea typeface="Calibri"/>
                <a:cs typeface="Calibri"/>
                <a:sym typeface="Calibri"/>
              </a:rPr>
              <a:t>pg</a:t>
            </a:r>
            <a:r>
              <a:rPr lang="tr-TR" i="1" dirty="0">
                <a:latin typeface="Calibri"/>
                <a:ea typeface="Calibri"/>
                <a:cs typeface="Calibri"/>
                <a:sym typeface="Calibri"/>
              </a:rPr>
              <a:t>. 212</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1101760" y="1604615"/>
            <a:ext cx="1042216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056575" y="38885"/>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a:t>
            </a:r>
            <a:r>
              <a:rPr lang="en-US" sz="4700" b="1" dirty="0" smtClean="0">
                <a:solidFill>
                  <a:srgbClr val="52BDA6"/>
                </a:solidFill>
                <a:latin typeface="Verdana"/>
                <a:ea typeface="Verdana"/>
                <a:cs typeface="Verdana"/>
                <a:sym typeface="Verdana"/>
              </a:rPr>
              <a:t>Targets</a:t>
            </a:r>
            <a:endParaRPr lang="en-US" sz="4700" b="1" dirty="0">
              <a:solidFill>
                <a:srgbClr val="52BDA6"/>
              </a:solidFill>
              <a:latin typeface="Verdana"/>
              <a:ea typeface="Verdana"/>
              <a:cs typeface="Verdana"/>
              <a:sym typeface="Verdana"/>
            </a:endParaRP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274413" y="328085"/>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xmlns="" id="{3ECD2D46-55D5-C547-91DD-0801CE9D6AD7}"/>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tr-TR" i="1" dirty="0" err="1">
                <a:latin typeface="Calibri"/>
                <a:ea typeface="Calibri"/>
                <a:cs typeface="Calibri"/>
                <a:sym typeface="Calibri"/>
              </a:rPr>
              <a:t>volume</a:t>
            </a:r>
            <a:r>
              <a:rPr lang="tr-TR" i="1" dirty="0">
                <a:latin typeface="Calibri"/>
                <a:ea typeface="Calibri"/>
                <a:cs typeface="Calibri"/>
                <a:sym typeface="Calibri"/>
              </a:rPr>
              <a:t> 1, </a:t>
            </a:r>
            <a:r>
              <a:rPr lang="tr-TR" i="1" dirty="0" err="1">
                <a:latin typeface="Calibri"/>
                <a:ea typeface="Calibri"/>
                <a:cs typeface="Calibri"/>
                <a:sym typeface="Calibri"/>
              </a:rPr>
              <a:t>pg</a:t>
            </a:r>
            <a:r>
              <a:rPr lang="tr-TR" i="1" dirty="0">
                <a:latin typeface="Calibri"/>
                <a:ea typeface="Calibri"/>
                <a:cs typeface="Calibri"/>
                <a:sym typeface="Calibri"/>
              </a:rPr>
              <a:t>. 212</a:t>
            </a:r>
          </a:p>
        </p:txBody>
      </p:sp>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457200" y="1608425"/>
            <a:ext cx="110667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charset="2"/>
              <a:buChar char="q"/>
            </a:pPr>
            <a:r>
              <a:rPr lang="en-US" sz="2000" dirty="0">
                <a:latin typeface="Verdana" charset="0"/>
                <a:ea typeface="Verdana" charset="0"/>
                <a:cs typeface="Verdana" charset="0"/>
              </a:rPr>
              <a:t>I can describe a sequence of transformations that will map a preimage and an image to show congruence.</a:t>
            </a:r>
          </a:p>
          <a:p>
            <a:pPr marL="342900" indent="-342900">
              <a:buFont typeface="Wingdings" charset="2"/>
              <a:buChar char="q"/>
            </a:pPr>
            <a:r>
              <a:rPr lang="en-US" sz="2000" dirty="0">
                <a:latin typeface="Verdana" charset="0"/>
                <a:ea typeface="Verdana" charset="0"/>
                <a:cs typeface="Verdana" charset="0"/>
              </a:rPr>
              <a:t>I can describe a sequence of transformations that map one figure onto another congruent figure.</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tr-TR" i="1" dirty="0" err="1">
                <a:latin typeface="Calibri"/>
                <a:ea typeface="Calibri"/>
                <a:cs typeface="Calibri"/>
                <a:sym typeface="Calibri"/>
              </a:rPr>
              <a:t>volume</a:t>
            </a:r>
            <a:r>
              <a:rPr lang="tr-TR" i="1" dirty="0">
                <a:latin typeface="Calibri"/>
                <a:ea typeface="Calibri"/>
                <a:cs typeface="Calibri"/>
                <a:sym typeface="Calibri"/>
              </a:rPr>
              <a:t> 1, </a:t>
            </a:r>
            <a:r>
              <a:rPr lang="tr-TR" i="1" dirty="0" err="1">
                <a:latin typeface="Calibri"/>
                <a:ea typeface="Calibri"/>
                <a:cs typeface="Calibri"/>
                <a:sym typeface="Calibri"/>
              </a:rPr>
              <a:t>pg</a:t>
            </a:r>
            <a:r>
              <a:rPr lang="tr-TR" i="1" dirty="0">
                <a:latin typeface="Calibri"/>
                <a:ea typeface="Calibri"/>
                <a:cs typeface="Calibri"/>
                <a:sym typeface="Calibri"/>
              </a:rPr>
              <a:t>. 213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052650" y="6855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4.7.1 Warm-Up: You Can Do It!</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305350" y="205710"/>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tr-TR" i="1" dirty="0" err="1">
                <a:latin typeface="Calibri"/>
                <a:ea typeface="Calibri"/>
                <a:cs typeface="Calibri"/>
                <a:sym typeface="Calibri"/>
              </a:rPr>
              <a:t>volume</a:t>
            </a:r>
            <a:r>
              <a:rPr lang="tr-TR" i="1" dirty="0">
                <a:latin typeface="Calibri"/>
                <a:ea typeface="Calibri"/>
                <a:cs typeface="Calibri"/>
                <a:sym typeface="Calibri"/>
              </a:rPr>
              <a:t> 1, </a:t>
            </a:r>
            <a:r>
              <a:rPr lang="tr-TR" i="1" dirty="0" err="1">
                <a:latin typeface="Calibri"/>
                <a:ea typeface="Calibri"/>
                <a:cs typeface="Calibri"/>
                <a:sym typeface="Calibri"/>
              </a:rPr>
              <a:t>pg</a:t>
            </a:r>
            <a:r>
              <a:rPr lang="tr-TR" i="1" dirty="0">
                <a:latin typeface="Calibri"/>
                <a:ea typeface="Calibri"/>
                <a:cs typeface="Calibri"/>
                <a:sym typeface="Calibri"/>
              </a:rPr>
              <a:t>. 213</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xmlns="" id="{E1D7562E-134F-D14B-AF1A-DF40E11EF758}"/>
                  </a:ext>
                </a:extLst>
              </p:cNvPr>
              <p:cNvSpPr txBox="1"/>
              <p:nvPr/>
            </p:nvSpPr>
            <p:spPr>
              <a:xfrm>
                <a:off x="385307" y="1399410"/>
                <a:ext cx="7831216" cy="4801314"/>
              </a:xfrm>
              <a:prstGeom prst="rect">
                <a:avLst/>
              </a:prstGeom>
              <a:noFill/>
            </p:spPr>
            <p:txBody>
              <a:bodyPr wrap="square" rtlCol="0">
                <a:spAutoFit/>
              </a:bodyPr>
              <a:lstStyle/>
              <a:p>
                <a:r>
                  <a:rPr lang="en-US" sz="1800" dirty="0">
                    <a:latin typeface="Verdana" charset="0"/>
                    <a:ea typeface="Verdana" charset="0"/>
                    <a:cs typeface="Verdana" charset="0"/>
                  </a:rPr>
                  <a:t>“You should be far more concerned with your current trajectory than with your current results.” - James Clear </a:t>
                </a:r>
              </a:p>
              <a:p>
                <a:r>
                  <a:rPr lang="en-US" sz="1800" dirty="0">
                    <a:latin typeface="Verdana" charset="0"/>
                    <a:ea typeface="Verdana" charset="0"/>
                    <a:cs typeface="Verdana" charset="0"/>
                  </a:rPr>
                  <a:t> </a:t>
                </a:r>
              </a:p>
              <a:p>
                <a:r>
                  <a:rPr lang="en-US" sz="1800" dirty="0">
                    <a:latin typeface="Verdana" charset="0"/>
                    <a:ea typeface="Verdana" charset="0"/>
                    <a:cs typeface="Verdana" charset="0"/>
                  </a:rPr>
                  <a:t>Has anyone ever asked you, “What goals do YOU want to achieve in your lifetime?” </a:t>
                </a:r>
              </a:p>
              <a:p>
                <a:endParaRPr lang="en-US" sz="1800" dirty="0">
                  <a:latin typeface="Verdana" charset="0"/>
                  <a:ea typeface="Verdana" charset="0"/>
                  <a:cs typeface="Verdana" charset="0"/>
                </a:endParaRPr>
              </a:p>
              <a:p>
                <a:r>
                  <a:rPr lang="en-US" sz="1800" dirty="0">
                    <a:latin typeface="Verdana" charset="0"/>
                    <a:ea typeface="Verdana" charset="0"/>
                    <a:cs typeface="Verdana" charset="0"/>
                  </a:rPr>
                  <a:t>Setting goals is linked to self-confidence, motivation, and autonomy. A 2015 study showed people who wrote down their goals were </a:t>
                </a:r>
                <a14:m>
                  <m:oMath xmlns:m="http://schemas.openxmlformats.org/officeDocument/2006/math">
                    <m:r>
                      <a:rPr lang="en-US" sz="1800" i="1">
                        <a:latin typeface="Cambria Math" panose="02040503050406030204" pitchFamily="18" charset="0"/>
                        <a:ea typeface="Verdana" charset="0"/>
                        <a:cs typeface="Verdana" charset="0"/>
                      </a:rPr>
                      <m:t>33</m:t>
                    </m:r>
                  </m:oMath>
                </a14:m>
                <a:r>
                  <a:rPr lang="en-US" sz="1800" dirty="0">
                    <a:latin typeface="Verdana" charset="0"/>
                    <a:ea typeface="Verdana" charset="0"/>
                    <a:cs typeface="Verdana" charset="0"/>
                  </a:rPr>
                  <a:t> percent more successful in achieving them than those who just thought about the outcomes. Making goals can be fun. </a:t>
                </a:r>
              </a:p>
              <a:p>
                <a:endParaRPr lang="en-US" sz="1800" dirty="0">
                  <a:latin typeface="Verdana" charset="0"/>
                  <a:ea typeface="Verdana" charset="0"/>
                  <a:cs typeface="Verdana" charset="0"/>
                </a:endParaRPr>
              </a:p>
              <a:p>
                <a:r>
                  <a:rPr lang="en-US" sz="1800" dirty="0">
                    <a:latin typeface="Verdana" charset="0"/>
                    <a:ea typeface="Verdana" charset="0"/>
                    <a:cs typeface="Verdana" charset="0"/>
                  </a:rPr>
                  <a:t>For example, you can name places you would to visit, activities you would like to do, or people you would like to meet. By setting the goal, you have already set your trajectory toward achieving it. In the table, write three life goals and two goals for the rest of this school year.</a:t>
                </a: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385307" y="1399410"/>
                <a:ext cx="7831216" cy="4801314"/>
              </a:xfrm>
              <a:prstGeom prst="rect">
                <a:avLst/>
              </a:prstGeom>
              <a:blipFill>
                <a:blip r:embed="rId5"/>
                <a:stretch>
                  <a:fillRect l="-623" t="-762" r="-1089" b="-1144"/>
                </a:stretch>
              </a:blipFill>
            </p:spPr>
            <p:txBody>
              <a:bodyPr/>
              <a:lstStyle/>
              <a:p>
                <a:r>
                  <a:rPr lang="en-US">
                    <a:noFill/>
                  </a:rPr>
                  <a:t> </a:t>
                </a:r>
              </a:p>
            </p:txBody>
          </p:sp>
        </mc:Fallback>
      </mc:AlternateContent>
      <p:pic>
        <p:nvPicPr>
          <p:cNvPr id="3" name="Picture 2"/>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8378630" y="1394249"/>
            <a:ext cx="3531445" cy="3280989"/>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tr-TR" i="1" dirty="0" err="1">
                <a:latin typeface="Calibri"/>
                <a:ea typeface="Calibri"/>
                <a:cs typeface="Calibri"/>
                <a:sym typeface="Calibri"/>
              </a:rPr>
              <a:t>volume</a:t>
            </a:r>
            <a:r>
              <a:rPr lang="tr-TR" i="1" dirty="0">
                <a:latin typeface="Calibri"/>
                <a:ea typeface="Calibri"/>
                <a:cs typeface="Calibri"/>
                <a:sym typeface="Calibri"/>
              </a:rPr>
              <a:t> 1, </a:t>
            </a:r>
            <a:r>
              <a:rPr lang="tr-TR" i="1" dirty="0" err="1">
                <a:latin typeface="Calibri"/>
                <a:ea typeface="Calibri"/>
                <a:cs typeface="Calibri"/>
                <a:sym typeface="Calibri"/>
              </a:rPr>
              <a:t>pg</a:t>
            </a:r>
            <a:r>
              <a:rPr lang="tr-TR" i="1" dirty="0">
                <a:latin typeface="Calibri"/>
                <a:ea typeface="Calibri"/>
                <a:cs typeface="Calibri"/>
                <a:sym typeface="Calibri"/>
              </a:rPr>
              <a:t>. 213</a:t>
            </a:r>
          </a:p>
        </p:txBody>
      </p:sp>
      <p:graphicFrame>
        <p:nvGraphicFramePr>
          <p:cNvPr id="2" name="Table 1"/>
          <p:cNvGraphicFramePr>
            <a:graphicFrameLocks noGrp="1"/>
          </p:cNvGraphicFramePr>
          <p:nvPr>
            <p:extLst>
              <p:ext uri="{D42A27DB-BD31-4B8C-83A1-F6EECF244321}">
                <p14:modId xmlns:p14="http://schemas.microsoft.com/office/powerpoint/2010/main" val="2326197299"/>
              </p:ext>
            </p:extLst>
          </p:nvPr>
        </p:nvGraphicFramePr>
        <p:xfrm>
          <a:off x="1314734" y="563269"/>
          <a:ext cx="7770270" cy="4523749"/>
        </p:xfrm>
        <a:graphic>
          <a:graphicData uri="http://schemas.openxmlformats.org/drawingml/2006/table">
            <a:tbl>
              <a:tblPr firstRow="1" firstCol="1" bandRow="1"/>
              <a:tblGrid>
                <a:gridCol w="3885135">
                  <a:extLst>
                    <a:ext uri="{9D8B030D-6E8A-4147-A177-3AD203B41FA5}">
                      <a16:colId xmlns:a16="http://schemas.microsoft.com/office/drawing/2014/main" xmlns="" val="20000"/>
                    </a:ext>
                  </a:extLst>
                </a:gridCol>
                <a:gridCol w="3885135">
                  <a:extLst>
                    <a:ext uri="{9D8B030D-6E8A-4147-A177-3AD203B41FA5}">
                      <a16:colId xmlns:a16="http://schemas.microsoft.com/office/drawing/2014/main" xmlns="" val="20001"/>
                    </a:ext>
                  </a:extLst>
                </a:gridCol>
              </a:tblGrid>
              <a:tr h="633470">
                <a:tc>
                  <a:txBody>
                    <a:bodyPr/>
                    <a:lstStyle/>
                    <a:p>
                      <a:pPr marL="0" marR="0" algn="ctr">
                        <a:spcBef>
                          <a:spcPts val="0"/>
                        </a:spcBef>
                        <a:spcAft>
                          <a:spcPts val="0"/>
                        </a:spcAft>
                      </a:pPr>
                      <a:r>
                        <a:rPr lang="en-US" sz="2100" b="1">
                          <a:effectLst/>
                          <a:latin typeface="Verdana" charset="0"/>
                          <a:ea typeface="Cambria" charset="0"/>
                        </a:rPr>
                        <a:t>Life Goals</a:t>
                      </a:r>
                      <a:endParaRPr lang="en-US" sz="1400">
                        <a:effectLst/>
                        <a:latin typeface="Cambria" charset="0"/>
                      </a:endParaRPr>
                    </a:p>
                  </a:txBody>
                  <a:tcPr marL="79184" marR="7918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100" b="1">
                          <a:effectLst/>
                          <a:latin typeface="Verdana" charset="0"/>
                          <a:ea typeface="Cambria" charset="0"/>
                        </a:rPr>
                        <a:t>Goals for this school year</a:t>
                      </a:r>
                      <a:endParaRPr lang="en-US" sz="1400">
                        <a:effectLst/>
                        <a:latin typeface="Cambria" charset="0"/>
                      </a:endParaRPr>
                    </a:p>
                  </a:txBody>
                  <a:tcPr marL="79184" marR="7918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10000"/>
                  </a:ext>
                </a:extLst>
              </a:tr>
              <a:tr h="2404106">
                <a:tc>
                  <a:txBody>
                    <a:bodyPr/>
                    <a:lstStyle/>
                    <a:p>
                      <a:pPr marL="0" marR="0" algn="ctr">
                        <a:spcBef>
                          <a:spcPts val="0"/>
                        </a:spcBef>
                        <a:spcAft>
                          <a:spcPts val="0"/>
                        </a:spcAft>
                      </a:pPr>
                      <a:r>
                        <a:rPr lang="en-US" sz="2100">
                          <a:effectLst/>
                          <a:latin typeface="Verdana" charset="0"/>
                          <a:ea typeface="Cambria" charset="0"/>
                        </a:rPr>
                        <a:t> </a:t>
                      </a:r>
                      <a:endParaRPr lang="en-US" sz="1400">
                        <a:effectLst/>
                        <a:latin typeface="Cambria" charset="0"/>
                      </a:endParaRPr>
                    </a:p>
                    <a:p>
                      <a:pPr marL="0" marR="0" algn="ctr">
                        <a:spcBef>
                          <a:spcPts val="0"/>
                        </a:spcBef>
                        <a:spcAft>
                          <a:spcPts val="0"/>
                        </a:spcAft>
                      </a:pPr>
                      <a:r>
                        <a:rPr lang="en-US" sz="2100">
                          <a:effectLst/>
                          <a:latin typeface="Verdana" charset="0"/>
                          <a:ea typeface="Cambria" charset="0"/>
                        </a:rPr>
                        <a:t> </a:t>
                      </a:r>
                      <a:endParaRPr lang="en-US" sz="1400">
                        <a:effectLst/>
                        <a:latin typeface="Cambria" charset="0"/>
                      </a:endParaRPr>
                    </a:p>
                    <a:p>
                      <a:pPr marL="0" marR="0" algn="ctr">
                        <a:spcBef>
                          <a:spcPts val="0"/>
                        </a:spcBef>
                        <a:spcAft>
                          <a:spcPts val="0"/>
                        </a:spcAft>
                      </a:pPr>
                      <a:r>
                        <a:rPr lang="en-US" sz="2100">
                          <a:effectLst/>
                          <a:latin typeface="Verdana" charset="0"/>
                          <a:ea typeface="Cambria" charset="0"/>
                        </a:rPr>
                        <a:t> </a:t>
                      </a:r>
                      <a:endParaRPr lang="en-US" sz="1400">
                        <a:effectLst/>
                        <a:latin typeface="Cambria" charset="0"/>
                      </a:endParaRPr>
                    </a:p>
                    <a:p>
                      <a:pPr marL="0" marR="0" algn="ctr">
                        <a:spcBef>
                          <a:spcPts val="0"/>
                        </a:spcBef>
                        <a:spcAft>
                          <a:spcPts val="0"/>
                        </a:spcAft>
                      </a:pPr>
                      <a:r>
                        <a:rPr lang="en-US" sz="2100">
                          <a:effectLst/>
                          <a:latin typeface="Verdana" charset="0"/>
                          <a:ea typeface="Cambria" charset="0"/>
                        </a:rPr>
                        <a:t> </a:t>
                      </a:r>
                      <a:endParaRPr lang="en-US" sz="1400">
                        <a:effectLst/>
                        <a:latin typeface="Cambria" charset="0"/>
                      </a:endParaRPr>
                    </a:p>
                    <a:p>
                      <a:pPr marL="0" marR="0" algn="ctr">
                        <a:spcBef>
                          <a:spcPts val="0"/>
                        </a:spcBef>
                        <a:spcAft>
                          <a:spcPts val="0"/>
                        </a:spcAft>
                      </a:pPr>
                      <a:r>
                        <a:rPr lang="en-US" sz="2100">
                          <a:effectLst/>
                          <a:latin typeface="Verdana" charset="0"/>
                          <a:ea typeface="Cambria" charset="0"/>
                        </a:rPr>
                        <a:t> </a:t>
                      </a:r>
                      <a:endParaRPr lang="en-US" sz="1400">
                        <a:effectLst/>
                        <a:latin typeface="Cambria" charset="0"/>
                      </a:endParaRPr>
                    </a:p>
                  </a:txBody>
                  <a:tcPr marL="79184" marR="7918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100" dirty="0">
                          <a:effectLst/>
                          <a:latin typeface="Verdana" charset="0"/>
                          <a:ea typeface="Cambria" charset="0"/>
                        </a:rPr>
                        <a:t> </a:t>
                      </a:r>
                      <a:endParaRPr lang="en-US" sz="1400" dirty="0">
                        <a:effectLst/>
                        <a:latin typeface="Cambria" charset="0"/>
                      </a:endParaRPr>
                    </a:p>
                  </a:txBody>
                  <a:tcPr marL="79184" marR="7918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1479563">
                <a:tc gridSpan="2">
                  <a:txBody>
                    <a:bodyPr/>
                    <a:lstStyle/>
                    <a:p>
                      <a:pPr marL="0" marR="0" algn="ctr">
                        <a:spcBef>
                          <a:spcPts val="0"/>
                        </a:spcBef>
                        <a:spcAft>
                          <a:spcPts val="0"/>
                        </a:spcAft>
                      </a:pPr>
                      <a:r>
                        <a:rPr lang="en-US" sz="2100" b="1" dirty="0">
                          <a:effectLst/>
                          <a:latin typeface="Verdana" charset="0"/>
                          <a:ea typeface="Cambria" charset="0"/>
                        </a:rPr>
                        <a:t>“If you are always trying to be normal, you will never know how amazing you can be.”</a:t>
                      </a:r>
                      <a:endParaRPr lang="en-US" sz="1400" dirty="0">
                        <a:effectLst/>
                        <a:latin typeface="Cambria" charset="0"/>
                      </a:endParaRPr>
                    </a:p>
                    <a:p>
                      <a:pPr marL="0" marR="0" algn="ctr">
                        <a:spcBef>
                          <a:spcPts val="0"/>
                        </a:spcBef>
                        <a:spcAft>
                          <a:spcPts val="0"/>
                        </a:spcAft>
                      </a:pPr>
                      <a:r>
                        <a:rPr lang="en-US" sz="2100" b="1" dirty="0">
                          <a:effectLst/>
                          <a:latin typeface="Verdana" charset="0"/>
                          <a:ea typeface="Cambria" charset="0"/>
                        </a:rPr>
                        <a:t>Maya Angelou</a:t>
                      </a:r>
                      <a:endParaRPr lang="en-US" sz="1400" dirty="0">
                        <a:effectLst/>
                        <a:latin typeface="Cambria" charset="0"/>
                      </a:endParaRPr>
                    </a:p>
                  </a:txBody>
                  <a:tcPr marL="105578" marR="105578" marT="52789" marB="5278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xmlns="" id="{33005AFD-D615-1344-BDC0-5A40F645481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tr-TR" i="1" dirty="0" err="1">
                <a:latin typeface="Calibri"/>
                <a:ea typeface="Calibri"/>
                <a:cs typeface="Calibri"/>
                <a:sym typeface="Calibri"/>
              </a:rPr>
              <a:t>volume</a:t>
            </a:r>
            <a:r>
              <a:rPr lang="tr-TR" i="1" dirty="0">
                <a:latin typeface="Calibri"/>
                <a:ea typeface="Calibri"/>
                <a:cs typeface="Calibri"/>
                <a:sym typeface="Calibri"/>
              </a:rPr>
              <a:t> 1, </a:t>
            </a:r>
            <a:r>
              <a:rPr lang="tr-TR" i="1" dirty="0" err="1">
                <a:latin typeface="Calibri"/>
                <a:ea typeface="Calibri"/>
                <a:cs typeface="Calibri"/>
                <a:sym typeface="Calibri"/>
              </a:rPr>
              <a:t>pg</a:t>
            </a:r>
            <a:r>
              <a:rPr lang="tr-TR" i="1" dirty="0">
                <a:latin typeface="Calibri"/>
                <a:ea typeface="Calibri"/>
                <a:cs typeface="Calibri"/>
                <a:sym typeface="Calibri"/>
              </a:rPr>
              <a:t>. 213</a:t>
            </a:r>
          </a:p>
        </p:txBody>
      </p:sp>
    </p:spTree>
    <p:extLst>
      <p:ext uri="{BB962C8B-B14F-4D97-AF65-F5344CB8AC3E}">
        <p14:creationId xmlns:p14="http://schemas.microsoft.com/office/powerpoint/2010/main" val="3702612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052650" y="-85855"/>
            <a:ext cx="1028886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4.7.2 Guided Instruction: Justifying Congruence</a:t>
            </a:r>
          </a:p>
        </p:txBody>
      </p:sp>
      <p:pic>
        <p:nvPicPr>
          <p:cNvPr id="9"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4">
            <a:alphaModFix/>
          </a:blip>
          <a:srcRect/>
          <a:stretch/>
        </p:blipFill>
        <p:spPr>
          <a:xfrm>
            <a:off x="305350" y="121409"/>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xmlns="" id="{B2B1ECCC-8E07-F247-BB16-7B958B8E6B2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tr-TR" i="1" dirty="0" err="1">
                <a:latin typeface="Calibri"/>
                <a:ea typeface="Calibri"/>
                <a:cs typeface="Calibri"/>
                <a:sym typeface="Calibri"/>
              </a:rPr>
              <a:t>volume</a:t>
            </a:r>
            <a:r>
              <a:rPr lang="tr-TR" i="1" dirty="0">
                <a:latin typeface="Calibri"/>
                <a:ea typeface="Calibri"/>
                <a:cs typeface="Calibri"/>
                <a:sym typeface="Calibri"/>
              </a:rPr>
              <a:t> 1, </a:t>
            </a:r>
            <a:r>
              <a:rPr lang="tr-TR" i="1" dirty="0" err="1">
                <a:latin typeface="Calibri"/>
                <a:ea typeface="Calibri"/>
                <a:cs typeface="Calibri"/>
                <a:sym typeface="Calibri"/>
              </a:rPr>
              <a:t>pg</a:t>
            </a:r>
            <a:r>
              <a:rPr lang="tr-TR" i="1" dirty="0">
                <a:latin typeface="Calibri"/>
                <a:ea typeface="Calibri"/>
                <a:cs typeface="Calibri"/>
                <a:sym typeface="Calibri"/>
              </a:rPr>
              <a:t>. 213</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xmlns="" id="{C01B13E8-EC8D-E443-A329-C5E3593DD13A}"/>
                  </a:ext>
                </a:extLst>
              </p:cNvPr>
              <p:cNvSpPr txBox="1"/>
              <p:nvPr/>
            </p:nvSpPr>
            <p:spPr>
              <a:xfrm>
                <a:off x="593247" y="1386149"/>
                <a:ext cx="9730623" cy="400110"/>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Quadrilaterals </a:t>
                </a:r>
                <a14:m>
                  <m:oMath xmlns:m="http://schemas.openxmlformats.org/officeDocument/2006/math">
                    <m:r>
                      <a:rPr lang="en-US" sz="2000" i="1">
                        <a:latin typeface="Cambria Math" panose="02040503050406030204" pitchFamily="18" charset="0"/>
                        <a:ea typeface="Verdana" charset="0"/>
                        <a:cs typeface="Verdana" charset="0"/>
                      </a:rPr>
                      <m:t>𝑋𝐹𝑇𝐷</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𝐾𝑆𝑅𝑊</m:t>
                    </m:r>
                  </m:oMath>
                </a14:m>
                <a:r>
                  <a:rPr lang="en-US" sz="2000" dirty="0">
                    <a:latin typeface="Verdana" charset="0"/>
                    <a:ea typeface="Verdana" charset="0"/>
                    <a:cs typeface="Verdana" charset="0"/>
                  </a:rPr>
                  <a:t> are shown on the coordinate plane.</a:t>
                </a:r>
              </a:p>
            </p:txBody>
          </p:sp>
        </mc:Choice>
        <mc:Fallback xmlns="">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593247" y="1386149"/>
                <a:ext cx="9730623" cy="400110"/>
              </a:xfrm>
              <a:prstGeom prst="rect">
                <a:avLst/>
              </a:prstGeom>
              <a:blipFill>
                <a:blip r:embed="rId5"/>
                <a:stretch>
                  <a:fillRect l="-689" t="-9091" b="-27273"/>
                </a:stretch>
              </a:blipFill>
            </p:spPr>
            <p:txBody>
              <a:bodyPr/>
              <a:lstStyle/>
              <a:p>
                <a:r>
                  <a:rPr lang="en-US">
                    <a:noFill/>
                  </a:rPr>
                  <a:t> </a:t>
                </a:r>
              </a:p>
            </p:txBody>
          </p:sp>
        </mc:Fallback>
      </mc:AlternateContent>
      <p:pic>
        <p:nvPicPr>
          <p:cNvPr id="2" name="Picture 1"/>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402068" y="1909685"/>
            <a:ext cx="4190164" cy="2984172"/>
          </a:xfrm>
          <a:prstGeom prst="rect">
            <a:avLst/>
          </a:prstGeom>
        </p:spPr>
      </p:pic>
      <mc:AlternateContent xmlns:mc="http://schemas.openxmlformats.org/markup-compatibility/2006" xmlns:a14="http://schemas.microsoft.com/office/drawing/2010/main">
        <mc:Choice Requires="a14">
          <p:sp>
            <p:nvSpPr>
              <p:cNvPr id="3" name="Rectangle 2"/>
              <p:cNvSpPr/>
              <p:nvPr/>
            </p:nvSpPr>
            <p:spPr>
              <a:xfrm>
                <a:off x="593248" y="5048061"/>
                <a:ext cx="10748262" cy="707886"/>
              </a:xfrm>
              <a:prstGeom prst="rect">
                <a:avLst/>
              </a:prstGeom>
            </p:spPr>
            <p:txBody>
              <a:bodyPr wrap="square">
                <a:spAutoFit/>
              </a:bodyPr>
              <a:lstStyle/>
              <a:p>
                <a:pPr marL="342900" indent="-342900">
                  <a:buFont typeface="+mj-lt"/>
                  <a:buAutoNum type="alphaLcPeriod"/>
                </a:pPr>
                <a:r>
                  <a:rPr lang="en-US" sz="2000" dirty="0">
                    <a:latin typeface="Verdana" charset="0"/>
                    <a:ea typeface="Verdana" charset="0"/>
                    <a:cs typeface="Verdana" charset="0"/>
                  </a:rPr>
                  <a:t>Describe a sequence of transformations that will map quadrilateral </a:t>
                </a:r>
                <a14:m>
                  <m:oMath xmlns:m="http://schemas.openxmlformats.org/officeDocument/2006/math">
                    <m:r>
                      <a:rPr lang="en-US" sz="2000" i="1">
                        <a:latin typeface="Cambria Math" panose="02040503050406030204" pitchFamily="18" charset="0"/>
                        <a:ea typeface="Verdana" charset="0"/>
                        <a:cs typeface="Verdana" charset="0"/>
                      </a:rPr>
                      <m:t>𝐾𝑆𝑅𝑊</m:t>
                    </m:r>
                  </m:oMath>
                </a14:m>
                <a:r>
                  <a:rPr lang="en-US" sz="2000" dirty="0">
                    <a:latin typeface="Verdana" charset="0"/>
                    <a:ea typeface="Verdana" charset="0"/>
                    <a:cs typeface="Verdana" charset="0"/>
                  </a:rPr>
                  <a:t> onto quadrilateral </a:t>
                </a:r>
                <a14:m>
                  <m:oMath xmlns:m="http://schemas.openxmlformats.org/officeDocument/2006/math">
                    <m:r>
                      <a:rPr lang="en-US" sz="2000" i="1">
                        <a:latin typeface="Cambria Math" panose="02040503050406030204" pitchFamily="18" charset="0"/>
                        <a:ea typeface="Verdana" charset="0"/>
                        <a:cs typeface="Verdana" charset="0"/>
                      </a:rPr>
                      <m:t>𝑋𝐹𝑇𝐷</m:t>
                    </m:r>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a:t>
                </a:r>
              </a:p>
            </p:txBody>
          </p:sp>
        </mc:Choice>
        <mc:Fallback xmlns="">
          <p:sp>
            <p:nvSpPr>
              <p:cNvPr id="3" name="Rectangle 2"/>
              <p:cNvSpPr>
                <a:spLocks noRot="1" noChangeAspect="1" noMove="1" noResize="1" noEditPoints="1" noAdjustHandles="1" noChangeArrowheads="1" noChangeShapeType="1" noTextEdit="1"/>
              </p:cNvSpPr>
              <p:nvPr/>
            </p:nvSpPr>
            <p:spPr>
              <a:xfrm>
                <a:off x="593248" y="5048061"/>
                <a:ext cx="10748262" cy="707886"/>
              </a:xfrm>
              <a:prstGeom prst="rect">
                <a:avLst/>
              </a:prstGeom>
              <a:blipFill>
                <a:blip r:embed="rId7"/>
                <a:stretch>
                  <a:fillRect l="-624" t="-6034" b="-14655"/>
                </a:stretch>
              </a:blipFill>
            </p:spPr>
            <p:txBody>
              <a:bodyPr/>
              <a:lstStyle/>
              <a:p>
                <a:r>
                  <a:rPr lang="en-US">
                    <a:noFill/>
                  </a:rPr>
                  <a:t> </a:t>
                </a:r>
              </a:p>
            </p:txBody>
          </p:sp>
        </mc:Fallback>
      </mc:AlternateContent>
    </p:spTree>
    <p:extLst>
      <p:ext uri="{BB962C8B-B14F-4D97-AF65-F5344CB8AC3E}">
        <p14:creationId xmlns:p14="http://schemas.microsoft.com/office/powerpoint/2010/main" val="3902457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7731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34389"/>
            <a:ext cx="2634000" cy="400200"/>
          </a:xfrm>
          <a:prstGeom prst="rect">
            <a:avLst/>
          </a:prstGeom>
          <a:noFill/>
          <a:ln>
            <a:noFill/>
          </a:ln>
        </p:spPr>
        <p:txBody>
          <a:bodyPr spcFirstLastPara="1" wrap="square" lIns="91425" tIns="91425" rIns="91425" bIns="91425" anchor="t" anchorCtr="0">
            <a:spAutoFit/>
          </a:bodyPr>
          <a:lstStyle/>
          <a:p>
            <a:pPr lvl="0" algn="r"/>
            <a:r>
              <a:rPr lang="tr-TR" i="1" dirty="0" err="1">
                <a:latin typeface="Calibri"/>
                <a:ea typeface="Calibri"/>
                <a:cs typeface="Calibri"/>
                <a:sym typeface="Calibri"/>
              </a:rPr>
              <a:t>volume</a:t>
            </a:r>
            <a:r>
              <a:rPr lang="tr-TR" i="1" dirty="0">
                <a:latin typeface="Calibri"/>
                <a:ea typeface="Calibri"/>
                <a:cs typeface="Calibri"/>
                <a:sym typeface="Calibri"/>
              </a:rPr>
              <a:t> 1, </a:t>
            </a:r>
            <a:r>
              <a:rPr lang="tr-TR" i="1" dirty="0" err="1">
                <a:latin typeface="Calibri"/>
                <a:ea typeface="Calibri"/>
                <a:cs typeface="Calibri"/>
                <a:sym typeface="Calibri"/>
              </a:rPr>
              <a:t>pg</a:t>
            </a:r>
            <a:r>
              <a:rPr lang="tr-TR" i="1" dirty="0">
                <a:latin typeface="Calibri"/>
                <a:ea typeface="Calibri"/>
                <a:cs typeface="Calibri"/>
                <a:sym typeface="Calibri"/>
              </a:rPr>
              <a:t>. 214</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8AE5E1E0-A54D-BE42-84B5-F917038ADE99}"/>
                  </a:ext>
                </a:extLst>
              </p:cNvPr>
              <p:cNvSpPr txBox="1"/>
              <p:nvPr/>
            </p:nvSpPr>
            <p:spPr>
              <a:xfrm>
                <a:off x="465232" y="296971"/>
                <a:ext cx="11162918" cy="707886"/>
              </a:xfrm>
              <a:prstGeom prst="rect">
                <a:avLst/>
              </a:prstGeom>
              <a:noFill/>
            </p:spPr>
            <p:txBody>
              <a:bodyPr wrap="square" rtlCol="0">
                <a:spAutoFit/>
              </a:bodyPr>
              <a:lstStyle/>
              <a:p>
                <a:pPr marL="457200" indent="-457200">
                  <a:buFont typeface="+mj-lt"/>
                  <a:buAutoNum type="alphaLcPeriod" startAt="2"/>
                </a:pPr>
                <a:r>
                  <a:rPr lang="en-US" sz="2000" dirty="0">
                    <a:latin typeface="Verdana" charset="0"/>
                    <a:ea typeface="Verdana" charset="0"/>
                    <a:cs typeface="Verdana" charset="0"/>
                  </a:rPr>
                  <a:t>Complete the table that shows which vertices were mapped to each other when quadrilateral </a:t>
                </a:r>
                <a14:m>
                  <m:oMath xmlns:m="http://schemas.openxmlformats.org/officeDocument/2006/math">
                    <m:r>
                      <a:rPr lang="en-US" sz="2000" i="1">
                        <a:latin typeface="Cambria Math" panose="02040503050406030204" pitchFamily="18" charset="0"/>
                        <a:ea typeface="Verdana" charset="0"/>
                        <a:cs typeface="Verdana" charset="0"/>
                      </a:rPr>
                      <m:t>𝐾𝑆𝑅𝑊</m:t>
                    </m:r>
                  </m:oMath>
                </a14:m>
                <a:r>
                  <a:rPr lang="en-US" sz="2000" dirty="0">
                    <a:latin typeface="Verdana" charset="0"/>
                    <a:ea typeface="Verdana" charset="0"/>
                    <a:cs typeface="Verdana" charset="0"/>
                  </a:rPr>
                  <a:t> was mapped onto quadrilateral </a:t>
                </a:r>
                <a14:m>
                  <m:oMath xmlns:m="http://schemas.openxmlformats.org/officeDocument/2006/math">
                    <m:r>
                      <a:rPr lang="en-US" sz="2000" i="1">
                        <a:latin typeface="Cambria Math" panose="02040503050406030204" pitchFamily="18" charset="0"/>
                        <a:ea typeface="Verdana" charset="0"/>
                        <a:cs typeface="Verdana" charset="0"/>
                      </a:rPr>
                      <m:t>𝑋𝐹𝑇𝐷</m:t>
                    </m:r>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a:t>
                </a:r>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465232" y="296971"/>
                <a:ext cx="11162918" cy="707886"/>
              </a:xfrm>
              <a:prstGeom prst="rect">
                <a:avLst/>
              </a:prstGeom>
              <a:blipFill>
                <a:blip r:embed="rId4"/>
                <a:stretch>
                  <a:fillRect l="-600" t="-6034" b="-146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287387130"/>
                  </p:ext>
                </p:extLst>
              </p:nvPr>
            </p:nvGraphicFramePr>
            <p:xfrm>
              <a:off x="2094041" y="1409324"/>
              <a:ext cx="4620895" cy="2351405"/>
            </p:xfrm>
            <a:graphic>
              <a:graphicData uri="http://schemas.openxmlformats.org/drawingml/2006/table">
                <a:tbl>
                  <a:tblPr firstRow="1" firstCol="1" bandRow="1"/>
                  <a:tblGrid>
                    <a:gridCol w="2308860">
                      <a:extLst>
                        <a:ext uri="{9D8B030D-6E8A-4147-A177-3AD203B41FA5}">
                          <a16:colId xmlns:a16="http://schemas.microsoft.com/office/drawing/2014/main" xmlns="" val="20000"/>
                        </a:ext>
                      </a:extLst>
                    </a:gridCol>
                    <a:gridCol w="2312035">
                      <a:extLst>
                        <a:ext uri="{9D8B030D-6E8A-4147-A177-3AD203B41FA5}">
                          <a16:colId xmlns:a16="http://schemas.microsoft.com/office/drawing/2014/main" xmlns="" val="20001"/>
                        </a:ext>
                      </a:extLst>
                    </a:gridCol>
                  </a:tblGrid>
                  <a:tr h="762635">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Quadrilateral </a:t>
                          </a:r>
                          <a14:m>
                            <m:oMath xmlns:m="http://schemas.openxmlformats.org/officeDocument/2006/math">
                              <m:r>
                                <a:rPr lang="en-US" sz="2000" b="1" i="1">
                                  <a:solidFill>
                                    <a:srgbClr val="000000"/>
                                  </a:solidFill>
                                  <a:effectLst/>
                                  <a:latin typeface="Cambria Math" panose="02040503050406030204" pitchFamily="18" charset="0"/>
                                  <a:ea typeface="Verdana" charset="0"/>
                                  <a:cs typeface="Verdana" charset="0"/>
                                </a:rPr>
                                <m:t>𝑲𝑺𝑹𝑾</m:t>
                              </m:r>
                            </m:oMath>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charset="0"/>
                              <a:ea typeface="Verdana" charset="0"/>
                              <a:cs typeface="Verdana" charset="0"/>
                            </a:rPr>
                            <a:t>Quadrilateral </a:t>
                          </a:r>
                          <a14:m>
                            <m:oMath xmlns:m="http://schemas.openxmlformats.org/officeDocument/2006/math">
                              <m:r>
                                <a:rPr lang="en-US" sz="2000" b="1" i="1">
                                  <a:solidFill>
                                    <a:srgbClr val="000000"/>
                                  </a:solidFill>
                                  <a:effectLst/>
                                  <a:latin typeface="Cambria Math" panose="02040503050406030204" pitchFamily="18" charset="0"/>
                                  <a:ea typeface="Verdana" charset="0"/>
                                  <a:cs typeface="Verdana" charset="0"/>
                                </a:rPr>
                                <m:t>𝑿𝑭𝑻𝑫</m:t>
                              </m:r>
                            </m:oMath>
                          </a14:m>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10000"/>
                      </a:ext>
                    </a:extLst>
                  </a:tr>
                  <a:tr h="40259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𝐾</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solidFill>
                                <a:srgbClr val="000000"/>
                              </a:solidFill>
                              <a:effectLst/>
                              <a:latin typeface="Verdana" charset="0"/>
                              <a:ea typeface="Verdana" charset="0"/>
                              <a:cs typeface="Verdana" charset="0"/>
                            </a:rPr>
                            <a:t> </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40259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𝑆</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solidFill>
                                <a:srgbClr val="000000"/>
                              </a:solidFill>
                              <a:effectLst/>
                              <a:latin typeface="Verdana" charset="0"/>
                              <a:ea typeface="Verdana" charset="0"/>
                              <a:cs typeface="Verdana" charset="0"/>
                            </a:rPr>
                            <a:t> </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381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𝑅</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solidFill>
                                <a:srgbClr val="000000"/>
                              </a:solidFill>
                              <a:effectLst/>
                              <a:latin typeface="Verdana" charset="0"/>
                              <a:ea typeface="Verdana" charset="0"/>
                              <a:cs typeface="Verdana" charset="0"/>
                            </a:rPr>
                            <a:t> </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40259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𝑊</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solidFill>
                                <a:srgbClr val="000000"/>
                              </a:solidFill>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287387130"/>
                  </p:ext>
                </p:extLst>
              </p:nvPr>
            </p:nvGraphicFramePr>
            <p:xfrm>
              <a:off x="2094041" y="1409324"/>
              <a:ext cx="4620895" cy="2351405"/>
            </p:xfrm>
            <a:graphic>
              <a:graphicData uri="http://schemas.openxmlformats.org/drawingml/2006/table">
                <a:tbl>
                  <a:tblPr firstRow="1" firstCol="1" bandRow="1"/>
                  <a:tblGrid>
                    <a:gridCol w="2308860">
                      <a:extLst>
                        <a:ext uri="{9D8B030D-6E8A-4147-A177-3AD203B41FA5}">
                          <a16:colId xmlns:a16="http://schemas.microsoft.com/office/drawing/2014/main" val="20000"/>
                        </a:ext>
                      </a:extLst>
                    </a:gridCol>
                    <a:gridCol w="2312035">
                      <a:extLst>
                        <a:ext uri="{9D8B030D-6E8A-4147-A177-3AD203B41FA5}">
                          <a16:colId xmlns:a16="http://schemas.microsoft.com/office/drawing/2014/main" val="20001"/>
                        </a:ext>
                      </a:extLst>
                    </a:gridCol>
                  </a:tblGrid>
                  <a:tr h="762635">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64" t="-800" r="-100792" b="-210400"/>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0000" t="-800" r="-526" b="-210400"/>
                          </a:stretch>
                        </a:blipFill>
                      </a:tcPr>
                    </a:tc>
                    <a:extLst>
                      <a:ext uri="{0D108BD9-81ED-4DB2-BD59-A6C34878D82A}">
                        <a16:rowId xmlns:a16="http://schemas.microsoft.com/office/drawing/2014/main" val="10000"/>
                      </a:ext>
                    </a:extLst>
                  </a:tr>
                  <a:tr h="40259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64" t="-190909" r="-100792" b="-298485"/>
                          </a:stretch>
                        </a:blipFill>
                      </a:tcPr>
                    </a:tc>
                    <a:tc>
                      <a:txBody>
                        <a:bodyPr/>
                        <a:lstStyle/>
                        <a:p>
                          <a:pPr marL="0" marR="0" algn="ctr">
                            <a:spcBef>
                              <a:spcPts val="0"/>
                            </a:spcBef>
                            <a:spcAft>
                              <a:spcPts val="0"/>
                            </a:spcAft>
                          </a:pPr>
                          <a:r>
                            <a:rPr lang="en-US" sz="2000">
                              <a:solidFill>
                                <a:srgbClr val="000000"/>
                              </a:solidFill>
                              <a:effectLst/>
                              <a:latin typeface="Verdana" charset="0"/>
                              <a:ea typeface="Verdana" charset="0"/>
                              <a:cs typeface="Verdana" charset="0"/>
                            </a:rPr>
                            <a:t> </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0259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64" t="-290909" r="-100792" b="-198485"/>
                          </a:stretch>
                        </a:blipFill>
                      </a:tcPr>
                    </a:tc>
                    <a:tc>
                      <a:txBody>
                        <a:bodyPr/>
                        <a:lstStyle/>
                        <a:p>
                          <a:pPr marL="0" marR="0" algn="ctr">
                            <a:spcBef>
                              <a:spcPts val="0"/>
                            </a:spcBef>
                            <a:spcAft>
                              <a:spcPts val="0"/>
                            </a:spcAft>
                          </a:pPr>
                          <a:r>
                            <a:rPr lang="en-US" sz="2000">
                              <a:solidFill>
                                <a:srgbClr val="000000"/>
                              </a:solidFill>
                              <a:effectLst/>
                              <a:latin typeface="Verdana" charset="0"/>
                              <a:ea typeface="Verdana" charset="0"/>
                              <a:cs typeface="Verdana" charset="0"/>
                            </a:rPr>
                            <a:t> </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810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64" t="-409524" r="-100792" b="-107937"/>
                          </a:stretch>
                        </a:blipFill>
                      </a:tcPr>
                    </a:tc>
                    <a:tc>
                      <a:txBody>
                        <a:bodyPr/>
                        <a:lstStyle/>
                        <a:p>
                          <a:pPr marL="0" marR="0" algn="ctr">
                            <a:spcBef>
                              <a:spcPts val="0"/>
                            </a:spcBef>
                            <a:spcAft>
                              <a:spcPts val="0"/>
                            </a:spcAft>
                          </a:pPr>
                          <a:r>
                            <a:rPr lang="en-US" sz="2000">
                              <a:solidFill>
                                <a:srgbClr val="000000"/>
                              </a:solidFill>
                              <a:effectLst/>
                              <a:latin typeface="Verdana" charset="0"/>
                              <a:ea typeface="Verdana" charset="0"/>
                              <a:cs typeface="Verdana" charset="0"/>
                            </a:rPr>
                            <a:t> </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0259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64" t="-486364" r="-100792" b="-3030"/>
                          </a:stretch>
                        </a:blipFill>
                      </a:tcPr>
                    </a:tc>
                    <a:tc>
                      <a:txBody>
                        <a:bodyPr/>
                        <a:lstStyle/>
                        <a:p>
                          <a:pPr marL="0" marR="0" algn="ctr">
                            <a:spcBef>
                              <a:spcPts val="0"/>
                            </a:spcBef>
                            <a:spcAft>
                              <a:spcPts val="0"/>
                            </a:spcAft>
                          </a:pPr>
                          <a:r>
                            <a:rPr lang="en-US" sz="2000" dirty="0">
                              <a:solidFill>
                                <a:srgbClr val="000000"/>
                              </a:solidFill>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Fallback>
      </mc:AlternateContent>
      <p:sp>
        <p:nvSpPr>
          <p:cNvPr id="7" name="Text Box 40"/>
          <p:cNvSpPr txBox="1"/>
          <p:nvPr/>
        </p:nvSpPr>
        <p:spPr>
          <a:xfrm>
            <a:off x="1314100" y="4143912"/>
            <a:ext cx="6629400" cy="1938805"/>
          </a:xfrm>
          <a:prstGeom prst="roundRect">
            <a:avLst/>
          </a:prstGeom>
          <a:blipFill dpi="0" rotWithShape="1">
            <a:blip r:embed="rId6">
              <a:extLst>
                <a:ext uri="{28A0092B-C50C-407E-A947-70E740481C1C}">
                  <a14:useLocalDpi xmlns:a14="http://schemas.microsoft.com/office/drawing/2010/main"/>
                </a:ext>
              </a:extLst>
            </a:blip>
            <a:srcRect/>
            <a:stretch>
              <a:fillRect/>
            </a:stretch>
          </a:blip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685800">
              <a:spcAft>
                <a:spcPts val="1000"/>
              </a:spcAft>
            </a:pPr>
            <a:r>
              <a:rPr lang="en-US" sz="2000" b="1" i="1" dirty="0">
                <a:solidFill>
                  <a:srgbClr val="0070C0"/>
                </a:solidFill>
                <a:latin typeface="Verdana" charset="0"/>
                <a:ea typeface="Verdana" charset="0"/>
                <a:cs typeface="Verdana" charset="0"/>
              </a:rPr>
              <a:t>Definition of Congruence in Terms of Rigid Motions </a:t>
            </a:r>
          </a:p>
          <a:p>
            <a:r>
              <a:rPr lang="en-US" sz="2000" dirty="0">
                <a:solidFill>
                  <a:srgbClr val="0070C0"/>
                </a:solidFill>
                <a:latin typeface="Verdana" charset="0"/>
                <a:ea typeface="Verdana" charset="0"/>
                <a:cs typeface="Verdana" charset="0"/>
              </a:rPr>
              <a:t>	Two figures are congruent if and only if 	there exists one or more rigid motions, 	which will map one figure onto the other.</a:t>
            </a:r>
          </a:p>
        </p:txBody>
      </p:sp>
      <p:pic>
        <p:nvPicPr>
          <p:cNvPr id="8" name="Picture 7"/>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1471053" y="4722032"/>
            <a:ext cx="542544" cy="530352"/>
          </a:xfrm>
          <a:prstGeom prst="rect">
            <a:avLst/>
          </a:prstGeom>
        </p:spPr>
      </p:pic>
    </p:spTree>
    <p:extLst>
      <p:ext uri="{BB962C8B-B14F-4D97-AF65-F5344CB8AC3E}">
        <p14:creationId xmlns:p14="http://schemas.microsoft.com/office/powerpoint/2010/main" val="3393813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tr-TR" i="1" dirty="0" err="1">
                <a:latin typeface="Calibri"/>
                <a:ea typeface="Calibri"/>
                <a:cs typeface="Calibri"/>
                <a:sym typeface="Calibri"/>
              </a:rPr>
              <a:t>volume</a:t>
            </a:r>
            <a:r>
              <a:rPr lang="tr-TR" i="1" dirty="0">
                <a:latin typeface="Calibri"/>
                <a:ea typeface="Calibri"/>
                <a:cs typeface="Calibri"/>
                <a:sym typeface="Calibri"/>
              </a:rPr>
              <a:t> 1, </a:t>
            </a:r>
            <a:r>
              <a:rPr lang="tr-TR" i="1" dirty="0" err="1">
                <a:latin typeface="Calibri"/>
                <a:ea typeface="Calibri"/>
                <a:cs typeface="Calibri"/>
                <a:sym typeface="Calibri"/>
              </a:rPr>
              <a:t>pg</a:t>
            </a:r>
            <a:r>
              <a:rPr lang="tr-TR" i="1" dirty="0">
                <a:latin typeface="Calibri"/>
                <a:ea typeface="Calibri"/>
                <a:cs typeface="Calibri"/>
                <a:sym typeface="Calibri"/>
              </a:rPr>
              <a:t>. 214</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8AE5E1E0-A54D-BE42-84B5-F917038ADE99}"/>
                  </a:ext>
                </a:extLst>
              </p:cNvPr>
              <p:cNvSpPr txBox="1"/>
              <p:nvPr/>
            </p:nvSpPr>
            <p:spPr>
              <a:xfrm>
                <a:off x="465232" y="296971"/>
                <a:ext cx="11162918" cy="2862322"/>
              </a:xfrm>
              <a:prstGeom prst="rect">
                <a:avLst/>
              </a:prstGeom>
              <a:noFill/>
            </p:spPr>
            <p:txBody>
              <a:bodyPr wrap="square" rtlCol="0">
                <a:spAutoFit/>
              </a:bodyPr>
              <a:lstStyle/>
              <a:p>
                <a:pPr marL="457200" indent="-457200">
                  <a:buFont typeface="+mj-lt"/>
                  <a:buAutoNum type="alphaLcPeriod" startAt="3"/>
                </a:pPr>
                <a:r>
                  <a:rPr lang="en-US" sz="2000" dirty="0">
                    <a:latin typeface="Verdana" charset="0"/>
                    <a:ea typeface="Verdana" charset="0"/>
                    <a:cs typeface="Verdana" charset="0"/>
                  </a:rPr>
                  <a:t>Complete the statements.</a:t>
                </a:r>
              </a:p>
              <a:p>
                <a:r>
                  <a:rPr lang="en-US" sz="2000" dirty="0">
                    <a:latin typeface="Verdana" charset="0"/>
                    <a:ea typeface="Verdana" charset="0"/>
                    <a:cs typeface="Verdana" charset="0"/>
                  </a:rPr>
                  <a:t> </a:t>
                </a:r>
              </a:p>
              <a:p>
                <a:r>
                  <a:rPr lang="en-US" sz="2000" dirty="0">
                    <a:latin typeface="Verdana" charset="0"/>
                    <a:ea typeface="Verdana" charset="0"/>
                    <a:cs typeface="Verdana" charset="0"/>
                  </a:rPr>
                  <a:t>Quadrilateral </a:t>
                </a:r>
                <a14:m>
                  <m:oMath xmlns:m="http://schemas.openxmlformats.org/officeDocument/2006/math">
                    <m:r>
                      <a:rPr lang="en-US" sz="2000" i="1">
                        <a:latin typeface="Cambria Math" panose="02040503050406030204" pitchFamily="18" charset="0"/>
                        <a:ea typeface="Verdana" charset="0"/>
                        <a:cs typeface="Verdana" charset="0"/>
                      </a:rPr>
                      <m:t>𝐾𝑆𝑅𝑊</m:t>
                    </m:r>
                  </m:oMath>
                </a14:m>
                <a:r>
                  <a:rPr lang="en-US" sz="2000" dirty="0">
                    <a:latin typeface="Verdana" charset="0"/>
                    <a:ea typeface="Verdana" charset="0"/>
                    <a:cs typeface="Verdana" charset="0"/>
                  </a:rPr>
                  <a:t> is congruent to quadrilateral _________ because the sequence of transformations that can be used to map the quadrilaterals were ______________  ______________.</a:t>
                </a:r>
              </a:p>
              <a:p>
                <a:r>
                  <a:rPr lang="en-US" sz="2000" dirty="0">
                    <a:latin typeface="Verdana" charset="0"/>
                    <a:ea typeface="Verdana" charset="0"/>
                    <a:cs typeface="Verdana" charset="0"/>
                  </a:rPr>
                  <a:t> </a:t>
                </a:r>
              </a:p>
              <a:p>
                <a:r>
                  <a:rPr lang="en-US" sz="2000" dirty="0">
                    <a:latin typeface="Verdana" charset="0"/>
                    <a:ea typeface="Verdana" charset="0"/>
                    <a:cs typeface="Verdana" charset="0"/>
                  </a:rPr>
                  <a:t>Because vertex </a:t>
                </a:r>
                <a14:m>
                  <m:oMath xmlns:m="http://schemas.openxmlformats.org/officeDocument/2006/math">
                    <m:r>
                      <a:rPr lang="en-US" sz="2000" i="1">
                        <a:latin typeface="Cambria Math" panose="02040503050406030204" pitchFamily="18" charset="0"/>
                        <a:ea typeface="Verdana" charset="0"/>
                        <a:cs typeface="Verdana" charset="0"/>
                      </a:rPr>
                      <m:t>𝐾</m:t>
                    </m:r>
                  </m:oMath>
                </a14:m>
                <a:r>
                  <a:rPr lang="en-US" sz="2000" dirty="0">
                    <a:latin typeface="Verdana" charset="0"/>
                    <a:ea typeface="Verdana" charset="0"/>
                    <a:cs typeface="Verdana" charset="0"/>
                  </a:rPr>
                  <a:t> maps to vertex ____, vertex </a:t>
                </a:r>
                <a14:m>
                  <m:oMath xmlns:m="http://schemas.openxmlformats.org/officeDocument/2006/math">
                    <m:r>
                      <a:rPr lang="en-US" sz="2000" i="1">
                        <a:latin typeface="Cambria Math" panose="02040503050406030204" pitchFamily="18" charset="0"/>
                        <a:ea typeface="Verdana" charset="0"/>
                        <a:cs typeface="Verdana" charset="0"/>
                      </a:rPr>
                      <m:t>𝑆</m:t>
                    </m:r>
                  </m:oMath>
                </a14:m>
                <a:r>
                  <a:rPr lang="en-US" sz="2000" dirty="0">
                    <a:latin typeface="Verdana" charset="0"/>
                    <a:ea typeface="Verdana" charset="0"/>
                    <a:cs typeface="Verdana" charset="0"/>
                  </a:rPr>
                  <a:t> maps to vertex ____, vertex </a:t>
                </a:r>
                <a14:m>
                  <m:oMath xmlns:m="http://schemas.openxmlformats.org/officeDocument/2006/math">
                    <m:r>
                      <a:rPr lang="en-US" sz="2000" i="1">
                        <a:latin typeface="Cambria Math" panose="02040503050406030204" pitchFamily="18" charset="0"/>
                        <a:ea typeface="Verdana" charset="0"/>
                        <a:cs typeface="Verdana" charset="0"/>
                      </a:rPr>
                      <m:t>𝑅</m:t>
                    </m:r>
                  </m:oMath>
                </a14:m>
                <a:r>
                  <a:rPr lang="en-US" sz="2000" dirty="0">
                    <a:latin typeface="Verdana" charset="0"/>
                    <a:ea typeface="Verdana" charset="0"/>
                    <a:cs typeface="Verdana" charset="0"/>
                  </a:rPr>
                  <a:t> maps to vertex ____, and vertex </a:t>
                </a:r>
                <a14:m>
                  <m:oMath xmlns:m="http://schemas.openxmlformats.org/officeDocument/2006/math">
                    <m:r>
                      <a:rPr lang="en-US" sz="2000" i="1">
                        <a:latin typeface="Cambria Math" panose="02040503050406030204" pitchFamily="18" charset="0"/>
                        <a:ea typeface="Verdana" charset="0"/>
                        <a:cs typeface="Verdana" charset="0"/>
                      </a:rPr>
                      <m:t>𝑊</m:t>
                    </m:r>
                  </m:oMath>
                </a14:m>
                <a:r>
                  <a:rPr lang="en-US" sz="2000" dirty="0">
                    <a:latin typeface="Verdana" charset="0"/>
                    <a:ea typeface="Verdana" charset="0"/>
                    <a:cs typeface="Verdana" charset="0"/>
                  </a:rPr>
                  <a:t> maps to vertex ____. The definition of congruence in terms of rigid motions justifies that </a:t>
                </a:r>
                <a14:m>
                  <m:oMath xmlns:m="http://schemas.openxmlformats.org/officeDocument/2006/math">
                    <m:r>
                      <a:rPr lang="en-US" sz="2000" i="1">
                        <a:latin typeface="Cambria Math" panose="02040503050406030204" pitchFamily="18" charset="0"/>
                        <a:ea typeface="Verdana" charset="0"/>
                        <a:cs typeface="Verdana" charset="0"/>
                      </a:rPr>
                      <m:t>𝐾𝑆𝑅𝑊</m:t>
                    </m:r>
                    <m:r>
                      <a:rPr lang="en-US" sz="2000" i="1">
                        <a:latin typeface="Cambria Math" panose="02040503050406030204" pitchFamily="18" charset="0"/>
                        <a:ea typeface="Verdana" charset="0"/>
                        <a:cs typeface="Verdana" charset="0"/>
                      </a:rPr>
                      <m:t>≅_______________.</m:t>
                    </m:r>
                  </m:oMath>
                </a14:m>
                <a:endParaRPr lang="en-US" sz="2000" dirty="0">
                  <a:latin typeface="Verdana" charset="0"/>
                  <a:ea typeface="Verdana" charset="0"/>
                  <a:cs typeface="Verdana" charset="0"/>
                </a:endParaRPr>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465232" y="296971"/>
                <a:ext cx="11162918" cy="2862322"/>
              </a:xfrm>
              <a:prstGeom prst="rect">
                <a:avLst/>
              </a:prstGeom>
              <a:blipFill>
                <a:blip r:embed="rId4"/>
                <a:stretch>
                  <a:fillRect l="-600" t="-1493" r="-1201" b="-2985"/>
                </a:stretch>
              </a:blipFill>
            </p:spPr>
            <p:txBody>
              <a:bodyPr/>
              <a:lstStyle/>
              <a:p>
                <a:r>
                  <a:rPr lang="en-US">
                    <a:noFill/>
                  </a:rPr>
                  <a:t> </a:t>
                </a:r>
              </a:p>
            </p:txBody>
          </p:sp>
        </mc:Fallback>
      </mc:AlternateContent>
    </p:spTree>
    <p:extLst>
      <p:ext uri="{BB962C8B-B14F-4D97-AF65-F5344CB8AC3E}">
        <p14:creationId xmlns:p14="http://schemas.microsoft.com/office/powerpoint/2010/main" val="20616625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tr-TR" i="1" dirty="0" err="1">
                <a:latin typeface="Calibri"/>
                <a:ea typeface="Calibri"/>
                <a:cs typeface="Calibri"/>
                <a:sym typeface="Calibri"/>
              </a:rPr>
              <a:t>volume</a:t>
            </a:r>
            <a:r>
              <a:rPr lang="tr-TR" i="1" dirty="0">
                <a:latin typeface="Calibri"/>
                <a:ea typeface="Calibri"/>
                <a:cs typeface="Calibri"/>
                <a:sym typeface="Calibri"/>
              </a:rPr>
              <a:t> 1, </a:t>
            </a:r>
            <a:r>
              <a:rPr lang="tr-TR" i="1" dirty="0" err="1">
                <a:latin typeface="Calibri"/>
                <a:ea typeface="Calibri"/>
                <a:cs typeface="Calibri"/>
                <a:sym typeface="Calibri"/>
              </a:rPr>
              <a:t>pg</a:t>
            </a:r>
            <a:r>
              <a:rPr lang="tr-TR" i="1" dirty="0">
                <a:latin typeface="Calibri"/>
                <a:ea typeface="Calibri"/>
                <a:cs typeface="Calibri"/>
                <a:sym typeface="Calibri"/>
              </a:rPr>
              <a:t>. 214</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8AE5E1E0-A54D-BE42-84B5-F917038ADE99}"/>
                  </a:ext>
                </a:extLst>
              </p:cNvPr>
              <p:cNvSpPr txBox="1"/>
              <p:nvPr/>
            </p:nvSpPr>
            <p:spPr>
              <a:xfrm>
                <a:off x="465231" y="296970"/>
                <a:ext cx="9637413" cy="400110"/>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Quadrilaterals </a:t>
                </a:r>
                <a14:m>
                  <m:oMath xmlns:m="http://schemas.openxmlformats.org/officeDocument/2006/math">
                    <m:r>
                      <a:rPr lang="en-US" sz="2000" i="1">
                        <a:latin typeface="Cambria Math" panose="02040503050406030204" pitchFamily="18" charset="0"/>
                        <a:ea typeface="Verdana" charset="0"/>
                        <a:cs typeface="Verdana" charset="0"/>
                      </a:rPr>
                      <m:t>𝐵𝐺𝐿𝑊</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𝐻𝑌𝐶𝑇</m:t>
                    </m:r>
                  </m:oMath>
                </a14:m>
                <a:r>
                  <a:rPr lang="en-US" sz="2000" dirty="0">
                    <a:latin typeface="Verdana" charset="0"/>
                    <a:ea typeface="Verdana" charset="0"/>
                    <a:cs typeface="Verdana" charset="0"/>
                  </a:rPr>
                  <a:t> are shown on the coordinate plane.</a:t>
                </a:r>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465231" y="296970"/>
                <a:ext cx="9637413" cy="400110"/>
              </a:xfrm>
              <a:prstGeom prst="rect">
                <a:avLst/>
              </a:prstGeom>
              <a:blipFill>
                <a:blip r:embed="rId4"/>
                <a:stretch>
                  <a:fillRect l="-696" t="-10769" b="-27692"/>
                </a:stretch>
              </a:blipFill>
            </p:spPr>
            <p:txBody>
              <a:bodyPr/>
              <a:lstStyle/>
              <a:p>
                <a:r>
                  <a:rPr lang="en-US">
                    <a:noFill/>
                  </a:rPr>
                  <a:t> </a:t>
                </a:r>
              </a:p>
            </p:txBody>
          </p:sp>
        </mc:Fallback>
      </mc:AlternateContent>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606200" y="1131089"/>
            <a:ext cx="6045200" cy="3797300"/>
          </a:xfrm>
          <a:prstGeom prst="rect">
            <a:avLst/>
          </a:prstGeom>
        </p:spPr>
      </p:pic>
      <mc:AlternateContent xmlns:mc="http://schemas.openxmlformats.org/markup-compatibility/2006" xmlns:a14="http://schemas.microsoft.com/office/drawing/2010/main">
        <mc:Choice Requires="a14">
          <p:sp>
            <p:nvSpPr>
              <p:cNvPr id="3" name="Rectangle 2"/>
              <p:cNvSpPr/>
              <p:nvPr/>
            </p:nvSpPr>
            <p:spPr>
              <a:xfrm>
                <a:off x="465232" y="5127227"/>
                <a:ext cx="11058692" cy="707886"/>
              </a:xfrm>
              <a:prstGeom prst="rect">
                <a:avLst/>
              </a:prstGeom>
            </p:spPr>
            <p:txBody>
              <a:bodyPr wrap="square">
                <a:spAutoFit/>
              </a:bodyPr>
              <a:lstStyle/>
              <a:p>
                <a:pPr marL="342900" indent="-342900">
                  <a:buFont typeface="+mj-lt"/>
                  <a:buAutoNum type="alphaLcPeriod"/>
                </a:pPr>
                <a:r>
                  <a:rPr lang="en-US" sz="2000" dirty="0">
                    <a:latin typeface="Verdana" charset="0"/>
                    <a:ea typeface="Verdana" charset="0"/>
                    <a:cs typeface="Verdana" charset="0"/>
                  </a:rPr>
                  <a:t>Use algebraic descriptions to describe a sequence of transformations that will map quadrilateral </a:t>
                </a:r>
                <a14:m>
                  <m:oMath xmlns:m="http://schemas.openxmlformats.org/officeDocument/2006/math">
                    <m:r>
                      <a:rPr lang="en-US" sz="2000" i="1">
                        <a:latin typeface="Cambria Math" panose="02040503050406030204" pitchFamily="18" charset="0"/>
                        <a:ea typeface="Verdana" charset="0"/>
                        <a:cs typeface="Verdana" charset="0"/>
                      </a:rPr>
                      <m:t>𝐵𝐺𝐿𝑊</m:t>
                    </m:r>
                  </m:oMath>
                </a14:m>
                <a:r>
                  <a:rPr lang="en-US" sz="2000" dirty="0">
                    <a:latin typeface="Verdana" charset="0"/>
                    <a:ea typeface="Verdana" charset="0"/>
                    <a:cs typeface="Verdana" charset="0"/>
                  </a:rPr>
                  <a:t> onto quadrilateral </a:t>
                </a:r>
                <a14:m>
                  <m:oMath xmlns:m="http://schemas.openxmlformats.org/officeDocument/2006/math">
                    <m:r>
                      <a:rPr lang="en-US" sz="2000" i="1">
                        <a:latin typeface="Cambria Math" panose="02040503050406030204" pitchFamily="18" charset="0"/>
                        <a:ea typeface="Verdana" charset="0"/>
                        <a:cs typeface="Verdana" charset="0"/>
                      </a:rPr>
                      <m:t>𝐻𝑌𝐶𝑇</m:t>
                    </m:r>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a:t>
                </a:r>
              </a:p>
            </p:txBody>
          </p:sp>
        </mc:Choice>
        <mc:Fallback xmlns="">
          <p:sp>
            <p:nvSpPr>
              <p:cNvPr id="3" name="Rectangle 2"/>
              <p:cNvSpPr>
                <a:spLocks noRot="1" noChangeAspect="1" noMove="1" noResize="1" noEditPoints="1" noAdjustHandles="1" noChangeArrowheads="1" noChangeShapeType="1" noTextEdit="1"/>
              </p:cNvSpPr>
              <p:nvPr/>
            </p:nvSpPr>
            <p:spPr>
              <a:xfrm>
                <a:off x="465232" y="5127227"/>
                <a:ext cx="11058692" cy="707886"/>
              </a:xfrm>
              <a:prstGeom prst="rect">
                <a:avLst/>
              </a:prstGeom>
              <a:blipFill>
                <a:blip r:embed="rId6"/>
                <a:stretch>
                  <a:fillRect l="-606" t="-6034" b="-14655"/>
                </a:stretch>
              </a:blipFill>
            </p:spPr>
            <p:txBody>
              <a:bodyPr/>
              <a:lstStyle/>
              <a:p>
                <a:r>
                  <a:rPr lang="en-US">
                    <a:noFill/>
                  </a:rPr>
                  <a:t> </a:t>
                </a:r>
              </a:p>
            </p:txBody>
          </p:sp>
        </mc:Fallback>
      </mc:AlternateContent>
    </p:spTree>
    <p:extLst>
      <p:ext uri="{BB962C8B-B14F-4D97-AF65-F5344CB8AC3E}">
        <p14:creationId xmlns:p14="http://schemas.microsoft.com/office/powerpoint/2010/main" val="9573637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65900"/>
            <a:ext cx="2634000" cy="400079"/>
          </a:xfrm>
          <a:prstGeom prst="rect">
            <a:avLst/>
          </a:prstGeom>
          <a:noFill/>
          <a:ln>
            <a:noFill/>
          </a:ln>
        </p:spPr>
        <p:txBody>
          <a:bodyPr spcFirstLastPara="1" wrap="square" lIns="91425" tIns="91425" rIns="91425" bIns="91425" anchor="t" anchorCtr="0">
            <a:spAutoFit/>
          </a:bodyPr>
          <a:lstStyle/>
          <a:p>
            <a:pPr lvl="0" algn="r"/>
            <a:r>
              <a:rPr lang="tr-TR" i="1" dirty="0" err="1">
                <a:latin typeface="Calibri"/>
                <a:ea typeface="Calibri"/>
                <a:cs typeface="Calibri"/>
                <a:sym typeface="Calibri"/>
              </a:rPr>
              <a:t>volume</a:t>
            </a:r>
            <a:r>
              <a:rPr lang="tr-TR" i="1" dirty="0">
                <a:latin typeface="Calibri"/>
                <a:ea typeface="Calibri"/>
                <a:cs typeface="Calibri"/>
                <a:sym typeface="Calibri"/>
              </a:rPr>
              <a:t> 1, </a:t>
            </a:r>
            <a:r>
              <a:rPr lang="tr-TR" i="1" dirty="0" err="1">
                <a:latin typeface="Calibri"/>
                <a:ea typeface="Calibri"/>
                <a:cs typeface="Calibri"/>
                <a:sym typeface="Calibri"/>
              </a:rPr>
              <a:t>pg</a:t>
            </a:r>
            <a:r>
              <a:rPr lang="tr-TR" i="1" dirty="0">
                <a:latin typeface="Calibri"/>
                <a:ea typeface="Calibri"/>
                <a:cs typeface="Calibri"/>
                <a:sym typeface="Calibri"/>
              </a:rPr>
              <a:t>. 214</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8AE5E1E0-A54D-BE42-84B5-F917038ADE99}"/>
                  </a:ext>
                </a:extLst>
              </p:cNvPr>
              <p:cNvSpPr txBox="1"/>
              <p:nvPr/>
            </p:nvSpPr>
            <p:spPr>
              <a:xfrm>
                <a:off x="465230" y="809927"/>
                <a:ext cx="11058693" cy="707886"/>
              </a:xfrm>
              <a:prstGeom prst="rect">
                <a:avLst/>
              </a:prstGeom>
              <a:noFill/>
            </p:spPr>
            <p:txBody>
              <a:bodyPr wrap="square" rtlCol="0">
                <a:spAutoFit/>
              </a:bodyPr>
              <a:lstStyle/>
              <a:p>
                <a:pPr marL="457200" indent="-457200">
                  <a:buFont typeface="+mj-lt"/>
                  <a:buAutoNum type="alphaLcPeriod" startAt="2"/>
                </a:pPr>
                <a:r>
                  <a:rPr lang="en-US" sz="2000" dirty="0">
                    <a:latin typeface="Verdana" charset="0"/>
                    <a:ea typeface="Verdana" charset="0"/>
                    <a:cs typeface="Verdana" charset="0"/>
                  </a:rPr>
                  <a:t>Complete the table that shows which vertices were mapped to each other when quadrilateral </a:t>
                </a:r>
                <a14:m>
                  <m:oMath xmlns:m="http://schemas.openxmlformats.org/officeDocument/2006/math">
                    <m:r>
                      <a:rPr lang="en-US" sz="2000" i="1">
                        <a:latin typeface="Cambria Math" panose="02040503050406030204" pitchFamily="18" charset="0"/>
                        <a:ea typeface="Verdana" charset="0"/>
                        <a:cs typeface="Verdana" charset="0"/>
                      </a:rPr>
                      <m:t>𝐵𝐺𝐿𝑊</m:t>
                    </m:r>
                  </m:oMath>
                </a14:m>
                <a:r>
                  <a:rPr lang="en-US" sz="2000" dirty="0">
                    <a:latin typeface="Verdana" charset="0"/>
                    <a:ea typeface="Verdana" charset="0"/>
                    <a:cs typeface="Verdana" charset="0"/>
                  </a:rPr>
                  <a:t> was mapped onto quadrilateral </a:t>
                </a:r>
                <a14:m>
                  <m:oMath xmlns:m="http://schemas.openxmlformats.org/officeDocument/2006/math">
                    <m:r>
                      <a:rPr lang="en-US" sz="2000" i="1">
                        <a:latin typeface="Cambria Math" panose="02040503050406030204" pitchFamily="18" charset="0"/>
                        <a:ea typeface="Verdana" charset="0"/>
                        <a:cs typeface="Verdana" charset="0"/>
                      </a:rPr>
                      <m:t>𝐻𝑌𝐶𝑇</m:t>
                    </m:r>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a:t>
                </a:r>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465230" y="809927"/>
                <a:ext cx="11058693" cy="707886"/>
              </a:xfrm>
              <a:prstGeom prst="rect">
                <a:avLst/>
              </a:prstGeom>
              <a:blipFill>
                <a:blip r:embed="rId4"/>
                <a:stretch>
                  <a:fillRect l="-606" t="-6034" b="-146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2445110769"/>
                  </p:ext>
                </p:extLst>
              </p:nvPr>
            </p:nvGraphicFramePr>
            <p:xfrm>
              <a:off x="1444625" y="1729264"/>
              <a:ext cx="5413375" cy="2203650"/>
            </p:xfrm>
            <a:graphic>
              <a:graphicData uri="http://schemas.openxmlformats.org/drawingml/2006/table">
                <a:tbl>
                  <a:tblPr firstRow="1" firstCol="1" bandRow="1"/>
                  <a:tblGrid>
                    <a:gridCol w="2704840">
                      <a:extLst>
                        <a:ext uri="{9D8B030D-6E8A-4147-A177-3AD203B41FA5}">
                          <a16:colId xmlns:a16="http://schemas.microsoft.com/office/drawing/2014/main" xmlns="" val="20000"/>
                        </a:ext>
                      </a:extLst>
                    </a:gridCol>
                    <a:gridCol w="2708535">
                      <a:extLst>
                        <a:ext uri="{9D8B030D-6E8A-4147-A177-3AD203B41FA5}">
                          <a16:colId xmlns:a16="http://schemas.microsoft.com/office/drawing/2014/main" xmlns="" val="20001"/>
                        </a:ext>
                      </a:extLst>
                    </a:gridCol>
                  </a:tblGrid>
                  <a:tr h="720044">
                    <a:tc>
                      <a:txBody>
                        <a:bodyPr/>
                        <a:lstStyle/>
                        <a:p>
                          <a:pPr marL="0" marR="0" algn="ctr">
                            <a:spcBef>
                              <a:spcPts val="0"/>
                            </a:spcBef>
                            <a:spcAft>
                              <a:spcPts val="0"/>
                            </a:spcAft>
                          </a:pPr>
                          <a:r>
                            <a:rPr lang="en-US" sz="2400" b="1" dirty="0">
                              <a:solidFill>
                                <a:srgbClr val="000000"/>
                              </a:solidFill>
                              <a:effectLst/>
                              <a:latin typeface="Verdana" charset="0"/>
                              <a:ea typeface="Verdana" charset="0"/>
                              <a:cs typeface="Verdana" charset="0"/>
                            </a:rPr>
                            <a:t>Quadrilateral </a:t>
                          </a:r>
                          <a14:m>
                            <m:oMath xmlns:m="http://schemas.openxmlformats.org/officeDocument/2006/math">
                              <m:r>
                                <a:rPr lang="en-US" sz="2400" b="1" i="1">
                                  <a:solidFill>
                                    <a:srgbClr val="000000"/>
                                  </a:solidFill>
                                  <a:effectLst/>
                                  <a:latin typeface="Cambria Math" panose="02040503050406030204" pitchFamily="18" charset="0"/>
                                  <a:ea typeface="Verdana" charset="0"/>
                                  <a:cs typeface="Verdana" charset="0"/>
                                </a:rPr>
                                <m:t>𝑩𝑮𝑳𝑾</m:t>
                              </m:r>
                            </m:oMath>
                          </a14:m>
                          <a:endParaRPr lang="en-US" sz="2400" dirty="0">
                            <a:effectLst/>
                            <a:latin typeface="Verdana" charset="0"/>
                            <a:ea typeface="Verdana" charset="0"/>
                            <a:cs typeface="Verdana" charset="0"/>
                          </a:endParaRPr>
                        </a:p>
                      </a:txBody>
                      <a:tcPr marL="79815" marR="79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400" b="1">
                              <a:solidFill>
                                <a:srgbClr val="000000"/>
                              </a:solidFill>
                              <a:effectLst/>
                              <a:latin typeface="Verdana" charset="0"/>
                              <a:ea typeface="Verdana" charset="0"/>
                              <a:cs typeface="Verdana" charset="0"/>
                            </a:rPr>
                            <a:t>Quadrilateral </a:t>
                          </a:r>
                          <a14:m>
                            <m:oMath xmlns:m="http://schemas.openxmlformats.org/officeDocument/2006/math">
                              <m:r>
                                <a:rPr lang="en-US" sz="2400" b="1" i="1">
                                  <a:solidFill>
                                    <a:srgbClr val="000000"/>
                                  </a:solidFill>
                                  <a:effectLst/>
                                  <a:latin typeface="Cambria Math" panose="02040503050406030204" pitchFamily="18" charset="0"/>
                                  <a:ea typeface="Verdana" charset="0"/>
                                  <a:cs typeface="Verdana" charset="0"/>
                                </a:rPr>
                                <m:t>𝑯𝒀𝑪𝑻</m:t>
                              </m:r>
                            </m:oMath>
                          </a14:m>
                          <a:endParaRPr lang="en-US" sz="2400">
                            <a:effectLst/>
                            <a:latin typeface="Verdana" charset="0"/>
                            <a:ea typeface="Verdana" charset="0"/>
                            <a:cs typeface="Verdana" charset="0"/>
                          </a:endParaRPr>
                        </a:p>
                      </a:txBody>
                      <a:tcPr marL="79815" marR="79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10000"/>
                      </a:ext>
                    </a:extLst>
                  </a:tr>
                  <a:tr h="36879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solidFill>
                                      <a:srgbClr val="000000"/>
                                    </a:solidFill>
                                    <a:effectLst/>
                                    <a:latin typeface="Cambria Math" panose="02040503050406030204" pitchFamily="18" charset="0"/>
                                    <a:ea typeface="Verdana" charset="0"/>
                                    <a:cs typeface="Verdana" charset="0"/>
                                  </a:rPr>
                                  <m:t>𝐵</m:t>
                                </m:r>
                              </m:oMath>
                            </m:oMathPara>
                          </a14:m>
                          <a:endParaRPr lang="en-US" sz="2400">
                            <a:effectLst/>
                            <a:latin typeface="Verdana" charset="0"/>
                            <a:ea typeface="Verdana" charset="0"/>
                            <a:cs typeface="Verdana" charset="0"/>
                          </a:endParaRPr>
                        </a:p>
                      </a:txBody>
                      <a:tcPr marL="79815" marR="79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400">
                              <a:solidFill>
                                <a:srgbClr val="000000"/>
                              </a:solidFill>
                              <a:effectLst/>
                              <a:latin typeface="Verdana" charset="0"/>
                              <a:ea typeface="Verdana" charset="0"/>
                              <a:cs typeface="Verdana" charset="0"/>
                            </a:rPr>
                            <a:t> </a:t>
                          </a:r>
                          <a:endParaRPr lang="en-US" sz="2400">
                            <a:effectLst/>
                            <a:latin typeface="Verdana" charset="0"/>
                            <a:ea typeface="Verdana" charset="0"/>
                            <a:cs typeface="Verdana" charset="0"/>
                          </a:endParaRPr>
                        </a:p>
                      </a:txBody>
                      <a:tcPr marL="79815" marR="79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36879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solidFill>
                                      <a:srgbClr val="000000"/>
                                    </a:solidFill>
                                    <a:effectLst/>
                                    <a:latin typeface="Cambria Math" panose="02040503050406030204" pitchFamily="18" charset="0"/>
                                    <a:ea typeface="Verdana" charset="0"/>
                                    <a:cs typeface="Verdana" charset="0"/>
                                  </a:rPr>
                                  <m:t>𝐺</m:t>
                                </m:r>
                              </m:oMath>
                            </m:oMathPara>
                          </a14:m>
                          <a:endParaRPr lang="en-US" sz="2400" dirty="0">
                            <a:effectLst/>
                            <a:latin typeface="Verdana" charset="0"/>
                            <a:ea typeface="Verdana" charset="0"/>
                            <a:cs typeface="Verdana" charset="0"/>
                          </a:endParaRPr>
                        </a:p>
                      </a:txBody>
                      <a:tcPr marL="79815" marR="79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400" dirty="0">
                              <a:solidFill>
                                <a:srgbClr val="000000"/>
                              </a:solidFill>
                              <a:effectLst/>
                              <a:latin typeface="Verdana" charset="0"/>
                              <a:ea typeface="Verdana" charset="0"/>
                              <a:cs typeface="Verdana" charset="0"/>
                            </a:rPr>
                            <a:t> </a:t>
                          </a:r>
                          <a:endParaRPr lang="en-US" sz="2400" dirty="0">
                            <a:effectLst/>
                            <a:latin typeface="Verdana" charset="0"/>
                            <a:ea typeface="Verdana" charset="0"/>
                            <a:cs typeface="Verdana" charset="0"/>
                          </a:endParaRPr>
                        </a:p>
                      </a:txBody>
                      <a:tcPr marL="79815" marR="79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360022">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solidFill>
                                      <a:srgbClr val="000000"/>
                                    </a:solidFill>
                                    <a:effectLst/>
                                    <a:latin typeface="Cambria Math" panose="02040503050406030204" pitchFamily="18" charset="0"/>
                                    <a:ea typeface="Verdana" charset="0"/>
                                    <a:cs typeface="Verdana" charset="0"/>
                                  </a:rPr>
                                  <m:t>𝐿</m:t>
                                </m:r>
                              </m:oMath>
                            </m:oMathPara>
                          </a14:m>
                          <a:endParaRPr lang="en-US" sz="2400">
                            <a:effectLst/>
                            <a:latin typeface="Verdana" charset="0"/>
                            <a:ea typeface="Verdana" charset="0"/>
                            <a:cs typeface="Verdana" charset="0"/>
                          </a:endParaRPr>
                        </a:p>
                      </a:txBody>
                      <a:tcPr marL="79815" marR="79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400">
                              <a:solidFill>
                                <a:srgbClr val="000000"/>
                              </a:solidFill>
                              <a:effectLst/>
                              <a:latin typeface="Verdana" charset="0"/>
                              <a:ea typeface="Verdana" charset="0"/>
                              <a:cs typeface="Verdana" charset="0"/>
                            </a:rPr>
                            <a:t> </a:t>
                          </a:r>
                          <a:endParaRPr lang="en-US" sz="2400">
                            <a:effectLst/>
                            <a:latin typeface="Verdana" charset="0"/>
                            <a:ea typeface="Verdana" charset="0"/>
                            <a:cs typeface="Verdana" charset="0"/>
                          </a:endParaRPr>
                        </a:p>
                      </a:txBody>
                      <a:tcPr marL="79815" marR="79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36879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solidFill>
                                      <a:srgbClr val="000000"/>
                                    </a:solidFill>
                                    <a:effectLst/>
                                    <a:latin typeface="Cambria Math" panose="02040503050406030204" pitchFamily="18" charset="0"/>
                                    <a:ea typeface="Verdana" charset="0"/>
                                    <a:cs typeface="Verdana" charset="0"/>
                                  </a:rPr>
                                  <m:t>𝑊</m:t>
                                </m:r>
                              </m:oMath>
                            </m:oMathPara>
                          </a14:m>
                          <a:endParaRPr lang="en-US" sz="2400">
                            <a:effectLst/>
                            <a:latin typeface="Verdana" charset="0"/>
                            <a:ea typeface="Verdana" charset="0"/>
                            <a:cs typeface="Verdana" charset="0"/>
                          </a:endParaRPr>
                        </a:p>
                      </a:txBody>
                      <a:tcPr marL="79815" marR="79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400" dirty="0">
                              <a:solidFill>
                                <a:srgbClr val="000000"/>
                              </a:solidFill>
                              <a:effectLst/>
                              <a:latin typeface="Verdana" charset="0"/>
                              <a:ea typeface="Verdana" charset="0"/>
                              <a:cs typeface="Verdana" charset="0"/>
                            </a:rPr>
                            <a:t> </a:t>
                          </a:r>
                          <a:endParaRPr lang="en-US" sz="2400" dirty="0">
                            <a:effectLst/>
                            <a:latin typeface="Verdana" charset="0"/>
                            <a:ea typeface="Verdana" charset="0"/>
                            <a:cs typeface="Verdana" charset="0"/>
                          </a:endParaRPr>
                        </a:p>
                      </a:txBody>
                      <a:tcPr marL="79815" marR="79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2445110769"/>
                  </p:ext>
                </p:extLst>
              </p:nvPr>
            </p:nvGraphicFramePr>
            <p:xfrm>
              <a:off x="1444625" y="1729264"/>
              <a:ext cx="5413375" cy="2203650"/>
            </p:xfrm>
            <a:graphic>
              <a:graphicData uri="http://schemas.openxmlformats.org/drawingml/2006/table">
                <a:tbl>
                  <a:tblPr firstRow="1" firstCol="1" bandRow="1"/>
                  <a:tblGrid>
                    <a:gridCol w="2704840">
                      <a:extLst>
                        <a:ext uri="{9D8B030D-6E8A-4147-A177-3AD203B41FA5}">
                          <a16:colId xmlns:a16="http://schemas.microsoft.com/office/drawing/2014/main" val="20000"/>
                        </a:ext>
                      </a:extLst>
                    </a:gridCol>
                    <a:gridCol w="2708535">
                      <a:extLst>
                        <a:ext uri="{9D8B030D-6E8A-4147-A177-3AD203B41FA5}">
                          <a16:colId xmlns:a16="http://schemas.microsoft.com/office/drawing/2014/main" val="20001"/>
                        </a:ext>
                      </a:extLst>
                    </a:gridCol>
                  </a:tblGrid>
                  <a:tr h="731520">
                    <a:tc>
                      <a:txBody>
                        <a:bodyPr/>
                        <a:lstStyle/>
                        <a:p>
                          <a:endParaRPr lang="en-US"/>
                        </a:p>
                      </a:txBody>
                      <a:tcPr marL="79815" marR="79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25" t="-12397" r="-100901" b="-204132"/>
                          </a:stretch>
                        </a:blipFill>
                      </a:tcPr>
                    </a:tc>
                    <a:tc>
                      <a:txBody>
                        <a:bodyPr/>
                        <a:lstStyle/>
                        <a:p>
                          <a:endParaRPr lang="en-US"/>
                        </a:p>
                      </a:txBody>
                      <a:tcPr marL="79815" marR="79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0000" t="-12397" r="-674" b="-204132"/>
                          </a:stretch>
                        </a:blipFill>
                      </a:tcPr>
                    </a:tc>
                    <a:extLst>
                      <a:ext uri="{0D108BD9-81ED-4DB2-BD59-A6C34878D82A}">
                        <a16:rowId xmlns:a16="http://schemas.microsoft.com/office/drawing/2014/main" val="10000"/>
                      </a:ext>
                    </a:extLst>
                  </a:tr>
                  <a:tr h="368790">
                    <a:tc>
                      <a:txBody>
                        <a:bodyPr/>
                        <a:lstStyle/>
                        <a:p>
                          <a:endParaRPr lang="en-US"/>
                        </a:p>
                      </a:txBody>
                      <a:tcPr marL="79815" marR="79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25" t="-226667" r="-100901" b="-311667"/>
                          </a:stretch>
                        </a:blipFill>
                      </a:tcPr>
                    </a:tc>
                    <a:tc>
                      <a:txBody>
                        <a:bodyPr/>
                        <a:lstStyle/>
                        <a:p>
                          <a:pPr marL="0" marR="0" algn="ctr">
                            <a:spcBef>
                              <a:spcPts val="0"/>
                            </a:spcBef>
                            <a:spcAft>
                              <a:spcPts val="0"/>
                            </a:spcAft>
                          </a:pPr>
                          <a:r>
                            <a:rPr lang="en-US" sz="2400">
                              <a:solidFill>
                                <a:srgbClr val="000000"/>
                              </a:solidFill>
                              <a:effectLst/>
                              <a:latin typeface="Verdana" charset="0"/>
                              <a:ea typeface="Verdana" charset="0"/>
                              <a:cs typeface="Verdana" charset="0"/>
                            </a:rPr>
                            <a:t> </a:t>
                          </a:r>
                          <a:endParaRPr lang="en-US" sz="2400">
                            <a:effectLst/>
                            <a:latin typeface="Verdana" charset="0"/>
                            <a:ea typeface="Verdana" charset="0"/>
                            <a:cs typeface="Verdana" charset="0"/>
                          </a:endParaRPr>
                        </a:p>
                      </a:txBody>
                      <a:tcPr marL="79815" marR="79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68790">
                    <a:tc>
                      <a:txBody>
                        <a:bodyPr/>
                        <a:lstStyle/>
                        <a:p>
                          <a:endParaRPr lang="en-US"/>
                        </a:p>
                      </a:txBody>
                      <a:tcPr marL="79815" marR="79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25" t="-321311" r="-100901" b="-206557"/>
                          </a:stretch>
                        </a:blipFill>
                      </a:tcPr>
                    </a:tc>
                    <a:tc>
                      <a:txBody>
                        <a:bodyPr/>
                        <a:lstStyle/>
                        <a:p>
                          <a:pPr marL="0" marR="0" algn="ctr">
                            <a:spcBef>
                              <a:spcPts val="0"/>
                            </a:spcBef>
                            <a:spcAft>
                              <a:spcPts val="0"/>
                            </a:spcAft>
                          </a:pPr>
                          <a:r>
                            <a:rPr lang="en-US" sz="2400" dirty="0">
                              <a:solidFill>
                                <a:srgbClr val="000000"/>
                              </a:solidFill>
                              <a:effectLst/>
                              <a:latin typeface="Verdana" charset="0"/>
                              <a:ea typeface="Verdana" charset="0"/>
                              <a:cs typeface="Verdana" charset="0"/>
                            </a:rPr>
                            <a:t> </a:t>
                          </a:r>
                          <a:endParaRPr lang="en-US" sz="2400" dirty="0">
                            <a:effectLst/>
                            <a:latin typeface="Verdana" charset="0"/>
                            <a:ea typeface="Verdana" charset="0"/>
                            <a:cs typeface="Verdana" charset="0"/>
                          </a:endParaRPr>
                        </a:p>
                      </a:txBody>
                      <a:tcPr marL="79815" marR="79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endParaRPr lang="en-US"/>
                        </a:p>
                      </a:txBody>
                      <a:tcPr marL="79815" marR="79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25" t="-428333" r="-100901" b="-110000"/>
                          </a:stretch>
                        </a:blipFill>
                      </a:tcPr>
                    </a:tc>
                    <a:tc>
                      <a:txBody>
                        <a:bodyPr/>
                        <a:lstStyle/>
                        <a:p>
                          <a:pPr marL="0" marR="0" algn="ctr">
                            <a:spcBef>
                              <a:spcPts val="0"/>
                            </a:spcBef>
                            <a:spcAft>
                              <a:spcPts val="0"/>
                            </a:spcAft>
                          </a:pPr>
                          <a:r>
                            <a:rPr lang="en-US" sz="2400">
                              <a:solidFill>
                                <a:srgbClr val="000000"/>
                              </a:solidFill>
                              <a:effectLst/>
                              <a:latin typeface="Verdana" charset="0"/>
                              <a:ea typeface="Verdana" charset="0"/>
                              <a:cs typeface="Verdana" charset="0"/>
                            </a:rPr>
                            <a:t> </a:t>
                          </a:r>
                          <a:endParaRPr lang="en-US" sz="2400">
                            <a:effectLst/>
                            <a:latin typeface="Verdana" charset="0"/>
                            <a:ea typeface="Verdana" charset="0"/>
                            <a:cs typeface="Verdana" charset="0"/>
                          </a:endParaRPr>
                        </a:p>
                      </a:txBody>
                      <a:tcPr marL="79815" marR="79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68790">
                    <a:tc>
                      <a:txBody>
                        <a:bodyPr/>
                        <a:lstStyle/>
                        <a:p>
                          <a:endParaRPr lang="en-US"/>
                        </a:p>
                      </a:txBody>
                      <a:tcPr marL="79815" marR="79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25" t="-519672" r="-100901" b="-8197"/>
                          </a:stretch>
                        </a:blipFill>
                      </a:tcPr>
                    </a:tc>
                    <a:tc>
                      <a:txBody>
                        <a:bodyPr/>
                        <a:lstStyle/>
                        <a:p>
                          <a:pPr marL="0" marR="0" algn="ctr">
                            <a:spcBef>
                              <a:spcPts val="0"/>
                            </a:spcBef>
                            <a:spcAft>
                              <a:spcPts val="0"/>
                            </a:spcAft>
                          </a:pPr>
                          <a:r>
                            <a:rPr lang="en-US" sz="2400" dirty="0">
                              <a:solidFill>
                                <a:srgbClr val="000000"/>
                              </a:solidFill>
                              <a:effectLst/>
                              <a:latin typeface="Verdana" charset="0"/>
                              <a:ea typeface="Verdana" charset="0"/>
                              <a:cs typeface="Verdana" charset="0"/>
                            </a:rPr>
                            <a:t> </a:t>
                          </a:r>
                          <a:endParaRPr lang="en-US" sz="2400" dirty="0">
                            <a:effectLst/>
                            <a:latin typeface="Verdana" charset="0"/>
                            <a:ea typeface="Verdana" charset="0"/>
                            <a:cs typeface="Verdana" charset="0"/>
                          </a:endParaRPr>
                        </a:p>
                      </a:txBody>
                      <a:tcPr marL="79815" marR="798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Fallback>
      </mc:AlternateContent>
    </p:spTree>
    <p:extLst>
      <p:ext uri="{BB962C8B-B14F-4D97-AF65-F5344CB8AC3E}">
        <p14:creationId xmlns:p14="http://schemas.microsoft.com/office/powerpoint/2010/main" val="698583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tr-TR" i="1" dirty="0" err="1">
                <a:latin typeface="Calibri"/>
                <a:ea typeface="Calibri"/>
                <a:cs typeface="Calibri"/>
                <a:sym typeface="Calibri"/>
              </a:rPr>
              <a:t>volume</a:t>
            </a:r>
            <a:r>
              <a:rPr lang="tr-TR" i="1" dirty="0">
                <a:latin typeface="Calibri"/>
                <a:ea typeface="Calibri"/>
                <a:cs typeface="Calibri"/>
                <a:sym typeface="Calibri"/>
              </a:rPr>
              <a:t> 1, </a:t>
            </a:r>
            <a:r>
              <a:rPr lang="tr-TR" i="1" dirty="0" err="1">
                <a:latin typeface="Calibri"/>
                <a:ea typeface="Calibri"/>
                <a:cs typeface="Calibri"/>
                <a:sym typeface="Calibri"/>
              </a:rPr>
              <a:t>pg</a:t>
            </a:r>
            <a:r>
              <a:rPr lang="tr-TR" i="1" dirty="0">
                <a:latin typeface="Calibri"/>
                <a:ea typeface="Calibri"/>
                <a:cs typeface="Calibri"/>
                <a:sym typeface="Calibri"/>
              </a:rPr>
              <a:t>. 215</a:t>
            </a:r>
          </a:p>
        </p:txBody>
      </p:sp>
      <p:sp>
        <p:nvSpPr>
          <p:cNvPr id="9" name="Text Box 40"/>
          <p:cNvSpPr txBox="1"/>
          <p:nvPr/>
        </p:nvSpPr>
        <p:spPr>
          <a:xfrm>
            <a:off x="1314100" y="707977"/>
            <a:ext cx="6629400" cy="1476820"/>
          </a:xfrm>
          <a:prstGeom prst="roundRect">
            <a:avLst/>
          </a:prstGeom>
          <a:blipFill dpi="0" rotWithShape="1">
            <a:blip r:embed="rId4">
              <a:extLst>
                <a:ext uri="{28A0092B-C50C-407E-A947-70E740481C1C}">
                  <a14:useLocalDpi xmlns:a14="http://schemas.microsoft.com/office/drawing/2010/main"/>
                </a:ext>
              </a:extLst>
            </a:blip>
            <a:srcRect/>
            <a:stretch>
              <a:fillRect/>
            </a:stretch>
          </a:blip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2000" dirty="0">
                <a:solidFill>
                  <a:srgbClr val="0070C0"/>
                </a:solidFill>
                <a:latin typeface="Verdana" charset="0"/>
                <a:ea typeface="Verdana" charset="0"/>
                <a:cs typeface="Verdana" charset="0"/>
              </a:rPr>
              <a:t>	When using rigid motions to map one 	figure onto the other, always be sure the 	corresponding vertices match before 	stating congruence.</a:t>
            </a:r>
          </a:p>
        </p:txBody>
      </p:sp>
      <p:pic>
        <p:nvPicPr>
          <p:cNvPr id="10" name="Picture 9"/>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515658" y="1076643"/>
            <a:ext cx="682176" cy="666846"/>
          </a:xfrm>
          <a:prstGeom prst="rect">
            <a:avLst/>
          </a:prstGeom>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6" name="Rectangle 5"/>
              <p:cNvSpPr/>
              <p:nvPr/>
            </p:nvSpPr>
            <p:spPr>
              <a:xfrm>
                <a:off x="766314" y="3079108"/>
                <a:ext cx="8166857" cy="1015663"/>
              </a:xfrm>
              <a:prstGeom prst="rect">
                <a:avLst/>
              </a:prstGeom>
            </p:spPr>
            <p:txBody>
              <a:bodyPr wrap="square">
                <a:spAutoFit/>
              </a:bodyPr>
              <a:lstStyle/>
              <a:p>
                <a:pPr marL="457200" indent="-457200">
                  <a:buFont typeface="+mj-lt"/>
                  <a:buAutoNum type="alphaLcPeriod" startAt="3"/>
                </a:pPr>
                <a:r>
                  <a:rPr lang="en-US" sz="2000" dirty="0">
                    <a:latin typeface="Verdana" charset="0"/>
                    <a:ea typeface="Verdana" charset="0"/>
                    <a:cs typeface="Verdana" charset="0"/>
                  </a:rPr>
                  <a:t>Complete the congruence statement. </a:t>
                </a:r>
              </a:p>
              <a:p>
                <a:pPr marL="457200" indent="-457200">
                  <a:buFont typeface="+mj-lt"/>
                  <a:buAutoNum type="alphaLcPeriod" startAt="3"/>
                </a:pPr>
                <a:endParaRPr lang="en-US" sz="2000" i="1" dirty="0">
                  <a:latin typeface="Verdana" charset="0"/>
                  <a:ea typeface="Verdana" charset="0"/>
                  <a:cs typeface="Verdana" charset="0"/>
                </a:endParaRPr>
              </a:p>
              <a:p>
                <a:pPr lvl="0"/>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Verdana" charset="0"/>
                          <a:cs typeface="Verdana" charset="0"/>
                        </a:rPr>
                        <m:t>𝐵𝐺𝐿𝑊</m:t>
                      </m:r>
                      <m:r>
                        <a:rPr lang="en-US" sz="2000" i="1">
                          <a:latin typeface="Cambria Math" panose="02040503050406030204" pitchFamily="18" charset="0"/>
                          <a:ea typeface="Verdana" charset="0"/>
                          <a:cs typeface="Verdana" charset="0"/>
                        </a:rPr>
                        <m:t>≅_____________</m:t>
                      </m:r>
                    </m:oMath>
                  </m:oMathPara>
                </a14:m>
                <a:endParaRPr lang="en-US" sz="2000" dirty="0">
                  <a:latin typeface="Verdana" charset="0"/>
                  <a:ea typeface="Verdana" charset="0"/>
                  <a:cs typeface="Verdana" charset="0"/>
                </a:endParaRPr>
              </a:p>
            </p:txBody>
          </p:sp>
        </mc:Choice>
        <mc:Fallback xmlns="">
          <p:sp>
            <p:nvSpPr>
              <p:cNvPr id="6" name="Rectangle 5"/>
              <p:cNvSpPr>
                <a:spLocks noRot="1" noChangeAspect="1" noMove="1" noResize="1" noEditPoints="1" noAdjustHandles="1" noChangeArrowheads="1" noChangeShapeType="1" noTextEdit="1"/>
              </p:cNvSpPr>
              <p:nvPr/>
            </p:nvSpPr>
            <p:spPr>
              <a:xfrm>
                <a:off x="766314" y="3079108"/>
                <a:ext cx="8166857" cy="1015663"/>
              </a:xfrm>
              <a:prstGeom prst="rect">
                <a:avLst/>
              </a:prstGeom>
              <a:blipFill>
                <a:blip r:embed="rId6"/>
                <a:stretch>
                  <a:fillRect l="-822" t="-4192"/>
                </a:stretch>
              </a:blipFill>
            </p:spPr>
            <p:txBody>
              <a:bodyPr/>
              <a:lstStyle/>
              <a:p>
                <a:r>
                  <a:rPr lang="en-US">
                    <a:noFill/>
                  </a:rPr>
                  <a:t> </a:t>
                </a:r>
              </a:p>
            </p:txBody>
          </p:sp>
        </mc:Fallback>
      </mc:AlternateContent>
    </p:spTree>
    <p:extLst>
      <p:ext uri="{BB962C8B-B14F-4D97-AF65-F5344CB8AC3E}">
        <p14:creationId xmlns:p14="http://schemas.microsoft.com/office/powerpoint/2010/main" val="14101552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xmlns="" id="{33005AFD-D615-1344-BDC0-5A40F645481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tr-TR" i="1" dirty="0" err="1">
                <a:latin typeface="Calibri"/>
                <a:ea typeface="Calibri"/>
                <a:cs typeface="Calibri"/>
                <a:sym typeface="Calibri"/>
              </a:rPr>
              <a:t>volume</a:t>
            </a:r>
            <a:r>
              <a:rPr lang="tr-TR" i="1" dirty="0">
                <a:latin typeface="Calibri"/>
                <a:ea typeface="Calibri"/>
                <a:cs typeface="Calibri"/>
                <a:sym typeface="Calibri"/>
              </a:rPr>
              <a:t> 1, </a:t>
            </a:r>
            <a:r>
              <a:rPr lang="tr-TR" i="1" dirty="0" err="1">
                <a:latin typeface="Calibri"/>
                <a:ea typeface="Calibri"/>
                <a:cs typeface="Calibri"/>
                <a:sym typeface="Calibri"/>
              </a:rPr>
              <a:t>pg</a:t>
            </a:r>
            <a:r>
              <a:rPr lang="tr-TR" i="1" dirty="0">
                <a:latin typeface="Calibri"/>
                <a:ea typeface="Calibri"/>
                <a:cs typeface="Calibri"/>
                <a:sym typeface="Calibri"/>
              </a:rPr>
              <a:t>. 215</a:t>
            </a:r>
          </a:p>
        </p:txBody>
      </p:sp>
      <p:pic>
        <p:nvPicPr>
          <p:cNvPr id="9218" name="Picture 2" descr="Icon&#10;&#10;Description automatically generated">
            <a:extLst>
              <a:ext uri="{FF2B5EF4-FFF2-40B4-BE49-F238E27FC236}">
                <a16:creationId xmlns:a16="http://schemas.microsoft.com/office/drawing/2014/main" xmlns=""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3014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7233"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052650" y="-140323"/>
            <a:ext cx="1083650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4.7.3 Guided Practice: Justifying Congruence</a:t>
            </a:r>
          </a:p>
        </p:txBody>
      </p:sp>
      <p:sp>
        <p:nvSpPr>
          <p:cNvPr id="12" name="Google Shape;282;g104476d1465_1_17">
            <a:extLst>
              <a:ext uri="{FF2B5EF4-FFF2-40B4-BE49-F238E27FC236}">
                <a16:creationId xmlns:a16="http://schemas.microsoft.com/office/drawing/2014/main" xmlns="" id="{B2B1ECCC-8E07-F247-BB16-7B958B8E6B20}"/>
              </a:ext>
            </a:extLst>
          </p:cNvPr>
          <p:cNvSpPr txBox="1"/>
          <p:nvPr/>
        </p:nvSpPr>
        <p:spPr>
          <a:xfrm>
            <a:off x="8869007" y="6457799"/>
            <a:ext cx="2634000" cy="400200"/>
          </a:xfrm>
          <a:prstGeom prst="rect">
            <a:avLst/>
          </a:prstGeom>
          <a:noFill/>
          <a:ln>
            <a:noFill/>
          </a:ln>
        </p:spPr>
        <p:txBody>
          <a:bodyPr spcFirstLastPara="1" wrap="square" lIns="91425" tIns="91425" rIns="91425" bIns="91425" anchor="t" anchorCtr="0">
            <a:spAutoFit/>
          </a:bodyPr>
          <a:lstStyle/>
          <a:p>
            <a:pPr lvl="0" algn="r"/>
            <a:r>
              <a:rPr lang="tr-TR" i="1" dirty="0" err="1">
                <a:latin typeface="Calibri"/>
                <a:ea typeface="Calibri"/>
                <a:cs typeface="Calibri"/>
                <a:sym typeface="Calibri"/>
              </a:rPr>
              <a:t>volume</a:t>
            </a:r>
            <a:r>
              <a:rPr lang="tr-TR" i="1" dirty="0">
                <a:latin typeface="Calibri"/>
                <a:ea typeface="Calibri"/>
                <a:cs typeface="Calibri"/>
                <a:sym typeface="Calibri"/>
              </a:rPr>
              <a:t> 1, </a:t>
            </a:r>
            <a:r>
              <a:rPr lang="tr-TR" i="1" dirty="0" err="1">
                <a:latin typeface="Calibri"/>
                <a:ea typeface="Calibri"/>
                <a:cs typeface="Calibri"/>
                <a:sym typeface="Calibri"/>
              </a:rPr>
              <a:t>pg</a:t>
            </a:r>
            <a:r>
              <a:rPr lang="tr-TR" i="1" dirty="0">
                <a:latin typeface="Calibri"/>
                <a:ea typeface="Calibri"/>
                <a:cs typeface="Calibri"/>
                <a:sym typeface="Calibri"/>
              </a:rPr>
              <a:t>. 215</a:t>
            </a:r>
          </a:p>
        </p:txBody>
      </p:sp>
      <p:pic>
        <p:nvPicPr>
          <p:cNvPr id="8" name="Picture 2" descr="Icon&#10;&#10;Description automatically generated">
            <a:extLst>
              <a:ext uri="{FF2B5EF4-FFF2-40B4-BE49-F238E27FC236}">
                <a16:creationId xmlns:a16="http://schemas.microsoft.com/office/drawing/2014/main" xmlns=""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2842" y="128940"/>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31D40250-DEDD-2C41-8538-3D4DD18CCC4A}"/>
                  </a:ext>
                </a:extLst>
              </p:cNvPr>
              <p:cNvSpPr txBox="1"/>
              <p:nvPr/>
            </p:nvSpPr>
            <p:spPr>
              <a:xfrm>
                <a:off x="540564" y="1186096"/>
                <a:ext cx="9989783" cy="400110"/>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Polygons </a:t>
                </a:r>
                <a14:m>
                  <m:oMath xmlns:m="http://schemas.openxmlformats.org/officeDocument/2006/math">
                    <m:r>
                      <a:rPr lang="en-US" sz="2000" i="1">
                        <a:latin typeface="Cambria Math" panose="02040503050406030204" pitchFamily="18" charset="0"/>
                        <a:ea typeface="Verdana" charset="0"/>
                        <a:cs typeface="Verdana" charset="0"/>
                      </a:rPr>
                      <m:t>𝑇𝑋𝐺𝑀𝐵</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𝑊𝐹𝐾𝐻𝐶</m:t>
                    </m:r>
                  </m:oMath>
                </a14:m>
                <a:r>
                  <a:rPr lang="en-US" sz="2000" dirty="0">
                    <a:latin typeface="Verdana" charset="0"/>
                    <a:ea typeface="Verdana" charset="0"/>
                    <a:cs typeface="Verdana" charset="0"/>
                  </a:rPr>
                  <a:t> are shown on the coordinate grid.</a:t>
                </a:r>
              </a:p>
            </p:txBody>
          </p:sp>
        </mc:Choice>
        <mc:Fallback xmlns="">
          <p:sp>
            <p:nvSpPr>
              <p:cNvPr id="10" name="TextBox 9">
                <a:extLst>
                  <a:ext uri="{FF2B5EF4-FFF2-40B4-BE49-F238E27FC236}">
                    <a16:creationId xmlns:a16="http://schemas.microsoft.com/office/drawing/2014/main" id="{31D40250-DEDD-2C41-8538-3D4DD18CCC4A}"/>
                  </a:ext>
                </a:extLst>
              </p:cNvPr>
              <p:cNvSpPr txBox="1">
                <a:spLocks noRot="1" noChangeAspect="1" noMove="1" noResize="1" noEditPoints="1" noAdjustHandles="1" noChangeArrowheads="1" noChangeShapeType="1" noTextEdit="1"/>
              </p:cNvSpPr>
              <p:nvPr/>
            </p:nvSpPr>
            <p:spPr>
              <a:xfrm>
                <a:off x="540564" y="1186096"/>
                <a:ext cx="9989783" cy="400110"/>
              </a:xfrm>
              <a:prstGeom prst="rect">
                <a:avLst/>
              </a:prstGeom>
              <a:blipFill>
                <a:blip r:embed="rId5"/>
                <a:stretch>
                  <a:fillRect l="-672" t="-10769" b="-27692"/>
                </a:stretch>
              </a:blipFill>
            </p:spPr>
            <p:txBody>
              <a:bodyPr/>
              <a:lstStyle/>
              <a:p>
                <a:r>
                  <a:rPr lang="en-US">
                    <a:noFill/>
                  </a:rPr>
                  <a:t> </a:t>
                </a:r>
              </a:p>
            </p:txBody>
          </p:sp>
        </mc:Fallback>
      </mc:AlternateContent>
      <p:pic>
        <p:nvPicPr>
          <p:cNvPr id="2" name="Picture 1"/>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529080" y="1641096"/>
            <a:ext cx="4350105" cy="2970135"/>
          </a:xfrm>
          <a:prstGeom prst="rect">
            <a:avLst/>
          </a:prstGeom>
        </p:spPr>
      </p:pic>
      <mc:AlternateContent xmlns:mc="http://schemas.openxmlformats.org/markup-compatibility/2006" xmlns:a14="http://schemas.microsoft.com/office/drawing/2010/main">
        <mc:Choice Requires="a14">
          <p:sp>
            <p:nvSpPr>
              <p:cNvPr id="3" name="Rectangle 2"/>
              <p:cNvSpPr/>
              <p:nvPr/>
            </p:nvSpPr>
            <p:spPr>
              <a:xfrm>
                <a:off x="540565" y="4666121"/>
                <a:ext cx="10962442" cy="1938992"/>
              </a:xfrm>
              <a:prstGeom prst="rect">
                <a:avLst/>
              </a:prstGeom>
            </p:spPr>
            <p:txBody>
              <a:bodyPr wrap="square">
                <a:spAutoFit/>
              </a:bodyPr>
              <a:lstStyle/>
              <a:p>
                <a:pPr marL="342900" indent="-342900">
                  <a:buFont typeface="+mj-lt"/>
                  <a:buAutoNum type="alphaLcPeriod"/>
                </a:pPr>
                <a:r>
                  <a:rPr lang="en-US" sz="2000" dirty="0">
                    <a:latin typeface="Verdana" charset="0"/>
                    <a:ea typeface="Verdana" charset="0"/>
                    <a:cs typeface="Verdana" charset="0"/>
                  </a:rPr>
                  <a:t>Use algebraic descriptions to describe a sequence of transformations that will map polygon </a:t>
                </a:r>
                <a14:m>
                  <m:oMath xmlns:m="http://schemas.openxmlformats.org/officeDocument/2006/math">
                    <m:r>
                      <a:rPr lang="en-US" sz="2000" i="1">
                        <a:latin typeface="Cambria Math" panose="02040503050406030204" pitchFamily="18" charset="0"/>
                        <a:ea typeface="Verdana" charset="0"/>
                        <a:cs typeface="Verdana" charset="0"/>
                      </a:rPr>
                      <m:t>𝑇𝑋𝐺𝑀𝐵</m:t>
                    </m:r>
                  </m:oMath>
                </a14:m>
                <a:r>
                  <a:rPr lang="en-US" sz="2000" dirty="0">
                    <a:latin typeface="Verdana" charset="0"/>
                    <a:ea typeface="Verdana" charset="0"/>
                    <a:cs typeface="Verdana" charset="0"/>
                  </a:rPr>
                  <a:t> onto polygon </a:t>
                </a:r>
                <a14:m>
                  <m:oMath xmlns:m="http://schemas.openxmlformats.org/officeDocument/2006/math">
                    <m:r>
                      <a:rPr lang="en-US" sz="2000" i="1">
                        <a:latin typeface="Cambria Math" panose="02040503050406030204" pitchFamily="18" charset="0"/>
                        <a:ea typeface="Verdana" charset="0"/>
                        <a:cs typeface="Verdana" charset="0"/>
                      </a:rPr>
                      <m:t>𝑊𝐹𝐾𝐻𝐶</m:t>
                    </m:r>
                  </m:oMath>
                </a14:m>
                <a:r>
                  <a:rPr lang="en-US" sz="2000" dirty="0">
                    <a:latin typeface="Verdana" charset="0"/>
                    <a:ea typeface="Verdana" charset="0"/>
                    <a:cs typeface="Verdana" charset="0"/>
                  </a:rPr>
                  <a:t>.</a:t>
                </a:r>
              </a:p>
              <a:p>
                <a:pPr marL="342900" indent="-3429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startAt="2"/>
                </a:pPr>
                <a:r>
                  <a:rPr lang="en-US" sz="2000" dirty="0">
                    <a:latin typeface="Verdana" charset="0"/>
                    <a:ea typeface="Verdana" charset="0"/>
                    <a:cs typeface="Verdana" charset="0"/>
                  </a:rPr>
                  <a:t>Complete the congruence statement.</a:t>
                </a:r>
              </a:p>
              <a:p>
                <a:pPr marL="2628900" indent="122238"/>
                <a:r>
                  <a:rPr lang="en-US" sz="2000" dirty="0">
                    <a:latin typeface="Verdana" charset="0"/>
                    <a:ea typeface="Verdana" charset="0"/>
                    <a:cs typeface="Verdana" charset="0"/>
                  </a:rPr>
                  <a:t> </a:t>
                </a:r>
                <a14:m>
                  <m:oMath xmlns:m="http://schemas.openxmlformats.org/officeDocument/2006/math">
                    <m:r>
                      <a:rPr lang="en-US" sz="2000" i="1">
                        <a:latin typeface="Cambria Math" panose="02040503050406030204" pitchFamily="18" charset="0"/>
                        <a:ea typeface="Verdana" charset="0"/>
                        <a:cs typeface="Verdana" charset="0"/>
                      </a:rPr>
                      <m:t>𝑇𝑋𝐺𝑀𝐵</m:t>
                    </m:r>
                    <m:r>
                      <a:rPr lang="en-US" sz="2000" i="1">
                        <a:latin typeface="Cambria Math" panose="02040503050406030204" pitchFamily="18" charset="0"/>
                        <a:ea typeface="Verdana" charset="0"/>
                        <a:cs typeface="Verdana" charset="0"/>
                      </a:rPr>
                      <m:t>≅_____________</m:t>
                    </m:r>
                  </m:oMath>
                </a14:m>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540565" y="4666121"/>
                <a:ext cx="10962442" cy="1938992"/>
              </a:xfrm>
              <a:prstGeom prst="rect">
                <a:avLst/>
              </a:prstGeom>
              <a:blipFill>
                <a:blip r:embed="rId7"/>
                <a:stretch>
                  <a:fillRect l="-612" t="-1881"/>
                </a:stretch>
              </a:blipFill>
            </p:spPr>
            <p:txBody>
              <a:bodyPr/>
              <a:lstStyle/>
              <a:p>
                <a:r>
                  <a:rPr lang="en-US">
                    <a:noFill/>
                  </a:rPr>
                  <a:t> </a:t>
                </a:r>
              </a:p>
            </p:txBody>
          </p:sp>
        </mc:Fallback>
      </mc:AlternateContent>
    </p:spTree>
    <p:extLst>
      <p:ext uri="{BB962C8B-B14F-4D97-AF65-F5344CB8AC3E}">
        <p14:creationId xmlns:p14="http://schemas.microsoft.com/office/powerpoint/2010/main" val="745523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tr-TR" i="1" dirty="0" err="1">
                <a:latin typeface="Calibri"/>
                <a:ea typeface="Calibri"/>
                <a:cs typeface="Calibri"/>
                <a:sym typeface="Calibri"/>
              </a:rPr>
              <a:t>volume</a:t>
            </a:r>
            <a:r>
              <a:rPr lang="tr-TR" i="1" dirty="0">
                <a:latin typeface="Calibri"/>
                <a:ea typeface="Calibri"/>
                <a:cs typeface="Calibri"/>
                <a:sym typeface="Calibri"/>
              </a:rPr>
              <a:t> 1, </a:t>
            </a:r>
            <a:r>
              <a:rPr lang="tr-TR" i="1" dirty="0" err="1">
                <a:latin typeface="Calibri"/>
                <a:ea typeface="Calibri"/>
                <a:cs typeface="Calibri"/>
                <a:sym typeface="Calibri"/>
              </a:rPr>
              <a:t>pg</a:t>
            </a:r>
            <a:r>
              <a:rPr lang="tr-TR" i="1" dirty="0">
                <a:latin typeface="Calibri"/>
                <a:ea typeface="Calibri"/>
                <a:cs typeface="Calibri"/>
                <a:sym typeface="Calibri"/>
              </a:rPr>
              <a:t>. 216</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A3BC97A7-8575-5A46-8E72-A886A83AEC7E}"/>
                  </a:ext>
                </a:extLst>
              </p:cNvPr>
              <p:cNvSpPr txBox="1"/>
              <p:nvPr/>
            </p:nvSpPr>
            <p:spPr>
              <a:xfrm>
                <a:off x="465232" y="394506"/>
                <a:ext cx="8327136" cy="707886"/>
              </a:xfrm>
              <a:prstGeom prst="rect">
                <a:avLst/>
              </a:prstGeom>
              <a:noFill/>
            </p:spPr>
            <p:txBody>
              <a:bodyPr wrap="square" rtlCol="0">
                <a:spAutoFit/>
              </a:bodyPr>
              <a:lstStyle/>
              <a:p>
                <a:r>
                  <a:rPr lang="en-US" sz="2000" dirty="0">
                    <a:latin typeface="Verdana" charset="0"/>
                    <a:ea typeface="Verdana" charset="0"/>
                    <a:cs typeface="Verdana" charset="0"/>
                  </a:rPr>
                  <a:t> 2. Triangles </a:t>
                </a:r>
                <a14:m>
                  <m:oMath xmlns:m="http://schemas.openxmlformats.org/officeDocument/2006/math">
                    <m:r>
                      <a:rPr lang="en-US" sz="2000" i="1">
                        <a:latin typeface="Cambria Math" panose="02040503050406030204" pitchFamily="18" charset="0"/>
                        <a:ea typeface="Verdana" charset="0"/>
                        <a:cs typeface="Verdana" charset="0"/>
                      </a:rPr>
                      <m:t>𝐶𝐾𝑁</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𝑃𝑌𝐷</m:t>
                    </m:r>
                  </m:oMath>
                </a14:m>
                <a:r>
                  <a:rPr lang="en-US" sz="2000" dirty="0">
                    <a:latin typeface="Verdana" charset="0"/>
                    <a:ea typeface="Verdana" charset="0"/>
                    <a:cs typeface="Verdana" charset="0"/>
                  </a:rPr>
                  <a:t> are shown on the coordinate grid.</a:t>
                </a:r>
              </a:p>
              <a:p>
                <a:endParaRPr lang="en-US" sz="2000" dirty="0">
                  <a:latin typeface="Verdana" charset="0"/>
                  <a:ea typeface="Verdana" charset="0"/>
                  <a:cs typeface="Verdana" charset="0"/>
                </a:endParaRPr>
              </a:p>
            </p:txBody>
          </p:sp>
        </mc:Choice>
        <mc:Fallback xmlns="">
          <p:sp>
            <p:nvSpPr>
              <p:cNvPr id="5" name="TextBox 4">
                <a:extLst>
                  <a:ext uri="{FF2B5EF4-FFF2-40B4-BE49-F238E27FC236}">
                    <a16:creationId xmlns:a16="http://schemas.microsoft.com/office/drawing/2014/main" id="{A3BC97A7-8575-5A46-8E72-A886A83AEC7E}"/>
                  </a:ext>
                </a:extLst>
              </p:cNvPr>
              <p:cNvSpPr txBox="1">
                <a:spLocks noRot="1" noChangeAspect="1" noMove="1" noResize="1" noEditPoints="1" noAdjustHandles="1" noChangeArrowheads="1" noChangeShapeType="1" noTextEdit="1"/>
              </p:cNvSpPr>
              <p:nvPr/>
            </p:nvSpPr>
            <p:spPr>
              <a:xfrm>
                <a:off x="465232" y="394506"/>
                <a:ext cx="8327136" cy="707886"/>
              </a:xfrm>
              <a:prstGeom prst="rect">
                <a:avLst/>
              </a:prstGeom>
              <a:blipFill>
                <a:blip r:embed="rId4"/>
                <a:stretch>
                  <a:fillRect t="-5172"/>
                </a:stretch>
              </a:blipFill>
            </p:spPr>
            <p:txBody>
              <a:bodyPr/>
              <a:lstStyle/>
              <a:p>
                <a:r>
                  <a:rPr lang="en-US">
                    <a:noFill/>
                  </a:rPr>
                  <a:t> </a:t>
                </a:r>
              </a:p>
            </p:txBody>
          </p:sp>
        </mc:Fallback>
      </mc:AlternateContent>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999578" y="1020301"/>
            <a:ext cx="7258444" cy="4833848"/>
          </a:xfrm>
          <a:prstGeom prst="rect">
            <a:avLst/>
          </a:prstGeom>
        </p:spPr>
      </p:pic>
    </p:spTree>
    <p:extLst>
      <p:ext uri="{BB962C8B-B14F-4D97-AF65-F5344CB8AC3E}">
        <p14:creationId xmlns:p14="http://schemas.microsoft.com/office/powerpoint/2010/main" val="19183854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tr-TR" i="1" dirty="0" err="1">
                <a:latin typeface="Calibri"/>
                <a:ea typeface="Calibri"/>
                <a:cs typeface="Calibri"/>
                <a:sym typeface="Calibri"/>
              </a:rPr>
              <a:t>volume</a:t>
            </a:r>
            <a:r>
              <a:rPr lang="tr-TR" i="1" dirty="0">
                <a:latin typeface="Calibri"/>
                <a:ea typeface="Calibri"/>
                <a:cs typeface="Calibri"/>
                <a:sym typeface="Calibri"/>
              </a:rPr>
              <a:t> 1, </a:t>
            </a:r>
            <a:r>
              <a:rPr lang="tr-TR" i="1" dirty="0" err="1">
                <a:latin typeface="Calibri"/>
                <a:ea typeface="Calibri"/>
                <a:cs typeface="Calibri"/>
                <a:sym typeface="Calibri"/>
              </a:rPr>
              <a:t>pg</a:t>
            </a:r>
            <a:r>
              <a:rPr lang="tr-TR" i="1" dirty="0">
                <a:latin typeface="Calibri"/>
                <a:ea typeface="Calibri"/>
                <a:cs typeface="Calibri"/>
                <a:sym typeface="Calibri"/>
              </a:rPr>
              <a:t>. 216</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A3BC97A7-8575-5A46-8E72-A886A83AEC7E}"/>
                  </a:ext>
                </a:extLst>
              </p:cNvPr>
              <p:cNvSpPr txBox="1"/>
              <p:nvPr/>
            </p:nvSpPr>
            <p:spPr>
              <a:xfrm>
                <a:off x="465232" y="394507"/>
                <a:ext cx="8327136" cy="2246769"/>
              </a:xfrm>
              <a:prstGeom prst="rect">
                <a:avLst/>
              </a:prstGeom>
              <a:noFill/>
            </p:spPr>
            <p:txBody>
              <a:bodyPr wrap="square" rtlCol="0">
                <a:spAutoFit/>
              </a:bodyPr>
              <a:lstStyle/>
              <a:p>
                <a:pPr marL="457200" indent="-457200">
                  <a:buFont typeface="+mj-lt"/>
                  <a:buAutoNum type="alphaLcPeriod"/>
                </a:pPr>
                <a:r>
                  <a:rPr lang="en-US" sz="2000" dirty="0">
                    <a:latin typeface="Verdana" charset="0"/>
                    <a:ea typeface="Verdana" charset="0"/>
                    <a:cs typeface="Verdana" charset="0"/>
                  </a:rPr>
                  <a:t>The sequence of transformations that will map </a:t>
                </a:r>
              </a:p>
              <a:p>
                <a:r>
                  <a:rPr lang="en-US" sz="2000" dirty="0">
                    <a:latin typeface="Verdana" charset="0"/>
                    <a:ea typeface="Verdana" charset="0"/>
                    <a:cs typeface="Verdana" charset="0"/>
                  </a:rPr>
                  <a:t> </a:t>
                </a:r>
              </a:p>
              <a:p>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𝐶𝐾𝑁</m:t>
                    </m:r>
                  </m:oMath>
                </a14:m>
                <a:r>
                  <a:rPr lang="en-US" sz="2000" dirty="0">
                    <a:latin typeface="Verdana" charset="0"/>
                    <a:ea typeface="Verdana" charset="0"/>
                    <a:cs typeface="Verdana" charset="0"/>
                  </a:rPr>
                  <a:t> onto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𝑃𝑌𝐷</m:t>
                    </m:r>
                  </m:oMath>
                </a14:m>
                <a:r>
                  <a:rPr lang="en-US" sz="2000" dirty="0">
                    <a:latin typeface="Verdana" charset="0"/>
                    <a:ea typeface="Verdana" charset="0"/>
                    <a:cs typeface="Verdana" charset="0"/>
                  </a:rPr>
                  <a:t> is</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r>
                  <a:rPr lang="en-US" sz="2000" dirty="0">
                    <a:latin typeface="Verdana" charset="0"/>
                    <a:ea typeface="Verdana" charset="0"/>
                    <a:cs typeface="Verdana" charset="0"/>
                  </a:rPr>
                  <a:t>then</a:t>
                </a:r>
              </a:p>
            </p:txBody>
          </p:sp>
        </mc:Choice>
        <mc:Fallback xmlns="">
          <p:sp>
            <p:nvSpPr>
              <p:cNvPr id="5" name="TextBox 4">
                <a:extLst>
                  <a:ext uri="{FF2B5EF4-FFF2-40B4-BE49-F238E27FC236}">
                    <a16:creationId xmlns:a16="http://schemas.microsoft.com/office/drawing/2014/main" id="{A3BC97A7-8575-5A46-8E72-A886A83AEC7E}"/>
                  </a:ext>
                </a:extLst>
              </p:cNvPr>
              <p:cNvSpPr txBox="1">
                <a:spLocks noRot="1" noChangeAspect="1" noMove="1" noResize="1" noEditPoints="1" noAdjustHandles="1" noChangeArrowheads="1" noChangeShapeType="1" noTextEdit="1"/>
              </p:cNvSpPr>
              <p:nvPr/>
            </p:nvSpPr>
            <p:spPr>
              <a:xfrm>
                <a:off x="465232" y="394507"/>
                <a:ext cx="8327136" cy="2246769"/>
              </a:xfrm>
              <a:prstGeom prst="rect">
                <a:avLst/>
              </a:prstGeom>
              <a:blipFill>
                <a:blip r:embed="rId4"/>
                <a:stretch>
                  <a:fillRect l="-805" t="-1902" b="-4076"/>
                </a:stretch>
              </a:blipFill>
            </p:spPr>
            <p:txBody>
              <a:bodyPr/>
              <a:lstStyle/>
              <a:p>
                <a:r>
                  <a:rPr lang="en-US">
                    <a:noFill/>
                  </a:rPr>
                  <a:t> </a:t>
                </a:r>
              </a:p>
            </p:txBody>
          </p:sp>
        </mc:Fallback>
      </mc:AlternateContent>
      <p:pic>
        <p:nvPicPr>
          <p:cNvPr id="3" name="Picture 2"/>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040850" y="825969"/>
            <a:ext cx="5613400" cy="1168400"/>
          </a:xfrm>
          <a:prstGeom prst="rect">
            <a:avLst/>
          </a:prstGeom>
        </p:spPr>
      </p:pic>
      <p:pic>
        <p:nvPicPr>
          <p:cNvPr id="4" name="Picture 3"/>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1216734" y="1994369"/>
            <a:ext cx="4495800" cy="1181100"/>
          </a:xfrm>
          <a:prstGeom prst="rect">
            <a:avLst/>
          </a:prstGeom>
        </p:spPr>
      </p:pic>
      <mc:AlternateContent xmlns:mc="http://schemas.openxmlformats.org/markup-compatibility/2006" xmlns:a14="http://schemas.microsoft.com/office/drawing/2010/main">
        <mc:Choice Requires="a14">
          <p:sp>
            <p:nvSpPr>
              <p:cNvPr id="6" name="Rectangle 5"/>
              <p:cNvSpPr/>
              <p:nvPr/>
            </p:nvSpPr>
            <p:spPr>
              <a:xfrm>
                <a:off x="465232" y="3484083"/>
                <a:ext cx="11162918" cy="1118832"/>
              </a:xfrm>
              <a:prstGeom prst="rect">
                <a:avLst/>
              </a:prstGeom>
            </p:spPr>
            <p:txBody>
              <a:bodyPr wrap="square">
                <a:spAutoFit/>
              </a:bodyPr>
              <a:lstStyle/>
              <a:p>
                <a:pPr marL="457200" indent="-457200">
                  <a:lnSpc>
                    <a:spcPct val="115000"/>
                  </a:lnSpc>
                  <a:buFont typeface="+mj-lt"/>
                  <a:buAutoNum type="alphaLcPeriod" startAt="2"/>
                </a:pPr>
                <a:r>
                  <a:rPr lang="en-US" sz="2000" dirty="0">
                    <a:latin typeface="Verdana" charset="0"/>
                    <a:ea typeface="Verdana" charset="0"/>
                    <a:cs typeface="Verdana" charset="0"/>
                  </a:rPr>
                  <a:t>Vertex </a:t>
                </a:r>
                <a14:m>
                  <m:oMath xmlns:m="http://schemas.openxmlformats.org/officeDocument/2006/math">
                    <m:r>
                      <a:rPr lang="en-US" sz="2000" i="1">
                        <a:latin typeface="Cambria Math" panose="02040503050406030204" pitchFamily="18" charset="0"/>
                        <a:ea typeface="Verdana" charset="0"/>
                        <a:cs typeface="Verdana" charset="0"/>
                      </a:rPr>
                      <m:t>𝐶</m:t>
                    </m:r>
                  </m:oMath>
                </a14:m>
                <a:r>
                  <a:rPr lang="en-US" sz="2000" dirty="0">
                    <a:latin typeface="Verdana" charset="0"/>
                    <a:ea typeface="Verdana" charset="0"/>
                    <a:cs typeface="Verdana" charset="0"/>
                  </a:rPr>
                  <a:t> maps to vertex ____, vertex </a:t>
                </a:r>
                <a14:m>
                  <m:oMath xmlns:m="http://schemas.openxmlformats.org/officeDocument/2006/math">
                    <m:r>
                      <a:rPr lang="en-US" sz="2000" i="1">
                        <a:latin typeface="Cambria Math" panose="02040503050406030204" pitchFamily="18" charset="0"/>
                        <a:ea typeface="Verdana" charset="0"/>
                        <a:cs typeface="Verdana" charset="0"/>
                      </a:rPr>
                      <m:t>𝐾</m:t>
                    </m:r>
                  </m:oMath>
                </a14:m>
                <a:r>
                  <a:rPr lang="en-US" sz="2000" dirty="0">
                    <a:latin typeface="Verdana" charset="0"/>
                    <a:ea typeface="Verdana" charset="0"/>
                    <a:cs typeface="Verdana" charset="0"/>
                  </a:rPr>
                  <a:t> maps to vertex ____, and vertex </a:t>
                </a:r>
                <a14:m>
                  <m:oMath xmlns:m="http://schemas.openxmlformats.org/officeDocument/2006/math">
                    <m:r>
                      <a:rPr lang="en-US" sz="2000" i="1">
                        <a:latin typeface="Cambria Math" panose="02040503050406030204" pitchFamily="18" charset="0"/>
                        <a:ea typeface="Verdana" charset="0"/>
                        <a:cs typeface="Verdana" charset="0"/>
                      </a:rPr>
                      <m:t>𝑁</m:t>
                    </m:r>
                  </m:oMath>
                </a14:m>
                <a:r>
                  <a:rPr lang="en-US" sz="2000" dirty="0">
                    <a:latin typeface="Verdana" charset="0"/>
                    <a:ea typeface="Verdana" charset="0"/>
                    <a:cs typeface="Verdana" charset="0"/>
                  </a:rPr>
                  <a:t> maps to vertex ____ therefore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𝐶𝐾𝑁</m:t>
                    </m:r>
                  </m:oMath>
                </a14:m>
                <a:r>
                  <a:rPr lang="en-US" sz="2000" dirty="0">
                    <a:latin typeface="Verdana" charset="0"/>
                    <a:ea typeface="Verdana" charset="0"/>
                    <a:cs typeface="Verdana" charset="0"/>
                  </a:rPr>
                  <a:t> is congruent to </a:t>
                </a:r>
                <a14:m>
                  <m:oMath xmlns:m="http://schemas.openxmlformats.org/officeDocument/2006/math">
                    <m:r>
                      <a:rPr lang="en-US" sz="2000" i="1">
                        <a:latin typeface="Cambria Math" panose="02040503050406030204" pitchFamily="18" charset="0"/>
                        <a:ea typeface="Verdana" charset="0"/>
                        <a:cs typeface="Verdana" charset="0"/>
                      </a:rPr>
                      <m:t>∆_________</m:t>
                    </m:r>
                  </m:oMath>
                </a14:m>
                <a:r>
                  <a:rPr lang="en-US" sz="2000" dirty="0">
                    <a:latin typeface="Verdana" charset="0"/>
                    <a:ea typeface="Verdana" charset="0"/>
                    <a:cs typeface="Verdana" charset="0"/>
                  </a:rPr>
                  <a:t> by the definition of congruence in terms of rigid motions.</a:t>
                </a:r>
              </a:p>
            </p:txBody>
          </p:sp>
        </mc:Choice>
        <mc:Fallback xmlns="">
          <p:sp>
            <p:nvSpPr>
              <p:cNvPr id="6" name="Rectangle 5"/>
              <p:cNvSpPr>
                <a:spLocks noRot="1" noChangeAspect="1" noMove="1" noResize="1" noEditPoints="1" noAdjustHandles="1" noChangeArrowheads="1" noChangeShapeType="1" noTextEdit="1"/>
              </p:cNvSpPr>
              <p:nvPr/>
            </p:nvSpPr>
            <p:spPr>
              <a:xfrm>
                <a:off x="465232" y="3484083"/>
                <a:ext cx="11162918" cy="1118832"/>
              </a:xfrm>
              <a:prstGeom prst="rect">
                <a:avLst/>
              </a:prstGeom>
              <a:blipFill>
                <a:blip r:embed="rId7"/>
                <a:stretch>
                  <a:fillRect l="-600" t="-2732" r="-983" b="-9290"/>
                </a:stretch>
              </a:blipFill>
            </p:spPr>
            <p:txBody>
              <a:bodyPr/>
              <a:lstStyle/>
              <a:p>
                <a:r>
                  <a:rPr lang="en-US">
                    <a:noFill/>
                  </a:rPr>
                  <a:t> </a:t>
                </a:r>
              </a:p>
            </p:txBody>
          </p:sp>
        </mc:Fallback>
      </mc:AlternateContent>
    </p:spTree>
    <p:extLst>
      <p:ext uri="{BB962C8B-B14F-4D97-AF65-F5344CB8AC3E}">
        <p14:creationId xmlns:p14="http://schemas.microsoft.com/office/powerpoint/2010/main" val="746909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xmlns=""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xmlns="" id="{EE3C8BB3-D8AE-154C-9B2D-B1D7451436FE}"/>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tr-TR" i="1" dirty="0" err="1">
                <a:latin typeface="Calibri"/>
                <a:ea typeface="Calibri"/>
                <a:cs typeface="Calibri"/>
                <a:sym typeface="Calibri"/>
              </a:rPr>
              <a:t>volume</a:t>
            </a:r>
            <a:r>
              <a:rPr lang="tr-TR" i="1" dirty="0">
                <a:latin typeface="Calibri"/>
                <a:ea typeface="Calibri"/>
                <a:cs typeface="Calibri"/>
                <a:sym typeface="Calibri"/>
              </a:rPr>
              <a:t> 1, </a:t>
            </a:r>
            <a:r>
              <a:rPr lang="tr-TR" i="1" dirty="0" err="1">
                <a:latin typeface="Calibri"/>
                <a:ea typeface="Calibri"/>
                <a:cs typeface="Calibri"/>
                <a:sym typeface="Calibri"/>
              </a:rPr>
              <a:t>pg</a:t>
            </a:r>
            <a:r>
              <a:rPr lang="tr-TR" i="1" dirty="0">
                <a:latin typeface="Calibri"/>
                <a:ea typeface="Calibri"/>
                <a:cs typeface="Calibri"/>
                <a:sym typeface="Calibri"/>
              </a:rPr>
              <a:t>. 216</a:t>
            </a:r>
          </a:p>
        </p:txBody>
      </p:sp>
    </p:spTree>
    <p:extLst>
      <p:ext uri="{BB962C8B-B14F-4D97-AF65-F5344CB8AC3E}">
        <p14:creationId xmlns:p14="http://schemas.microsoft.com/office/powerpoint/2010/main" val="17908396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052650" y="68550"/>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4.7.4 Your Turn!</a:t>
            </a:r>
          </a:p>
        </p:txBody>
      </p:sp>
      <p:pic>
        <p:nvPicPr>
          <p:cNvPr id="9" name="Google Shape;430;g103996e1364_0_428">
            <a:extLst>
              <a:ext uri="{FF2B5EF4-FFF2-40B4-BE49-F238E27FC236}">
                <a16:creationId xmlns:a16="http://schemas.microsoft.com/office/drawing/2014/main" xmlns="" id="{032D5487-B5A9-DE4B-AE87-33198BE16145}"/>
              </a:ext>
            </a:extLst>
          </p:cNvPr>
          <p:cNvPicPr preferRelativeResize="0"/>
          <p:nvPr/>
        </p:nvPicPr>
        <p:blipFill rotWithShape="1">
          <a:blip r:embed="rId4">
            <a:alphaModFix/>
          </a:blip>
          <a:srcRect/>
          <a:stretch/>
        </p:blipFill>
        <p:spPr>
          <a:xfrm>
            <a:off x="305350" y="68550"/>
            <a:ext cx="747300" cy="747300"/>
          </a:xfrm>
          <a:prstGeom prst="rect">
            <a:avLst/>
          </a:prstGeom>
          <a:noFill/>
          <a:ln>
            <a:noFill/>
          </a:ln>
        </p:spPr>
      </p:pic>
      <p:sp>
        <p:nvSpPr>
          <p:cNvPr id="11" name="Google Shape;282;g104476d1465_1_17">
            <a:extLst>
              <a:ext uri="{FF2B5EF4-FFF2-40B4-BE49-F238E27FC236}">
                <a16:creationId xmlns:a16="http://schemas.microsoft.com/office/drawing/2014/main" xmlns="" id="{F9486181-07A1-C74B-A129-E8949F43C159}"/>
              </a:ext>
            </a:extLst>
          </p:cNvPr>
          <p:cNvSpPr txBox="1"/>
          <p:nvPr/>
        </p:nvSpPr>
        <p:spPr>
          <a:xfrm>
            <a:off x="8836194" y="6471474"/>
            <a:ext cx="2634000" cy="400200"/>
          </a:xfrm>
          <a:prstGeom prst="rect">
            <a:avLst/>
          </a:prstGeom>
          <a:noFill/>
          <a:ln>
            <a:noFill/>
          </a:ln>
        </p:spPr>
        <p:txBody>
          <a:bodyPr spcFirstLastPara="1" wrap="square" lIns="91425" tIns="91425" rIns="91425" bIns="91425" anchor="t" anchorCtr="0">
            <a:spAutoFit/>
          </a:bodyPr>
          <a:lstStyle/>
          <a:p>
            <a:pPr lvl="0" algn="r"/>
            <a:r>
              <a:rPr lang="tr-TR" i="1" dirty="0" err="1">
                <a:latin typeface="Calibri"/>
                <a:ea typeface="Calibri"/>
                <a:cs typeface="Calibri"/>
                <a:sym typeface="Calibri"/>
              </a:rPr>
              <a:t>volume</a:t>
            </a:r>
            <a:r>
              <a:rPr lang="tr-TR" i="1" dirty="0">
                <a:latin typeface="Calibri"/>
                <a:ea typeface="Calibri"/>
                <a:cs typeface="Calibri"/>
                <a:sym typeface="Calibri"/>
              </a:rPr>
              <a:t> 1, </a:t>
            </a:r>
            <a:r>
              <a:rPr lang="tr-TR" i="1" dirty="0" err="1">
                <a:latin typeface="Calibri"/>
                <a:ea typeface="Calibri"/>
                <a:cs typeface="Calibri"/>
                <a:sym typeface="Calibri"/>
              </a:rPr>
              <a:t>pg</a:t>
            </a:r>
            <a:r>
              <a:rPr lang="tr-TR" i="1" dirty="0">
                <a:latin typeface="Calibri"/>
                <a:ea typeface="Calibri"/>
                <a:cs typeface="Calibri"/>
                <a:sym typeface="Calibri"/>
              </a:rPr>
              <a:t>. 216</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xmlns="" id="{759C3E41-93EC-B84D-963F-86A3B15AC1C6}"/>
                  </a:ext>
                </a:extLst>
              </p:cNvPr>
              <p:cNvSpPr txBox="1"/>
              <p:nvPr/>
            </p:nvSpPr>
            <p:spPr>
              <a:xfrm>
                <a:off x="540564" y="1174117"/>
                <a:ext cx="5801241" cy="2246769"/>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Triangles </a:t>
                </a:r>
                <a14:m>
                  <m:oMath xmlns:m="http://schemas.openxmlformats.org/officeDocument/2006/math">
                    <m:r>
                      <a:rPr lang="en-US" sz="2000" i="1">
                        <a:latin typeface="Cambria Math" panose="02040503050406030204" pitchFamily="18" charset="0"/>
                        <a:ea typeface="Verdana" charset="0"/>
                        <a:cs typeface="Verdana" charset="0"/>
                      </a:rPr>
                      <m:t>𝑋𝐶𝐾</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𝑇𝑊𝑁</m:t>
                    </m:r>
                  </m:oMath>
                </a14:m>
                <a:r>
                  <a:rPr lang="en-US" sz="2000" dirty="0">
                    <a:latin typeface="Verdana" charset="0"/>
                    <a:ea typeface="Verdana" charset="0"/>
                    <a:cs typeface="Verdana" charset="0"/>
                  </a:rPr>
                  <a:t> are shown on the coordinate grid.</a:t>
                </a:r>
              </a:p>
              <a:p>
                <a:endParaRPr lang="en-US" sz="2000" dirty="0">
                  <a:latin typeface="Verdana" charset="0"/>
                  <a:ea typeface="Verdana" charset="0"/>
                  <a:cs typeface="Verdana" charset="0"/>
                </a:endParaRPr>
              </a:p>
              <a:p>
                <a:r>
                  <a:rPr lang="en-US" sz="2000" dirty="0">
                    <a:latin typeface="Verdana" charset="0"/>
                    <a:ea typeface="Verdana" charset="0"/>
                    <a:cs typeface="Verdana" charset="0"/>
                  </a:rPr>
                  <a:t>Use algebraic descriptions to describe a sequence of three transformations that will map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𝑋𝐶𝐾</m:t>
                    </m:r>
                  </m:oMath>
                </a14:m>
                <a:r>
                  <a:rPr lang="en-US" sz="2000" dirty="0">
                    <a:latin typeface="Verdana" charset="0"/>
                    <a:ea typeface="Verdana" charset="0"/>
                    <a:cs typeface="Verdana" charset="0"/>
                  </a:rPr>
                  <a:t> onto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𝑇𝑊𝑁</m:t>
                    </m:r>
                  </m:oMath>
                </a14:m>
                <a:r>
                  <a:rPr lang="en-US" sz="2000" dirty="0">
                    <a:latin typeface="Verdana" charset="0"/>
                    <a:ea typeface="Verdana" charset="0"/>
                    <a:cs typeface="Verdana" charset="0"/>
                  </a:rPr>
                  <a:t>.</a:t>
                </a:r>
              </a:p>
              <a:p>
                <a:pPr marL="457200" indent="-457200">
                  <a:buFont typeface="+mj-lt"/>
                  <a:buAutoNum type="arabicPeriod"/>
                </a:pPr>
                <a:endParaRPr lang="en-US" sz="2000" dirty="0">
                  <a:latin typeface="Verdana" charset="0"/>
                  <a:ea typeface="Verdana" charset="0"/>
                  <a:cs typeface="Verdana" charset="0"/>
                </a:endParaRPr>
              </a:p>
            </p:txBody>
          </p:sp>
        </mc:Choice>
        <mc:Fallback xmlns="">
          <p:sp>
            <p:nvSpPr>
              <p:cNvPr id="12" name="TextBox 11">
                <a:extLst>
                  <a:ext uri="{FF2B5EF4-FFF2-40B4-BE49-F238E27FC236}">
                    <a16:creationId xmlns:a16="http://schemas.microsoft.com/office/drawing/2014/main" id="{759C3E41-93EC-B84D-963F-86A3B15AC1C6}"/>
                  </a:ext>
                </a:extLst>
              </p:cNvPr>
              <p:cNvSpPr txBox="1">
                <a:spLocks noRot="1" noChangeAspect="1" noMove="1" noResize="1" noEditPoints="1" noAdjustHandles="1" noChangeArrowheads="1" noChangeShapeType="1" noTextEdit="1"/>
              </p:cNvSpPr>
              <p:nvPr/>
            </p:nvSpPr>
            <p:spPr>
              <a:xfrm>
                <a:off x="540564" y="1174117"/>
                <a:ext cx="5801241" cy="2246769"/>
              </a:xfrm>
              <a:prstGeom prst="rect">
                <a:avLst/>
              </a:prstGeom>
              <a:blipFill>
                <a:blip r:embed="rId5"/>
                <a:stretch>
                  <a:fillRect l="-1157" t="-1902" r="-631"/>
                </a:stretch>
              </a:blipFill>
            </p:spPr>
            <p:txBody>
              <a:bodyPr/>
              <a:lstStyle/>
              <a:p>
                <a:r>
                  <a:rPr lang="en-US">
                    <a:noFill/>
                  </a:rPr>
                  <a:t> </a:t>
                </a:r>
              </a:p>
            </p:txBody>
          </p:sp>
        </mc:Fallback>
      </mc:AlternateContent>
      <p:pic>
        <p:nvPicPr>
          <p:cNvPr id="2" name="Picture 1"/>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572581" y="1174117"/>
            <a:ext cx="4897613" cy="3093229"/>
          </a:xfrm>
          <a:prstGeom prst="rect">
            <a:avLst/>
          </a:prstGeom>
        </p:spPr>
      </p:pic>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xmlns="" id="{54EDBE42-F315-5B43-AF65-A63871024E36}"/>
                  </a:ext>
                </a:extLst>
              </p:cNvPr>
              <p:cNvGraphicFramePr>
                <a:graphicFrameLocks noGrp="1"/>
              </p:cNvGraphicFramePr>
              <p:nvPr>
                <p:extLst>
                  <p:ext uri="{D42A27DB-BD31-4B8C-83A1-F6EECF244321}">
                    <p14:modId xmlns:p14="http://schemas.microsoft.com/office/powerpoint/2010/main" val="3143935983"/>
                  </p:ext>
                </p:extLst>
              </p:nvPr>
            </p:nvGraphicFramePr>
            <p:xfrm>
              <a:off x="679000" y="3779153"/>
              <a:ext cx="5580213" cy="2562653"/>
            </p:xfrm>
            <a:graphic>
              <a:graphicData uri="http://schemas.openxmlformats.org/drawingml/2006/table">
                <a:tbl>
                  <a:tblPr firstRow="1" firstCol="1" bandRow="1"/>
                  <a:tblGrid>
                    <a:gridCol w="5580213">
                      <a:extLst>
                        <a:ext uri="{9D8B030D-6E8A-4147-A177-3AD203B41FA5}">
                          <a16:colId xmlns:a16="http://schemas.microsoft.com/office/drawing/2014/main" xmlns="" val="20000"/>
                        </a:ext>
                      </a:extLst>
                    </a:gridCol>
                  </a:tblGrid>
                  <a:tr h="497471">
                    <a:tc>
                      <a:txBody>
                        <a:bodyPr/>
                        <a:lstStyle/>
                        <a:p>
                          <a:pPr marL="0" marR="0" algn="ctr">
                            <a:spcBef>
                              <a:spcPts val="0"/>
                            </a:spcBef>
                            <a:spcAft>
                              <a:spcPts val="0"/>
                            </a:spcAft>
                          </a:pPr>
                          <a:r>
                            <a:rPr lang="en-US" sz="2200" b="1" dirty="0">
                              <a:effectLst/>
                              <a:latin typeface="Verdana" charset="0"/>
                              <a:ea typeface="Times New Roman" charset="0"/>
                              <a:cs typeface="Times New Roman" charset="0"/>
                            </a:rPr>
                            <a:t>Transformations</a:t>
                          </a:r>
                          <a:endParaRPr lang="en-US" sz="1500" dirty="0">
                            <a:effectLst/>
                            <a:latin typeface="Cambria" charset="0"/>
                            <a:ea typeface="Times New Roman" charset="0"/>
                            <a:cs typeface="Times New Roman" charset="0"/>
                          </a:endParaRPr>
                        </a:p>
                      </a:txBody>
                      <a:tcPr marL="85144" marR="8514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10000"/>
                      </a:ext>
                    </a:extLst>
                  </a:tr>
                  <a:tr h="68839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200" i="1">
                                        <a:solidFill>
                                          <a:srgbClr val="000000"/>
                                        </a:solidFill>
                                        <a:effectLst/>
                                        <a:latin typeface="Cambria Math" charset="0"/>
                                        <a:ea typeface="Times New Roman" charset="0"/>
                                        <a:cs typeface="Arial" charset="0"/>
                                      </a:rPr>
                                    </m:ctrlPr>
                                  </m:dPr>
                                  <m:e>
                                    <m:r>
                                      <a:rPr lang="en-US" sz="2200" i="1">
                                        <a:solidFill>
                                          <a:srgbClr val="000000"/>
                                        </a:solidFill>
                                        <a:effectLst/>
                                        <a:latin typeface="Cambria Math" charset="0"/>
                                        <a:ea typeface="Times New Roman" charset="0"/>
                                        <a:cs typeface="Arial" charset="0"/>
                                      </a:rPr>
                                      <m:t>𝑥</m:t>
                                    </m:r>
                                    <m:r>
                                      <a:rPr lang="en-US" sz="2200" i="1">
                                        <a:solidFill>
                                          <a:srgbClr val="000000"/>
                                        </a:solidFill>
                                        <a:effectLst/>
                                        <a:latin typeface="Cambria Math" charset="0"/>
                                        <a:ea typeface="Times New Roman" charset="0"/>
                                        <a:cs typeface="Arial" charset="0"/>
                                      </a:rPr>
                                      <m:t>,</m:t>
                                    </m:r>
                                    <m:r>
                                      <a:rPr lang="en-US" sz="2200" i="1">
                                        <a:solidFill>
                                          <a:srgbClr val="000000"/>
                                        </a:solidFill>
                                        <a:effectLst/>
                                        <a:latin typeface="Cambria Math" charset="0"/>
                                        <a:ea typeface="Times New Roman" charset="0"/>
                                        <a:cs typeface="Arial" charset="0"/>
                                      </a:rPr>
                                      <m:t>𝑦</m:t>
                                    </m:r>
                                  </m:e>
                                </m:d>
                                <m:r>
                                  <a:rPr lang="en-US" sz="2200" i="1">
                                    <a:solidFill>
                                      <a:srgbClr val="000000"/>
                                    </a:solidFill>
                                    <a:effectLst/>
                                    <a:latin typeface="Cambria Math" charset="0"/>
                                    <a:ea typeface="Times New Roman" charset="0"/>
                                    <a:cs typeface="Arial" charset="0"/>
                                  </a:rPr>
                                  <m:t>→________________</m:t>
                                </m:r>
                              </m:oMath>
                            </m:oMathPara>
                          </a14:m>
                          <a:endParaRPr lang="en-US" sz="1500">
                            <a:effectLst/>
                            <a:latin typeface="Cambria" charset="0"/>
                            <a:ea typeface="Times New Roman" charset="0"/>
                            <a:cs typeface="Times New Roman" charset="0"/>
                          </a:endParaRPr>
                        </a:p>
                      </a:txBody>
                      <a:tcPr marL="85144" marR="8514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68839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200" i="1">
                                        <a:solidFill>
                                          <a:srgbClr val="000000"/>
                                        </a:solidFill>
                                        <a:effectLst/>
                                        <a:latin typeface="Cambria Math" charset="0"/>
                                        <a:ea typeface="Times New Roman" charset="0"/>
                                        <a:cs typeface="Arial" charset="0"/>
                                      </a:rPr>
                                    </m:ctrlPr>
                                  </m:dPr>
                                  <m:e>
                                    <m:r>
                                      <a:rPr lang="en-US" sz="2200" i="1">
                                        <a:solidFill>
                                          <a:srgbClr val="000000"/>
                                        </a:solidFill>
                                        <a:effectLst/>
                                        <a:latin typeface="Cambria Math" charset="0"/>
                                        <a:ea typeface="Times New Roman" charset="0"/>
                                        <a:cs typeface="Arial" charset="0"/>
                                      </a:rPr>
                                      <m:t>𝑥</m:t>
                                    </m:r>
                                    <m:r>
                                      <a:rPr lang="en-US" sz="2200" i="1">
                                        <a:solidFill>
                                          <a:srgbClr val="000000"/>
                                        </a:solidFill>
                                        <a:effectLst/>
                                        <a:latin typeface="Cambria Math" charset="0"/>
                                        <a:ea typeface="Times New Roman" charset="0"/>
                                        <a:cs typeface="Arial" charset="0"/>
                                      </a:rPr>
                                      <m:t>,</m:t>
                                    </m:r>
                                    <m:r>
                                      <a:rPr lang="en-US" sz="2200" i="1">
                                        <a:solidFill>
                                          <a:srgbClr val="000000"/>
                                        </a:solidFill>
                                        <a:effectLst/>
                                        <a:latin typeface="Cambria Math" charset="0"/>
                                        <a:ea typeface="Times New Roman" charset="0"/>
                                        <a:cs typeface="Arial" charset="0"/>
                                      </a:rPr>
                                      <m:t>𝑦</m:t>
                                    </m:r>
                                  </m:e>
                                </m:d>
                                <m:r>
                                  <a:rPr lang="en-US" sz="2200" i="1">
                                    <a:solidFill>
                                      <a:srgbClr val="000000"/>
                                    </a:solidFill>
                                    <a:effectLst/>
                                    <a:latin typeface="Cambria Math" charset="0"/>
                                    <a:ea typeface="Times New Roman" charset="0"/>
                                    <a:cs typeface="Arial" charset="0"/>
                                  </a:rPr>
                                  <m:t>→________________</m:t>
                                </m:r>
                              </m:oMath>
                            </m:oMathPara>
                          </a14:m>
                          <a:endParaRPr lang="en-US" sz="1500">
                            <a:effectLst/>
                            <a:latin typeface="Cambria" charset="0"/>
                            <a:ea typeface="Times New Roman" charset="0"/>
                            <a:cs typeface="Times New Roman" charset="0"/>
                          </a:endParaRPr>
                        </a:p>
                      </a:txBody>
                      <a:tcPr marL="85144" marR="8514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68839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200" i="1">
                                        <a:solidFill>
                                          <a:srgbClr val="000000"/>
                                        </a:solidFill>
                                        <a:effectLst/>
                                        <a:latin typeface="Cambria Math" charset="0"/>
                                        <a:ea typeface="Times New Roman" charset="0"/>
                                        <a:cs typeface="Arial" charset="0"/>
                                      </a:rPr>
                                    </m:ctrlPr>
                                  </m:dPr>
                                  <m:e>
                                    <m:r>
                                      <a:rPr lang="en-US" sz="2200" i="1">
                                        <a:solidFill>
                                          <a:srgbClr val="000000"/>
                                        </a:solidFill>
                                        <a:effectLst/>
                                        <a:latin typeface="Cambria Math" charset="0"/>
                                        <a:ea typeface="Times New Roman" charset="0"/>
                                        <a:cs typeface="Arial" charset="0"/>
                                      </a:rPr>
                                      <m:t>𝑥</m:t>
                                    </m:r>
                                    <m:r>
                                      <a:rPr lang="en-US" sz="2200" i="1">
                                        <a:solidFill>
                                          <a:srgbClr val="000000"/>
                                        </a:solidFill>
                                        <a:effectLst/>
                                        <a:latin typeface="Cambria Math" charset="0"/>
                                        <a:ea typeface="Times New Roman" charset="0"/>
                                        <a:cs typeface="Arial" charset="0"/>
                                      </a:rPr>
                                      <m:t>,</m:t>
                                    </m:r>
                                    <m:r>
                                      <a:rPr lang="en-US" sz="2200" i="1">
                                        <a:solidFill>
                                          <a:srgbClr val="000000"/>
                                        </a:solidFill>
                                        <a:effectLst/>
                                        <a:latin typeface="Cambria Math" charset="0"/>
                                        <a:ea typeface="Times New Roman" charset="0"/>
                                        <a:cs typeface="Arial" charset="0"/>
                                      </a:rPr>
                                      <m:t>𝑦</m:t>
                                    </m:r>
                                  </m:e>
                                </m:d>
                                <m:r>
                                  <a:rPr lang="en-US" sz="2200" i="1">
                                    <a:solidFill>
                                      <a:srgbClr val="000000"/>
                                    </a:solidFill>
                                    <a:effectLst/>
                                    <a:latin typeface="Cambria Math" charset="0"/>
                                    <a:ea typeface="Times New Roman" charset="0"/>
                                    <a:cs typeface="Arial" charset="0"/>
                                  </a:rPr>
                                  <m:t>→________________</m:t>
                                </m:r>
                              </m:oMath>
                            </m:oMathPara>
                          </a14:m>
                          <a:endParaRPr lang="en-US" sz="1500" dirty="0">
                            <a:effectLst/>
                            <a:latin typeface="Cambria" charset="0"/>
                            <a:ea typeface="Times New Roman" charset="0"/>
                            <a:cs typeface="Times New Roman" charset="0"/>
                          </a:endParaRPr>
                        </a:p>
                      </a:txBody>
                      <a:tcPr marL="85144" marR="8514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mc:Choice>
        <mc:Fallback xmlns="">
          <p:graphicFrame>
            <p:nvGraphicFramePr>
              <p:cNvPr id="10" name="Table 9">
                <a:extLst>
                  <a:ext uri="{FF2B5EF4-FFF2-40B4-BE49-F238E27FC236}">
                    <a16:creationId xmlns:a16="http://schemas.microsoft.com/office/drawing/2014/main" id="{54EDBE42-F315-5B43-AF65-A63871024E36}"/>
                  </a:ext>
                </a:extLst>
              </p:cNvPr>
              <p:cNvGraphicFramePr>
                <a:graphicFrameLocks noGrp="1"/>
              </p:cNvGraphicFramePr>
              <p:nvPr>
                <p:extLst>
                  <p:ext uri="{D42A27DB-BD31-4B8C-83A1-F6EECF244321}">
                    <p14:modId xmlns:p14="http://schemas.microsoft.com/office/powerpoint/2010/main" val="3143935983"/>
                  </p:ext>
                </p:extLst>
              </p:nvPr>
            </p:nvGraphicFramePr>
            <p:xfrm>
              <a:off x="679000" y="3779153"/>
              <a:ext cx="5580213" cy="2562653"/>
            </p:xfrm>
            <a:graphic>
              <a:graphicData uri="http://schemas.openxmlformats.org/drawingml/2006/table">
                <a:tbl>
                  <a:tblPr firstRow="1" firstCol="1" bandRow="1"/>
                  <a:tblGrid>
                    <a:gridCol w="5580213">
                      <a:extLst>
                        <a:ext uri="{9D8B030D-6E8A-4147-A177-3AD203B41FA5}">
                          <a16:colId xmlns:a16="http://schemas.microsoft.com/office/drawing/2014/main" val="20000"/>
                        </a:ext>
                      </a:extLst>
                    </a:gridCol>
                  </a:tblGrid>
                  <a:tr h="497471">
                    <a:tc>
                      <a:txBody>
                        <a:bodyPr/>
                        <a:lstStyle/>
                        <a:p>
                          <a:pPr marL="0" marR="0" algn="ctr">
                            <a:spcBef>
                              <a:spcPts val="0"/>
                            </a:spcBef>
                            <a:spcAft>
                              <a:spcPts val="0"/>
                            </a:spcAft>
                          </a:pPr>
                          <a:r>
                            <a:rPr lang="en-US" sz="2200" b="1" dirty="0">
                              <a:effectLst/>
                              <a:latin typeface="Verdana" charset="0"/>
                              <a:ea typeface="Times New Roman" charset="0"/>
                              <a:cs typeface="Times New Roman" charset="0"/>
                            </a:rPr>
                            <a:t>Transformations</a:t>
                          </a:r>
                          <a:endParaRPr lang="en-US" sz="1500" dirty="0">
                            <a:effectLst/>
                            <a:latin typeface="Cambria" charset="0"/>
                            <a:ea typeface="Times New Roman" charset="0"/>
                            <a:cs typeface="Times New Roman" charset="0"/>
                          </a:endParaRPr>
                        </a:p>
                      </a:txBody>
                      <a:tcPr marL="85144" marR="8514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688394">
                    <a:tc>
                      <a:txBody>
                        <a:bodyPr/>
                        <a:lstStyle/>
                        <a:p>
                          <a:endParaRPr lang="en-US"/>
                        </a:p>
                      </a:txBody>
                      <a:tcPr marL="85144" marR="8514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109" t="-73451" r="-218" b="-202655"/>
                          </a:stretch>
                        </a:blipFill>
                      </a:tcPr>
                    </a:tc>
                    <a:extLst>
                      <a:ext uri="{0D108BD9-81ED-4DB2-BD59-A6C34878D82A}">
                        <a16:rowId xmlns:a16="http://schemas.microsoft.com/office/drawing/2014/main" val="10001"/>
                      </a:ext>
                    </a:extLst>
                  </a:tr>
                  <a:tr h="688394">
                    <a:tc>
                      <a:txBody>
                        <a:bodyPr/>
                        <a:lstStyle/>
                        <a:p>
                          <a:endParaRPr lang="en-US"/>
                        </a:p>
                      </a:txBody>
                      <a:tcPr marL="85144" marR="8514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109" t="-171930" r="-218" b="-100877"/>
                          </a:stretch>
                        </a:blipFill>
                      </a:tcPr>
                    </a:tc>
                    <a:extLst>
                      <a:ext uri="{0D108BD9-81ED-4DB2-BD59-A6C34878D82A}">
                        <a16:rowId xmlns:a16="http://schemas.microsoft.com/office/drawing/2014/main" val="10002"/>
                      </a:ext>
                    </a:extLst>
                  </a:tr>
                  <a:tr h="688394">
                    <a:tc>
                      <a:txBody>
                        <a:bodyPr/>
                        <a:lstStyle/>
                        <a:p>
                          <a:endParaRPr lang="en-US"/>
                        </a:p>
                      </a:txBody>
                      <a:tcPr marL="85144" marR="8514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109" t="-274336" r="-218" b="-1770"/>
                          </a:stretch>
                        </a:blipFill>
                      </a:tcPr>
                    </a:tc>
                    <a:extLst>
                      <a:ext uri="{0D108BD9-81ED-4DB2-BD59-A6C34878D82A}">
                        <a16:rowId xmlns:a16="http://schemas.microsoft.com/office/drawing/2014/main" val="10003"/>
                      </a:ext>
                    </a:extLst>
                  </a:tr>
                </a:tbl>
              </a:graphicData>
            </a:graphic>
          </p:graphicFrame>
        </mc:Fallback>
      </mc:AlternateContent>
    </p:spTree>
    <p:extLst>
      <p:ext uri="{BB962C8B-B14F-4D97-AF65-F5344CB8AC3E}">
        <p14:creationId xmlns:p14="http://schemas.microsoft.com/office/powerpoint/2010/main" val="31012998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tr-TR" i="1" dirty="0" err="1">
                <a:latin typeface="Calibri"/>
                <a:ea typeface="Calibri"/>
                <a:cs typeface="Calibri"/>
                <a:sym typeface="Calibri"/>
              </a:rPr>
              <a:t>volume</a:t>
            </a:r>
            <a:r>
              <a:rPr lang="tr-TR" i="1" dirty="0">
                <a:latin typeface="Calibri"/>
                <a:ea typeface="Calibri"/>
                <a:cs typeface="Calibri"/>
                <a:sym typeface="Calibri"/>
              </a:rPr>
              <a:t> 1, </a:t>
            </a:r>
            <a:r>
              <a:rPr lang="tr-TR" i="1" dirty="0" err="1">
                <a:latin typeface="Calibri"/>
                <a:ea typeface="Calibri"/>
                <a:cs typeface="Calibri"/>
                <a:sym typeface="Calibri"/>
              </a:rPr>
              <a:t>pg</a:t>
            </a:r>
            <a:r>
              <a:rPr lang="tr-TR" i="1" dirty="0">
                <a:latin typeface="Calibri"/>
                <a:ea typeface="Calibri"/>
                <a:cs typeface="Calibri"/>
                <a:sym typeface="Calibri"/>
              </a:rPr>
              <a:t>. 217</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tr-TR" i="1" dirty="0" err="1">
                <a:latin typeface="Calibri"/>
                <a:ea typeface="Calibri"/>
                <a:cs typeface="Calibri"/>
                <a:sym typeface="Calibri"/>
              </a:rPr>
              <a:t>volume</a:t>
            </a:r>
            <a:r>
              <a:rPr lang="tr-TR" i="1" dirty="0">
                <a:latin typeface="Calibri"/>
                <a:ea typeface="Calibri"/>
                <a:cs typeface="Calibri"/>
                <a:sym typeface="Calibri"/>
              </a:rPr>
              <a:t> 1, </a:t>
            </a:r>
            <a:r>
              <a:rPr lang="tr-TR" i="1" dirty="0" err="1">
                <a:latin typeface="Calibri"/>
                <a:ea typeface="Calibri"/>
                <a:cs typeface="Calibri"/>
                <a:sym typeface="Calibri"/>
              </a:rPr>
              <a:t>pg</a:t>
            </a:r>
            <a:r>
              <a:rPr lang="tr-TR" i="1" dirty="0">
                <a:latin typeface="Calibri"/>
                <a:ea typeface="Calibri"/>
                <a:cs typeface="Calibri"/>
                <a:sym typeface="Calibri"/>
              </a:rPr>
              <a:t>. 217</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134799" y="-177582"/>
            <a:ext cx="979375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4.7.5 Wrap-Up: Ticket Out the Door</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305350" y="68550"/>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xmlns="" id="{0370EDB7-6994-3D43-ABF9-E04CBAFB9CD9}"/>
                  </a:ext>
                </a:extLst>
              </p:cNvPr>
              <p:cNvSpPr txBox="1"/>
              <p:nvPr/>
            </p:nvSpPr>
            <p:spPr>
              <a:xfrm>
                <a:off x="593248" y="1394250"/>
                <a:ext cx="8327136" cy="400110"/>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Triangles </a:t>
                </a:r>
                <a14:m>
                  <m:oMath xmlns:m="http://schemas.openxmlformats.org/officeDocument/2006/math">
                    <m:r>
                      <a:rPr lang="en-US" sz="2000" i="1">
                        <a:latin typeface="Cambria Math" panose="02040503050406030204" pitchFamily="18" charset="0"/>
                        <a:ea typeface="Verdana" charset="0"/>
                        <a:cs typeface="Verdana" charset="0"/>
                      </a:rPr>
                      <m:t>𝑇𝑊𝐻</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𝐺𝐵𝑀</m:t>
                    </m:r>
                  </m:oMath>
                </a14:m>
                <a:r>
                  <a:rPr lang="en-US" sz="2000" dirty="0">
                    <a:latin typeface="Verdana" charset="0"/>
                    <a:ea typeface="Verdana" charset="0"/>
                    <a:cs typeface="Verdana" charset="0"/>
                  </a:rPr>
                  <a:t> are shown on the coordinate grid.</a:t>
                </a:r>
              </a:p>
            </p:txBody>
          </p:sp>
        </mc:Choice>
        <mc:Fallback xmlns="">
          <p:sp>
            <p:nvSpPr>
              <p:cNvPr id="12" name="TextBox 11">
                <a:extLst>
                  <a:ext uri="{FF2B5EF4-FFF2-40B4-BE49-F238E27FC236}">
                    <a16:creationId xmlns:a16="http://schemas.microsoft.com/office/drawing/2014/main" id="{0370EDB7-6994-3D43-ABF9-E04CBAFB9CD9}"/>
                  </a:ext>
                </a:extLst>
              </p:cNvPr>
              <p:cNvSpPr txBox="1">
                <a:spLocks noRot="1" noChangeAspect="1" noMove="1" noResize="1" noEditPoints="1" noAdjustHandles="1" noChangeArrowheads="1" noChangeShapeType="1" noTextEdit="1"/>
              </p:cNvSpPr>
              <p:nvPr/>
            </p:nvSpPr>
            <p:spPr>
              <a:xfrm>
                <a:off x="593248" y="1394250"/>
                <a:ext cx="8327136" cy="400110"/>
              </a:xfrm>
              <a:prstGeom prst="rect">
                <a:avLst/>
              </a:prstGeom>
              <a:blipFill>
                <a:blip r:embed="rId5"/>
                <a:stretch>
                  <a:fillRect l="-805" t="-10769" b="-27692"/>
                </a:stretch>
              </a:blipFill>
            </p:spPr>
            <p:txBody>
              <a:bodyPr/>
              <a:lstStyle/>
              <a:p>
                <a:r>
                  <a:rPr lang="en-US">
                    <a:noFill/>
                  </a:rPr>
                  <a:t> </a:t>
                </a:r>
              </a:p>
            </p:txBody>
          </p:sp>
        </mc:Fallback>
      </mc:AlternateContent>
      <p:pic>
        <p:nvPicPr>
          <p:cNvPr id="2" name="Picture 1"/>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200027" y="1937256"/>
            <a:ext cx="5104240" cy="3779722"/>
          </a:xfrm>
          <a:prstGeom prst="rect">
            <a:avLst/>
          </a:prstGeom>
        </p:spPr>
      </p:pic>
    </p:spTree>
    <p:extLst>
      <p:ext uri="{BB962C8B-B14F-4D97-AF65-F5344CB8AC3E}">
        <p14:creationId xmlns:p14="http://schemas.microsoft.com/office/powerpoint/2010/main" val="5539956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tr-TR" i="1" dirty="0" err="1">
                <a:latin typeface="Calibri"/>
                <a:ea typeface="Calibri"/>
                <a:cs typeface="Calibri"/>
                <a:sym typeface="Calibri"/>
              </a:rPr>
              <a:t>volume</a:t>
            </a:r>
            <a:r>
              <a:rPr lang="tr-TR" i="1" dirty="0">
                <a:latin typeface="Calibri"/>
                <a:ea typeface="Calibri"/>
                <a:cs typeface="Calibri"/>
                <a:sym typeface="Calibri"/>
              </a:rPr>
              <a:t> 1, </a:t>
            </a:r>
            <a:r>
              <a:rPr lang="tr-TR" i="1" dirty="0" err="1">
                <a:latin typeface="Calibri"/>
                <a:ea typeface="Calibri"/>
                <a:cs typeface="Calibri"/>
                <a:sym typeface="Calibri"/>
              </a:rPr>
              <a:t>pg</a:t>
            </a:r>
            <a:r>
              <a:rPr lang="tr-TR" i="1" dirty="0">
                <a:latin typeface="Calibri"/>
                <a:ea typeface="Calibri"/>
                <a:cs typeface="Calibri"/>
                <a:sym typeface="Calibri"/>
              </a:rPr>
              <a:t>. 217</a:t>
            </a:r>
          </a:p>
        </p:txBody>
      </p:sp>
      <p:sp>
        <p:nvSpPr>
          <p:cNvPr id="5" name="TextBox 4">
            <a:extLst>
              <a:ext uri="{FF2B5EF4-FFF2-40B4-BE49-F238E27FC236}">
                <a16:creationId xmlns:a16="http://schemas.microsoft.com/office/drawing/2014/main" xmlns="" id="{4CE9D117-FAE6-F74F-940B-9CD1479755BE}"/>
              </a:ext>
            </a:extLst>
          </p:cNvPr>
          <p:cNvSpPr txBox="1"/>
          <p:nvPr/>
        </p:nvSpPr>
        <p:spPr>
          <a:xfrm>
            <a:off x="465232" y="431083"/>
            <a:ext cx="11058692" cy="1631216"/>
          </a:xfrm>
          <a:prstGeom prst="rect">
            <a:avLst/>
          </a:prstGeom>
          <a:noFill/>
        </p:spPr>
        <p:txBody>
          <a:bodyPr wrap="square" rtlCol="0">
            <a:spAutoFit/>
          </a:bodyPr>
          <a:lstStyle/>
          <a:p>
            <a:pPr marL="457200" indent="-457200">
              <a:buFont typeface="+mj-lt"/>
              <a:buAutoNum type="alphaLcPeriod"/>
            </a:pPr>
            <a:r>
              <a:rPr lang="en-US" sz="2000" dirty="0">
                <a:latin typeface="Verdana" charset="0"/>
                <a:ea typeface="Verdana" charset="0"/>
                <a:cs typeface="Verdana" charset="0"/>
              </a:rPr>
              <a:t>Use written descriptions or algebraic descriptions to describe a sequence of two transformations that will map the two triangles onto each other.</a:t>
            </a: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r>
              <a:rPr lang="en-US" sz="2000" dirty="0">
                <a:latin typeface="Verdana" charset="0"/>
                <a:ea typeface="Verdana" charset="0"/>
                <a:cs typeface="Verdana" charset="0"/>
              </a:rPr>
              <a:t>Complete the table that shows which vertices were mapped to each other.</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85553538"/>
                  </p:ext>
                </p:extLst>
              </p:nvPr>
            </p:nvGraphicFramePr>
            <p:xfrm>
              <a:off x="2401537" y="2188536"/>
              <a:ext cx="4454525" cy="1097280"/>
            </p:xfrm>
            <a:graphic>
              <a:graphicData uri="http://schemas.openxmlformats.org/drawingml/2006/table">
                <a:tbl>
                  <a:tblPr firstRow="1" firstCol="1" bandRow="1"/>
                  <a:tblGrid>
                    <a:gridCol w="2225675">
                      <a:extLst>
                        <a:ext uri="{9D8B030D-6E8A-4147-A177-3AD203B41FA5}">
                          <a16:colId xmlns:a16="http://schemas.microsoft.com/office/drawing/2014/main" xmlns="" val="20000"/>
                        </a:ext>
                      </a:extLst>
                    </a:gridCol>
                    <a:gridCol w="2228850">
                      <a:extLst>
                        <a:ext uri="{9D8B030D-6E8A-4147-A177-3AD203B41FA5}">
                          <a16:colId xmlns:a16="http://schemas.microsoft.com/office/drawing/2014/main" xmlns="" val="20001"/>
                        </a:ext>
                      </a:extLst>
                    </a:gridCol>
                  </a:tblGrid>
                  <a:tr h="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b="1" i="1">
                                    <a:solidFill>
                                      <a:srgbClr val="000000"/>
                                    </a:solidFill>
                                    <a:effectLst/>
                                    <a:latin typeface="Cambria Math" charset="0"/>
                                    <a:ea typeface="Times New Roman" charset="0"/>
                                    <a:cs typeface="Arial" charset="0"/>
                                  </a:rPr>
                                  <m:t>∆</m:t>
                                </m:r>
                                <m:r>
                                  <a:rPr lang="en-US" sz="1800" b="1" i="1">
                                    <a:solidFill>
                                      <a:srgbClr val="000000"/>
                                    </a:solidFill>
                                    <a:effectLst/>
                                    <a:latin typeface="Cambria Math" charset="0"/>
                                    <a:ea typeface="Times New Roman" charset="0"/>
                                    <a:cs typeface="Arial" charset="0"/>
                                  </a:rPr>
                                  <m:t>𝑻𝑾𝑯</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b="1" i="1">
                                    <a:solidFill>
                                      <a:srgbClr val="000000"/>
                                    </a:solidFill>
                                    <a:effectLst/>
                                    <a:latin typeface="Cambria Math" charset="0"/>
                                    <a:ea typeface="Times New Roman" charset="0"/>
                                    <a:cs typeface="Arial" charset="0"/>
                                  </a:rPr>
                                  <m:t>∆</m:t>
                                </m:r>
                                <m:r>
                                  <a:rPr lang="en-US" sz="1800" b="1" i="1">
                                    <a:solidFill>
                                      <a:srgbClr val="000000"/>
                                    </a:solidFill>
                                    <a:effectLst/>
                                    <a:latin typeface="Cambria Math" charset="0"/>
                                    <a:ea typeface="Times New Roman" charset="0"/>
                                    <a:cs typeface="Arial" charset="0"/>
                                  </a:rPr>
                                  <m:t>𝑮𝑩𝑴</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10000"/>
                      </a:ext>
                    </a:extLst>
                  </a:tr>
                  <a:tr h="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solidFill>
                                      <a:srgbClr val="000000"/>
                                    </a:solidFill>
                                    <a:effectLst/>
                                    <a:latin typeface="Cambria Math" charset="0"/>
                                    <a:ea typeface="Times New Roman" charset="0"/>
                                    <a:cs typeface="Arial" charset="0"/>
                                  </a:rPr>
                                  <m:t>𝑇</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14400" marR="0">
                            <a:spcBef>
                              <a:spcPts val="0"/>
                            </a:spcBef>
                            <a:spcAft>
                              <a:spcPts val="0"/>
                            </a:spcAft>
                          </a:pPr>
                          <a:r>
                            <a:rPr lang="en-US" sz="1800">
                              <a:solidFill>
                                <a:srgbClr val="000000"/>
                              </a:solidFill>
                              <a:effectLst/>
                              <a:latin typeface="Verdana" charset="0"/>
                              <a:ea typeface="Times New Roman" charset="0"/>
                              <a:cs typeface="Arial"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solidFill>
                                      <a:srgbClr val="000000"/>
                                    </a:solidFill>
                                    <a:effectLst/>
                                    <a:latin typeface="Cambria Math" charset="0"/>
                                    <a:ea typeface="Times New Roman" charset="0"/>
                                    <a:cs typeface="Arial" charset="0"/>
                                  </a:rPr>
                                  <m:t>𝑊</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14400" marR="0">
                            <a:spcBef>
                              <a:spcPts val="0"/>
                            </a:spcBef>
                            <a:spcAft>
                              <a:spcPts val="0"/>
                            </a:spcAft>
                          </a:pPr>
                          <a:r>
                            <a:rPr lang="en-US" sz="1800" dirty="0">
                              <a:solidFill>
                                <a:srgbClr val="000000"/>
                              </a:solidFill>
                              <a:effectLst/>
                              <a:latin typeface="Verdana" charset="0"/>
                              <a:ea typeface="Times New Roman" charset="0"/>
                              <a:cs typeface="Arial" charset="0"/>
                            </a:rPr>
                            <a:t> </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solidFill>
                                      <a:srgbClr val="000000"/>
                                    </a:solidFill>
                                    <a:effectLst/>
                                    <a:latin typeface="Cambria Math" charset="0"/>
                                    <a:ea typeface="Times New Roman" charset="0"/>
                                    <a:cs typeface="Arial" charset="0"/>
                                  </a:rPr>
                                  <m:t>𝐻</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14400" marR="0">
                            <a:spcBef>
                              <a:spcPts val="0"/>
                            </a:spcBef>
                            <a:spcAft>
                              <a:spcPts val="0"/>
                            </a:spcAft>
                          </a:pPr>
                          <a:r>
                            <a:rPr lang="en-US" sz="1800" dirty="0">
                              <a:solidFill>
                                <a:srgbClr val="000000"/>
                              </a:solidFill>
                              <a:effectLst/>
                              <a:latin typeface="Verdana" charset="0"/>
                              <a:ea typeface="Times New Roman" charset="0"/>
                              <a:cs typeface="Arial" charset="0"/>
                            </a:rPr>
                            <a:t> </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85553538"/>
                  </p:ext>
                </p:extLst>
              </p:nvPr>
            </p:nvGraphicFramePr>
            <p:xfrm>
              <a:off x="2401537" y="2188536"/>
              <a:ext cx="4454525" cy="1097280"/>
            </p:xfrm>
            <a:graphic>
              <a:graphicData uri="http://schemas.openxmlformats.org/drawingml/2006/table">
                <a:tbl>
                  <a:tblPr firstRow="1" firstCol="1" bandRow="1"/>
                  <a:tblGrid>
                    <a:gridCol w="2225675">
                      <a:extLst>
                        <a:ext uri="{9D8B030D-6E8A-4147-A177-3AD203B41FA5}">
                          <a16:colId xmlns:a16="http://schemas.microsoft.com/office/drawing/2014/main" val="20000"/>
                        </a:ext>
                      </a:extLst>
                    </a:gridCol>
                    <a:gridCol w="2228850">
                      <a:extLst>
                        <a:ext uri="{9D8B030D-6E8A-4147-A177-3AD203B41FA5}">
                          <a16:colId xmlns:a16="http://schemas.microsoft.com/office/drawing/2014/main" val="20001"/>
                        </a:ext>
                      </a:extLst>
                    </a:gridCol>
                  </a:tblGrid>
                  <a:tr h="27432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73" t="-4444" r="-100546" b="-311111"/>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00273" t="-4444" r="-546" b="-311111"/>
                          </a:stretch>
                        </a:blipFill>
                      </a:tcPr>
                    </a:tc>
                    <a:extLst>
                      <a:ext uri="{0D108BD9-81ED-4DB2-BD59-A6C34878D82A}">
                        <a16:rowId xmlns:a16="http://schemas.microsoft.com/office/drawing/2014/main" val="10000"/>
                      </a:ext>
                    </a:extLst>
                  </a:tr>
                  <a:tr h="27432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73" t="-102174" r="-100546" b="-204348"/>
                          </a:stretch>
                        </a:blipFill>
                      </a:tcPr>
                    </a:tc>
                    <a:tc>
                      <a:txBody>
                        <a:bodyPr/>
                        <a:lstStyle/>
                        <a:p>
                          <a:pPr marL="914400" marR="0">
                            <a:spcBef>
                              <a:spcPts val="0"/>
                            </a:spcBef>
                            <a:spcAft>
                              <a:spcPts val="0"/>
                            </a:spcAft>
                          </a:pPr>
                          <a:r>
                            <a:rPr lang="en-US" sz="1800">
                              <a:solidFill>
                                <a:srgbClr val="000000"/>
                              </a:solidFill>
                              <a:effectLst/>
                              <a:latin typeface="Verdana" charset="0"/>
                              <a:ea typeface="Times New Roman" charset="0"/>
                              <a:cs typeface="Arial"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73" t="-206667" r="-100546" b="-108889"/>
                          </a:stretch>
                        </a:blipFill>
                      </a:tcPr>
                    </a:tc>
                    <a:tc>
                      <a:txBody>
                        <a:bodyPr/>
                        <a:lstStyle/>
                        <a:p>
                          <a:pPr marL="914400" marR="0">
                            <a:spcBef>
                              <a:spcPts val="0"/>
                            </a:spcBef>
                            <a:spcAft>
                              <a:spcPts val="0"/>
                            </a:spcAft>
                          </a:pPr>
                          <a:r>
                            <a:rPr lang="en-US" sz="1800" dirty="0">
                              <a:solidFill>
                                <a:srgbClr val="000000"/>
                              </a:solidFill>
                              <a:effectLst/>
                              <a:latin typeface="Verdana" charset="0"/>
                              <a:ea typeface="Times New Roman" charset="0"/>
                              <a:cs typeface="Arial" charset="0"/>
                            </a:rPr>
                            <a:t> </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73" t="-306667" r="-100546" b="-8889"/>
                          </a:stretch>
                        </a:blipFill>
                      </a:tcPr>
                    </a:tc>
                    <a:tc>
                      <a:txBody>
                        <a:bodyPr/>
                        <a:lstStyle/>
                        <a:p>
                          <a:pPr marL="914400" marR="0">
                            <a:spcBef>
                              <a:spcPts val="0"/>
                            </a:spcBef>
                            <a:spcAft>
                              <a:spcPts val="0"/>
                            </a:spcAft>
                          </a:pPr>
                          <a:r>
                            <a:rPr lang="en-US" sz="1800" dirty="0">
                              <a:solidFill>
                                <a:srgbClr val="000000"/>
                              </a:solidFill>
                              <a:effectLst/>
                              <a:latin typeface="Verdana" charset="0"/>
                              <a:ea typeface="Times New Roman" charset="0"/>
                              <a:cs typeface="Arial" charset="0"/>
                            </a:rPr>
                            <a:t> </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mc:AlternateContent xmlns:mc="http://schemas.openxmlformats.org/markup-compatibility/2006" xmlns:a14="http://schemas.microsoft.com/office/drawing/2010/main">
        <mc:Choice Requires="a14">
          <p:sp>
            <p:nvSpPr>
              <p:cNvPr id="3" name="Rectangle 2"/>
              <p:cNvSpPr/>
              <p:nvPr/>
            </p:nvSpPr>
            <p:spPr>
              <a:xfrm>
                <a:off x="465231" y="3572185"/>
                <a:ext cx="8327136" cy="1015663"/>
              </a:xfrm>
              <a:prstGeom prst="rect">
                <a:avLst/>
              </a:prstGeom>
            </p:spPr>
            <p:txBody>
              <a:bodyPr wrap="square">
                <a:spAutoFit/>
              </a:bodyPr>
              <a:lstStyle/>
              <a:p>
                <a:pPr marL="457200" indent="-457200">
                  <a:buFont typeface="+mj-lt"/>
                  <a:buAutoNum type="alphaLcPeriod" startAt="3"/>
                </a:pPr>
                <a:r>
                  <a:rPr lang="en-US" sz="2000" dirty="0">
                    <a:latin typeface="Verdana" charset="0"/>
                    <a:ea typeface="Verdana" charset="0"/>
                    <a:cs typeface="Verdana" charset="0"/>
                  </a:rPr>
                  <a:t>Complete the congruence statement.</a:t>
                </a:r>
              </a:p>
              <a:p>
                <a:r>
                  <a:rPr lang="en-US" sz="2000" dirty="0">
                    <a:latin typeface="Verdana" charset="0"/>
                    <a:ea typeface="Verdana" charset="0"/>
                    <a:cs typeface="Verdana" charset="0"/>
                  </a:rPr>
                  <a:t> </a:t>
                </a:r>
              </a:p>
              <a:p>
                <a:pPr marL="914400" indent="457200"/>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𝑇𝑊𝐻</m:t>
                      </m:r>
                      <m:r>
                        <a:rPr lang="en-US" sz="2000" i="1">
                          <a:latin typeface="Cambria Math" panose="02040503050406030204" pitchFamily="18" charset="0"/>
                          <a:ea typeface="Verdana" charset="0"/>
                          <a:cs typeface="Verdana" charset="0"/>
                        </a:rPr>
                        <m:t>≅_____________</m:t>
                      </m:r>
                    </m:oMath>
                  </m:oMathPara>
                </a14:m>
                <a:endParaRPr lang="en-US" sz="2000" dirty="0">
                  <a:latin typeface="Verdana" charset="0"/>
                  <a:ea typeface="Verdana" charset="0"/>
                  <a:cs typeface="Verdana"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465231" y="3572185"/>
                <a:ext cx="8327136" cy="1015663"/>
              </a:xfrm>
              <a:prstGeom prst="rect">
                <a:avLst/>
              </a:prstGeom>
              <a:blipFill>
                <a:blip r:embed="rId5"/>
                <a:stretch>
                  <a:fillRect l="-805" t="-4192"/>
                </a:stretch>
              </a:blipFill>
            </p:spPr>
            <p:txBody>
              <a:bodyPr/>
              <a:lstStyle/>
              <a:p>
                <a:r>
                  <a:rPr lang="en-US">
                    <a:noFill/>
                  </a:rPr>
                  <a:t> </a:t>
                </a:r>
              </a:p>
            </p:txBody>
          </p:sp>
        </mc:Fallback>
      </mc:AlternateContent>
    </p:spTree>
    <p:extLst>
      <p:ext uri="{BB962C8B-B14F-4D97-AF65-F5344CB8AC3E}">
        <p14:creationId xmlns:p14="http://schemas.microsoft.com/office/powerpoint/2010/main" val="112339640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1262</TotalTime>
  <Words>673</Words>
  <Application>Microsoft Macintosh PowerPoint</Application>
  <PresentationFormat>Widescreen</PresentationFormat>
  <Paragraphs>160</Paragraphs>
  <Slides>23</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Arial Black</vt:lpstr>
      <vt:lpstr>Calibri</vt:lpstr>
      <vt:lpstr>Cambria</vt:lpstr>
      <vt:lpstr>Cambria Math</vt:lpstr>
      <vt:lpstr>Century Gothic</vt:lpstr>
      <vt:lpstr>Times New Roman</vt:lpstr>
      <vt:lpstr>Verdana</vt:lpstr>
      <vt:lpstr>Wingdings</vt:lpstr>
      <vt:lpstr>Arial</vt:lpstr>
      <vt:lpstr>1_Office Theme</vt:lpstr>
      <vt:lpstr>Geometry  Unit 4, Lesson 7  Justifying Congruence  Volume 1, pg. 212  </vt:lpstr>
      <vt:lpstr>Benchmarks</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Your Turn</vt:lpstr>
      <vt:lpstr>PowerPoint Presentation</vt:lpstr>
      <vt:lpstr>Wrap-Up</vt:lpstr>
      <vt:lpstr>PowerPoint Presentation</vt:lpstr>
      <vt:lpstr>PowerPoint Presentation</vt:lpstr>
    </vt:vector>
  </TitlesOfParts>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jslater9816@gmail.com</cp:lastModifiedBy>
  <cp:revision>20</cp:revision>
  <dcterms:created xsi:type="dcterms:W3CDTF">2015-03-17T18:51:18Z</dcterms:created>
  <dcterms:modified xsi:type="dcterms:W3CDTF">2022-07-27T20:49:21Z</dcterms:modified>
</cp:coreProperties>
</file>