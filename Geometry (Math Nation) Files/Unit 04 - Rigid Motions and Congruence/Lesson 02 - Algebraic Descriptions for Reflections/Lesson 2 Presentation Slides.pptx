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11" r:id="rId8"/>
    <p:sldId id="312" r:id="rId9"/>
    <p:sldId id="313" r:id="rId10"/>
    <p:sldId id="332" r:id="rId11"/>
    <p:sldId id="333" r:id="rId12"/>
    <p:sldId id="334" r:id="rId13"/>
    <p:sldId id="338" r:id="rId14"/>
    <p:sldId id="337" r:id="rId15"/>
    <p:sldId id="336" r:id="rId16"/>
    <p:sldId id="335" r:id="rId17"/>
    <p:sldId id="329" r:id="rId18"/>
    <p:sldId id="330" r:id="rId19"/>
    <p:sldId id="306" r:id="rId20"/>
    <p:sldId id="307" r:id="rId21"/>
    <p:sldId id="310"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80"/>
    <p:restoredTop sz="94695"/>
  </p:normalViewPr>
  <p:slideViewPr>
    <p:cSldViewPr snapToGrid="0">
      <p:cViewPr varScale="1">
        <p:scale>
          <a:sx n="86" d="100"/>
          <a:sy n="86" d="100"/>
        </p:scale>
        <p:origin x="224" y="6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55" Type="http://customschemas.google.com/relationships/presentationmetadata" Target="metadata"/><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427631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004041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98385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39062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911684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906062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10024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50.png"/><Relationship Id="rId6" Type="http://schemas.openxmlformats.org/officeDocument/2006/relationships/image" Target="../media/image16.png"/><Relationship Id="rId7" Type="http://schemas.openxmlformats.org/officeDocument/2006/relationships/image" Target="../media/image17.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9.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0.png"/><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4.png"/><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36.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5" Type="http://schemas.openxmlformats.org/officeDocument/2006/relationships/image" Target="../media/image38.jpe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9.jpeg"/><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Algebraic Descriptions for Reflections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184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0324"/>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MA.912.GR.2.1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pre-image and image, describe the transformation and represent the transformation algebraically using coordinates. </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199" y="129791"/>
            <a:ext cx="87267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184</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01760" y="1596514"/>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056575"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274413" y="31998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184</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57200" y="1600324"/>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08000" indent="-50800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relate a reflection on the coordinate plane to an algebraic notation of the transformation.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6551"/>
            <a:ext cx="8148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4.2.1 Warm-Up: Moving Circles</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60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184</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93248" y="1386150"/>
            <a:ext cx="11034902" cy="523220"/>
          </a:xfrm>
          <a:prstGeom prst="rect">
            <a:avLst/>
          </a:prstGeom>
          <a:noFill/>
        </p:spPr>
        <p:txBody>
          <a:bodyPr wrap="square" rtlCol="0">
            <a:spAutoFit/>
          </a:bodyPr>
          <a:lstStyle/>
          <a:p>
            <a:pPr marL="508000" indent="-508000">
              <a:buFont typeface="+mj-lt"/>
              <a:buAutoNum type="arabicPeriod"/>
            </a:pPr>
            <a:r>
              <a:rPr lang="en-US" sz="2800" dirty="0">
                <a:latin typeface="Verdana" panose="020B0604030504040204" pitchFamily="34" charset="0"/>
                <a:ea typeface="Verdana" panose="020B0604030504040204" pitchFamily="34" charset="0"/>
                <a:cs typeface="Verdana" panose="020B0604030504040204" pitchFamily="34" charset="0"/>
              </a:rPr>
              <a:t>Move any three circles so that the pyramid points down. </a:t>
            </a:r>
          </a:p>
        </p:txBody>
      </p:sp>
      <p:pic>
        <p:nvPicPr>
          <p:cNvPr id="4" name="Picture 3" descr="A group of blue circles&#10;&#10;Description automatically generated with medium confidence">
            <a:extLst>
              <a:ext uri="{FF2B5EF4-FFF2-40B4-BE49-F238E27FC236}">
                <a16:creationId xmlns:a16="http://schemas.microsoft.com/office/drawing/2014/main" xmlns="" id="{3AC6D1CE-4147-E14C-86F7-FF63CCA7676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68100" y="2357585"/>
            <a:ext cx="6019800" cy="351155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185</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60449"/>
            <a:ext cx="86901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4.2.2 Exploration: Discovering Algebraic Descriptions for Reflections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185</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xmlns=""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08574"/>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152D1D4D-DCB8-A246-B186-D40316579D77}"/>
                  </a:ext>
                </a:extLst>
              </p:cNvPr>
              <p:cNvSpPr txBox="1"/>
              <p:nvPr/>
            </p:nvSpPr>
            <p:spPr>
              <a:xfrm>
                <a:off x="593248" y="1309950"/>
                <a:ext cx="11034902"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1. Quadrilaterals </a:t>
                </a:r>
                <a14:m>
                  <m:oMath xmlns:m="http://schemas.openxmlformats.org/officeDocument/2006/math">
                    <m:r>
                      <a:rPr lang="en-US" sz="2400" i="1">
                        <a:latin typeface="Cambria Math" panose="02040503050406030204" pitchFamily="18" charset="0"/>
                      </a:rPr>
                      <m:t>𝐻𝑍𝐿𝑅</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𝑇𝑊𝐾𝐵</m:t>
                    </m:r>
                  </m:oMath>
                </a14:m>
                <a:r>
                  <a:rPr lang="en-US" sz="2400" dirty="0">
                    <a:latin typeface="Verdana" panose="020B0604030504040204" pitchFamily="34" charset="0"/>
                    <a:ea typeface="Verdana" panose="020B0604030504040204" pitchFamily="34" charset="0"/>
                    <a:cs typeface="Verdana" panose="020B0604030504040204" pitchFamily="34" charset="0"/>
                  </a:rPr>
                  <a:t> are shown on the coordinate grid. Quadrilateral </a:t>
                </a:r>
                <a14:m>
                  <m:oMath xmlns:m="http://schemas.openxmlformats.org/officeDocument/2006/math">
                    <m:r>
                      <a:rPr lang="en-US" sz="2400" i="1">
                        <a:latin typeface="Cambria Math" panose="02040503050406030204" pitchFamily="18" charset="0"/>
                      </a:rPr>
                      <m:t>𝐻𝑍𝐿𝑅</m:t>
                    </m:r>
                  </m:oMath>
                </a14:m>
                <a:r>
                  <a:rPr lang="en-US" sz="2400" dirty="0">
                    <a:latin typeface="Verdana" panose="020B0604030504040204" pitchFamily="34" charset="0"/>
                    <a:ea typeface="Verdana" panose="020B0604030504040204" pitchFamily="34" charset="0"/>
                    <a:cs typeface="Verdana" panose="020B0604030504040204" pitchFamily="34" charset="0"/>
                  </a:rPr>
                  <a:t> was reflected across the </a:t>
                </a:r>
                <a14:m>
                  <m:oMath xmlns:m="http://schemas.openxmlformats.org/officeDocument/2006/math">
                    <m:r>
                      <a:rPr lang="en-US" sz="2400" i="1">
                        <a:latin typeface="Cambria Math" panose="020405030504060302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-axis to create quadrilateral </a:t>
                </a:r>
                <a14:m>
                  <m:oMath xmlns:m="http://schemas.openxmlformats.org/officeDocument/2006/math">
                    <m:r>
                      <a:rPr lang="en-US" sz="2400" i="1">
                        <a:latin typeface="Cambria Math" panose="02040503050406030204" pitchFamily="18" charset="0"/>
                      </a:rPr>
                      <m:t>𝑇𝑊𝐾𝐵</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3248" y="1309950"/>
                <a:ext cx="11034902" cy="1200329"/>
              </a:xfrm>
              <a:prstGeom prst="rect">
                <a:avLst/>
              </a:prstGeom>
              <a:blipFill>
                <a:blip r:embed="rId5"/>
                <a:stretch>
                  <a:fillRect l="-828" t="-4569" b="-10152"/>
                </a:stretch>
              </a:blipFill>
            </p:spPr>
            <p:txBody>
              <a:bodyPr/>
              <a:lstStyle/>
              <a:p>
                <a:r>
                  <a:rPr lang="en-US">
                    <a:noFill/>
                  </a:rPr>
                  <a:t> </a:t>
                </a:r>
              </a:p>
            </p:txBody>
          </p:sp>
        </mc:Fallback>
      </mc:AlternateContent>
      <p:pic>
        <p:nvPicPr>
          <p:cNvPr id="9" name="Picture 8" descr="Chart, line chart&#10;&#10;Description automatically generated">
            <a:extLst>
              <a:ext uri="{FF2B5EF4-FFF2-40B4-BE49-F238E27FC236}">
                <a16:creationId xmlns:a16="http://schemas.microsoft.com/office/drawing/2014/main" xmlns="" id="{54E0AC91-A7A9-674D-B2CA-184998C338E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013242" y="2510279"/>
            <a:ext cx="4510682" cy="3581938"/>
          </a:xfrm>
          <a:prstGeom prst="rect">
            <a:avLst/>
          </a:prstGeom>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093B5D01-7464-1D49-B29C-98D83F99B5C7}"/>
                  </a:ext>
                </a:extLst>
              </p:cNvPr>
              <p:cNvSpPr/>
              <p:nvPr/>
            </p:nvSpPr>
            <p:spPr>
              <a:xfrm>
                <a:off x="593248" y="2586478"/>
                <a:ext cx="6049946" cy="2308324"/>
              </a:xfrm>
              <a:prstGeom prst="rect">
                <a:avLst/>
              </a:prstGeom>
            </p:spPr>
            <p:txBody>
              <a:bodyPr wrap="square">
                <a:spAutoFit/>
              </a:bodyPr>
              <a:lstStyle/>
              <a:p>
                <a:pPr marL="342900" indent="-342900">
                  <a:buFont typeface="+mj-lt"/>
                  <a:buAutoNum type="alphaLcPeriod"/>
                </a:pPr>
                <a:r>
                  <a:rPr lang="en-US" sz="2400" dirty="0">
                    <a:latin typeface="Verdana" panose="020B0604030504040204" pitchFamily="34" charset="0"/>
                    <a:ea typeface="Times New Roman" panose="02020603050405020304" pitchFamily="18" charset="0"/>
                    <a:cs typeface="Arial" panose="020B0604020202020204" pitchFamily="34" charset="0"/>
                  </a:rPr>
                  <a:t>Draw a line segment between each set of corresponding vertices. </a:t>
                </a:r>
              </a:p>
              <a:p>
                <a:pPr marL="342900" indent="-342900">
                  <a:buFont typeface="+mj-lt"/>
                  <a:buAutoNum type="alphaLcPeriod"/>
                </a:pPr>
                <a:endParaRPr lang="en-US" sz="2400" dirty="0">
                  <a:latin typeface="Verdana" panose="020B0604030504040204" pitchFamily="34" charset="0"/>
                  <a:ea typeface="Times New Roman" panose="02020603050405020304" pitchFamily="18" charset="0"/>
                  <a:cs typeface="Arial" panose="020B0604020202020204" pitchFamily="34" charset="0"/>
                </a:endParaRPr>
              </a:p>
              <a:p>
                <a:pPr marL="342900" indent="-342900">
                  <a:buFont typeface="+mj-lt"/>
                  <a:buAutoNum type="alphaLcPeriod"/>
                </a:pPr>
                <a:r>
                  <a:rPr lang="en-US" sz="2400" dirty="0">
                    <a:latin typeface="Verdana" panose="020B0604030504040204" pitchFamily="34" charset="0"/>
                    <a:ea typeface="Times New Roman" panose="02020603050405020304" pitchFamily="18" charset="0"/>
                    <a:cs typeface="Arial" panose="020B0604020202020204" pitchFamily="34" charset="0"/>
                  </a:rPr>
                  <a:t>Describe how the line segments between the vertices are related to the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oMath>
                </a14:m>
                <a:r>
                  <a:rPr lang="en-US" sz="2400" dirty="0">
                    <a:latin typeface="Verdana" panose="020B0604030504040204" pitchFamily="34" charset="0"/>
                    <a:ea typeface="Times New Roman" panose="02020603050405020304" pitchFamily="18" charset="0"/>
                    <a:cs typeface="Arial" panose="020B0604020202020204" pitchFamily="34" charset="0"/>
                  </a:rPr>
                  <a:t>-axis.</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093B5D01-7464-1D49-B29C-98D83F99B5C7}"/>
                  </a:ext>
                </a:extLst>
              </p:cNvPr>
              <p:cNvSpPr>
                <a:spLocks noRot="1" noChangeAspect="1" noMove="1" noResize="1" noEditPoints="1" noAdjustHandles="1" noChangeArrowheads="1" noChangeShapeType="1" noTextEdit="1"/>
              </p:cNvSpPr>
              <p:nvPr/>
            </p:nvSpPr>
            <p:spPr>
              <a:xfrm>
                <a:off x="593248" y="2586478"/>
                <a:ext cx="6049946" cy="2308324"/>
              </a:xfrm>
              <a:prstGeom prst="rect">
                <a:avLst/>
              </a:prstGeom>
              <a:blipFill>
                <a:blip r:embed="rId7"/>
                <a:stretch>
                  <a:fillRect l="-1511" t="-2111" r="-1208" b="-4749"/>
                </a:stretch>
              </a:blipFill>
            </p:spPr>
            <p:txBody>
              <a:bodyPr/>
              <a:lstStyle/>
              <a:p>
                <a:r>
                  <a:rPr lang="en-US">
                    <a:noFill/>
                  </a:rPr>
                  <a:t> </a:t>
                </a:r>
              </a:p>
            </p:txBody>
          </p:sp>
        </mc:Fallback>
      </mc:AlternateContent>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0D9393DE-F478-C842-A7DF-9F75CD5DE099}"/>
                  </a:ext>
                </a:extLst>
              </p:cNvPr>
              <p:cNvGraphicFramePr>
                <a:graphicFrameLocks noGrp="1"/>
              </p:cNvGraphicFramePr>
              <p:nvPr>
                <p:extLst>
                  <p:ext uri="{D42A27DB-BD31-4B8C-83A1-F6EECF244321}">
                    <p14:modId xmlns:p14="http://schemas.microsoft.com/office/powerpoint/2010/main" val="1202843603"/>
                  </p:ext>
                </p:extLst>
              </p:nvPr>
            </p:nvGraphicFramePr>
            <p:xfrm>
              <a:off x="969056" y="1250556"/>
              <a:ext cx="7319488" cy="2182495"/>
            </p:xfrm>
            <a:graphic>
              <a:graphicData uri="http://schemas.openxmlformats.org/drawingml/2006/table">
                <a:tbl>
                  <a:tblPr firstRow="1" firstCol="1" bandRow="1">
                    <a:tableStyleId>{A91F0D33-8C57-4600-99A7-42BC86742BE1}</a:tableStyleId>
                  </a:tblPr>
                  <a:tblGrid>
                    <a:gridCol w="1948475">
                      <a:extLst>
                        <a:ext uri="{9D8B030D-6E8A-4147-A177-3AD203B41FA5}">
                          <a16:colId xmlns:a16="http://schemas.microsoft.com/office/drawing/2014/main" xmlns="" val="3599760375"/>
                        </a:ext>
                      </a:extLst>
                    </a:gridCol>
                    <a:gridCol w="1364271">
                      <a:extLst>
                        <a:ext uri="{9D8B030D-6E8A-4147-A177-3AD203B41FA5}">
                          <a16:colId xmlns:a16="http://schemas.microsoft.com/office/drawing/2014/main" xmlns="" val="2537255413"/>
                        </a:ext>
                      </a:extLst>
                    </a:gridCol>
                    <a:gridCol w="1364949">
                      <a:extLst>
                        <a:ext uri="{9D8B030D-6E8A-4147-A177-3AD203B41FA5}">
                          <a16:colId xmlns:a16="http://schemas.microsoft.com/office/drawing/2014/main" xmlns="" val="371791503"/>
                        </a:ext>
                      </a:extLst>
                    </a:gridCol>
                    <a:gridCol w="1364949">
                      <a:extLst>
                        <a:ext uri="{9D8B030D-6E8A-4147-A177-3AD203B41FA5}">
                          <a16:colId xmlns:a16="http://schemas.microsoft.com/office/drawing/2014/main" xmlns="" val="2416919627"/>
                        </a:ext>
                      </a:extLst>
                    </a:gridCol>
                    <a:gridCol w="1276844">
                      <a:extLst>
                        <a:ext uri="{9D8B030D-6E8A-4147-A177-3AD203B41FA5}">
                          <a16:colId xmlns:a16="http://schemas.microsoft.com/office/drawing/2014/main" xmlns="" val="3510843040"/>
                        </a:ext>
                      </a:extLst>
                    </a:gridCol>
                  </a:tblGrid>
                  <a:tr h="347980">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solidFill>
                          <a:srgbClr val="BFBFBF"/>
                        </a:solidFill>
                      </a:tcPr>
                    </a:tc>
                    <a:tc>
                      <a:txBody>
                        <a:bodyPr/>
                        <a:lstStyle/>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𝑯</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a:effectLst/>
                                  <a:latin typeface="Cambria Math" panose="02040503050406030204" pitchFamily="18" charset="0"/>
                                </a:rPr>
                                <m:t>𝑻</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rgbClr val="BFBFBF"/>
                        </a:solidFill>
                      </a:tcPr>
                    </a:tc>
                    <a:tc>
                      <a:txBody>
                        <a:bodyPr/>
                        <a:lstStyle/>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𝒁</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a:effectLst/>
                                  <a:latin typeface="Cambria Math" panose="02040503050406030204" pitchFamily="18" charset="0"/>
                                </a:rPr>
                                <m:t>𝑾</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rgbClr val="BFBFBF"/>
                        </a:solidFill>
                      </a:tcPr>
                    </a:tc>
                    <a:tc>
                      <a:txBody>
                        <a:bodyPr/>
                        <a:lstStyle/>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𝑳</m:t>
                              </m:r>
                            </m:oMath>
                          </a14:m>
                          <a:r>
                            <a:rPr lang="en-US" sz="240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a:effectLst/>
                                  <a:latin typeface="Cambria Math" panose="02040503050406030204" pitchFamily="18" charset="0"/>
                                </a:rPr>
                                <m:t>𝑲</m:t>
                              </m:r>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rgbClr val="BFBFBF"/>
                        </a:solidFill>
                      </a:tcPr>
                    </a:tc>
                    <a:tc>
                      <a:txBody>
                        <a:bodyPr/>
                        <a:lstStyle/>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𝑹</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a:effectLst/>
                                  <a:latin typeface="Cambria Math" panose="02040503050406030204" pitchFamily="18" charset="0"/>
                                </a:rPr>
                                <m:t>𝑩</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rgbClr val="BFBFBF"/>
                        </a:solidFill>
                      </a:tcPr>
                    </a:tc>
                    <a:extLst>
                      <a:ext uri="{0D108BD9-81ED-4DB2-BD59-A6C34878D82A}">
                        <a16:rowId xmlns:a16="http://schemas.microsoft.com/office/drawing/2014/main" xmlns="" val="4002849076"/>
                      </a:ext>
                    </a:extLst>
                  </a:tr>
                  <a:tr h="719455">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Distance</a:t>
                          </a:r>
                        </a:p>
                      </a:txBody>
                      <a:tcPr marL="68580" marR="68580" marT="0" marB="0" anchor="ctr">
                        <a:solidFill>
                          <a:srgbClr val="BFBFBF"/>
                        </a:solid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xmlns="" val="2488130672"/>
                      </a:ext>
                    </a:extLst>
                  </a:tr>
                  <a:tr h="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Ordered Pair of the Midpoint</a:t>
                          </a:r>
                        </a:p>
                      </a:txBody>
                      <a:tcPr marL="68580" marR="68580" marT="0" marB="0" anchor="ctr">
                        <a:solidFill>
                          <a:srgbClr val="BFBFBF"/>
                        </a:solid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xmlns="" val="2139073654"/>
                      </a:ext>
                    </a:extLst>
                  </a:tr>
                </a:tbl>
              </a:graphicData>
            </a:graphic>
          </p:graphicFrame>
        </mc:Choice>
        <mc:Fallback xmlns="">
          <p:graphicFrame>
            <p:nvGraphicFramePr>
              <p:cNvPr id="2" name="Table 1">
                <a:extLst>
                  <a:ext uri="{FF2B5EF4-FFF2-40B4-BE49-F238E27FC236}">
                    <a16:creationId xmlns:a16="http://schemas.microsoft.com/office/drawing/2014/main" id="{0D9393DE-F478-C842-A7DF-9F75CD5DE099}"/>
                  </a:ext>
                </a:extLst>
              </p:cNvPr>
              <p:cNvGraphicFramePr>
                <a:graphicFrameLocks noGrp="1"/>
              </p:cNvGraphicFramePr>
              <p:nvPr>
                <p:extLst>
                  <p:ext uri="{D42A27DB-BD31-4B8C-83A1-F6EECF244321}">
                    <p14:modId xmlns:p14="http://schemas.microsoft.com/office/powerpoint/2010/main" val="1202843603"/>
                  </p:ext>
                </p:extLst>
              </p:nvPr>
            </p:nvGraphicFramePr>
            <p:xfrm>
              <a:off x="969056" y="1250556"/>
              <a:ext cx="7319488" cy="2182495"/>
            </p:xfrm>
            <a:graphic>
              <a:graphicData uri="http://schemas.openxmlformats.org/drawingml/2006/table">
                <a:tbl>
                  <a:tblPr firstRow="1" firstCol="1" bandRow="1">
                    <a:tableStyleId>{A91F0D33-8C57-4600-99A7-42BC86742BE1}</a:tableStyleId>
                  </a:tblPr>
                  <a:tblGrid>
                    <a:gridCol w="1948475">
                      <a:extLst>
                        <a:ext uri="{9D8B030D-6E8A-4147-A177-3AD203B41FA5}">
                          <a16:colId xmlns:a16="http://schemas.microsoft.com/office/drawing/2014/main" val="3599760375"/>
                        </a:ext>
                      </a:extLst>
                    </a:gridCol>
                    <a:gridCol w="1364271">
                      <a:extLst>
                        <a:ext uri="{9D8B030D-6E8A-4147-A177-3AD203B41FA5}">
                          <a16:colId xmlns:a16="http://schemas.microsoft.com/office/drawing/2014/main" val="2537255413"/>
                        </a:ext>
                      </a:extLst>
                    </a:gridCol>
                    <a:gridCol w="1364949">
                      <a:extLst>
                        <a:ext uri="{9D8B030D-6E8A-4147-A177-3AD203B41FA5}">
                          <a16:colId xmlns:a16="http://schemas.microsoft.com/office/drawing/2014/main" val="371791503"/>
                        </a:ext>
                      </a:extLst>
                    </a:gridCol>
                    <a:gridCol w="1364949">
                      <a:extLst>
                        <a:ext uri="{9D8B030D-6E8A-4147-A177-3AD203B41FA5}">
                          <a16:colId xmlns:a16="http://schemas.microsoft.com/office/drawing/2014/main" val="2416919627"/>
                        </a:ext>
                      </a:extLst>
                    </a:gridCol>
                    <a:gridCol w="1276844">
                      <a:extLst>
                        <a:ext uri="{9D8B030D-6E8A-4147-A177-3AD203B41FA5}">
                          <a16:colId xmlns:a16="http://schemas.microsoft.com/office/drawing/2014/main" val="3510843040"/>
                        </a:ext>
                      </a:extLst>
                    </a:gridCol>
                  </a:tblGrid>
                  <a:tr h="365760">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solidFill>
                          <a:srgbClr val="BFBFBF"/>
                        </a:solidFill>
                      </a:tcPr>
                    </a:tc>
                    <a:tc>
                      <a:txBody>
                        <a:bodyPr/>
                        <a:lstStyle/>
                        <a:p>
                          <a:endParaRPr lang="en-US"/>
                        </a:p>
                      </a:txBody>
                      <a:tcPr marL="68580" marR="68580" marT="0" marB="0" anchor="ctr">
                        <a:blipFill>
                          <a:blip r:embed="rId4"/>
                          <a:stretch>
                            <a:fillRect l="-142857" t="-26667" r="-294643" b="-548333"/>
                          </a:stretch>
                        </a:blipFill>
                      </a:tcPr>
                    </a:tc>
                    <a:tc>
                      <a:txBody>
                        <a:bodyPr/>
                        <a:lstStyle/>
                        <a:p>
                          <a:endParaRPr lang="en-US"/>
                        </a:p>
                      </a:txBody>
                      <a:tcPr marL="68580" marR="68580" marT="0" marB="0" anchor="ctr">
                        <a:blipFill>
                          <a:blip r:embed="rId4"/>
                          <a:stretch>
                            <a:fillRect l="-242857" t="-26667" r="-194643" b="-548333"/>
                          </a:stretch>
                        </a:blipFill>
                      </a:tcPr>
                    </a:tc>
                    <a:tc>
                      <a:txBody>
                        <a:bodyPr/>
                        <a:lstStyle/>
                        <a:p>
                          <a:endParaRPr lang="en-US"/>
                        </a:p>
                      </a:txBody>
                      <a:tcPr marL="68580" marR="68580" marT="0" marB="0" anchor="ctr">
                        <a:blipFill>
                          <a:blip r:embed="rId4"/>
                          <a:stretch>
                            <a:fillRect l="-342857" t="-26667" r="-94643" b="-548333"/>
                          </a:stretch>
                        </a:blipFill>
                      </a:tcPr>
                    </a:tc>
                    <a:tc>
                      <a:txBody>
                        <a:bodyPr/>
                        <a:lstStyle/>
                        <a:p>
                          <a:endParaRPr lang="en-US"/>
                        </a:p>
                      </a:txBody>
                      <a:tcPr marL="68580" marR="68580" marT="0" marB="0" anchor="ctr">
                        <a:blipFill>
                          <a:blip r:embed="rId4"/>
                          <a:stretch>
                            <a:fillRect l="-472381" t="-26667" r="-952" b="-548333"/>
                          </a:stretch>
                        </a:blipFill>
                      </a:tcPr>
                    </a:tc>
                    <a:extLst>
                      <a:ext uri="{0D108BD9-81ED-4DB2-BD59-A6C34878D82A}">
                        <a16:rowId xmlns:a16="http://schemas.microsoft.com/office/drawing/2014/main" val="4002849076"/>
                      </a:ext>
                    </a:extLst>
                  </a:tr>
                  <a:tr h="719455">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Distance</a:t>
                          </a:r>
                        </a:p>
                      </a:txBody>
                      <a:tcPr marL="68580" marR="68580" marT="0" marB="0" anchor="ctr">
                        <a:solidFill>
                          <a:srgbClr val="BFBFBF"/>
                        </a:solid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2488130672"/>
                      </a:ext>
                    </a:extLst>
                  </a:tr>
                  <a:tr h="109728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Ordered Pair of the Midpoint</a:t>
                          </a:r>
                        </a:p>
                      </a:txBody>
                      <a:tcPr marL="68580" marR="68580" marT="0" marB="0" anchor="ctr">
                        <a:solidFill>
                          <a:srgbClr val="BFBFBF"/>
                        </a:solid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2139073654"/>
                      </a:ext>
                    </a:extLst>
                  </a:tr>
                </a:tbl>
              </a:graphicData>
            </a:graphic>
          </p:graphicFrame>
        </mc:Fallback>
      </mc:AlternateContent>
      <p:sp>
        <p:nvSpPr>
          <p:cNvPr id="3" name="Rectangle 1">
            <a:extLst>
              <a:ext uri="{FF2B5EF4-FFF2-40B4-BE49-F238E27FC236}">
                <a16:creationId xmlns:a16="http://schemas.microsoft.com/office/drawing/2014/main" xmlns="" id="{ED262BFB-C1CD-5D47-90EB-3037346860BF}"/>
              </a:ext>
            </a:extLst>
          </p:cNvPr>
          <p:cNvSpPr>
            <a:spLocks noChangeArrowheads="1"/>
          </p:cNvSpPr>
          <p:nvPr/>
        </p:nvSpPr>
        <p:spPr bwMode="auto">
          <a:xfrm>
            <a:off x="514000" y="634719"/>
            <a:ext cx="373852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a:buClrTx/>
            </a:pPr>
            <a:r>
              <a:rPr lang="en-US" altLang="en-US" sz="2400" dirty="0">
                <a:solidFill>
                  <a:srgbClr val="000000"/>
                </a:solidFill>
                <a:latin typeface="Verdana" panose="020B0604030504040204" pitchFamily="34" charset="0"/>
                <a:ea typeface="Times New Roman" panose="02020603050405020304" pitchFamily="18" charset="0"/>
                <a:cs typeface="Arial" panose="020B0604020202020204" pitchFamily="34" charset="0"/>
              </a:rPr>
              <a:t>c. Complete the table. </a:t>
            </a:r>
            <a:endParaRPr lang="en-US" altLang="en-US" sz="2400" dirty="0">
              <a:ea typeface="Times New Roman" panose="02020603050405020304" pitchFamily="18" charset="0"/>
            </a:endParaRPr>
          </a:p>
          <a:p>
            <a:pPr>
              <a:buClrTx/>
            </a:pPr>
            <a:endParaRPr lang="en-US" altLang="en-US" sz="2400" dirty="0"/>
          </a:p>
        </p:txBody>
      </p:sp>
      <p:sp>
        <p:nvSpPr>
          <p:cNvPr id="4" name="TextBox 3">
            <a:extLst>
              <a:ext uri="{FF2B5EF4-FFF2-40B4-BE49-F238E27FC236}">
                <a16:creationId xmlns:a16="http://schemas.microsoft.com/office/drawing/2014/main" xmlns="" id="{8A989EBB-59C0-7446-835D-B4CBCE6D98ED}"/>
              </a:ext>
            </a:extLst>
          </p:cNvPr>
          <p:cNvSpPr txBox="1"/>
          <p:nvPr/>
        </p:nvSpPr>
        <p:spPr>
          <a:xfrm>
            <a:off x="499674" y="4048888"/>
            <a:ext cx="7505700" cy="830997"/>
          </a:xfrm>
          <a:prstGeom prst="rect">
            <a:avLst/>
          </a:prstGeom>
          <a:noFill/>
        </p:spPr>
        <p:txBody>
          <a:bodyPr wrap="square" rtlCol="0">
            <a:spAutoFit/>
          </a:bodyPr>
          <a:lstStyle/>
          <a:p>
            <a:r>
              <a:rPr lang="en-US" altLang="en-US" sz="2400" dirty="0">
                <a:latin typeface="Verdana" panose="020B0604030504040204" pitchFamily="34" charset="0"/>
                <a:ea typeface="Verdana" panose="020B0604030504040204" pitchFamily="34" charset="0"/>
                <a:cs typeface="Verdana" panose="020B0604030504040204" pitchFamily="34" charset="0"/>
              </a:rPr>
              <a:t>d. What do you notice about the midpoints?</a:t>
            </a: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32506CED-0EDD-BE45-B015-50A8E7CC5059}"/>
                  </a:ext>
                </a:extLst>
              </p:cNvPr>
              <p:cNvGraphicFramePr>
                <a:graphicFrameLocks noGrp="1"/>
              </p:cNvGraphicFramePr>
              <p:nvPr>
                <p:extLst>
                  <p:ext uri="{D42A27DB-BD31-4B8C-83A1-F6EECF244321}">
                    <p14:modId xmlns:p14="http://schemas.microsoft.com/office/powerpoint/2010/main" val="4219775736"/>
                  </p:ext>
                </p:extLst>
              </p:nvPr>
            </p:nvGraphicFramePr>
            <p:xfrm>
              <a:off x="977548" y="1105167"/>
              <a:ext cx="7842252" cy="1828800"/>
            </p:xfrm>
            <a:graphic>
              <a:graphicData uri="http://schemas.openxmlformats.org/drawingml/2006/table">
                <a:tbl>
                  <a:tblPr firstRow="1" firstCol="1" bandRow="1">
                    <a:tableStyleId>{A91F0D33-8C57-4600-99A7-42BC86742BE1}</a:tableStyleId>
                  </a:tblPr>
                  <a:tblGrid>
                    <a:gridCol w="1343372">
                      <a:extLst>
                        <a:ext uri="{9D8B030D-6E8A-4147-A177-3AD203B41FA5}">
                          <a16:colId xmlns:a16="http://schemas.microsoft.com/office/drawing/2014/main" xmlns="" val="2661959846"/>
                        </a:ext>
                      </a:extLst>
                    </a:gridCol>
                    <a:gridCol w="1298392">
                      <a:extLst>
                        <a:ext uri="{9D8B030D-6E8A-4147-A177-3AD203B41FA5}">
                          <a16:colId xmlns:a16="http://schemas.microsoft.com/office/drawing/2014/main" xmlns="" val="3457718609"/>
                        </a:ext>
                      </a:extLst>
                    </a:gridCol>
                    <a:gridCol w="1300122">
                      <a:extLst>
                        <a:ext uri="{9D8B030D-6E8A-4147-A177-3AD203B41FA5}">
                          <a16:colId xmlns:a16="http://schemas.microsoft.com/office/drawing/2014/main" xmlns="" val="2900274542"/>
                        </a:ext>
                      </a:extLst>
                    </a:gridCol>
                    <a:gridCol w="1300122">
                      <a:extLst>
                        <a:ext uri="{9D8B030D-6E8A-4147-A177-3AD203B41FA5}">
                          <a16:colId xmlns:a16="http://schemas.microsoft.com/office/drawing/2014/main" xmlns="" val="1973502199"/>
                        </a:ext>
                      </a:extLst>
                    </a:gridCol>
                    <a:gridCol w="1300122">
                      <a:extLst>
                        <a:ext uri="{9D8B030D-6E8A-4147-A177-3AD203B41FA5}">
                          <a16:colId xmlns:a16="http://schemas.microsoft.com/office/drawing/2014/main" xmlns="" val="2188485145"/>
                        </a:ext>
                      </a:extLst>
                    </a:gridCol>
                    <a:gridCol w="1300122">
                      <a:extLst>
                        <a:ext uri="{9D8B030D-6E8A-4147-A177-3AD203B41FA5}">
                          <a16:colId xmlns:a16="http://schemas.microsoft.com/office/drawing/2014/main" xmlns="" val="3701199368"/>
                        </a:ext>
                      </a:extLst>
                    </a:gridCol>
                  </a:tblGrid>
                  <a:tr h="29845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Vertex</a:t>
                          </a: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𝒙</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𝒚</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Vertex</a:t>
                          </a: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𝒙</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𝒚</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extLst>
                      <a:ext uri="{0D108BD9-81ED-4DB2-BD59-A6C34878D82A}">
                        <a16:rowId xmlns:a16="http://schemas.microsoft.com/office/drawing/2014/main" xmlns="" val="2212539917"/>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panose="02040503050406030204" pitchFamily="18" charset="0"/>
                                  </a:rPr>
                                  <m:t>𝑯</m:t>
                                </m:r>
                              </m:oMath>
                            </m:oMathPara>
                          </a14:m>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−6</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𝑇</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6</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3580318543"/>
                      </a:ext>
                    </a:extLst>
                  </a:tr>
                  <a:tr h="2984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panose="02040503050406030204" pitchFamily="18" charset="0"/>
                                  </a:rPr>
                                  <m:t>𝒁</m:t>
                                </m:r>
                              </m:oMath>
                            </m:oMathPara>
                          </a14:m>
                          <a:endParaRPr lang="en-US" sz="24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−5</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3</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𝑊</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5</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3</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229070577"/>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panose="02040503050406030204" pitchFamily="18" charset="0"/>
                                  </a:rPr>
                                  <m:t>𝑹</m:t>
                                </m:r>
                              </m:oMath>
                            </m:oMathPara>
                          </a14:m>
                          <a:endParaRPr lang="en-US" sz="2400" b="1"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1</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𝐾</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1</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2264332307"/>
                      </a:ext>
                    </a:extLst>
                  </a:tr>
                  <a:tr h="2876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panose="02040503050406030204" pitchFamily="18" charset="0"/>
                                  </a:rPr>
                                  <m:t>𝑳</m:t>
                                </m:r>
                              </m:oMath>
                            </m:oMathPara>
                          </a14:m>
                          <a:endParaRPr lang="en-US" sz="24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−5</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−1</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𝐵</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5</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−1</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xmlns="" val="713255762"/>
                      </a:ext>
                    </a:extLst>
                  </a:tr>
                </a:tbl>
              </a:graphicData>
            </a:graphic>
          </p:graphicFrame>
        </mc:Choice>
        <mc:Fallback xmlns="">
          <p:graphicFrame>
            <p:nvGraphicFramePr>
              <p:cNvPr id="2" name="Table 1">
                <a:extLst>
                  <a:ext uri="{FF2B5EF4-FFF2-40B4-BE49-F238E27FC236}">
                    <a16:creationId xmlns:a16="http://schemas.microsoft.com/office/drawing/2014/main" id="{32506CED-0EDD-BE45-B015-50A8E7CC5059}"/>
                  </a:ext>
                </a:extLst>
              </p:cNvPr>
              <p:cNvGraphicFramePr>
                <a:graphicFrameLocks noGrp="1"/>
              </p:cNvGraphicFramePr>
              <p:nvPr>
                <p:extLst>
                  <p:ext uri="{D42A27DB-BD31-4B8C-83A1-F6EECF244321}">
                    <p14:modId xmlns:p14="http://schemas.microsoft.com/office/powerpoint/2010/main" val="4219775736"/>
                  </p:ext>
                </p:extLst>
              </p:nvPr>
            </p:nvGraphicFramePr>
            <p:xfrm>
              <a:off x="977548" y="1105167"/>
              <a:ext cx="7842252" cy="1828800"/>
            </p:xfrm>
            <a:graphic>
              <a:graphicData uri="http://schemas.openxmlformats.org/drawingml/2006/table">
                <a:tbl>
                  <a:tblPr firstRow="1" firstCol="1" bandRow="1">
                    <a:tableStyleId>{A91F0D33-8C57-4600-99A7-42BC86742BE1}</a:tableStyleId>
                  </a:tblPr>
                  <a:tblGrid>
                    <a:gridCol w="1343372">
                      <a:extLst>
                        <a:ext uri="{9D8B030D-6E8A-4147-A177-3AD203B41FA5}">
                          <a16:colId xmlns:a16="http://schemas.microsoft.com/office/drawing/2014/main" val="2661959846"/>
                        </a:ext>
                      </a:extLst>
                    </a:gridCol>
                    <a:gridCol w="1298392">
                      <a:extLst>
                        <a:ext uri="{9D8B030D-6E8A-4147-A177-3AD203B41FA5}">
                          <a16:colId xmlns:a16="http://schemas.microsoft.com/office/drawing/2014/main" val="3457718609"/>
                        </a:ext>
                      </a:extLst>
                    </a:gridCol>
                    <a:gridCol w="1300122">
                      <a:extLst>
                        <a:ext uri="{9D8B030D-6E8A-4147-A177-3AD203B41FA5}">
                          <a16:colId xmlns:a16="http://schemas.microsoft.com/office/drawing/2014/main" val="2900274542"/>
                        </a:ext>
                      </a:extLst>
                    </a:gridCol>
                    <a:gridCol w="1300122">
                      <a:extLst>
                        <a:ext uri="{9D8B030D-6E8A-4147-A177-3AD203B41FA5}">
                          <a16:colId xmlns:a16="http://schemas.microsoft.com/office/drawing/2014/main" val="1973502199"/>
                        </a:ext>
                      </a:extLst>
                    </a:gridCol>
                    <a:gridCol w="1300122">
                      <a:extLst>
                        <a:ext uri="{9D8B030D-6E8A-4147-A177-3AD203B41FA5}">
                          <a16:colId xmlns:a16="http://schemas.microsoft.com/office/drawing/2014/main" val="2188485145"/>
                        </a:ext>
                      </a:extLst>
                    </a:gridCol>
                    <a:gridCol w="1300122">
                      <a:extLst>
                        <a:ext uri="{9D8B030D-6E8A-4147-A177-3AD203B41FA5}">
                          <a16:colId xmlns:a16="http://schemas.microsoft.com/office/drawing/2014/main" val="3701199368"/>
                        </a:ext>
                      </a:extLst>
                    </a:gridCol>
                  </a:tblGrid>
                  <a:tr h="36576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Vertex</a:t>
                          </a:r>
                        </a:p>
                      </a:txBody>
                      <a:tcPr marL="68580" marR="68580" marT="0" marB="0">
                        <a:solidFill>
                          <a:srgbClr val="BFBFBF"/>
                        </a:solidFill>
                      </a:tcPr>
                    </a:tc>
                    <a:tc>
                      <a:txBody>
                        <a:bodyPr/>
                        <a:lstStyle/>
                        <a:p>
                          <a:endParaRPr lang="en-US"/>
                        </a:p>
                      </a:txBody>
                      <a:tcPr marL="68580" marR="68580" marT="0" marB="0">
                        <a:blipFill>
                          <a:blip r:embed="rId4"/>
                          <a:stretch>
                            <a:fillRect l="-103271" t="-25000" r="-399533" b="-413333"/>
                          </a:stretch>
                        </a:blipFill>
                      </a:tcPr>
                    </a:tc>
                    <a:tc>
                      <a:txBody>
                        <a:bodyPr/>
                        <a:lstStyle/>
                        <a:p>
                          <a:endParaRPr lang="en-US"/>
                        </a:p>
                      </a:txBody>
                      <a:tcPr marL="68580" marR="68580" marT="0" marB="0">
                        <a:blipFill>
                          <a:blip r:embed="rId4"/>
                          <a:stretch>
                            <a:fillRect l="-204225" t="-25000" r="-301408" b="-413333"/>
                          </a:stretch>
                        </a:blip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Vertex</a:t>
                          </a:r>
                        </a:p>
                      </a:txBody>
                      <a:tcPr marL="68580" marR="68580" marT="0" marB="0">
                        <a:solidFill>
                          <a:srgbClr val="BFBFBF"/>
                        </a:solidFill>
                      </a:tcPr>
                    </a:tc>
                    <a:tc>
                      <a:txBody>
                        <a:bodyPr/>
                        <a:lstStyle/>
                        <a:p>
                          <a:endParaRPr lang="en-US"/>
                        </a:p>
                      </a:txBody>
                      <a:tcPr marL="68580" marR="68580" marT="0" marB="0">
                        <a:blipFill>
                          <a:blip r:embed="rId4"/>
                          <a:stretch>
                            <a:fillRect l="-402336" t="-25000" r="-100467" b="-413333"/>
                          </a:stretch>
                        </a:blipFill>
                      </a:tcPr>
                    </a:tc>
                    <a:tc>
                      <a:txBody>
                        <a:bodyPr/>
                        <a:lstStyle/>
                        <a:p>
                          <a:endParaRPr lang="en-US"/>
                        </a:p>
                      </a:txBody>
                      <a:tcPr marL="68580" marR="68580" marT="0" marB="0">
                        <a:blipFill>
                          <a:blip r:embed="rId4"/>
                          <a:stretch>
                            <a:fillRect l="-504695" t="-25000" r="-939" b="-413333"/>
                          </a:stretch>
                        </a:blipFill>
                      </a:tcPr>
                    </a:tc>
                    <a:extLst>
                      <a:ext uri="{0D108BD9-81ED-4DB2-BD59-A6C34878D82A}">
                        <a16:rowId xmlns:a16="http://schemas.microsoft.com/office/drawing/2014/main" val="2212539917"/>
                      </a:ext>
                    </a:extLst>
                  </a:tr>
                  <a:tr h="365760">
                    <a:tc>
                      <a:txBody>
                        <a:bodyPr/>
                        <a:lstStyle/>
                        <a:p>
                          <a:endParaRPr lang="en-US"/>
                        </a:p>
                      </a:txBody>
                      <a:tcPr marL="68580" marR="68580" marT="0" marB="0">
                        <a:blipFill>
                          <a:blip r:embed="rId4"/>
                          <a:stretch>
                            <a:fillRect l="-455" t="-125000" r="-485909" b="-313333"/>
                          </a:stretch>
                        </a:blipFill>
                      </a:tcPr>
                    </a:tc>
                    <a:tc>
                      <a:txBody>
                        <a:bodyPr/>
                        <a:lstStyle/>
                        <a:p>
                          <a:endParaRPr lang="en-US"/>
                        </a:p>
                      </a:txBody>
                      <a:tcPr marL="68580" marR="68580" marT="0" marB="0">
                        <a:blipFill>
                          <a:blip r:embed="rId4"/>
                          <a:stretch>
                            <a:fillRect l="-103271" t="-125000" r="-399533" b="-313333"/>
                          </a:stretch>
                        </a:blipFill>
                      </a:tcPr>
                    </a:tc>
                    <a:tc>
                      <a:txBody>
                        <a:bodyPr/>
                        <a:lstStyle/>
                        <a:p>
                          <a:endParaRPr lang="en-US"/>
                        </a:p>
                      </a:txBody>
                      <a:tcPr marL="68580" marR="68580" marT="0" marB="0">
                        <a:blipFill>
                          <a:blip r:embed="rId4"/>
                          <a:stretch>
                            <a:fillRect l="-204225" t="-125000" r="-301408" b="-313333"/>
                          </a:stretch>
                        </a:blipFill>
                      </a:tcPr>
                    </a:tc>
                    <a:tc>
                      <a:txBody>
                        <a:bodyPr/>
                        <a:lstStyle/>
                        <a:p>
                          <a:endParaRPr lang="en-US"/>
                        </a:p>
                      </a:txBody>
                      <a:tcPr marL="68580" marR="68580" marT="0" marB="0">
                        <a:blipFill>
                          <a:blip r:embed="rId4"/>
                          <a:stretch>
                            <a:fillRect l="-304225" t="-125000" r="-201408" b="-313333"/>
                          </a:stretch>
                        </a:blipFill>
                      </a:tcPr>
                    </a:tc>
                    <a:tc>
                      <a:txBody>
                        <a:bodyPr/>
                        <a:lstStyle/>
                        <a:p>
                          <a:endParaRPr lang="en-US"/>
                        </a:p>
                      </a:txBody>
                      <a:tcPr marL="68580" marR="68580" marT="0" marB="0">
                        <a:blipFill>
                          <a:blip r:embed="rId4"/>
                          <a:stretch>
                            <a:fillRect l="-402336" t="-125000" r="-100467" b="-313333"/>
                          </a:stretch>
                        </a:blipFill>
                      </a:tcPr>
                    </a:tc>
                    <a:tc>
                      <a:txBody>
                        <a:bodyPr/>
                        <a:lstStyle/>
                        <a:p>
                          <a:endParaRPr lang="en-US"/>
                        </a:p>
                      </a:txBody>
                      <a:tcPr marL="68580" marR="68580" marT="0" marB="0">
                        <a:blipFill>
                          <a:blip r:embed="rId4"/>
                          <a:stretch>
                            <a:fillRect l="-504695" t="-125000" r="-939" b="-313333"/>
                          </a:stretch>
                        </a:blipFill>
                      </a:tcPr>
                    </a:tc>
                    <a:extLst>
                      <a:ext uri="{0D108BD9-81ED-4DB2-BD59-A6C34878D82A}">
                        <a16:rowId xmlns:a16="http://schemas.microsoft.com/office/drawing/2014/main" val="3580318543"/>
                      </a:ext>
                    </a:extLst>
                  </a:tr>
                  <a:tr h="365760">
                    <a:tc>
                      <a:txBody>
                        <a:bodyPr/>
                        <a:lstStyle/>
                        <a:p>
                          <a:endParaRPr lang="en-US"/>
                        </a:p>
                      </a:txBody>
                      <a:tcPr marL="68580" marR="68580" marT="0" marB="0">
                        <a:blipFill>
                          <a:blip r:embed="rId4"/>
                          <a:stretch>
                            <a:fillRect l="-455" t="-221311" r="-485909" b="-208197"/>
                          </a:stretch>
                        </a:blipFill>
                      </a:tcPr>
                    </a:tc>
                    <a:tc>
                      <a:txBody>
                        <a:bodyPr/>
                        <a:lstStyle/>
                        <a:p>
                          <a:endParaRPr lang="en-US"/>
                        </a:p>
                      </a:txBody>
                      <a:tcPr marL="68580" marR="68580" marT="0" marB="0">
                        <a:blipFill>
                          <a:blip r:embed="rId4"/>
                          <a:stretch>
                            <a:fillRect l="-103271" t="-221311" r="-399533" b="-208197"/>
                          </a:stretch>
                        </a:blipFill>
                      </a:tcPr>
                    </a:tc>
                    <a:tc>
                      <a:txBody>
                        <a:bodyPr/>
                        <a:lstStyle/>
                        <a:p>
                          <a:endParaRPr lang="en-US"/>
                        </a:p>
                      </a:txBody>
                      <a:tcPr marL="68580" marR="68580" marT="0" marB="0">
                        <a:blipFill>
                          <a:blip r:embed="rId4"/>
                          <a:stretch>
                            <a:fillRect l="-204225" t="-221311" r="-301408" b="-208197"/>
                          </a:stretch>
                        </a:blipFill>
                      </a:tcPr>
                    </a:tc>
                    <a:tc>
                      <a:txBody>
                        <a:bodyPr/>
                        <a:lstStyle/>
                        <a:p>
                          <a:endParaRPr lang="en-US"/>
                        </a:p>
                      </a:txBody>
                      <a:tcPr marL="68580" marR="68580" marT="0" marB="0">
                        <a:blipFill>
                          <a:blip r:embed="rId4"/>
                          <a:stretch>
                            <a:fillRect l="-304225" t="-221311" r="-201408" b="-208197"/>
                          </a:stretch>
                        </a:blipFill>
                      </a:tcPr>
                    </a:tc>
                    <a:tc>
                      <a:txBody>
                        <a:bodyPr/>
                        <a:lstStyle/>
                        <a:p>
                          <a:endParaRPr lang="en-US"/>
                        </a:p>
                      </a:txBody>
                      <a:tcPr marL="68580" marR="68580" marT="0" marB="0">
                        <a:blipFill>
                          <a:blip r:embed="rId4"/>
                          <a:stretch>
                            <a:fillRect l="-402336" t="-221311" r="-100467" b="-208197"/>
                          </a:stretch>
                        </a:blipFill>
                      </a:tcPr>
                    </a:tc>
                    <a:tc>
                      <a:txBody>
                        <a:bodyPr/>
                        <a:lstStyle/>
                        <a:p>
                          <a:endParaRPr lang="en-US"/>
                        </a:p>
                      </a:txBody>
                      <a:tcPr marL="68580" marR="68580" marT="0" marB="0">
                        <a:blipFill>
                          <a:blip r:embed="rId4"/>
                          <a:stretch>
                            <a:fillRect l="-504695" t="-221311" r="-939" b="-208197"/>
                          </a:stretch>
                        </a:blipFill>
                      </a:tcPr>
                    </a:tc>
                    <a:extLst>
                      <a:ext uri="{0D108BD9-81ED-4DB2-BD59-A6C34878D82A}">
                        <a16:rowId xmlns:a16="http://schemas.microsoft.com/office/drawing/2014/main" val="229070577"/>
                      </a:ext>
                    </a:extLst>
                  </a:tr>
                  <a:tr h="365760">
                    <a:tc>
                      <a:txBody>
                        <a:bodyPr/>
                        <a:lstStyle/>
                        <a:p>
                          <a:endParaRPr lang="en-US"/>
                        </a:p>
                      </a:txBody>
                      <a:tcPr marL="68580" marR="68580" marT="0" marB="0">
                        <a:blipFill>
                          <a:blip r:embed="rId4"/>
                          <a:stretch>
                            <a:fillRect l="-455" t="-326667" r="-485909" b="-111667"/>
                          </a:stretch>
                        </a:blipFill>
                      </a:tcPr>
                    </a:tc>
                    <a:tc>
                      <a:txBody>
                        <a:bodyPr/>
                        <a:lstStyle/>
                        <a:p>
                          <a:endParaRPr lang="en-US"/>
                        </a:p>
                      </a:txBody>
                      <a:tcPr marL="68580" marR="68580" marT="0" marB="0">
                        <a:blipFill>
                          <a:blip r:embed="rId4"/>
                          <a:stretch>
                            <a:fillRect l="-103271" t="-326667" r="-399533" b="-111667"/>
                          </a:stretch>
                        </a:blipFill>
                      </a:tcPr>
                    </a:tc>
                    <a:tc>
                      <a:txBody>
                        <a:bodyPr/>
                        <a:lstStyle/>
                        <a:p>
                          <a:endParaRPr lang="en-US"/>
                        </a:p>
                      </a:txBody>
                      <a:tcPr marL="68580" marR="68580" marT="0" marB="0">
                        <a:blipFill>
                          <a:blip r:embed="rId4"/>
                          <a:stretch>
                            <a:fillRect l="-204225" t="-326667" r="-301408" b="-111667"/>
                          </a:stretch>
                        </a:blipFill>
                      </a:tcPr>
                    </a:tc>
                    <a:tc>
                      <a:txBody>
                        <a:bodyPr/>
                        <a:lstStyle/>
                        <a:p>
                          <a:endParaRPr lang="en-US"/>
                        </a:p>
                      </a:txBody>
                      <a:tcPr marL="68580" marR="68580" marT="0" marB="0">
                        <a:blipFill>
                          <a:blip r:embed="rId4"/>
                          <a:stretch>
                            <a:fillRect l="-304225" t="-326667" r="-201408" b="-111667"/>
                          </a:stretch>
                        </a:blipFill>
                      </a:tcPr>
                    </a:tc>
                    <a:tc>
                      <a:txBody>
                        <a:bodyPr/>
                        <a:lstStyle/>
                        <a:p>
                          <a:endParaRPr lang="en-US"/>
                        </a:p>
                      </a:txBody>
                      <a:tcPr marL="68580" marR="68580" marT="0" marB="0">
                        <a:blipFill>
                          <a:blip r:embed="rId4"/>
                          <a:stretch>
                            <a:fillRect l="-402336" t="-326667" r="-100467" b="-111667"/>
                          </a:stretch>
                        </a:blipFill>
                      </a:tcPr>
                    </a:tc>
                    <a:tc>
                      <a:txBody>
                        <a:bodyPr/>
                        <a:lstStyle/>
                        <a:p>
                          <a:endParaRPr lang="en-US"/>
                        </a:p>
                      </a:txBody>
                      <a:tcPr marL="68580" marR="68580" marT="0" marB="0">
                        <a:blipFill>
                          <a:blip r:embed="rId4"/>
                          <a:stretch>
                            <a:fillRect l="-504695" t="-326667" r="-939" b="-111667"/>
                          </a:stretch>
                        </a:blipFill>
                      </a:tcPr>
                    </a:tc>
                    <a:extLst>
                      <a:ext uri="{0D108BD9-81ED-4DB2-BD59-A6C34878D82A}">
                        <a16:rowId xmlns:a16="http://schemas.microsoft.com/office/drawing/2014/main" val="2264332307"/>
                      </a:ext>
                    </a:extLst>
                  </a:tr>
                  <a:tr h="365760">
                    <a:tc>
                      <a:txBody>
                        <a:bodyPr/>
                        <a:lstStyle/>
                        <a:p>
                          <a:endParaRPr lang="en-US"/>
                        </a:p>
                      </a:txBody>
                      <a:tcPr marL="68580" marR="68580" marT="0" marB="0">
                        <a:blipFill>
                          <a:blip r:embed="rId4"/>
                          <a:stretch>
                            <a:fillRect l="-455" t="-426667" r="-485909" b="-11667"/>
                          </a:stretch>
                        </a:blipFill>
                      </a:tcPr>
                    </a:tc>
                    <a:tc>
                      <a:txBody>
                        <a:bodyPr/>
                        <a:lstStyle/>
                        <a:p>
                          <a:endParaRPr lang="en-US"/>
                        </a:p>
                      </a:txBody>
                      <a:tcPr marL="68580" marR="68580" marT="0" marB="0">
                        <a:blipFill>
                          <a:blip r:embed="rId4"/>
                          <a:stretch>
                            <a:fillRect l="-103271" t="-426667" r="-399533" b="-11667"/>
                          </a:stretch>
                        </a:blipFill>
                      </a:tcPr>
                    </a:tc>
                    <a:tc>
                      <a:txBody>
                        <a:bodyPr/>
                        <a:lstStyle/>
                        <a:p>
                          <a:endParaRPr lang="en-US"/>
                        </a:p>
                      </a:txBody>
                      <a:tcPr marL="68580" marR="68580" marT="0" marB="0">
                        <a:blipFill>
                          <a:blip r:embed="rId4"/>
                          <a:stretch>
                            <a:fillRect l="-204225" t="-426667" r="-301408" b="-11667"/>
                          </a:stretch>
                        </a:blipFill>
                      </a:tcPr>
                    </a:tc>
                    <a:tc>
                      <a:txBody>
                        <a:bodyPr/>
                        <a:lstStyle/>
                        <a:p>
                          <a:endParaRPr lang="en-US"/>
                        </a:p>
                      </a:txBody>
                      <a:tcPr marL="68580" marR="68580" marT="0" marB="0">
                        <a:blipFill>
                          <a:blip r:embed="rId4"/>
                          <a:stretch>
                            <a:fillRect l="-304225" t="-426667" r="-201408" b="-11667"/>
                          </a:stretch>
                        </a:blipFill>
                      </a:tcPr>
                    </a:tc>
                    <a:tc>
                      <a:txBody>
                        <a:bodyPr/>
                        <a:lstStyle/>
                        <a:p>
                          <a:endParaRPr lang="en-US"/>
                        </a:p>
                      </a:txBody>
                      <a:tcPr marL="68580" marR="68580" marT="0" marB="0">
                        <a:blipFill>
                          <a:blip r:embed="rId4"/>
                          <a:stretch>
                            <a:fillRect l="-402336" t="-426667" r="-100467" b="-11667"/>
                          </a:stretch>
                        </a:blipFill>
                      </a:tcPr>
                    </a:tc>
                    <a:tc>
                      <a:txBody>
                        <a:bodyPr/>
                        <a:lstStyle/>
                        <a:p>
                          <a:endParaRPr lang="en-US"/>
                        </a:p>
                      </a:txBody>
                      <a:tcPr marL="68580" marR="68580" marT="0" marB="0">
                        <a:blipFill>
                          <a:blip r:embed="rId4"/>
                          <a:stretch>
                            <a:fillRect l="-504695" t="-426667" r="-939" b="-11667"/>
                          </a:stretch>
                        </a:blipFill>
                      </a:tcPr>
                    </a:tc>
                    <a:extLst>
                      <a:ext uri="{0D108BD9-81ED-4DB2-BD59-A6C34878D82A}">
                        <a16:rowId xmlns:a16="http://schemas.microsoft.com/office/drawing/2014/main" val="713255762"/>
                      </a:ext>
                    </a:extLst>
                  </a:tr>
                </a:tbl>
              </a:graphicData>
            </a:graphic>
          </p:graphicFrame>
        </mc:Fallback>
      </mc:AlternateContent>
      <p:sp>
        <p:nvSpPr>
          <p:cNvPr id="3" name="Rectangle 1">
            <a:extLst>
              <a:ext uri="{FF2B5EF4-FFF2-40B4-BE49-F238E27FC236}">
                <a16:creationId xmlns:a16="http://schemas.microsoft.com/office/drawing/2014/main" xmlns="" id="{335C8791-3361-3D4D-9DF4-CFE1265F1034}"/>
              </a:ext>
            </a:extLst>
          </p:cNvPr>
          <p:cNvSpPr>
            <a:spLocks noChangeArrowheads="1"/>
          </p:cNvSpPr>
          <p:nvPr/>
        </p:nvSpPr>
        <p:spPr bwMode="auto">
          <a:xfrm>
            <a:off x="437800" y="445414"/>
            <a:ext cx="838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2400" dirty="0">
                <a:latin typeface="Verdana" panose="020B0604030504040204" pitchFamily="34" charset="0"/>
                <a:ea typeface="Times New Roman" panose="02020603050405020304" pitchFamily="18" charset="0"/>
                <a:cs typeface="Arial" panose="020B0604020202020204" pitchFamily="34" charset="0"/>
              </a:rPr>
              <a:t>e. The table shows the coordinates of each vertex.</a:t>
            </a:r>
          </a:p>
        </p:txBody>
      </p:sp>
      <p:sp>
        <p:nvSpPr>
          <p:cNvPr id="4" name="TextBox 3">
            <a:extLst>
              <a:ext uri="{FF2B5EF4-FFF2-40B4-BE49-F238E27FC236}">
                <a16:creationId xmlns:a16="http://schemas.microsoft.com/office/drawing/2014/main" xmlns="" id="{24D8E479-2731-FC4C-BDBA-48D94C1F2513}"/>
              </a:ext>
            </a:extLst>
          </p:cNvPr>
          <p:cNvSpPr txBox="1"/>
          <p:nvPr/>
        </p:nvSpPr>
        <p:spPr>
          <a:xfrm>
            <a:off x="818799" y="3433050"/>
            <a:ext cx="10507961" cy="1569660"/>
          </a:xfrm>
          <a:prstGeom prst="rect">
            <a:avLst/>
          </a:prstGeom>
          <a:noFill/>
        </p:spPr>
        <p:txBody>
          <a:bodyPr wrap="square" rtlCol="0">
            <a:spAutoFit/>
          </a:bodyPr>
          <a:lstStyle/>
          <a:p>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Work with your partner to describe how the coordinates of the pre-image, quadrilateral </a:t>
            </a:r>
            <a:r>
              <a:rPr lang="en-US" altLang="en-US" sz="2400" i="1" dirty="0">
                <a:latin typeface="Verdana" panose="020B0604030504040204" pitchFamily="34" charset="0"/>
                <a:ea typeface="Verdana" panose="020B0604030504040204" pitchFamily="34" charset="0"/>
                <a:cs typeface="Verdana" panose="020B0604030504040204" pitchFamily="34" charset="0"/>
              </a:rPr>
              <a:t>HZLR</a:t>
            </a:r>
            <a:r>
              <a:rPr lang="en-US" altLang="en-US" sz="2400" dirty="0">
                <a:latin typeface="Verdana" panose="020B0604030504040204" pitchFamily="34" charset="0"/>
                <a:ea typeface="Verdana" panose="020B0604030504040204" pitchFamily="34" charset="0"/>
                <a:cs typeface="Verdana" panose="020B0604030504040204" pitchFamily="34" charset="0"/>
              </a:rPr>
              <a:t>, are related to </a:t>
            </a: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the coordinates of </a:t>
            </a:r>
            <a:r>
              <a:rPr lang="en-US" altLang="en-US" sz="2400" dirty="0">
                <a:latin typeface="Verdana" panose="020B0604030504040204" pitchFamily="34" charset="0"/>
                <a:ea typeface="Verdana" panose="020B0604030504040204" pitchFamily="34" charset="0"/>
                <a:cs typeface="Verdana" panose="020B0604030504040204" pitchFamily="34" charset="0"/>
              </a:rPr>
              <a:t>the image, quadrilateral </a:t>
            </a:r>
            <a:r>
              <a:rPr lang="en-US" altLang="en-US" sz="2400" i="1" dirty="0">
                <a:latin typeface="Verdana" panose="020B0604030504040204" pitchFamily="34" charset="0"/>
                <a:ea typeface="Verdana" panose="020B0604030504040204" pitchFamily="34" charset="0"/>
                <a:cs typeface="Verdana" panose="020B0604030504040204" pitchFamily="34" charset="0"/>
              </a:rPr>
              <a:t>TWKB</a:t>
            </a:r>
            <a:r>
              <a:rPr lang="en-US" altLang="en-US" sz="2400" dirty="0">
                <a:latin typeface="Verdana" panose="020B0604030504040204" pitchFamily="34" charset="0"/>
                <a:ea typeface="Verdana" panose="020B0604030504040204" pitchFamily="34" charset="0"/>
                <a:cs typeface="Verdana" panose="020B0604030504040204" pitchFamily="34" charset="0"/>
              </a:rPr>
              <a:t>. </a:t>
            </a: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173884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666314"/>
                <a:ext cx="11087585" cy="3785652"/>
              </a:xfrm>
              <a:prstGeom prst="rect">
                <a:avLst/>
              </a:prstGeom>
              <a:noFill/>
            </p:spPr>
            <p:txBody>
              <a:bodyPr wrap="square" rtlCol="0">
                <a:spAutoFit/>
              </a:bodyPr>
              <a:lstStyle/>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f. Write a conjecture that you and your partner think will work for the algebraic description of a reflection.</a:t>
                </a: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 </a:t>
                </a:r>
              </a:p>
              <a:p>
                <a:pPr marL="342900" indent="-342900"/>
                <a14:m>
                  <m:oMathPara xmlns:m="http://schemas.openxmlformats.org/officeDocument/2006/math">
                    <m:oMathParaPr>
                      <m:jc m:val="centerGroup"/>
                    </m:oMathParaPr>
                    <m:oMath xmlns:m="http://schemas.openxmlformats.org/officeDocument/2006/math">
                      <m:d>
                        <m:dPr>
                          <m:ctrlPr>
                            <a:rPr lang="en-US" sz="2400" i="1">
                              <a:latin typeface="Cambria Math"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d>
                        <m:dPr>
                          <m:ctrlPr>
                            <a:rPr lang="en-US" sz="2400" i="1">
                              <a:latin typeface="Cambria Math" charset="0"/>
                            </a:rPr>
                          </m:ctrlPr>
                        </m:dPr>
                        <m:e>
                          <m:r>
                            <a:rPr lang="en-US" sz="2400" i="1">
                              <a:latin typeface="Cambria Math" panose="02040503050406030204" pitchFamily="18" charset="0"/>
                            </a:rPr>
                            <m:t>__________,_________</m:t>
                          </m:r>
                        </m:e>
                      </m: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 </a:t>
                </a: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 </a:t>
                </a: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 </a:t>
                </a:r>
              </a:p>
              <a:p>
                <a:pPr marL="342900" indent="-342900"/>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g. Discuss with your partner if the algebraic description will work for any reflection. Summarize your conclusion.</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666314"/>
                <a:ext cx="11087585" cy="3785652"/>
              </a:xfrm>
              <a:prstGeom prst="rect">
                <a:avLst/>
              </a:prstGeom>
              <a:blipFill>
                <a:blip r:embed="rId4"/>
                <a:stretch>
                  <a:fillRect l="-880" t="-1288" r="-275" b="-2738"/>
                </a:stretch>
              </a:blipFill>
            </p:spPr>
            <p:txBody>
              <a:bodyPr/>
              <a:lstStyle/>
              <a:p>
                <a:r>
                  <a:rPr lang="en-US">
                    <a:noFill/>
                  </a:rPr>
                  <a:t> </a:t>
                </a:r>
              </a:p>
            </p:txBody>
          </p:sp>
        </mc:Fallback>
      </mc:AlternateContent>
    </p:spTree>
    <p:extLst>
      <p:ext uri="{BB962C8B-B14F-4D97-AF65-F5344CB8AC3E}">
        <p14:creationId xmlns:p14="http://schemas.microsoft.com/office/powerpoint/2010/main" val="1846935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540564" y="374214"/>
                <a:ext cx="10983359" cy="1200329"/>
              </a:xfrm>
              <a:prstGeom prst="rect">
                <a:avLst/>
              </a:prstGeom>
              <a:noFill/>
            </p:spPr>
            <p:txBody>
              <a:bodyPr wrap="square" rtlCol="0">
                <a:spAutoFit/>
              </a:bodyPr>
              <a:lstStyle/>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2. Polygons </a:t>
                </a:r>
                <a14:m>
                  <m:oMath xmlns:m="http://schemas.openxmlformats.org/officeDocument/2006/math">
                    <m:r>
                      <a:rPr lang="en-US" sz="2400" i="1">
                        <a:latin typeface="Cambria Math" panose="02040503050406030204" pitchFamily="18" charset="0"/>
                      </a:rPr>
                      <m:t>𝑀𝐶𝑅𝑇𝐴</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𝐻𝑉𝐺𝑁𝑊</m:t>
                    </m:r>
                  </m:oMath>
                </a14:m>
                <a:r>
                  <a:rPr lang="en-US" sz="2400" dirty="0">
                    <a:latin typeface="Verdana" panose="020B0604030504040204" pitchFamily="34" charset="0"/>
                    <a:ea typeface="Verdana" panose="020B0604030504040204" pitchFamily="34" charset="0"/>
                    <a:cs typeface="Verdana" panose="020B0604030504040204" pitchFamily="34" charset="0"/>
                  </a:rPr>
                  <a:t> are shown on the coordinate grid. Polygon </a:t>
                </a:r>
                <a14:m>
                  <m:oMath xmlns:m="http://schemas.openxmlformats.org/officeDocument/2006/math">
                    <m:r>
                      <a:rPr lang="en-US" sz="2400" i="1">
                        <a:latin typeface="Cambria Math" panose="02040503050406030204" pitchFamily="18" charset="0"/>
                      </a:rPr>
                      <m:t>𝑀𝐶𝑅𝑇𝐴</m:t>
                    </m:r>
                  </m:oMath>
                </a14:m>
                <a:r>
                  <a:rPr lang="en-US" sz="2400" dirty="0">
                    <a:latin typeface="Verdana" panose="020B0604030504040204" pitchFamily="34" charset="0"/>
                    <a:ea typeface="Verdana" panose="020B0604030504040204" pitchFamily="34" charset="0"/>
                    <a:cs typeface="Verdana" panose="020B0604030504040204" pitchFamily="34" charset="0"/>
                  </a:rPr>
                  <a:t> was reflected across the </a:t>
                </a:r>
                <a14:m>
                  <m:oMath xmlns:m="http://schemas.openxmlformats.org/officeDocument/2006/math">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-axis to create polygon </a:t>
                </a:r>
                <a14:m>
                  <m:oMath xmlns:m="http://schemas.openxmlformats.org/officeDocument/2006/math">
                    <m:r>
                      <a:rPr lang="en-US" sz="2400" i="1">
                        <a:latin typeface="Cambria Math" panose="02040503050406030204" pitchFamily="18" charset="0"/>
                      </a:rPr>
                      <m:t>𝐻𝑉𝐺𝑁𝑊</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74214"/>
                <a:ext cx="10983359" cy="1200329"/>
              </a:xfrm>
              <a:prstGeom prst="rect">
                <a:avLst/>
              </a:prstGeom>
              <a:blipFill>
                <a:blip r:embed="rId4"/>
                <a:stretch>
                  <a:fillRect l="-888" t="-4569" b="-10152"/>
                </a:stretch>
              </a:blipFill>
            </p:spPr>
            <p:txBody>
              <a:bodyPr/>
              <a:lstStyle/>
              <a:p>
                <a:r>
                  <a:rPr lang="en-US">
                    <a:noFill/>
                  </a:rPr>
                  <a:t> </a:t>
                </a:r>
              </a:p>
            </p:txBody>
          </p:sp>
        </mc:Fallback>
      </mc:AlternateContent>
      <p:pic>
        <p:nvPicPr>
          <p:cNvPr id="6" name="Picture 5" descr="Chart, line chart&#10;&#10;Description automatically generated">
            <a:extLst>
              <a:ext uri="{FF2B5EF4-FFF2-40B4-BE49-F238E27FC236}">
                <a16:creationId xmlns:a16="http://schemas.microsoft.com/office/drawing/2014/main" xmlns="" id="{182542E1-F302-3A4F-A595-DA2949A9EC2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87601" y="1740024"/>
            <a:ext cx="5736323" cy="4088388"/>
          </a:xfrm>
          <a:prstGeom prst="rect">
            <a:avLst/>
          </a:prstGeom>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386254C-1F4B-E74B-8D3B-04A233114776}"/>
                  </a:ext>
                </a:extLst>
              </p:cNvPr>
              <p:cNvSpPr/>
              <p:nvPr/>
            </p:nvSpPr>
            <p:spPr>
              <a:xfrm>
                <a:off x="540566" y="1740024"/>
                <a:ext cx="4783602" cy="1938992"/>
              </a:xfrm>
              <a:prstGeom prst="rect">
                <a:avLst/>
              </a:prstGeom>
            </p:spPr>
            <p:txBody>
              <a:bodyPr wrap="square">
                <a:spAutoFit/>
              </a:bodyPr>
              <a:lstStyle/>
              <a:p>
                <a:pPr marL="342900" indent="-342900">
                  <a:buFont typeface="+mj-lt"/>
                  <a:buAutoNum type="alphaLcPeriod"/>
                </a:pPr>
                <a:r>
                  <a:rPr lang="en-US" sz="2400" dirty="0">
                    <a:latin typeface="Verdana" panose="020B0604030504040204" pitchFamily="34" charset="0"/>
                    <a:ea typeface="Times New Roman" panose="02020603050405020304" pitchFamily="18" charset="0"/>
                    <a:cs typeface="Arial" panose="020B0604020202020204" pitchFamily="34" charset="0"/>
                  </a:rPr>
                  <a:t>Describe the relationship that the line segments between each set of corresponding vertices have with the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𝑥</m:t>
                    </m:r>
                  </m:oMath>
                </a14:m>
                <a:r>
                  <a:rPr lang="en-US" sz="2400" dirty="0">
                    <a:latin typeface="Verdana" panose="020B0604030504040204" pitchFamily="34" charset="0"/>
                    <a:ea typeface="Times New Roman" panose="02020603050405020304" pitchFamily="18" charset="0"/>
                    <a:cs typeface="Arial" panose="020B0604020202020204" pitchFamily="34" charset="0"/>
                  </a:rPr>
                  <a:t>-axis.</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6386254C-1F4B-E74B-8D3B-04A233114776}"/>
                  </a:ext>
                </a:extLst>
              </p:cNvPr>
              <p:cNvSpPr>
                <a:spLocks noRot="1" noChangeAspect="1" noMove="1" noResize="1" noEditPoints="1" noAdjustHandles="1" noChangeArrowheads="1" noChangeShapeType="1" noTextEdit="1"/>
              </p:cNvSpPr>
              <p:nvPr/>
            </p:nvSpPr>
            <p:spPr>
              <a:xfrm>
                <a:off x="540566" y="1740024"/>
                <a:ext cx="4783602" cy="1938992"/>
              </a:xfrm>
              <a:prstGeom prst="rect">
                <a:avLst/>
              </a:prstGeom>
              <a:blipFill>
                <a:blip r:embed="rId6"/>
                <a:stretch>
                  <a:fillRect l="-2041" t="-2508" b="-5643"/>
                </a:stretch>
              </a:blipFill>
            </p:spPr>
            <p:txBody>
              <a:bodyPr/>
              <a:lstStyle/>
              <a:p>
                <a:r>
                  <a:rPr lang="en-US">
                    <a:noFill/>
                  </a:rPr>
                  <a:t> </a:t>
                </a:r>
              </a:p>
            </p:txBody>
          </p:sp>
        </mc:Fallback>
      </mc:AlternateContent>
    </p:spTree>
    <p:extLst>
      <p:ext uri="{BB962C8B-B14F-4D97-AF65-F5344CB8AC3E}">
        <p14:creationId xmlns:p14="http://schemas.microsoft.com/office/powerpoint/2010/main" val="3378659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pg.187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1B86D444-A919-8B47-96FB-C2BFD1F7F2A0}"/>
                  </a:ext>
                </a:extLst>
              </p:cNvPr>
              <p:cNvGraphicFramePr>
                <a:graphicFrameLocks noGrp="1"/>
              </p:cNvGraphicFramePr>
              <p:nvPr>
                <p:extLst>
                  <p:ext uri="{D42A27DB-BD31-4B8C-83A1-F6EECF244321}">
                    <p14:modId xmlns:p14="http://schemas.microsoft.com/office/powerpoint/2010/main" val="2990128033"/>
                  </p:ext>
                </p:extLst>
              </p:nvPr>
            </p:nvGraphicFramePr>
            <p:xfrm>
              <a:off x="1463340" y="1719463"/>
              <a:ext cx="9265320" cy="2846647"/>
            </p:xfrm>
            <a:graphic>
              <a:graphicData uri="http://schemas.openxmlformats.org/drawingml/2006/table">
                <a:tbl>
                  <a:tblPr firstRow="1" firstCol="1" bandRow="1">
                    <a:tableStyleId>{A91F0D33-8C57-4600-99A7-42BC86742BE1}</a:tableStyleId>
                  </a:tblPr>
                  <a:tblGrid>
                    <a:gridCol w="4688424">
                      <a:extLst>
                        <a:ext uri="{9D8B030D-6E8A-4147-A177-3AD203B41FA5}">
                          <a16:colId xmlns:a16="http://schemas.microsoft.com/office/drawing/2014/main" xmlns="" val="3486247144"/>
                        </a:ext>
                      </a:extLst>
                    </a:gridCol>
                    <a:gridCol w="4576896">
                      <a:extLst>
                        <a:ext uri="{9D8B030D-6E8A-4147-A177-3AD203B41FA5}">
                          <a16:colId xmlns:a16="http://schemas.microsoft.com/office/drawing/2014/main" xmlns="" val="4083913342"/>
                        </a:ext>
                      </a:extLst>
                    </a:gridCol>
                  </a:tblGrid>
                  <a:tr h="392065">
                    <a:tc>
                      <a:txBody>
                        <a:bodyPr/>
                        <a:lstStyle/>
                        <a:p>
                          <a:pPr marL="0" marR="0" algn="ctr">
                            <a:spcBef>
                              <a:spcPts val="0"/>
                            </a:spcBef>
                            <a:spcAft>
                              <a:spcPts val="0"/>
                            </a:spcAft>
                          </a:pPr>
                          <a:r>
                            <a:rPr lang="en-US" sz="2600" b="1" dirty="0">
                              <a:effectLst/>
                              <a:latin typeface="Verdana" panose="020B0604030504040204" pitchFamily="34" charset="0"/>
                              <a:ea typeface="Verdana" panose="020B0604030504040204" pitchFamily="34" charset="0"/>
                              <a:cs typeface="Verdana" panose="020B0604030504040204" pitchFamily="34" charset="0"/>
                            </a:rPr>
                            <a:t>Wendall</a:t>
                          </a:r>
                        </a:p>
                      </a:txBody>
                      <a:tcPr marL="73512" marR="73512" marT="0" marB="0" anchor="ctr">
                        <a:solidFill>
                          <a:srgbClr val="BFBFBF"/>
                        </a:solidFill>
                      </a:tcPr>
                    </a:tc>
                    <a:tc>
                      <a:txBody>
                        <a:bodyPr/>
                        <a:lstStyle/>
                        <a:p>
                          <a:pPr marL="0" marR="0" algn="ctr">
                            <a:spcBef>
                              <a:spcPts val="0"/>
                            </a:spcBef>
                            <a:spcAft>
                              <a:spcPts val="0"/>
                            </a:spcAft>
                          </a:pPr>
                          <a:r>
                            <a:rPr lang="en-US" sz="2600" b="1" dirty="0" err="1">
                              <a:effectLst/>
                              <a:latin typeface="Verdana" panose="020B0604030504040204" pitchFamily="34" charset="0"/>
                              <a:ea typeface="Verdana" panose="020B0604030504040204" pitchFamily="34" charset="0"/>
                              <a:cs typeface="Verdana" panose="020B0604030504040204" pitchFamily="34" charset="0"/>
                            </a:rPr>
                            <a:t>Samah</a:t>
                          </a:r>
                          <a:endParaRPr lang="en-US" sz="2600" b="1" dirty="0">
                            <a:effectLst/>
                            <a:latin typeface="Verdana" panose="020B0604030504040204" pitchFamily="34" charset="0"/>
                            <a:ea typeface="Verdana" panose="020B0604030504040204" pitchFamily="34" charset="0"/>
                            <a:cs typeface="Verdana" panose="020B0604030504040204" pitchFamily="34" charset="0"/>
                          </a:endParaRPr>
                        </a:p>
                      </a:txBody>
                      <a:tcPr marL="73512" marR="73512" marT="0" marB="0" anchor="ctr">
                        <a:solidFill>
                          <a:srgbClr val="BFBFBF"/>
                        </a:solidFill>
                      </a:tcPr>
                    </a:tc>
                    <a:extLst>
                      <a:ext uri="{0D108BD9-81ED-4DB2-BD59-A6C34878D82A}">
                        <a16:rowId xmlns:a16="http://schemas.microsoft.com/office/drawing/2014/main" xmlns="" val="629309355"/>
                      </a:ext>
                    </a:extLst>
                  </a:tr>
                  <a:tr h="4900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600" i="1">
                                        <a:effectLst/>
                                        <a:latin typeface="Cambria Math" charset="0"/>
                                      </a:rPr>
                                    </m:ctrlPr>
                                  </m:dPr>
                                  <m:e>
                                    <m:r>
                                      <a:rPr lang="en-US" sz="2600">
                                        <a:effectLst/>
                                        <a:latin typeface="Cambria Math" panose="02040503050406030204" pitchFamily="18" charset="0"/>
                                      </a:rPr>
                                      <m:t>𝑥</m:t>
                                    </m:r>
                                    <m:r>
                                      <a:rPr lang="en-US" sz="2600">
                                        <a:effectLst/>
                                        <a:latin typeface="Cambria Math" panose="02040503050406030204" pitchFamily="18" charset="0"/>
                                      </a:rPr>
                                      <m:t>,</m:t>
                                    </m:r>
                                    <m:r>
                                      <a:rPr lang="en-US" sz="2600">
                                        <a:effectLst/>
                                        <a:latin typeface="Cambria Math" panose="02040503050406030204" pitchFamily="18" charset="0"/>
                                      </a:rPr>
                                      <m:t>𝑦</m:t>
                                    </m:r>
                                  </m:e>
                                </m:d>
                                <m:r>
                                  <a:rPr lang="en-US" sz="2600">
                                    <a:effectLst/>
                                    <a:latin typeface="Cambria Math" panose="02040503050406030204" pitchFamily="18" charset="0"/>
                                  </a:rPr>
                                  <m:t>→</m:t>
                                </m:r>
                                <m:d>
                                  <m:dPr>
                                    <m:ctrlPr>
                                      <a:rPr lang="en-US" sz="2600" i="1">
                                        <a:effectLst/>
                                        <a:latin typeface="Cambria Math" charset="0"/>
                                      </a:rPr>
                                    </m:ctrlPr>
                                  </m:dPr>
                                  <m:e>
                                    <m:r>
                                      <a:rPr lang="en-US" sz="2600">
                                        <a:effectLst/>
                                        <a:latin typeface="Cambria Math" panose="02040503050406030204" pitchFamily="18" charset="0"/>
                                      </a:rPr>
                                      <m:t>−</m:t>
                                    </m:r>
                                    <m:r>
                                      <a:rPr lang="en-US" sz="2600">
                                        <a:effectLst/>
                                        <a:latin typeface="Cambria Math" panose="02040503050406030204" pitchFamily="18" charset="0"/>
                                      </a:rPr>
                                      <m:t>𝑥</m:t>
                                    </m:r>
                                    <m:r>
                                      <a:rPr lang="en-US" sz="2600">
                                        <a:effectLst/>
                                        <a:latin typeface="Cambria Math" panose="02040503050406030204" pitchFamily="18" charset="0"/>
                                      </a:rPr>
                                      <m:t>,</m:t>
                                    </m:r>
                                    <m:r>
                                      <a:rPr lang="en-US" sz="2600">
                                        <a:effectLst/>
                                        <a:latin typeface="Cambria Math" panose="02040503050406030204" pitchFamily="18" charset="0"/>
                                      </a:rPr>
                                      <m:t>𝑦</m:t>
                                    </m:r>
                                  </m:e>
                                </m:d>
                              </m:oMath>
                            </m:oMathPara>
                          </a14:m>
                          <a:endParaRPr lang="en-US" sz="2600" dirty="0">
                            <a:effectLst/>
                            <a:latin typeface="Verdana" panose="020B0604030504040204" pitchFamily="34" charset="0"/>
                            <a:ea typeface="Verdana" panose="020B0604030504040204" pitchFamily="34" charset="0"/>
                            <a:cs typeface="Verdana" panose="020B0604030504040204" pitchFamily="34" charset="0"/>
                          </a:endParaRPr>
                        </a:p>
                      </a:txBody>
                      <a:tcPr marL="73512" marR="73512"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600" i="1">
                                        <a:effectLst/>
                                        <a:latin typeface="Cambria Math" charset="0"/>
                                      </a:rPr>
                                    </m:ctrlPr>
                                  </m:dPr>
                                  <m:e>
                                    <m:r>
                                      <a:rPr lang="en-US" sz="2600">
                                        <a:effectLst/>
                                        <a:latin typeface="Cambria Math" panose="02040503050406030204" pitchFamily="18" charset="0"/>
                                      </a:rPr>
                                      <m:t>𝑥</m:t>
                                    </m:r>
                                    <m:r>
                                      <a:rPr lang="en-US" sz="2600">
                                        <a:effectLst/>
                                        <a:latin typeface="Cambria Math" panose="02040503050406030204" pitchFamily="18" charset="0"/>
                                      </a:rPr>
                                      <m:t>,</m:t>
                                    </m:r>
                                    <m:r>
                                      <a:rPr lang="en-US" sz="2600">
                                        <a:effectLst/>
                                        <a:latin typeface="Cambria Math" panose="02040503050406030204" pitchFamily="18" charset="0"/>
                                      </a:rPr>
                                      <m:t>𝑦</m:t>
                                    </m:r>
                                  </m:e>
                                </m:d>
                                <m:r>
                                  <a:rPr lang="en-US" sz="2600">
                                    <a:effectLst/>
                                    <a:latin typeface="Cambria Math" panose="02040503050406030204" pitchFamily="18" charset="0"/>
                                  </a:rPr>
                                  <m:t>→</m:t>
                                </m:r>
                                <m:d>
                                  <m:dPr>
                                    <m:ctrlPr>
                                      <a:rPr lang="en-US" sz="2600" i="1">
                                        <a:effectLst/>
                                        <a:latin typeface="Cambria Math" charset="0"/>
                                      </a:rPr>
                                    </m:ctrlPr>
                                  </m:dPr>
                                  <m:e>
                                    <m:r>
                                      <a:rPr lang="en-US" sz="2600">
                                        <a:effectLst/>
                                        <a:latin typeface="Cambria Math" panose="02040503050406030204" pitchFamily="18" charset="0"/>
                                      </a:rPr>
                                      <m:t>𝑥</m:t>
                                    </m:r>
                                    <m:r>
                                      <a:rPr lang="en-US" sz="2600">
                                        <a:effectLst/>
                                        <a:latin typeface="Cambria Math" panose="02040503050406030204" pitchFamily="18" charset="0"/>
                                      </a:rPr>
                                      <m:t>,−</m:t>
                                    </m:r>
                                    <m:r>
                                      <a:rPr lang="en-US" sz="2600">
                                        <a:effectLst/>
                                        <a:latin typeface="Cambria Math" panose="02040503050406030204" pitchFamily="18" charset="0"/>
                                      </a:rPr>
                                      <m:t>𝑦</m:t>
                                    </m:r>
                                  </m:e>
                                </m:d>
                              </m:oMath>
                            </m:oMathPara>
                          </a14:m>
                          <a:endParaRPr lang="en-US" sz="2600" dirty="0">
                            <a:effectLst/>
                            <a:latin typeface="Verdana" panose="020B0604030504040204" pitchFamily="34" charset="0"/>
                            <a:ea typeface="Verdana" panose="020B0604030504040204" pitchFamily="34" charset="0"/>
                            <a:cs typeface="Verdana" panose="020B0604030504040204" pitchFamily="34" charset="0"/>
                          </a:endParaRPr>
                        </a:p>
                      </a:txBody>
                      <a:tcPr marL="73512" marR="73512" marT="0" marB="0" anchor="ctr"/>
                    </a:tc>
                    <a:extLst>
                      <a:ext uri="{0D108BD9-81ED-4DB2-BD59-A6C34878D82A}">
                        <a16:rowId xmlns:a16="http://schemas.microsoft.com/office/drawing/2014/main" xmlns="" val="681246932"/>
                      </a:ext>
                    </a:extLst>
                  </a:tr>
                  <a:tr h="1960326">
                    <a:tc>
                      <a:txBody>
                        <a:bodyPr/>
                        <a:lstStyle/>
                        <a:p>
                          <a:pPr marL="0" marR="0" algn="ctr">
                            <a:spcBef>
                              <a:spcPts val="0"/>
                            </a:spcBef>
                            <a:spcAft>
                              <a:spcPts val="0"/>
                            </a:spcAft>
                          </a:pPr>
                          <a:r>
                            <a:rPr lang="en-US" sz="2600" dirty="0">
                              <a:effectLst/>
                              <a:latin typeface="Verdana" panose="020B0604030504040204" pitchFamily="34" charset="0"/>
                              <a:ea typeface="Verdana" panose="020B0604030504040204" pitchFamily="34" charset="0"/>
                              <a:cs typeface="Verdana" panose="020B0604030504040204" pitchFamily="34" charset="0"/>
                            </a:rPr>
                            <a:t>Because the polygon flipped over the </a:t>
                          </a:r>
                          <a14:m>
                            <m:oMath xmlns:m="http://schemas.openxmlformats.org/officeDocument/2006/math">
                              <m:r>
                                <a:rPr lang="en-US" sz="2600">
                                  <a:effectLst/>
                                  <a:latin typeface="Cambria Math" panose="02040503050406030204" pitchFamily="18" charset="0"/>
                                </a:rPr>
                                <m:t>𝑥</m:t>
                              </m:r>
                            </m:oMath>
                          </a14:m>
                          <a:r>
                            <a:rPr lang="en-US" sz="2600" dirty="0">
                              <a:effectLst/>
                              <a:latin typeface="Verdana" panose="020B0604030504040204" pitchFamily="34" charset="0"/>
                              <a:ea typeface="Verdana" panose="020B0604030504040204" pitchFamily="34" charset="0"/>
                              <a:cs typeface="Verdana" panose="020B0604030504040204" pitchFamily="34" charset="0"/>
                            </a:rPr>
                            <a:t>-axis, the </a:t>
                          </a:r>
                          <a14:m>
                            <m:oMath xmlns:m="http://schemas.openxmlformats.org/officeDocument/2006/math">
                              <m:r>
                                <a:rPr lang="en-US" sz="2600">
                                  <a:effectLst/>
                                  <a:latin typeface="Cambria Math" panose="02040503050406030204" pitchFamily="18" charset="0"/>
                                </a:rPr>
                                <m:t>𝑥</m:t>
                              </m:r>
                            </m:oMath>
                          </a14:m>
                          <a:r>
                            <a:rPr lang="en-US" sz="2600" dirty="0">
                              <a:effectLst/>
                              <a:latin typeface="Verdana" panose="020B0604030504040204" pitchFamily="34" charset="0"/>
                              <a:ea typeface="Verdana" panose="020B0604030504040204" pitchFamily="34" charset="0"/>
                              <a:cs typeface="Verdana" panose="020B0604030504040204" pitchFamily="34" charset="0"/>
                            </a:rPr>
                            <a:t> becomes its opposite.</a:t>
                          </a:r>
                        </a:p>
                      </a:txBody>
                      <a:tcPr marL="73512" marR="73512" marT="0" marB="0" anchor="ct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Because above the </a:t>
                          </a:r>
                          <a14:m>
                            <m:oMath xmlns:m="http://schemas.openxmlformats.org/officeDocument/2006/math">
                              <m:r>
                                <a:rPr lang="en-US" sz="2400">
                                  <a:effectLst/>
                                  <a:latin typeface="Cambria Math" panose="02040503050406030204" pitchFamily="18" charset="0"/>
                                </a:rPr>
                                <m:t>𝑥</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-axis all </a:t>
                          </a:r>
                          <a14:m>
                            <m:oMath xmlns:m="http://schemas.openxmlformats.org/officeDocument/2006/math">
                              <m:r>
                                <a:rPr lang="en-US" sz="2400">
                                  <a:effectLst/>
                                  <a:latin typeface="Cambria Math" panose="02040503050406030204" pitchFamily="18" charset="0"/>
                                </a:rPr>
                                <m:t>𝑦</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-values are positive and below the </a:t>
                          </a:r>
                          <a14:m>
                            <m:oMath xmlns:m="http://schemas.openxmlformats.org/officeDocument/2006/math">
                              <m:r>
                                <a:rPr lang="en-US" sz="2400">
                                  <a:effectLst/>
                                  <a:latin typeface="Cambria Math" panose="02040503050406030204" pitchFamily="18" charset="0"/>
                                </a:rPr>
                                <m:t>𝑥</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-axis all </a:t>
                          </a:r>
                          <a14:m>
                            <m:oMath xmlns:m="http://schemas.openxmlformats.org/officeDocument/2006/math">
                              <m:r>
                                <a:rPr lang="en-US" sz="2400">
                                  <a:effectLst/>
                                  <a:latin typeface="Cambria Math" panose="02040503050406030204" pitchFamily="18" charset="0"/>
                                </a:rPr>
                                <m:t>𝑦</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-values are negative, the </a:t>
                          </a:r>
                          <a14:m>
                            <m:oMath xmlns:m="http://schemas.openxmlformats.org/officeDocument/2006/math">
                              <m:r>
                                <a:rPr lang="en-US" sz="2400">
                                  <a:effectLst/>
                                  <a:latin typeface="Cambria Math" panose="02040503050406030204" pitchFamily="18" charset="0"/>
                                </a:rPr>
                                <m:t>𝑦</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becomes its opposite.</a:t>
                          </a:r>
                        </a:p>
                      </a:txBody>
                      <a:tcPr marL="73512" marR="73512" marT="0" marB="0" anchor="ctr"/>
                    </a:tc>
                    <a:extLst>
                      <a:ext uri="{0D108BD9-81ED-4DB2-BD59-A6C34878D82A}">
                        <a16:rowId xmlns:a16="http://schemas.microsoft.com/office/drawing/2014/main" xmlns="" val="928233600"/>
                      </a:ext>
                    </a:extLst>
                  </a:tr>
                </a:tbl>
              </a:graphicData>
            </a:graphic>
          </p:graphicFrame>
        </mc:Choice>
        <mc:Fallback xmlns="">
          <p:graphicFrame>
            <p:nvGraphicFramePr>
              <p:cNvPr id="2" name="Table 1">
                <a:extLst>
                  <a:ext uri="{FF2B5EF4-FFF2-40B4-BE49-F238E27FC236}">
                    <a16:creationId xmlns:a16="http://schemas.microsoft.com/office/drawing/2014/main" id="{1B86D444-A919-8B47-96FB-C2BFD1F7F2A0}"/>
                  </a:ext>
                </a:extLst>
              </p:cNvPr>
              <p:cNvGraphicFramePr>
                <a:graphicFrameLocks noGrp="1"/>
              </p:cNvGraphicFramePr>
              <p:nvPr>
                <p:extLst>
                  <p:ext uri="{D42A27DB-BD31-4B8C-83A1-F6EECF244321}">
                    <p14:modId xmlns:p14="http://schemas.microsoft.com/office/powerpoint/2010/main" val="2990128033"/>
                  </p:ext>
                </p:extLst>
              </p:nvPr>
            </p:nvGraphicFramePr>
            <p:xfrm>
              <a:off x="1463340" y="1719463"/>
              <a:ext cx="9265320" cy="2846647"/>
            </p:xfrm>
            <a:graphic>
              <a:graphicData uri="http://schemas.openxmlformats.org/drawingml/2006/table">
                <a:tbl>
                  <a:tblPr firstRow="1" firstCol="1" bandRow="1">
                    <a:tableStyleId>{A91F0D33-8C57-4600-99A7-42BC86742BE1}</a:tableStyleId>
                  </a:tblPr>
                  <a:tblGrid>
                    <a:gridCol w="4688424">
                      <a:extLst>
                        <a:ext uri="{9D8B030D-6E8A-4147-A177-3AD203B41FA5}">
                          <a16:colId xmlns:a16="http://schemas.microsoft.com/office/drawing/2014/main" val="3486247144"/>
                        </a:ext>
                      </a:extLst>
                    </a:gridCol>
                    <a:gridCol w="4576896">
                      <a:extLst>
                        <a:ext uri="{9D8B030D-6E8A-4147-A177-3AD203B41FA5}">
                          <a16:colId xmlns:a16="http://schemas.microsoft.com/office/drawing/2014/main" val="4083913342"/>
                        </a:ext>
                      </a:extLst>
                    </a:gridCol>
                  </a:tblGrid>
                  <a:tr h="396240">
                    <a:tc>
                      <a:txBody>
                        <a:bodyPr/>
                        <a:lstStyle/>
                        <a:p>
                          <a:pPr marL="0" marR="0" algn="ctr">
                            <a:spcBef>
                              <a:spcPts val="0"/>
                            </a:spcBef>
                            <a:spcAft>
                              <a:spcPts val="0"/>
                            </a:spcAft>
                          </a:pPr>
                          <a:r>
                            <a:rPr lang="en-US" sz="2600" b="1" dirty="0">
                              <a:effectLst/>
                              <a:latin typeface="Verdana" panose="020B0604030504040204" pitchFamily="34" charset="0"/>
                              <a:ea typeface="Verdana" panose="020B0604030504040204" pitchFamily="34" charset="0"/>
                              <a:cs typeface="Verdana" panose="020B0604030504040204" pitchFamily="34" charset="0"/>
                            </a:rPr>
                            <a:t>Wendall</a:t>
                          </a:r>
                        </a:p>
                      </a:txBody>
                      <a:tcPr marL="73512" marR="73512" marT="0" marB="0" anchor="ctr">
                        <a:solidFill>
                          <a:srgbClr val="BFBFBF"/>
                        </a:solidFill>
                      </a:tcPr>
                    </a:tc>
                    <a:tc>
                      <a:txBody>
                        <a:bodyPr/>
                        <a:lstStyle/>
                        <a:p>
                          <a:pPr marL="0" marR="0" algn="ctr">
                            <a:spcBef>
                              <a:spcPts val="0"/>
                            </a:spcBef>
                            <a:spcAft>
                              <a:spcPts val="0"/>
                            </a:spcAft>
                          </a:pPr>
                          <a:r>
                            <a:rPr lang="en-US" sz="2600" b="1" dirty="0" err="1">
                              <a:effectLst/>
                              <a:latin typeface="Verdana" panose="020B0604030504040204" pitchFamily="34" charset="0"/>
                              <a:ea typeface="Verdana" panose="020B0604030504040204" pitchFamily="34" charset="0"/>
                              <a:cs typeface="Verdana" panose="020B0604030504040204" pitchFamily="34" charset="0"/>
                            </a:rPr>
                            <a:t>Samah</a:t>
                          </a:r>
                          <a:endParaRPr lang="en-US" sz="2600" b="1" dirty="0">
                            <a:effectLst/>
                            <a:latin typeface="Verdana" panose="020B0604030504040204" pitchFamily="34" charset="0"/>
                            <a:ea typeface="Verdana" panose="020B0604030504040204" pitchFamily="34" charset="0"/>
                            <a:cs typeface="Verdana" panose="020B0604030504040204" pitchFamily="34" charset="0"/>
                          </a:endParaRPr>
                        </a:p>
                      </a:txBody>
                      <a:tcPr marL="73512" marR="73512" marT="0" marB="0" anchor="ctr">
                        <a:solidFill>
                          <a:srgbClr val="BFBFBF"/>
                        </a:solidFill>
                      </a:tcPr>
                    </a:tc>
                    <a:extLst>
                      <a:ext uri="{0D108BD9-81ED-4DB2-BD59-A6C34878D82A}">
                        <a16:rowId xmlns:a16="http://schemas.microsoft.com/office/drawing/2014/main" val="629309355"/>
                      </a:ext>
                    </a:extLst>
                  </a:tr>
                  <a:tr h="490081">
                    <a:tc>
                      <a:txBody>
                        <a:bodyPr/>
                        <a:lstStyle/>
                        <a:p>
                          <a:endParaRPr lang="en-US"/>
                        </a:p>
                      </a:txBody>
                      <a:tcPr marL="73512" marR="73512" marT="0" marB="0" anchor="ctr">
                        <a:blipFill>
                          <a:blip r:embed="rId4"/>
                          <a:stretch>
                            <a:fillRect l="-130" t="-101235" r="-97919" b="-420988"/>
                          </a:stretch>
                        </a:blipFill>
                      </a:tcPr>
                    </a:tc>
                    <a:tc>
                      <a:txBody>
                        <a:bodyPr/>
                        <a:lstStyle/>
                        <a:p>
                          <a:endParaRPr lang="en-US"/>
                        </a:p>
                      </a:txBody>
                      <a:tcPr marL="73512" marR="73512" marT="0" marB="0" anchor="ctr">
                        <a:blipFill>
                          <a:blip r:embed="rId4"/>
                          <a:stretch>
                            <a:fillRect l="-102530" t="-101235" r="-266" b="-420988"/>
                          </a:stretch>
                        </a:blipFill>
                      </a:tcPr>
                    </a:tc>
                    <a:extLst>
                      <a:ext uri="{0D108BD9-81ED-4DB2-BD59-A6C34878D82A}">
                        <a16:rowId xmlns:a16="http://schemas.microsoft.com/office/drawing/2014/main" val="681246932"/>
                      </a:ext>
                    </a:extLst>
                  </a:tr>
                  <a:tr h="1960326">
                    <a:tc>
                      <a:txBody>
                        <a:bodyPr/>
                        <a:lstStyle/>
                        <a:p>
                          <a:endParaRPr lang="en-US"/>
                        </a:p>
                      </a:txBody>
                      <a:tcPr marL="73512" marR="73512" marT="0" marB="0" anchor="ctr">
                        <a:blipFill>
                          <a:blip r:embed="rId4"/>
                          <a:stretch>
                            <a:fillRect l="-130" t="-50621" r="-97919" b="-5901"/>
                          </a:stretch>
                        </a:blipFill>
                      </a:tcPr>
                    </a:tc>
                    <a:tc>
                      <a:txBody>
                        <a:bodyPr/>
                        <a:lstStyle/>
                        <a:p>
                          <a:endParaRPr lang="en-US"/>
                        </a:p>
                      </a:txBody>
                      <a:tcPr marL="73512" marR="73512" marT="0" marB="0" anchor="ctr">
                        <a:blipFill>
                          <a:blip r:embed="rId4"/>
                          <a:stretch>
                            <a:fillRect l="-102530" t="-50621" r="-266" b="-5901"/>
                          </a:stretch>
                        </a:blipFill>
                      </a:tcPr>
                    </a:tc>
                    <a:extLst>
                      <a:ext uri="{0D108BD9-81ED-4DB2-BD59-A6C34878D82A}">
                        <a16:rowId xmlns:a16="http://schemas.microsoft.com/office/drawing/2014/main" val="928233600"/>
                      </a:ext>
                    </a:extLst>
                  </a:tr>
                </a:tbl>
              </a:graphicData>
            </a:graphic>
          </p:graphicFrame>
        </mc:Fallback>
      </mc:AlternateContent>
      <p:sp>
        <p:nvSpPr>
          <p:cNvPr id="3" name="Rectangle 1">
            <a:extLst>
              <a:ext uri="{FF2B5EF4-FFF2-40B4-BE49-F238E27FC236}">
                <a16:creationId xmlns:a16="http://schemas.microsoft.com/office/drawing/2014/main" xmlns="" id="{AE7973F8-9412-7342-B4B5-283724BC2CBE}"/>
              </a:ext>
            </a:extLst>
          </p:cNvPr>
          <p:cNvSpPr>
            <a:spLocks noChangeArrowheads="1"/>
          </p:cNvSpPr>
          <p:nvPr/>
        </p:nvSpPr>
        <p:spPr bwMode="auto">
          <a:xfrm>
            <a:off x="404726" y="366338"/>
            <a:ext cx="1122342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pPr>
            <a:r>
              <a:rPr lang="en-US" altLang="en-US" sz="2400" dirty="0">
                <a:latin typeface="Verdana" panose="020B0604030504040204" pitchFamily="34" charset="0"/>
                <a:ea typeface="Verdana" panose="020B0604030504040204" pitchFamily="34" charset="0"/>
                <a:cs typeface="Verdana" panose="020B0604030504040204" pitchFamily="34" charset="0"/>
              </a:rPr>
              <a:t>b. Wendall and </a:t>
            </a:r>
            <a:r>
              <a:rPr lang="en-US" altLang="en-US" sz="2400" dirty="0" err="1">
                <a:latin typeface="Verdana" panose="020B0604030504040204" pitchFamily="34" charset="0"/>
                <a:ea typeface="Verdana" panose="020B0604030504040204" pitchFamily="34" charset="0"/>
                <a:cs typeface="Verdana" panose="020B0604030504040204" pitchFamily="34" charset="0"/>
              </a:rPr>
              <a:t>Samah</a:t>
            </a:r>
            <a:r>
              <a:rPr lang="en-US" altLang="en-US" sz="2400" dirty="0">
                <a:latin typeface="Verdana" panose="020B0604030504040204" pitchFamily="34" charset="0"/>
                <a:ea typeface="Verdana" panose="020B0604030504040204" pitchFamily="34" charset="0"/>
                <a:cs typeface="Verdana" panose="020B0604030504040204" pitchFamily="34" charset="0"/>
              </a:rPr>
              <a:t> were working together on writing an algebraic description for reflections across the </a:t>
            </a:r>
            <a:r>
              <a:rPr lang="en-US" altLang="en-US" sz="2400" i="1" dirty="0">
                <a:latin typeface="Verdana" panose="020B0604030504040204" pitchFamily="34" charset="0"/>
                <a:ea typeface="Verdana" panose="020B0604030504040204" pitchFamily="34" charset="0"/>
                <a:cs typeface="Verdana" panose="020B0604030504040204" pitchFamily="34" charset="0"/>
              </a:rPr>
              <a:t>x</a:t>
            </a:r>
            <a:r>
              <a:rPr lang="en-US" altLang="en-US" sz="2400" dirty="0">
                <a:latin typeface="Verdana" panose="020B0604030504040204" pitchFamily="34" charset="0"/>
                <a:ea typeface="Verdana" panose="020B0604030504040204" pitchFamily="34" charset="0"/>
                <a:cs typeface="Verdana" panose="020B0604030504040204" pitchFamily="34" charset="0"/>
              </a:rPr>
              <a:t>-axis. Each student’s algebraic description and explanation of their thinking is shown in the table.</a:t>
            </a: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4" name="TextBox 3">
            <a:extLst>
              <a:ext uri="{FF2B5EF4-FFF2-40B4-BE49-F238E27FC236}">
                <a16:creationId xmlns:a16="http://schemas.microsoft.com/office/drawing/2014/main" xmlns="" id="{2F96E2DC-C14D-1640-8FB4-2A5479D47905}"/>
              </a:ext>
            </a:extLst>
          </p:cNvPr>
          <p:cNvSpPr txBox="1"/>
          <p:nvPr/>
        </p:nvSpPr>
        <p:spPr>
          <a:xfrm>
            <a:off x="863436" y="4718907"/>
            <a:ext cx="10660487" cy="1569660"/>
          </a:xfrm>
          <a:prstGeom prst="rect">
            <a:avLst/>
          </a:prstGeom>
          <a:noFill/>
        </p:spPr>
        <p:txBody>
          <a:bodyPr wrap="square" rtlCol="0">
            <a:spAutoFit/>
          </a:bodyPr>
          <a:lstStyle/>
          <a:p>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Discuss with your partner which, if any, algebraic description is correct. Use at least two ordered pairs from </a:t>
            </a:r>
            <a:r>
              <a:rPr lang="en-US" altLang="en-US" sz="2400" dirty="0">
                <a:latin typeface="Verdana" panose="020B0604030504040204" pitchFamily="34" charset="0"/>
                <a:ea typeface="Verdana" panose="020B0604030504040204" pitchFamily="34" charset="0"/>
                <a:cs typeface="Verdana" panose="020B0604030504040204" pitchFamily="34" charset="0"/>
              </a:rPr>
              <a:t>polygons </a:t>
            </a:r>
            <a:r>
              <a:rPr lang="en-US" altLang="en-US" sz="2400" i="1" dirty="0">
                <a:latin typeface="Verdana" panose="020B0604030504040204" pitchFamily="34" charset="0"/>
                <a:ea typeface="Verdana" panose="020B0604030504040204" pitchFamily="34" charset="0"/>
                <a:cs typeface="Verdana" panose="020B0604030504040204" pitchFamily="34" charset="0"/>
              </a:rPr>
              <a:t>MCRTA</a:t>
            </a:r>
            <a:r>
              <a:rPr lang="en-US" altLang="en-US" sz="2400" dirty="0">
                <a:latin typeface="Verdana" panose="020B0604030504040204" pitchFamily="34" charset="0"/>
                <a:ea typeface="Verdana" panose="020B0604030504040204" pitchFamily="34" charset="0"/>
                <a:cs typeface="Verdana" panose="020B0604030504040204" pitchFamily="34" charset="0"/>
              </a:rPr>
              <a:t> and </a:t>
            </a:r>
            <a:r>
              <a:rPr lang="en-US" altLang="en-US" sz="2400" i="1" dirty="0">
                <a:latin typeface="Verdana" panose="020B0604030504040204" pitchFamily="34" charset="0"/>
                <a:ea typeface="Verdana" panose="020B0604030504040204" pitchFamily="34" charset="0"/>
                <a:cs typeface="Verdana" panose="020B0604030504040204" pitchFamily="34" charset="0"/>
              </a:rPr>
              <a:t>HVGNW</a:t>
            </a:r>
            <a:r>
              <a:rPr lang="en-US" altLang="en-US" sz="2400" dirty="0">
                <a:latin typeface="Verdana" panose="020B0604030504040204" pitchFamily="34" charset="0"/>
                <a:ea typeface="Verdana" panose="020B0604030504040204" pitchFamily="34" charset="0"/>
                <a:cs typeface="Verdana" panose="020B0604030504040204" pitchFamily="34" charset="0"/>
              </a:rPr>
              <a:t> to defend your choice.</a:t>
            </a: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397557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350462" y="105897"/>
                <a:ext cx="10961551" cy="830997"/>
              </a:xfrm>
              <a:prstGeom prst="rect">
                <a:avLst/>
              </a:prstGeom>
              <a:noFill/>
            </p:spPr>
            <p:txBody>
              <a:bodyPr wrap="square" rtlCol="0">
                <a:spAutoFit/>
              </a:bodyPr>
              <a:lstStyle/>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3. Triangles </a:t>
                </a:r>
                <a14:m>
                  <m:oMath xmlns:m="http://schemas.openxmlformats.org/officeDocument/2006/math">
                    <m:r>
                      <a:rPr lang="en-US" sz="2400" i="1">
                        <a:latin typeface="Cambria Math" panose="02040503050406030204" pitchFamily="18" charset="0"/>
                      </a:rPr>
                      <m:t>𝐻𝑊𝑇</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𝐻</m:t>
                    </m:r>
                    <m:r>
                      <a:rPr lang="en-US" sz="2400" i="1">
                        <a:latin typeface="Cambria Math" panose="02040503050406030204" pitchFamily="18" charset="0"/>
                      </a:rPr>
                      <m:t>′</m:t>
                    </m:r>
                    <m:r>
                      <a:rPr lang="en-US" sz="2400" i="1">
                        <a:latin typeface="Cambria Math" panose="02040503050406030204" pitchFamily="18" charset="0"/>
                      </a:rPr>
                      <m:t>𝑊</m:t>
                    </m:r>
                    <m:r>
                      <a:rPr lang="en-US" sz="2400" i="1">
                        <a:latin typeface="Cambria Math" panose="02040503050406030204" pitchFamily="18" charset="0"/>
                      </a:rPr>
                      <m:t>′</m:t>
                    </m:r>
                    <m:r>
                      <a:rPr lang="en-US" sz="2400" i="1">
                        <a:latin typeface="Cambria Math" panose="02040503050406030204" pitchFamily="18" charset="0"/>
                      </a:rPr>
                      <m:t>𝑇</m:t>
                    </m:r>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are shown on the coordinate grid. Triangle </a:t>
                </a:r>
                <a14:m>
                  <m:oMath xmlns:m="http://schemas.openxmlformats.org/officeDocument/2006/math">
                    <m:r>
                      <a:rPr lang="en-US" sz="2400" i="1">
                        <a:latin typeface="Cambria Math" panose="02040503050406030204" pitchFamily="18" charset="0"/>
                      </a:rPr>
                      <m:t>𝐻𝑊𝑇</m:t>
                    </m:r>
                  </m:oMath>
                </a14:m>
                <a:r>
                  <a:rPr lang="en-US" sz="2400" dirty="0">
                    <a:latin typeface="Verdana" panose="020B0604030504040204" pitchFamily="34" charset="0"/>
                    <a:ea typeface="Verdana" panose="020B0604030504040204" pitchFamily="34" charset="0"/>
                    <a:cs typeface="Verdana" panose="020B0604030504040204" pitchFamily="34" charset="0"/>
                  </a:rPr>
                  <a:t> was reflected across the origin</a:t>
                </a:r>
                <a14:m>
                  <m:oMath xmlns:m="http://schemas.openxmlformats.org/officeDocument/2006/math">
                    <m:r>
                      <a:rPr lang="en-US" sz="2400" i="1">
                        <a:latin typeface="Cambria Math" panose="02040503050406030204" pitchFamily="18"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to create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𝐻</m:t>
                    </m:r>
                    <m:r>
                      <a:rPr lang="en-US" sz="2400" i="1">
                        <a:latin typeface="Cambria Math" panose="02040503050406030204" pitchFamily="18" charset="0"/>
                      </a:rPr>
                      <m:t>′</m:t>
                    </m:r>
                    <m:r>
                      <a:rPr lang="en-US" sz="2400" i="1">
                        <a:latin typeface="Cambria Math" panose="02040503050406030204" pitchFamily="18" charset="0"/>
                      </a:rPr>
                      <m:t>𝑊</m:t>
                    </m:r>
                    <m:r>
                      <a:rPr lang="en-US" sz="2400" i="1">
                        <a:latin typeface="Cambria Math" panose="02040503050406030204" pitchFamily="18" charset="0"/>
                      </a:rPr>
                      <m:t>′</m:t>
                    </m:r>
                    <m:r>
                      <a:rPr lang="en-US" sz="2400" i="1">
                        <a:latin typeface="Cambria Math" panose="02040503050406030204" pitchFamily="18" charset="0"/>
                      </a:rPr>
                      <m:t>𝑇</m:t>
                    </m:r>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350462" y="105897"/>
                <a:ext cx="10961551" cy="830997"/>
              </a:xfrm>
              <a:prstGeom prst="rect">
                <a:avLst/>
              </a:prstGeom>
              <a:blipFill>
                <a:blip r:embed="rId4"/>
                <a:stretch>
                  <a:fillRect l="-834" t="-6569" b="-14599"/>
                </a:stretch>
              </a:blipFill>
            </p:spPr>
            <p:txBody>
              <a:bodyPr/>
              <a:lstStyle/>
              <a:p>
                <a:r>
                  <a:rPr lang="en-US">
                    <a:noFill/>
                  </a:rPr>
                  <a:t> </a:t>
                </a:r>
              </a:p>
            </p:txBody>
          </p:sp>
        </mc:Fallback>
      </mc:AlternateContent>
      <p:pic>
        <p:nvPicPr>
          <p:cNvPr id="6" name="Picture 5" descr="Chart, line chart&#10;&#10;Description automatically generated">
            <a:extLst>
              <a:ext uri="{FF2B5EF4-FFF2-40B4-BE49-F238E27FC236}">
                <a16:creationId xmlns:a16="http://schemas.microsoft.com/office/drawing/2014/main" xmlns="" id="{E86C9714-E621-114B-8D66-1193C298A5A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15816" y="1345943"/>
            <a:ext cx="4412334" cy="3382655"/>
          </a:xfrm>
          <a:prstGeom prst="rect">
            <a:avLst/>
          </a:prstGeom>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1A816670-1283-FC4E-8A2C-1BEAC95ADEBB}"/>
                  </a:ext>
                </a:extLst>
              </p:cNvPr>
              <p:cNvSpPr txBox="1"/>
              <p:nvPr/>
            </p:nvSpPr>
            <p:spPr>
              <a:xfrm>
                <a:off x="401262" y="1345943"/>
                <a:ext cx="6471486" cy="3416320"/>
              </a:xfrm>
              <a:prstGeom prst="rect">
                <a:avLst/>
              </a:prstGeom>
              <a:noFill/>
            </p:spPr>
            <p:txBody>
              <a:bodyPr wrap="square" rtlCol="0">
                <a:spAutoFit/>
              </a:bodyPr>
              <a:lstStyle/>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a. Discuss with your partner how to write the algebraic description for a reflection across the origin.  </a:t>
                </a:r>
              </a:p>
              <a:p>
                <a:pPr/>
                <a14:m>
                  <m:oMathPara xmlns:m="http://schemas.openxmlformats.org/officeDocument/2006/math">
                    <m:oMathParaPr>
                      <m:jc m:val="centerGroup"/>
                    </m:oMathParaPr>
                    <m:oMath xmlns:m="http://schemas.openxmlformats.org/officeDocument/2006/math">
                      <m:d>
                        <m:dPr>
                          <m:ctrlPr>
                            <a:rPr lang="en-US" sz="2400" i="1">
                              <a:latin typeface="Cambria Math"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e>
                      </m:d>
                      <m:r>
                        <a:rPr lang="en-US" sz="2400" i="1">
                          <a:latin typeface="Cambria Math" panose="02040503050406030204" pitchFamily="18" charset="0"/>
                        </a:rPr>
                        <m:t>→</m:t>
                      </m:r>
                      <m:d>
                        <m:dPr>
                          <m:ctrlPr>
                            <a:rPr lang="en-US" sz="2400" i="1">
                              <a:latin typeface="Cambria Math" charset="0"/>
                            </a:rPr>
                          </m:ctrlPr>
                        </m:dPr>
                        <m:e>
                          <m:r>
                            <a:rPr lang="en-US" sz="2400" i="1">
                              <a:latin typeface="Cambria Math" panose="02040503050406030204" pitchFamily="18" charset="0"/>
                            </a:rPr>
                            <m:t>__________,_________</m:t>
                          </m:r>
                        </m:e>
                      </m: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b. Re-examine the algebraic descriptions of rotations. Which rotation is similar to a reflection across the origin?</a:t>
                </a:r>
              </a:p>
            </p:txBody>
          </p:sp>
        </mc:Choice>
        <mc:Fallback xmlns="">
          <p:sp>
            <p:nvSpPr>
              <p:cNvPr id="2" name="TextBox 1">
                <a:extLst>
                  <a:ext uri="{FF2B5EF4-FFF2-40B4-BE49-F238E27FC236}">
                    <a16:creationId xmlns:a16="http://schemas.microsoft.com/office/drawing/2014/main" id="{1A816670-1283-FC4E-8A2C-1BEAC95ADEBB}"/>
                  </a:ext>
                </a:extLst>
              </p:cNvPr>
              <p:cNvSpPr txBox="1">
                <a:spLocks noRot="1" noChangeAspect="1" noMove="1" noResize="1" noEditPoints="1" noAdjustHandles="1" noChangeArrowheads="1" noChangeShapeType="1" noTextEdit="1"/>
              </p:cNvSpPr>
              <p:nvPr/>
            </p:nvSpPr>
            <p:spPr>
              <a:xfrm>
                <a:off x="401262" y="1345943"/>
                <a:ext cx="6471486" cy="3416320"/>
              </a:xfrm>
              <a:prstGeom prst="rect">
                <a:avLst/>
              </a:prstGeom>
              <a:blipFill>
                <a:blip r:embed="rId6"/>
                <a:stretch>
                  <a:fillRect l="-1508" t="-1429" r="-3016" b="-3214"/>
                </a:stretch>
              </a:blipFill>
            </p:spPr>
            <p:txBody>
              <a:bodyPr/>
              <a:lstStyle/>
              <a:p>
                <a:r>
                  <a:rPr lang="en-US">
                    <a:noFill/>
                  </a:rPr>
                  <a:t> </a:t>
                </a:r>
              </a:p>
            </p:txBody>
          </p:sp>
        </mc:Fallback>
      </mc:AlternateContent>
    </p:spTree>
    <p:extLst>
      <p:ext uri="{BB962C8B-B14F-4D97-AF65-F5344CB8AC3E}">
        <p14:creationId xmlns:p14="http://schemas.microsoft.com/office/powerpoint/2010/main" val="160517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2">
                <a:extLst>
                  <a:ext uri="{FF2B5EF4-FFF2-40B4-BE49-F238E27FC236}">
                    <a16:creationId xmlns:a16="http://schemas.microsoft.com/office/drawing/2014/main" xmlns="" id="{09360951-AF0E-BC4A-BC3A-3BDB5C3FBBBB}"/>
                  </a:ext>
                </a:extLst>
              </p:cNvPr>
              <p:cNvSpPr>
                <a:spLocks noChangeArrowheads="1"/>
              </p:cNvSpPr>
              <p:nvPr/>
            </p:nvSpPr>
            <p:spPr bwMode="auto">
              <a:xfrm>
                <a:off x="468662" y="287421"/>
                <a:ext cx="10914026" cy="120032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93700" indent="-393700" eaLnBrk="0" fontAlgn="base" hangingPunct="0">
                  <a:spcBef>
                    <a:spcPct val="0"/>
                  </a:spcBef>
                  <a:spcAft>
                    <a:spcPct val="0"/>
                  </a:spcAft>
                  <a:buClrTx/>
                </a:pPr>
                <a:r>
                  <a:rPr lang="en-US" altLang="en-US" sz="2400" dirty="0">
                    <a:latin typeface="Verdana" panose="020B0604030504040204" pitchFamily="34" charset="0"/>
                    <a:ea typeface="Verdana" panose="020B0604030504040204" pitchFamily="34" charset="0"/>
                    <a:cs typeface="Verdana" panose="020B0604030504040204" pitchFamily="34" charset="0"/>
                  </a:rPr>
                  <a:t>4. Triangles </a:t>
                </a:r>
                <a:r>
                  <a:rPr lang="en-US" altLang="en-US" sz="2400" i="1" dirty="0">
                    <a:latin typeface="Verdana" panose="020B0604030504040204" pitchFamily="34" charset="0"/>
                    <a:ea typeface="Verdana" panose="020B0604030504040204" pitchFamily="34" charset="0"/>
                    <a:cs typeface="Verdana" panose="020B0604030504040204" pitchFamily="34" charset="0"/>
                  </a:rPr>
                  <a:t>KWD</a:t>
                </a:r>
                <a:r>
                  <a:rPr lang="en-US" altLang="en-US" sz="2400" dirty="0">
                    <a:latin typeface="Verdana" panose="020B0604030504040204" pitchFamily="34" charset="0"/>
                    <a:ea typeface="Verdana" panose="020B0604030504040204" pitchFamily="34" charset="0"/>
                    <a:cs typeface="Verdana" panose="020B0604030504040204" pitchFamily="34" charset="0"/>
                  </a:rPr>
                  <a:t> and </a:t>
                </a:r>
                <a:r>
                  <a:rPr lang="en-US" altLang="en-US" sz="2400" i="1" dirty="0">
                    <a:latin typeface="Verdana" panose="020B0604030504040204" pitchFamily="34" charset="0"/>
                    <a:ea typeface="Verdana" panose="020B0604030504040204" pitchFamily="34" charset="0"/>
                    <a:cs typeface="Verdana" panose="020B0604030504040204" pitchFamily="34" charset="0"/>
                  </a:rPr>
                  <a:t>K'W'D'</a:t>
                </a:r>
                <a:r>
                  <a:rPr lang="en-US" altLang="en-US" sz="2400" dirty="0">
                    <a:latin typeface="Verdana" panose="020B0604030504040204" pitchFamily="34" charset="0"/>
                    <a:ea typeface="Verdana" panose="020B0604030504040204" pitchFamily="34" charset="0"/>
                    <a:cs typeface="Verdana" panose="020B0604030504040204" pitchFamily="34" charset="0"/>
                  </a:rPr>
                  <a:t> are shown on the coordinate grid. Triangle </a:t>
                </a:r>
                <a:r>
                  <a:rPr lang="en-US" altLang="en-US" sz="2400" i="1" dirty="0">
                    <a:latin typeface="Verdana" panose="020B0604030504040204" pitchFamily="34" charset="0"/>
                    <a:ea typeface="Verdana" panose="020B0604030504040204" pitchFamily="34" charset="0"/>
                    <a:cs typeface="Verdana" panose="020B0604030504040204" pitchFamily="34" charset="0"/>
                  </a:rPr>
                  <a:t>KWD</a:t>
                </a:r>
                <a:r>
                  <a:rPr lang="en-US" altLang="en-US" sz="2400" dirty="0">
                    <a:latin typeface="Verdana" panose="020B0604030504040204" pitchFamily="34" charset="0"/>
                    <a:ea typeface="Verdana" panose="020B0604030504040204" pitchFamily="34" charset="0"/>
                    <a:cs typeface="Verdana" panose="020B0604030504040204" pitchFamily="34" charset="0"/>
                  </a:rPr>
                  <a:t> was reflected across the line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r>
                      <a:rPr lang="en-US" sz="2400" i="1">
                        <a:latin typeface="Cambria Math" panose="02040503050406030204" pitchFamily="18" charset="0"/>
                        <a:ea typeface="Times New Roman" panose="02020603050405020304" pitchFamily="18" charset="0"/>
                        <a:cs typeface="Arial" panose="020B0604020202020204" pitchFamily="34" charset="0"/>
                      </a:rPr>
                      <m:t> </m:t>
                    </m:r>
                  </m:oMath>
                </a14:m>
                <a:r>
                  <a:rPr lang="en-US" altLang="en-US" sz="2400" dirty="0">
                    <a:latin typeface="Verdana" panose="020B0604030504040204" pitchFamily="34" charset="0"/>
                    <a:ea typeface="Verdana" panose="020B0604030504040204" pitchFamily="34" charset="0"/>
                    <a:cs typeface="Verdana" panose="020B0604030504040204" pitchFamily="34" charset="0"/>
                  </a:rPr>
                  <a:t>to create </a:t>
                </a:r>
                <a:r>
                  <a:rPr lang="en-US" altLang="en-US" sz="2400" i="1" dirty="0">
                    <a:latin typeface="Verdana" panose="020B0604030504040204" pitchFamily="34" charset="0"/>
                    <a:ea typeface="Verdana" panose="020B0604030504040204" pitchFamily="34" charset="0"/>
                    <a:cs typeface="Verdana" panose="020B0604030504040204" pitchFamily="34" charset="0"/>
                  </a:rPr>
                  <a:t>∆K'W'D'</a:t>
                </a:r>
                <a:r>
                  <a:rPr lang="en-US" altLang="en-US" sz="2400" dirty="0">
                    <a:latin typeface="Verdana" panose="020B0604030504040204" pitchFamily="34" charset="0"/>
                    <a:ea typeface="Verdana" panose="020B0604030504040204" pitchFamily="34" charset="0"/>
                    <a:cs typeface="Verdana" panose="020B0604030504040204" pitchFamily="34" charset="0"/>
                  </a:rPr>
                  <a:t>.</a:t>
                </a: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2">
                <a:extLst>
                  <a:ext uri="{FF2B5EF4-FFF2-40B4-BE49-F238E27FC236}">
                    <a16:creationId xmlns:a16="http://schemas.microsoft.com/office/drawing/2014/main" id="{09360951-AF0E-BC4A-BC3A-3BDB5C3FBBBB}"/>
                  </a:ext>
                </a:extLst>
              </p:cNvPr>
              <p:cNvSpPr>
                <a:spLocks noRot="1" noChangeAspect="1" noMove="1" noResize="1" noEditPoints="1" noAdjustHandles="1" noChangeArrowheads="1" noChangeShapeType="1" noTextEdit="1"/>
              </p:cNvSpPr>
              <p:nvPr/>
            </p:nvSpPr>
            <p:spPr bwMode="auto">
              <a:xfrm>
                <a:off x="468662" y="287421"/>
                <a:ext cx="10914026" cy="1200329"/>
              </a:xfrm>
              <a:prstGeom prst="rect">
                <a:avLst/>
              </a:prstGeom>
              <a:blipFill>
                <a:blip r:embed="rId4"/>
                <a:stretch>
                  <a:fillRect l="-894" t="-3553" r="-3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4097" name="Picture 28" descr="Chart, line chart&#10;&#10;Description automatically generated">
            <a:extLst>
              <a:ext uri="{FF2B5EF4-FFF2-40B4-BE49-F238E27FC236}">
                <a16:creationId xmlns:a16="http://schemas.microsoft.com/office/drawing/2014/main" xmlns="" id="{12FB7AD8-26EC-DD49-9DF3-9E63E9A8F85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799524" y="1779415"/>
            <a:ext cx="4724400" cy="409505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C4C97DB1-FA48-0248-8B5E-7ED180C3632A}"/>
                  </a:ext>
                </a:extLst>
              </p:cNvPr>
              <p:cNvSpPr/>
              <p:nvPr/>
            </p:nvSpPr>
            <p:spPr>
              <a:xfrm>
                <a:off x="468662" y="1779415"/>
                <a:ext cx="6191600" cy="1938992"/>
              </a:xfrm>
              <a:prstGeom prst="rect">
                <a:avLst/>
              </a:prstGeom>
            </p:spPr>
            <p:txBody>
              <a:bodyPr wrap="square">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Use the coordinates to determine the algebraic description for a reflection across the line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14:m>
                  <m:oMathPara xmlns:m="http://schemas.openxmlformats.org/officeDocument/2006/math">
                    <m:oMathParaPr>
                      <m:jc m:val="centerGroup"/>
                    </m:oMathParaPr>
                    <m:oMath xmlns:m="http://schemas.openxmlformats.org/officeDocument/2006/math">
                      <m:d>
                        <m:dPr>
                          <m:ctrlPr>
                            <a:rPr lang="en-US" sz="2400" i="1">
                              <a:latin typeface="Cambria Math" charset="0"/>
                              <a:ea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𝑦</m:t>
                          </m:r>
                        </m:e>
                      </m:d>
                      <m:r>
                        <a:rPr lang="en-US" sz="2400" i="1">
                          <a:latin typeface="Cambria Math" panose="02040503050406030204" pitchFamily="18" charset="0"/>
                          <a:ea typeface="Times New Roman" panose="02020603050405020304" pitchFamily="18" charset="0"/>
                        </a:rPr>
                        <m:t>→</m:t>
                      </m:r>
                      <m:d>
                        <m:dPr>
                          <m:ctrlPr>
                            <a:rPr lang="en-US" sz="2400" i="1">
                              <a:latin typeface="Cambria Math" charset="0"/>
                              <a:ea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rPr>
                            <m:t>__________,_________</m:t>
                          </m:r>
                        </m:e>
                      </m: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Rectangle 3">
                <a:extLst>
                  <a:ext uri="{FF2B5EF4-FFF2-40B4-BE49-F238E27FC236}">
                    <a16:creationId xmlns:a16="http://schemas.microsoft.com/office/drawing/2014/main" id="{C4C97DB1-FA48-0248-8B5E-7ED180C3632A}"/>
                  </a:ext>
                </a:extLst>
              </p:cNvPr>
              <p:cNvSpPr>
                <a:spLocks noRot="1" noChangeAspect="1" noMove="1" noResize="1" noEditPoints="1" noAdjustHandles="1" noChangeArrowheads="1" noChangeShapeType="1" noTextEdit="1"/>
              </p:cNvSpPr>
              <p:nvPr/>
            </p:nvSpPr>
            <p:spPr>
              <a:xfrm>
                <a:off x="468662" y="1779415"/>
                <a:ext cx="6191600" cy="1938992"/>
              </a:xfrm>
              <a:prstGeom prst="rect">
                <a:avLst/>
              </a:prstGeom>
              <a:blipFill>
                <a:blip r:embed="rId6"/>
                <a:stretch>
                  <a:fillRect t="-2516" b="-2201"/>
                </a:stretch>
              </a:blipFill>
            </p:spPr>
            <p:txBody>
              <a:bodyPr/>
              <a:lstStyle/>
              <a:p>
                <a:r>
                  <a:rPr lang="en-US">
                    <a:noFill/>
                  </a:rPr>
                  <a:t> </a:t>
                </a:r>
              </a:p>
            </p:txBody>
          </p:sp>
        </mc:Fallback>
      </mc:AlternateContent>
    </p:spTree>
    <p:extLst>
      <p:ext uri="{BB962C8B-B14F-4D97-AF65-F5344CB8AC3E}">
        <p14:creationId xmlns:p14="http://schemas.microsoft.com/office/powerpoint/2010/main" val="1345746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B74EB5C6-2FDE-474B-866F-02AD6706D73C}"/>
                  </a:ext>
                </a:extLst>
              </p:cNvPr>
              <p:cNvSpPr txBox="1"/>
              <p:nvPr/>
            </p:nvSpPr>
            <p:spPr>
              <a:xfrm>
                <a:off x="258640" y="371057"/>
                <a:ext cx="11369510" cy="830997"/>
              </a:xfrm>
              <a:prstGeom prst="rect">
                <a:avLst/>
              </a:prstGeom>
              <a:noFill/>
            </p:spPr>
            <p:txBody>
              <a:bodyPr wrap="square" rtlCol="0">
                <a:spAutoFit/>
              </a:bodyPr>
              <a:lstStyle/>
              <a:p>
                <a:pPr marL="403225" indent="-390525"/>
                <a:r>
                  <a:rPr lang="en-US" sz="2400" dirty="0">
                    <a:latin typeface="Verdana" panose="020B0604030504040204" pitchFamily="34" charset="0"/>
                    <a:ea typeface="Verdana" panose="020B0604030504040204" pitchFamily="34" charset="0"/>
                    <a:cs typeface="Verdana" panose="020B0604030504040204" pitchFamily="34" charset="0"/>
                  </a:rPr>
                  <a:t>5. Triangles </a:t>
                </a:r>
                <a14:m>
                  <m:oMath xmlns:m="http://schemas.openxmlformats.org/officeDocument/2006/math">
                    <m:r>
                      <a:rPr lang="en-US" sz="2400" i="1">
                        <a:latin typeface="Cambria Math" panose="02040503050406030204" pitchFamily="18" charset="0"/>
                      </a:rPr>
                      <m:t>𝐻𝑆𝑉</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𝑃𝐾𝑋</m:t>
                    </m:r>
                  </m:oMath>
                </a14:m>
                <a:r>
                  <a:rPr lang="en-US" sz="2400" dirty="0">
                    <a:latin typeface="Verdana" panose="020B0604030504040204" pitchFamily="34" charset="0"/>
                    <a:ea typeface="Verdana" panose="020B0604030504040204" pitchFamily="34" charset="0"/>
                    <a:cs typeface="Verdana" panose="020B0604030504040204" pitchFamily="34" charset="0"/>
                  </a:rPr>
                  <a:t> are shown on the coordinate grid. Triangle </a:t>
                </a:r>
                <a14:m>
                  <m:oMath xmlns:m="http://schemas.openxmlformats.org/officeDocument/2006/math">
                    <m:r>
                      <a:rPr lang="en-US" sz="2400" i="1">
                        <a:latin typeface="Cambria Math" panose="02040503050406030204" pitchFamily="18" charset="0"/>
                      </a:rPr>
                      <m:t>𝐻𝑆𝑉</m:t>
                    </m:r>
                  </m:oMath>
                </a14:m>
                <a:r>
                  <a:rPr lang="en-US" sz="2400" dirty="0">
                    <a:latin typeface="Verdana" panose="020B0604030504040204" pitchFamily="34" charset="0"/>
                    <a:ea typeface="Verdana" panose="020B0604030504040204" pitchFamily="34" charset="0"/>
                    <a:cs typeface="Verdana" panose="020B0604030504040204" pitchFamily="34" charset="0"/>
                  </a:rPr>
                  <a:t> was reflected across the line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to create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𝑃𝐾𝑋</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258640" y="371057"/>
                <a:ext cx="11369510" cy="830997"/>
              </a:xfrm>
              <a:prstGeom prst="rect">
                <a:avLst/>
              </a:prstGeom>
              <a:blipFill>
                <a:blip r:embed="rId4"/>
                <a:stretch>
                  <a:fillRect l="-697" t="-6618" b="-154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0BC5C91C-FE0C-694A-85BE-C619B90D49A7}"/>
                  </a:ext>
                </a:extLst>
              </p:cNvPr>
              <p:cNvSpPr/>
              <p:nvPr/>
            </p:nvSpPr>
            <p:spPr>
              <a:xfrm>
                <a:off x="258640" y="2119550"/>
                <a:ext cx="6348637" cy="1938992"/>
              </a:xfrm>
              <a:prstGeom prst="rect">
                <a:avLst/>
              </a:prstGeom>
            </p:spPr>
            <p:txBody>
              <a:bodyPr wrap="square">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Use the coordinates to determine the algebraic description for a reflection across the line </a:t>
                </a:r>
                <a14:m>
                  <m:oMath xmlns:m="http://schemas.openxmlformats.org/officeDocument/2006/math">
                    <m:r>
                      <a:rPr lang="en-US" sz="2400" i="1">
                        <a:latin typeface="Cambria Math" panose="02040503050406030204" pitchFamily="18" charset="0"/>
                        <a:ea typeface="Times New Roman" panose="02020603050405020304" pitchFamily="18" charset="0"/>
                        <a:cs typeface="Arial" panose="020B0604020202020204" pitchFamily="34" charset="0"/>
                      </a:rPr>
                      <m:t>𝑦</m:t>
                    </m:r>
                    <m:r>
                      <a:rPr lang="en-US" sz="2400" i="1">
                        <a:latin typeface="Cambria Math" panose="02040503050406030204" pitchFamily="18" charset="0"/>
                        <a:ea typeface="Times New Roman" panose="02020603050405020304" pitchFamily="18" charset="0"/>
                        <a:cs typeface="Arial" panose="020B0604020202020204" pitchFamily="34" charset="0"/>
                      </a:rPr>
                      <m:t>=−</m:t>
                    </m:r>
                    <m:r>
                      <a:rPr lang="en-US" sz="2400" i="1">
                        <a:latin typeface="Cambria Math" panose="02040503050406030204" pitchFamily="18" charset="0"/>
                        <a:ea typeface="Times New Roman" panose="02020603050405020304" pitchFamily="18" charset="0"/>
                        <a:cs typeface="Arial" panose="020B0604020202020204" pitchFamily="34"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14:m>
                  <m:oMathPara xmlns:m="http://schemas.openxmlformats.org/officeDocument/2006/math">
                    <m:oMathParaPr>
                      <m:jc m:val="centerGroup"/>
                    </m:oMathParaPr>
                    <m:oMath xmlns:m="http://schemas.openxmlformats.org/officeDocument/2006/math">
                      <m:d>
                        <m:dPr>
                          <m:ctrlPr>
                            <a:rPr lang="en-US" sz="2400" i="1">
                              <a:latin typeface="Cambria Math" charset="0"/>
                              <a:ea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rPr>
                            <m:t>𝑥</m:t>
                          </m:r>
                          <m:r>
                            <a:rPr lang="en-US" sz="2400" i="1">
                              <a:latin typeface="Cambria Math" panose="02040503050406030204" pitchFamily="18" charset="0"/>
                              <a:ea typeface="Times New Roman" panose="02020603050405020304" pitchFamily="18" charset="0"/>
                            </a:rPr>
                            <m:t>,</m:t>
                          </m:r>
                          <m:r>
                            <a:rPr lang="en-US" sz="2400" i="1">
                              <a:latin typeface="Cambria Math" panose="02040503050406030204" pitchFamily="18" charset="0"/>
                              <a:ea typeface="Times New Roman" panose="02020603050405020304" pitchFamily="18" charset="0"/>
                            </a:rPr>
                            <m:t>𝑦</m:t>
                          </m:r>
                        </m:e>
                      </m:d>
                      <m:r>
                        <a:rPr lang="en-US" sz="2400" i="1">
                          <a:latin typeface="Cambria Math" panose="02040503050406030204" pitchFamily="18" charset="0"/>
                          <a:ea typeface="Times New Roman" panose="02020603050405020304" pitchFamily="18" charset="0"/>
                        </a:rPr>
                        <m:t>→</m:t>
                      </m:r>
                      <m:d>
                        <m:dPr>
                          <m:ctrlPr>
                            <a:rPr lang="en-US" sz="2400" i="1">
                              <a:latin typeface="Cambria Math" charset="0"/>
                              <a:ea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rPr>
                            <m:t>__________,_________</m:t>
                          </m:r>
                        </m:e>
                      </m: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0BC5C91C-FE0C-694A-85BE-C619B90D49A7}"/>
                  </a:ext>
                </a:extLst>
              </p:cNvPr>
              <p:cNvSpPr>
                <a:spLocks noRot="1" noChangeAspect="1" noMove="1" noResize="1" noEditPoints="1" noAdjustHandles="1" noChangeArrowheads="1" noChangeShapeType="1" noTextEdit="1"/>
              </p:cNvSpPr>
              <p:nvPr/>
            </p:nvSpPr>
            <p:spPr>
              <a:xfrm>
                <a:off x="258640" y="2119550"/>
                <a:ext cx="6348637" cy="1938992"/>
              </a:xfrm>
              <a:prstGeom prst="rect">
                <a:avLst/>
              </a:prstGeom>
              <a:blipFill>
                <a:blip r:embed="rId5"/>
                <a:stretch>
                  <a:fillRect t="-2516" b="-2201"/>
                </a:stretch>
              </a:blipFill>
            </p:spPr>
            <p:txBody>
              <a:bodyPr/>
              <a:lstStyle/>
              <a:p>
                <a:r>
                  <a:rPr lang="en-US">
                    <a:noFill/>
                  </a:rPr>
                  <a:t> </a:t>
                </a:r>
              </a:p>
            </p:txBody>
          </p:sp>
        </mc:Fallback>
      </mc:AlternateContent>
      <p:pic>
        <p:nvPicPr>
          <p:cNvPr id="7" name="Picture 6" descr="Chart, line chart&#10;&#10;Description automatically generated">
            <a:extLst>
              <a:ext uri="{FF2B5EF4-FFF2-40B4-BE49-F238E27FC236}">
                <a16:creationId xmlns:a16="http://schemas.microsoft.com/office/drawing/2014/main" xmlns="" id="{FA228E3A-65E3-DA4C-81BB-88E2E2F9E22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759198" y="1815809"/>
            <a:ext cx="4868952" cy="40282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2976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xmlns=""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12703"/>
            <a:ext cx="108365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4.2.3 Bring It Together: Algebraic Descriptions for Reflections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16A25685-3345-654B-A736-F6F1FB2F3072}"/>
                  </a:ext>
                </a:extLst>
              </p:cNvPr>
              <p:cNvGraphicFramePr>
                <a:graphicFrameLocks noGrp="1"/>
              </p:cNvGraphicFramePr>
              <p:nvPr>
                <p:extLst>
                  <p:ext uri="{D42A27DB-BD31-4B8C-83A1-F6EECF244321}">
                    <p14:modId xmlns:p14="http://schemas.microsoft.com/office/powerpoint/2010/main" val="1711987410"/>
                  </p:ext>
                </p:extLst>
              </p:nvPr>
            </p:nvGraphicFramePr>
            <p:xfrm>
              <a:off x="569600" y="1195272"/>
              <a:ext cx="8502351" cy="4918367"/>
            </p:xfrm>
            <a:graphic>
              <a:graphicData uri="http://schemas.openxmlformats.org/drawingml/2006/table">
                <a:tbl>
                  <a:tblPr firstRow="1" firstCol="1" bandRow="1">
                    <a:tableStyleId>{A91F0D33-8C57-4600-99A7-42BC86742BE1}</a:tableStyleId>
                  </a:tblPr>
                  <a:tblGrid>
                    <a:gridCol w="4274198">
                      <a:extLst>
                        <a:ext uri="{9D8B030D-6E8A-4147-A177-3AD203B41FA5}">
                          <a16:colId xmlns:a16="http://schemas.microsoft.com/office/drawing/2014/main" xmlns="" val="1705228652"/>
                        </a:ext>
                      </a:extLst>
                    </a:gridCol>
                    <a:gridCol w="4228153">
                      <a:extLst>
                        <a:ext uri="{9D8B030D-6E8A-4147-A177-3AD203B41FA5}">
                          <a16:colId xmlns:a16="http://schemas.microsoft.com/office/drawing/2014/main" xmlns="" val="4094890191"/>
                        </a:ext>
                      </a:extLst>
                    </a:gridCol>
                  </a:tblGrid>
                  <a:tr h="342851">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Reflections</a:t>
                          </a:r>
                        </a:p>
                      </a:txBody>
                      <a:tcPr marL="51350" marR="51350" marT="0" marB="0" anchor="ctr">
                        <a:solidFill>
                          <a:srgbClr val="BFBFBF"/>
                        </a:solidFill>
                      </a:tcPr>
                    </a:tc>
                    <a:tc hMerge="1">
                      <a:txBody>
                        <a:bodyPr/>
                        <a:lstStyle/>
                        <a:p>
                          <a:endParaRPr lang="en-US"/>
                        </a:p>
                      </a:txBody>
                      <a:tcPr/>
                    </a:tc>
                    <a:extLst>
                      <a:ext uri="{0D108BD9-81ED-4DB2-BD59-A6C34878D82A}">
                        <a16:rowId xmlns:a16="http://schemas.microsoft.com/office/drawing/2014/main" xmlns="" val="117581719"/>
                      </a:ext>
                    </a:extLst>
                  </a:tr>
                  <a:tr h="34285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Across the</a:t>
                          </a:r>
                          <a14:m>
                            <m:oMath xmlns:m="http://schemas.openxmlformats.org/officeDocument/2006/math">
                              <m:r>
                                <a:rPr lang="en-US" sz="2000" b="1" i="0" dirty="0" smtClean="0">
                                  <a:effectLst/>
                                  <a:latin typeface="Cambria Math" panose="02040503050406030204" pitchFamily="18" charset="0"/>
                                </a:rPr>
                                <m:t> </m:t>
                              </m:r>
                              <m:r>
                                <a:rPr lang="en-US" sz="2000" b="1" i="1" dirty="0" smtClean="0">
                                  <a:effectLst/>
                                  <a:latin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-axis</a:t>
                          </a:r>
                        </a:p>
                      </a:txBody>
                      <a:tcPr marL="51350" marR="51350" marT="0" marB="0" anchor="ctr">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Across the</a:t>
                          </a:r>
                          <a14:m>
                            <m:oMath xmlns:m="http://schemas.openxmlformats.org/officeDocument/2006/math">
                              <m:r>
                                <a:rPr lang="en-US" sz="2000" b="1" i="0" dirty="0" smtClean="0">
                                  <a:effectLst/>
                                  <a:latin typeface="Cambria Math" panose="02040503050406030204" pitchFamily="18" charset="0"/>
                                </a:rPr>
                                <m:t> </m:t>
                              </m:r>
                              <m:r>
                                <a:rPr lang="en-US" sz="2000" b="1" i="1" dirty="0" smtClean="0">
                                  <a:effectLst/>
                                  <a:latin typeface="Cambria Math" panose="02040503050406030204" pitchFamily="18" charset="0"/>
                                </a:rPr>
                                <m:t>𝒚</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-axis</a:t>
                          </a:r>
                        </a:p>
                      </a:txBody>
                      <a:tcPr marL="51350" marR="51350" marT="0" marB="0" anchor="ctr">
                        <a:solidFill>
                          <a:srgbClr val="BFBFBF"/>
                        </a:solidFill>
                      </a:tcPr>
                    </a:tc>
                    <a:extLst>
                      <a:ext uri="{0D108BD9-81ED-4DB2-BD59-A6C34878D82A}">
                        <a16:rowId xmlns:a16="http://schemas.microsoft.com/office/drawing/2014/main" xmlns="" val="3279480163"/>
                      </a:ext>
                    </a:extLst>
                  </a:tr>
                  <a:tr h="1259205">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a:t>
                          </a:r>
                          <a14:m>
                            <m:oMath xmlns:m="http://schemas.openxmlformats.org/officeDocument/2006/math">
                              <m:r>
                                <a:rPr lang="en-US" sz="2000">
                                  <a:effectLst/>
                                  <a:latin typeface="Cambria Math" panose="02040503050406030204" pitchFamily="18" charset="0"/>
                                </a:rPr>
                                <m:t>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coordinate changes to its __________.</a:t>
                          </a:r>
                        </a:p>
                      </a:txBody>
                      <a:tcPr marL="51350" marR="51350" marT="0" marB="0" anchor="ctr">
                        <a:lnB w="12700" cap="flat" cmpd="sng" algn="ctr">
                          <a:noFill/>
                          <a:prstDash val="solid"/>
                          <a:round/>
                          <a:headEnd type="none" w="med" len="med"/>
                          <a:tailEnd type="none" w="med" len="med"/>
                        </a:lnB>
                      </a:tcPr>
                    </a:tc>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The </a:t>
                          </a:r>
                          <a14:m>
                            <m:oMath xmlns:m="http://schemas.openxmlformats.org/officeDocument/2006/math">
                              <m:r>
                                <a:rPr lang="en-US" sz="2000">
                                  <a:effectLst/>
                                  <a:latin typeface="Cambria Math" panose="02040503050406030204" pitchFamily="18" charset="0"/>
                                </a:rPr>
                                <m:t>_____−</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coordinate changes to its __________.</a:t>
                          </a:r>
                        </a:p>
                      </a:txBody>
                      <a:tcPr marL="51350" marR="51350" marT="0" marB="0" anchor="ctr">
                        <a:lnB w="12700" cap="flat" cmpd="sng" algn="ctr">
                          <a:noFill/>
                          <a:prstDash val="solid"/>
                          <a:round/>
                          <a:headEnd type="none" w="med" len="med"/>
                          <a:tailEnd type="none" w="med" len="med"/>
                        </a:lnB>
                      </a:tcPr>
                    </a:tc>
                    <a:extLst>
                      <a:ext uri="{0D108BD9-81ED-4DB2-BD59-A6C34878D82A}">
                        <a16:rowId xmlns:a16="http://schemas.microsoft.com/office/drawing/2014/main" xmlns="" val="431693609"/>
                      </a:ext>
                    </a:extLst>
                  </a:tr>
                  <a:tr h="685702">
                    <a:tc>
                      <a:txBody>
                        <a:bodyPr/>
                        <a:lstStyle/>
                        <a:p>
                          <a:pPr marL="0" marR="0" algn="ctr">
                            <a:lnSpc>
                              <a:spcPct val="2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m:t>
                                </m:r>
                                <m:d>
                                  <m:dPr>
                                    <m:ctrlPr>
                                      <a:rPr lang="en-US" sz="2000" i="1">
                                        <a:effectLst/>
                                        <a:latin typeface="Cambria Math" charset="0"/>
                                      </a:rPr>
                                    </m:ctrlPr>
                                  </m:dPr>
                                  <m:e>
                                    <m:r>
                                      <a:rPr lang="en-US" sz="2000">
                                        <a:effectLst/>
                                        <a:latin typeface="Cambria Math" panose="02040503050406030204" pitchFamily="18" charset="0"/>
                                      </a:rPr>
                                      <m:t>_____,_____</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lnT w="12700" cap="flat" cmpd="sng" algn="ctr">
                          <a:noFill/>
                          <a:prstDash val="solid"/>
                          <a:round/>
                          <a:headEnd type="none" w="med" len="med"/>
                          <a:tailEnd type="none" w="med" len="med"/>
                        </a:lnT>
                      </a:tcPr>
                    </a:tc>
                    <a:tc>
                      <a:txBody>
                        <a:bodyPr/>
                        <a:lstStyle/>
                        <a:p>
                          <a:pPr marL="0" marR="0" algn="ctr">
                            <a:lnSpc>
                              <a:spcPct val="2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m:t>
                                </m:r>
                                <m:d>
                                  <m:dPr>
                                    <m:ctrlPr>
                                      <a:rPr lang="en-US" sz="2000" i="1">
                                        <a:effectLst/>
                                        <a:latin typeface="Cambria Math" charset="0"/>
                                      </a:rPr>
                                    </m:ctrlPr>
                                  </m:dPr>
                                  <m:e>
                                    <m:r>
                                      <a:rPr lang="en-US" sz="2000">
                                        <a:effectLst/>
                                        <a:latin typeface="Cambria Math" panose="02040503050406030204" pitchFamily="18" charset="0"/>
                                      </a:rPr>
                                      <m:t>_____,_____</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lnT w="12700" cap="flat" cmpd="sng" algn="ctr">
                          <a:noFill/>
                          <a:prstDash val="solid"/>
                          <a:round/>
                          <a:headEnd type="none" w="med" len="med"/>
                          <a:tailEnd type="none" w="med" len="med"/>
                        </a:lnT>
                      </a:tcPr>
                    </a:tc>
                    <a:extLst>
                      <a:ext uri="{0D108BD9-81ED-4DB2-BD59-A6C34878D82A}">
                        <a16:rowId xmlns:a16="http://schemas.microsoft.com/office/drawing/2014/main" xmlns="" val="101318198"/>
                      </a:ext>
                    </a:extLst>
                  </a:tr>
                  <a:tr h="34285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Across </a:t>
                          </a:r>
                          <a14:m>
                            <m:oMath xmlns:m="http://schemas.openxmlformats.org/officeDocument/2006/math">
                              <m:r>
                                <a:rPr lang="en-US" sz="2000" b="1" i="1" dirty="0" smtClean="0">
                                  <a:effectLst/>
                                  <a:latin typeface="Cambria Math" panose="02040503050406030204" pitchFamily="18" charset="0"/>
                                </a:rPr>
                                <m:t>𝒚</m:t>
                              </m:r>
                              <m:r>
                                <a:rPr lang="en-US" sz="2000" b="1" i="1" dirty="0" smtClean="0">
                                  <a:effectLst/>
                                  <a:latin typeface="Cambria Math" panose="02040503050406030204" pitchFamily="18" charset="0"/>
                                </a:rPr>
                                <m:t>=</m:t>
                              </m:r>
                              <m:r>
                                <a:rPr lang="en-US" sz="2000" b="1" i="1" dirty="0" smtClean="0">
                                  <a:effectLst/>
                                  <a:latin typeface="Cambria Math" panose="02040503050406030204" pitchFamily="18" charset="0"/>
                                </a:rPr>
                                <m:t>𝒙</m:t>
                              </m:r>
                            </m:oMath>
                          </a14:m>
                          <a:endParaRPr lang="en-US" sz="2000" b="1" i="0" dirty="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solidFill>
                          <a:srgbClr val="BFBFBF"/>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Across</a:t>
                          </a:r>
                          <a14:m>
                            <m:oMath xmlns:m="http://schemas.openxmlformats.org/officeDocument/2006/math">
                              <m:r>
                                <a:rPr lang="en-US" sz="2000" b="1" i="0" dirty="0" smtClean="0">
                                  <a:effectLst/>
                                  <a:latin typeface="Cambria Math" panose="02040503050406030204" pitchFamily="18" charset="0"/>
                                </a:rPr>
                                <m:t> </m:t>
                              </m:r>
                              <m:r>
                                <a:rPr lang="en-US" sz="2000" b="1" i="1" dirty="0" smtClean="0">
                                  <a:effectLst/>
                                  <a:latin typeface="Cambria Math" panose="02040503050406030204" pitchFamily="18" charset="0"/>
                                </a:rPr>
                                <m:t>𝒚</m:t>
                              </m:r>
                              <m:r>
                                <a:rPr lang="en-US" sz="2000" b="1" i="1" dirty="0" smtClean="0">
                                  <a:effectLst/>
                                  <a:latin typeface="Cambria Math" panose="02040503050406030204" pitchFamily="18" charset="0"/>
                                </a:rPr>
                                <m:t>=</m:t>
                              </m:r>
                              <m:r>
                                <a:rPr lang="en-US" sz="2000" b="1" i="1" dirty="0" smtClean="0">
                                  <a:effectLst/>
                                  <a:latin typeface="Cambria Math" panose="02040503050406030204" pitchFamily="18" charset="0"/>
                                </a:rPr>
                                <m:t>𝒙</m:t>
                              </m:r>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solidFill>
                          <a:srgbClr val="BFBFBF"/>
                        </a:solidFill>
                      </a:tcPr>
                    </a:tc>
                    <a:extLst>
                      <a:ext uri="{0D108BD9-81ED-4DB2-BD59-A6C34878D82A}">
                        <a16:rowId xmlns:a16="http://schemas.microsoft.com/office/drawing/2014/main" xmlns="" val="626100611"/>
                      </a:ext>
                    </a:extLst>
                  </a:tr>
                  <a:tr h="1259205">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coordinates _________.</a:t>
                          </a:r>
                        </a:p>
                      </a:txBody>
                      <a:tcPr marL="51350" marR="51350" marT="0" marB="0" anchor="ctr">
                        <a:lnB w="12700" cap="flat" cmpd="sng" algn="ctr">
                          <a:noFill/>
                          <a:prstDash val="solid"/>
                          <a:round/>
                          <a:headEnd type="none" w="med" len="med"/>
                          <a:tailEnd type="none" w="med" len="med"/>
                        </a:lnB>
                      </a:tcPr>
                    </a:tc>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coordinates _________ and become ___________.</a:t>
                          </a:r>
                        </a:p>
                      </a:txBody>
                      <a:tcPr marL="51350" marR="51350" marT="0" marB="0" anchor="ctr">
                        <a:lnB w="12700" cap="flat" cmpd="sng" algn="ctr">
                          <a:noFill/>
                          <a:prstDash val="solid"/>
                          <a:round/>
                          <a:headEnd type="none" w="med" len="med"/>
                          <a:tailEnd type="none" w="med" len="med"/>
                        </a:lnB>
                      </a:tcPr>
                    </a:tc>
                    <a:extLst>
                      <a:ext uri="{0D108BD9-81ED-4DB2-BD59-A6C34878D82A}">
                        <a16:rowId xmlns:a16="http://schemas.microsoft.com/office/drawing/2014/main" xmlns="" val="3637106426"/>
                      </a:ext>
                    </a:extLst>
                  </a:tr>
                  <a:tr h="685702">
                    <a:tc>
                      <a:txBody>
                        <a:bodyPr/>
                        <a:lstStyle/>
                        <a:p>
                          <a:pPr marL="0" marR="0" algn="ctr">
                            <a:lnSpc>
                              <a:spcPct val="2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m:t>
                                </m:r>
                                <m:d>
                                  <m:dPr>
                                    <m:ctrlPr>
                                      <a:rPr lang="en-US" sz="2000" i="1">
                                        <a:effectLst/>
                                        <a:latin typeface="Cambria Math" charset="0"/>
                                      </a:rPr>
                                    </m:ctrlPr>
                                  </m:dPr>
                                  <m:e>
                                    <m:r>
                                      <a:rPr lang="en-US" sz="2000">
                                        <a:effectLst/>
                                        <a:latin typeface="Cambria Math" panose="02040503050406030204" pitchFamily="18" charset="0"/>
                                      </a:rPr>
                                      <m:t>_____,_____</m:t>
                                    </m:r>
                                  </m:e>
                                </m:d>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lnT w="12700" cap="flat" cmpd="sng" algn="ctr">
                          <a:noFill/>
                          <a:prstDash val="solid"/>
                          <a:round/>
                          <a:headEnd type="none" w="med" len="med"/>
                          <a:tailEnd type="none" w="med" len="med"/>
                        </a:lnT>
                      </a:tcPr>
                    </a:tc>
                    <a:tc>
                      <a:txBody>
                        <a:bodyPr/>
                        <a:lstStyle/>
                        <a:p>
                          <a:pPr marL="0" marR="0" algn="ctr">
                            <a:lnSpc>
                              <a:spcPct val="2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m:t>
                                </m:r>
                                <m:d>
                                  <m:dPr>
                                    <m:ctrlPr>
                                      <a:rPr lang="en-US" sz="2000" i="1">
                                        <a:effectLst/>
                                        <a:latin typeface="Cambria Math" charset="0"/>
                                      </a:rPr>
                                    </m:ctrlPr>
                                  </m:dPr>
                                  <m:e>
                                    <m:r>
                                      <a:rPr lang="en-US" sz="2000">
                                        <a:effectLst/>
                                        <a:latin typeface="Cambria Math" panose="02040503050406030204" pitchFamily="18" charset="0"/>
                                      </a:rPr>
                                      <m:t>_____,_____</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51350" marR="51350" marT="0" marB="0" anchor="ctr">
                        <a:lnT w="12700" cap="flat" cmpd="sng" algn="ctr">
                          <a:noFill/>
                          <a:prstDash val="solid"/>
                          <a:round/>
                          <a:headEnd type="none" w="med" len="med"/>
                          <a:tailEnd type="none" w="med" len="med"/>
                        </a:lnT>
                      </a:tcPr>
                    </a:tc>
                    <a:extLst>
                      <a:ext uri="{0D108BD9-81ED-4DB2-BD59-A6C34878D82A}">
                        <a16:rowId xmlns:a16="http://schemas.microsoft.com/office/drawing/2014/main" xmlns="" val="2635976746"/>
                      </a:ext>
                    </a:extLst>
                  </a:tr>
                </a:tbl>
              </a:graphicData>
            </a:graphic>
          </p:graphicFrame>
        </mc:Choice>
        <mc:Fallback xmlns="">
          <p:graphicFrame>
            <p:nvGraphicFramePr>
              <p:cNvPr id="2" name="Table 1">
                <a:extLst>
                  <a:ext uri="{FF2B5EF4-FFF2-40B4-BE49-F238E27FC236}">
                    <a16:creationId xmlns:a16="http://schemas.microsoft.com/office/drawing/2014/main" id="{16A25685-3345-654B-A736-F6F1FB2F3072}"/>
                  </a:ext>
                </a:extLst>
              </p:cNvPr>
              <p:cNvGraphicFramePr>
                <a:graphicFrameLocks noGrp="1"/>
              </p:cNvGraphicFramePr>
              <p:nvPr>
                <p:extLst>
                  <p:ext uri="{D42A27DB-BD31-4B8C-83A1-F6EECF244321}">
                    <p14:modId xmlns:p14="http://schemas.microsoft.com/office/powerpoint/2010/main" val="1711987410"/>
                  </p:ext>
                </p:extLst>
              </p:nvPr>
            </p:nvGraphicFramePr>
            <p:xfrm>
              <a:off x="569600" y="1195272"/>
              <a:ext cx="8502351" cy="4918367"/>
            </p:xfrm>
            <a:graphic>
              <a:graphicData uri="http://schemas.openxmlformats.org/drawingml/2006/table">
                <a:tbl>
                  <a:tblPr firstRow="1" firstCol="1" bandRow="1">
                    <a:tableStyleId>{A91F0D33-8C57-4600-99A7-42BC86742BE1}</a:tableStyleId>
                  </a:tblPr>
                  <a:tblGrid>
                    <a:gridCol w="4274198">
                      <a:extLst>
                        <a:ext uri="{9D8B030D-6E8A-4147-A177-3AD203B41FA5}">
                          <a16:colId xmlns:a16="http://schemas.microsoft.com/office/drawing/2014/main" val="1705228652"/>
                        </a:ext>
                      </a:extLst>
                    </a:gridCol>
                    <a:gridCol w="4228153">
                      <a:extLst>
                        <a:ext uri="{9D8B030D-6E8A-4147-A177-3AD203B41FA5}">
                          <a16:colId xmlns:a16="http://schemas.microsoft.com/office/drawing/2014/main" val="4094890191"/>
                        </a:ext>
                      </a:extLst>
                    </a:gridCol>
                  </a:tblGrid>
                  <a:tr h="342851">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Reflections</a:t>
                          </a:r>
                        </a:p>
                      </a:txBody>
                      <a:tcPr marL="51350" marR="51350" marT="0" marB="0" anchor="ctr">
                        <a:solidFill>
                          <a:srgbClr val="BFBFBF"/>
                        </a:solidFill>
                      </a:tcPr>
                    </a:tc>
                    <a:tc hMerge="1">
                      <a:txBody>
                        <a:bodyPr/>
                        <a:lstStyle/>
                        <a:p>
                          <a:endParaRPr lang="en-US"/>
                        </a:p>
                      </a:txBody>
                      <a:tcPr/>
                    </a:tc>
                    <a:extLst>
                      <a:ext uri="{0D108BD9-81ED-4DB2-BD59-A6C34878D82A}">
                        <a16:rowId xmlns:a16="http://schemas.microsoft.com/office/drawing/2014/main" val="117581719"/>
                      </a:ext>
                    </a:extLst>
                  </a:tr>
                  <a:tr h="342851">
                    <a:tc>
                      <a:txBody>
                        <a:bodyPr/>
                        <a:lstStyle/>
                        <a:p>
                          <a:endParaRPr lang="en-US"/>
                        </a:p>
                      </a:txBody>
                      <a:tcPr marL="51350" marR="51350" marT="0" marB="0" anchor="ctr">
                        <a:blipFill>
                          <a:blip r:embed="rId4"/>
                          <a:stretch>
                            <a:fillRect l="-142" t="-115789" r="-99003" b="-1221053"/>
                          </a:stretch>
                        </a:blipFill>
                      </a:tcPr>
                    </a:tc>
                    <a:tc>
                      <a:txBody>
                        <a:bodyPr/>
                        <a:lstStyle/>
                        <a:p>
                          <a:endParaRPr lang="en-US"/>
                        </a:p>
                      </a:txBody>
                      <a:tcPr marL="51350" marR="51350" marT="0" marB="0" anchor="ctr">
                        <a:blipFill>
                          <a:blip r:embed="rId4"/>
                          <a:stretch>
                            <a:fillRect l="-101297" t="-115789" r="-144" b="-1221053"/>
                          </a:stretch>
                        </a:blipFill>
                      </a:tcPr>
                    </a:tc>
                    <a:extLst>
                      <a:ext uri="{0D108BD9-81ED-4DB2-BD59-A6C34878D82A}">
                        <a16:rowId xmlns:a16="http://schemas.microsoft.com/office/drawing/2014/main" val="3279480163"/>
                      </a:ext>
                    </a:extLst>
                  </a:tr>
                  <a:tr h="1259205">
                    <a:tc>
                      <a:txBody>
                        <a:bodyPr/>
                        <a:lstStyle/>
                        <a:p>
                          <a:endParaRPr lang="en-US"/>
                        </a:p>
                      </a:txBody>
                      <a:tcPr marL="51350" marR="51350" marT="0" marB="0" anchor="ctr">
                        <a:lnB w="12700" cap="flat" cmpd="sng" algn="ctr">
                          <a:noFill/>
                          <a:prstDash val="solid"/>
                          <a:round/>
                          <a:headEnd type="none" w="med" len="med"/>
                          <a:tailEnd type="none" w="med" len="med"/>
                        </a:lnB>
                        <a:blipFill>
                          <a:blip r:embed="rId4"/>
                          <a:stretch>
                            <a:fillRect l="-142" t="-59709" r="-99003" b="-237864"/>
                          </a:stretch>
                        </a:blipFill>
                      </a:tcPr>
                    </a:tc>
                    <a:tc>
                      <a:txBody>
                        <a:bodyPr/>
                        <a:lstStyle/>
                        <a:p>
                          <a:endParaRPr lang="en-US"/>
                        </a:p>
                      </a:txBody>
                      <a:tcPr marL="51350" marR="51350" marT="0" marB="0" anchor="ctr">
                        <a:lnB w="12700" cap="flat" cmpd="sng" algn="ctr">
                          <a:noFill/>
                          <a:prstDash val="solid"/>
                          <a:round/>
                          <a:headEnd type="none" w="med" len="med"/>
                          <a:tailEnd type="none" w="med" len="med"/>
                        </a:lnB>
                        <a:blipFill>
                          <a:blip r:embed="rId4"/>
                          <a:stretch>
                            <a:fillRect l="-101297" t="-59709" r="-144" b="-237864"/>
                          </a:stretch>
                        </a:blipFill>
                      </a:tcPr>
                    </a:tc>
                    <a:extLst>
                      <a:ext uri="{0D108BD9-81ED-4DB2-BD59-A6C34878D82A}">
                        <a16:rowId xmlns:a16="http://schemas.microsoft.com/office/drawing/2014/main" val="431693609"/>
                      </a:ext>
                    </a:extLst>
                  </a:tr>
                  <a:tr h="685702">
                    <a:tc>
                      <a:txBody>
                        <a:bodyPr/>
                        <a:lstStyle/>
                        <a:p>
                          <a:endParaRPr lang="en-US"/>
                        </a:p>
                      </a:txBody>
                      <a:tcPr marL="51350" marR="51350" marT="0" marB="0" anchor="ctr">
                        <a:lnT w="12700" cap="flat" cmpd="sng" algn="ctr">
                          <a:noFill/>
                          <a:prstDash val="solid"/>
                          <a:round/>
                          <a:headEnd type="none" w="med" len="med"/>
                          <a:tailEnd type="none" w="med" len="med"/>
                        </a:lnT>
                        <a:blipFill>
                          <a:blip r:embed="rId4"/>
                          <a:stretch>
                            <a:fillRect l="-142" t="-291150" r="-99003" b="-333628"/>
                          </a:stretch>
                        </a:blipFill>
                      </a:tcPr>
                    </a:tc>
                    <a:tc>
                      <a:txBody>
                        <a:bodyPr/>
                        <a:lstStyle/>
                        <a:p>
                          <a:endParaRPr lang="en-US"/>
                        </a:p>
                      </a:txBody>
                      <a:tcPr marL="51350" marR="51350" marT="0" marB="0" anchor="ctr">
                        <a:lnT w="12700" cap="flat" cmpd="sng" algn="ctr">
                          <a:noFill/>
                          <a:prstDash val="solid"/>
                          <a:round/>
                          <a:headEnd type="none" w="med" len="med"/>
                          <a:tailEnd type="none" w="med" len="med"/>
                        </a:lnT>
                        <a:blipFill>
                          <a:blip r:embed="rId4"/>
                          <a:stretch>
                            <a:fillRect l="-101297" t="-291150" r="-144" b="-333628"/>
                          </a:stretch>
                        </a:blipFill>
                      </a:tcPr>
                    </a:tc>
                    <a:extLst>
                      <a:ext uri="{0D108BD9-81ED-4DB2-BD59-A6C34878D82A}">
                        <a16:rowId xmlns:a16="http://schemas.microsoft.com/office/drawing/2014/main" val="101318198"/>
                      </a:ext>
                    </a:extLst>
                  </a:tr>
                  <a:tr h="342851">
                    <a:tc>
                      <a:txBody>
                        <a:bodyPr/>
                        <a:lstStyle/>
                        <a:p>
                          <a:endParaRPr lang="en-US"/>
                        </a:p>
                      </a:txBody>
                      <a:tcPr marL="51350" marR="51350" marT="0" marB="0" anchor="ctr">
                        <a:blipFill>
                          <a:blip r:embed="rId4"/>
                          <a:stretch>
                            <a:fillRect l="-142" t="-789286" r="-99003" b="-573214"/>
                          </a:stretch>
                        </a:blipFill>
                      </a:tcPr>
                    </a:tc>
                    <a:tc>
                      <a:txBody>
                        <a:bodyPr/>
                        <a:lstStyle/>
                        <a:p>
                          <a:endParaRPr lang="en-US"/>
                        </a:p>
                      </a:txBody>
                      <a:tcPr marL="51350" marR="51350" marT="0" marB="0" anchor="ctr">
                        <a:blipFill>
                          <a:blip r:embed="rId4"/>
                          <a:stretch>
                            <a:fillRect l="-101297" t="-789286" r="-144" b="-573214"/>
                          </a:stretch>
                        </a:blipFill>
                      </a:tcPr>
                    </a:tc>
                    <a:extLst>
                      <a:ext uri="{0D108BD9-81ED-4DB2-BD59-A6C34878D82A}">
                        <a16:rowId xmlns:a16="http://schemas.microsoft.com/office/drawing/2014/main" val="626100611"/>
                      </a:ext>
                    </a:extLst>
                  </a:tr>
                  <a:tr h="1259205">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coordinates _________.</a:t>
                          </a:r>
                        </a:p>
                      </a:txBody>
                      <a:tcPr marL="51350" marR="51350" marT="0" marB="0" anchor="ctr">
                        <a:lnB w="12700" cap="flat" cmpd="sng" algn="ctr">
                          <a:noFill/>
                          <a:prstDash val="solid"/>
                          <a:round/>
                          <a:headEnd type="none" w="med" len="med"/>
                          <a:tailEnd type="none" w="med" len="med"/>
                        </a:lnB>
                      </a:tcPr>
                    </a:tc>
                    <a:tc>
                      <a:txBody>
                        <a:bodyPr/>
                        <a:lstStyle/>
                        <a:p>
                          <a:pPr marL="0" marR="0" algn="ctr">
                            <a:lnSpc>
                              <a:spcPct val="2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coordinates _________ and become ___________.</a:t>
                          </a:r>
                        </a:p>
                      </a:txBody>
                      <a:tcPr marL="51350" marR="51350" marT="0" marB="0" anchor="ctr">
                        <a:lnB w="12700" cap="flat" cmpd="sng" algn="ctr">
                          <a:noFill/>
                          <a:prstDash val="solid"/>
                          <a:round/>
                          <a:headEnd type="none" w="med" len="med"/>
                          <a:tailEnd type="none" w="med" len="med"/>
                        </a:lnB>
                      </a:tcPr>
                    </a:tc>
                    <a:extLst>
                      <a:ext uri="{0D108BD9-81ED-4DB2-BD59-A6C34878D82A}">
                        <a16:rowId xmlns:a16="http://schemas.microsoft.com/office/drawing/2014/main" val="3637106426"/>
                      </a:ext>
                    </a:extLst>
                  </a:tr>
                  <a:tr h="685702">
                    <a:tc>
                      <a:txBody>
                        <a:bodyPr/>
                        <a:lstStyle/>
                        <a:p>
                          <a:endParaRPr lang="en-US"/>
                        </a:p>
                      </a:txBody>
                      <a:tcPr marL="51350" marR="51350" marT="0" marB="0" anchor="ctr">
                        <a:lnT w="12700" cap="flat" cmpd="sng" algn="ctr">
                          <a:noFill/>
                          <a:prstDash val="solid"/>
                          <a:round/>
                          <a:headEnd type="none" w="med" len="med"/>
                          <a:tailEnd type="none" w="med" len="med"/>
                        </a:lnT>
                        <a:blipFill>
                          <a:blip r:embed="rId4"/>
                          <a:stretch>
                            <a:fillRect l="-142" t="-623009" r="-99003" b="-1770"/>
                          </a:stretch>
                        </a:blipFill>
                      </a:tcPr>
                    </a:tc>
                    <a:tc>
                      <a:txBody>
                        <a:bodyPr/>
                        <a:lstStyle/>
                        <a:p>
                          <a:endParaRPr lang="en-US"/>
                        </a:p>
                      </a:txBody>
                      <a:tcPr marL="51350" marR="51350" marT="0" marB="0" anchor="ctr">
                        <a:lnT w="12700" cap="flat" cmpd="sng" algn="ctr">
                          <a:noFill/>
                          <a:prstDash val="solid"/>
                          <a:round/>
                          <a:headEnd type="none" w="med" len="med"/>
                          <a:tailEnd type="none" w="med" len="med"/>
                        </a:lnT>
                        <a:blipFill>
                          <a:blip r:embed="rId4"/>
                          <a:stretch>
                            <a:fillRect l="-101297" t="-623009" r="-144" b="-1770"/>
                          </a:stretch>
                        </a:blipFill>
                      </a:tcPr>
                    </a:tc>
                    <a:extLst>
                      <a:ext uri="{0D108BD9-81ED-4DB2-BD59-A6C34878D82A}">
                        <a16:rowId xmlns:a16="http://schemas.microsoft.com/office/drawing/2014/main" val="2635976746"/>
                      </a:ext>
                    </a:extLst>
                  </a:tr>
                </a:tbl>
              </a:graphicData>
            </a:graphic>
          </p:graphicFrame>
        </mc:Fallback>
      </mc:AlternateContent>
      <p:sp>
        <p:nvSpPr>
          <p:cNvPr id="3" name="Rectangle 1">
            <a:extLst>
              <a:ext uri="{FF2B5EF4-FFF2-40B4-BE49-F238E27FC236}">
                <a16:creationId xmlns:a16="http://schemas.microsoft.com/office/drawing/2014/main" xmlns="" id="{B7B70D33-8F9D-2C4B-96E3-336701C6E469}"/>
              </a:ext>
            </a:extLst>
          </p:cNvPr>
          <p:cNvSpPr>
            <a:spLocks noChangeArrowheads="1"/>
          </p:cNvSpPr>
          <p:nvPr/>
        </p:nvSpPr>
        <p:spPr bwMode="auto">
          <a:xfrm>
            <a:off x="2082451" y="1900461"/>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Google Shape;282;g104476d1465_1_17">
            <a:extLst>
              <a:ext uri="{FF2B5EF4-FFF2-40B4-BE49-F238E27FC236}">
                <a16:creationId xmlns:a16="http://schemas.microsoft.com/office/drawing/2014/main" xmlns="" id="{6A1173C3-3357-3546-B94F-A0107B9472E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pic>
        <p:nvPicPr>
          <p:cNvPr id="11" name="Picture 2" descr="Icon&#10;&#10;Description automatically generated">
            <a:extLst>
              <a:ext uri="{FF2B5EF4-FFF2-40B4-BE49-F238E27FC236}">
                <a16:creationId xmlns:a16="http://schemas.microsoft.com/office/drawing/2014/main" xmlns="" id="{69B04C26-A126-EA45-9263-63BD9DE13C1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21638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856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E4BD3F1C-3244-2549-A933-4BA80D9FC34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052650" y="-11750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4.2.4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05350" y="60449"/>
            <a:ext cx="747300" cy="747300"/>
          </a:xfrm>
          <a:prstGeom prst="rect">
            <a:avLst/>
          </a:prstGeom>
          <a:noFill/>
          <a:ln>
            <a:noFill/>
          </a:ln>
        </p:spPr>
      </p:pic>
      <p:sp>
        <p:nvSpPr>
          <p:cNvPr id="15" name="Rectangle 11">
            <a:extLst>
              <a:ext uri="{FF2B5EF4-FFF2-40B4-BE49-F238E27FC236}">
                <a16:creationId xmlns:a16="http://schemas.microsoft.com/office/drawing/2014/main" xmlns="" id="{51A3290E-5082-E346-A734-85B8139CE297}"/>
              </a:ext>
            </a:extLst>
          </p:cNvPr>
          <p:cNvSpPr>
            <a:spLocks noChangeArrowheads="1"/>
          </p:cNvSpPr>
          <p:nvPr/>
        </p:nvSpPr>
        <p:spPr bwMode="auto">
          <a:xfrm>
            <a:off x="408490" y="1452374"/>
            <a:ext cx="848143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 reflection can be thought of as folding or "flipping" an object over the line of reflection. A squish painting is a fun application of a line of reflection.</a:t>
            </a:r>
          </a:p>
          <a:p>
            <a:pPr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20" name="Picture 19">
            <a:extLst>
              <a:ext uri="{FF2B5EF4-FFF2-40B4-BE49-F238E27FC236}">
                <a16:creationId xmlns:a16="http://schemas.microsoft.com/office/drawing/2014/main" xmlns="" id="{2A47BB59-32F5-3D40-B2B9-92D95C5C84B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8609592" y="2175904"/>
            <a:ext cx="3330575" cy="2498090"/>
          </a:xfrm>
          <a:prstGeom prst="rect">
            <a:avLst/>
          </a:prstGeom>
        </p:spPr>
      </p:pic>
      <p:sp>
        <p:nvSpPr>
          <p:cNvPr id="16" name="Rectangle 12">
            <a:extLst>
              <a:ext uri="{FF2B5EF4-FFF2-40B4-BE49-F238E27FC236}">
                <a16:creationId xmlns:a16="http://schemas.microsoft.com/office/drawing/2014/main" xmlns="" id="{3054E258-FE6E-474E-AF23-62AE4B993598}"/>
              </a:ext>
            </a:extLst>
          </p:cNvPr>
          <p:cNvSpPr>
            <a:spLocks noChangeArrowheads="1"/>
          </p:cNvSpPr>
          <p:nvPr/>
        </p:nvSpPr>
        <p:spPr bwMode="auto">
          <a:xfrm>
            <a:off x="408490" y="2678836"/>
            <a:ext cx="848143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To make a squish painting, a large sheet of construction paper is folded in half then opened up. Paint is dotted along one side of the fold. The paper is folded, and the folded paper is rubbed, pounded, and squished to move the paint around. The paper is then opened up to reveal the squish painting.</a:t>
            </a:r>
          </a:p>
        </p:txBody>
      </p:sp>
      <p:sp>
        <p:nvSpPr>
          <p:cNvPr id="22" name="Google Shape;282;g104476d1465_1_17">
            <a:extLst>
              <a:ext uri="{FF2B5EF4-FFF2-40B4-BE49-F238E27FC236}">
                <a16:creationId xmlns:a16="http://schemas.microsoft.com/office/drawing/2014/main" xmlns="" id="{8FBE33CB-8CAE-8B41-8AAA-DC5309F8C679}"/>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xmlns="" id="{4CE9D117-FAE6-F74F-940B-9CD1479755BE}"/>
              </a:ext>
            </a:extLst>
          </p:cNvPr>
          <p:cNvSpPr txBox="1"/>
          <p:nvPr/>
        </p:nvSpPr>
        <p:spPr>
          <a:xfrm>
            <a:off x="451164" y="939008"/>
            <a:ext cx="5256461"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1. How does a squish painting show that in a reflection, each point of the original figure and its image are the same distance away from the line of reflection?</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xmlns="" id="{6CCD322B-944C-F246-8DB2-BEA10B2D8EE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42245" y="905072"/>
            <a:ext cx="5585905" cy="4188920"/>
          </a:xfrm>
          <a:prstGeom prst="rect">
            <a:avLst/>
          </a:prstGeom>
        </p:spPr>
      </p:pic>
      <p:sp>
        <p:nvSpPr>
          <p:cNvPr id="7" name="Google Shape;282;g104476d1465_1_17">
            <a:extLst>
              <a:ext uri="{FF2B5EF4-FFF2-40B4-BE49-F238E27FC236}">
                <a16:creationId xmlns:a16="http://schemas.microsoft.com/office/drawing/2014/main" xmlns="" id="{4D13FC9B-64B5-4B46-B612-25F295C6594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189</a:t>
            </a:r>
            <a:endParaRPr i="1" dirty="0">
              <a:latin typeface="Calibri"/>
              <a:ea typeface="Calibri"/>
              <a:cs typeface="Calibri"/>
              <a:sym typeface="Calibri"/>
            </a:endParaRPr>
          </a:p>
        </p:txBody>
      </p:sp>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1261</TotalTime>
  <Words>1007</Words>
  <Application>Microsoft Macintosh PowerPoint</Application>
  <PresentationFormat>Widescreen</PresentationFormat>
  <Paragraphs>169</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 Black</vt:lpstr>
      <vt:lpstr>Century Gothic</vt:lpstr>
      <vt:lpstr>Cambria Math</vt:lpstr>
      <vt:lpstr>Times New Roman</vt:lpstr>
      <vt:lpstr>Verdana</vt:lpstr>
      <vt:lpstr>Cambria</vt:lpstr>
      <vt:lpstr>Wingdings</vt:lpstr>
      <vt:lpstr>Arial</vt:lpstr>
      <vt:lpstr>Calibri</vt:lpstr>
      <vt:lpstr>1_Office Theme</vt:lpstr>
      <vt:lpstr>Geometry  Unit 4, Lesson 2  Algebraic Descriptions for Reflections  Volume 1, pg. 184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Wrap-Up</vt:lpstr>
      <vt:lpstr>PowerPoint Presentation</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15</cp:revision>
  <dcterms:created xsi:type="dcterms:W3CDTF">2015-03-17T18:51:18Z</dcterms:created>
  <dcterms:modified xsi:type="dcterms:W3CDTF">2022-07-27T17:50:45Z</dcterms:modified>
</cp:coreProperties>
</file>