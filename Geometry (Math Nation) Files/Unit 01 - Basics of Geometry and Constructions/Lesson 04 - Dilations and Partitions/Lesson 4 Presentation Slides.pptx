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285" r:id="rId4"/>
    <p:sldId id="286" r:id="rId5"/>
    <p:sldId id="261" r:id="rId6"/>
    <p:sldId id="287" r:id="rId7"/>
    <p:sldId id="288" r:id="rId8"/>
    <p:sldId id="311" r:id="rId9"/>
    <p:sldId id="312" r:id="rId10"/>
    <p:sldId id="332" r:id="rId11"/>
    <p:sldId id="313" r:id="rId12"/>
    <p:sldId id="333" r:id="rId13"/>
    <p:sldId id="335" r:id="rId14"/>
    <p:sldId id="334" r:id="rId15"/>
    <p:sldId id="323" r:id="rId16"/>
    <p:sldId id="324" r:id="rId17"/>
    <p:sldId id="336" r:id="rId18"/>
    <p:sldId id="325" r:id="rId19"/>
    <p:sldId id="338" r:id="rId20"/>
    <p:sldId id="329" r:id="rId21"/>
    <p:sldId id="330" r:id="rId22"/>
    <p:sldId id="337" r:id="rId23"/>
    <p:sldId id="339" r:id="rId24"/>
    <p:sldId id="306" r:id="rId25"/>
    <p:sldId id="307" r:id="rId26"/>
  </p:sldIdLst>
  <p:sldSz cx="12192000" cy="6858000"/>
  <p:notesSz cx="6858000" cy="9144000"/>
  <p:embeddedFontLst>
    <p:embeddedFont>
      <p:font typeface="Arial Black" panose="020B0604020202020204" pitchFamily="34" charset="0"/>
      <p:bold r:id="rId28"/>
    </p:embeddedFont>
    <p:embeddedFont>
      <p:font typeface="Calibri" panose="020F0502020204030204" pitchFamily="34" charset="0"/>
      <p:regular r:id="rId29"/>
      <p:bold r:id="rId30"/>
      <p:italic r:id="rId31"/>
      <p:boldItalic r:id="rId32"/>
    </p:embeddedFont>
    <p:embeddedFont>
      <p:font typeface="Cambria" panose="02040503050406030204" pitchFamily="18" charset="0"/>
      <p:regular r:id="rId33"/>
      <p:bold r:id="rId34"/>
      <p:italic r:id="rId35"/>
      <p:boldItalic r:id="rId36"/>
    </p:embeddedFont>
    <p:embeddedFont>
      <p:font typeface="Cambria Math" panose="02040503050406030204" pitchFamily="18" charset="0"/>
      <p:regular r:id="rId37"/>
    </p:embeddedFont>
    <p:embeddedFont>
      <p:font typeface="Century Gothic" panose="020B0502020202020204" pitchFamily="34" charset="0"/>
      <p:regular r:id="rId38"/>
      <p:bold r:id="rId39"/>
      <p:italic r:id="rId40"/>
      <p:boldItalic r:id="rId41"/>
    </p:embeddedFont>
    <p:embeddedFont>
      <p:font typeface="Verdana" panose="020B0604030504040204" pitchFamily="34"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5E5B"/>
    <a:srgbClr val="F79647"/>
    <a:srgbClr val="FCBD1E"/>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442" autoAdjust="0"/>
    <p:restoredTop sz="94937" autoAdjust="0"/>
  </p:normalViewPr>
  <p:slideViewPr>
    <p:cSldViewPr snapToGrid="0">
      <p:cViewPr varScale="1">
        <p:scale>
          <a:sx n="123" d="100"/>
          <a:sy n="123" d="100"/>
        </p:scale>
        <p:origin x="224" y="20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font" Target="fonts/font18.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8062217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7657117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4290414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2817136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4567002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4244703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6658969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32384142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32384142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32481965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21215227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56533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56533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5.png"/><Relationship Id="rId7"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20.tiff"/><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26.png"/><Relationship Id="rId5" Type="http://schemas.openxmlformats.org/officeDocument/2006/relationships/image" Target="../media/image23.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27.png"/><Relationship Id="rId5" Type="http://schemas.openxmlformats.org/officeDocument/2006/relationships/image" Target="../media/image29.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38.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370.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39.png"/></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5" Type="http://schemas.openxmlformats.org/officeDocument/2006/relationships/image" Target="../media/image41.png"/><Relationship Id="rId4" Type="http://schemas.openxmlformats.org/officeDocument/2006/relationships/image" Target="../media/image400.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42.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43.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Geometry</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1, Lesson 4</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Dilations and Partitions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20</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08753" y="15225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115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24050" y="14475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00550" y="380525"/>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20</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047850" y="1608425"/>
            <a:ext cx="9623867"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800" dirty="0">
                <a:solidFill>
                  <a:schemeClr val="tx1"/>
                </a:solidFill>
                <a:latin typeface="Verdana"/>
                <a:ea typeface="Verdana"/>
                <a:cs typeface="Verdana"/>
                <a:sym typeface="Verdana"/>
              </a:rPr>
              <a:t>MA.912.GR.1.1</a:t>
            </a:r>
          </a:p>
          <a:p>
            <a:pPr marL="466725" indent="0">
              <a:buSzPts val="1100"/>
              <a:buNone/>
            </a:pPr>
            <a:r>
              <a:rPr lang="en-US" sz="28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Prove relationships and theorems about lines and angles. Solve mathematical and real-world problems involving postulates, relationships, and theorems of lines and angles.</a:t>
            </a:r>
          </a:p>
          <a:p>
            <a:pPr marL="0" indent="0">
              <a:buSzPts val="1100"/>
              <a:buNone/>
            </a:pPr>
            <a:endParaRPr lang="en-US" sz="280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marL="0" indent="0">
              <a:buSzPts val="1100"/>
              <a:buNone/>
            </a:pPr>
            <a:r>
              <a:rPr lang="en-US" sz="280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a:t>
            </a: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.912.GR.2.2</a:t>
            </a:r>
          </a:p>
          <a:p>
            <a:pPr indent="0">
              <a:buNone/>
            </a:pPr>
            <a:r>
              <a:rPr lang="en-US" sz="2800" dirty="0">
                <a:latin typeface="Verdana" panose="020B0604030504040204" pitchFamily="34" charset="0"/>
                <a:ea typeface="Verdana" panose="020B0604030504040204" pitchFamily="34" charset="0"/>
                <a:cs typeface="Verdana" panose="020B0604030504040204" pitchFamily="34" charset="0"/>
              </a:rPr>
              <a:t>Identify transformations that do or do not preserve distance.</a:t>
            </a:r>
          </a:p>
          <a:p>
            <a:pPr indent="0">
              <a:buNone/>
            </a:pPr>
            <a:endParaRPr lang="en-US" sz="2800" dirty="0">
              <a:solidFill>
                <a:schemeClr val="tx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1" name="Google Shape;281;g104476d1465_1_17"/>
          <p:cNvPicPr preferRelativeResize="0"/>
          <p:nvPr/>
        </p:nvPicPr>
        <p:blipFill>
          <a:blip r:embed="rId3">
            <a:alphaModFix/>
          </a:blip>
          <a:stretch>
            <a:fillRect/>
          </a:stretch>
        </p:blipFill>
        <p:spPr>
          <a:xfrm>
            <a:off x="300550" y="380525"/>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25199" y="137892"/>
            <a:ext cx="999256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20</a:t>
            </a:r>
            <a:endParaRPr i="1" dirty="0">
              <a:latin typeface="Calibri"/>
              <a:ea typeface="Calibri"/>
              <a:cs typeface="Calibri"/>
              <a:sym typeface="Calibri"/>
            </a:endParaRP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101760" y="1604615"/>
            <a:ext cx="959226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
        <p:nvSpPr>
          <p:cNvPr id="9" name="Google Shape;278;g104476d1465_1_17">
            <a:extLst>
              <a:ext uri="{FF2B5EF4-FFF2-40B4-BE49-F238E27FC236}">
                <a16:creationId xmlns:a16="http://schemas.microsoft.com/office/drawing/2014/main" id="{077C6829-C721-C84C-B217-05FC82BD0900}"/>
              </a:ext>
            </a:extLst>
          </p:cNvPr>
          <p:cNvSpPr/>
          <p:nvPr/>
        </p:nvSpPr>
        <p:spPr>
          <a:xfrm>
            <a:off x="0" y="-1115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13375" y="38885"/>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31213" y="328085"/>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20</a:t>
            </a:r>
            <a:endParaRPr i="1" dirty="0">
              <a:latin typeface="Calibri"/>
              <a:ea typeface="Calibri"/>
              <a:cs typeface="Calibri"/>
              <a:sym typeface="Calibri"/>
            </a:endParaRP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078512" y="1608425"/>
            <a:ext cx="9570903"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34988" indent="-534988">
              <a:buFont typeface="Wingdings" pitchFamily="2" charset="2"/>
              <a:buChar char="q"/>
            </a:pPr>
            <a:r>
              <a:rPr lang="en-US" sz="3200" dirty="0">
                <a:latin typeface="Verdana" panose="020B0604030504040204" pitchFamily="34" charset="0"/>
                <a:ea typeface="Verdana" panose="020B0604030504040204" pitchFamily="34" charset="0"/>
                <a:cs typeface="Verdana" panose="020B0604030504040204" pitchFamily="34" charset="0"/>
              </a:rPr>
              <a:t>I can dilate a line segment.</a:t>
            </a:r>
          </a:p>
          <a:p>
            <a:pPr marL="534988" indent="-534988">
              <a:buFont typeface="Wingdings" pitchFamily="2" charset="2"/>
              <a:buChar char="q"/>
            </a:pPr>
            <a:endParaRPr lang="en-US" sz="3200" dirty="0">
              <a:latin typeface="Verdana" panose="020B0604030504040204" pitchFamily="34" charset="0"/>
              <a:ea typeface="Verdana" panose="020B0604030504040204" pitchFamily="34" charset="0"/>
              <a:cs typeface="Verdana" panose="020B0604030504040204" pitchFamily="34" charset="0"/>
            </a:endParaRPr>
          </a:p>
          <a:p>
            <a:pPr marL="534988" indent="-534988">
              <a:buFont typeface="Wingdings" pitchFamily="2" charset="2"/>
              <a:buChar char="q"/>
            </a:pPr>
            <a:r>
              <a:rPr lang="en-US" sz="3200" dirty="0">
                <a:latin typeface="Verdana" panose="020B0604030504040204" pitchFamily="34" charset="0"/>
                <a:ea typeface="Verdana" panose="020B0604030504040204" pitchFamily="34" charset="0"/>
                <a:cs typeface="Verdana" panose="020B0604030504040204" pitchFamily="34" charset="0"/>
              </a:rPr>
              <a:t>I can define midpoint using dilation and understand partitions.</a:t>
            </a:r>
          </a:p>
          <a:p>
            <a:pPr marL="534988" indent="-534988">
              <a:buFont typeface="Wingdings" pitchFamily="2" charset="2"/>
              <a:buChar char="q"/>
            </a:pPr>
            <a:endParaRPr lang="en-US" sz="3200" dirty="0">
              <a:latin typeface="Verdana" panose="020B0604030504040204" pitchFamily="34" charset="0"/>
              <a:ea typeface="Verdana" panose="020B0604030504040204" pitchFamily="34" charset="0"/>
              <a:cs typeface="Verdana" panose="020B0604030504040204" pitchFamily="34" charset="0"/>
            </a:endParaRPr>
          </a:p>
          <a:p>
            <a:pPr marL="534988" indent="-534988">
              <a:buFont typeface="Wingdings" pitchFamily="2" charset="2"/>
              <a:buChar char="q"/>
            </a:pPr>
            <a:r>
              <a:rPr lang="en-US" sz="3200" dirty="0">
                <a:latin typeface="Verdana" panose="020B0604030504040204" pitchFamily="34" charset="0"/>
                <a:ea typeface="Verdana" panose="020B0604030504040204" pitchFamily="34" charset="0"/>
                <a:cs typeface="Verdana" panose="020B0604030504040204" pitchFamily="34" charset="0"/>
              </a:rPr>
              <a:t>I can relate scale factor to dilation.</a:t>
            </a:r>
          </a:p>
        </p:txBody>
      </p:sp>
      <p:sp>
        <p:nvSpPr>
          <p:cNvPr id="8" name="Google Shape;278;g104476d1465_1_17">
            <a:extLst>
              <a:ext uri="{FF2B5EF4-FFF2-40B4-BE49-F238E27FC236}">
                <a16:creationId xmlns:a16="http://schemas.microsoft.com/office/drawing/2014/main" id="{84D53208-BBC5-F045-A1FC-36E1745FA757}"/>
              </a:ext>
            </a:extLst>
          </p:cNvPr>
          <p:cNvSpPr/>
          <p:nvPr/>
        </p:nvSpPr>
        <p:spPr>
          <a:xfrm>
            <a:off x="0" y="-1115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800"/>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94262" y="283915"/>
            <a:ext cx="9668109"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1.4.1 Warm-Up: Floyd Norman</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485081" y="205710"/>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20</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1D7562E-134F-D14B-AF1A-DF40E11EF758}"/>
                  </a:ext>
                </a:extLst>
              </p:cNvPr>
              <p:cNvSpPr txBox="1"/>
              <p:nvPr/>
            </p:nvSpPr>
            <p:spPr>
              <a:xfrm>
                <a:off x="858644" y="1394250"/>
                <a:ext cx="10303727" cy="4016484"/>
              </a:xfrm>
              <a:prstGeom prst="rect">
                <a:avLst/>
              </a:prstGeom>
              <a:noFill/>
            </p:spPr>
            <p:txBody>
              <a:bodyPr wrap="square" rtlCol="0">
                <a:spAutoFit/>
              </a:bodyPr>
              <a:lstStyle/>
              <a:p>
                <a:pPr>
                  <a:spcAft>
                    <a:spcPts val="1800"/>
                  </a:spcAft>
                </a:pPr>
                <a:r>
                  <a:rPr lang="en-US" sz="2400" dirty="0">
                    <a:latin typeface="Verdana" panose="020B0604030504040204" pitchFamily="34" charset="0"/>
                    <a:ea typeface="Verdana" panose="020B0604030504040204" pitchFamily="34" charset="0"/>
                    <a:cs typeface="Verdana" panose="020B0604030504040204" pitchFamily="34" charset="0"/>
                  </a:rPr>
                  <a:t>Floyd Norman was named a Disney Legend in 2007. In 1957, Norman was employed as an inbetweener on Sleeping Beauty. An inbetweener is an animator who draws the intermediate frames between two key frames. The inbetweener’s drawings create the illusion of motion. </a:t>
                </a:r>
              </a:p>
              <a:p>
                <a:r>
                  <a:rPr lang="en-US" sz="2400" dirty="0">
                    <a:latin typeface="Verdana" panose="020B0604030504040204" pitchFamily="34" charset="0"/>
                    <a:ea typeface="Verdana" panose="020B0604030504040204" pitchFamily="34" charset="0"/>
                    <a:cs typeface="Verdana" panose="020B0604030504040204" pitchFamily="34" charset="0"/>
                  </a:rPr>
                  <a:t>When asked, “What is the key to growing as an artist?” Norman said, “As a student, I think the most important thing is having a willingness to learn.” </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On a scale of </a:t>
                </a:r>
                <a14:m>
                  <m:oMath xmlns:m="http://schemas.openxmlformats.org/officeDocument/2006/math">
                    <m:r>
                      <a:rPr lang="en-US" sz="2400" i="1">
                        <a:latin typeface="Cambria Math"/>
                      </a:rPr>
                      <m:t>1</m:t>
                    </m:r>
                  </m:oMath>
                </a14:m>
                <a:r>
                  <a:rPr lang="en-US" sz="2400" dirty="0">
                    <a:latin typeface="Verdana" panose="020B0604030504040204" pitchFamily="34" charset="0"/>
                    <a:ea typeface="Verdana" panose="020B0604030504040204" pitchFamily="34" charset="0"/>
                    <a:cs typeface="Verdana" panose="020B0604030504040204" pitchFamily="34" charset="0"/>
                  </a:rPr>
                  <a:t> to </a:t>
                </a:r>
                <a14:m>
                  <m:oMath xmlns:m="http://schemas.openxmlformats.org/officeDocument/2006/math">
                    <m:r>
                      <a:rPr lang="en-US" sz="2400" i="1">
                        <a:latin typeface="Cambria Math"/>
                      </a:rPr>
                      <m:t>10</m:t>
                    </m:r>
                  </m:oMath>
                </a14:m>
                <a:r>
                  <a:rPr lang="en-US" sz="2400" dirty="0">
                    <a:latin typeface="Verdana" panose="020B0604030504040204" pitchFamily="34" charset="0"/>
                    <a:ea typeface="Verdana" panose="020B0604030504040204" pitchFamily="34" charset="0"/>
                    <a:cs typeface="Verdana" panose="020B0604030504040204" pitchFamily="34" charset="0"/>
                  </a:rPr>
                  <a:t>, how willing are you to learn?</a:t>
                </a:r>
              </a:p>
            </p:txBody>
          </p:sp>
        </mc:Choice>
        <mc:Fallback xmlns="">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858644" y="1394250"/>
                <a:ext cx="10303727" cy="4016484"/>
              </a:xfrm>
              <a:prstGeom prst="rect">
                <a:avLst/>
              </a:prstGeom>
              <a:blipFill>
                <a:blip r:embed="rId5"/>
                <a:stretch>
                  <a:fillRect l="-947" t="-1214" b="-2428"/>
                </a:stretch>
              </a:blipFill>
            </p:spPr>
            <p:txBody>
              <a:bodyPr/>
              <a:lstStyle/>
              <a:p>
                <a:r>
                  <a:rPr lang="en-US">
                    <a:noFill/>
                  </a:rPr>
                  <a:t> </a:t>
                </a:r>
              </a:p>
            </p:txBody>
          </p:sp>
        </mc:Fallback>
      </mc:AlternateContent>
      <p:sp>
        <p:nvSpPr>
          <p:cNvPr id="9" name="Google Shape;278;g104476d1465_1_17">
            <a:extLst>
              <a:ext uri="{FF2B5EF4-FFF2-40B4-BE49-F238E27FC236}">
                <a16:creationId xmlns:a16="http://schemas.microsoft.com/office/drawing/2014/main" id="{D2E26B32-0C88-7847-9ECA-D11545A204F9}"/>
              </a:ext>
            </a:extLst>
          </p:cNvPr>
          <p:cNvSpPr/>
          <p:nvPr/>
        </p:nvSpPr>
        <p:spPr>
          <a:xfrm>
            <a:off x="0" y="-1115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229" y="6197673"/>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0003" y="645474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a:t>
            </a:r>
            <a:endParaRPr i="1" dirty="0">
              <a:latin typeface="Calibri"/>
              <a:ea typeface="Calibri"/>
              <a:cs typeface="Calibri"/>
              <a:sym typeface="Calibri"/>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869796" y="495165"/>
            <a:ext cx="10270273" cy="5478423"/>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When asked about his career Norman stated, “Making mistakes is how we grow, how we learn.” He said he had no confidence, but at least he made the first step.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Describe a time in your life when you had no confidence, but you made the first step and learned from making mistakes.</a:t>
            </a:r>
          </a:p>
          <a:p>
            <a:r>
              <a:rPr lang="en-US" sz="2000" dirty="0">
                <a:latin typeface="Verdana" panose="020B0604030504040204" pitchFamily="34" charset="0"/>
                <a:ea typeface="Verdana" panose="020B0604030504040204" pitchFamily="34" charset="0"/>
                <a:cs typeface="Verdana" panose="020B0604030504040204" pitchFamily="34" charset="0"/>
              </a:rPr>
              <a:t>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a:spcAft>
                <a:spcPts val="1200"/>
              </a:spcAft>
            </a:pPr>
            <a:r>
              <a:rPr lang="en-US" sz="2000" dirty="0">
                <a:latin typeface="Verdana" panose="020B0604030504040204" pitchFamily="34" charset="0"/>
                <a:ea typeface="Verdana" panose="020B0604030504040204" pitchFamily="34" charset="0"/>
                <a:cs typeface="Verdana" panose="020B0604030504040204" pitchFamily="34" charset="0"/>
              </a:rPr>
              <a:t>Norman described a time when Walt Disney asked him to write. Norman made these two statements as he reflected on doing something he did not think he could do. </a:t>
            </a:r>
          </a:p>
          <a:p>
            <a:pPr marL="806450" indent="-349250">
              <a:buFont typeface="Arial" panose="020B0604020202020204" pitchFamily="34" charset="0"/>
              <a:buChar char="•"/>
              <a:tabLst>
                <a:tab pos="1204913" algn="l"/>
              </a:tabLst>
            </a:pPr>
            <a:r>
              <a:rPr lang="en-US" sz="2000" dirty="0">
                <a:latin typeface="Verdana" panose="020B0604030504040204" pitchFamily="34" charset="0"/>
                <a:ea typeface="Verdana" panose="020B0604030504040204" pitchFamily="34" charset="0"/>
                <a:cs typeface="Verdana" panose="020B0604030504040204" pitchFamily="34" charset="0"/>
              </a:rPr>
              <a:t>“The only obstacle you face is yourself.” </a:t>
            </a:r>
          </a:p>
          <a:p>
            <a:pPr marL="806450" indent="-349250">
              <a:buFont typeface="Arial" panose="020B0604020202020204" pitchFamily="34" charset="0"/>
              <a:buChar char="•"/>
              <a:tabLst>
                <a:tab pos="1204913" algn="l"/>
              </a:tabLst>
            </a:pPr>
            <a:r>
              <a:rPr lang="en-US" sz="2000" dirty="0">
                <a:latin typeface="Verdana" panose="020B0604030504040204" pitchFamily="34" charset="0"/>
                <a:ea typeface="Verdana" panose="020B0604030504040204" pitchFamily="34" charset="0"/>
                <a:cs typeface="Verdana" panose="020B0604030504040204" pitchFamily="34" charset="0"/>
              </a:rPr>
              <a:t>“If you are willing to do the work, make that commitment, then I don’t believe there is an obstacle.” </a:t>
            </a:r>
          </a:p>
          <a:p>
            <a:r>
              <a:rPr lang="en-US" sz="2000" dirty="0">
                <a:latin typeface="Verdana" panose="020B0604030504040204" pitchFamily="34" charset="0"/>
                <a:ea typeface="Verdana" panose="020B0604030504040204" pitchFamily="34" charset="0"/>
                <a:cs typeface="Verdana" panose="020B0604030504040204" pitchFamily="34" charset="0"/>
              </a:rPr>
              <a:t>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What subject(s) are obstacles for you?</a:t>
            </a:r>
          </a:p>
        </p:txBody>
      </p:sp>
      <p:sp>
        <p:nvSpPr>
          <p:cNvPr id="6" name="Google Shape;278;g104476d1465_1_17">
            <a:extLst>
              <a:ext uri="{FF2B5EF4-FFF2-40B4-BE49-F238E27FC236}">
                <a16:creationId xmlns:a16="http://schemas.microsoft.com/office/drawing/2014/main" id="{285F77CB-5FF9-E743-9AA8-B4C11C925C98}"/>
              </a:ext>
            </a:extLst>
          </p:cNvPr>
          <p:cNvSpPr/>
          <p:nvPr/>
        </p:nvSpPr>
        <p:spPr>
          <a:xfrm>
            <a:off x="0" y="-1115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a:t>
            </a:r>
            <a:endParaRPr i="1" dirty="0">
              <a:latin typeface="Calibri"/>
              <a:ea typeface="Calibri"/>
              <a:cs typeface="Calibri"/>
              <a:sym typeface="Calibri"/>
            </a:endParaRP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69715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52D1D4D-DCB8-A246-B186-D40316579D77}"/>
                  </a:ext>
                </a:extLst>
              </p:cNvPr>
              <p:cNvSpPr txBox="1"/>
              <p:nvPr/>
            </p:nvSpPr>
            <p:spPr>
              <a:xfrm>
                <a:off x="847493" y="1386150"/>
                <a:ext cx="10270274" cy="4524315"/>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The diagram shows points </a:t>
                </a:r>
                <a14:m>
                  <m:oMath xmlns:m="http://schemas.openxmlformats.org/officeDocument/2006/math">
                    <m:r>
                      <a:rPr lang="en-US" sz="2400" i="1">
                        <a:latin typeface="Cambria Math"/>
                      </a:rPr>
                      <m:t>𝑊</m:t>
                    </m:r>
                  </m:oMath>
                </a14:m>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i="1">
                        <a:latin typeface="Cambria Math"/>
                      </a:rPr>
                      <m:t>𝑊</m:t>
                    </m:r>
                    <m:r>
                      <a:rPr lang="en-US" sz="2400" i="1">
                        <a:latin typeface="Cambria Math"/>
                      </a:rPr>
                      <m:t>′</m:t>
                    </m:r>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400" i="1">
                        <a:latin typeface="Cambria Math"/>
                      </a:rPr>
                      <m:t>𝑊</m:t>
                    </m:r>
                    <m:r>
                      <a:rPr lang="en-US" sz="2400" i="1">
                        <a:latin typeface="Cambria Math"/>
                      </a:rPr>
                      <m:t>′′</m:t>
                    </m:r>
                  </m:oMath>
                </a14:m>
                <a:r>
                  <a:rPr lang="en-US" sz="2400" dirty="0">
                    <a:latin typeface="Verdana" panose="020B0604030504040204" pitchFamily="34" charset="0"/>
                    <a:ea typeface="Verdana" panose="020B0604030504040204" pitchFamily="34" charset="0"/>
                    <a:cs typeface="Verdana" panose="020B0604030504040204" pitchFamily="34" charset="0"/>
                  </a:rPr>
                  <a:t>. </a:t>
                </a: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898525" indent="-441325">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What do you notice about the points?</a:t>
                </a:r>
              </a:p>
              <a:p>
                <a:pPr marL="898525" indent="-441325">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898525" indent="-441325">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898525" indent="-441325">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898525" indent="-441325">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898525" indent="-441325">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Estimate the number of times the distance between </a:t>
                </a:r>
                <a14:m>
                  <m:oMath xmlns:m="http://schemas.openxmlformats.org/officeDocument/2006/math">
                    <m:r>
                      <a:rPr lang="en-US" sz="2400" i="1">
                        <a:latin typeface="Cambria Math"/>
                      </a:rPr>
                      <m:t>𝑊</m:t>
                    </m:r>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400" i="1">
                        <a:latin typeface="Cambria Math"/>
                      </a:rPr>
                      <m:t>𝑊</m:t>
                    </m:r>
                    <m:r>
                      <a:rPr lang="en-US" sz="2400" i="1">
                        <a:latin typeface="Cambria Math"/>
                      </a:rPr>
                      <m:t>′</m:t>
                    </m:r>
                  </m:oMath>
                </a14:m>
                <a:r>
                  <a:rPr lang="en-US" sz="2400" dirty="0">
                    <a:latin typeface="Verdana" panose="020B0604030504040204" pitchFamily="34" charset="0"/>
                    <a:ea typeface="Verdana" panose="020B0604030504040204" pitchFamily="34" charset="0"/>
                    <a:cs typeface="Verdana" panose="020B0604030504040204" pitchFamily="34" charset="0"/>
                  </a:rPr>
                  <a:t> will fit between </a:t>
                </a:r>
                <a14:m>
                  <m:oMath xmlns:m="http://schemas.openxmlformats.org/officeDocument/2006/math">
                    <m:r>
                      <a:rPr lang="en-US" sz="2400" i="1">
                        <a:latin typeface="Cambria Math"/>
                      </a:rPr>
                      <m:t>𝑊</m:t>
                    </m:r>
                    <m:r>
                      <a:rPr lang="en-US" sz="2400" i="1">
                        <a:latin typeface="Cambria Math"/>
                      </a:rPr>
                      <m:t>′</m:t>
                    </m:r>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400" i="1">
                        <a:latin typeface="Cambria Math"/>
                      </a:rPr>
                      <m:t>𝑊</m:t>
                    </m:r>
                    <m:r>
                      <a:rPr lang="en-US" sz="2400" b="0" i="1" smtClean="0">
                        <a:latin typeface="Cambria Math" panose="02040503050406030204" pitchFamily="18" charset="0"/>
                      </a:rPr>
                      <m:t>′′</m:t>
                    </m:r>
                  </m:oMath>
                </a14:m>
                <a:r>
                  <a:rPr lang="en-US" sz="24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10" name="TextBox 9">
                <a:extLst>
                  <a:ext uri="{FF2B5EF4-FFF2-40B4-BE49-F238E27FC236}">
                    <a16:creationId xmlns:a16="http://schemas.microsoft.com/office/drawing/2014/main" id="{152D1D4D-DCB8-A246-B186-D40316579D77}"/>
                  </a:ext>
                </a:extLst>
              </p:cNvPr>
              <p:cNvSpPr txBox="1">
                <a:spLocks noRot="1" noChangeAspect="1" noMove="1" noResize="1" noEditPoints="1" noAdjustHandles="1" noChangeArrowheads="1" noChangeShapeType="1" noTextEdit="1"/>
              </p:cNvSpPr>
              <p:nvPr/>
            </p:nvSpPr>
            <p:spPr>
              <a:xfrm>
                <a:off x="847493" y="1386150"/>
                <a:ext cx="10270274" cy="4524315"/>
              </a:xfrm>
              <a:prstGeom prst="rect">
                <a:avLst/>
              </a:prstGeom>
              <a:blipFill>
                <a:blip r:embed="rId3"/>
                <a:stretch>
                  <a:fillRect l="-864" t="-838" r="-617" b="-1955"/>
                </a:stretch>
              </a:blipFill>
            </p:spPr>
            <p:txBody>
              <a:bodyPr/>
              <a:lstStyle/>
              <a:p>
                <a:r>
                  <a:rPr lang="en-US">
                    <a:noFill/>
                  </a:rPr>
                  <a:t> </a:t>
                </a:r>
              </a:p>
            </p:txBody>
          </p:sp>
        </mc:Fallback>
      </mc:AlternateContent>
      <p:grpSp>
        <p:nvGrpSpPr>
          <p:cNvPr id="3" name="Group 2"/>
          <p:cNvGrpSpPr/>
          <p:nvPr/>
        </p:nvGrpSpPr>
        <p:grpSpPr>
          <a:xfrm>
            <a:off x="1925886" y="2028024"/>
            <a:ext cx="6314361" cy="607060"/>
            <a:chOff x="1652333" y="2619333"/>
            <a:chExt cx="6314361" cy="607060"/>
          </a:xfrm>
        </p:grpSpPr>
        <p:sp>
          <p:nvSpPr>
            <p:cNvPr id="11" name="Oval 10">
              <a:extLst>
                <a:ext uri="{FF2B5EF4-FFF2-40B4-BE49-F238E27FC236}">
                  <a16:creationId xmlns:a16="http://schemas.microsoft.com/office/drawing/2014/main" id="{F39606CA-DE93-6A4C-BB0A-B6DE17A31E97}"/>
                </a:ext>
              </a:extLst>
            </p:cNvPr>
            <p:cNvSpPr/>
            <p:nvPr/>
          </p:nvSpPr>
          <p:spPr>
            <a:xfrm>
              <a:off x="1652333" y="3037798"/>
              <a:ext cx="180975" cy="188595"/>
            </a:xfrm>
            <a:prstGeom prst="ellipse">
              <a:avLst/>
            </a:prstGeom>
            <a:solidFill>
              <a:schemeClr val="tx1"/>
            </a:solidFill>
            <a:effectLst>
              <a:outerShdw blurRad="40000" dist="23000" dir="5400000" sx="1000" sy="1000" rotWithShape="0">
                <a:srgbClr val="000000">
                  <a:alpha val="0"/>
                </a:srgbClr>
              </a:outerShdw>
            </a:effectLst>
          </p:spPr>
          <p:style>
            <a:lnRef idx="1">
              <a:schemeClr val="dk1"/>
            </a:lnRef>
            <a:fillRef idx="3">
              <a:schemeClr val="dk1"/>
            </a:fillRef>
            <a:effectRef idx="2">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2" name="Oval 11">
              <a:extLst>
                <a:ext uri="{FF2B5EF4-FFF2-40B4-BE49-F238E27FC236}">
                  <a16:creationId xmlns:a16="http://schemas.microsoft.com/office/drawing/2014/main" id="{0EB68578-9206-E94C-8ABC-79E8D0E18ECC}"/>
                </a:ext>
              </a:extLst>
            </p:cNvPr>
            <p:cNvSpPr/>
            <p:nvPr/>
          </p:nvSpPr>
          <p:spPr>
            <a:xfrm>
              <a:off x="3002343" y="3033353"/>
              <a:ext cx="180975" cy="188595"/>
            </a:xfrm>
            <a:prstGeom prst="ellipse">
              <a:avLst/>
            </a:prstGeom>
            <a:solidFill>
              <a:schemeClr val="tx1"/>
            </a:solidFill>
            <a:effectLst>
              <a:outerShdw blurRad="40000" dist="23000" dir="5400000" sx="1000" sy="1000" rotWithShape="0">
                <a:srgbClr val="000000">
                  <a:alpha val="0"/>
                </a:srgbClr>
              </a:outerShdw>
            </a:effectLst>
          </p:spPr>
          <p:style>
            <a:lnRef idx="1">
              <a:schemeClr val="dk1"/>
            </a:lnRef>
            <a:fillRef idx="3">
              <a:schemeClr val="dk1"/>
            </a:fillRef>
            <a:effectRef idx="2">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 name="Oval 12">
              <a:extLst>
                <a:ext uri="{FF2B5EF4-FFF2-40B4-BE49-F238E27FC236}">
                  <a16:creationId xmlns:a16="http://schemas.microsoft.com/office/drawing/2014/main" id="{D10A5DD6-41F0-4549-8F22-C86E4622FFC9}"/>
                </a:ext>
              </a:extLst>
            </p:cNvPr>
            <p:cNvSpPr/>
            <p:nvPr/>
          </p:nvSpPr>
          <p:spPr>
            <a:xfrm>
              <a:off x="7390432" y="3003508"/>
              <a:ext cx="180975" cy="188595"/>
            </a:xfrm>
            <a:prstGeom prst="ellipse">
              <a:avLst/>
            </a:prstGeom>
            <a:solidFill>
              <a:schemeClr val="tx1"/>
            </a:solidFill>
            <a:effectLst>
              <a:outerShdw blurRad="40000" dist="23000" dir="5400000" sx="1000" sy="1000" rotWithShape="0">
                <a:srgbClr val="000000">
                  <a:alpha val="0"/>
                </a:srgbClr>
              </a:outerShdw>
            </a:effectLst>
          </p:spPr>
          <p:style>
            <a:lnRef idx="1">
              <a:schemeClr val="dk1"/>
            </a:lnRef>
            <a:fillRef idx="3">
              <a:schemeClr val="dk1"/>
            </a:fillRef>
            <a:effectRef idx="2">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mc:AlternateContent xmlns:mc="http://schemas.openxmlformats.org/markup-compatibility/2006" xmlns:a14="http://schemas.microsoft.com/office/drawing/2010/main">
          <mc:Choice Requires="a14">
            <p:sp>
              <p:nvSpPr>
                <p:cNvPr id="14" name="Text Box 7">
                  <a:extLst>
                    <a:ext uri="{FF2B5EF4-FFF2-40B4-BE49-F238E27FC236}">
                      <a16:creationId xmlns:a16="http://schemas.microsoft.com/office/drawing/2014/main" id="{6EED0731-BA75-2648-B23A-FC929A7E8609}"/>
                    </a:ext>
                  </a:extLst>
                </p:cNvPr>
                <p:cNvSpPr txBox="1"/>
                <p:nvPr/>
              </p:nvSpPr>
              <p:spPr>
                <a:xfrm>
                  <a:off x="1689479" y="2631903"/>
                  <a:ext cx="485775" cy="3841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2400" i="1" baseline="-25000">
                            <a:latin typeface="Cambria Math" panose="02040503050406030204" pitchFamily="18" charset="0"/>
                            <a:ea typeface="Times New Roman" panose="02020603050405020304" pitchFamily="18" charset="0"/>
                            <a:cs typeface="Times New Roman" panose="02020603050405020304" pitchFamily="18" charset="0"/>
                          </a:rPr>
                          <m:t>𝑊</m:t>
                        </m:r>
                      </m:oMath>
                    </m:oMathPara>
                  </a14:m>
                  <a:endParaRPr lang="en-US"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4" name="Text Box 7">
                  <a:extLst>
                    <a:ext uri="{FF2B5EF4-FFF2-40B4-BE49-F238E27FC236}">
                      <a16:creationId xmlns:a16="http://schemas.microsoft.com/office/drawing/2014/main" xmlns:a14="http://schemas.microsoft.com/office/drawing/2010/main" xmlns="" id="{6EED0731-BA75-2648-B23A-FC929A7E8609}"/>
                    </a:ext>
                  </a:extLst>
                </p:cNvPr>
                <p:cNvSpPr txBox="1">
                  <a:spLocks noRot="1" noChangeAspect="1" noMove="1" noResize="1" noEditPoints="1" noAdjustHandles="1" noChangeArrowheads="1" noChangeShapeType="1" noTextEdit="1"/>
                </p:cNvSpPr>
                <p:nvPr/>
              </p:nvSpPr>
              <p:spPr>
                <a:xfrm>
                  <a:off x="1689479" y="2631903"/>
                  <a:ext cx="485775" cy="384175"/>
                </a:xfrm>
                <a:prstGeom prst="rect">
                  <a:avLst/>
                </a:prstGeom>
                <a:blipFill rotWithShape="1">
                  <a:blip r:embed="rId4"/>
                  <a:stretch>
                    <a:fillRect b="-9524"/>
                  </a:stretch>
                </a:blipFill>
                <a:ln w="6350">
                  <a:noFill/>
                </a:ln>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16" name="Text Box 8">
                  <a:extLst>
                    <a:ext uri="{FF2B5EF4-FFF2-40B4-BE49-F238E27FC236}">
                      <a16:creationId xmlns:a16="http://schemas.microsoft.com/office/drawing/2014/main" id="{AAA72D26-3C62-7E4E-A56F-5AA0323E652F}"/>
                    </a:ext>
                  </a:extLst>
                </p:cNvPr>
                <p:cNvSpPr txBox="1"/>
                <p:nvPr/>
              </p:nvSpPr>
              <p:spPr>
                <a:xfrm>
                  <a:off x="3050093" y="2624918"/>
                  <a:ext cx="485775" cy="3841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2400" i="1" baseline="-25000">
                            <a:latin typeface="Cambria Math" panose="02040503050406030204" pitchFamily="18" charset="0"/>
                            <a:ea typeface="Times New Roman" panose="02020603050405020304" pitchFamily="18" charset="0"/>
                            <a:cs typeface="Times New Roman" panose="02020603050405020304" pitchFamily="18" charset="0"/>
                          </a:rPr>
                          <m:t>𝑊</m:t>
                        </m:r>
                        <m:r>
                          <a:rPr lang="en-US" sz="2400" i="1" baseline="-25000">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n-US"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6" name="Text Box 8">
                  <a:extLst>
                    <a:ext uri="{FF2B5EF4-FFF2-40B4-BE49-F238E27FC236}">
                      <a16:creationId xmlns:a16="http://schemas.microsoft.com/office/drawing/2014/main" xmlns:a14="http://schemas.microsoft.com/office/drawing/2010/main" xmlns="" id="{AAA72D26-3C62-7E4E-A56F-5AA0323E652F}"/>
                    </a:ext>
                  </a:extLst>
                </p:cNvPr>
                <p:cNvSpPr txBox="1">
                  <a:spLocks noRot="1" noChangeAspect="1" noMove="1" noResize="1" noEditPoints="1" noAdjustHandles="1" noChangeArrowheads="1" noChangeShapeType="1" noTextEdit="1"/>
                </p:cNvSpPr>
                <p:nvPr/>
              </p:nvSpPr>
              <p:spPr>
                <a:xfrm>
                  <a:off x="3050093" y="2624918"/>
                  <a:ext cx="485775" cy="384175"/>
                </a:xfrm>
                <a:prstGeom prst="rect">
                  <a:avLst/>
                </a:prstGeom>
                <a:blipFill rotWithShape="1">
                  <a:blip r:embed="rId5"/>
                  <a:stretch>
                    <a:fillRect b="-9524"/>
                  </a:stretch>
                </a:blipFill>
                <a:ln w="6350">
                  <a:noFill/>
                </a:ln>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17" name="Text Box 9">
                  <a:extLst>
                    <a:ext uri="{FF2B5EF4-FFF2-40B4-BE49-F238E27FC236}">
                      <a16:creationId xmlns:a16="http://schemas.microsoft.com/office/drawing/2014/main" id="{4AE9D928-C00D-1944-81C4-A7D54CF39E3B}"/>
                    </a:ext>
                  </a:extLst>
                </p:cNvPr>
                <p:cNvSpPr txBox="1"/>
                <p:nvPr/>
              </p:nvSpPr>
              <p:spPr>
                <a:xfrm>
                  <a:off x="7480919" y="2619333"/>
                  <a:ext cx="485775" cy="3841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2400" i="1" baseline="-25000">
                            <a:latin typeface="Cambria Math" panose="02040503050406030204" pitchFamily="18" charset="0"/>
                            <a:ea typeface="Times New Roman" panose="02020603050405020304" pitchFamily="18" charset="0"/>
                            <a:cs typeface="Times New Roman" panose="02020603050405020304" pitchFamily="18" charset="0"/>
                          </a:rPr>
                          <m:t>𝑊</m:t>
                        </m:r>
                        <m:r>
                          <a:rPr lang="en-US" sz="2400" i="1" baseline="-25000">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n-US"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7" name="Text Box 9">
                  <a:extLst>
                    <a:ext uri="{FF2B5EF4-FFF2-40B4-BE49-F238E27FC236}">
                      <a16:creationId xmlns:a16="http://schemas.microsoft.com/office/drawing/2014/main" xmlns:a14="http://schemas.microsoft.com/office/drawing/2010/main" xmlns="" id="{4AE9D928-C00D-1944-81C4-A7D54CF39E3B}"/>
                    </a:ext>
                  </a:extLst>
                </p:cNvPr>
                <p:cNvSpPr txBox="1">
                  <a:spLocks noRot="1" noChangeAspect="1" noMove="1" noResize="1" noEditPoints="1" noAdjustHandles="1" noChangeArrowheads="1" noChangeShapeType="1" noTextEdit="1"/>
                </p:cNvSpPr>
                <p:nvPr/>
              </p:nvSpPr>
              <p:spPr>
                <a:xfrm>
                  <a:off x="7480919" y="2619333"/>
                  <a:ext cx="485775" cy="384175"/>
                </a:xfrm>
                <a:prstGeom prst="rect">
                  <a:avLst/>
                </a:prstGeom>
                <a:blipFill rotWithShape="1">
                  <a:blip r:embed="rId6"/>
                  <a:stretch>
                    <a:fillRect b="-9524"/>
                  </a:stretch>
                </a:blipFill>
                <a:ln w="6350">
                  <a:noFill/>
                </a:ln>
              </p:spPr>
              <p:txBody>
                <a:bodyPr/>
                <a:lstStyle/>
                <a:p>
                  <a:r>
                    <a:rPr lang="en-PH">
                      <a:noFill/>
                    </a:rPr>
                    <a:t> </a:t>
                  </a:r>
                </a:p>
              </p:txBody>
            </p:sp>
          </mc:Fallback>
        </mc:AlternateContent>
      </p:grpSp>
      <p:pic>
        <p:nvPicPr>
          <p:cNvPr id="283"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04334" y="60449"/>
            <a:ext cx="1059386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500" b="1" dirty="0">
                <a:solidFill>
                  <a:srgbClr val="33BEA6"/>
                </a:solidFill>
                <a:latin typeface="Verdana"/>
                <a:ea typeface="Verdana"/>
                <a:cs typeface="Verdana"/>
                <a:sym typeface="Verdana"/>
              </a:rPr>
              <a:t>1.4.2 Exploration: Dilating a Line Segment</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a:t>
            </a:r>
            <a:endParaRPr i="1" dirty="0">
              <a:latin typeface="Calibri"/>
              <a:ea typeface="Calibri"/>
              <a:cs typeface="Calibri"/>
              <a:sym typeface="Calibri"/>
            </a:endParaRP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auto">
          <a:xfrm>
            <a:off x="479088" y="246909"/>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9" name="Google Shape;278;g104476d1465_1_17">
            <a:extLst>
              <a:ext uri="{FF2B5EF4-FFF2-40B4-BE49-F238E27FC236}">
                <a16:creationId xmlns:a16="http://schemas.microsoft.com/office/drawing/2014/main" id="{77FDFF9E-9668-7F40-B604-2436455445A7}"/>
              </a:ext>
            </a:extLst>
          </p:cNvPr>
          <p:cNvSpPr/>
          <p:nvPr/>
        </p:nvSpPr>
        <p:spPr>
          <a:xfrm>
            <a:off x="0" y="-810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2352480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9879"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1653"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22</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4EB5C6-2FDE-474B-866F-02AD6706D73C}"/>
                  </a:ext>
                </a:extLst>
              </p:cNvPr>
              <p:cNvSpPr txBox="1"/>
              <p:nvPr/>
            </p:nvSpPr>
            <p:spPr>
              <a:xfrm>
                <a:off x="847493" y="415361"/>
                <a:ext cx="10281424" cy="2886496"/>
              </a:xfrm>
              <a:prstGeom prst="rect">
                <a:avLst/>
              </a:prstGeom>
              <a:noFill/>
            </p:spPr>
            <p:txBody>
              <a:bodyPr wrap="square" rtlCol="0">
                <a:spAutoFit/>
              </a:bodyPr>
              <a:lstStyle/>
              <a:p>
                <a:pPr marL="898525" indent="-457200">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Two students described the relationship </a:t>
                </a:r>
                <a14:m>
                  <m:oMath xmlns:m="http://schemas.openxmlformats.org/officeDocument/2006/math">
                    <m:acc>
                      <m:accPr>
                        <m:chr m:val="̅"/>
                        <m:ctrlPr>
                          <a:rPr lang="en-US" sz="2000" i="1">
                            <a:latin typeface="Cambria Math" panose="02040503050406030204" pitchFamily="18" charset="0"/>
                          </a:rPr>
                        </m:ctrlPr>
                      </m:accPr>
                      <m:e>
                        <m:r>
                          <a:rPr lang="en-US" sz="2000" i="1">
                            <a:latin typeface="Cambria Math"/>
                          </a:rPr>
                          <m:t>𝑊𝑊</m:t>
                        </m:r>
                        <m:r>
                          <a:rPr lang="en-US" sz="2000" i="1">
                            <a:latin typeface="Cambria Math"/>
                          </a:rPr>
                          <m:t>′′</m:t>
                        </m:r>
                      </m:e>
                    </m:acc>
                  </m:oMath>
                </a14:m>
                <a:r>
                  <a:rPr lang="en-US" sz="2000" dirty="0">
                    <a:latin typeface="Verdana" panose="020B0604030504040204" pitchFamily="34" charset="0"/>
                    <a:ea typeface="Verdana" panose="020B0604030504040204" pitchFamily="34" charset="0"/>
                    <a:cs typeface="Verdana" panose="020B0604030504040204" pitchFamily="34" charset="0"/>
                  </a:rPr>
                  <a:t> has with </a:t>
                </a:r>
                <a14:m>
                  <m:oMath xmlns:m="http://schemas.openxmlformats.org/officeDocument/2006/math">
                    <m:acc>
                      <m:accPr>
                        <m:chr m:val="̅"/>
                        <m:ctrlPr>
                          <a:rPr lang="en-US" sz="2000" i="1">
                            <a:latin typeface="Cambria Math" panose="02040503050406030204" pitchFamily="18" charset="0"/>
                          </a:rPr>
                        </m:ctrlPr>
                      </m:accPr>
                      <m:e>
                        <m:r>
                          <a:rPr lang="en-US" sz="2000" i="1">
                            <a:latin typeface="Cambria Math"/>
                          </a:rPr>
                          <m:t>𝑊𝑊</m:t>
                        </m:r>
                        <m:r>
                          <a:rPr lang="en-US" sz="2000" i="1">
                            <a:latin typeface="Cambria Math"/>
                          </a:rPr>
                          <m:t>′</m:t>
                        </m:r>
                      </m:e>
                    </m:acc>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898525" indent="-4572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41325"/>
                <a:endParaRPr lang="en-US" sz="2000" dirty="0">
                  <a:latin typeface="Verdana" panose="020B0604030504040204" pitchFamily="34" charset="0"/>
                  <a:ea typeface="Verdana" panose="020B0604030504040204" pitchFamily="34" charset="0"/>
                  <a:cs typeface="Verdana" panose="020B0604030504040204" pitchFamily="34" charset="0"/>
                </a:endParaRPr>
              </a:p>
              <a:p>
                <a:pPr marL="441325"/>
                <a:endParaRPr lang="en-US" sz="2000" dirty="0">
                  <a:latin typeface="Verdana" panose="020B0604030504040204" pitchFamily="34" charset="0"/>
                  <a:ea typeface="Verdana" panose="020B0604030504040204" pitchFamily="34" charset="0"/>
                  <a:cs typeface="Verdana" panose="020B0604030504040204" pitchFamily="34" charset="0"/>
                </a:endParaRPr>
              </a:p>
              <a:p>
                <a:pPr marL="441325"/>
                <a:endParaRPr lang="en-US" sz="2000" dirty="0">
                  <a:latin typeface="Verdana" panose="020B0604030504040204" pitchFamily="34" charset="0"/>
                  <a:ea typeface="Verdana" panose="020B0604030504040204" pitchFamily="34" charset="0"/>
                  <a:cs typeface="Verdana" panose="020B0604030504040204" pitchFamily="34" charset="0"/>
                </a:endParaRPr>
              </a:p>
              <a:p>
                <a:pPr marL="441325"/>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a:r>
                  <a:rPr lang="en-US" sz="2000" dirty="0">
                    <a:latin typeface="Verdana" panose="020B0604030504040204" pitchFamily="34" charset="0"/>
                    <a:ea typeface="Verdana" panose="020B0604030504040204" pitchFamily="34" charset="0"/>
                    <a:cs typeface="Verdana" panose="020B0604030504040204" pitchFamily="34" charset="0"/>
                  </a:rPr>
                  <a:t>Discuss with your partner which student is correct and the mistake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the other student made. Write a brief note to the student who made the mistake.</a:t>
                </a:r>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847493" y="415361"/>
                <a:ext cx="10281424" cy="2886496"/>
              </a:xfrm>
              <a:prstGeom prst="rect">
                <a:avLst/>
              </a:prstGeom>
              <a:blipFill>
                <a:blip r:embed="rId4"/>
                <a:stretch>
                  <a:fillRect t="-437" b="-2620"/>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120769DD-BB28-C740-A6A6-8565E70B1E53}"/>
              </a:ext>
            </a:extLst>
          </p:cNvPr>
          <p:cNvSpPr/>
          <p:nvPr/>
        </p:nvSpPr>
        <p:spPr>
          <a:xfrm>
            <a:off x="0" y="-1115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6FDA0BE7-1D2D-C142-B3B1-8BD101CD90BD}"/>
                  </a:ext>
                </a:extLst>
              </p:cNvPr>
              <p:cNvGraphicFramePr>
                <a:graphicFrameLocks noGrp="1"/>
              </p:cNvGraphicFramePr>
              <p:nvPr>
                <p:extLst>
                  <p:ext uri="{D42A27DB-BD31-4B8C-83A1-F6EECF244321}">
                    <p14:modId xmlns:p14="http://schemas.microsoft.com/office/powerpoint/2010/main" val="756467026"/>
                  </p:ext>
                </p:extLst>
              </p:nvPr>
            </p:nvGraphicFramePr>
            <p:xfrm>
              <a:off x="1835549" y="961140"/>
              <a:ext cx="7560000" cy="1145159"/>
            </p:xfrm>
            <a:graphic>
              <a:graphicData uri="http://schemas.openxmlformats.org/drawingml/2006/table">
                <a:tbl>
                  <a:tblPr firstRow="1" firstCol="1" bandRow="1">
                    <a:tableStyleId>{A91F0D33-8C57-4600-99A7-42BC86742BE1}</a:tableStyleId>
                  </a:tblPr>
                  <a:tblGrid>
                    <a:gridCol w="3780000">
                      <a:extLst>
                        <a:ext uri="{9D8B030D-6E8A-4147-A177-3AD203B41FA5}">
                          <a16:colId xmlns:a16="http://schemas.microsoft.com/office/drawing/2014/main" val="2220588329"/>
                        </a:ext>
                      </a:extLst>
                    </a:gridCol>
                    <a:gridCol w="3780000">
                      <a:extLst>
                        <a:ext uri="{9D8B030D-6E8A-4147-A177-3AD203B41FA5}">
                          <a16:colId xmlns:a16="http://schemas.microsoft.com/office/drawing/2014/main" val="532923244"/>
                        </a:ext>
                      </a:extLst>
                    </a:gridCol>
                  </a:tblGrid>
                  <a:tr h="371770">
                    <a:tc>
                      <a:txBody>
                        <a:bodyPr/>
                        <a:lstStyle/>
                        <a:p>
                          <a:pPr marL="0" marR="0" algn="ctr">
                            <a:spcBef>
                              <a:spcPts val="0"/>
                            </a:spcBef>
                            <a:spcAft>
                              <a:spcPts val="0"/>
                            </a:spcAft>
                          </a:pPr>
                          <a:r>
                            <a:rPr lang="en-US" sz="2000" b="1" dirty="0" err="1">
                              <a:effectLst/>
                              <a:latin typeface="Verdana" panose="020B0604030504040204" pitchFamily="34" charset="0"/>
                              <a:ea typeface="Verdana" panose="020B0604030504040204" pitchFamily="34" charset="0"/>
                              <a:cs typeface="Verdana" panose="020B0604030504040204" pitchFamily="34" charset="0"/>
                            </a:rPr>
                            <a:t>Jaquaze</a:t>
                          </a:r>
                          <a:endParaRPr lang="en-US" sz="2000" b="1" dirty="0">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Andrés</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3349099866"/>
                      </a:ext>
                    </a:extLst>
                  </a:tr>
                  <a:tr h="489107">
                    <a:tc>
                      <a:txBody>
                        <a:bodyPr/>
                        <a:lstStyle/>
                        <a:p>
                          <a:pPr marL="0" marR="0">
                            <a:spcBef>
                              <a:spcPts val="0"/>
                            </a:spcBef>
                            <a:spcAft>
                              <a:spcPts val="0"/>
                            </a:spcAft>
                          </a:pPr>
                          <a14:m>
                            <m:oMath xmlns:m="http://schemas.openxmlformats.org/officeDocument/2006/math">
                              <m:acc>
                                <m:accPr>
                                  <m:chr m:val="̅"/>
                                  <m:ctrlPr>
                                    <a:rPr lang="en-US" sz="2000" i="1">
                                      <a:effectLst/>
                                      <a:latin typeface="Cambria Math" panose="02040503050406030204" pitchFamily="18" charset="0"/>
                                    </a:rPr>
                                  </m:ctrlPr>
                                </m:accPr>
                                <m:e>
                                  <m:r>
                                    <a:rPr lang="en-US" sz="2000">
                                      <a:effectLst/>
                                      <a:latin typeface="Cambria Math"/>
                                    </a:rPr>
                                    <m:t>𝑊𝑊</m:t>
                                  </m:r>
                                  <m:r>
                                    <a:rPr lang="en-US" sz="2000">
                                      <a:effectLst/>
                                      <a:latin typeface="Cambria Math"/>
                                    </a:rPr>
                                    <m:t>′′</m:t>
                                  </m:r>
                                </m:e>
                              </m:acc>
                            </m:oMath>
                          </a14:m>
                          <a:r>
                            <a:rPr lang="en-US" sz="2000" dirty="0">
                              <a:effectLst/>
                              <a:latin typeface="Verdana" panose="020B0604030504040204" pitchFamily="34" charset="0"/>
                              <a:ea typeface="Verdana" panose="020B0604030504040204" pitchFamily="34" charset="0"/>
                              <a:cs typeface="Verdana" panose="020B0604030504040204" pitchFamily="34" charset="0"/>
                            </a:rPr>
                            <a:t> is three times as long as </a:t>
                          </a:r>
                          <a14:m>
                            <m:oMath xmlns:m="http://schemas.openxmlformats.org/officeDocument/2006/math">
                              <m:acc>
                                <m:accPr>
                                  <m:chr m:val="̅"/>
                                  <m:ctrlPr>
                                    <a:rPr lang="en-US" sz="2000" i="1">
                                      <a:effectLst/>
                                      <a:latin typeface="Cambria Math" panose="02040503050406030204" pitchFamily="18" charset="0"/>
                                    </a:rPr>
                                  </m:ctrlPr>
                                </m:accPr>
                                <m:e>
                                  <m:r>
                                    <a:rPr lang="en-US" sz="2000">
                                      <a:effectLst/>
                                      <a:latin typeface="Cambria Math"/>
                                    </a:rPr>
                                    <m:t>𝑊𝑊</m:t>
                                  </m:r>
                                  <m:r>
                                    <a:rPr lang="en-US" sz="2000">
                                      <a:effectLst/>
                                      <a:latin typeface="Cambria Math"/>
                                    </a:rPr>
                                    <m:t>′</m:t>
                                  </m:r>
                                </m:e>
                              </m:acc>
                            </m:oMath>
                          </a14:m>
                          <a:r>
                            <a:rPr lang="en-US" sz="2000" dirty="0">
                              <a:effectLst/>
                              <a:latin typeface="Verdana" panose="020B0604030504040204" pitchFamily="34" charset="0"/>
                              <a:ea typeface="Verdana" panose="020B0604030504040204" pitchFamily="34" charset="0"/>
                              <a:cs typeface="Verdana" panose="020B0604030504040204"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14:m>
                            <m:oMath xmlns:m="http://schemas.openxmlformats.org/officeDocument/2006/math">
                              <m:acc>
                                <m:accPr>
                                  <m:chr m:val="̅"/>
                                  <m:ctrlPr>
                                    <a:rPr lang="en-US" sz="2000" i="1">
                                      <a:effectLst/>
                                      <a:latin typeface="Cambria Math" panose="02040503050406030204" pitchFamily="18" charset="0"/>
                                    </a:rPr>
                                  </m:ctrlPr>
                                </m:accPr>
                                <m:e>
                                  <m:r>
                                    <a:rPr lang="en-US" sz="2000">
                                      <a:effectLst/>
                                      <a:latin typeface="Cambria Math"/>
                                    </a:rPr>
                                    <m:t>𝑊𝑊</m:t>
                                  </m:r>
                                  <m:r>
                                    <a:rPr lang="en-US" sz="2000">
                                      <a:effectLst/>
                                      <a:latin typeface="Cambria Math"/>
                                    </a:rPr>
                                    <m:t>′′</m:t>
                                  </m:r>
                                </m:e>
                              </m:acc>
                            </m:oMath>
                          </a14:m>
                          <a:r>
                            <a:rPr lang="en-US" sz="2000" dirty="0">
                              <a:effectLst/>
                              <a:latin typeface="Verdana" panose="020B0604030504040204" pitchFamily="34" charset="0"/>
                              <a:ea typeface="Verdana" panose="020B0604030504040204" pitchFamily="34" charset="0"/>
                              <a:cs typeface="Verdana" panose="020B0604030504040204" pitchFamily="34" charset="0"/>
                            </a:rPr>
                            <a:t> is four times as long as </a:t>
                          </a:r>
                          <a14:m>
                            <m:oMath xmlns:m="http://schemas.openxmlformats.org/officeDocument/2006/math">
                              <m:acc>
                                <m:accPr>
                                  <m:chr m:val="̅"/>
                                  <m:ctrlPr>
                                    <a:rPr lang="en-US" sz="2000" i="1">
                                      <a:effectLst/>
                                      <a:latin typeface="Cambria Math" panose="02040503050406030204" pitchFamily="18" charset="0"/>
                                    </a:rPr>
                                  </m:ctrlPr>
                                </m:accPr>
                                <m:e>
                                  <m:r>
                                    <a:rPr lang="en-US" sz="2000">
                                      <a:effectLst/>
                                      <a:latin typeface="Cambria Math"/>
                                    </a:rPr>
                                    <m:t>𝑊𝑊</m:t>
                                  </m:r>
                                  <m:r>
                                    <a:rPr lang="en-US" sz="2000">
                                      <a:effectLst/>
                                      <a:latin typeface="Cambria Math"/>
                                    </a:rPr>
                                    <m:t>′</m:t>
                                  </m:r>
                                </m:e>
                              </m:acc>
                            </m:oMath>
                          </a14:m>
                          <a:r>
                            <a:rPr lang="en-US" sz="2000" dirty="0">
                              <a:effectLst/>
                              <a:latin typeface="Verdana" panose="020B0604030504040204" pitchFamily="34" charset="0"/>
                              <a:ea typeface="Verdana" panose="020B0604030504040204" pitchFamily="34" charset="0"/>
                              <a:cs typeface="Verdana" panose="020B0604030504040204"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85460204"/>
                      </a:ext>
                    </a:extLst>
                  </a:tr>
                </a:tbl>
              </a:graphicData>
            </a:graphic>
          </p:graphicFrame>
        </mc:Choice>
        <mc:Fallback xmlns="">
          <p:graphicFrame>
            <p:nvGraphicFramePr>
              <p:cNvPr id="2" name="Table 1">
                <a:extLst>
                  <a:ext uri="{FF2B5EF4-FFF2-40B4-BE49-F238E27FC236}">
                    <a16:creationId xmlns:a16="http://schemas.microsoft.com/office/drawing/2014/main" id="{6FDA0BE7-1D2D-C142-B3B1-8BD101CD90BD}"/>
                  </a:ext>
                </a:extLst>
              </p:cNvPr>
              <p:cNvGraphicFramePr>
                <a:graphicFrameLocks noGrp="1"/>
              </p:cNvGraphicFramePr>
              <p:nvPr>
                <p:extLst>
                  <p:ext uri="{D42A27DB-BD31-4B8C-83A1-F6EECF244321}">
                    <p14:modId xmlns:p14="http://schemas.microsoft.com/office/powerpoint/2010/main" val="756467026"/>
                  </p:ext>
                </p:extLst>
              </p:nvPr>
            </p:nvGraphicFramePr>
            <p:xfrm>
              <a:off x="1835549" y="961140"/>
              <a:ext cx="7560000" cy="1145159"/>
            </p:xfrm>
            <a:graphic>
              <a:graphicData uri="http://schemas.openxmlformats.org/drawingml/2006/table">
                <a:tbl>
                  <a:tblPr firstRow="1" firstCol="1" bandRow="1">
                    <a:tableStyleId>{A91F0D33-8C57-4600-99A7-42BC86742BE1}</a:tableStyleId>
                  </a:tblPr>
                  <a:tblGrid>
                    <a:gridCol w="3780000">
                      <a:extLst>
                        <a:ext uri="{9D8B030D-6E8A-4147-A177-3AD203B41FA5}">
                          <a16:colId xmlns:a16="http://schemas.microsoft.com/office/drawing/2014/main" val="2220588329"/>
                        </a:ext>
                      </a:extLst>
                    </a:gridCol>
                    <a:gridCol w="3780000">
                      <a:extLst>
                        <a:ext uri="{9D8B030D-6E8A-4147-A177-3AD203B41FA5}">
                          <a16:colId xmlns:a16="http://schemas.microsoft.com/office/drawing/2014/main" val="532923244"/>
                        </a:ext>
                      </a:extLst>
                    </a:gridCol>
                  </a:tblGrid>
                  <a:tr h="396240">
                    <a:tc>
                      <a:txBody>
                        <a:bodyPr/>
                        <a:lstStyle/>
                        <a:p>
                          <a:pPr marL="0" marR="0" algn="ctr">
                            <a:spcBef>
                              <a:spcPts val="0"/>
                            </a:spcBef>
                            <a:spcAft>
                              <a:spcPts val="0"/>
                            </a:spcAft>
                          </a:pPr>
                          <a:r>
                            <a:rPr lang="en-US" sz="2000" b="1" dirty="0" err="1">
                              <a:effectLst/>
                              <a:latin typeface="Verdana" panose="020B0604030504040204" pitchFamily="34" charset="0"/>
                              <a:ea typeface="Verdana" panose="020B0604030504040204" pitchFamily="34" charset="0"/>
                              <a:cs typeface="Verdana" panose="020B0604030504040204" pitchFamily="34" charset="0"/>
                            </a:rPr>
                            <a:t>Jaquaze</a:t>
                          </a:r>
                          <a:endParaRPr lang="en-US" sz="2000" b="1" dirty="0">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Andrés</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3349099866"/>
                      </a:ext>
                    </a:extLst>
                  </a:tr>
                  <a:tr h="74891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61" t="-56452" r="-100161" b="-14516"/>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00323" t="-56452" r="-323" b="-14516"/>
                          </a:stretch>
                        </a:blipFill>
                      </a:tcPr>
                    </a:tc>
                    <a:extLst>
                      <a:ext uri="{0D108BD9-81ED-4DB2-BD59-A6C34878D82A}">
                        <a16:rowId xmlns:a16="http://schemas.microsoft.com/office/drawing/2014/main" val="2785460204"/>
                      </a:ext>
                    </a:extLst>
                  </a:tr>
                </a:tbl>
              </a:graphicData>
            </a:graphic>
          </p:graphicFrame>
        </mc:Fallback>
      </mc:AlternateContent>
      <p:sp>
        <p:nvSpPr>
          <p:cNvPr id="7" name="Rounded Rectangle 6">
            <a:extLst>
              <a:ext uri="{FF2B5EF4-FFF2-40B4-BE49-F238E27FC236}">
                <a16:creationId xmlns:a16="http://schemas.microsoft.com/office/drawing/2014/main" id="{F2F47D29-2FED-244E-8454-13A9D7B742B5}"/>
              </a:ext>
            </a:extLst>
          </p:cNvPr>
          <p:cNvSpPr/>
          <p:nvPr/>
        </p:nvSpPr>
        <p:spPr>
          <a:xfrm>
            <a:off x="1333744" y="3429586"/>
            <a:ext cx="2100580" cy="3155439"/>
          </a:xfrm>
          <a:prstGeom prst="roundRect">
            <a:avLst>
              <a:gd name="adj" fmla="val 16667"/>
            </a:avLst>
          </a:prstGeom>
          <a:solidFill>
            <a:srgbClr val="DAE5F1"/>
          </a:solidFill>
          <a:ln>
            <a:noFill/>
          </a:ln>
        </p:spPr>
        <p:txBody>
          <a:bodyPr spcFirstLastPara="1" wrap="square" lIns="91425" tIns="45700" rIns="91425" bIns="45700" anchor="ctr" anchorCtr="0">
            <a:spAutoFit/>
          </a:bodyPr>
          <a:lstStyle/>
          <a:p>
            <a:pPr>
              <a:lnSpc>
                <a:spcPct val="115000"/>
              </a:lnSpc>
            </a:pPr>
            <a:r>
              <a:rPr lang="en-US" sz="2000" b="1" dirty="0">
                <a:solidFill>
                  <a:srgbClr val="DB2B2A"/>
                </a:solidFill>
                <a:latin typeface="Verdana" panose="020B0604030504040204" pitchFamily="34" charset="0"/>
                <a:ea typeface="Verdana" panose="020B0604030504040204" pitchFamily="34" charset="0"/>
                <a:cs typeface="Verdana" panose="020B0604030504040204" pitchFamily="34" charset="0"/>
              </a:rPr>
              <a:t>M</a:t>
            </a:r>
            <a:r>
              <a:rPr lang="en-US" sz="2000" b="1" dirty="0">
                <a:latin typeface="Verdana" panose="020B0604030504040204" pitchFamily="34" charset="0"/>
                <a:ea typeface="Verdana" panose="020B0604030504040204" pitchFamily="34" charset="0"/>
                <a:cs typeface="Verdana" panose="020B0604030504040204" pitchFamily="34" charset="0"/>
              </a:rPr>
              <a:t>eans</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a:lnSpc>
                <a:spcPct val="115000"/>
              </a:lnSpc>
            </a:pPr>
            <a:r>
              <a:rPr lang="en-US" sz="2000" b="1" dirty="0">
                <a:solidFill>
                  <a:srgbClr val="F25756"/>
                </a:solidFill>
                <a:latin typeface="Verdana" panose="020B0604030504040204" pitchFamily="34" charset="0"/>
                <a:ea typeface="Verdana" panose="020B0604030504040204" pitchFamily="34" charset="0"/>
                <a:cs typeface="Verdana" panose="020B0604030504040204" pitchFamily="34" charset="0"/>
              </a:rPr>
              <a:t>I</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a:lnSpc>
                <a:spcPct val="115000"/>
              </a:lnSpc>
            </a:pPr>
            <a:r>
              <a:rPr lang="en-US" sz="2000" b="1" dirty="0">
                <a:solidFill>
                  <a:srgbClr val="E99237"/>
                </a:solidFill>
                <a:latin typeface="Verdana" panose="020B0604030504040204" pitchFamily="34" charset="0"/>
                <a:ea typeface="Verdana" panose="020B0604030504040204" pitchFamily="34" charset="0"/>
                <a:cs typeface="Verdana" panose="020B0604030504040204" pitchFamily="34" charset="0"/>
              </a:rPr>
              <a:t>S</a:t>
            </a:r>
            <a:r>
              <a:rPr lang="en-US" sz="2000" b="1" dirty="0">
                <a:latin typeface="Verdana" panose="020B0604030504040204" pitchFamily="34" charset="0"/>
                <a:ea typeface="Verdana" panose="020B0604030504040204" pitchFamily="34" charset="0"/>
                <a:cs typeface="Verdana" panose="020B0604030504040204" pitchFamily="34" charset="0"/>
              </a:rPr>
              <a:t>tart</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a:lnSpc>
                <a:spcPct val="115000"/>
              </a:lnSpc>
            </a:pPr>
            <a:r>
              <a:rPr lang="en-US" sz="2000" b="1" dirty="0">
                <a:solidFill>
                  <a:srgbClr val="FACD17"/>
                </a:solidFill>
                <a:latin typeface="Verdana" panose="020B0604030504040204" pitchFamily="34" charset="0"/>
                <a:ea typeface="Verdana" panose="020B0604030504040204" pitchFamily="34" charset="0"/>
                <a:cs typeface="Verdana" panose="020B0604030504040204" pitchFamily="34" charset="0"/>
              </a:rPr>
              <a:t>T</a:t>
            </a:r>
            <a:r>
              <a:rPr lang="en-US" sz="2000" b="1" dirty="0">
                <a:latin typeface="Verdana" panose="020B0604030504040204" pitchFamily="34" charset="0"/>
                <a:ea typeface="Verdana" panose="020B0604030504040204" pitchFamily="34" charset="0"/>
                <a:cs typeface="Verdana" panose="020B0604030504040204" pitchFamily="34" charset="0"/>
              </a:rPr>
              <a:t>o </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a:lnSpc>
                <a:spcPct val="115000"/>
              </a:lnSpc>
            </a:pPr>
            <a:r>
              <a:rPr lang="en-US" sz="2000" b="1" dirty="0">
                <a:solidFill>
                  <a:srgbClr val="7BA43F"/>
                </a:solidFill>
                <a:latin typeface="Verdana" panose="020B0604030504040204" pitchFamily="34" charset="0"/>
                <a:ea typeface="Verdana" panose="020B0604030504040204" pitchFamily="34" charset="0"/>
                <a:cs typeface="Verdana" panose="020B0604030504040204" pitchFamily="34" charset="0"/>
              </a:rPr>
              <a:t>A</a:t>
            </a:r>
            <a:r>
              <a:rPr lang="en-US" sz="2000" b="1" dirty="0">
                <a:latin typeface="Verdana" panose="020B0604030504040204" pitchFamily="34" charset="0"/>
                <a:ea typeface="Verdana" panose="020B0604030504040204" pitchFamily="34" charset="0"/>
                <a:cs typeface="Verdana" panose="020B0604030504040204" pitchFamily="34" charset="0"/>
              </a:rPr>
              <a:t>cquire</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a:lnSpc>
                <a:spcPct val="115000"/>
              </a:lnSpc>
            </a:pPr>
            <a:r>
              <a:rPr lang="en-US" sz="2000" b="1" dirty="0">
                <a:solidFill>
                  <a:srgbClr val="24B7D2"/>
                </a:solidFill>
                <a:latin typeface="Verdana" panose="020B0604030504040204" pitchFamily="34" charset="0"/>
                <a:ea typeface="Verdana" panose="020B0604030504040204" pitchFamily="34" charset="0"/>
                <a:cs typeface="Verdana" panose="020B0604030504040204" pitchFamily="34" charset="0"/>
              </a:rPr>
              <a:t>K</a:t>
            </a:r>
            <a:r>
              <a:rPr lang="en-US" sz="2000" b="1" dirty="0">
                <a:latin typeface="Verdana" panose="020B0604030504040204" pitchFamily="34" charset="0"/>
                <a:ea typeface="Verdana" panose="020B0604030504040204" pitchFamily="34" charset="0"/>
                <a:cs typeface="Verdana" panose="020B0604030504040204" pitchFamily="34" charset="0"/>
              </a:rPr>
              <a:t>nowledge</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a:lnSpc>
                <a:spcPct val="115000"/>
              </a:lnSpc>
            </a:pPr>
            <a:r>
              <a:rPr lang="en-US" sz="2000" b="1" dirty="0">
                <a:solidFill>
                  <a:srgbClr val="1B74B9"/>
                </a:solidFill>
                <a:latin typeface="Verdana" panose="020B0604030504040204" pitchFamily="34" charset="0"/>
                <a:ea typeface="Verdana" panose="020B0604030504040204" pitchFamily="34" charset="0"/>
                <a:cs typeface="Verdana" panose="020B0604030504040204" pitchFamily="34" charset="0"/>
              </a:rPr>
              <a:t>E</a:t>
            </a:r>
            <a:r>
              <a:rPr lang="en-US" sz="2000" b="1" dirty="0">
                <a:latin typeface="Verdana" panose="020B0604030504040204" pitchFamily="34" charset="0"/>
                <a:ea typeface="Verdana" panose="020B0604030504040204" pitchFamily="34" charset="0"/>
                <a:cs typeface="Verdana" panose="020B0604030504040204" pitchFamily="34" charset="0"/>
              </a:rPr>
              <a:t>xperience </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a:lnSpc>
                <a:spcPct val="115000"/>
              </a:lnSpc>
            </a:pPr>
            <a:r>
              <a:rPr lang="en-US" sz="2000" b="1" dirty="0">
                <a:solidFill>
                  <a:srgbClr val="4A2B79"/>
                </a:solidFill>
                <a:latin typeface="Verdana" panose="020B0604030504040204" pitchFamily="34" charset="0"/>
                <a:ea typeface="Verdana" panose="020B0604030504040204" pitchFamily="34" charset="0"/>
                <a:cs typeface="Verdana" panose="020B0604030504040204" pitchFamily="34" charset="0"/>
              </a:rPr>
              <a:t>S</a:t>
            </a:r>
            <a:r>
              <a:rPr lang="en-US" sz="2000" b="1" dirty="0">
                <a:latin typeface="Verdana" panose="020B0604030504040204" pitchFamily="34" charset="0"/>
                <a:ea typeface="Verdana" panose="020B0604030504040204" pitchFamily="34" charset="0"/>
                <a:cs typeface="Verdana" panose="020B0604030504040204" pitchFamily="34" charset="0"/>
              </a:rPr>
              <a:t>kills</a:t>
            </a:r>
            <a:r>
              <a:rPr lang="en-US" sz="1200" dirty="0">
                <a:latin typeface="Calibri" panose="020F0502020204030204" pitchFamily="34" charset="0"/>
                <a:ea typeface="Calibri" panose="020F0502020204030204" pitchFamily="34" charset="0"/>
                <a:cs typeface="Times New Roman" panose="02020603050405020304" pitchFamily="18" charset="0"/>
              </a:rPr>
              <a:t> </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8" name="Rounded Rectangle 7">
            <a:extLst>
              <a:ext uri="{FF2B5EF4-FFF2-40B4-BE49-F238E27FC236}">
                <a16:creationId xmlns:a16="http://schemas.microsoft.com/office/drawing/2014/main" id="{7BCBD9C9-56F3-184B-B0A6-480FE0253914}"/>
              </a:ext>
            </a:extLst>
          </p:cNvPr>
          <p:cNvSpPr/>
          <p:nvPr/>
        </p:nvSpPr>
        <p:spPr>
          <a:xfrm>
            <a:off x="3845061" y="3270637"/>
            <a:ext cx="4734445" cy="3473335"/>
          </a:xfrm>
          <a:prstGeom prst="roundRect">
            <a:avLst>
              <a:gd name="adj" fmla="val 16667"/>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spcAft>
                <a:spcPts val="1000"/>
              </a:spcAft>
            </a:pPr>
            <a:r>
              <a:rPr lang="en-US" sz="1200" i="1">
                <a:solidFill>
                  <a:srgbClr val="FF0000"/>
                </a:solidFill>
                <a:latin typeface="Verdana" panose="020B0604030504040204" pitchFamily="34" charset="0"/>
                <a:ea typeface="Verdana" panose="020B0604030504040204" pitchFamily="34" charset="0"/>
                <a:cs typeface="Verdana" panose="020B0604030504040204" pitchFamily="34"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87770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7673"/>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474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22</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4EB5C6-2FDE-474B-866F-02AD6706D73C}"/>
                  </a:ext>
                </a:extLst>
              </p:cNvPr>
              <p:cNvSpPr txBox="1"/>
              <p:nvPr/>
            </p:nvSpPr>
            <p:spPr>
              <a:xfrm>
                <a:off x="836341" y="415360"/>
                <a:ext cx="6506154" cy="4064831"/>
              </a:xfrm>
              <a:prstGeom prst="rect">
                <a:avLst/>
              </a:prstGeom>
              <a:noFill/>
            </p:spPr>
            <p:txBody>
              <a:bodyPr wrap="square" rtlCol="0">
                <a:spAutoFit/>
              </a:bodyPr>
              <a:lstStyle/>
              <a:p>
                <a:pPr marL="457200" indent="-457200">
                  <a:spcAft>
                    <a:spcPts val="1800"/>
                  </a:spcAft>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The diagram shows points </a:t>
                </a:r>
                <a14:m>
                  <m:oMath xmlns:m="http://schemas.openxmlformats.org/officeDocument/2006/math">
                    <m:r>
                      <a:rPr lang="en-US" sz="2000" i="1">
                        <a:latin typeface="Cambria Math"/>
                      </a:rPr>
                      <m:t>𝐺</m:t>
                    </m:r>
                  </m:oMath>
                </a14:m>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latin typeface="Cambria Math"/>
                      </a:rPr>
                      <m:t>𝐺</m:t>
                    </m:r>
                    <m:r>
                      <a:rPr lang="en-US" sz="2000" i="1">
                        <a:latin typeface="Cambria Math"/>
                      </a:rPr>
                      <m:t>′</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a:rPr>
                      <m:t>𝐺</m:t>
                    </m:r>
                    <m:r>
                      <a:rPr lang="en-US" sz="2000" i="1">
                        <a:latin typeface="Cambria Math"/>
                      </a:rPr>
                      <m:t>"</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Use patty paper to determine the number of copies of </a:t>
                </a:r>
                <a14:m>
                  <m:oMath xmlns:m="http://schemas.openxmlformats.org/officeDocument/2006/math">
                    <m:acc>
                      <m:accPr>
                        <m:chr m:val="̅"/>
                        <m:ctrlPr>
                          <a:rPr lang="en-US" sz="2000" i="1">
                            <a:latin typeface="Cambria Math" panose="02040503050406030204" pitchFamily="18" charset="0"/>
                          </a:rPr>
                        </m:ctrlPr>
                      </m:accPr>
                      <m:e>
                        <m:r>
                          <a:rPr lang="en-US" sz="2000" i="1">
                            <a:latin typeface="Cambria Math"/>
                          </a:rPr>
                          <m:t>𝐺𝐺</m:t>
                        </m:r>
                        <m:r>
                          <a:rPr lang="en-US" sz="2000" i="1">
                            <a:latin typeface="Cambria Math"/>
                          </a:rPr>
                          <m:t>′</m:t>
                        </m:r>
                      </m:e>
                    </m:acc>
                  </m:oMath>
                </a14:m>
                <a:r>
                  <a:rPr lang="en-US" sz="2000" dirty="0">
                    <a:latin typeface="Verdana" panose="020B0604030504040204" pitchFamily="34" charset="0"/>
                    <a:ea typeface="Verdana" panose="020B0604030504040204" pitchFamily="34" charset="0"/>
                    <a:cs typeface="Verdana" panose="020B0604030504040204" pitchFamily="34" charset="0"/>
                  </a:rPr>
                  <a:t> that will fit on </a:t>
                </a:r>
                <a14:m>
                  <m:oMath xmlns:m="http://schemas.openxmlformats.org/officeDocument/2006/math">
                    <m:acc>
                      <m:accPr>
                        <m:chr m:val="̅"/>
                        <m:ctrlPr>
                          <a:rPr lang="en-US" sz="2000" i="1">
                            <a:latin typeface="Cambria Math" panose="02040503050406030204" pitchFamily="18" charset="0"/>
                          </a:rPr>
                        </m:ctrlPr>
                      </m:accPr>
                      <m:e>
                        <m:r>
                          <a:rPr lang="en-US" sz="2000" i="1">
                            <a:latin typeface="Cambria Math"/>
                          </a:rPr>
                          <m:t>𝐺𝐺</m:t>
                        </m:r>
                        <m:r>
                          <a:rPr lang="en-US" sz="2000" i="1">
                            <a:latin typeface="Cambria Math"/>
                          </a:rPr>
                          <m:t>′′</m:t>
                        </m:r>
                      </m:e>
                    </m:acc>
                  </m:oMath>
                </a14:m>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Discuss with your partner how to use the grid to determine the number of copies of </a:t>
                </a:r>
                <a14:m>
                  <m:oMath xmlns:m="http://schemas.openxmlformats.org/officeDocument/2006/math">
                    <m:acc>
                      <m:accPr>
                        <m:chr m:val="̅"/>
                        <m:ctrlPr>
                          <a:rPr lang="en-US" sz="2000" i="1">
                            <a:latin typeface="Cambria Math" panose="02040503050406030204" pitchFamily="18" charset="0"/>
                          </a:rPr>
                        </m:ctrlPr>
                      </m:accPr>
                      <m:e>
                        <m:r>
                          <a:rPr lang="en-US" sz="2000" i="1">
                            <a:latin typeface="Cambria Math"/>
                          </a:rPr>
                          <m:t>𝐺𝐺</m:t>
                        </m:r>
                        <m:r>
                          <a:rPr lang="en-US" sz="2000" i="1">
                            <a:latin typeface="Cambria Math"/>
                          </a:rPr>
                          <m:t>′</m:t>
                        </m:r>
                      </m:e>
                    </m:acc>
                  </m:oMath>
                </a14:m>
                <a:r>
                  <a:rPr lang="en-US" sz="2000" dirty="0">
                    <a:latin typeface="Verdana" panose="020B0604030504040204" pitchFamily="34" charset="0"/>
                    <a:ea typeface="Verdana" panose="020B0604030504040204" pitchFamily="34" charset="0"/>
                    <a:cs typeface="Verdana" panose="020B0604030504040204" pitchFamily="34" charset="0"/>
                  </a:rPr>
                  <a:t> that will fit on </a:t>
                </a:r>
                <a14:m>
                  <m:oMath xmlns:m="http://schemas.openxmlformats.org/officeDocument/2006/math">
                    <m:acc>
                      <m:accPr>
                        <m:chr m:val="̅"/>
                        <m:ctrlPr>
                          <a:rPr lang="en-US" sz="2000" i="1">
                            <a:latin typeface="Cambria Math" panose="02040503050406030204" pitchFamily="18" charset="0"/>
                          </a:rPr>
                        </m:ctrlPr>
                      </m:accPr>
                      <m:e>
                        <m:r>
                          <a:rPr lang="en-US" sz="2000" i="1">
                            <a:latin typeface="Cambria Math"/>
                          </a:rPr>
                          <m:t>𝐺𝐺</m:t>
                        </m:r>
                        <m:r>
                          <a:rPr lang="en-US" sz="2000" i="1">
                            <a:latin typeface="Cambria Math"/>
                          </a:rPr>
                          <m:t>′′</m:t>
                        </m:r>
                      </m:e>
                    </m:acc>
                  </m:oMath>
                </a14:m>
                <a:r>
                  <a:rPr lang="en-US" sz="2000" dirty="0">
                    <a:latin typeface="Verdana" panose="020B0604030504040204" pitchFamily="34" charset="0"/>
                    <a:ea typeface="Verdana" panose="020B0604030504040204" pitchFamily="34" charset="0"/>
                    <a:cs typeface="Verdana" panose="020B0604030504040204" pitchFamily="34" charset="0"/>
                  </a:rPr>
                  <a:t>. Summarize your discussion.</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836341" y="415360"/>
                <a:ext cx="6506154" cy="4064831"/>
              </a:xfrm>
              <a:prstGeom prst="rect">
                <a:avLst/>
              </a:prstGeom>
              <a:blipFill>
                <a:blip r:embed="rId4"/>
                <a:stretch>
                  <a:fillRect l="-1031" t="-1049" r="-1500"/>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120769DD-BB28-C740-A6A6-8565E70B1E53}"/>
              </a:ext>
            </a:extLst>
          </p:cNvPr>
          <p:cNvSpPr/>
          <p:nvPr/>
        </p:nvSpPr>
        <p:spPr>
          <a:xfrm>
            <a:off x="0" y="-1115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7" name="Picture 6">
            <a:extLst>
              <a:ext uri="{FF2B5EF4-FFF2-40B4-BE49-F238E27FC236}">
                <a16:creationId xmlns:a16="http://schemas.microsoft.com/office/drawing/2014/main" id="{DC09AA19-B100-0F4D-A3E2-8BCB61C103F6}"/>
              </a:ext>
            </a:extLst>
          </p:cNvPr>
          <p:cNvPicPr/>
          <p:nvPr/>
        </p:nvPicPr>
        <p:blipFill>
          <a:blip r:embed="rId5" cstate="screen">
            <a:extLst>
              <a:ext uri="{28A0092B-C50C-407E-A947-70E740481C1C}">
                <a14:useLocalDpi xmlns:a14="http://schemas.microsoft.com/office/drawing/2010/main"/>
              </a:ext>
            </a:extLst>
          </a:blip>
          <a:stretch>
            <a:fillRect/>
          </a:stretch>
        </p:blipFill>
        <p:spPr>
          <a:xfrm>
            <a:off x="7554959" y="415360"/>
            <a:ext cx="3968965" cy="4673695"/>
          </a:xfrm>
          <a:prstGeom prst="rect">
            <a:avLst/>
          </a:prstGeom>
        </p:spPr>
      </p:pic>
    </p:spTree>
    <p:extLst>
      <p:ext uri="{BB962C8B-B14F-4D97-AF65-F5344CB8AC3E}">
        <p14:creationId xmlns:p14="http://schemas.microsoft.com/office/powerpoint/2010/main" val="6878348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4EB5C6-2FDE-474B-866F-02AD6706D73C}"/>
                  </a:ext>
                </a:extLst>
              </p:cNvPr>
              <p:cNvSpPr txBox="1"/>
              <p:nvPr/>
            </p:nvSpPr>
            <p:spPr>
              <a:xfrm>
                <a:off x="847494" y="382315"/>
                <a:ext cx="10292574" cy="2735364"/>
              </a:xfrm>
              <a:prstGeom prst="rect">
                <a:avLst/>
              </a:prstGeom>
              <a:noFill/>
            </p:spPr>
            <p:txBody>
              <a:bodyPr wrap="square" rtlCol="0">
                <a:spAutoFit/>
              </a:bodyPr>
              <a:lstStyle/>
              <a:p>
                <a:pPr marL="908050" indent="-450850">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Ask a classmate how they would use the grid to determine the number of copies of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𝐺𝐺</m:t>
                        </m:r>
                        <m:r>
                          <a:rPr lang="en-US" sz="2400" i="1">
                            <a:latin typeface="Cambria Math"/>
                          </a:rPr>
                          <m:t>′</m:t>
                        </m:r>
                      </m:e>
                    </m:acc>
                  </m:oMath>
                </a14:m>
                <a:r>
                  <a:rPr lang="en-US" sz="2400" dirty="0">
                    <a:latin typeface="Verdana" panose="020B0604030504040204" pitchFamily="34" charset="0"/>
                    <a:ea typeface="Verdana" panose="020B0604030504040204" pitchFamily="34" charset="0"/>
                    <a:cs typeface="Verdana" panose="020B0604030504040204" pitchFamily="34" charset="0"/>
                  </a:rPr>
                  <a:t> that will fit on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𝐺𝐺</m:t>
                        </m:r>
                        <m:r>
                          <a:rPr lang="en-US" sz="2400" i="1">
                            <a:latin typeface="Cambria Math"/>
                          </a:rPr>
                          <m:t>′′</m:t>
                        </m:r>
                      </m:e>
                    </m:acc>
                  </m:oMath>
                </a14:m>
                <a:r>
                  <a:rPr lang="en-US" sz="2400" dirty="0">
                    <a:latin typeface="Verdana" panose="020B0604030504040204" pitchFamily="34" charset="0"/>
                    <a:ea typeface="Verdana" panose="020B0604030504040204" pitchFamily="34" charset="0"/>
                    <a:cs typeface="Verdana" panose="020B0604030504040204" pitchFamily="34" charset="0"/>
                  </a:rPr>
                  <a:t>. Record their description and write your summary of their reason. </a:t>
                </a:r>
                <a:r>
                  <a:rPr lang="en-US" sz="2400" i="1" dirty="0">
                    <a:latin typeface="Verdana" panose="020B0604030504040204" pitchFamily="34" charset="0"/>
                    <a:ea typeface="Verdana" panose="020B0604030504040204" pitchFamily="34" charset="0"/>
                    <a:cs typeface="Verdana" panose="020B0604030504040204" pitchFamily="34" charset="0"/>
                  </a:rPr>
                  <a:t>You are the only person who should write in the first two columns of the table.</a:t>
                </a:r>
                <a:r>
                  <a:rPr lang="en-US" sz="2400" dirty="0">
                    <a:latin typeface="Verdana" panose="020B0604030504040204" pitchFamily="34" charset="0"/>
                    <a:ea typeface="Verdana" panose="020B0604030504040204" pitchFamily="34" charset="0"/>
                    <a:cs typeface="Verdana" panose="020B0604030504040204" pitchFamily="34" charset="0"/>
                  </a:rPr>
                  <a:t> Have the person initial next to your summary stating that your description and summary are correct.</a:t>
                </a:r>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847494" y="382315"/>
                <a:ext cx="10292574" cy="2735364"/>
              </a:xfrm>
              <a:prstGeom prst="rect">
                <a:avLst/>
              </a:prstGeom>
              <a:blipFill>
                <a:blip r:embed="rId4"/>
                <a:stretch>
                  <a:fillRect t="-1786" r="-355" b="-3125"/>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120769DD-BB28-C740-A6A6-8565E70B1E53}"/>
              </a:ext>
            </a:extLst>
          </p:cNvPr>
          <p:cNvSpPr/>
          <p:nvPr/>
        </p:nvSpPr>
        <p:spPr>
          <a:xfrm>
            <a:off x="0" y="-1115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a:extLst>
              <a:ext uri="{FF2B5EF4-FFF2-40B4-BE49-F238E27FC236}">
                <a16:creationId xmlns:a16="http://schemas.microsoft.com/office/drawing/2014/main" id="{B980CF7B-55FA-5A4B-BB38-893328A340A2}"/>
              </a:ext>
            </a:extLst>
          </p:cNvPr>
          <p:cNvGraphicFramePr>
            <a:graphicFrameLocks noGrp="1"/>
          </p:cNvGraphicFramePr>
          <p:nvPr>
            <p:extLst>
              <p:ext uri="{D42A27DB-BD31-4B8C-83A1-F6EECF244321}">
                <p14:modId xmlns:p14="http://schemas.microsoft.com/office/powerpoint/2010/main" val="1302442995"/>
              </p:ext>
            </p:extLst>
          </p:nvPr>
        </p:nvGraphicFramePr>
        <p:xfrm>
          <a:off x="2225183" y="3293829"/>
          <a:ext cx="7200000" cy="3364070"/>
        </p:xfrm>
        <a:graphic>
          <a:graphicData uri="http://schemas.openxmlformats.org/drawingml/2006/table">
            <a:tbl>
              <a:tblPr bandRow="1">
                <a:tableStyleId>{A91F0D33-8C57-4600-99A7-42BC86742BE1}</a:tableStyleId>
              </a:tblPr>
              <a:tblGrid>
                <a:gridCol w="2880000">
                  <a:extLst>
                    <a:ext uri="{9D8B030D-6E8A-4147-A177-3AD203B41FA5}">
                      <a16:colId xmlns:a16="http://schemas.microsoft.com/office/drawing/2014/main" val="2538758815"/>
                    </a:ext>
                  </a:extLst>
                </a:gridCol>
                <a:gridCol w="2880000">
                  <a:extLst>
                    <a:ext uri="{9D8B030D-6E8A-4147-A177-3AD203B41FA5}">
                      <a16:colId xmlns:a16="http://schemas.microsoft.com/office/drawing/2014/main" val="4108757084"/>
                    </a:ext>
                  </a:extLst>
                </a:gridCol>
                <a:gridCol w="1440000">
                  <a:extLst>
                    <a:ext uri="{9D8B030D-6E8A-4147-A177-3AD203B41FA5}">
                      <a16:colId xmlns:a16="http://schemas.microsoft.com/office/drawing/2014/main" val="3522499604"/>
                    </a:ext>
                  </a:extLst>
                </a:gridCol>
              </a:tblGrid>
              <a:tr h="569505">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My Summary of </a:t>
                      </a:r>
                      <a:br>
                        <a:rPr lang="en-US" sz="2000" b="1" dirty="0">
                          <a:effectLst/>
                          <a:latin typeface="Verdana" panose="020B0604030504040204" pitchFamily="34" charset="0"/>
                          <a:ea typeface="Verdana" panose="020B0604030504040204" pitchFamily="34" charset="0"/>
                          <a:cs typeface="Verdana" panose="020B0604030504040204" pitchFamily="34" charset="0"/>
                        </a:rPr>
                      </a:br>
                      <a:r>
                        <a:rPr lang="en-US" sz="2000" b="1" dirty="0">
                          <a:effectLst/>
                          <a:latin typeface="Verdana" panose="020B0604030504040204" pitchFamily="34" charset="0"/>
                          <a:ea typeface="Verdana" panose="020B0604030504040204" pitchFamily="34" charset="0"/>
                          <a:cs typeface="Verdana" panose="020B0604030504040204" pitchFamily="34" charset="0"/>
                        </a:rPr>
                        <a:t>Their Reason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Initials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922958897"/>
                  </a:ext>
                </a:extLst>
              </a:tr>
              <a:tr h="2663030">
                <a:tc>
                  <a:txBody>
                    <a:bodyPr/>
                    <a:lstStyle/>
                    <a:p>
                      <a:pPr marL="0" marR="0">
                        <a:spcBef>
                          <a:spcPts val="0"/>
                        </a:spcBef>
                        <a:spcAft>
                          <a:spcPts val="0"/>
                        </a:spcAft>
                      </a:pPr>
                      <a:r>
                        <a:rPr lang="en-US" sz="1800" dirty="0">
                          <a:effectLst/>
                        </a:rPr>
                        <a:t> </a:t>
                      </a:r>
                      <a:endParaRPr lang="en-US" sz="1200" dirty="0">
                        <a:effectLst/>
                      </a:endParaRPr>
                    </a:p>
                    <a:p>
                      <a:pPr marL="0" marR="0">
                        <a:spcBef>
                          <a:spcPts val="0"/>
                        </a:spcBef>
                        <a:spcAft>
                          <a:spcPts val="0"/>
                        </a:spcAft>
                      </a:pPr>
                      <a:r>
                        <a:rPr lang="en-US" sz="1800" dirty="0">
                          <a:effectLst/>
                        </a:rPr>
                        <a:t> </a:t>
                      </a:r>
                      <a:endParaRPr lang="en-US" sz="1200" dirty="0">
                        <a:effectLst/>
                      </a:endParaRPr>
                    </a:p>
                    <a:p>
                      <a:pPr marL="0" marR="0">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4510775"/>
                  </a:ext>
                </a:extLst>
              </a:tr>
            </a:tbl>
          </a:graphicData>
        </a:graphic>
      </p:graphicFrame>
    </p:spTree>
    <p:extLst>
      <p:ext uri="{BB962C8B-B14F-4D97-AF65-F5344CB8AC3E}">
        <p14:creationId xmlns:p14="http://schemas.microsoft.com/office/powerpoint/2010/main" val="21796984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9781"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1555"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4EB5C6-2FDE-474B-866F-02AD6706D73C}"/>
                  </a:ext>
                </a:extLst>
              </p:cNvPr>
              <p:cNvSpPr txBox="1"/>
              <p:nvPr/>
            </p:nvSpPr>
            <p:spPr>
              <a:xfrm>
                <a:off x="847493" y="1456968"/>
                <a:ext cx="10270273" cy="3083152"/>
              </a:xfrm>
              <a:prstGeom prst="rect">
                <a:avLst/>
              </a:prstGeom>
              <a:noFill/>
            </p:spPr>
            <p:txBody>
              <a:bodyPr wrap="square" rtlCol="0">
                <a:spAutoFit/>
              </a:bodyPr>
              <a:lstStyle/>
              <a:p>
                <a:pPr marL="908050" indent="-450850">
                  <a:buFont typeface="+mj-lt"/>
                  <a:buAutoNum type="alphaLcPeriod" startAt="4"/>
                </a:pPr>
                <a:r>
                  <a:rPr lang="en-US" sz="2000" dirty="0">
                    <a:latin typeface="Verdana" panose="020B0604030504040204" pitchFamily="34" charset="0"/>
                    <a:ea typeface="Verdana" panose="020B0604030504040204" pitchFamily="34" charset="0"/>
                    <a:cs typeface="Verdana" panose="020B0604030504040204" pitchFamily="34" charset="0"/>
                  </a:rPr>
                  <a:t>Use the definition of dilation to describe why </a:t>
                </a:r>
                <a14:m>
                  <m:oMath xmlns:m="http://schemas.openxmlformats.org/officeDocument/2006/math">
                    <m:acc>
                      <m:accPr>
                        <m:chr m:val="̅"/>
                        <m:ctrlPr>
                          <a:rPr lang="en-US" sz="2000" i="1">
                            <a:latin typeface="Cambria Math" panose="02040503050406030204" pitchFamily="18" charset="0"/>
                          </a:rPr>
                        </m:ctrlPr>
                      </m:accPr>
                      <m:e>
                        <m:r>
                          <a:rPr lang="en-US" sz="2000" i="1">
                            <a:latin typeface="Cambria Math"/>
                          </a:rPr>
                          <m:t>𝐺𝐺</m:t>
                        </m:r>
                        <m:r>
                          <a:rPr lang="en-US" sz="2000" i="1">
                            <a:latin typeface="Cambria Math"/>
                          </a:rPr>
                          <m:t>′′</m:t>
                        </m:r>
                      </m:e>
                    </m:acc>
                  </m:oMath>
                </a14:m>
                <a:r>
                  <a:rPr lang="en-US" sz="2000" dirty="0">
                    <a:latin typeface="Verdana" panose="020B0604030504040204" pitchFamily="34" charset="0"/>
                    <a:ea typeface="Verdana" panose="020B0604030504040204" pitchFamily="34" charset="0"/>
                    <a:cs typeface="Verdana" panose="020B0604030504040204" pitchFamily="34" charset="0"/>
                  </a:rPr>
                  <a:t> is a dilation of </a:t>
                </a:r>
                <a14:m>
                  <m:oMath xmlns:m="http://schemas.openxmlformats.org/officeDocument/2006/math">
                    <m:acc>
                      <m:accPr>
                        <m:chr m:val="̅"/>
                        <m:ctrlPr>
                          <a:rPr lang="en-US" sz="2000" i="1">
                            <a:latin typeface="Cambria Math" panose="02040503050406030204" pitchFamily="18" charset="0"/>
                          </a:rPr>
                        </m:ctrlPr>
                      </m:accPr>
                      <m:e>
                        <m:r>
                          <a:rPr lang="en-US" sz="2000" i="1">
                            <a:latin typeface="Cambria Math"/>
                          </a:rPr>
                          <m:t>𝐺𝐺</m:t>
                        </m:r>
                        <m:r>
                          <a:rPr lang="en-US" sz="2000" i="1">
                            <a:latin typeface="Cambria Math"/>
                          </a:rPr>
                          <m:t>′</m:t>
                        </m:r>
                      </m:e>
                    </m:acc>
                  </m:oMath>
                </a14:m>
                <a:r>
                  <a:rPr lang="en-US" sz="2000" dirty="0">
                    <a:latin typeface="Verdana" panose="020B0604030504040204" pitchFamily="34" charset="0"/>
                    <a:ea typeface="Verdana" panose="020B0604030504040204" pitchFamily="34" charset="0"/>
                    <a:cs typeface="Verdana" panose="020B0604030504040204" pitchFamily="34" charset="0"/>
                  </a:rPr>
                  <a:t>. </a:t>
                </a:r>
              </a:p>
              <a:p>
                <a:pPr marL="908050" indent="-450850"/>
                <a:endParaRPr lang="en-US" sz="2000" dirty="0">
                  <a:latin typeface="Verdana" panose="020B0604030504040204" pitchFamily="34" charset="0"/>
                  <a:ea typeface="Verdana" panose="020B0604030504040204" pitchFamily="34" charset="0"/>
                  <a:cs typeface="Verdana" panose="020B0604030504040204" pitchFamily="34" charset="0"/>
                </a:endParaRPr>
              </a:p>
              <a:p>
                <a:pPr marL="908050" indent="-450850"/>
                <a:endParaRPr lang="en-US" sz="2000" dirty="0">
                  <a:latin typeface="Verdana" panose="020B0604030504040204" pitchFamily="34" charset="0"/>
                  <a:ea typeface="Verdana" panose="020B0604030504040204" pitchFamily="34" charset="0"/>
                  <a:cs typeface="Verdana" panose="020B0604030504040204" pitchFamily="34" charset="0"/>
                </a:endParaRPr>
              </a:p>
              <a:p>
                <a:pPr marL="908050" indent="-450850"/>
                <a:endParaRPr lang="en-US" sz="2000" dirty="0">
                  <a:latin typeface="Verdana" panose="020B0604030504040204" pitchFamily="34" charset="0"/>
                  <a:ea typeface="Verdana" panose="020B0604030504040204" pitchFamily="34" charset="0"/>
                  <a:cs typeface="Verdana" panose="020B0604030504040204" pitchFamily="34" charset="0"/>
                </a:endParaRPr>
              </a:p>
              <a:p>
                <a:pPr marL="908050" indent="-450850">
                  <a:buFont typeface="+mj-lt"/>
                  <a:buAutoNum type="alphaLcPeriod" startAt="5"/>
                </a:pPr>
                <a:r>
                  <a:rPr lang="en-US" sz="2000" dirty="0">
                    <a:latin typeface="Verdana" panose="020B0604030504040204" pitchFamily="34" charset="0"/>
                    <a:ea typeface="Verdana" panose="020B0604030504040204" pitchFamily="34" charset="0"/>
                    <a:cs typeface="Verdana" panose="020B0604030504040204" pitchFamily="34" charset="0"/>
                  </a:rPr>
                  <a:t>Fill in the blanks to complete the statements.</a:t>
                </a:r>
                <a:br>
                  <a:rPr lang="en-PH" sz="2000" i="1" dirty="0">
                    <a:latin typeface="Cambria Math"/>
                  </a:rPr>
                </a:br>
                <a:br>
                  <a:rPr lang="en-PH" sz="2000" i="1" dirty="0">
                    <a:latin typeface="Cambria Math"/>
                  </a:rPr>
                </a:br>
                <a14:m>
                  <m:oMath xmlns:m="http://schemas.openxmlformats.org/officeDocument/2006/math">
                    <m:r>
                      <a:rPr lang="en-US" sz="2000" i="1">
                        <a:latin typeface="Cambria Math"/>
                      </a:rPr>
                      <m:t>𝐺</m:t>
                    </m:r>
                    <m:r>
                      <a:rPr lang="en-US" sz="2000" i="1">
                        <a:latin typeface="Cambria Math"/>
                      </a:rPr>
                      <m:t>′</m:t>
                    </m:r>
                  </m:oMath>
                </a14:m>
                <a:r>
                  <a:rPr lang="en-US" sz="2000" dirty="0">
                    <a:latin typeface="Verdana" panose="020B0604030504040204" pitchFamily="34" charset="0"/>
                    <a:ea typeface="Verdana" panose="020B0604030504040204" pitchFamily="34" charset="0"/>
                    <a:cs typeface="Verdana" panose="020B0604030504040204" pitchFamily="34" charset="0"/>
                  </a:rPr>
                  <a:t> divides </a:t>
                </a:r>
                <a14:m>
                  <m:oMath xmlns:m="http://schemas.openxmlformats.org/officeDocument/2006/math">
                    <m:acc>
                      <m:accPr>
                        <m:chr m:val="̅"/>
                        <m:ctrlPr>
                          <a:rPr lang="en-US" sz="2000" i="1">
                            <a:latin typeface="Cambria Math" panose="02040503050406030204" pitchFamily="18" charset="0"/>
                          </a:rPr>
                        </m:ctrlPr>
                      </m:accPr>
                      <m:e>
                        <m:r>
                          <a:rPr lang="en-US" sz="2000" i="1">
                            <a:latin typeface="Cambria Math"/>
                          </a:rPr>
                          <m:t>𝐺𝐺</m:t>
                        </m:r>
                        <m:r>
                          <a:rPr lang="en-US" sz="2000" i="1">
                            <a:latin typeface="Cambria Math"/>
                          </a:rPr>
                          <m:t>′′</m:t>
                        </m:r>
                      </m:e>
                    </m:acc>
                  </m:oMath>
                </a14:m>
                <a:r>
                  <a:rPr lang="en-US" sz="2000" dirty="0">
                    <a:latin typeface="Verdana" panose="020B0604030504040204" pitchFamily="34" charset="0"/>
                    <a:ea typeface="Verdana" panose="020B0604030504040204" pitchFamily="34" charset="0"/>
                    <a:cs typeface="Verdana" panose="020B0604030504040204" pitchFamily="34" charset="0"/>
                  </a:rPr>
                  <a:t> into a ratio.</a:t>
                </a:r>
                <a:br>
                  <a:rPr lang="en-US" sz="2000" dirty="0">
                    <a:latin typeface="Verdana" panose="020B0604030504040204" pitchFamily="34" charset="0"/>
                    <a:ea typeface="Verdana" panose="020B0604030504040204" pitchFamily="34" charset="0"/>
                    <a:cs typeface="Verdana" panose="020B0604030504040204" pitchFamily="34" charset="0"/>
                  </a:rPr>
                </a:b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The ratio of </a:t>
                </a:r>
                <a14:m>
                  <m:oMath xmlns:m="http://schemas.openxmlformats.org/officeDocument/2006/math">
                    <m:f>
                      <m:fPr>
                        <m:ctrlPr>
                          <a:rPr lang="en-US" sz="2000" i="1">
                            <a:latin typeface="Cambria Math" panose="02040503050406030204" pitchFamily="18" charset="0"/>
                          </a:rPr>
                        </m:ctrlPr>
                      </m:fPr>
                      <m:num>
                        <m:r>
                          <a:rPr lang="en-US" sz="2000" i="1">
                            <a:latin typeface="Cambria Math"/>
                          </a:rPr>
                          <m:t>𝐺</m:t>
                        </m:r>
                        <m:sSup>
                          <m:sSupPr>
                            <m:ctrlPr>
                              <a:rPr lang="en-US" sz="2000" i="1">
                                <a:latin typeface="Cambria Math" panose="02040503050406030204" pitchFamily="18" charset="0"/>
                              </a:rPr>
                            </m:ctrlPr>
                          </m:sSupPr>
                          <m:e>
                            <m:r>
                              <a:rPr lang="en-US" sz="2000" i="1">
                                <a:latin typeface="Cambria Math"/>
                              </a:rPr>
                              <m:t>𝐺</m:t>
                            </m:r>
                          </m:e>
                          <m:sup>
                            <m:r>
                              <a:rPr lang="en-US" sz="2000" i="1">
                                <a:latin typeface="Cambria Math"/>
                              </a:rPr>
                              <m:t>′</m:t>
                            </m:r>
                          </m:sup>
                        </m:sSup>
                      </m:num>
                      <m:den>
                        <m:r>
                          <a:rPr lang="en-US" sz="2000" i="1">
                            <a:latin typeface="Cambria Math"/>
                          </a:rPr>
                          <m:t>𝐺</m:t>
                        </m:r>
                        <m:sSup>
                          <m:sSupPr>
                            <m:ctrlPr>
                              <a:rPr lang="en-US" sz="2000" i="1">
                                <a:latin typeface="Cambria Math" panose="02040503050406030204" pitchFamily="18" charset="0"/>
                              </a:rPr>
                            </m:ctrlPr>
                          </m:sSupPr>
                          <m:e>
                            <m:r>
                              <a:rPr lang="en-US" sz="2000" i="1">
                                <a:latin typeface="Cambria Math"/>
                              </a:rPr>
                              <m:t>𝐺</m:t>
                            </m:r>
                          </m:e>
                          <m:sup>
                            <m:r>
                              <a:rPr lang="en-US" sz="2000" i="1">
                                <a:latin typeface="Cambria Math"/>
                              </a:rPr>
                              <m:t>′′</m:t>
                            </m:r>
                          </m:sup>
                        </m:sSup>
                      </m:den>
                    </m:f>
                  </m:oMath>
                </a14:m>
                <a:r>
                  <a:rPr lang="en-US" sz="2000" dirty="0">
                    <a:latin typeface="Verdana" panose="020B0604030504040204" pitchFamily="34" charset="0"/>
                    <a:ea typeface="Verdana" panose="020B0604030504040204" pitchFamily="34" charset="0"/>
                    <a:cs typeface="Verdana" panose="020B0604030504040204" pitchFamily="34" charset="0"/>
                  </a:rPr>
                  <a:t> is </a:t>
                </a:r>
                <a14:m>
                  <m:oMath xmlns:m="http://schemas.openxmlformats.org/officeDocument/2006/math">
                    <m:f>
                      <m:fPr>
                        <m:ctrlPr>
                          <a:rPr lang="en-US" sz="2000" i="1">
                            <a:latin typeface="Cambria Math" panose="02040503050406030204" pitchFamily="18" charset="0"/>
                          </a:rPr>
                        </m:ctrlPr>
                      </m:fPr>
                      <m:num>
                        <m:r>
                          <a:rPr lang="en-US" sz="2000" i="1">
                            <a:latin typeface="Cambria Math"/>
                          </a:rPr>
                          <m:t>                 </m:t>
                        </m:r>
                      </m:num>
                      <m:den>
                        <m:r>
                          <a:rPr lang="en-US" sz="2000" i="1">
                            <a:latin typeface="Cambria Math"/>
                          </a:rPr>
                          <m:t> </m:t>
                        </m:r>
                      </m:den>
                    </m:f>
                  </m:oMath>
                </a14:m>
                <a:r>
                  <a:rPr lang="en-US" sz="20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847493" y="1456968"/>
                <a:ext cx="10270273" cy="3083152"/>
              </a:xfrm>
              <a:prstGeom prst="rect">
                <a:avLst/>
              </a:prstGeom>
              <a:blipFill>
                <a:blip r:embed="rId4"/>
                <a:stretch>
                  <a:fillRect t="-593" b="-198"/>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120769DD-BB28-C740-A6A6-8565E70B1E53}"/>
              </a:ext>
            </a:extLst>
          </p:cNvPr>
          <p:cNvSpPr/>
          <p:nvPr/>
        </p:nvSpPr>
        <p:spPr>
          <a:xfrm>
            <a:off x="0" y="-1115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7" name="Group 6">
            <a:extLst>
              <a:ext uri="{FF2B5EF4-FFF2-40B4-BE49-F238E27FC236}">
                <a16:creationId xmlns:a16="http://schemas.microsoft.com/office/drawing/2014/main" id="{F8B35503-7E00-804A-900D-F69169275ED5}"/>
              </a:ext>
            </a:extLst>
          </p:cNvPr>
          <p:cNvGrpSpPr/>
          <p:nvPr/>
        </p:nvGrpSpPr>
        <p:grpSpPr>
          <a:xfrm>
            <a:off x="1967925" y="476810"/>
            <a:ext cx="7917131" cy="903358"/>
            <a:chOff x="2031299" y="3323122"/>
            <a:chExt cx="7917131" cy="904064"/>
          </a:xfrm>
        </p:grpSpPr>
        <p:grpSp>
          <p:nvGrpSpPr>
            <p:cNvPr id="8" name="Group 7">
              <a:extLst>
                <a:ext uri="{FF2B5EF4-FFF2-40B4-BE49-F238E27FC236}">
                  <a16:creationId xmlns:a16="http://schemas.microsoft.com/office/drawing/2014/main" id="{374AC7D4-E84B-D045-B93B-54368B1B465B}"/>
                </a:ext>
              </a:extLst>
            </p:cNvPr>
            <p:cNvGrpSpPr/>
            <p:nvPr/>
          </p:nvGrpSpPr>
          <p:grpSpPr>
            <a:xfrm>
              <a:off x="2031299" y="3323122"/>
              <a:ext cx="7917131" cy="904064"/>
              <a:chOff x="2031299" y="3323122"/>
              <a:chExt cx="7917131" cy="904064"/>
            </a:xfrm>
          </p:grpSpPr>
          <p:sp>
            <p:nvSpPr>
              <p:cNvPr id="9" name="Rectangle 8">
                <a:extLst>
                  <a:ext uri="{FF2B5EF4-FFF2-40B4-BE49-F238E27FC236}">
                    <a16:creationId xmlns:a16="http://schemas.microsoft.com/office/drawing/2014/main" id="{191641C1-1C25-1447-A522-C8C0684D5100}"/>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0" name="Group 9">
                <a:extLst>
                  <a:ext uri="{FF2B5EF4-FFF2-40B4-BE49-F238E27FC236}">
                    <a16:creationId xmlns:a16="http://schemas.microsoft.com/office/drawing/2014/main" id="{4B1806DA-D3B0-0240-97F7-01DD99325839}"/>
                  </a:ext>
                </a:extLst>
              </p:cNvPr>
              <p:cNvGrpSpPr/>
              <p:nvPr/>
            </p:nvGrpSpPr>
            <p:grpSpPr>
              <a:xfrm>
                <a:off x="2031299" y="3323122"/>
                <a:ext cx="7917131" cy="904064"/>
                <a:chOff x="-1" y="-50478"/>
                <a:chExt cx="7917131" cy="904064"/>
              </a:xfrm>
            </p:grpSpPr>
            <p:sp>
              <p:nvSpPr>
                <p:cNvPr id="11" name="Rectangle 10">
                  <a:extLst>
                    <a:ext uri="{FF2B5EF4-FFF2-40B4-BE49-F238E27FC236}">
                      <a16:creationId xmlns:a16="http://schemas.microsoft.com/office/drawing/2014/main" id="{717A8B07-F27D-064C-A4A2-6EB5F7D1F1F8}"/>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13" name="Rounded Rectangle 12">
                  <a:extLst>
                    <a:ext uri="{FF2B5EF4-FFF2-40B4-BE49-F238E27FC236}">
                      <a16:creationId xmlns:a16="http://schemas.microsoft.com/office/drawing/2014/main" id="{B5D2A8B7-BFBF-A448-8A08-F726BD992E17}"/>
                    </a:ext>
                  </a:extLst>
                </p:cNvPr>
                <p:cNvSpPr/>
                <p:nvPr/>
              </p:nvSpPr>
              <p:spPr>
                <a:xfrm>
                  <a:off x="-1" y="-50478"/>
                  <a:ext cx="7917131" cy="904064"/>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72000" rIns="91425" bIns="0" anchor="ctr" anchorCtr="0">
                  <a:spAutoFit/>
                </a:bodyPr>
                <a:lstStyle/>
                <a:p>
                  <a:pPr marL="742950">
                    <a:spcAft>
                      <a:spcPts val="1000"/>
                    </a:spcAft>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dilation</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is a proportional increase or decrease in size in all directions.</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14" name="Shape 7" descr="Icon&#10;&#10;Description automatically generated">
                  <a:extLst>
                    <a:ext uri="{FF2B5EF4-FFF2-40B4-BE49-F238E27FC236}">
                      <a16:creationId xmlns:a16="http://schemas.microsoft.com/office/drawing/2014/main" id="{C1ED560A-8C84-8A48-A737-22F07CE3B407}"/>
                    </a:ext>
                  </a:extLst>
                </p:cNvPr>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46496" y="101588"/>
                  <a:ext cx="599932" cy="599932"/>
                </a:xfrm>
                <a:prstGeom prst="rect">
                  <a:avLst/>
                </a:prstGeom>
                <a:noFill/>
                <a:ln>
                  <a:noFill/>
                </a:ln>
                <a:effectLst>
                  <a:outerShdw blurRad="50800" dist="38100" dir="2700000" algn="tl" rotWithShape="0">
                    <a:prstClr val="black">
                      <a:alpha val="40000"/>
                    </a:prstClr>
                  </a:outerShdw>
                </a:effectLst>
              </p:spPr>
            </p:pic>
          </p:grpSp>
        </p:grpSp>
      </p:grpSp>
      <p:grpSp>
        <p:nvGrpSpPr>
          <p:cNvPr id="20" name="Group 19">
            <a:extLst>
              <a:ext uri="{FF2B5EF4-FFF2-40B4-BE49-F238E27FC236}">
                <a16:creationId xmlns:a16="http://schemas.microsoft.com/office/drawing/2014/main" id="{D3531BE5-52F0-7D43-989F-DC47FE385444}"/>
              </a:ext>
            </a:extLst>
          </p:cNvPr>
          <p:cNvGrpSpPr/>
          <p:nvPr/>
        </p:nvGrpSpPr>
        <p:grpSpPr>
          <a:xfrm>
            <a:off x="1967925" y="2674893"/>
            <a:ext cx="7917130" cy="3554350"/>
            <a:chOff x="0" y="0"/>
            <a:chExt cx="7917130" cy="3554747"/>
          </a:xfrm>
        </p:grpSpPr>
        <p:grpSp>
          <p:nvGrpSpPr>
            <p:cNvPr id="21" name="Group 20">
              <a:extLst>
                <a:ext uri="{FF2B5EF4-FFF2-40B4-BE49-F238E27FC236}">
                  <a16:creationId xmlns:a16="http://schemas.microsoft.com/office/drawing/2014/main" id="{E9B8F819-D977-AE45-B417-C0C59518C548}"/>
                </a:ext>
              </a:extLst>
            </p:cNvPr>
            <p:cNvGrpSpPr/>
            <p:nvPr/>
          </p:nvGrpSpPr>
          <p:grpSpPr>
            <a:xfrm>
              <a:off x="0" y="0"/>
              <a:ext cx="7917130" cy="3554747"/>
              <a:chOff x="2031300" y="3386808"/>
              <a:chExt cx="7917130" cy="3554747"/>
            </a:xfrm>
          </p:grpSpPr>
          <p:grpSp>
            <p:nvGrpSpPr>
              <p:cNvPr id="23" name="Group 22">
                <a:extLst>
                  <a:ext uri="{FF2B5EF4-FFF2-40B4-BE49-F238E27FC236}">
                    <a16:creationId xmlns:a16="http://schemas.microsoft.com/office/drawing/2014/main" id="{4CA49B7A-DE29-7640-AAF5-207DD17F9CF2}"/>
                  </a:ext>
                </a:extLst>
              </p:cNvPr>
              <p:cNvGrpSpPr/>
              <p:nvPr/>
            </p:nvGrpSpPr>
            <p:grpSpPr>
              <a:xfrm>
                <a:off x="2031300" y="3386808"/>
                <a:ext cx="7917130" cy="3554747"/>
                <a:chOff x="0" y="0"/>
                <a:chExt cx="7917130" cy="3554747"/>
              </a:xfrm>
            </p:grpSpPr>
            <p:sp>
              <p:nvSpPr>
                <p:cNvPr id="24" name="Rectangle 23">
                  <a:extLst>
                    <a:ext uri="{FF2B5EF4-FFF2-40B4-BE49-F238E27FC236}">
                      <a16:creationId xmlns:a16="http://schemas.microsoft.com/office/drawing/2014/main" id="{DAE4CDD8-2688-584C-9ED8-C7F7C52499EC}"/>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25" name="Rectangle 24">
                  <a:extLst>
                    <a:ext uri="{FF2B5EF4-FFF2-40B4-BE49-F238E27FC236}">
                      <a16:creationId xmlns:a16="http://schemas.microsoft.com/office/drawing/2014/main" id="{BBC196AF-4EE4-A646-94BC-E7DC973B6BA0}"/>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26" name="Rounded Rectangle 25">
                  <a:extLst>
                    <a:ext uri="{FF2B5EF4-FFF2-40B4-BE49-F238E27FC236}">
                      <a16:creationId xmlns:a16="http://schemas.microsoft.com/office/drawing/2014/main" id="{09564560-2CB8-1044-8117-61C4E239684D}"/>
                    </a:ext>
                  </a:extLst>
                </p:cNvPr>
                <p:cNvSpPr/>
                <p:nvPr/>
              </p:nvSpPr>
              <p:spPr>
                <a:xfrm>
                  <a:off x="0" y="2259670"/>
                  <a:ext cx="7917130" cy="1295077"/>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72000" rIns="91425" bIns="0" anchor="ctr" anchorCtr="0">
                  <a:spAutoFit/>
                </a:bodyPr>
                <a:lstStyle/>
                <a:p>
                  <a:pPr marL="742950">
                    <a:spcAft>
                      <a:spcPts val="1000"/>
                    </a:spcAft>
                  </a:pPr>
                  <a:r>
                    <a:rPr lang="en-US" sz="2000" b="1" dirty="0">
                      <a:solidFill>
                        <a:srgbClr val="0075BF"/>
                      </a:solidFill>
                      <a:latin typeface="Verdana" panose="020B0604030504040204" pitchFamily="34" charset="0"/>
                      <a:ea typeface="Verdana" panose="020B0604030504040204" pitchFamily="34" charset="0"/>
                      <a:cs typeface="Verdana" panose="020B0604030504040204" pitchFamily="34" charset="0"/>
                    </a:rPr>
                    <a:t>Partition</a:t>
                  </a:r>
                  <a: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t> means to separate or to divide. A line segment can be partitioned into smaller segments. </a:t>
                  </a:r>
                  <a:b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br>
                  <a: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t>A ratio can be used to describe the partition.</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p:grpSp>
        </p:grpSp>
        <p:pic>
          <p:nvPicPr>
            <p:cNvPr id="22" name="image15.png" descr="Icon&#10;&#10;Description automatically generated">
              <a:extLst>
                <a:ext uri="{FF2B5EF4-FFF2-40B4-BE49-F238E27FC236}">
                  <a16:creationId xmlns:a16="http://schemas.microsoft.com/office/drawing/2014/main" id="{3477CA4B-6F91-B647-86CA-80D8E7964DA2}"/>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146496" y="2607242"/>
              <a:ext cx="599932" cy="599932"/>
            </a:xfrm>
            <a:prstGeom prst="rect">
              <a:avLst/>
            </a:prstGeom>
            <a:ln/>
            <a:effectLst>
              <a:outerShdw blurRad="50800" dist="38100" dir="2700000" algn="tl" rotWithShape="0">
                <a:prstClr val="black">
                  <a:alpha val="40000"/>
                </a:prstClr>
              </a:outerShdw>
            </a:effectLst>
          </p:spPr>
        </p:pic>
      </p:grpSp>
    </p:spTree>
    <p:extLst>
      <p:ext uri="{BB962C8B-B14F-4D97-AF65-F5344CB8AC3E}">
        <p14:creationId xmlns:p14="http://schemas.microsoft.com/office/powerpoint/2010/main" val="6765776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7673"/>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474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4EB5C6-2FDE-474B-866F-02AD6706D73C}"/>
                  </a:ext>
                </a:extLst>
              </p:cNvPr>
              <p:cNvSpPr txBox="1"/>
              <p:nvPr/>
            </p:nvSpPr>
            <p:spPr>
              <a:xfrm>
                <a:off x="847492" y="382315"/>
                <a:ext cx="10281425" cy="4835491"/>
              </a:xfrm>
              <a:prstGeom prst="rect">
                <a:avLst/>
              </a:prstGeom>
              <a:noFill/>
            </p:spPr>
            <p:txBody>
              <a:bodyPr wrap="square" rtlCol="0">
                <a:spAutoFit/>
              </a:bodyPr>
              <a:lstStyle/>
              <a:p>
                <a:pPr marL="908050" indent="-450850">
                  <a:buFont typeface="+mj-lt"/>
                  <a:buAutoNum type="alphaLcPeriod" startAt="6"/>
                </a:pPr>
                <a:r>
                  <a:rPr lang="en-US" sz="2000" dirty="0">
                    <a:latin typeface="Verdana" panose="020B0604030504040204" pitchFamily="34" charset="0"/>
                    <a:ea typeface="Verdana" panose="020B0604030504040204" pitchFamily="34" charset="0"/>
                    <a:cs typeface="Verdana" panose="020B0604030504040204" pitchFamily="34" charset="0"/>
                  </a:rPr>
                  <a:t>Use the Pythagorean theorem to complete the table.</a:t>
                </a:r>
              </a:p>
              <a:p>
                <a:pPr marL="908050" indent="-450850">
                  <a:buFont typeface="+mj-lt"/>
                  <a:buAutoNum type="alphaLcPeriod" startAt="6"/>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08050" indent="-450850">
                  <a:buFont typeface="+mj-lt"/>
                  <a:buAutoNum type="alphaLcPeriod" startAt="6"/>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08050" indent="-450850">
                  <a:buFont typeface="+mj-lt"/>
                  <a:buAutoNum type="alphaLcPeriod" startAt="6"/>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08050" indent="-450850">
                  <a:buFont typeface="+mj-lt"/>
                  <a:buAutoNum type="alphaLcPeriod" startAt="6"/>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08050" indent="-450850">
                  <a:buFont typeface="+mj-lt"/>
                  <a:buAutoNum type="alphaLcPeriod" startAt="6"/>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08050" indent="-450850">
                  <a:buFont typeface="+mj-lt"/>
                  <a:buAutoNum type="alphaLcPeriod" startAt="6"/>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08050" indent="-450850">
                  <a:buFont typeface="+mj-lt"/>
                  <a:buAutoNum type="alphaLcPeriod" startAt="6"/>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08050" indent="-450850"/>
                <a:endParaRPr lang="en-US" sz="1000" dirty="0">
                  <a:latin typeface="Verdana" panose="020B0604030504040204" pitchFamily="34" charset="0"/>
                  <a:ea typeface="Verdana" panose="020B0604030504040204" pitchFamily="34" charset="0"/>
                  <a:cs typeface="Verdana" panose="020B0604030504040204" pitchFamily="34" charset="0"/>
                </a:endParaRPr>
              </a:p>
              <a:p>
                <a:pPr marL="908050" indent="-450850">
                  <a:buFont typeface="+mj-lt"/>
                  <a:buAutoNum type="alphaLcPeriod" startAt="7"/>
                </a:pPr>
                <a:r>
                  <a:rPr lang="en-US" sz="2000" dirty="0">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2000" i="1">
                        <a:latin typeface="Cambria Math"/>
                      </a:rPr>
                      <m:t>𝐺</m:t>
                    </m:r>
                    <m:r>
                      <a:rPr lang="en-US" sz="2000" i="1">
                        <a:latin typeface="Cambria Math"/>
                      </a:rPr>
                      <m:t>′</m:t>
                    </m:r>
                  </m:oMath>
                </a14:m>
                <a:r>
                  <a:rPr lang="en-US" sz="2000" dirty="0">
                    <a:latin typeface="Verdana" panose="020B0604030504040204" pitchFamily="34" charset="0"/>
                    <a:ea typeface="Verdana" panose="020B0604030504040204" pitchFamily="34" charset="0"/>
                    <a:cs typeface="Verdana" panose="020B0604030504040204" pitchFamily="34" charset="0"/>
                  </a:rPr>
                  <a:t> is </a:t>
                </a:r>
                <a14:m>
                  <m:oMath xmlns:m="http://schemas.openxmlformats.org/officeDocument/2006/math">
                    <m:f>
                      <m:fPr>
                        <m:ctrlPr>
                          <a:rPr lang="en-US" sz="2000" i="1">
                            <a:latin typeface="Cambria Math" panose="02040503050406030204" pitchFamily="18" charset="0"/>
                          </a:rPr>
                        </m:ctrlPr>
                      </m:fPr>
                      <m:num>
                        <m:r>
                          <a:rPr lang="en-US" sz="2000" i="1">
                            <a:latin typeface="Cambria Math"/>
                          </a:rPr>
                          <m:t>                 </m:t>
                        </m:r>
                      </m:num>
                      <m:den>
                        <m:r>
                          <a:rPr lang="en-US" sz="2000" i="1">
                            <a:latin typeface="Cambria Math"/>
                          </a:rPr>
                          <m:t> </m:t>
                        </m:r>
                      </m:den>
                    </m:f>
                    <m:r>
                      <a:rPr lang="en-US" sz="2000" i="1">
                        <a:latin typeface="Cambria Math"/>
                      </a:rPr>
                      <m:t> </m:t>
                    </m:r>
                  </m:oMath>
                </a14:m>
                <a:r>
                  <a:rPr lang="en-US" sz="2000" dirty="0">
                    <a:latin typeface="Verdana" panose="020B0604030504040204" pitchFamily="34" charset="0"/>
                    <a:ea typeface="Verdana" panose="020B0604030504040204" pitchFamily="34" charset="0"/>
                    <a:cs typeface="Verdana" panose="020B0604030504040204" pitchFamily="34" charset="0"/>
                  </a:rPr>
                  <a:t>of the distance from </a:t>
                </a:r>
                <a14:m>
                  <m:oMath xmlns:m="http://schemas.openxmlformats.org/officeDocument/2006/math">
                    <m:r>
                      <a:rPr lang="en-US" sz="2000" i="1">
                        <a:latin typeface="Cambria Math"/>
                      </a:rPr>
                      <m:t>𝐺</m:t>
                    </m:r>
                  </m:oMath>
                </a14:m>
                <a:r>
                  <a:rPr lang="en-US" sz="2000" dirty="0">
                    <a:latin typeface="Verdana" panose="020B0604030504040204" pitchFamily="34" charset="0"/>
                    <a:ea typeface="Verdana" panose="020B0604030504040204" pitchFamily="34" charset="0"/>
                    <a:cs typeface="Verdana" panose="020B0604030504040204" pitchFamily="34" charset="0"/>
                  </a:rPr>
                  <a:t> to </a:t>
                </a:r>
                <a14:m>
                  <m:oMath xmlns:m="http://schemas.openxmlformats.org/officeDocument/2006/math">
                    <m:r>
                      <a:rPr lang="en-US" sz="2000" i="1">
                        <a:latin typeface="Cambria Math"/>
                      </a:rPr>
                      <m:t>𝐺</m:t>
                    </m:r>
                    <m:r>
                      <a:rPr lang="en-US" sz="2000" i="1">
                        <a:latin typeface="Cambria Math"/>
                      </a:rPr>
                      <m:t>′′</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908050" indent="-450850">
                  <a:buFont typeface="+mj-lt"/>
                  <a:buAutoNum type="alphaLcPeriod" startAt="7"/>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08050" indent="-450850">
                  <a:buFont typeface="+mj-lt"/>
                  <a:buAutoNum type="alphaLcPeriod" startAt="7"/>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08050" indent="-450850">
                  <a:buFont typeface="+mj-lt"/>
                  <a:buAutoNum type="alphaLcPeriod" startAt="7"/>
                </a:pPr>
                <a:r>
                  <a:rPr lang="en-US" sz="2000" dirty="0">
                    <a:latin typeface="Verdana" panose="020B0604030504040204" pitchFamily="34" charset="0"/>
                    <a:ea typeface="Verdana" panose="020B0604030504040204" pitchFamily="34" charset="0"/>
                    <a:cs typeface="Verdana" panose="020B0604030504040204" pitchFamily="34" charset="0"/>
                  </a:rPr>
                  <a:t>What value can be multiplied to the length of </a:t>
                </a:r>
                <a14:m>
                  <m:oMath xmlns:m="http://schemas.openxmlformats.org/officeDocument/2006/math">
                    <m:r>
                      <a:rPr lang="en-US" sz="2000" i="1">
                        <a:latin typeface="Cambria Math"/>
                      </a:rPr>
                      <m:t>𝐺𝐺</m:t>
                    </m:r>
                    <m:r>
                      <a:rPr lang="en-US" sz="2000" i="1">
                        <a:latin typeface="Cambria Math"/>
                      </a:rPr>
                      <m:t>′</m:t>
                    </m:r>
                  </m:oMath>
                </a14:m>
                <a:r>
                  <a:rPr lang="en-US" sz="2000" dirty="0">
                    <a:latin typeface="Verdana" panose="020B0604030504040204" pitchFamily="34" charset="0"/>
                    <a:ea typeface="Verdana" panose="020B0604030504040204" pitchFamily="34" charset="0"/>
                    <a:cs typeface="Verdana" panose="020B0604030504040204" pitchFamily="34" charset="0"/>
                  </a:rPr>
                  <a:t> to determine the length of </a:t>
                </a:r>
                <a14:m>
                  <m:oMath xmlns:m="http://schemas.openxmlformats.org/officeDocument/2006/math">
                    <m:r>
                      <a:rPr lang="en-US" sz="2000" i="1">
                        <a:latin typeface="Cambria Math"/>
                      </a:rPr>
                      <m:t>𝐺𝐺</m:t>
                    </m:r>
                    <m:r>
                      <a:rPr lang="en-US" sz="2000" i="1">
                        <a:latin typeface="Cambria Math"/>
                      </a:rPr>
                      <m:t>′′</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457200" indent="-457200">
                  <a:buFont typeface="+mj-lt"/>
                  <a:buAutoNum type="alphaLcPeriod" startAt="7"/>
                </a:pPr>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dirty="0"/>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847492" y="382315"/>
                <a:ext cx="10281425" cy="4835491"/>
              </a:xfrm>
              <a:prstGeom prst="rect">
                <a:avLst/>
              </a:prstGeom>
              <a:blipFill>
                <a:blip r:embed="rId4"/>
                <a:stretch>
                  <a:fillRect t="-883"/>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120769DD-BB28-C740-A6A6-8565E70B1E53}"/>
              </a:ext>
            </a:extLst>
          </p:cNvPr>
          <p:cNvSpPr/>
          <p:nvPr/>
        </p:nvSpPr>
        <p:spPr>
          <a:xfrm>
            <a:off x="0" y="-1115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DCE03F79-30A1-3A4F-A263-542240B1149D}"/>
                  </a:ext>
                </a:extLst>
              </p:cNvPr>
              <p:cNvGraphicFramePr>
                <a:graphicFrameLocks noGrp="1"/>
              </p:cNvGraphicFramePr>
              <p:nvPr>
                <p:extLst>
                  <p:ext uri="{D42A27DB-BD31-4B8C-83A1-F6EECF244321}">
                    <p14:modId xmlns:p14="http://schemas.microsoft.com/office/powerpoint/2010/main" val="3910617354"/>
                  </p:ext>
                </p:extLst>
              </p:nvPr>
            </p:nvGraphicFramePr>
            <p:xfrm>
              <a:off x="1852283" y="867700"/>
              <a:ext cx="6480000" cy="1764000"/>
            </p:xfrm>
            <a:graphic>
              <a:graphicData uri="http://schemas.openxmlformats.org/drawingml/2006/table">
                <a:tbl>
                  <a:tblPr firstRow="1" firstCol="1" bandRow="1">
                    <a:tableStyleId>{A91F0D33-8C57-4600-99A7-42BC86742BE1}</a:tableStyleId>
                  </a:tblPr>
                  <a:tblGrid>
                    <a:gridCol w="1800000">
                      <a:extLst>
                        <a:ext uri="{9D8B030D-6E8A-4147-A177-3AD203B41FA5}">
                          <a16:colId xmlns:a16="http://schemas.microsoft.com/office/drawing/2014/main" val="2536704468"/>
                        </a:ext>
                      </a:extLst>
                    </a:gridCol>
                    <a:gridCol w="4680000">
                      <a:extLst>
                        <a:ext uri="{9D8B030D-6E8A-4147-A177-3AD203B41FA5}">
                          <a16:colId xmlns:a16="http://schemas.microsoft.com/office/drawing/2014/main" val="1675234008"/>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Segment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Length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772573694"/>
                      </a:ext>
                    </a:extLst>
                  </a:tr>
                  <a:tr h="432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𝐺𝐺</m:t>
                                </m:r>
                                <m:r>
                                  <a:rPr lang="en-US" sz="2000">
                                    <a:effectLst/>
                                    <a:latin typeface="Cambria Math"/>
                                  </a:rPr>
                                  <m:t>′</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90272774"/>
                      </a:ext>
                    </a:extLst>
                  </a:tr>
                  <a:tr h="432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𝐺</m:t>
                                </m:r>
                                <m:r>
                                  <a:rPr lang="en-US" sz="2000">
                                    <a:effectLst/>
                                    <a:latin typeface="Cambria Math"/>
                                  </a:rPr>
                                  <m:t>′</m:t>
                                </m:r>
                                <m:r>
                                  <a:rPr lang="en-US" sz="2000">
                                    <a:effectLst/>
                                    <a:latin typeface="Cambria Math"/>
                                  </a:rPr>
                                  <m:t>𝐺</m:t>
                                </m:r>
                                <m:r>
                                  <a:rPr lang="en-US" sz="2000">
                                    <a:effectLst/>
                                    <a:latin typeface="Cambria Math"/>
                                  </a:rPr>
                                  <m:t>′′</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3310310"/>
                      </a:ext>
                    </a:extLst>
                  </a:tr>
                  <a:tr h="432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𝐺𝐺</m:t>
                                </m:r>
                                <m:r>
                                  <a:rPr lang="en-US" sz="2000">
                                    <a:effectLst/>
                                    <a:latin typeface="Cambria Math"/>
                                  </a:rPr>
                                  <m:t>′′</m:t>
                                </m:r>
                              </m:oMath>
                            </m:oMathPara>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6940501"/>
                      </a:ext>
                    </a:extLst>
                  </a:tr>
                </a:tbl>
              </a:graphicData>
            </a:graphic>
          </p:graphicFrame>
        </mc:Choice>
        <mc:Fallback xmlns="">
          <p:graphicFrame>
            <p:nvGraphicFramePr>
              <p:cNvPr id="2" name="Table 1">
                <a:extLst>
                  <a:ext uri="{FF2B5EF4-FFF2-40B4-BE49-F238E27FC236}">
                    <a16:creationId xmlns:a16="http://schemas.microsoft.com/office/drawing/2014/main" id="{DCE03F79-30A1-3A4F-A263-542240B1149D}"/>
                  </a:ext>
                </a:extLst>
              </p:cNvPr>
              <p:cNvGraphicFramePr>
                <a:graphicFrameLocks noGrp="1"/>
              </p:cNvGraphicFramePr>
              <p:nvPr>
                <p:extLst>
                  <p:ext uri="{D42A27DB-BD31-4B8C-83A1-F6EECF244321}">
                    <p14:modId xmlns:p14="http://schemas.microsoft.com/office/powerpoint/2010/main" val="3910617354"/>
                  </p:ext>
                </p:extLst>
              </p:nvPr>
            </p:nvGraphicFramePr>
            <p:xfrm>
              <a:off x="1852283" y="867700"/>
              <a:ext cx="6480000" cy="1764000"/>
            </p:xfrm>
            <a:graphic>
              <a:graphicData uri="http://schemas.openxmlformats.org/drawingml/2006/table">
                <a:tbl>
                  <a:tblPr firstRow="1" firstCol="1" bandRow="1">
                    <a:tableStyleId>{A91F0D33-8C57-4600-99A7-42BC86742BE1}</a:tableStyleId>
                  </a:tblPr>
                  <a:tblGrid>
                    <a:gridCol w="1800000">
                      <a:extLst>
                        <a:ext uri="{9D8B030D-6E8A-4147-A177-3AD203B41FA5}">
                          <a16:colId xmlns:a16="http://schemas.microsoft.com/office/drawing/2014/main" val="2536704468"/>
                        </a:ext>
                      </a:extLst>
                    </a:gridCol>
                    <a:gridCol w="4680000">
                      <a:extLst>
                        <a:ext uri="{9D8B030D-6E8A-4147-A177-3AD203B41FA5}">
                          <a16:colId xmlns:a16="http://schemas.microsoft.com/office/drawing/2014/main" val="1675234008"/>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Segment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Length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772573694"/>
                      </a:ext>
                    </a:extLst>
                  </a:tr>
                  <a:tr h="4320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38" t="-109859" r="-260135" b="-202817"/>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90272774"/>
                      </a:ext>
                    </a:extLst>
                  </a:tr>
                  <a:tr h="4320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38" t="-209859" r="-260135" b="-102817"/>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3310310"/>
                      </a:ext>
                    </a:extLst>
                  </a:tr>
                  <a:tr h="4320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38" t="-309859" r="-260135" b="-2817"/>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6940501"/>
                      </a:ext>
                    </a:extLst>
                  </a:tr>
                </a:tbl>
              </a:graphicData>
            </a:graphic>
          </p:graphicFrame>
        </mc:Fallback>
      </mc:AlternateContent>
      <p:grpSp>
        <p:nvGrpSpPr>
          <p:cNvPr id="7" name="Group 6">
            <a:extLst>
              <a:ext uri="{FF2B5EF4-FFF2-40B4-BE49-F238E27FC236}">
                <a16:creationId xmlns:a16="http://schemas.microsoft.com/office/drawing/2014/main" id="{277FDB4A-A75C-F144-9B02-D4A4578DABAE}"/>
              </a:ext>
            </a:extLst>
          </p:cNvPr>
          <p:cNvGrpSpPr/>
          <p:nvPr/>
        </p:nvGrpSpPr>
        <p:grpSpPr>
          <a:xfrm>
            <a:off x="1577628" y="2812448"/>
            <a:ext cx="7940985" cy="3578626"/>
            <a:chOff x="2031299" y="3252950"/>
            <a:chExt cx="7940985" cy="3579557"/>
          </a:xfrm>
        </p:grpSpPr>
        <p:grpSp>
          <p:nvGrpSpPr>
            <p:cNvPr id="8" name="Group 7">
              <a:extLst>
                <a:ext uri="{FF2B5EF4-FFF2-40B4-BE49-F238E27FC236}">
                  <a16:creationId xmlns:a16="http://schemas.microsoft.com/office/drawing/2014/main" id="{EECCA846-CEBF-E040-B4CC-52E8FD3F9B65}"/>
                </a:ext>
              </a:extLst>
            </p:cNvPr>
            <p:cNvGrpSpPr/>
            <p:nvPr/>
          </p:nvGrpSpPr>
          <p:grpSpPr>
            <a:xfrm>
              <a:off x="2031299" y="3252950"/>
              <a:ext cx="7940985" cy="3579557"/>
              <a:chOff x="2031299" y="3252877"/>
              <a:chExt cx="7940985" cy="3580053"/>
            </a:xfrm>
          </p:grpSpPr>
          <p:sp>
            <p:nvSpPr>
              <p:cNvPr id="9" name="Rectangle 8">
                <a:extLst>
                  <a:ext uri="{FF2B5EF4-FFF2-40B4-BE49-F238E27FC236}">
                    <a16:creationId xmlns:a16="http://schemas.microsoft.com/office/drawing/2014/main" id="{51ECE21F-77E6-4045-8413-031129D74A5B}"/>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0" name="Group 9">
                <a:extLst>
                  <a:ext uri="{FF2B5EF4-FFF2-40B4-BE49-F238E27FC236}">
                    <a16:creationId xmlns:a16="http://schemas.microsoft.com/office/drawing/2014/main" id="{E1EEF62B-7B06-5743-B8CC-3C61C6714DC0}"/>
                  </a:ext>
                </a:extLst>
              </p:cNvPr>
              <p:cNvGrpSpPr/>
              <p:nvPr/>
            </p:nvGrpSpPr>
            <p:grpSpPr>
              <a:xfrm>
                <a:off x="2031299" y="3252877"/>
                <a:ext cx="7940985" cy="3580053"/>
                <a:chOff x="2031299" y="3252877"/>
                <a:chExt cx="7940985" cy="3580053"/>
              </a:xfrm>
            </p:grpSpPr>
            <p:sp>
              <p:nvSpPr>
                <p:cNvPr id="11" name="Rectangle 10">
                  <a:extLst>
                    <a:ext uri="{FF2B5EF4-FFF2-40B4-BE49-F238E27FC236}">
                      <a16:creationId xmlns:a16="http://schemas.microsoft.com/office/drawing/2014/main" id="{3E24E829-1106-9B44-9DBC-BF228C82F27B}"/>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3" name="Group 12">
                  <a:extLst>
                    <a:ext uri="{FF2B5EF4-FFF2-40B4-BE49-F238E27FC236}">
                      <a16:creationId xmlns:a16="http://schemas.microsoft.com/office/drawing/2014/main" id="{E1D30CDE-C955-774B-96F1-8FD8DA5576E4}"/>
                    </a:ext>
                  </a:extLst>
                </p:cNvPr>
                <p:cNvGrpSpPr/>
                <p:nvPr/>
              </p:nvGrpSpPr>
              <p:grpSpPr>
                <a:xfrm>
                  <a:off x="2031299" y="3252877"/>
                  <a:ext cx="7940985" cy="3580053"/>
                  <a:chOff x="2031299" y="3252877"/>
                  <a:chExt cx="7940985" cy="3580053"/>
                </a:xfrm>
              </p:grpSpPr>
              <p:sp>
                <p:nvSpPr>
                  <p:cNvPr id="14" name="Rectangle 13">
                    <a:extLst>
                      <a:ext uri="{FF2B5EF4-FFF2-40B4-BE49-F238E27FC236}">
                        <a16:creationId xmlns:a16="http://schemas.microsoft.com/office/drawing/2014/main" id="{DCD30928-579E-FC43-8247-8B20F612D629}"/>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5" name="Group 14">
                    <a:extLst>
                      <a:ext uri="{FF2B5EF4-FFF2-40B4-BE49-F238E27FC236}">
                        <a16:creationId xmlns:a16="http://schemas.microsoft.com/office/drawing/2014/main" id="{C29838C0-8839-6B4B-8C55-1BA7B2A7880B}"/>
                      </a:ext>
                    </a:extLst>
                  </p:cNvPr>
                  <p:cNvGrpSpPr/>
                  <p:nvPr/>
                </p:nvGrpSpPr>
                <p:grpSpPr>
                  <a:xfrm>
                    <a:off x="2031299" y="3252877"/>
                    <a:ext cx="7940985" cy="3580053"/>
                    <a:chOff x="2031299" y="3252877"/>
                    <a:chExt cx="7940985" cy="3580053"/>
                  </a:xfrm>
                </p:grpSpPr>
                <p:sp>
                  <p:nvSpPr>
                    <p:cNvPr id="16" name="Rectangle 15">
                      <a:extLst>
                        <a:ext uri="{FF2B5EF4-FFF2-40B4-BE49-F238E27FC236}">
                          <a16:creationId xmlns:a16="http://schemas.microsoft.com/office/drawing/2014/main" id="{FCE79237-DE2F-1948-83F0-5ED6C0AE36A3}"/>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7" name="Group 16">
                      <a:extLst>
                        <a:ext uri="{FF2B5EF4-FFF2-40B4-BE49-F238E27FC236}">
                          <a16:creationId xmlns:a16="http://schemas.microsoft.com/office/drawing/2014/main" id="{1C718FA2-5CFB-4443-B1B2-D75BC8058F03}"/>
                        </a:ext>
                      </a:extLst>
                    </p:cNvPr>
                    <p:cNvGrpSpPr/>
                    <p:nvPr/>
                  </p:nvGrpSpPr>
                  <p:grpSpPr>
                    <a:xfrm>
                      <a:off x="2031299" y="3252877"/>
                      <a:ext cx="7940985" cy="3580053"/>
                      <a:chOff x="2031299" y="3252877"/>
                      <a:chExt cx="7940985" cy="3580053"/>
                    </a:xfrm>
                  </p:grpSpPr>
                  <p:sp>
                    <p:nvSpPr>
                      <p:cNvPr id="18" name="Rectangle 17">
                        <a:extLst>
                          <a:ext uri="{FF2B5EF4-FFF2-40B4-BE49-F238E27FC236}">
                            <a16:creationId xmlns:a16="http://schemas.microsoft.com/office/drawing/2014/main" id="{957A6CF2-A718-C54D-963F-5CDA44604D37}"/>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9" name="Group 18">
                        <a:extLst>
                          <a:ext uri="{FF2B5EF4-FFF2-40B4-BE49-F238E27FC236}">
                            <a16:creationId xmlns:a16="http://schemas.microsoft.com/office/drawing/2014/main" id="{42DA9DB0-EFAB-7E40-A70E-CCEDC2B3A104}"/>
                          </a:ext>
                        </a:extLst>
                      </p:cNvPr>
                      <p:cNvGrpSpPr/>
                      <p:nvPr/>
                    </p:nvGrpSpPr>
                    <p:grpSpPr>
                      <a:xfrm>
                        <a:off x="2031299" y="3252879"/>
                        <a:ext cx="7940985" cy="3580051"/>
                        <a:chOff x="2031299" y="3262288"/>
                        <a:chExt cx="7940985" cy="3516132"/>
                      </a:xfrm>
                    </p:grpSpPr>
                    <p:sp>
                      <p:nvSpPr>
                        <p:cNvPr id="20" name="Rectangle 19">
                          <a:extLst>
                            <a:ext uri="{FF2B5EF4-FFF2-40B4-BE49-F238E27FC236}">
                              <a16:creationId xmlns:a16="http://schemas.microsoft.com/office/drawing/2014/main" id="{27BB5792-6CE2-5845-B67C-285D14E29CAB}"/>
                            </a:ext>
                          </a:extLst>
                        </p:cNvPr>
                        <p:cNvSpPr/>
                        <p:nvPr/>
                      </p:nvSpPr>
                      <p:spPr>
                        <a:xfrm>
                          <a:off x="2031300" y="3262288"/>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21" name="Group 20">
                          <a:extLst>
                            <a:ext uri="{FF2B5EF4-FFF2-40B4-BE49-F238E27FC236}">
                              <a16:creationId xmlns:a16="http://schemas.microsoft.com/office/drawing/2014/main" id="{A44577B2-587F-734B-A180-0509AADC758A}"/>
                            </a:ext>
                          </a:extLst>
                        </p:cNvPr>
                        <p:cNvGrpSpPr/>
                        <p:nvPr/>
                      </p:nvGrpSpPr>
                      <p:grpSpPr>
                        <a:xfrm>
                          <a:off x="2031299" y="3262288"/>
                          <a:ext cx="7940985" cy="3516132"/>
                          <a:chOff x="2031299" y="3373600"/>
                          <a:chExt cx="7940985" cy="3516132"/>
                        </a:xfrm>
                      </p:grpSpPr>
                      <p:sp>
                        <p:nvSpPr>
                          <p:cNvPr id="22" name="Rectangle 21">
                            <a:extLst>
                              <a:ext uri="{FF2B5EF4-FFF2-40B4-BE49-F238E27FC236}">
                                <a16:creationId xmlns:a16="http://schemas.microsoft.com/office/drawing/2014/main" id="{33219930-DC96-A249-8091-561679E8A91A}"/>
                              </a:ext>
                            </a:extLst>
                          </p:cNvPr>
                          <p:cNvSpPr/>
                          <p:nvPr/>
                        </p:nvSpPr>
                        <p:spPr>
                          <a:xfrm>
                            <a:off x="2031300" y="3373600"/>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23" name="Group 22">
                            <a:extLst>
                              <a:ext uri="{FF2B5EF4-FFF2-40B4-BE49-F238E27FC236}">
                                <a16:creationId xmlns:a16="http://schemas.microsoft.com/office/drawing/2014/main" id="{CD5A6FFF-CEC7-A04C-AD68-10251F364E53}"/>
                              </a:ext>
                            </a:extLst>
                          </p:cNvPr>
                          <p:cNvGrpSpPr/>
                          <p:nvPr/>
                        </p:nvGrpSpPr>
                        <p:grpSpPr>
                          <a:xfrm>
                            <a:off x="2031299" y="3373600"/>
                            <a:ext cx="7940985" cy="3516132"/>
                            <a:chOff x="2031299" y="3373600"/>
                            <a:chExt cx="7940985" cy="3516132"/>
                          </a:xfrm>
                        </p:grpSpPr>
                        <p:sp>
                          <p:nvSpPr>
                            <p:cNvPr id="24" name="Rectangle 23">
                              <a:extLst>
                                <a:ext uri="{FF2B5EF4-FFF2-40B4-BE49-F238E27FC236}">
                                  <a16:creationId xmlns:a16="http://schemas.microsoft.com/office/drawing/2014/main" id="{65106CFB-6F35-2F40-858D-39FEC3549215}"/>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25" name="Group 24">
                              <a:extLst>
                                <a:ext uri="{FF2B5EF4-FFF2-40B4-BE49-F238E27FC236}">
                                  <a16:creationId xmlns:a16="http://schemas.microsoft.com/office/drawing/2014/main" id="{5D3F9259-D144-B846-B76E-3B7D123D2EE0}"/>
                                </a:ext>
                              </a:extLst>
                            </p:cNvPr>
                            <p:cNvGrpSpPr/>
                            <p:nvPr/>
                          </p:nvGrpSpPr>
                          <p:grpSpPr>
                            <a:xfrm>
                              <a:off x="2031299" y="3373600"/>
                              <a:ext cx="7940985" cy="3516132"/>
                              <a:chOff x="-1" y="0"/>
                              <a:chExt cx="7940985" cy="3516132"/>
                            </a:xfrm>
                          </p:grpSpPr>
                          <p:sp>
                            <p:nvSpPr>
                              <p:cNvPr id="26" name="Rectangle 25">
                                <a:extLst>
                                  <a:ext uri="{FF2B5EF4-FFF2-40B4-BE49-F238E27FC236}">
                                    <a16:creationId xmlns:a16="http://schemas.microsoft.com/office/drawing/2014/main" id="{C4895379-BC43-4741-8E85-E5F2DA0DF988}"/>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27" name="Rounded Rectangle 26">
                                <a:extLst>
                                  <a:ext uri="{FF2B5EF4-FFF2-40B4-BE49-F238E27FC236}">
                                    <a16:creationId xmlns:a16="http://schemas.microsoft.com/office/drawing/2014/main" id="{F7BE1E70-9806-AE4B-AC44-5410590A5042}"/>
                                  </a:ext>
                                </a:extLst>
                              </p:cNvPr>
                              <p:cNvSpPr/>
                              <p:nvPr/>
                            </p:nvSpPr>
                            <p:spPr>
                              <a:xfrm>
                                <a:off x="-1" y="2243813"/>
                                <a:ext cx="7940985" cy="1272319"/>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72000" rIns="91425" bIns="0" anchor="ctr" anchorCtr="0">
                                <a:spAutoFit/>
                              </a:bodyPr>
                              <a:lstStyle/>
                              <a:p>
                                <a:pPr marL="804863">
                                  <a:spcAft>
                                    <a:spcPts val="1000"/>
                                  </a:spcAft>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The</a:t>
                                </a:r>
                                <a:r>
                                  <a:rPr lang="en-US" sz="2000" b="1" dirty="0">
                                    <a:solidFill>
                                      <a:srgbClr val="6C993D"/>
                                    </a:solidFill>
                                    <a:latin typeface="Verdana" panose="020B0604030504040204" pitchFamily="34" charset="0"/>
                                    <a:ea typeface="Verdana" panose="020B0604030504040204" pitchFamily="34" charset="0"/>
                                    <a:cs typeface="Verdana" panose="020B0604030504040204" pitchFamily="34" charset="0"/>
                                  </a:rPr>
                                  <a:t>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scale factor</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is</a:t>
                                </a:r>
                                <a:r>
                                  <a:rPr lang="en-US" sz="2000" b="1" dirty="0">
                                    <a:solidFill>
                                      <a:srgbClr val="6C993D"/>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the constant that is multiplied by the length of each side of a figure to produce an image that is the same shape as the original figure. </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pic>
                            <p:nvPicPr>
                              <p:cNvPr id="28" name="Shape 21" descr="Icon&#10;&#10;Description automatically generated">
                                <a:extLst>
                                  <a:ext uri="{FF2B5EF4-FFF2-40B4-BE49-F238E27FC236}">
                                    <a16:creationId xmlns:a16="http://schemas.microsoft.com/office/drawing/2014/main" id="{AA8F102B-ED70-CB42-AFDC-C205D2D57001}"/>
                                  </a:ext>
                                </a:extLst>
                              </p:cNvPr>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59036" y="2573658"/>
                                <a:ext cx="612630" cy="612630"/>
                              </a:xfrm>
                              <a:prstGeom prst="rect">
                                <a:avLst/>
                              </a:prstGeom>
                              <a:noFill/>
                              <a:ln>
                                <a:noFill/>
                              </a:ln>
                              <a:effectLst>
                                <a:outerShdw blurRad="50800" dist="38100" dir="2700000" algn="tl" rotWithShape="0">
                                  <a:prstClr val="black">
                                    <a:alpha val="40000"/>
                                  </a:prstClr>
                                </a:outerShdw>
                              </a:effectLst>
                            </p:spPr>
                          </p:pic>
                        </p:grpSp>
                      </p:grpSp>
                    </p:grpSp>
                  </p:grpSp>
                </p:grpSp>
              </p:grpSp>
            </p:grpSp>
          </p:grpSp>
        </p:grpSp>
      </p:grpSp>
      <p:pic>
        <p:nvPicPr>
          <p:cNvPr id="4" name="Picture 3">
            <a:extLst>
              <a:ext uri="{FF2B5EF4-FFF2-40B4-BE49-F238E27FC236}">
                <a16:creationId xmlns:a16="http://schemas.microsoft.com/office/drawing/2014/main" id="{B7B85862-4024-5D2A-B0CF-E2E8A357E68C}"/>
              </a:ext>
            </a:extLst>
          </p:cNvPr>
          <p:cNvPicPr>
            <a:picLocks noChangeAspect="1"/>
          </p:cNvPicPr>
          <p:nvPr/>
        </p:nvPicPr>
        <p:blipFill rotWithShape="1">
          <a:blip r:embed="rId7"/>
          <a:srcRect l="24383" r="63421"/>
          <a:stretch/>
        </p:blipFill>
        <p:spPr>
          <a:xfrm>
            <a:off x="3164824" y="2748774"/>
            <a:ext cx="755634" cy="964226"/>
          </a:xfrm>
          <a:prstGeom prst="rect">
            <a:avLst/>
          </a:prstGeom>
        </p:spPr>
      </p:pic>
    </p:spTree>
    <p:extLst>
      <p:ext uri="{BB962C8B-B14F-4D97-AF65-F5344CB8AC3E}">
        <p14:creationId xmlns:p14="http://schemas.microsoft.com/office/powerpoint/2010/main" val="2776327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24</a:t>
            </a:r>
            <a:endParaRPr i="1" dirty="0">
              <a:latin typeface="Calibri"/>
              <a:ea typeface="Calibri"/>
              <a:cs typeface="Calibri"/>
              <a:sym typeface="Calibri"/>
            </a:endParaRP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30146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471961" y="-118975"/>
            <a:ext cx="1060630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1.4.3 Guided Practice: Scale Factor</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24</a:t>
            </a:r>
            <a:endParaRPr i="1" dirty="0">
              <a:latin typeface="Calibri"/>
              <a:ea typeface="Calibri"/>
              <a:cs typeface="Calibri"/>
              <a:sym typeface="Calibri"/>
            </a:endParaRP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17784" y="171725"/>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1D40250-DEDD-2C41-8538-3D4DD18CCC4A}"/>
                  </a:ext>
                </a:extLst>
              </p:cNvPr>
              <p:cNvSpPr txBox="1"/>
              <p:nvPr/>
            </p:nvSpPr>
            <p:spPr>
              <a:xfrm>
                <a:off x="858644" y="1386149"/>
                <a:ext cx="10127804" cy="462434"/>
              </a:xfrm>
              <a:prstGeom prst="rect">
                <a:avLst/>
              </a:prstGeom>
              <a:noFill/>
            </p:spPr>
            <p:txBody>
              <a:bodyPr wrap="square" rtlCol="0">
                <a:spAutoFit/>
              </a:bodyPr>
              <a:lstStyle/>
              <a:p>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𝐿𝑊</m:t>
                        </m:r>
                      </m:e>
                    </m:acc>
                  </m:oMath>
                </a14:m>
                <a:r>
                  <a:rPr lang="en-US" sz="2400" dirty="0">
                    <a:latin typeface="Verdana" panose="020B0604030504040204" pitchFamily="34" charset="0"/>
                    <a:ea typeface="Verdana" panose="020B0604030504040204" pitchFamily="34" charset="0"/>
                    <a:cs typeface="Verdana" panose="020B0604030504040204" pitchFamily="34" charset="0"/>
                  </a:rPr>
                  <a:t> is dilated to create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𝑀𝑆</m:t>
                        </m:r>
                      </m:e>
                    </m:acc>
                  </m:oMath>
                </a14:m>
                <a:r>
                  <a:rPr lang="en-US" sz="2400" dirty="0">
                    <a:latin typeface="Verdana" panose="020B0604030504040204" pitchFamily="34" charset="0"/>
                    <a:ea typeface="Verdana" panose="020B0604030504040204" pitchFamily="34" charset="0"/>
                    <a:cs typeface="Verdana" panose="020B0604030504040204" pitchFamily="34" charset="0"/>
                  </a:rPr>
                  <a:t>. The center of dilation is point </a:t>
                </a:r>
                <a14:m>
                  <m:oMath xmlns:m="http://schemas.openxmlformats.org/officeDocument/2006/math">
                    <m:r>
                      <a:rPr lang="en-US" sz="2400" i="1">
                        <a:latin typeface="Cambria Math"/>
                      </a:rPr>
                      <m:t>𝐴</m:t>
                    </m:r>
                  </m:oMath>
                </a14:m>
                <a:r>
                  <a:rPr lang="en-US" sz="24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10" name="TextBox 9">
                <a:extLst>
                  <a:ext uri="{FF2B5EF4-FFF2-40B4-BE49-F238E27FC236}">
                    <a16:creationId xmlns:a16="http://schemas.microsoft.com/office/drawing/2014/main" id="{31D40250-DEDD-2C41-8538-3D4DD18CCC4A}"/>
                  </a:ext>
                </a:extLst>
              </p:cNvPr>
              <p:cNvSpPr txBox="1">
                <a:spLocks noRot="1" noChangeAspect="1" noMove="1" noResize="1" noEditPoints="1" noAdjustHandles="1" noChangeArrowheads="1" noChangeShapeType="1" noTextEdit="1"/>
              </p:cNvSpPr>
              <p:nvPr/>
            </p:nvSpPr>
            <p:spPr>
              <a:xfrm>
                <a:off x="858644" y="1386149"/>
                <a:ext cx="10127804" cy="462434"/>
              </a:xfrm>
              <a:prstGeom prst="rect">
                <a:avLst/>
              </a:prstGeom>
              <a:blipFill>
                <a:blip r:embed="rId5"/>
                <a:stretch>
                  <a:fillRect l="-181" t="-11842" b="-27632"/>
                </a:stretch>
              </a:blipFill>
            </p:spPr>
            <p:txBody>
              <a:bodyPr/>
              <a:lstStyle/>
              <a:p>
                <a:r>
                  <a:rPr lang="en-US">
                    <a:noFill/>
                  </a:rPr>
                  <a:t> </a:t>
                </a:r>
              </a:p>
            </p:txBody>
          </p:sp>
        </mc:Fallback>
      </mc:AlternateContent>
      <p:sp>
        <p:nvSpPr>
          <p:cNvPr id="9" name="Google Shape;278;g104476d1465_1_17">
            <a:extLst>
              <a:ext uri="{FF2B5EF4-FFF2-40B4-BE49-F238E27FC236}">
                <a16:creationId xmlns:a16="http://schemas.microsoft.com/office/drawing/2014/main" id="{0D0C5ECD-32B3-814E-9ECE-3E62993CA726}"/>
              </a:ext>
            </a:extLst>
          </p:cNvPr>
          <p:cNvSpPr/>
          <p:nvPr/>
        </p:nvSpPr>
        <p:spPr>
          <a:xfrm>
            <a:off x="0" y="-810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Picture 2">
            <a:extLst>
              <a:ext uri="{FF2B5EF4-FFF2-40B4-BE49-F238E27FC236}">
                <a16:creationId xmlns:a16="http://schemas.microsoft.com/office/drawing/2014/main" id="{FF60EF44-33A3-1D03-1499-44B7FAD7C4E0}"/>
              </a:ext>
            </a:extLst>
          </p:cNvPr>
          <p:cNvPicPr>
            <a:picLocks noChangeAspect="1"/>
          </p:cNvPicPr>
          <p:nvPr/>
        </p:nvPicPr>
        <p:blipFill>
          <a:blip r:embed="rId6"/>
          <a:stretch>
            <a:fillRect/>
          </a:stretch>
        </p:blipFill>
        <p:spPr>
          <a:xfrm>
            <a:off x="2772005" y="1848583"/>
            <a:ext cx="6195032" cy="4836544"/>
          </a:xfrm>
          <a:prstGeom prst="rect">
            <a:avLst/>
          </a:prstGeom>
        </p:spPr>
      </p:pic>
    </p:spTree>
    <p:extLst>
      <p:ext uri="{BB962C8B-B14F-4D97-AF65-F5344CB8AC3E}">
        <p14:creationId xmlns:p14="http://schemas.microsoft.com/office/powerpoint/2010/main" val="7455233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7673"/>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4749"/>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24</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4EB5C6-2FDE-474B-866F-02AD6706D73C}"/>
                  </a:ext>
                </a:extLst>
              </p:cNvPr>
              <p:cNvSpPr txBox="1"/>
              <p:nvPr/>
            </p:nvSpPr>
            <p:spPr>
              <a:xfrm>
                <a:off x="858645" y="382314"/>
                <a:ext cx="10246850" cy="5496633"/>
              </a:xfrm>
              <a:prstGeom prst="rect">
                <a:avLst/>
              </a:prstGeom>
              <a:noFill/>
            </p:spPr>
            <p:txBody>
              <a:bodyPr wrap="square" rtlCol="0">
                <a:spAutoFit/>
              </a:bodyPr>
              <a:lstStyle/>
              <a:p>
                <a:pPr marL="457200" indent="-457200">
                  <a:buFont typeface="+mj-lt"/>
                  <a:buAutoNum type="arabicPeriod"/>
                </a:pPr>
                <a:r>
                  <a:rPr lang="en-US" sz="2400" dirty="0">
                    <a:latin typeface="Verdana" pitchFamily="34" charset="0"/>
                    <a:ea typeface="Verdana" pitchFamily="34" charset="0"/>
                  </a:rPr>
                  <a:t>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𝐿𝑊</m:t>
                        </m:r>
                      </m:e>
                    </m:acc>
                  </m:oMath>
                </a14:m>
                <a:r>
                  <a:rPr lang="en-US" sz="2400" dirty="0">
                    <a:latin typeface="Verdana" panose="020B0604030504040204" pitchFamily="34" charset="0"/>
                    <a:ea typeface="Verdana" panose="020B0604030504040204" pitchFamily="34" charset="0"/>
                    <a:cs typeface="Verdana" panose="020B0604030504040204" pitchFamily="34" charset="0"/>
                  </a:rPr>
                  <a:t> has a length of </a:t>
                </a:r>
                <a14:m>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5</m:t>
                        </m:r>
                      </m:num>
                      <m:den>
                        <m:r>
                          <a:rPr lang="en-US" sz="2400" b="0" i="1" smtClean="0">
                            <a:latin typeface="Cambria Math" panose="02040503050406030204" pitchFamily="18" charset="0"/>
                          </a:rPr>
                          <m:t>2</m:t>
                        </m:r>
                      </m:den>
                    </m:f>
                  </m:oMath>
                </a14:m>
                <a:r>
                  <a:rPr lang="en-US" sz="2400" dirty="0">
                    <a:latin typeface="Verdana" panose="020B0604030504040204" pitchFamily="34" charset="0"/>
                    <a:ea typeface="Verdana" panose="020B0604030504040204" pitchFamily="34" charset="0"/>
                    <a:cs typeface="Verdana" panose="020B0604030504040204" pitchFamily="34" charset="0"/>
                  </a:rPr>
                  <a:t> units and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𝑀𝑆</m:t>
                        </m:r>
                      </m:e>
                    </m:acc>
                  </m:oMath>
                </a14:m>
                <a:r>
                  <a:rPr lang="en-US" sz="2400" dirty="0">
                    <a:latin typeface="Verdana" panose="020B0604030504040204" pitchFamily="34" charset="0"/>
                    <a:ea typeface="Verdana" panose="020B0604030504040204" pitchFamily="34" charset="0"/>
                    <a:cs typeface="Verdana" panose="020B0604030504040204" pitchFamily="34" charset="0"/>
                  </a:rPr>
                  <a:t> has a length of </a:t>
                </a:r>
                <a14:m>
                  <m:oMath xmlns:m="http://schemas.openxmlformats.org/officeDocument/2006/math">
                    <m:f>
                      <m:fPr>
                        <m:ctrlPr>
                          <a:rPr lang="en-US" sz="2400" i="1">
                            <a:latin typeface="Cambria Math" panose="02040503050406030204" pitchFamily="18" charset="0"/>
                          </a:rPr>
                        </m:ctrlPr>
                      </m:fPr>
                      <m:num>
                        <m:r>
                          <a:rPr lang="en-US" sz="2400" b="0" i="1" smtClean="0">
                            <a:latin typeface="Cambria Math" panose="02040503050406030204" pitchFamily="18" charset="0"/>
                          </a:rPr>
                          <m:t>2</m:t>
                        </m:r>
                        <m:r>
                          <a:rPr lang="en-US" sz="2400" i="1">
                            <a:latin typeface="Cambria Math"/>
                          </a:rPr>
                          <m:t>0</m:t>
                        </m:r>
                      </m:num>
                      <m:den>
                        <m:r>
                          <a:rPr lang="en-US" sz="2400" i="1">
                            <a:latin typeface="Cambria Math"/>
                          </a:rPr>
                          <m:t>3</m:t>
                        </m:r>
                      </m:den>
                    </m:f>
                  </m:oMath>
                </a14:m>
                <a:r>
                  <a:rPr lang="en-US" sz="2400" dirty="0">
                    <a:latin typeface="Verdana" panose="020B0604030504040204" pitchFamily="34" charset="0"/>
                    <a:ea typeface="Verdana" panose="020B0604030504040204" pitchFamily="34" charset="0"/>
                    <a:cs typeface="Verdana" panose="020B0604030504040204" pitchFamily="34" charset="0"/>
                  </a:rPr>
                  <a:t> units. What is the scale factor that was used to create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𝑀𝑆</m:t>
                        </m:r>
                      </m:e>
                    </m:acc>
                  </m:oMath>
                </a14:m>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Use the Pythagorean theorem to complete the table. Round values to the nearest tenth of a unit.</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2400" i="1">
                        <a:latin typeface="Cambria Math"/>
                      </a:rPr>
                      <m:t>𝐿</m:t>
                    </m:r>
                  </m:oMath>
                </a14:m>
                <a:r>
                  <a:rPr lang="en-US" sz="2400" dirty="0">
                    <a:latin typeface="Verdana" panose="020B0604030504040204" pitchFamily="34" charset="0"/>
                    <a:ea typeface="Verdana" panose="020B0604030504040204" pitchFamily="34" charset="0"/>
                    <a:cs typeface="Verdana" panose="020B0604030504040204" pitchFamily="34" charset="0"/>
                  </a:rPr>
                  <a:t> is </a:t>
                </a:r>
                <a14:m>
                  <m:oMath xmlns:m="http://schemas.openxmlformats.org/officeDocument/2006/math">
                    <m:f>
                      <m:fPr>
                        <m:ctrlPr>
                          <a:rPr lang="en-US" sz="2400" i="1">
                            <a:latin typeface="Cambria Math" panose="02040503050406030204" pitchFamily="18" charset="0"/>
                          </a:rPr>
                        </m:ctrlPr>
                      </m:fPr>
                      <m:num>
                        <m:r>
                          <a:rPr lang="en-US" sz="2400" i="1">
                            <a:latin typeface="Cambria Math"/>
                          </a:rPr>
                          <m:t>                 </m:t>
                        </m:r>
                      </m:num>
                      <m:den>
                        <m:r>
                          <a:rPr lang="en-US" sz="2400" i="1">
                            <a:latin typeface="Cambria Math"/>
                          </a:rPr>
                          <m:t> </m:t>
                        </m:r>
                      </m:den>
                    </m:f>
                  </m:oMath>
                </a14:m>
                <a:r>
                  <a:rPr lang="en-US" sz="2400" dirty="0">
                    <a:latin typeface="Verdana" panose="020B0604030504040204" pitchFamily="34" charset="0"/>
                    <a:ea typeface="Verdana" panose="020B0604030504040204" pitchFamily="34" charset="0"/>
                    <a:cs typeface="Verdana" panose="020B0604030504040204" pitchFamily="34" charset="0"/>
                  </a:rPr>
                  <a:t> of the distance from </a:t>
                </a:r>
                <a14:m>
                  <m:oMath xmlns:m="http://schemas.openxmlformats.org/officeDocument/2006/math">
                    <m:r>
                      <a:rPr lang="en-US" sz="2400" i="1">
                        <a:latin typeface="Cambria Math"/>
                      </a:rPr>
                      <m:t>𝐴</m:t>
                    </m:r>
                  </m:oMath>
                </a14:m>
                <a:r>
                  <a:rPr lang="en-US" sz="2400" dirty="0">
                    <a:latin typeface="Verdana" panose="020B0604030504040204" pitchFamily="34" charset="0"/>
                    <a:ea typeface="Verdana" panose="020B0604030504040204" pitchFamily="34" charset="0"/>
                    <a:cs typeface="Verdana" panose="020B0604030504040204" pitchFamily="34" charset="0"/>
                  </a:rPr>
                  <a:t> to </a:t>
                </a:r>
                <a14:m>
                  <m:oMath xmlns:m="http://schemas.openxmlformats.org/officeDocument/2006/math">
                    <m:r>
                      <a:rPr lang="en-US" sz="2400" i="1">
                        <a:latin typeface="Cambria Math"/>
                      </a:rPr>
                      <m:t>𝑀</m:t>
                    </m:r>
                  </m:oMath>
                </a14:m>
                <a:r>
                  <a:rPr lang="en-US" sz="2400" dirty="0">
                    <a:latin typeface="Verdana" panose="020B0604030504040204" pitchFamily="34" charset="0"/>
                    <a:ea typeface="Verdana" panose="020B0604030504040204" pitchFamily="34" charset="0"/>
                    <a:cs typeface="Verdana" panose="020B0604030504040204" pitchFamily="34" charset="0"/>
                  </a:rPr>
                  <a:t>.</a:t>
                </a:r>
                <a:endParaRPr lang="en-US" sz="28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858645" y="382314"/>
                <a:ext cx="10246850" cy="5496633"/>
              </a:xfrm>
              <a:prstGeom prst="rect">
                <a:avLst/>
              </a:prstGeom>
              <a:blipFill>
                <a:blip r:embed="rId4"/>
                <a:stretch>
                  <a:fillRect l="-866" b="-1386"/>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120769DD-BB28-C740-A6A6-8565E70B1E53}"/>
              </a:ext>
            </a:extLst>
          </p:cNvPr>
          <p:cNvSpPr/>
          <p:nvPr/>
        </p:nvSpPr>
        <p:spPr>
          <a:xfrm>
            <a:off x="0" y="-1115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DD1B147A-023B-9344-B935-C66D22A0AED1}"/>
                  </a:ext>
                </a:extLst>
              </p:cNvPr>
              <p:cNvGraphicFramePr>
                <a:graphicFrameLocks noGrp="1"/>
              </p:cNvGraphicFramePr>
              <p:nvPr>
                <p:extLst>
                  <p:ext uri="{D42A27DB-BD31-4B8C-83A1-F6EECF244321}">
                    <p14:modId xmlns:p14="http://schemas.microsoft.com/office/powerpoint/2010/main" val="884043561"/>
                  </p:ext>
                </p:extLst>
              </p:nvPr>
            </p:nvGraphicFramePr>
            <p:xfrm>
              <a:off x="1086506" y="2982747"/>
              <a:ext cx="7632000" cy="1915160"/>
            </p:xfrm>
            <a:graphic>
              <a:graphicData uri="http://schemas.openxmlformats.org/drawingml/2006/table">
                <a:tbl>
                  <a:tblPr firstRow="1" firstCol="1" bandRow="1">
                    <a:tableStyleId>{A91F0D33-8C57-4600-99A7-42BC86742BE1}</a:tableStyleId>
                  </a:tblPr>
                  <a:tblGrid>
                    <a:gridCol w="1908000">
                      <a:extLst>
                        <a:ext uri="{9D8B030D-6E8A-4147-A177-3AD203B41FA5}">
                          <a16:colId xmlns:a16="http://schemas.microsoft.com/office/drawing/2014/main" val="3854803763"/>
                        </a:ext>
                      </a:extLst>
                    </a:gridCol>
                    <a:gridCol w="1908000">
                      <a:extLst>
                        <a:ext uri="{9D8B030D-6E8A-4147-A177-3AD203B41FA5}">
                          <a16:colId xmlns:a16="http://schemas.microsoft.com/office/drawing/2014/main" val="2470247543"/>
                        </a:ext>
                      </a:extLst>
                    </a:gridCol>
                    <a:gridCol w="1908000">
                      <a:extLst>
                        <a:ext uri="{9D8B030D-6E8A-4147-A177-3AD203B41FA5}">
                          <a16:colId xmlns:a16="http://schemas.microsoft.com/office/drawing/2014/main" val="2385964364"/>
                        </a:ext>
                      </a:extLst>
                    </a:gridCol>
                    <a:gridCol w="1908000">
                      <a:extLst>
                        <a:ext uri="{9D8B030D-6E8A-4147-A177-3AD203B41FA5}">
                          <a16:colId xmlns:a16="http://schemas.microsoft.com/office/drawing/2014/main" val="4141249005"/>
                        </a:ext>
                      </a:extLst>
                    </a:gridCol>
                  </a:tblGrid>
                  <a:tr h="47879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Segment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Length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Segment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Length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116865615"/>
                      </a:ext>
                    </a:extLst>
                  </a:tr>
                  <a:tr h="47879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rPr>
                                    </m:ctrlPr>
                                  </m:accPr>
                                  <m:e>
                                    <m:r>
                                      <a:rPr lang="en-US" sz="2000">
                                        <a:effectLst/>
                                        <a:latin typeface="Cambria Math"/>
                                      </a:rPr>
                                      <m:t>𝐴𝐿</m:t>
                                    </m:r>
                                  </m:e>
                                </m:acc>
                              </m:oMath>
                            </m:oMathPara>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rPr>
                                    </m:ctrlPr>
                                  </m:accPr>
                                  <m:e>
                                    <m:r>
                                      <a:rPr lang="en-US" sz="2000">
                                        <a:effectLst/>
                                        <a:latin typeface="Cambria Math"/>
                                      </a:rPr>
                                      <m:t>𝐴𝑊</m:t>
                                    </m:r>
                                  </m:e>
                                </m:acc>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2403794"/>
                      </a:ext>
                    </a:extLst>
                  </a:tr>
                  <a:tr h="47879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rPr>
                                    </m:ctrlPr>
                                  </m:accPr>
                                  <m:e>
                                    <m:r>
                                      <a:rPr lang="en-US" sz="2000">
                                        <a:effectLst/>
                                        <a:latin typeface="Cambria Math"/>
                                      </a:rPr>
                                      <m:t>𝐿𝑀</m:t>
                                    </m:r>
                                  </m:e>
                                </m:acc>
                              </m:oMath>
                            </m:oMathPara>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rPr>
                                    </m:ctrlPr>
                                  </m:accPr>
                                  <m:e>
                                    <m:r>
                                      <a:rPr lang="en-US" sz="2000">
                                        <a:effectLst/>
                                        <a:latin typeface="Cambria Math"/>
                                      </a:rPr>
                                      <m:t>𝑊𝑆</m:t>
                                    </m:r>
                                  </m:e>
                                </m:acc>
                              </m:oMath>
                            </m:oMathPara>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b="0" i="0" smtClean="0">
                                    <a:effectLst/>
                                    <a:latin typeface="Cambria Math" panose="02040503050406030204" pitchFamily="18" charset="0"/>
                                  </a:rPr>
                                  <m:t>3</m:t>
                                </m:r>
                                <m:r>
                                  <a:rPr lang="en-US" sz="2000">
                                    <a:effectLst/>
                                    <a:latin typeface="Cambria Math"/>
                                  </a:rPr>
                                  <m:t>.0</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7070030"/>
                      </a:ext>
                    </a:extLst>
                  </a:tr>
                  <a:tr h="47879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rPr>
                                    </m:ctrlPr>
                                  </m:accPr>
                                  <m:e>
                                    <m:r>
                                      <a:rPr lang="en-US" sz="2000">
                                        <a:effectLst/>
                                        <a:latin typeface="Cambria Math"/>
                                      </a:rPr>
                                      <m:t>𝐴𝑀</m:t>
                                    </m:r>
                                  </m:e>
                                </m:acc>
                              </m:oMath>
                            </m:oMathPara>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rPr>
                                    </m:ctrlPr>
                                  </m:accPr>
                                  <m:e>
                                    <m:r>
                                      <a:rPr lang="en-US" sz="2000">
                                        <a:effectLst/>
                                        <a:latin typeface="Cambria Math"/>
                                      </a:rPr>
                                      <m:t>𝐴𝑆</m:t>
                                    </m:r>
                                  </m:e>
                                </m:acc>
                              </m:oMath>
                            </m:oMathPara>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6748834"/>
                      </a:ext>
                    </a:extLst>
                  </a:tr>
                </a:tbl>
              </a:graphicData>
            </a:graphic>
          </p:graphicFrame>
        </mc:Choice>
        <mc:Fallback xmlns="">
          <p:graphicFrame>
            <p:nvGraphicFramePr>
              <p:cNvPr id="2" name="Table 1">
                <a:extLst>
                  <a:ext uri="{FF2B5EF4-FFF2-40B4-BE49-F238E27FC236}">
                    <a16:creationId xmlns:a16="http://schemas.microsoft.com/office/drawing/2014/main" id="{DD1B147A-023B-9344-B935-C66D22A0AED1}"/>
                  </a:ext>
                </a:extLst>
              </p:cNvPr>
              <p:cNvGraphicFramePr>
                <a:graphicFrameLocks noGrp="1"/>
              </p:cNvGraphicFramePr>
              <p:nvPr>
                <p:extLst>
                  <p:ext uri="{D42A27DB-BD31-4B8C-83A1-F6EECF244321}">
                    <p14:modId xmlns:p14="http://schemas.microsoft.com/office/powerpoint/2010/main" val="884043561"/>
                  </p:ext>
                </p:extLst>
              </p:nvPr>
            </p:nvGraphicFramePr>
            <p:xfrm>
              <a:off x="1086506" y="2982747"/>
              <a:ext cx="7632000" cy="1915160"/>
            </p:xfrm>
            <a:graphic>
              <a:graphicData uri="http://schemas.openxmlformats.org/drawingml/2006/table">
                <a:tbl>
                  <a:tblPr firstRow="1" firstCol="1" bandRow="1">
                    <a:tableStyleId>{A91F0D33-8C57-4600-99A7-42BC86742BE1}</a:tableStyleId>
                  </a:tblPr>
                  <a:tblGrid>
                    <a:gridCol w="1908000">
                      <a:extLst>
                        <a:ext uri="{9D8B030D-6E8A-4147-A177-3AD203B41FA5}">
                          <a16:colId xmlns:a16="http://schemas.microsoft.com/office/drawing/2014/main" val="3854803763"/>
                        </a:ext>
                      </a:extLst>
                    </a:gridCol>
                    <a:gridCol w="1908000">
                      <a:extLst>
                        <a:ext uri="{9D8B030D-6E8A-4147-A177-3AD203B41FA5}">
                          <a16:colId xmlns:a16="http://schemas.microsoft.com/office/drawing/2014/main" val="2470247543"/>
                        </a:ext>
                      </a:extLst>
                    </a:gridCol>
                    <a:gridCol w="1908000">
                      <a:extLst>
                        <a:ext uri="{9D8B030D-6E8A-4147-A177-3AD203B41FA5}">
                          <a16:colId xmlns:a16="http://schemas.microsoft.com/office/drawing/2014/main" val="2385964364"/>
                        </a:ext>
                      </a:extLst>
                    </a:gridCol>
                    <a:gridCol w="1908000">
                      <a:extLst>
                        <a:ext uri="{9D8B030D-6E8A-4147-A177-3AD203B41FA5}">
                          <a16:colId xmlns:a16="http://schemas.microsoft.com/office/drawing/2014/main" val="4141249005"/>
                        </a:ext>
                      </a:extLst>
                    </a:gridCol>
                  </a:tblGrid>
                  <a:tr h="47879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Segment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Length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Segment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Length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116865615"/>
                      </a:ext>
                    </a:extLst>
                  </a:tr>
                  <a:tr h="47879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662" t="-100000" r="-299338" b="-202632"/>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000" t="-100000" r="-100000" b="-202632"/>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2403794"/>
                      </a:ext>
                    </a:extLst>
                  </a:tr>
                  <a:tr h="47879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662" t="-200000" r="-299338" b="-102632"/>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000" t="-200000" r="-100000" b="-102632"/>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02000" t="-200000" r="-667" b="-102632"/>
                          </a:stretch>
                        </a:blipFill>
                      </a:tcPr>
                    </a:tc>
                    <a:extLst>
                      <a:ext uri="{0D108BD9-81ED-4DB2-BD59-A6C34878D82A}">
                        <a16:rowId xmlns:a16="http://schemas.microsoft.com/office/drawing/2014/main" val="1357070030"/>
                      </a:ext>
                    </a:extLst>
                  </a:tr>
                  <a:tr h="47879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662" t="-300000" r="-299338" b="-2632"/>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000" t="-300000" r="-100000" b="-2632"/>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6748834"/>
                      </a:ext>
                    </a:extLst>
                  </a:tr>
                </a:tbl>
              </a:graphicData>
            </a:graphic>
          </p:graphicFrame>
        </mc:Fallback>
      </mc:AlternateContent>
      <p:pic>
        <p:nvPicPr>
          <p:cNvPr id="4" name="Picture 3">
            <a:extLst>
              <a:ext uri="{FF2B5EF4-FFF2-40B4-BE49-F238E27FC236}">
                <a16:creationId xmlns:a16="http://schemas.microsoft.com/office/drawing/2014/main" id="{BE8100C8-7FD5-2385-F452-6654E6174FCA}"/>
              </a:ext>
            </a:extLst>
          </p:cNvPr>
          <p:cNvPicPr>
            <a:picLocks noChangeAspect="1"/>
          </p:cNvPicPr>
          <p:nvPr/>
        </p:nvPicPr>
        <p:blipFill rotWithShape="1">
          <a:blip r:embed="rId6"/>
          <a:srcRect l="26370" r="61042"/>
          <a:stretch/>
        </p:blipFill>
        <p:spPr>
          <a:xfrm>
            <a:off x="2915478" y="4934356"/>
            <a:ext cx="834888" cy="1263317"/>
          </a:xfrm>
          <a:prstGeom prst="rect">
            <a:avLst/>
          </a:prstGeom>
        </p:spPr>
      </p:pic>
    </p:spTree>
    <p:extLst>
      <p:ext uri="{BB962C8B-B14F-4D97-AF65-F5344CB8AC3E}">
        <p14:creationId xmlns:p14="http://schemas.microsoft.com/office/powerpoint/2010/main" val="32891216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a:t>
            </a:r>
            <a:endParaRPr i="1" dirty="0">
              <a:latin typeface="Calibri"/>
              <a:ea typeface="Calibri"/>
              <a:cs typeface="Calibri"/>
              <a:sym typeface="Calibri"/>
            </a:endParaRPr>
          </a:p>
        </p:txBody>
      </p:sp>
      <p:sp>
        <p:nvSpPr>
          <p:cNvPr id="6" name="Google Shape;278;g104476d1465_1_17">
            <a:extLst>
              <a:ext uri="{FF2B5EF4-FFF2-40B4-BE49-F238E27FC236}">
                <a16:creationId xmlns:a16="http://schemas.microsoft.com/office/drawing/2014/main" id="{91AC6BBB-5763-8341-B240-C23FCD1B4259}"/>
              </a:ext>
            </a:extLst>
          </p:cNvPr>
          <p:cNvSpPr/>
          <p:nvPr/>
        </p:nvSpPr>
        <p:spPr>
          <a:xfrm>
            <a:off x="0" y="-810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Picture 2">
            <a:extLst>
              <a:ext uri="{FF2B5EF4-FFF2-40B4-BE49-F238E27FC236}">
                <a16:creationId xmlns:a16="http://schemas.microsoft.com/office/drawing/2014/main" id="{848FAA01-9252-1329-C62A-7B40F7E78444}"/>
              </a:ext>
            </a:extLst>
          </p:cNvPr>
          <p:cNvPicPr>
            <a:picLocks noChangeAspect="1"/>
          </p:cNvPicPr>
          <p:nvPr/>
        </p:nvPicPr>
        <p:blipFill rotWithShape="1">
          <a:blip r:embed="rId4"/>
          <a:srcRect t="18952"/>
          <a:stretch/>
        </p:blipFill>
        <p:spPr>
          <a:xfrm>
            <a:off x="1108363" y="290043"/>
            <a:ext cx="9824433" cy="5352221"/>
          </a:xfrm>
          <a:prstGeom prst="rect">
            <a:avLst/>
          </a:prstGeom>
        </p:spPr>
      </p:pic>
    </p:spTree>
    <p:extLst>
      <p:ext uri="{BB962C8B-B14F-4D97-AF65-F5344CB8AC3E}">
        <p14:creationId xmlns:p14="http://schemas.microsoft.com/office/powerpoint/2010/main" val="19183854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3BC97A7-8575-5A46-8E72-A886A83AEC7E}"/>
                  </a:ext>
                </a:extLst>
              </p:cNvPr>
              <p:cNvSpPr txBox="1"/>
              <p:nvPr/>
            </p:nvSpPr>
            <p:spPr>
              <a:xfrm>
                <a:off x="880946" y="374213"/>
                <a:ext cx="10225669" cy="5047536"/>
              </a:xfrm>
              <a:prstGeom prst="rect">
                <a:avLst/>
              </a:prstGeom>
              <a:noFill/>
            </p:spPr>
            <p:txBody>
              <a:bodyPr wrap="square" rtlCol="0">
                <a:spAutoFit/>
              </a:bodyPr>
              <a:lstStyle/>
              <a:p>
                <a:pPr marL="457200" indent="-457200">
                  <a:spcAft>
                    <a:spcPts val="1200"/>
                  </a:spcAft>
                  <a:buFont typeface="+mj-lt"/>
                  <a:buAutoNum type="arabicPeriod" startAt="7"/>
                </a:pPr>
                <a:r>
                  <a:rPr lang="en-US" sz="2400" dirty="0">
                    <a:latin typeface="Verdana" panose="020B0604030504040204" pitchFamily="34" charset="0"/>
                    <a:ea typeface="Verdana" panose="020B0604030504040204" pitchFamily="34" charset="0"/>
                    <a:cs typeface="Verdana" panose="020B0604030504040204" pitchFamily="34" charset="0"/>
                  </a:rPr>
                  <a:t>What do you notice about each of the following ratios? </a:t>
                </a:r>
              </a:p>
              <a:p>
                <a:pPr marL="808038" indent="-236538">
                  <a:buFont typeface="Arial" panose="020B0604020202020204" pitchFamily="34" charset="0"/>
                  <a:buChar char="•"/>
                </a:pPr>
                <a14:m>
                  <m:oMath xmlns:m="http://schemas.openxmlformats.org/officeDocument/2006/math">
                    <m:r>
                      <a:rPr lang="en-US" sz="2400" i="1">
                        <a:latin typeface="Cambria Math" panose="02040503050406030204" pitchFamily="18" charset="0"/>
                        <a:ea typeface="Cambria Math" panose="02040503050406030204" pitchFamily="18" charset="0"/>
                      </a:rPr>
                      <m:t>𝐿𝑊</m:t>
                    </m:r>
                  </m:oMath>
                </a14:m>
                <a:r>
                  <a:rPr lang="en-US" sz="2400" dirty="0">
                    <a:latin typeface="Cambria Math" panose="02040503050406030204" pitchFamily="18" charset="0"/>
                    <a:ea typeface="Cambria Math" panose="02040503050406030204" pitchFamily="18" charset="0"/>
                    <a:cs typeface="Verdana" panose="020B0604030504040204" pitchFamily="34" charset="0"/>
                  </a:rPr>
                  <a:t>:</a:t>
                </a:r>
                <a14:m>
                  <m:oMath xmlns:m="http://schemas.openxmlformats.org/officeDocument/2006/math">
                    <m:r>
                      <a:rPr lang="en-US" sz="2400" i="1">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𝑀𝑆</m:t>
                    </m:r>
                  </m:oMath>
                </a14:m>
                <a:endParaRPr lang="en-US" sz="2400" dirty="0">
                  <a:latin typeface="Cambria Math" panose="02040503050406030204" pitchFamily="18" charset="0"/>
                  <a:ea typeface="Cambria Math" panose="02040503050406030204" pitchFamily="18" charset="0"/>
                  <a:cs typeface="Verdana" panose="020B0604030504040204" pitchFamily="34" charset="0"/>
                </a:endParaRPr>
              </a:p>
              <a:p>
                <a:pPr marL="808038" indent="-236538">
                  <a:buFont typeface="Arial" panose="020B0604020202020204" pitchFamily="34" charset="0"/>
                  <a:buChar char="•"/>
                </a:pPr>
                <a:endParaRPr lang="en-US" sz="2400" dirty="0">
                  <a:latin typeface="Cambria Math" panose="02040503050406030204" pitchFamily="18" charset="0"/>
                  <a:ea typeface="Cambria Math" panose="02040503050406030204" pitchFamily="18" charset="0"/>
                  <a:cs typeface="Verdana" panose="020B0604030504040204" pitchFamily="34" charset="0"/>
                </a:endParaRPr>
              </a:p>
              <a:p>
                <a:pPr marL="808038" indent="-236538">
                  <a:buFont typeface="Arial" panose="020B0604020202020204" pitchFamily="34" charset="0"/>
                  <a:buChar char="•"/>
                </a:pPr>
                <a:endParaRPr lang="en-US" sz="2400" dirty="0">
                  <a:latin typeface="Cambria Math" panose="02040503050406030204" pitchFamily="18" charset="0"/>
                  <a:ea typeface="Cambria Math" panose="02040503050406030204" pitchFamily="18" charset="0"/>
                  <a:cs typeface="Verdana" panose="020B0604030504040204" pitchFamily="34" charset="0"/>
                </a:endParaRPr>
              </a:p>
              <a:p>
                <a:pPr marL="808038" indent="-236538">
                  <a:buFont typeface="Arial" panose="020B0604020202020204" pitchFamily="34" charset="0"/>
                  <a:buChar char="•"/>
                </a:pPr>
                <a14:m>
                  <m:oMath xmlns:m="http://schemas.openxmlformats.org/officeDocument/2006/math">
                    <m:r>
                      <a:rPr lang="en-US" sz="2400" i="1">
                        <a:latin typeface="Cambria Math" panose="02040503050406030204" pitchFamily="18" charset="0"/>
                        <a:ea typeface="Cambria Math" panose="02040503050406030204" pitchFamily="18" charset="0"/>
                      </a:rPr>
                      <m:t>𝐴𝐿</m:t>
                    </m:r>
                  </m:oMath>
                </a14:m>
                <a:r>
                  <a:rPr lang="en-US" sz="2400" dirty="0">
                    <a:latin typeface="Cambria Math" panose="02040503050406030204" pitchFamily="18" charset="0"/>
                    <a:ea typeface="Cambria Math" panose="02040503050406030204" pitchFamily="18" charset="0"/>
                    <a:cs typeface="Verdana" panose="020B0604030504040204" pitchFamily="34" charset="0"/>
                  </a:rPr>
                  <a:t>:</a:t>
                </a:r>
                <a14:m>
                  <m:oMath xmlns:m="http://schemas.openxmlformats.org/officeDocument/2006/math">
                    <m:r>
                      <a:rPr lang="en-US" sz="2400" i="1">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𝐴𝑀</m:t>
                    </m:r>
                  </m:oMath>
                </a14:m>
                <a:endParaRPr lang="en-US" sz="2400" dirty="0">
                  <a:latin typeface="Cambria Math" panose="02040503050406030204" pitchFamily="18" charset="0"/>
                  <a:ea typeface="Cambria Math" panose="02040503050406030204" pitchFamily="18" charset="0"/>
                  <a:cs typeface="Verdana" panose="020B0604030504040204" pitchFamily="34" charset="0"/>
                </a:endParaRPr>
              </a:p>
              <a:p>
                <a:pPr marL="808038" indent="-236538">
                  <a:buFont typeface="Arial" panose="020B0604020202020204" pitchFamily="34" charset="0"/>
                  <a:buChar char="•"/>
                </a:pPr>
                <a:endParaRPr lang="en-US" sz="2400" dirty="0">
                  <a:latin typeface="Cambria Math" panose="02040503050406030204" pitchFamily="18" charset="0"/>
                  <a:ea typeface="Cambria Math" panose="02040503050406030204" pitchFamily="18" charset="0"/>
                  <a:cs typeface="Verdana" panose="020B0604030504040204" pitchFamily="34" charset="0"/>
                </a:endParaRPr>
              </a:p>
              <a:p>
                <a:pPr marL="808038" indent="-236538">
                  <a:buFont typeface="Arial" panose="020B0604020202020204" pitchFamily="34" charset="0"/>
                  <a:buChar char="•"/>
                </a:pPr>
                <a:endParaRPr lang="en-US" sz="2400" dirty="0">
                  <a:latin typeface="Cambria Math" panose="02040503050406030204" pitchFamily="18" charset="0"/>
                  <a:ea typeface="Cambria Math" panose="02040503050406030204" pitchFamily="18" charset="0"/>
                  <a:cs typeface="Verdana" panose="020B0604030504040204" pitchFamily="34" charset="0"/>
                </a:endParaRPr>
              </a:p>
              <a:p>
                <a:pPr marL="808038" indent="-236538">
                  <a:buFont typeface="Arial" panose="020B0604020202020204" pitchFamily="34" charset="0"/>
                  <a:buChar char="•"/>
                </a:pPr>
                <a14:m>
                  <m:oMath xmlns:m="http://schemas.openxmlformats.org/officeDocument/2006/math">
                    <m:r>
                      <a:rPr lang="en-US" sz="2400" i="1">
                        <a:latin typeface="Cambria Math" panose="02040503050406030204" pitchFamily="18" charset="0"/>
                        <a:ea typeface="Cambria Math" panose="02040503050406030204" pitchFamily="18" charset="0"/>
                      </a:rPr>
                      <m:t>𝐴𝑊</m:t>
                    </m:r>
                  </m:oMath>
                </a14:m>
                <a:r>
                  <a:rPr lang="en-US" sz="2400" dirty="0">
                    <a:latin typeface="Cambria Math" panose="02040503050406030204" pitchFamily="18" charset="0"/>
                    <a:ea typeface="Cambria Math" panose="02040503050406030204" pitchFamily="18" charset="0"/>
                    <a:cs typeface="Verdana" panose="020B0604030504040204" pitchFamily="34" charset="0"/>
                  </a:rPr>
                  <a:t>:</a:t>
                </a:r>
                <a14:m>
                  <m:oMath xmlns:m="http://schemas.openxmlformats.org/officeDocument/2006/math">
                    <m:r>
                      <a:rPr lang="en-US" sz="2400" i="1">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𝐴𝑆</m:t>
                    </m:r>
                  </m:oMath>
                </a14:m>
                <a:endParaRPr lang="en-US" sz="2400" dirty="0">
                  <a:latin typeface="Cambria Math" panose="02040503050406030204" pitchFamily="18" charset="0"/>
                  <a:ea typeface="Cambria Math" panose="02040503050406030204" pitchFamily="18" charset="0"/>
                  <a:cs typeface="Verdana" panose="020B0604030504040204" pitchFamily="34" charset="0"/>
                </a:endParaRPr>
              </a:p>
              <a:p>
                <a:pPr marL="457200" indent="-342900">
                  <a:buFont typeface="Arial" panose="020B0604020202020204" pitchFamily="34" charset="0"/>
                  <a:buChar char="•"/>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342900">
                  <a:buFont typeface="Arial" panose="020B0604020202020204" pitchFamily="34" charset="0"/>
                  <a:buChar char="•"/>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342900">
                  <a:buFont typeface="Arial" panose="020B0604020202020204" pitchFamily="34" charset="0"/>
                  <a:buChar char="•"/>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571500" indent="-457200">
                  <a:buFont typeface="+mj-lt"/>
                  <a:buAutoNum type="arabicPeriod" startAt="8"/>
                </a:pPr>
                <a:r>
                  <a:rPr lang="en-US" sz="2400" dirty="0">
                    <a:latin typeface="Verdana" panose="020B0604030504040204" pitchFamily="34" charset="0"/>
                    <a:ea typeface="Verdana" panose="020B0604030504040204" pitchFamily="34" charset="0"/>
                    <a:cs typeface="Verdana" panose="020B0604030504040204" pitchFamily="34" charset="0"/>
                  </a:rPr>
                  <a:t>Work with your partner to explain how to find the scale factor of a dilation.</a:t>
                </a:r>
              </a:p>
            </p:txBody>
          </p:sp>
        </mc:Choice>
        <mc:Fallback xmlns="">
          <p:sp>
            <p:nvSpPr>
              <p:cNvPr id="5" name="TextBox 4">
                <a:extLst>
                  <a:ext uri="{FF2B5EF4-FFF2-40B4-BE49-F238E27FC236}">
                    <a16:creationId xmlns:a16="http://schemas.microsoft.com/office/drawing/2014/main" id="{A3BC97A7-8575-5A46-8E72-A886A83AEC7E}"/>
                  </a:ext>
                </a:extLst>
              </p:cNvPr>
              <p:cNvSpPr txBox="1">
                <a:spLocks noRot="1" noChangeAspect="1" noMove="1" noResize="1" noEditPoints="1" noAdjustHandles="1" noChangeArrowheads="1" noChangeShapeType="1" noTextEdit="1"/>
              </p:cNvSpPr>
              <p:nvPr/>
            </p:nvSpPr>
            <p:spPr>
              <a:xfrm>
                <a:off x="880946" y="374213"/>
                <a:ext cx="10225669" cy="5047536"/>
              </a:xfrm>
              <a:prstGeom prst="rect">
                <a:avLst/>
              </a:prstGeom>
              <a:blipFill>
                <a:blip r:embed="rId4"/>
                <a:stretch>
                  <a:fillRect l="-954" t="-966" b="-1812"/>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91AC6BBB-5763-8341-B240-C23FCD1B4259}"/>
              </a:ext>
            </a:extLst>
          </p:cNvPr>
          <p:cNvSpPr/>
          <p:nvPr/>
        </p:nvSpPr>
        <p:spPr>
          <a:xfrm>
            <a:off x="0" y="-810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32930202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5"/>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Bring It Together</a:t>
            </a:r>
            <a:endParaRPr sz="5100" b="1" dirty="0">
              <a:solidFill>
                <a:srgbClr val="26B7D4"/>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a:t>
            </a:r>
            <a:endParaRPr i="1" dirty="0">
              <a:latin typeface="Calibri"/>
              <a:ea typeface="Calibri"/>
              <a:cs typeface="Calibri"/>
              <a:sym typeface="Calibri"/>
            </a:endParaRPr>
          </a:p>
        </p:txBody>
      </p:sp>
      <p:pic>
        <p:nvPicPr>
          <p:cNvPr id="13314" name="Picture 2" descr="Icon&#10;&#10;Description automatically generated">
            <a:extLst>
              <a:ext uri="{FF2B5EF4-FFF2-40B4-BE49-F238E27FC236}">
                <a16:creationId xmlns:a16="http://schemas.microsoft.com/office/drawing/2014/main" id="{31E4CCCA-703A-4C46-A49C-ABEAC0061CD4}"/>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705255"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60658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460810" y="125"/>
            <a:ext cx="9866832" cy="10894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1.4.4 Bring It Together: Determining Scale Factor</a:t>
            </a:r>
          </a:p>
        </p:txBody>
      </p:sp>
      <p:sp>
        <p:nvSpPr>
          <p:cNvPr id="8" name="TextBox 7">
            <a:extLst>
              <a:ext uri="{FF2B5EF4-FFF2-40B4-BE49-F238E27FC236}">
                <a16:creationId xmlns:a16="http://schemas.microsoft.com/office/drawing/2014/main" id="{669E00F9-F39F-5043-888E-B0A2D8C9AE0F}"/>
              </a:ext>
            </a:extLst>
          </p:cNvPr>
          <p:cNvSpPr txBox="1"/>
          <p:nvPr/>
        </p:nvSpPr>
        <p:spPr>
          <a:xfrm>
            <a:off x="858644" y="1386150"/>
            <a:ext cx="10281424" cy="830997"/>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As the class shares strategies for finding scale factor, choose a strategy other than yours to describe.</a:t>
            </a:r>
          </a:p>
        </p:txBody>
      </p:sp>
      <p:sp>
        <p:nvSpPr>
          <p:cNvPr id="10" name="Google Shape;278;g104476d1465_1_17">
            <a:extLst>
              <a:ext uri="{FF2B5EF4-FFF2-40B4-BE49-F238E27FC236}">
                <a16:creationId xmlns:a16="http://schemas.microsoft.com/office/drawing/2014/main" id="{E37649FA-72D0-DE42-98CE-D098AE151A20}"/>
              </a:ext>
            </a:extLst>
          </p:cNvPr>
          <p:cNvSpPr/>
          <p:nvPr/>
        </p:nvSpPr>
        <p:spPr>
          <a:xfrm>
            <a:off x="0" y="-810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1" name="Picture 2" descr="Icon&#10;&#10;Description automatically generated">
            <a:extLst>
              <a:ext uri="{FF2B5EF4-FFF2-40B4-BE49-F238E27FC236}">
                <a16:creationId xmlns:a16="http://schemas.microsoft.com/office/drawing/2014/main" id="{5D7F7086-3B46-0741-A8D9-C84B5033CCC5}"/>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93247" y="130760"/>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graphicFrame>
        <p:nvGraphicFramePr>
          <p:cNvPr id="2" name="Table 1">
            <a:extLst>
              <a:ext uri="{FF2B5EF4-FFF2-40B4-BE49-F238E27FC236}">
                <a16:creationId xmlns:a16="http://schemas.microsoft.com/office/drawing/2014/main" id="{C2E9271B-7C41-7E41-8960-62EB3AF1FBBD}"/>
              </a:ext>
            </a:extLst>
          </p:cNvPr>
          <p:cNvGraphicFramePr>
            <a:graphicFrameLocks noGrp="1"/>
          </p:cNvGraphicFramePr>
          <p:nvPr>
            <p:extLst>
              <p:ext uri="{D42A27DB-BD31-4B8C-83A1-F6EECF244321}">
                <p14:modId xmlns:p14="http://schemas.microsoft.com/office/powerpoint/2010/main" val="1554306308"/>
              </p:ext>
            </p:extLst>
          </p:nvPr>
        </p:nvGraphicFramePr>
        <p:xfrm>
          <a:off x="1460810" y="2513683"/>
          <a:ext cx="7560000" cy="3581040"/>
        </p:xfrm>
        <a:graphic>
          <a:graphicData uri="http://schemas.openxmlformats.org/drawingml/2006/table">
            <a:tbl>
              <a:tblPr bandRow="1">
                <a:tableStyleId>{A91F0D33-8C57-4600-99A7-42BC86742BE1}</a:tableStyleId>
              </a:tblPr>
              <a:tblGrid>
                <a:gridCol w="3600000">
                  <a:extLst>
                    <a:ext uri="{9D8B030D-6E8A-4147-A177-3AD203B41FA5}">
                      <a16:colId xmlns:a16="http://schemas.microsoft.com/office/drawing/2014/main" val="2928962336"/>
                    </a:ext>
                  </a:extLst>
                </a:gridCol>
                <a:gridCol w="3960000">
                  <a:extLst>
                    <a:ext uri="{9D8B030D-6E8A-4147-A177-3AD203B41FA5}">
                      <a16:colId xmlns:a16="http://schemas.microsoft.com/office/drawing/2014/main" val="3197276115"/>
                    </a:ext>
                  </a:extLst>
                </a:gridCol>
              </a:tblGrid>
              <a:tr h="536575">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Strategy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 Liked the Strategy Because…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805488137"/>
                  </a:ext>
                </a:extLst>
              </a:tr>
              <a:tr h="288000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0888875"/>
                  </a:ext>
                </a:extLst>
              </a:tr>
            </a:tbl>
          </a:graphicData>
        </a:graphic>
      </p:graphicFrame>
      <p:sp>
        <p:nvSpPr>
          <p:cNvPr id="9" name="Google Shape;282;g104476d1465_1_17">
            <a:extLst>
              <a:ext uri="{FF2B5EF4-FFF2-40B4-BE49-F238E27FC236}">
                <a16:creationId xmlns:a16="http://schemas.microsoft.com/office/drawing/2014/main" id="{7995BC1D-0D69-4B19-C662-A713D1AF046E}"/>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a:t>
            </a:r>
            <a:endParaRPr i="1" dirty="0">
              <a:latin typeface="Calibri"/>
              <a:ea typeface="Calibri"/>
              <a:cs typeface="Calibri"/>
              <a:sym typeface="Calibri"/>
            </a:endParaRPr>
          </a:p>
        </p:txBody>
      </p:sp>
      <p:pic>
        <p:nvPicPr>
          <p:cNvPr id="13" name="Google Shape;311;g104476d1465_1_39">
            <a:extLst>
              <a:ext uri="{FF2B5EF4-FFF2-40B4-BE49-F238E27FC236}">
                <a16:creationId xmlns:a16="http://schemas.microsoft.com/office/drawing/2014/main" id="{223B2E63-8812-DFFA-B7D1-B2682B79CE85}"/>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3998569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6366" y="6200723"/>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8140" y="645779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3BC97A7-8575-5A46-8E72-A886A83AEC7E}"/>
                  </a:ext>
                </a:extLst>
              </p:cNvPr>
              <p:cNvSpPr txBox="1"/>
              <p:nvPr/>
            </p:nvSpPr>
            <p:spPr>
              <a:xfrm>
                <a:off x="847492" y="386406"/>
                <a:ext cx="10281425" cy="4893647"/>
              </a:xfrm>
              <a:prstGeom prst="rect">
                <a:avLst/>
              </a:prstGeom>
              <a:noFill/>
            </p:spPr>
            <p:txBody>
              <a:bodyPr wrap="square" rtlCol="0">
                <a:spAutoFit/>
              </a:bodyPr>
              <a:lstStyle/>
              <a:p>
                <a:pPr marL="457200" indent="-457200">
                  <a:buFont typeface="+mj-lt"/>
                  <a:buAutoNum type="arabicPeriod"/>
                </a:pPr>
                <a:r>
                  <a:rPr lang="en-US" sz="2400" dirty="0">
                    <a:latin typeface="Verdana" pitchFamily="34" charset="0"/>
                    <a:ea typeface="Verdana" pitchFamily="34" charset="0"/>
                  </a:rPr>
                  <a:t>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𝑋𝑅</m:t>
                        </m:r>
                      </m:e>
                    </m:acc>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𝑅𝐾</m:t>
                        </m:r>
                      </m:e>
                    </m:acc>
                    <m:r>
                      <a:rPr lang="en-US" sz="2400" i="1">
                        <a:latin typeface="Cambria Math"/>
                      </a:rPr>
                      <m:t> </m:t>
                    </m:r>
                  </m:oMath>
                </a14:m>
                <a:r>
                  <a:rPr lang="en-US" sz="2400" dirty="0">
                    <a:latin typeface="Verdana" panose="020B0604030504040204" pitchFamily="34" charset="0"/>
                    <a:ea typeface="Verdana" panose="020B0604030504040204" pitchFamily="34" charset="0"/>
                    <a:cs typeface="Verdana" panose="020B0604030504040204" pitchFamily="34" charset="0"/>
                  </a:rPr>
                  <a:t>are shown.</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What is the scale factor that can be used to dilate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𝑋𝑅</m:t>
                        </m:r>
                      </m:e>
                    </m:acc>
                  </m:oMath>
                </a14:m>
                <a:r>
                  <a:rPr lang="en-US" sz="2400" dirty="0">
                    <a:latin typeface="Verdana" panose="020B0604030504040204" pitchFamily="34" charset="0"/>
                    <a:ea typeface="Verdana" panose="020B0604030504040204" pitchFamily="34" charset="0"/>
                    <a:cs typeface="Verdana" panose="020B0604030504040204" pitchFamily="34" charset="0"/>
                  </a:rPr>
                  <a:t> to create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𝑋𝐾</m:t>
                        </m:r>
                      </m:e>
                    </m:acc>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What is the scale factor that can be used to dilate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𝑋𝐾</m:t>
                        </m:r>
                      </m:e>
                    </m:acc>
                  </m:oMath>
                </a14:m>
                <a:r>
                  <a:rPr lang="en-US" sz="2400" dirty="0">
                    <a:latin typeface="Verdana" panose="020B0604030504040204" pitchFamily="34" charset="0"/>
                    <a:ea typeface="Verdana" panose="020B0604030504040204" pitchFamily="34" charset="0"/>
                    <a:cs typeface="Verdana" panose="020B0604030504040204" pitchFamily="34" charset="0"/>
                  </a:rPr>
                  <a:t> to create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𝑋𝑅</m:t>
                        </m:r>
                      </m:e>
                    </m:acc>
                  </m:oMath>
                </a14:m>
                <a:r>
                  <a:rPr lang="en-US" sz="24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5" name="TextBox 4">
                <a:extLst>
                  <a:ext uri="{FF2B5EF4-FFF2-40B4-BE49-F238E27FC236}">
                    <a16:creationId xmlns:a16="http://schemas.microsoft.com/office/drawing/2014/main" id="{A3BC97A7-8575-5A46-8E72-A886A83AEC7E}"/>
                  </a:ext>
                </a:extLst>
              </p:cNvPr>
              <p:cNvSpPr txBox="1">
                <a:spLocks noRot="1" noChangeAspect="1" noMove="1" noResize="1" noEditPoints="1" noAdjustHandles="1" noChangeArrowheads="1" noChangeShapeType="1" noTextEdit="1"/>
              </p:cNvSpPr>
              <p:nvPr/>
            </p:nvSpPr>
            <p:spPr>
              <a:xfrm>
                <a:off x="847492" y="386406"/>
                <a:ext cx="10281425" cy="4893647"/>
              </a:xfrm>
              <a:prstGeom prst="rect">
                <a:avLst/>
              </a:prstGeom>
              <a:blipFill>
                <a:blip r:embed="rId4"/>
                <a:stretch>
                  <a:fillRect l="-889" t="-1121" b="-1743"/>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91AC6BBB-5763-8341-B240-C23FCD1B4259}"/>
              </a:ext>
            </a:extLst>
          </p:cNvPr>
          <p:cNvSpPr/>
          <p:nvPr/>
        </p:nvSpPr>
        <p:spPr>
          <a:xfrm>
            <a:off x="0" y="-810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7" name="Picture 6">
            <a:extLst>
              <a:ext uri="{FF2B5EF4-FFF2-40B4-BE49-F238E27FC236}">
                <a16:creationId xmlns:a16="http://schemas.microsoft.com/office/drawing/2014/main" id="{B687CAB8-A357-8E4D-A26F-4A8DDBF1A690}"/>
              </a:ext>
            </a:extLst>
          </p:cNvPr>
          <p:cNvPicPr/>
          <p:nvPr/>
        </p:nvPicPr>
        <p:blipFill>
          <a:blip r:embed="rId5"/>
          <a:stretch>
            <a:fillRect/>
          </a:stretch>
        </p:blipFill>
        <p:spPr>
          <a:xfrm>
            <a:off x="1389526" y="1115848"/>
            <a:ext cx="7831694" cy="924197"/>
          </a:xfrm>
          <a:prstGeom prst="rect">
            <a:avLst/>
          </a:prstGeom>
        </p:spPr>
      </p:pic>
    </p:spTree>
    <p:extLst>
      <p:ext uri="{BB962C8B-B14F-4D97-AF65-F5344CB8AC3E}">
        <p14:creationId xmlns:p14="http://schemas.microsoft.com/office/powerpoint/2010/main" val="40508690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7673"/>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474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3BC97A7-8575-5A46-8E72-A886A83AEC7E}"/>
                  </a:ext>
                </a:extLst>
              </p:cNvPr>
              <p:cNvSpPr txBox="1"/>
              <p:nvPr/>
            </p:nvSpPr>
            <p:spPr>
              <a:xfrm>
                <a:off x="836340" y="394506"/>
                <a:ext cx="10314880" cy="707886"/>
              </a:xfrm>
              <a:prstGeom prst="rect">
                <a:avLst/>
              </a:prstGeom>
              <a:noFill/>
            </p:spPr>
            <p:txBody>
              <a:bodyPr wrap="square" rtlCol="0">
                <a:spAutoFit/>
              </a:bodyPr>
              <a:lstStyle/>
              <a:p>
                <a:pPr marL="898525" indent="-457200">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Describe point </a:t>
                </a:r>
                <a14:m>
                  <m:oMath xmlns:m="http://schemas.openxmlformats.org/officeDocument/2006/math">
                    <m:r>
                      <a:rPr lang="en-US" sz="2400" i="1">
                        <a:latin typeface="Cambria Math"/>
                      </a:rPr>
                      <m:t>𝑅</m:t>
                    </m:r>
                  </m:oMath>
                </a14:m>
                <a:r>
                  <a:rPr lang="en-US" sz="2400" dirty="0">
                    <a:latin typeface="Verdana" panose="020B0604030504040204" pitchFamily="34" charset="0"/>
                    <a:ea typeface="Verdana" panose="020B0604030504040204" pitchFamily="34" charset="0"/>
                    <a:cs typeface="Verdana" panose="020B0604030504040204" pitchFamily="34" charset="0"/>
                  </a:rPr>
                  <a:t> in relation to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𝑋𝐾</m:t>
                        </m:r>
                      </m:e>
                    </m:acc>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lvl="0"/>
                <a:endParaRPr lang="en-US" sz="1600" dirty="0">
                  <a:latin typeface="Verdana" pitchFamily="34" charset="0"/>
                  <a:ea typeface="Verdana" pitchFamily="34" charset="0"/>
                </a:endParaRPr>
              </a:p>
            </p:txBody>
          </p:sp>
        </mc:Choice>
        <mc:Fallback xmlns="">
          <p:sp>
            <p:nvSpPr>
              <p:cNvPr id="5" name="TextBox 4">
                <a:extLst>
                  <a:ext uri="{FF2B5EF4-FFF2-40B4-BE49-F238E27FC236}">
                    <a16:creationId xmlns:a16="http://schemas.microsoft.com/office/drawing/2014/main" id="{A3BC97A7-8575-5A46-8E72-A886A83AEC7E}"/>
                  </a:ext>
                </a:extLst>
              </p:cNvPr>
              <p:cNvSpPr txBox="1">
                <a:spLocks noRot="1" noChangeAspect="1" noMove="1" noResize="1" noEditPoints="1" noAdjustHandles="1" noChangeArrowheads="1" noChangeShapeType="1" noTextEdit="1"/>
              </p:cNvSpPr>
              <p:nvPr/>
            </p:nvSpPr>
            <p:spPr>
              <a:xfrm>
                <a:off x="836340" y="394506"/>
                <a:ext cx="10314880" cy="707886"/>
              </a:xfrm>
              <a:prstGeom prst="rect">
                <a:avLst/>
              </a:prstGeom>
              <a:blipFill>
                <a:blip r:embed="rId4"/>
                <a:stretch>
                  <a:fillRect t="-7759"/>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91AC6BBB-5763-8341-B240-C23FCD1B4259}"/>
              </a:ext>
            </a:extLst>
          </p:cNvPr>
          <p:cNvSpPr/>
          <p:nvPr/>
        </p:nvSpPr>
        <p:spPr>
          <a:xfrm>
            <a:off x="0" y="-1115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13" name="Group 12">
            <a:extLst>
              <a:ext uri="{FF2B5EF4-FFF2-40B4-BE49-F238E27FC236}">
                <a16:creationId xmlns:a16="http://schemas.microsoft.com/office/drawing/2014/main" id="{BFCB8FB3-4F64-C64B-9111-AF483C835BE8}"/>
              </a:ext>
            </a:extLst>
          </p:cNvPr>
          <p:cNvGrpSpPr/>
          <p:nvPr/>
        </p:nvGrpSpPr>
        <p:grpSpPr>
          <a:xfrm>
            <a:off x="1513446" y="674090"/>
            <a:ext cx="8016318" cy="3245109"/>
            <a:chOff x="2031300" y="3356296"/>
            <a:chExt cx="8016318" cy="3245559"/>
          </a:xfrm>
        </p:grpSpPr>
        <p:sp>
          <p:nvSpPr>
            <p:cNvPr id="14" name="Rectangle 13">
              <a:extLst>
                <a:ext uri="{FF2B5EF4-FFF2-40B4-BE49-F238E27FC236}">
                  <a16:creationId xmlns:a16="http://schemas.microsoft.com/office/drawing/2014/main" id="{E54B8945-93BD-CC43-BBB8-2302F19BD516}"/>
                </a:ext>
              </a:extLst>
            </p:cNvPr>
            <p:cNvSpPr/>
            <p:nvPr/>
          </p:nvSpPr>
          <p:spPr>
            <a:xfrm>
              <a:off x="2031300" y="3469620"/>
              <a:ext cx="6629400" cy="620738"/>
            </a:xfrm>
            <a:prstGeom prst="rect">
              <a:avLst/>
            </a:prstGeom>
            <a:noFill/>
            <a:ln>
              <a:noFill/>
            </a:ln>
          </p:spPr>
          <p:txBody>
            <a:bodyPr spcFirstLastPara="1" wrap="square" lIns="91425" tIns="91425" rIns="91425" bIns="91425" anchor="ctr" anchorCtr="0">
              <a:spAutoFit/>
            </a:bodyPr>
            <a:lstStyle/>
            <a:p>
              <a:pPr>
                <a:spcAft>
                  <a:spcPts val="1000"/>
                </a:spcAft>
              </a:pPr>
              <a:r>
                <a:rPr lang="en-US" sz="20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5" name="Group 14">
              <a:extLst>
                <a:ext uri="{FF2B5EF4-FFF2-40B4-BE49-F238E27FC236}">
                  <a16:creationId xmlns:a16="http://schemas.microsoft.com/office/drawing/2014/main" id="{C91CFEF1-7846-9E45-9F36-7A4570A43291}"/>
                </a:ext>
              </a:extLst>
            </p:cNvPr>
            <p:cNvGrpSpPr/>
            <p:nvPr/>
          </p:nvGrpSpPr>
          <p:grpSpPr>
            <a:xfrm>
              <a:off x="2031300" y="3356296"/>
              <a:ext cx="8016318" cy="3245559"/>
              <a:chOff x="2031300" y="3356296"/>
              <a:chExt cx="8016318" cy="3245559"/>
            </a:xfrm>
          </p:grpSpPr>
          <p:sp>
            <p:nvSpPr>
              <p:cNvPr id="16" name="Rectangle 15">
                <a:extLst>
                  <a:ext uri="{FF2B5EF4-FFF2-40B4-BE49-F238E27FC236}">
                    <a16:creationId xmlns:a16="http://schemas.microsoft.com/office/drawing/2014/main" id="{4C118375-A64E-0245-913A-00751D540BA6}"/>
                  </a:ext>
                </a:extLst>
              </p:cNvPr>
              <p:cNvSpPr/>
              <p:nvPr/>
            </p:nvSpPr>
            <p:spPr>
              <a:xfrm>
                <a:off x="2031300" y="3469620"/>
                <a:ext cx="6629400" cy="620738"/>
              </a:xfrm>
              <a:prstGeom prst="rect">
                <a:avLst/>
              </a:prstGeom>
              <a:noFill/>
              <a:ln>
                <a:noFill/>
              </a:ln>
            </p:spPr>
            <p:txBody>
              <a:bodyPr spcFirstLastPara="1" wrap="square" lIns="91425" tIns="91425" rIns="91425" bIns="91425" anchor="ctr" anchorCtr="0">
                <a:spAutoFit/>
              </a:bodyPr>
              <a:lstStyle/>
              <a:p>
                <a:pPr>
                  <a:spcAft>
                    <a:spcPts val="1000"/>
                  </a:spcAft>
                </a:pPr>
                <a:r>
                  <a:rPr lang="en-US" sz="20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7" name="Group 16">
                <a:extLst>
                  <a:ext uri="{FF2B5EF4-FFF2-40B4-BE49-F238E27FC236}">
                    <a16:creationId xmlns:a16="http://schemas.microsoft.com/office/drawing/2014/main" id="{B10DF1A4-DBAA-BC4F-B9C3-108E9BB41C14}"/>
                  </a:ext>
                </a:extLst>
              </p:cNvPr>
              <p:cNvGrpSpPr/>
              <p:nvPr/>
            </p:nvGrpSpPr>
            <p:grpSpPr>
              <a:xfrm>
                <a:off x="2031300" y="3356296"/>
                <a:ext cx="8016318" cy="3245559"/>
                <a:chOff x="2031300" y="3356296"/>
                <a:chExt cx="8016318" cy="3245559"/>
              </a:xfrm>
            </p:grpSpPr>
            <p:sp>
              <p:nvSpPr>
                <p:cNvPr id="18" name="Rectangle 17">
                  <a:extLst>
                    <a:ext uri="{FF2B5EF4-FFF2-40B4-BE49-F238E27FC236}">
                      <a16:creationId xmlns:a16="http://schemas.microsoft.com/office/drawing/2014/main" id="{C392EB91-56E5-1149-A37A-7307B60E8903}"/>
                    </a:ext>
                  </a:extLst>
                </p:cNvPr>
                <p:cNvSpPr/>
                <p:nvPr/>
              </p:nvSpPr>
              <p:spPr>
                <a:xfrm>
                  <a:off x="2031300" y="3469620"/>
                  <a:ext cx="6629400" cy="620738"/>
                </a:xfrm>
                <a:prstGeom prst="rect">
                  <a:avLst/>
                </a:prstGeom>
                <a:noFill/>
                <a:ln>
                  <a:noFill/>
                </a:ln>
              </p:spPr>
              <p:txBody>
                <a:bodyPr spcFirstLastPara="1" wrap="square" lIns="91425" tIns="91425" rIns="91425" bIns="91425" anchor="ctr" anchorCtr="0">
                  <a:spAutoFit/>
                </a:bodyPr>
                <a:lstStyle/>
                <a:p>
                  <a:pPr>
                    <a:spcAft>
                      <a:spcPts val="1000"/>
                    </a:spcAft>
                  </a:pPr>
                  <a:r>
                    <a:rPr lang="en-US" sz="20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9" name="Group 18">
                  <a:extLst>
                    <a:ext uri="{FF2B5EF4-FFF2-40B4-BE49-F238E27FC236}">
                      <a16:creationId xmlns:a16="http://schemas.microsoft.com/office/drawing/2014/main" id="{43C31B88-6EB2-AE40-810B-BC31FF38753B}"/>
                    </a:ext>
                  </a:extLst>
                </p:cNvPr>
                <p:cNvGrpSpPr/>
                <p:nvPr/>
              </p:nvGrpSpPr>
              <p:grpSpPr>
                <a:xfrm>
                  <a:off x="2031300" y="3356296"/>
                  <a:ext cx="8016318" cy="3245559"/>
                  <a:chOff x="2031300" y="3363860"/>
                  <a:chExt cx="8016318" cy="3187614"/>
                </a:xfrm>
              </p:grpSpPr>
              <p:sp>
                <p:nvSpPr>
                  <p:cNvPr id="20" name="Rectangle 19">
                    <a:extLst>
                      <a:ext uri="{FF2B5EF4-FFF2-40B4-BE49-F238E27FC236}">
                        <a16:creationId xmlns:a16="http://schemas.microsoft.com/office/drawing/2014/main" id="{6F742994-E56D-484B-9D09-AE4739A85B23}"/>
                      </a:ext>
                    </a:extLst>
                  </p:cNvPr>
                  <p:cNvSpPr/>
                  <p:nvPr/>
                </p:nvSpPr>
                <p:spPr>
                  <a:xfrm>
                    <a:off x="2031300" y="3475160"/>
                    <a:ext cx="6629400" cy="609656"/>
                  </a:xfrm>
                  <a:prstGeom prst="rect">
                    <a:avLst/>
                  </a:prstGeom>
                  <a:noFill/>
                  <a:ln>
                    <a:noFill/>
                  </a:ln>
                </p:spPr>
                <p:txBody>
                  <a:bodyPr spcFirstLastPara="1" wrap="square" lIns="91425" tIns="91425" rIns="91425" bIns="91425" anchor="ctr" anchorCtr="0">
                    <a:spAutoFit/>
                  </a:bodyPr>
                  <a:lstStyle/>
                  <a:p>
                    <a:pPr>
                      <a:spcAft>
                        <a:spcPts val="1000"/>
                      </a:spcAft>
                    </a:pPr>
                    <a:r>
                      <a:rPr lang="en-US" sz="20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21" name="Group 20">
                    <a:extLst>
                      <a:ext uri="{FF2B5EF4-FFF2-40B4-BE49-F238E27FC236}">
                        <a16:creationId xmlns:a16="http://schemas.microsoft.com/office/drawing/2014/main" id="{908FF10F-373B-124A-8138-ED587705D24F}"/>
                      </a:ext>
                    </a:extLst>
                  </p:cNvPr>
                  <p:cNvGrpSpPr/>
                  <p:nvPr/>
                </p:nvGrpSpPr>
                <p:grpSpPr>
                  <a:xfrm>
                    <a:off x="2031300" y="3363860"/>
                    <a:ext cx="8016318" cy="3187614"/>
                    <a:chOff x="2031300" y="3475172"/>
                    <a:chExt cx="8016318" cy="3187614"/>
                  </a:xfrm>
                </p:grpSpPr>
                <p:sp>
                  <p:nvSpPr>
                    <p:cNvPr id="22" name="Rectangle 21">
                      <a:extLst>
                        <a:ext uri="{FF2B5EF4-FFF2-40B4-BE49-F238E27FC236}">
                          <a16:creationId xmlns:a16="http://schemas.microsoft.com/office/drawing/2014/main" id="{6BC993A4-A382-C142-A9C6-788140A77DF7}"/>
                        </a:ext>
                      </a:extLst>
                    </p:cNvPr>
                    <p:cNvSpPr/>
                    <p:nvPr/>
                  </p:nvSpPr>
                  <p:spPr>
                    <a:xfrm>
                      <a:off x="2031300" y="3586472"/>
                      <a:ext cx="6629400" cy="609656"/>
                    </a:xfrm>
                    <a:prstGeom prst="rect">
                      <a:avLst/>
                    </a:prstGeom>
                    <a:noFill/>
                    <a:ln>
                      <a:noFill/>
                    </a:ln>
                  </p:spPr>
                  <p:txBody>
                    <a:bodyPr spcFirstLastPara="1" wrap="square" lIns="91425" tIns="91425" rIns="91425" bIns="91425" anchor="ctr" anchorCtr="0">
                      <a:spAutoFit/>
                    </a:bodyPr>
                    <a:lstStyle/>
                    <a:p>
                      <a:pPr>
                        <a:spcAft>
                          <a:spcPts val="1000"/>
                        </a:spcAft>
                      </a:pPr>
                      <a:r>
                        <a:rPr lang="en-US" sz="20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23" name="Group 22">
                      <a:extLst>
                        <a:ext uri="{FF2B5EF4-FFF2-40B4-BE49-F238E27FC236}">
                          <a16:creationId xmlns:a16="http://schemas.microsoft.com/office/drawing/2014/main" id="{F9DF44ED-0107-4849-951F-9BB85212921E}"/>
                        </a:ext>
                      </a:extLst>
                    </p:cNvPr>
                    <p:cNvGrpSpPr/>
                    <p:nvPr/>
                  </p:nvGrpSpPr>
                  <p:grpSpPr>
                    <a:xfrm>
                      <a:off x="2031300" y="3475172"/>
                      <a:ext cx="8016318" cy="3187614"/>
                      <a:chOff x="2031300" y="3475172"/>
                      <a:chExt cx="8016318" cy="3187614"/>
                    </a:xfrm>
                  </p:grpSpPr>
                  <p:sp>
                    <p:nvSpPr>
                      <p:cNvPr id="24" name="Rectangle 23">
                        <a:extLst>
                          <a:ext uri="{FF2B5EF4-FFF2-40B4-BE49-F238E27FC236}">
                            <a16:creationId xmlns:a16="http://schemas.microsoft.com/office/drawing/2014/main" id="{DB03F208-FE54-DB4D-9992-5E66EC42FF79}"/>
                          </a:ext>
                        </a:extLst>
                      </p:cNvPr>
                      <p:cNvSpPr/>
                      <p:nvPr/>
                    </p:nvSpPr>
                    <p:spPr>
                      <a:xfrm>
                        <a:off x="2031300" y="3475172"/>
                        <a:ext cx="6629400" cy="609656"/>
                      </a:xfrm>
                      <a:prstGeom prst="rect">
                        <a:avLst/>
                      </a:prstGeom>
                      <a:noFill/>
                      <a:ln>
                        <a:noFill/>
                      </a:ln>
                    </p:spPr>
                    <p:txBody>
                      <a:bodyPr spcFirstLastPara="1" wrap="square" lIns="91425" tIns="91425" rIns="91425" bIns="91425" anchor="ctr" anchorCtr="0">
                        <a:spAutoFit/>
                      </a:bodyPr>
                      <a:lstStyle/>
                      <a:p>
                        <a:pPr>
                          <a:spcAft>
                            <a:spcPts val="1000"/>
                          </a:spcAft>
                        </a:pPr>
                        <a:r>
                          <a:rPr lang="en-US" sz="20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25" name="Group 24">
                        <a:extLst>
                          <a:ext uri="{FF2B5EF4-FFF2-40B4-BE49-F238E27FC236}">
                            <a16:creationId xmlns:a16="http://schemas.microsoft.com/office/drawing/2014/main" id="{1E7A1DAB-6774-C640-AA5A-62C14909E0E7}"/>
                          </a:ext>
                        </a:extLst>
                      </p:cNvPr>
                      <p:cNvGrpSpPr/>
                      <p:nvPr/>
                    </p:nvGrpSpPr>
                    <p:grpSpPr>
                      <a:xfrm>
                        <a:off x="2031300" y="3475172"/>
                        <a:ext cx="8016318" cy="3187614"/>
                        <a:chOff x="0" y="101572"/>
                        <a:chExt cx="8016318" cy="3187614"/>
                      </a:xfrm>
                    </p:grpSpPr>
                    <p:sp>
                      <p:nvSpPr>
                        <p:cNvPr id="26" name="Rectangle 25">
                          <a:extLst>
                            <a:ext uri="{FF2B5EF4-FFF2-40B4-BE49-F238E27FC236}">
                              <a16:creationId xmlns:a16="http://schemas.microsoft.com/office/drawing/2014/main" id="{D0462468-E43B-3145-83CE-8042E338384E}"/>
                            </a:ext>
                          </a:extLst>
                        </p:cNvPr>
                        <p:cNvSpPr/>
                        <p:nvPr/>
                      </p:nvSpPr>
                      <p:spPr>
                        <a:xfrm>
                          <a:off x="0" y="101572"/>
                          <a:ext cx="6629400" cy="609656"/>
                        </a:xfrm>
                        <a:prstGeom prst="rect">
                          <a:avLst/>
                        </a:prstGeom>
                        <a:noFill/>
                        <a:ln>
                          <a:noFill/>
                        </a:ln>
                      </p:spPr>
                      <p:txBody>
                        <a:bodyPr spcFirstLastPara="1" wrap="square" lIns="91425" tIns="91425" rIns="91425" bIns="91425" anchor="ctr" anchorCtr="0">
                          <a:spAutoFit/>
                        </a:bodyPr>
                        <a:lstStyle/>
                        <a:p>
                          <a:pPr>
                            <a:spcAft>
                              <a:spcPts val="1000"/>
                            </a:spcAft>
                          </a:pPr>
                          <a:r>
                            <a:rPr lang="en-US" sz="20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27" name="Rounded Rectangle 26">
                          <a:extLst>
                            <a:ext uri="{FF2B5EF4-FFF2-40B4-BE49-F238E27FC236}">
                              <a16:creationId xmlns:a16="http://schemas.microsoft.com/office/drawing/2014/main" id="{6F7BCBDA-B235-A048-ADB0-7A5D8E412ACA}"/>
                            </a:ext>
                          </a:extLst>
                        </p:cNvPr>
                        <p:cNvSpPr/>
                        <p:nvPr/>
                      </p:nvSpPr>
                      <p:spPr>
                        <a:xfrm>
                          <a:off x="158750" y="2362327"/>
                          <a:ext cx="7857568" cy="926859"/>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0" tIns="108000" rIns="72000" bIns="0" anchor="ctr" anchorCtr="0">
                          <a:spAutoFit/>
                        </a:bodyPr>
                        <a:lstStyle/>
                        <a:p>
                          <a:pPr marL="228600">
                            <a:spcAft>
                              <a:spcPts val="1000"/>
                            </a:spcAft>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The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midpoint</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of a line segment is the point that divides a line segment into two equal segments.</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grpSp>
                </p:grpSp>
              </p:grpSp>
            </p:grpSp>
          </p:grpSp>
        </p:grpSp>
      </p:grpSp>
    </p:spTree>
    <p:extLst>
      <p:ext uri="{BB962C8B-B14F-4D97-AF65-F5344CB8AC3E}">
        <p14:creationId xmlns:p14="http://schemas.microsoft.com/office/powerpoint/2010/main" val="6509421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a:t>
            </a:r>
            <a:endParaRPr i="1" dirty="0">
              <a:latin typeface="Calibri"/>
              <a:ea typeface="Calibri"/>
              <a:cs typeface="Calibri"/>
              <a:sym typeface="Calibri"/>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82" name="Google Shape;282;g104476d1465_1_17"/>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3"/>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438506" y="154253"/>
            <a:ext cx="9222060" cy="701690"/>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400" b="1" dirty="0">
                <a:solidFill>
                  <a:srgbClr val="3F2A67"/>
                </a:solidFill>
                <a:latin typeface="Verdana"/>
                <a:ea typeface="Verdana"/>
                <a:cs typeface="Verdana"/>
                <a:sym typeface="Verdana"/>
              </a:rPr>
              <a:t>1.4.5 Wrap-Up: Cool Down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457203" y="142361"/>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858644" y="1296941"/>
            <a:ext cx="10270273" cy="1200329"/>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Isometry is a transformation that preserves distance and angle measure. Write a short note that describes whether a dilation preserves distance or not.</a:t>
            </a:r>
          </a:p>
        </p:txBody>
      </p:sp>
      <p:sp>
        <p:nvSpPr>
          <p:cNvPr id="8" name="Google Shape;278;g104476d1465_1_17">
            <a:extLst>
              <a:ext uri="{FF2B5EF4-FFF2-40B4-BE49-F238E27FC236}">
                <a16:creationId xmlns:a16="http://schemas.microsoft.com/office/drawing/2014/main" id="{055A48D7-DC81-5F4D-9632-5F42A5D9EE47}"/>
              </a:ext>
            </a:extLst>
          </p:cNvPr>
          <p:cNvSpPr/>
          <p:nvPr/>
        </p:nvSpPr>
        <p:spPr>
          <a:xfrm>
            <a:off x="0" y="-810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2689</TotalTime>
  <Words>1306</Words>
  <Application>Microsoft Macintosh PowerPoint</Application>
  <PresentationFormat>Widescreen</PresentationFormat>
  <Paragraphs>257</Paragraphs>
  <Slides>25</Slides>
  <Notes>25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Wingdings</vt:lpstr>
      <vt:lpstr>Verdana</vt:lpstr>
      <vt:lpstr>Arial</vt:lpstr>
      <vt:lpstr>Cambria</vt:lpstr>
      <vt:lpstr>Century Gothic</vt:lpstr>
      <vt:lpstr>Calibri</vt:lpstr>
      <vt:lpstr>Arial Black</vt:lpstr>
      <vt:lpstr>Cambria Math</vt:lpstr>
      <vt:lpstr>1_Office Theme</vt:lpstr>
      <vt:lpstr>Geometry  Unit 1, Lesson 4  Dilations and Partitions  Volume 1, pg. 20  </vt:lpstr>
      <vt:lpstr>Benchmarks</vt:lpstr>
      <vt:lpstr>PowerPoint Presentation</vt:lpstr>
      <vt:lpstr>PowerPoint Presentation</vt:lpstr>
      <vt:lpstr>Warm-Up</vt:lpstr>
      <vt:lpstr>PowerPoint Presentation</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PowerPoint Presentation</vt:lpstr>
      <vt:lpstr>PowerPoint Presentation</vt:lpstr>
      <vt:lpstr>Bring It Together</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Diana Barnett</cp:lastModifiedBy>
  <cp:revision>34</cp:revision>
  <dcterms:created xsi:type="dcterms:W3CDTF">2015-03-17T18:51:18Z</dcterms:created>
  <dcterms:modified xsi:type="dcterms:W3CDTF">2023-03-01T16:15:01Z</dcterms:modified>
</cp:coreProperties>
</file>