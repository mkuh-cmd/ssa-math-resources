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32" r:id="rId12"/>
    <p:sldId id="333" r:id="rId13"/>
    <p:sldId id="334" r:id="rId14"/>
    <p:sldId id="335" r:id="rId15"/>
    <p:sldId id="331" r:id="rId16"/>
    <p:sldId id="336" r:id="rId17"/>
    <p:sldId id="338" r:id="rId18"/>
    <p:sldId id="329" r:id="rId19"/>
    <p:sldId id="330" r:id="rId20"/>
    <p:sldId id="339" r:id="rId21"/>
    <p:sldId id="337" r:id="rId22"/>
    <p:sldId id="316" r:id="rId23"/>
    <p:sldId id="314" r:id="rId24"/>
    <p:sldId id="315" r:id="rId25"/>
    <p:sldId id="340" r:id="rId26"/>
    <p:sldId id="341" r:id="rId27"/>
    <p:sldId id="342" r:id="rId28"/>
    <p:sldId id="343" r:id="rId29"/>
    <p:sldId id="306" r:id="rId30"/>
    <p:sldId id="307" r:id="rId31"/>
  </p:sldIdLst>
  <p:sldSz cx="12192000" cy="6858000"/>
  <p:notesSz cx="6858000" cy="9144000"/>
  <p:embeddedFontLst>
    <p:embeddedFont>
      <p:font typeface="Arial Black" panose="020B06040202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" panose="02040503050406030204" pitchFamily="18" charset="0"/>
      <p:regular r:id="rId38"/>
      <p:bold r:id="rId39"/>
      <p:italic r:id="rId40"/>
      <p:boldItalic r:id="rId41"/>
    </p:embeddedFont>
    <p:embeddedFont>
      <p:font typeface="Cambria Math" panose="02040503050406030204" pitchFamily="18" charset="0"/>
      <p:regular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514" autoAdjust="0"/>
    <p:restoredTop sz="94720"/>
  </p:normalViewPr>
  <p:slideViewPr>
    <p:cSldViewPr snapToGrid="0">
      <p:cViewPr varScale="1">
        <p:scale>
          <a:sx n="121" d="100"/>
          <a:sy n="121" d="100"/>
        </p:scale>
        <p:origin x="176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52019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0659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0755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6786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6359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87019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2195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0935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36579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18515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4370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442449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20644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0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0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Isometry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13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880947" y="1608425"/>
            <a:ext cx="97796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MA.912.GR.2.2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transformations that do or do not preserve distance.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7284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9558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858644" y="1608425"/>
            <a:ext cx="980192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4988" indent="-534988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define rigid motions.</a:t>
            </a:r>
          </a:p>
          <a:p>
            <a:pPr marL="534988" indent="-534988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4988" indent="-534988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show rigid motions by mapping using arrows on the plane.</a:t>
            </a:r>
          </a:p>
          <a:p>
            <a:pPr marL="534988" indent="-534988">
              <a:buFont typeface="Wingdings" pitchFamily="2" charset="2"/>
              <a:buChar char="q"/>
            </a:pPr>
            <a:endParaRPr lang="en-US" sz="3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4988" indent="-534988">
              <a:buFont typeface="Wingdings" pitchFamily="2" charset="2"/>
              <a:buChar char="q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explain why isometry preserves distance.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9658" y="275814"/>
            <a:ext cx="10436991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1.3.1 Warm-Up: Animation Flipbook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79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7492" y="1386149"/>
            <a:ext cx="804243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animation flipbook is a small book of drawings with a series of pictures that appear to move when the pages are flipped in rapid succession.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video shows a series of pictures of two clouds. A few screenshots are shown.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305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 descr="Qr code&#10;&#10;Description automatically generated">
            <a:extLst>
              <a:ext uri="{FF2B5EF4-FFF2-40B4-BE49-F238E27FC236}">
                <a16:creationId xmlns:a16="http://schemas.microsoft.com/office/drawing/2014/main" id="{EAEAF15B-9A4F-3944-B6C9-C045FA2CC8B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84359" y="1525034"/>
            <a:ext cx="2045130" cy="20451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/>
          <p:cNvGrpSpPr/>
          <p:nvPr/>
        </p:nvGrpSpPr>
        <p:grpSpPr>
          <a:xfrm>
            <a:off x="942333" y="3749175"/>
            <a:ext cx="7522892" cy="2451549"/>
            <a:chOff x="1421796" y="3953714"/>
            <a:chExt cx="6394990" cy="208399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99358F6-D6F9-BB42-B47E-8654D4CB6C61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21796" y="3953714"/>
              <a:ext cx="1900428" cy="208324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B0C2BCA-06A3-1942-BF60-7BC0EDC1F79D}"/>
                </a:ext>
              </a:extLst>
            </p:cNvPr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3322224" y="3961547"/>
              <a:ext cx="2246218" cy="207615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89EF442-7A8C-1C4D-B9EE-A23EA223F3EC}"/>
                </a:ext>
              </a:extLst>
            </p:cNvPr>
            <p:cNvPicPr/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568442" y="3955198"/>
              <a:ext cx="2248344" cy="20726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58644" y="528618"/>
            <a:ext cx="102591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two clouds?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 one point the two clouds seemed to move up and down. How do you think the artist was able to do that?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285F77CB-5FF9-E743-9AA8-B4C11C925C9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844A724E-7B6E-17CB-A061-33376E2DC519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AF20D95-9054-F6D3-87DF-A2244566769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21AE599-745E-A74B-96DA-A4F3F7C5232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79849" y="2776655"/>
            <a:ext cx="6200597" cy="4035489"/>
          </a:xfrm>
          <a:prstGeom prst="rect">
            <a:avLst/>
          </a:prstGeom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4262" y="290192"/>
            <a:ext cx="9634655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1.3.2 Exploration: Isometry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2604" y="20951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847492" y="1394251"/>
            <a:ext cx="1028142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complete the following.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Five frames that feature a polygon in different positions are shown.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77FDFF9E-9668-7F40-B604-2436455445A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90DDD40-AFE0-9F1E-33D7-A789027C7CB1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6580478A-A989-285B-1BBE-B4EDDD09648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92777" y="382315"/>
            <a:ext cx="10213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the polygon moves from one frame to the next.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7832D3B-0A3E-CA4D-98E8-B1249FE34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619646"/>
              </p:ext>
            </p:extLst>
          </p:nvPr>
        </p:nvGraphicFramePr>
        <p:xfrm>
          <a:off x="1104651" y="980564"/>
          <a:ext cx="8640273" cy="5548798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963428">
                  <a:extLst>
                    <a:ext uri="{9D8B030D-6E8A-4147-A177-3AD203B41FA5}">
                      <a16:colId xmlns:a16="http://schemas.microsoft.com/office/drawing/2014/main" val="2152323967"/>
                    </a:ext>
                  </a:extLst>
                </a:gridCol>
                <a:gridCol w="4676845">
                  <a:extLst>
                    <a:ext uri="{9D8B030D-6E8A-4147-A177-3AD203B41FA5}">
                      <a16:colId xmlns:a16="http://schemas.microsoft.com/office/drawing/2014/main" val="2108136954"/>
                    </a:ext>
                  </a:extLst>
                </a:gridCol>
              </a:tblGrid>
              <a:tr h="79268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Movement from…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Description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723064"/>
                  </a:ext>
                </a:extLst>
              </a:tr>
              <a:tr h="11890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1 to Frame 2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3470949"/>
                  </a:ext>
                </a:extLst>
              </a:tr>
              <a:tr h="11890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2 to Frame 3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1329948"/>
                  </a:ext>
                </a:extLst>
              </a:tr>
              <a:tr h="11890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3 to Frame 4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34579921"/>
                  </a:ext>
                </a:extLst>
              </a:tr>
              <a:tr h="118902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4 to Frame 5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00671" marR="100671" marT="50336" marB="503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6610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58645" y="382314"/>
            <a:ext cx="10292576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diagram shows the position of the polygon from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Frame 1. 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two pieces of patty paper as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and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Then, </a:t>
            </a: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steps for each piece of patty paper.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446088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Patty paper A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82725" indent="-3333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 the polygon. </a:t>
            </a:r>
          </a:p>
          <a:p>
            <a:pPr marL="1482725" indent="-3333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Move patty paper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to display the polygon as it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is shown in Frame 2.</a:t>
            </a:r>
            <a:endParaRPr lang="en-US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446088"/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Patty paper B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482725" indent="-3333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 the polygon and the square that surrounds it.</a:t>
            </a:r>
          </a:p>
          <a:p>
            <a:pPr marL="1482725" indent="-3333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Fold the patty paper vertically so that the top corners of the square match up.</a:t>
            </a:r>
          </a:p>
          <a:p>
            <a:pPr marL="1482725" indent="-33337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With the patty paper folded, draw the copy of the polygon onto the other half of the patty paper.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3516BE-50AF-FA40-952F-14FAC0FB5BA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9685" y="178610"/>
            <a:ext cx="3250390" cy="3250390"/>
          </a:xfrm>
          <a:prstGeom prst="rect">
            <a:avLst/>
          </a:prstGeom>
        </p:spPr>
      </p:pic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D7743787-1C15-E1E6-D39C-7A03D1BEC55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95614886-01E6-DE7E-2F20-304344E779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6393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69795" y="374214"/>
            <a:ext cx="9857678" cy="5493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>
              <a:lnSpc>
                <a:spcPct val="2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draw the polygon as it is shown in Frame 2, patty paper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was moved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patty paper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was folded, the polygon could be traced so that the new polygon is as shown in Frame 2. </a:t>
            </a:r>
          </a:p>
          <a:p>
            <a:pPr marL="9144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original polygon was 			     the fold of the paper. </a:t>
            </a:r>
          </a:p>
          <a:p>
            <a:pPr marL="914400">
              <a:lnSpc>
                <a:spcPct val="25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fold of the paper was the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305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ectangle: Rounded Corners 31">
            <a:extLst>
              <a:ext uri="{FF2B5EF4-FFF2-40B4-BE49-F238E27FC236}">
                <a16:creationId xmlns:a16="http://schemas.microsoft.com/office/drawing/2014/main" id="{9548F965-08C4-864E-9FAE-BDB41B799662}"/>
              </a:ext>
            </a:extLst>
          </p:cNvPr>
          <p:cNvSpPr/>
          <p:nvPr/>
        </p:nvSpPr>
        <p:spPr>
          <a:xfrm>
            <a:off x="2842074" y="1556164"/>
            <a:ext cx="1480312" cy="140589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73050" indent="-273050"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up.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left.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right.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buFont typeface="Courier New" panose="02070309020205020404" pitchFamily="49" charset="0"/>
              <a:buChar char="o"/>
              <a:tabLst>
                <a:tab pos="27305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down</a:t>
            </a:r>
            <a:r>
              <a:rPr lang="en-US" sz="18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2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32">
            <a:extLst>
              <a:ext uri="{FF2B5EF4-FFF2-40B4-BE49-F238E27FC236}">
                <a16:creationId xmlns:a16="http://schemas.microsoft.com/office/drawing/2014/main" id="{4F4F9A2A-E0B8-F64E-867D-E32C0DF523B1}"/>
              </a:ext>
            </a:extLst>
          </p:cNvPr>
          <p:cNvSpPr/>
          <p:nvPr/>
        </p:nvSpPr>
        <p:spPr>
          <a:xfrm>
            <a:off x="5132741" y="4433189"/>
            <a:ext cx="2601752" cy="829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flipped across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rotated around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Rectangle: Rounded Corners 33">
            <a:extLst>
              <a:ext uri="{FF2B5EF4-FFF2-40B4-BE49-F238E27FC236}">
                <a16:creationId xmlns:a16="http://schemas.microsoft.com/office/drawing/2014/main" id="{95151DBA-43BC-F44B-8667-A46808372F1C}"/>
              </a:ext>
            </a:extLst>
          </p:cNvPr>
          <p:cNvSpPr/>
          <p:nvPr/>
        </p:nvSpPr>
        <p:spPr>
          <a:xfrm>
            <a:off x="5708052" y="5307749"/>
            <a:ext cx="3014916" cy="82931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73050" indent="-2730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center of rotation.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3050" indent="-27305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 of reflection. 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84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58645" y="382314"/>
            <a:ext cx="1028142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diagram shows where the polygon is in Frame 2.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2438">
              <a:spcAft>
                <a:spcPts val="600"/>
              </a:spcAft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steps to find the point of rotation.</a:t>
            </a: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Label a piece of patty paper as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 the polygon onto patty paper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point of your writing utensil to find the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point of rotation so the polygon can be rotated to </a:t>
            </a:r>
            <a:b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look like Frame 3. </a:t>
            </a: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a dot on the diagram above to show the point of rotation.</a:t>
            </a: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Place patty paper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on the circular graph paper so the point of rotation is where the two red axes meet, and the polygon is oriented as in Frame 2.</a:t>
            </a:r>
          </a:p>
          <a:p>
            <a:pPr marL="1163638" indent="-2603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Rotate patty paper 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so that it looks like Frame 3.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A74913-A6C6-9746-A06C-0385180C214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441057" y="0"/>
            <a:ext cx="3531734" cy="360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2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20769DD-BB28-C740-A6A6-8565E70B1E53}"/>
              </a:ext>
            </a:extLst>
          </p:cNvPr>
          <p:cNvSpPr/>
          <p:nvPr/>
        </p:nvSpPr>
        <p:spPr>
          <a:xfrm>
            <a:off x="0" y="305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8F98B81-9FF6-C44F-8B5D-44D1A304757E}"/>
              </a:ext>
            </a:extLst>
          </p:cNvPr>
          <p:cNvGrpSpPr/>
          <p:nvPr/>
        </p:nvGrpSpPr>
        <p:grpSpPr>
          <a:xfrm>
            <a:off x="1287748" y="949322"/>
            <a:ext cx="6682105" cy="4721860"/>
            <a:chOff x="0" y="0"/>
            <a:chExt cx="6946900" cy="490918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B8FB3F-0919-6B41-805E-9383F5F07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6946900" cy="4909185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2FAF62-7243-7B45-8A4E-243D2B352135}"/>
                </a:ext>
              </a:extLst>
            </p:cNvPr>
            <p:cNvGrpSpPr/>
            <p:nvPr/>
          </p:nvGrpSpPr>
          <p:grpSpPr>
            <a:xfrm>
              <a:off x="1552175" y="868296"/>
              <a:ext cx="4010771" cy="3818746"/>
              <a:chOff x="0" y="0"/>
              <a:chExt cx="4010771" cy="38187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 Box 2">
                    <a:extLst>
                      <a:ext uri="{FF2B5EF4-FFF2-40B4-BE49-F238E27FC236}">
                        <a16:creationId xmlns:a16="http://schemas.microsoft.com/office/drawing/2014/main" id="{3CAC0E6B-128D-A245-ADFC-6515774A190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3399" y="507041"/>
                    <a:ext cx="568325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0" name="Text Box 2">
                    <a:extLst>
                      <a:ext uri="{FF2B5EF4-FFF2-40B4-BE49-F238E27FC236}">
                        <a16:creationId xmlns:a16="http://schemas.microsoft.com/office/drawing/2014/main" id="{3CAC0E6B-128D-A245-ADFC-6515774A19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273399" y="507041"/>
                    <a:ext cx="568325" cy="40703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 Box 2">
                    <a:extLst>
                      <a:ext uri="{FF2B5EF4-FFF2-40B4-BE49-F238E27FC236}">
                        <a16:creationId xmlns:a16="http://schemas.microsoft.com/office/drawing/2014/main" id="{C7EA62B0-0ADB-1F4C-80D8-EE344530553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7322" y="76941"/>
                    <a:ext cx="568325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60°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 Box 2">
                    <a:extLst>
                      <a:ext uri="{FF2B5EF4-FFF2-40B4-BE49-F238E27FC236}">
                        <a16:creationId xmlns:a16="http://schemas.microsoft.com/office/drawing/2014/main" id="{C7EA62B0-0ADB-1F4C-80D8-EE34453055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97322" y="76941"/>
                    <a:ext cx="568325" cy="40703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 Box 2">
                    <a:extLst>
                      <a:ext uri="{FF2B5EF4-FFF2-40B4-BE49-F238E27FC236}">
                        <a16:creationId xmlns:a16="http://schemas.microsoft.com/office/drawing/2014/main" id="{3B7C260F-95B7-FD4E-995F-F20C29C7B58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44275" y="0"/>
                    <a:ext cx="568325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90°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" name="Text Box 2">
                    <a:extLst>
                      <a:ext uri="{FF2B5EF4-FFF2-40B4-BE49-F238E27FC236}">
                        <a16:creationId xmlns:a16="http://schemas.microsoft.com/office/drawing/2014/main" id="{3B7C260F-95B7-FD4E-995F-F20C29C7B5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44275" y="0"/>
                    <a:ext cx="568325" cy="40703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 Box 2">
                    <a:extLst>
                      <a:ext uri="{FF2B5EF4-FFF2-40B4-BE49-F238E27FC236}">
                        <a16:creationId xmlns:a16="http://schemas.microsoft.com/office/drawing/2014/main" id="{9A9EF176-BEA1-7C42-A8C0-24F34EE5868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37452" y="76953"/>
                    <a:ext cx="568325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4" name="Text Box 2">
                    <a:extLst>
                      <a:ext uri="{FF2B5EF4-FFF2-40B4-BE49-F238E27FC236}">
                        <a16:creationId xmlns:a16="http://schemas.microsoft.com/office/drawing/2014/main" id="{9A9EF176-BEA1-7C42-A8C0-24F34EE586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937452" y="76953"/>
                    <a:ext cx="568325" cy="40703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r="-15909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2">
                    <a:extLst>
                      <a:ext uri="{FF2B5EF4-FFF2-40B4-BE49-F238E27FC236}">
                        <a16:creationId xmlns:a16="http://schemas.microsoft.com/office/drawing/2014/main" id="{81CCBFB2-704E-1D4E-873C-E83FFCDB4E7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027" y="568619"/>
                    <a:ext cx="622407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150°</m:t>
                          </m:r>
                        </m:oMath>
                      </m:oMathPara>
                    </a14:m>
                    <a:endParaRPr lang="en-US" sz="1200" dirty="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5" name="Text Box 2">
                    <a:extLst>
                      <a:ext uri="{FF2B5EF4-FFF2-40B4-BE49-F238E27FC236}">
                        <a16:creationId xmlns:a16="http://schemas.microsoft.com/office/drawing/2014/main" id="{81CCBFB2-704E-1D4E-873C-E83FFCDB4E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15027" y="568619"/>
                    <a:ext cx="622407" cy="40703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r="-6250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 Box 2">
                    <a:extLst>
                      <a:ext uri="{FF2B5EF4-FFF2-40B4-BE49-F238E27FC236}">
                        <a16:creationId xmlns:a16="http://schemas.microsoft.com/office/drawing/2014/main" id="{CF3EB83F-30D1-C64F-B163-3B54D0A95A5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0" y="1344706"/>
                    <a:ext cx="683772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180°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6" name="Text Box 2">
                    <a:extLst>
                      <a:ext uri="{FF2B5EF4-FFF2-40B4-BE49-F238E27FC236}">
                        <a16:creationId xmlns:a16="http://schemas.microsoft.com/office/drawing/2014/main" id="{CF3EB83F-30D1-C64F-B163-3B54D0A95A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0" y="1344706"/>
                    <a:ext cx="683772" cy="40703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 Box 2">
                    <a:extLst>
                      <a:ext uri="{FF2B5EF4-FFF2-40B4-BE49-F238E27FC236}">
                        <a16:creationId xmlns:a16="http://schemas.microsoft.com/office/drawing/2014/main" id="{4300322E-7C83-274B-9C9C-5AD2EE945D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104" y="2274474"/>
                    <a:ext cx="683586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210°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 Box 2">
                    <a:extLst>
                      <a:ext uri="{FF2B5EF4-FFF2-40B4-BE49-F238E27FC236}">
                        <a16:creationId xmlns:a16="http://schemas.microsoft.com/office/drawing/2014/main" id="{4300322E-7C83-274B-9C9C-5AD2EE945D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6104" y="2274474"/>
                    <a:ext cx="683586" cy="40703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 Box 2">
                    <a:extLst>
                      <a:ext uri="{FF2B5EF4-FFF2-40B4-BE49-F238E27FC236}">
                        <a16:creationId xmlns:a16="http://schemas.microsoft.com/office/drawing/2014/main" id="{A890E749-BBA3-134B-90CB-5B308441BC3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3799" y="3104349"/>
                    <a:ext cx="568325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240°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8" name="Text Box 2">
                    <a:extLst>
                      <a:ext uri="{FF2B5EF4-FFF2-40B4-BE49-F238E27FC236}">
                        <a16:creationId xmlns:a16="http://schemas.microsoft.com/office/drawing/2014/main" id="{A890E749-BBA3-134B-90CB-5B308441BC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83799" y="3104349"/>
                    <a:ext cx="568325" cy="40703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5909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 Box 2">
                    <a:extLst>
                      <a:ext uri="{FF2B5EF4-FFF2-40B4-BE49-F238E27FC236}">
                        <a16:creationId xmlns:a16="http://schemas.microsoft.com/office/drawing/2014/main" id="{12C43B6C-4F76-6D43-8A7D-2E97E06A3D6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75119" y="3411711"/>
                    <a:ext cx="568325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270°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 Box 2">
                    <a:extLst>
                      <a:ext uri="{FF2B5EF4-FFF2-40B4-BE49-F238E27FC236}">
                        <a16:creationId xmlns:a16="http://schemas.microsoft.com/office/drawing/2014/main" id="{12C43B6C-4F76-6D43-8A7D-2E97E06A3D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675119" y="3411711"/>
                    <a:ext cx="568325" cy="40703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15909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 Box 2">
                    <a:extLst>
                      <a:ext uri="{FF2B5EF4-FFF2-40B4-BE49-F238E27FC236}">
                        <a16:creationId xmlns:a16="http://schemas.microsoft.com/office/drawing/2014/main" id="{41C03F2D-EEA2-CA4A-9811-379333910F3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9412" y="3104359"/>
                    <a:ext cx="776088" cy="40703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300°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 Box 2">
                    <a:extLst>
                      <a:ext uri="{FF2B5EF4-FFF2-40B4-BE49-F238E27FC236}">
                        <a16:creationId xmlns:a16="http://schemas.microsoft.com/office/drawing/2014/main" id="{41C03F2D-EEA2-CA4A-9811-379333910F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689412" y="3104359"/>
                    <a:ext cx="776088" cy="40703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 Box 2">
                    <a:extLst>
                      <a:ext uri="{FF2B5EF4-FFF2-40B4-BE49-F238E27FC236}">
                        <a16:creationId xmlns:a16="http://schemas.microsoft.com/office/drawing/2014/main" id="{B8973C5A-D94F-F845-A3DE-F9186B91B24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334870" y="2343630"/>
                    <a:ext cx="675901" cy="461042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330°</m:t>
                          </m:r>
                        </m:oMath>
                      </m:oMathPara>
                    </a14:m>
                    <a:endPara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1" name="Text Box 2">
                    <a:extLst>
                      <a:ext uri="{FF2B5EF4-FFF2-40B4-BE49-F238E27FC236}">
                        <a16:creationId xmlns:a16="http://schemas.microsoft.com/office/drawing/2014/main" id="{B8973C5A-D94F-F845-A3DE-F9186B91B2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3334870" y="2343630"/>
                    <a:ext cx="675901" cy="46104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366506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847492" y="443274"/>
            <a:ext cx="10270274" cy="398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statements.</a:t>
            </a:r>
          </a:p>
          <a:p>
            <a:pPr marL="914400">
              <a:lnSpc>
                <a:spcPct val="2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move the polygon so it looks like Frame 3, rotate the diagram on patty paper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 degrees clockwise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 3" pitchFamily="2" charset="2"/>
              </a:rPr>
              <a:t>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or ______ degrees counterclockwise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Wingdings 3" pitchFamily="2" charset="2"/>
              </a:rPr>
              <a:t>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The center of rotation is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F2D86FB-FD71-474A-BE55-9ECAAD0562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Rectangle: Rounded Corners 261">
            <a:extLst>
              <a:ext uri="{FF2B5EF4-FFF2-40B4-BE49-F238E27FC236}">
                <a16:creationId xmlns:a16="http://schemas.microsoft.com/office/drawing/2014/main" id="{586AA02D-7420-DC42-B9B7-AEB482994F66}"/>
              </a:ext>
            </a:extLst>
          </p:cNvPr>
          <p:cNvSpPr/>
          <p:nvPr/>
        </p:nvSpPr>
        <p:spPr>
          <a:xfrm>
            <a:off x="2247698" y="3510723"/>
            <a:ext cx="4818449" cy="235518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top left vertex.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top right vertex.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bottom left vertex.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bottom right vertex.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center of the polygon.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8182E9C-4EDC-946A-E490-5A0A187FD92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442B262F-52E8-CDDB-C3D3-32A27A6E2160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836341" y="443275"/>
            <a:ext cx="1028142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patty paper, a ruler, or a protractor as necessary to complete the following.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determining if the polygon changed in size or shape as it moved.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F2D86FB-FD71-474A-BE55-9ECAAD0562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D545B6-A8DF-EB46-A46D-E1CF2C37F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800043"/>
              </p:ext>
            </p:extLst>
          </p:nvPr>
        </p:nvGraphicFramePr>
        <p:xfrm>
          <a:off x="1456187" y="2385824"/>
          <a:ext cx="7200000" cy="360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880000">
                  <a:extLst>
                    <a:ext uri="{9D8B030D-6E8A-4147-A177-3AD203B41FA5}">
                      <a16:colId xmlns:a16="http://schemas.microsoft.com/office/drawing/2014/main" val="374048124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716247399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776392734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-6731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Movement from…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Did the size change?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Did the shape change?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71529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1 to Frame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4452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2 to Frame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55084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3 to Frame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7126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Frame 4 to Frame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1440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92649"/>
                  </a:ext>
                </a:extLst>
              </a:tr>
            </a:tbl>
          </a:graphicData>
        </a:graphic>
      </p:graphicFrame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id="{81CE5E9C-081A-72E9-12D9-EB901A488E6D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29C4FAA-5A7E-CCB1-D0F2-8D1139B64C2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99406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858644" y="435174"/>
            <a:ext cx="102814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tools or information were used when determining if the size changed?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tools or information were used when determining if the shape changed?</a:t>
            </a: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if the measurement of angles in the polygon changed from Frame 1 to Frame 5.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F2D86FB-FD71-474A-BE55-9ECAAD056232}"/>
              </a:ext>
            </a:extLst>
          </p:cNvPr>
          <p:cNvSpPr/>
          <p:nvPr/>
        </p:nvSpPr>
        <p:spPr>
          <a:xfrm>
            <a:off x="0" y="305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5525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71960" y="249299"/>
            <a:ext cx="947354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1.3.3 Bring It Together: Definitions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847493" y="1394250"/>
            <a:ext cx="10270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movements of the polygon in the five frames are known as reflection, rotation, and translation. During the lesson a reflection was referred to as a flip, which is an informal definition. Another informal definition used was “is moved,” which is formally known as a translation.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E37649FA-72D0-DE42-98CE-D098AE151A2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2" descr="Icon&#10;&#10;Description automatically generated">
            <a:extLst>
              <a:ext uri="{FF2B5EF4-FFF2-40B4-BE49-F238E27FC236}">
                <a16:creationId xmlns:a16="http://schemas.microsoft.com/office/drawing/2014/main" id="{5D7F7086-3B46-0741-A8D9-C84B5033C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248" y="1698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54002CE-C214-8F49-9FF7-320C1DC7D1BD}"/>
              </a:ext>
            </a:extLst>
          </p:cNvPr>
          <p:cNvGrpSpPr/>
          <p:nvPr/>
        </p:nvGrpSpPr>
        <p:grpSpPr>
          <a:xfrm>
            <a:off x="1844387" y="3524759"/>
            <a:ext cx="7478025" cy="1560201"/>
            <a:chOff x="2031300" y="3373600"/>
            <a:chExt cx="7478025" cy="156076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2FA6F65-DF77-6445-9039-E379CA6ACA7A}"/>
                </a:ext>
              </a:extLst>
            </p:cNvPr>
            <p:cNvGrpSpPr/>
            <p:nvPr/>
          </p:nvGrpSpPr>
          <p:grpSpPr>
            <a:xfrm>
              <a:off x="2031300" y="3373600"/>
              <a:ext cx="7478025" cy="1560766"/>
              <a:chOff x="2031300" y="3373600"/>
              <a:chExt cx="7478025" cy="1560766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A56CB97-F4BF-AA4A-8D63-73BCE4B5E72A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41C1A92B-ABAB-E042-A137-C55BE2C81E6B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7478025" cy="1560766"/>
                <a:chOff x="0" y="0"/>
                <a:chExt cx="7478025" cy="1560766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23F4B51F-82B3-204A-AB41-9D4D863125B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7" name="Rounded Rectangle 16">
                  <a:extLst>
                    <a:ext uri="{FF2B5EF4-FFF2-40B4-BE49-F238E27FC236}">
                      <a16:creationId xmlns:a16="http://schemas.microsoft.com/office/drawing/2014/main" id="{87BD6663-CDA2-2A47-AFC5-C1499827F2C1}"/>
                    </a:ext>
                  </a:extLst>
                </p:cNvPr>
                <p:cNvSpPr/>
                <p:nvPr/>
              </p:nvSpPr>
              <p:spPr>
                <a:xfrm>
                  <a:off x="0" y="265365"/>
                  <a:ext cx="7478025" cy="1295401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70961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reflection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transformation that produces the mirror image of a geometric figure across a line of reflection.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8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282565BB-7FCC-F447-9027-224B4DC04AD2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9989" y="406400"/>
                  <a:ext cx="626935" cy="626936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F2D86FB-FD71-474A-BE55-9ECAAD0562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498EB02-6792-B440-8613-32FB72740B65}"/>
              </a:ext>
            </a:extLst>
          </p:cNvPr>
          <p:cNvGrpSpPr/>
          <p:nvPr/>
        </p:nvGrpSpPr>
        <p:grpSpPr>
          <a:xfrm>
            <a:off x="1496611" y="508023"/>
            <a:ext cx="7920000" cy="2402905"/>
            <a:chOff x="2031300" y="3373600"/>
            <a:chExt cx="8133434" cy="240299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8CD7AEE-F048-3940-A55E-6A8833F40FCA}"/>
                </a:ext>
              </a:extLst>
            </p:cNvPr>
            <p:cNvGrpSpPr/>
            <p:nvPr/>
          </p:nvGrpSpPr>
          <p:grpSpPr>
            <a:xfrm>
              <a:off x="2031300" y="3373600"/>
              <a:ext cx="8133434" cy="2402993"/>
              <a:chOff x="2031300" y="3373600"/>
              <a:chExt cx="8133434" cy="2402993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99FC5B5-DEBB-4848-BD75-362C48A12DCF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59C7B49-FAE3-1744-A221-96752DD26871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8133434" cy="2402993"/>
                <a:chOff x="0" y="0"/>
                <a:chExt cx="8133434" cy="2402993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86479FA8-D035-D940-A2AC-64A84A9C1F0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E4564A08-DAC0-934C-9CA4-F1F26BCFC5F5}"/>
                    </a:ext>
                  </a:extLst>
                </p:cNvPr>
                <p:cNvSpPr/>
                <p:nvPr/>
              </p:nvSpPr>
              <p:spPr>
                <a:xfrm>
                  <a:off x="0" y="137477"/>
                  <a:ext cx="8133434" cy="226551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70961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rotation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transformation of a figure by turning it about a center point or axis. The amount of rotation can be expressed in the number of degrees. The direction of the rotation for two-dimensional figures can be expressed as clockwise or counterclockwise.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4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1228092C-66F9-CA4A-8B8D-F962EFA0B23E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8485" y="406400"/>
                  <a:ext cx="655815" cy="655814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2327766-4944-4B4A-84E9-9E9D415ABEC5}"/>
              </a:ext>
            </a:extLst>
          </p:cNvPr>
          <p:cNvGrpSpPr/>
          <p:nvPr/>
        </p:nvGrpSpPr>
        <p:grpSpPr>
          <a:xfrm>
            <a:off x="1496611" y="3251704"/>
            <a:ext cx="7920000" cy="1243877"/>
            <a:chOff x="1893649" y="3406788"/>
            <a:chExt cx="8084449" cy="12443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912411E-CE90-FF4B-8DE1-1EB49431E7F7}"/>
                </a:ext>
              </a:extLst>
            </p:cNvPr>
            <p:cNvGrpSpPr/>
            <p:nvPr/>
          </p:nvGrpSpPr>
          <p:grpSpPr>
            <a:xfrm>
              <a:off x="1893649" y="3406788"/>
              <a:ext cx="8084449" cy="1244328"/>
              <a:chOff x="1893649" y="3406788"/>
              <a:chExt cx="8084449" cy="124432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8EC3ED8-F100-D54D-9982-2D8FB4749963}"/>
                  </a:ext>
                </a:extLst>
              </p:cNvPr>
              <p:cNvSpPr/>
              <p:nvPr/>
            </p:nvSpPr>
            <p:spPr>
              <a:xfrm>
                <a:off x="2031300" y="3540949"/>
                <a:ext cx="6629400" cy="4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72000" rIns="91425" bIns="91425" anchor="ctr" anchorCtr="0">
                <a:sp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2EAEEB1D-61E6-1447-96AB-F3ED7993288D}"/>
                  </a:ext>
                </a:extLst>
              </p:cNvPr>
              <p:cNvGrpSpPr/>
              <p:nvPr/>
            </p:nvGrpSpPr>
            <p:grpSpPr>
              <a:xfrm>
                <a:off x="1893649" y="3406788"/>
                <a:ext cx="8084449" cy="1244328"/>
                <a:chOff x="-137651" y="33188"/>
                <a:chExt cx="8084449" cy="124432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05FB1CB8-E7DC-3546-A780-05CA44D9032A}"/>
                    </a:ext>
                  </a:extLst>
                </p:cNvPr>
                <p:cNvSpPr/>
                <p:nvPr/>
              </p:nvSpPr>
              <p:spPr>
                <a:xfrm>
                  <a:off x="0" y="167349"/>
                  <a:ext cx="6629400" cy="478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72000" rIns="91425" bIns="91425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B4BB1C9F-8B40-6C49-98C9-C0A680D40EF1}"/>
                    </a:ext>
                  </a:extLst>
                </p:cNvPr>
                <p:cNvSpPr/>
                <p:nvPr/>
              </p:nvSpPr>
              <p:spPr>
                <a:xfrm>
                  <a:off x="-137651" y="33188"/>
                  <a:ext cx="8084449" cy="124432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803275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translation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transformation in which every point in a figure is moved in the same direction and by the same distance.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1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E77A4894-46C8-0849-86CC-6E18A5A3B51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4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0963" y="168354"/>
                  <a:ext cx="640902" cy="640902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sp>
        <p:nvSpPr>
          <p:cNvPr id="23" name="Text Box 21">
            <a:extLst>
              <a:ext uri="{FF2B5EF4-FFF2-40B4-BE49-F238E27FC236}">
                <a16:creationId xmlns:a16="http://schemas.microsoft.com/office/drawing/2014/main" id="{D85B1B9B-F98B-D143-B00B-1EBBC4849118}"/>
              </a:ext>
            </a:extLst>
          </p:cNvPr>
          <p:cNvSpPr txBox="1"/>
          <p:nvPr/>
        </p:nvSpPr>
        <p:spPr>
          <a:xfrm>
            <a:off x="1496611" y="4886669"/>
            <a:ext cx="7920000" cy="841913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72000" rIns="91440" bIns="7200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>
              <a:spcAft>
                <a:spcPts val="1000"/>
              </a:spcAft>
            </a:pPr>
            <a:r>
              <a:rPr lang="en-US" sz="2000" b="1" i="1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Isometry</a:t>
            </a:r>
            <a:r>
              <a:rPr lang="en-US" sz="2000" dirty="0">
                <a:solidFill>
                  <a:srgbClr val="6C993D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transformation that preserves distance and angle measure.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Google Shape;282;g104476d1465_1_17">
            <a:extLst>
              <a:ext uri="{FF2B5EF4-FFF2-40B4-BE49-F238E27FC236}">
                <a16:creationId xmlns:a16="http://schemas.microsoft.com/office/drawing/2014/main" id="{B3CEADA2-76C3-2A65-2C75-7DBC211D4BB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83;g104476d1465_1_17">
            <a:extLst>
              <a:ext uri="{FF2B5EF4-FFF2-40B4-BE49-F238E27FC236}">
                <a16:creationId xmlns:a16="http://schemas.microsoft.com/office/drawing/2014/main" id="{AB2FEDBD-DDD7-C54E-A9DB-9C41EFD65667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1837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858644" y="443274"/>
            <a:ext cx="102925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the definition of isometry. Determine which transformations — reflection, rotation, or translation — preserve distance and angle measure. Summarize your discussion.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7F2D86FB-FD71-474A-BE55-9ECAAD05623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BBFFF7-08F6-1042-9C9B-BD4DF5BEDE9A}"/>
              </a:ext>
            </a:extLst>
          </p:cNvPr>
          <p:cNvGrpSpPr/>
          <p:nvPr/>
        </p:nvGrpSpPr>
        <p:grpSpPr>
          <a:xfrm>
            <a:off x="1547541" y="1228104"/>
            <a:ext cx="8212178" cy="3321255"/>
            <a:chOff x="2031300" y="2790018"/>
            <a:chExt cx="8212178" cy="33223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96AAF4E-4242-7E4F-89B2-52A1B69D2874}"/>
                </a:ext>
              </a:extLst>
            </p:cNvPr>
            <p:cNvGrpSpPr/>
            <p:nvPr/>
          </p:nvGrpSpPr>
          <p:grpSpPr>
            <a:xfrm>
              <a:off x="2031300" y="2790018"/>
              <a:ext cx="8212178" cy="3322370"/>
              <a:chOff x="2031300" y="2790018"/>
              <a:chExt cx="8212178" cy="332237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A0384DCD-65ED-4649-AA40-C4BC9391E350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B153434-A44D-CD43-852F-DA181D7E7F03}"/>
                  </a:ext>
                </a:extLst>
              </p:cNvPr>
              <p:cNvGrpSpPr/>
              <p:nvPr/>
            </p:nvGrpSpPr>
            <p:grpSpPr>
              <a:xfrm>
                <a:off x="2323478" y="2790018"/>
                <a:ext cx="7920000" cy="3322370"/>
                <a:chOff x="292178" y="-583582"/>
                <a:chExt cx="7920000" cy="332237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3B6D4A6-DF6E-F742-B6ED-4652FBF119EC}"/>
                    </a:ext>
                  </a:extLst>
                </p:cNvPr>
                <p:cNvSpPr/>
                <p:nvPr/>
              </p:nvSpPr>
              <p:spPr>
                <a:xfrm>
                  <a:off x="1582778" y="-583582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ounded Rectangle 12">
                  <a:extLst>
                    <a:ext uri="{FF2B5EF4-FFF2-40B4-BE49-F238E27FC236}">
                      <a16:creationId xmlns:a16="http://schemas.microsoft.com/office/drawing/2014/main" id="{3484A077-C4BE-5D4F-8C84-14C51D0B630D}"/>
                    </a:ext>
                  </a:extLst>
                </p:cNvPr>
                <p:cNvSpPr/>
                <p:nvPr/>
              </p:nvSpPr>
              <p:spPr>
                <a:xfrm>
                  <a:off x="292178" y="813228"/>
                  <a:ext cx="7920000" cy="192556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80486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rigid transformation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transformation of points in space consisting of a sequence of one or more translations, reflections, or rotations. Rigid transformations preserve distances and angle measures (congruency).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14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F4AC352B-9A93-B44B-9F0B-74F418FB72C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3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453026" y="985576"/>
                  <a:ext cx="695614" cy="695615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  <p:pic>
        <p:nvPicPr>
          <p:cNvPr id="15" name="Google Shape;283;g104476d1465_1_17">
            <a:extLst>
              <a:ext uri="{FF2B5EF4-FFF2-40B4-BE49-F238E27FC236}">
                <a16:creationId xmlns:a16="http://schemas.microsoft.com/office/drawing/2014/main" id="{B8E0554A-F53E-AFBB-2B86-C6DA56922E6A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0725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DE74CA9-2F3E-A942-BF7F-DF21D5B42042}"/>
              </a:ext>
            </a:extLst>
          </p:cNvPr>
          <p:cNvGrpSpPr/>
          <p:nvPr/>
        </p:nvGrpSpPr>
        <p:grpSpPr>
          <a:xfrm>
            <a:off x="1647902" y="626162"/>
            <a:ext cx="7920000" cy="1761062"/>
            <a:chOff x="0" y="0"/>
            <a:chExt cx="7920000" cy="176189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DE47DB2-E1EB-1242-8ED0-6F52D9CCA30B}"/>
                </a:ext>
              </a:extLst>
            </p:cNvPr>
            <p:cNvGrpSpPr/>
            <p:nvPr/>
          </p:nvGrpSpPr>
          <p:grpSpPr>
            <a:xfrm>
              <a:off x="0" y="0"/>
              <a:ext cx="7920000" cy="1761899"/>
              <a:chOff x="2031300" y="3386808"/>
              <a:chExt cx="7920000" cy="1761899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8F2FF6A-9478-B242-AF92-D2B9605C6053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7920000" cy="1761899"/>
                <a:chOff x="0" y="0"/>
                <a:chExt cx="7920000" cy="1761899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0424D98-C2AD-814D-A610-769EF330021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D5617500-9DD3-3748-B77D-3791653FB26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F1819BA7-90AE-E548-B41E-627C203AEA78}"/>
                    </a:ext>
                  </a:extLst>
                </p:cNvPr>
                <p:cNvSpPr/>
                <p:nvPr/>
              </p:nvSpPr>
              <p:spPr>
                <a:xfrm>
                  <a:off x="0" y="466352"/>
                  <a:ext cx="7920000" cy="129554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803275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rigid transformation is also called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rigid motion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Rigid means that something is not able to be changed. Isometry is composed of rigid motions.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6C8AD45F-F0FE-8645-A454-69361B81C33A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7" y="610564"/>
              <a:ext cx="642162" cy="642162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329BA8-431A-F741-A366-0446F3EFD797}"/>
              </a:ext>
            </a:extLst>
          </p:cNvPr>
          <p:cNvGrpSpPr/>
          <p:nvPr/>
        </p:nvGrpSpPr>
        <p:grpSpPr>
          <a:xfrm>
            <a:off x="1647902" y="2598047"/>
            <a:ext cx="7920000" cy="2166537"/>
            <a:chOff x="2031300" y="3373600"/>
            <a:chExt cx="7920000" cy="216764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96C579F-DB43-7849-B3D4-05480BBC0D42}"/>
                </a:ext>
              </a:extLst>
            </p:cNvPr>
            <p:cNvGrpSpPr/>
            <p:nvPr/>
          </p:nvGrpSpPr>
          <p:grpSpPr>
            <a:xfrm>
              <a:off x="2031300" y="3373600"/>
              <a:ext cx="7920000" cy="2167641"/>
              <a:chOff x="2031300" y="3373600"/>
              <a:chExt cx="7920000" cy="2167641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5D76BED-62ED-F745-868C-3556F32DEF19}"/>
                  </a:ext>
                </a:extLst>
              </p:cNvPr>
              <p:cNvSpPr/>
              <p:nvPr/>
            </p:nvSpPr>
            <p:spPr>
              <a:xfrm>
                <a:off x="2031300" y="337360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20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7F8A562-0354-E449-B09D-929D4B5F640F}"/>
                  </a:ext>
                </a:extLst>
              </p:cNvPr>
              <p:cNvGrpSpPr/>
              <p:nvPr/>
            </p:nvGrpSpPr>
            <p:grpSpPr>
              <a:xfrm>
                <a:off x="2031300" y="3373600"/>
                <a:ext cx="7920000" cy="2167641"/>
                <a:chOff x="0" y="0"/>
                <a:chExt cx="7920000" cy="2167641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7E834B46-9517-B942-85C9-21361C5A597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812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20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20" name="Rounded Rectangle 19">
                  <a:extLst>
                    <a:ext uri="{FF2B5EF4-FFF2-40B4-BE49-F238E27FC236}">
                      <a16:creationId xmlns:a16="http://schemas.microsoft.com/office/drawing/2014/main" id="{BED48A38-4952-B34B-9D18-924169D712B2}"/>
                    </a:ext>
                  </a:extLst>
                </p:cNvPr>
                <p:cNvSpPr/>
                <p:nvPr/>
              </p:nvSpPr>
              <p:spPr>
                <a:xfrm>
                  <a:off x="0" y="531356"/>
                  <a:ext cx="7920000" cy="1636285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804863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Figures having exactly the same shape and size are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congruent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 Equivalently, two figures are congruent if one can be mapped to the other using a rigid transformation. 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pic>
              <p:nvPicPr>
                <p:cNvPr id="21" name="Shape 7" descr="Icon&#10;&#10;Description automatically generated">
                  <a:extLst>
                    <a:ext uri="{FF2B5EF4-FFF2-40B4-BE49-F238E27FC236}">
                      <a16:creationId xmlns:a16="http://schemas.microsoft.com/office/drawing/2014/main" id="{FE26862B-B9C4-C64B-9F43-4E7888BCF4D5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136712" y="697963"/>
                  <a:ext cx="651535" cy="651535"/>
                </a:xfrm>
                <a:prstGeom prst="rect">
                  <a:avLst/>
                </a:prstGeom>
                <a:noFill/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05414" y="68550"/>
            <a:ext cx="94673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1.3.4 Collaboration: Isometry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248" y="35649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847492" y="1394251"/>
                <a:ext cx="1026178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diagram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𝑅𝑇𝐷𝐻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𝐷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Arrows are drawn from vertex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vertex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1394251"/>
                <a:ext cx="10261785" cy="830997"/>
              </a:xfrm>
              <a:prstGeom prst="rect">
                <a:avLst/>
              </a:prstGeom>
              <a:blipFill>
                <a:blip r:embed="rId5"/>
                <a:stretch>
                  <a:fillRect l="-891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E9CA456B-1791-3E43-BCF8-7E55B6240BB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ABBFC83-5B1F-3977-AF5C-E69FC632A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349" y="2322327"/>
            <a:ext cx="6242196" cy="433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940" y="619767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0714" y="645474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25191" y="418890"/>
                <a:ext cx="10292576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𝐷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read as “r prime, t prime, d prime, h prime”. This notation is often used when a figure has been transformed.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arrows show a possible path of movement. For the movement to be correct, the same path should exist for all points on a diagram.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if all of the points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𝑅𝑇𝐷𝐻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moved using the same path as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191" y="418890"/>
                <a:ext cx="10292576" cy="3416320"/>
              </a:xfrm>
              <a:prstGeom prst="rect">
                <a:avLst/>
              </a:prstGeom>
              <a:blipFill>
                <a:blip r:embed="rId4"/>
                <a:stretch>
                  <a:fillRect l="-888" t="-1607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B1A929-709E-D442-8C05-164DE347E48D}"/>
              </a:ext>
            </a:extLst>
          </p:cNvPr>
          <p:cNvGrpSpPr/>
          <p:nvPr/>
        </p:nvGrpSpPr>
        <p:grpSpPr>
          <a:xfrm>
            <a:off x="2158867" y="4377504"/>
            <a:ext cx="6629400" cy="1017282"/>
            <a:chOff x="0" y="0"/>
            <a:chExt cx="6629400" cy="101743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02823D2-4E7D-7D45-9160-8412F66B7D26}"/>
                </a:ext>
              </a:extLst>
            </p:cNvPr>
            <p:cNvGrpSpPr/>
            <p:nvPr/>
          </p:nvGrpSpPr>
          <p:grpSpPr>
            <a:xfrm>
              <a:off x="0" y="0"/>
              <a:ext cx="6629400" cy="1017433"/>
              <a:chOff x="2031300" y="3386808"/>
              <a:chExt cx="6629400" cy="1017433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05E57FD-392D-C746-A979-37965DDAA7D1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6629400" cy="1017433"/>
                <a:chOff x="0" y="0"/>
                <a:chExt cx="6629400" cy="1017433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DDB72D6-23A2-A04C-819E-AFD7322C03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5EA5012C-EC89-AE49-9768-0141024FF4A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98DA796C-D844-5345-B7FB-F90269F7880E}"/>
                    </a:ext>
                  </a:extLst>
                </p:cNvPr>
                <p:cNvSpPr/>
                <p:nvPr/>
              </p:nvSpPr>
              <p:spPr>
                <a:xfrm>
                  <a:off x="0" y="113941"/>
                  <a:ext cx="6629400" cy="903492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72000" rIns="91425" bIns="0" anchor="ctr" anchorCtr="0">
                  <a:spAutoFit/>
                </a:bodyPr>
                <a:lstStyle/>
                <a:p>
                  <a:pPr marL="803275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mapping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standardized form of showing a transformation. 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8D2585D9-2BA5-074C-BF51-662017882CB5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7" y="255256"/>
              <a:ext cx="620861" cy="620861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120277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47493" y="418891"/>
                <a:ext cx="102814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diagram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𝑅𝑇𝐷𝐻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𝐷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Arrows are drawn from vertex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418891"/>
                <a:ext cx="10281424" cy="830997"/>
              </a:xfrm>
              <a:prstGeom prst="rect">
                <a:avLst/>
              </a:prstGeom>
              <a:blipFill>
                <a:blip r:embed="rId4"/>
                <a:stretch>
                  <a:fillRect l="-88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AB60C9FA-40F3-70C8-BAB3-0B7541DB5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0087" y="1388811"/>
            <a:ext cx="6337300" cy="534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939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22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000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58644" y="418891"/>
                <a:ext cx="10270274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 segment from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line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What is the length of the line segment?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line segment from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line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What is the length of the line segment?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relationship each line segment has to line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18891"/>
                <a:ext cx="10270274" cy="4154984"/>
              </a:xfrm>
              <a:prstGeom prst="rect">
                <a:avLst/>
              </a:prstGeom>
              <a:blipFill>
                <a:blip r:embed="rId4"/>
                <a:stretch>
                  <a:fillRect t="-1223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5126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94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071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847492" y="1738916"/>
                <a:ext cx="1028142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of the other vertices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𝑅𝑇𝐷𝐻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draw a new point using the same movements done to map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 show the reflection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</m:t>
                    </m:r>
                    <m:r>
                      <a:rPr lang="en-US" sz="2400" i="1">
                        <a:latin typeface="Cambria Math"/>
                      </a:rPr>
                      <m:t>’</m:t>
                    </m:r>
                    <m:r>
                      <a:rPr lang="en-US" sz="2400" i="1">
                        <a:latin typeface="Cambria Math"/>
                      </a:rPr>
                      <m:t>𝑇</m:t>
                    </m:r>
                    <m:r>
                      <a:rPr lang="en-US" sz="2400" i="1">
                        <a:latin typeface="Cambria Math"/>
                      </a:rPr>
                      <m:t>’</m:t>
                    </m:r>
                    <m:r>
                      <a:rPr lang="en-US" sz="2400" i="1">
                        <a:latin typeface="Cambria Math"/>
                      </a:rPr>
                      <m:t>𝐷</m:t>
                    </m:r>
                    <m:r>
                      <a:rPr lang="en-US" sz="2400" i="1">
                        <a:latin typeface="Cambria Math"/>
                      </a:rPr>
                      <m:t>’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’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using line segments. 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if the mapping of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all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the points 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𝑅𝑇𝐷𝐻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done using the same path and reflection, or if the mapping only works for the vertices. Summarize your discussion.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1738916"/>
                <a:ext cx="10281425" cy="3785652"/>
              </a:xfrm>
              <a:prstGeom prst="rect">
                <a:avLst/>
              </a:prstGeom>
              <a:blipFill>
                <a:blip r:embed="rId4"/>
                <a:stretch>
                  <a:fillRect t="-1449" r="-1245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60F4B17-87E0-004C-AADF-1570DE52C58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0953426-2404-D54A-A903-3E91F578FF15}"/>
              </a:ext>
            </a:extLst>
          </p:cNvPr>
          <p:cNvGrpSpPr/>
          <p:nvPr/>
        </p:nvGrpSpPr>
        <p:grpSpPr>
          <a:xfrm>
            <a:off x="2017526" y="343254"/>
            <a:ext cx="7817087" cy="990178"/>
            <a:chOff x="-1" y="0"/>
            <a:chExt cx="7817087" cy="9903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2E193ED-44A8-D04C-B79A-1A016C615356}"/>
                </a:ext>
              </a:extLst>
            </p:cNvPr>
            <p:cNvGrpSpPr/>
            <p:nvPr/>
          </p:nvGrpSpPr>
          <p:grpSpPr>
            <a:xfrm>
              <a:off x="-1" y="0"/>
              <a:ext cx="7817087" cy="990325"/>
              <a:chOff x="2031299" y="3386808"/>
              <a:chExt cx="7817087" cy="990325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69BEF2CD-85FC-3D47-8BE8-78F05D7314E1}"/>
                  </a:ext>
                </a:extLst>
              </p:cNvPr>
              <p:cNvGrpSpPr/>
              <p:nvPr/>
            </p:nvGrpSpPr>
            <p:grpSpPr>
              <a:xfrm>
                <a:off x="2031299" y="3386808"/>
                <a:ext cx="7817087" cy="990325"/>
                <a:chOff x="-1" y="0"/>
                <a:chExt cx="7817087" cy="990325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4F8F9660-0670-3A49-85D9-AD8208D3789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3589186-DE2C-1A4F-9AA4-1B34ECB07B8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D74923A9-7296-6942-BC89-BC2AC5420C8C}"/>
                    </a:ext>
                  </a:extLst>
                </p:cNvPr>
                <p:cNvSpPr/>
                <p:nvPr/>
              </p:nvSpPr>
              <p:spPr>
                <a:xfrm>
                  <a:off x="-1" y="46608"/>
                  <a:ext cx="7817087" cy="943717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108000" rIns="91425" bIns="0" anchor="ctr" anchorCtr="0">
                  <a:spAutoFit/>
                </a:bodyPr>
                <a:lstStyle/>
                <a:p>
                  <a:pPr marL="803275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If corresponding points have the same distance from a line then the line is the “</a:t>
                  </a:r>
                  <a:r>
                    <a:rPr lang="en-US" sz="2000" b="1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line of reflection</a:t>
                  </a:r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.”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088D1BEF-C5A0-FD48-900F-0CE234B392DF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8" y="196947"/>
              <a:ext cx="643038" cy="643038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71129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05414" y="91356"/>
            <a:ext cx="9445084" cy="70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1.3.5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900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847492" y="1165651"/>
            <a:ext cx="10259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92FF148-9BCF-FC42-90F1-F994D0D62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256610"/>
              </p:ext>
            </p:extLst>
          </p:nvPr>
        </p:nvGraphicFramePr>
        <p:xfrm>
          <a:off x="1426300" y="1862840"/>
          <a:ext cx="7560000" cy="413544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3870631049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4019510017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364289514"/>
                    </a:ext>
                  </a:extLst>
                </a:gridCol>
              </a:tblGrid>
              <a:tr h="146152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terms and information used in the exploration that I knew were 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wondered during the exploration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was 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learned during the exploration was 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073548"/>
                  </a:ext>
                </a:extLst>
              </a:tr>
              <a:tr h="252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528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1388</TotalTime>
  <Words>1684</Words>
  <Application>Microsoft Macintosh PowerPoint</Application>
  <PresentationFormat>Widescreen</PresentationFormat>
  <Paragraphs>256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Wingdings</vt:lpstr>
      <vt:lpstr>Verdana</vt:lpstr>
      <vt:lpstr>Courier New</vt:lpstr>
      <vt:lpstr>Arial</vt:lpstr>
      <vt:lpstr>Cambria</vt:lpstr>
      <vt:lpstr>Century Gothic</vt:lpstr>
      <vt:lpstr>Calibri</vt:lpstr>
      <vt:lpstr>Arial Black</vt:lpstr>
      <vt:lpstr>Cambria Math</vt:lpstr>
      <vt:lpstr>1_Office Theme</vt:lpstr>
      <vt:lpstr>Geometry  Unit 1, Lesson 3  Isometry  Volume 1, pg. 13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33</cp:revision>
  <dcterms:created xsi:type="dcterms:W3CDTF">2015-03-17T18:51:18Z</dcterms:created>
  <dcterms:modified xsi:type="dcterms:W3CDTF">2023-02-28T13:47:50Z</dcterms:modified>
</cp:coreProperties>
</file>