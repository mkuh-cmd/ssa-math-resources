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85" r:id="rId4"/>
    <p:sldId id="286" r:id="rId5"/>
    <p:sldId id="261" r:id="rId6"/>
    <p:sldId id="287" r:id="rId7"/>
    <p:sldId id="289" r:id="rId8"/>
    <p:sldId id="290" r:id="rId9"/>
    <p:sldId id="288" r:id="rId10"/>
    <p:sldId id="308" r:id="rId11"/>
    <p:sldId id="326" r:id="rId12"/>
    <p:sldId id="328" r:id="rId13"/>
    <p:sldId id="331" r:id="rId14"/>
    <p:sldId id="329" r:id="rId15"/>
    <p:sldId id="323" r:id="rId16"/>
    <p:sldId id="324" r:id="rId17"/>
    <p:sldId id="330" r:id="rId18"/>
    <p:sldId id="320" r:id="rId19"/>
    <p:sldId id="321" r:id="rId20"/>
    <p:sldId id="325" r:id="rId21"/>
    <p:sldId id="306" r:id="rId22"/>
    <p:sldId id="307" r:id="rId23"/>
  </p:sldIdLst>
  <p:sldSz cx="12192000" cy="6858000"/>
  <p:notesSz cx="6858000" cy="9144000"/>
  <p:embeddedFontLst>
    <p:embeddedFont>
      <p:font typeface="Arial Black" panose="020B0604020202020204" pitchFamily="34" charset="0"/>
      <p:bold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Cambria" panose="02040503050406030204" pitchFamily="18" charset="0"/>
      <p:regular r:id="rId30"/>
      <p:bold r:id="rId31"/>
      <p:italic r:id="rId32"/>
      <p:boldItalic r:id="rId33"/>
    </p:embeddedFont>
    <p:embeddedFont>
      <p:font typeface="Cambria Math" panose="02040503050406030204" pitchFamily="18" charset="0"/>
      <p:regular r:id="rId34"/>
    </p:embeddedFont>
    <p:embeddedFont>
      <p:font typeface="Century Gothic" panose="020B0502020202020204" pitchFamily="34" charset="0"/>
      <p:regular r:id="rId35"/>
      <p:bold r:id="rId36"/>
      <p:italic r:id="rId37"/>
      <p:boldItalic r:id="rId38"/>
    </p:embeddedFont>
    <p:embeddedFont>
      <p:font typeface="Verdana" panose="020B0604030504040204" pitchFamily="3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5E5B"/>
    <a:srgbClr val="F79647"/>
    <a:srgbClr val="FCBD1E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260" autoAdjust="0"/>
    <p:restoredTop sz="94812"/>
  </p:normalViewPr>
  <p:slideViewPr>
    <p:cSldViewPr snapToGrid="0">
      <p:cViewPr varScale="1">
        <p:scale>
          <a:sx n="120" d="100"/>
          <a:sy n="120" d="100"/>
        </p:scale>
        <p:origin x="216" y="2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font" Target="fonts/font18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063581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25557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30023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30023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43676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96125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7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0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png"/><Relationship Id="rId5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4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1.png"/><Relationship Id="rId5" Type="http://schemas.openxmlformats.org/officeDocument/2006/relationships/image" Target="../media/image42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6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1, Lesson 8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Line Segments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53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2257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084371" y="-71013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071" y="21818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084371" y="1332572"/>
            <a:ext cx="960964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2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MA.912.GR.1.1</a:t>
            </a:r>
          </a:p>
          <a:p>
            <a:pPr marL="466725" indent="0">
              <a:buSzPts val="1100"/>
              <a:buNone/>
            </a:pPr>
            <a:r>
              <a:rPr lang="en-US" sz="3200" dirty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Prove relationships and theorems about lines and angles. Solve mathematical and real-world problems involving postulates, relationships, and theorems of lines and angles.</a:t>
            </a:r>
          </a:p>
          <a:p>
            <a:pPr marL="0" indent="0">
              <a:buSzPts val="1100"/>
              <a:buNone/>
            </a:pP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 marL="0" indent="0">
              <a:buSzPts val="1100"/>
              <a:buNone/>
            </a:pPr>
            <a:r>
              <a:rPr lang="en-US" sz="3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MA.912.GR.5.1</a:t>
            </a:r>
          </a:p>
          <a:p>
            <a:pPr indent="0">
              <a:buNone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Construct a copy of a segment or an angle. </a:t>
            </a: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C454D7C-8363-10EC-2571-3788F5BF7BAE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769" y="20791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06069" y="-57102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6069" y="1596390"/>
            <a:ext cx="963255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077C6829-C721-C84C-B217-05FC82BD090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2200" y="-9263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00" y="19657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102200" y="1343723"/>
            <a:ext cx="959182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36575" indent="-536575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construct a copy of a line segment.</a:t>
            </a:r>
          </a:p>
          <a:p>
            <a:pPr marL="536575" indent="-536575">
              <a:buFont typeface="Wingdings" pitchFamily="2" charset="2"/>
              <a:buChar char="q"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36575" indent="-536575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use the segment addition postulate.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FCC93FCF-4D13-1937-D724-C6F6EECE2F8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3ECA0208-5859-8422-3C32-3938D5888C12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>
            <a:extLst>
              <a:ext uri="{FF2B5EF4-FFF2-40B4-BE49-F238E27FC236}">
                <a16:creationId xmlns:a16="http://schemas.microsoft.com/office/drawing/2014/main" id="{3278F848-3477-3CD6-9EDC-29C4208A8E6F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2372" y="645914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374212CB-307C-D1F8-0B6A-1CA75EF7340A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shape&#10;&#10;Description automatically generated">
            <a:extLst>
              <a:ext uri="{FF2B5EF4-FFF2-40B4-BE49-F238E27FC236}">
                <a16:creationId xmlns:a16="http://schemas.microsoft.com/office/drawing/2014/main" id="{43C69EBE-A81C-A64E-B767-7CA5E45B8314}"/>
              </a:ext>
            </a:extLst>
          </p:cNvPr>
          <p:cNvPicPr/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17" b="16803"/>
          <a:stretch/>
        </p:blipFill>
        <p:spPr bwMode="auto">
          <a:xfrm>
            <a:off x="3173973" y="4145115"/>
            <a:ext cx="3226279" cy="256346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Picture 9" descr="A picture containing outdoor object, sport kite&#10;&#10;Description automatically generated">
            <a:extLst>
              <a:ext uri="{FF2B5EF4-FFF2-40B4-BE49-F238E27FC236}">
                <a16:creationId xmlns:a16="http://schemas.microsoft.com/office/drawing/2014/main" id="{3104A0E2-829F-C344-A4C1-A1F95D2AAE73}"/>
              </a:ext>
            </a:extLst>
          </p:cNvPr>
          <p:cNvPicPr/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005" t="8311" r="22520" b="16262"/>
          <a:stretch/>
        </p:blipFill>
        <p:spPr bwMode="auto">
          <a:xfrm>
            <a:off x="7459515" y="1213643"/>
            <a:ext cx="3079635" cy="311813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847492" y="1386025"/>
                <a:ext cx="10223096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do you notice about the picture?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the radius of each semicircle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then what is the length of each of the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square’s diagonals?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Dina determined the area of the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shaded region using the drawing shown.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total shaded area.</a:t>
                </a:r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92" y="1386025"/>
                <a:ext cx="10223096" cy="2862322"/>
              </a:xfrm>
              <a:prstGeom prst="rect">
                <a:avLst/>
              </a:prstGeom>
              <a:blipFill>
                <a:blip r:embed="rId5"/>
                <a:stretch>
                  <a:fillRect l="-656" t="-1277" b="-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05054" y="118650"/>
            <a:ext cx="10223096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1.8.1 Warm-Up: Semicircles and Triangles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3842" y="28974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E69BB986-74EF-E84C-D6A0-4B5C8F6C2D0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4" name="Google Shape;283;g104476d1465_1_17">
            <a:extLst>
              <a:ext uri="{FF2B5EF4-FFF2-40B4-BE49-F238E27FC236}">
                <a16:creationId xmlns:a16="http://schemas.microsoft.com/office/drawing/2014/main" id="{63F6EFA9-1F57-63B1-8ACE-D2BA35DEF4CE}"/>
              </a:ext>
            </a:extLst>
          </p:cNvPr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Table 26">
                <a:extLst>
                  <a:ext uri="{FF2B5EF4-FFF2-40B4-BE49-F238E27FC236}">
                    <a16:creationId xmlns:a16="http://schemas.microsoft.com/office/drawing/2014/main" id="{11A0744D-F87A-BE45-B16B-0724552528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9765749"/>
                  </p:ext>
                </p:extLst>
              </p:nvPr>
            </p:nvGraphicFramePr>
            <p:xfrm>
              <a:off x="2201476" y="1332676"/>
              <a:ext cx="7906511" cy="355477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633297">
                      <a:extLst>
                        <a:ext uri="{9D8B030D-6E8A-4147-A177-3AD203B41FA5}">
                          <a16:colId xmlns:a16="http://schemas.microsoft.com/office/drawing/2014/main" val="1892074540"/>
                        </a:ext>
                      </a:extLst>
                    </a:gridCol>
                    <a:gridCol w="2667133">
                      <a:extLst>
                        <a:ext uri="{9D8B030D-6E8A-4147-A177-3AD203B41FA5}">
                          <a16:colId xmlns:a16="http://schemas.microsoft.com/office/drawing/2014/main" val="1958761771"/>
                        </a:ext>
                      </a:extLst>
                    </a:gridCol>
                    <a:gridCol w="2606081">
                      <a:extLst>
                        <a:ext uri="{9D8B030D-6E8A-4147-A177-3AD203B41FA5}">
                          <a16:colId xmlns:a16="http://schemas.microsoft.com/office/drawing/2014/main" val="2744585137"/>
                        </a:ext>
                      </a:extLst>
                    </a:gridCol>
                  </a:tblGrid>
                  <a:tr h="33151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Line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Line Segment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8707723"/>
                      </a:ext>
                    </a:extLst>
                  </a:tr>
                  <a:tr h="1728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 line is an undefined term.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 part of a line that is bounded by two distinct end points.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 part of a line that has a fixed starting point and extends infinitely in one direction.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58952103"/>
                      </a:ext>
                    </a:extLst>
                  </a:tr>
                  <a:tr h="143053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⃡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𝐺𝐻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line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𝑏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𝑅𝐷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⃗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/>
                                      </a:rPr>
                                      <m:t>𝐾𝑊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ray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819878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Table 26">
                <a:extLst>
                  <a:ext uri="{FF2B5EF4-FFF2-40B4-BE49-F238E27FC236}">
                    <a16:creationId xmlns:a16="http://schemas.microsoft.com/office/drawing/2014/main" id="{11A0744D-F87A-BE45-B16B-0724552528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9765749"/>
                  </p:ext>
                </p:extLst>
              </p:nvPr>
            </p:nvGraphicFramePr>
            <p:xfrm>
              <a:off x="2201476" y="1332676"/>
              <a:ext cx="7906511" cy="355477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633297">
                      <a:extLst>
                        <a:ext uri="{9D8B030D-6E8A-4147-A177-3AD203B41FA5}">
                          <a16:colId xmlns:a16="http://schemas.microsoft.com/office/drawing/2014/main" val="1892074540"/>
                        </a:ext>
                      </a:extLst>
                    </a:gridCol>
                    <a:gridCol w="2667133">
                      <a:extLst>
                        <a:ext uri="{9D8B030D-6E8A-4147-A177-3AD203B41FA5}">
                          <a16:colId xmlns:a16="http://schemas.microsoft.com/office/drawing/2014/main" val="1958761771"/>
                        </a:ext>
                      </a:extLst>
                    </a:gridCol>
                    <a:gridCol w="2606081">
                      <a:extLst>
                        <a:ext uri="{9D8B030D-6E8A-4147-A177-3AD203B41FA5}">
                          <a16:colId xmlns:a16="http://schemas.microsoft.com/office/drawing/2014/main" val="2744585137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Line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Line Segment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8707723"/>
                      </a:ext>
                    </a:extLst>
                  </a:tr>
                  <a:tr h="1728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 line is an undefined term.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 part of a line that is bounded by two distinct end points.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 part of a line that has a fixed starting point and extends infinitely in one direction.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58952103"/>
                      </a:ext>
                    </a:extLst>
                  </a:tr>
                  <a:tr h="14305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" t="-150638" r="-200926" b="-8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98858" t="-150638" r="-98174" b="-8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3505" t="-150638" r="-467" b="-8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198785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582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505415" y="-47569"/>
            <a:ext cx="1033166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1.8.2 Guided Instruction: Line Segments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1400" y="14746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7D185CEC-69E3-ED4E-87D7-D8AED7B32136}"/>
              </a:ext>
            </a:extLst>
          </p:cNvPr>
          <p:cNvSpPr/>
          <p:nvPr/>
        </p:nvSpPr>
        <p:spPr>
          <a:xfrm>
            <a:off x="-1843" y="2926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8851380-DC10-CE4F-BEE6-8C1E0B7EB3BF}"/>
              </a:ext>
            </a:extLst>
          </p:cNvPr>
          <p:cNvGrpSpPr/>
          <p:nvPr/>
        </p:nvGrpSpPr>
        <p:grpSpPr>
          <a:xfrm>
            <a:off x="2899913" y="3568868"/>
            <a:ext cx="1663700" cy="589057"/>
            <a:chOff x="0" y="0"/>
            <a:chExt cx="1664043" cy="589510"/>
          </a:xfrm>
          <a:effectLst/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B8CB218-10F0-CB41-90FC-BB81FDE3CEF7}"/>
                </a:ext>
              </a:extLst>
            </p:cNvPr>
            <p:cNvGrpSpPr/>
            <p:nvPr/>
          </p:nvGrpSpPr>
          <p:grpSpPr>
            <a:xfrm>
              <a:off x="0" y="0"/>
              <a:ext cx="1664043" cy="123568"/>
              <a:chOff x="0" y="0"/>
              <a:chExt cx="1664043" cy="123568"/>
            </a:xfrm>
          </p:grpSpPr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9B9F85B2-4674-4A4A-83A7-AE9FEBA9AD29}"/>
                  </a:ext>
                </a:extLst>
              </p:cNvPr>
              <p:cNvCxnSpPr/>
              <p:nvPr/>
            </p:nvCxnSpPr>
            <p:spPr>
              <a:xfrm>
                <a:off x="0" y="59725"/>
                <a:ext cx="1664043" cy="0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headEnd type="triangle"/>
                <a:tailEnd type="triangle"/>
              </a:ln>
              <a:effectLst/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79C9940E-ACA6-B94B-B459-DAED48E7A56D}"/>
                  </a:ext>
                </a:extLst>
              </p:cNvPr>
              <p:cNvSpPr/>
              <p:nvPr/>
            </p:nvSpPr>
            <p:spPr>
              <a:xfrm>
                <a:off x="287809" y="0"/>
                <a:ext cx="98854" cy="1235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2C85B878-F8E9-0A40-91C8-F3980D56E481}"/>
                  </a:ext>
                </a:extLst>
              </p:cNvPr>
              <p:cNvSpPr/>
              <p:nvPr/>
            </p:nvSpPr>
            <p:spPr>
              <a:xfrm>
                <a:off x="1334014" y="0"/>
                <a:ext cx="98854" cy="1235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 Box 2">
                  <a:extLst>
                    <a:ext uri="{FF2B5EF4-FFF2-40B4-BE49-F238E27FC236}">
                      <a16:creationId xmlns:a16="http://schemas.microsoft.com/office/drawing/2014/main" id="{CC94E63C-032F-AE47-B43D-26C0343A2A7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3509" y="60754"/>
                  <a:ext cx="370205" cy="5287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spAutoFit/>
                </a:bodyPr>
                <a:lstStyle/>
                <a:p>
                  <a:pPr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oMath>
                    </m:oMathPara>
                  </a14:m>
                  <a:endParaRPr lang="en-US" sz="20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2" name="Text Box 2">
                  <a:extLst>
                    <a:ext uri="{FF2B5EF4-FFF2-40B4-BE49-F238E27FC236}">
                      <a16:creationId xmlns:a16="http://schemas.microsoft.com/office/drawing/2014/main" id="{CC94E63C-032F-AE47-B43D-26C0343A2A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3509" y="60754"/>
                  <a:ext cx="370205" cy="52875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 Box 2">
                  <a:extLst>
                    <a:ext uri="{FF2B5EF4-FFF2-40B4-BE49-F238E27FC236}">
                      <a16:creationId xmlns:a16="http://schemas.microsoft.com/office/drawing/2014/main" id="{83AE0717-361E-D24D-9786-BDF67CBC915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03239" y="60754"/>
                  <a:ext cx="370205" cy="5287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spAutoFit/>
                </a:bodyPr>
                <a:lstStyle/>
                <a:p>
                  <a:pPr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oMath>
                    </m:oMathPara>
                  </a14:m>
                  <a:endParaRPr lang="en-US" sz="20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3" name="Text Box 2">
                  <a:extLst>
                    <a:ext uri="{FF2B5EF4-FFF2-40B4-BE49-F238E27FC236}">
                      <a16:creationId xmlns:a16="http://schemas.microsoft.com/office/drawing/2014/main" id="{83AE0717-361E-D24D-9786-BDF67CBC91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03239" y="60754"/>
                  <a:ext cx="370205" cy="52875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B60F1AB-AF8C-0449-8B08-1119F724E356}"/>
              </a:ext>
            </a:extLst>
          </p:cNvPr>
          <p:cNvGrpSpPr/>
          <p:nvPr/>
        </p:nvGrpSpPr>
        <p:grpSpPr>
          <a:xfrm>
            <a:off x="3073386" y="4441106"/>
            <a:ext cx="1663700" cy="495300"/>
            <a:chOff x="0" y="-13387"/>
            <a:chExt cx="1664043" cy="495300"/>
          </a:xfrm>
          <a:effectLst/>
        </p:grpSpPr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35EEFD79-37EF-F549-92D4-02719E809EFD}"/>
                </a:ext>
              </a:extLst>
            </p:cNvPr>
            <p:cNvCxnSpPr/>
            <p:nvPr/>
          </p:nvCxnSpPr>
          <p:spPr>
            <a:xfrm>
              <a:off x="0" y="59725"/>
              <a:ext cx="1664043" cy="0"/>
            </a:xfrm>
            <a:prstGeom prst="straightConnector1">
              <a:avLst/>
            </a:prstGeom>
            <a:ln>
              <a:solidFill>
                <a:srgbClr val="7030A0"/>
              </a:solidFill>
              <a:headEnd type="triangle"/>
              <a:tailEnd type="triangle"/>
            </a:ln>
            <a:effectLst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 Box 2">
                  <a:extLst>
                    <a:ext uri="{FF2B5EF4-FFF2-40B4-BE49-F238E27FC236}">
                      <a16:creationId xmlns:a16="http://schemas.microsoft.com/office/drawing/2014/main" id="{0C80795D-74BE-2B48-9AEB-11ACC347D01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93607" y="-13387"/>
                  <a:ext cx="370205" cy="4953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spAutoFit/>
                </a:bodyPr>
                <a:lstStyle/>
                <a:p>
                  <a:pPr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sz="12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0" name="Text Box 2">
                  <a:extLst>
                    <a:ext uri="{FF2B5EF4-FFF2-40B4-BE49-F238E27FC236}">
                      <a16:creationId xmlns:a16="http://schemas.microsoft.com/office/drawing/2014/main" id="{0C80795D-74BE-2B48-9AEB-11ACC347D0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93607" y="-13387"/>
                  <a:ext cx="370205" cy="4953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50B1731-FEB8-A74F-8D4E-4CDF663BF139}"/>
              </a:ext>
            </a:extLst>
          </p:cNvPr>
          <p:cNvGrpSpPr/>
          <p:nvPr/>
        </p:nvGrpSpPr>
        <p:grpSpPr>
          <a:xfrm>
            <a:off x="5550628" y="3556306"/>
            <a:ext cx="1572896" cy="608154"/>
            <a:chOff x="0" y="0"/>
            <a:chExt cx="1572929" cy="608154"/>
          </a:xfrm>
          <a:effectLst/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30F1CC6-9609-844D-AA04-0C99D5080078}"/>
                </a:ext>
              </a:extLst>
            </p:cNvPr>
            <p:cNvCxnSpPr/>
            <p:nvPr/>
          </p:nvCxnSpPr>
          <p:spPr>
            <a:xfrm>
              <a:off x="123052" y="62814"/>
              <a:ext cx="1268627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/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0741F2FD-6241-394A-AE31-10D54A7A4069}"/>
                </a:ext>
              </a:extLst>
            </p:cNvPr>
            <p:cNvSpPr/>
            <p:nvPr/>
          </p:nvSpPr>
          <p:spPr>
            <a:xfrm>
              <a:off x="114814" y="0"/>
              <a:ext cx="98854" cy="1235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0EB9940-C0C2-E74D-836D-040A3F0DF348}"/>
                </a:ext>
              </a:extLst>
            </p:cNvPr>
            <p:cNvSpPr/>
            <p:nvPr/>
          </p:nvSpPr>
          <p:spPr>
            <a:xfrm>
              <a:off x="1391679" y="0"/>
              <a:ext cx="98854" cy="12356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 Box 2">
                  <a:extLst>
                    <a:ext uri="{FF2B5EF4-FFF2-40B4-BE49-F238E27FC236}">
                      <a16:creationId xmlns:a16="http://schemas.microsoft.com/office/drawing/2014/main" id="{6DEEFD18-A7B2-A444-B3A8-0FC20BEF91A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0" y="79804"/>
                  <a:ext cx="370205" cy="5283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spAutoFit/>
                </a:bodyPr>
                <a:lstStyle/>
                <a:p>
                  <a:pPr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oMath>
                    </m:oMathPara>
                  </a14:m>
                  <a:endParaRPr lang="en-US" sz="20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7" name="Text Box 2">
                  <a:extLst>
                    <a:ext uri="{FF2B5EF4-FFF2-40B4-BE49-F238E27FC236}">
                      <a16:creationId xmlns:a16="http://schemas.microsoft.com/office/drawing/2014/main" id="{6DEEFD18-A7B2-A444-B3A8-0FC20BEF91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0" y="79804"/>
                  <a:ext cx="370205" cy="52835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 Box 2">
                  <a:extLst>
                    <a:ext uri="{FF2B5EF4-FFF2-40B4-BE49-F238E27FC236}">
                      <a16:creationId xmlns:a16="http://schemas.microsoft.com/office/drawing/2014/main" id="{A8FC7957-CEC2-0F4A-8245-1D38A0090DF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02724" y="71566"/>
                  <a:ext cx="370205" cy="5283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spAutoFit/>
                </a:bodyPr>
                <a:lstStyle/>
                <a:p>
                  <a:pPr>
                    <a:spcAft>
                      <a:spcPts val="10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sz="20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8" name="Text Box 2">
                  <a:extLst>
                    <a:ext uri="{FF2B5EF4-FFF2-40B4-BE49-F238E27FC236}">
                      <a16:creationId xmlns:a16="http://schemas.microsoft.com/office/drawing/2014/main" id="{A8FC7957-CEC2-0F4A-8245-1D38A0090D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02724" y="71566"/>
                  <a:ext cx="370205" cy="52835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675BD18-7475-7644-8E81-2A522A42CE5C}"/>
              </a:ext>
            </a:extLst>
          </p:cNvPr>
          <p:cNvGrpSpPr/>
          <p:nvPr/>
        </p:nvGrpSpPr>
        <p:grpSpPr>
          <a:xfrm>
            <a:off x="8373312" y="3535623"/>
            <a:ext cx="1441451" cy="624472"/>
            <a:chOff x="0" y="0"/>
            <a:chExt cx="1441622" cy="625107"/>
          </a:xfrm>
          <a:effectLst/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C7288EAE-F411-7440-9920-3D4D85ECD69B}"/>
                </a:ext>
              </a:extLst>
            </p:cNvPr>
            <p:cNvGrpSpPr/>
            <p:nvPr/>
          </p:nvGrpSpPr>
          <p:grpSpPr>
            <a:xfrm>
              <a:off x="0" y="16475"/>
              <a:ext cx="370198" cy="608632"/>
              <a:chOff x="0" y="0"/>
              <a:chExt cx="370205" cy="609085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0C6173C-5608-2542-89AA-AF7AD39219B3}"/>
                  </a:ext>
                </a:extLst>
              </p:cNvPr>
              <p:cNvSpPr/>
              <p:nvPr/>
            </p:nvSpPr>
            <p:spPr>
              <a:xfrm>
                <a:off x="114814" y="0"/>
                <a:ext cx="98854" cy="1235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Text Box 2">
                    <a:extLst>
                      <a:ext uri="{FF2B5EF4-FFF2-40B4-BE49-F238E27FC236}">
                        <a16:creationId xmlns:a16="http://schemas.microsoft.com/office/drawing/2014/main" id="{FEC14800-8346-A046-916C-8FE6130B599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0" y="79804"/>
                    <a:ext cx="370205" cy="52928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>
                    <a:sp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oMath>
                      </m:oMathPara>
                    </a14:m>
                    <a:endParaRPr lang="en-US" sz="2000" dirty="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3" name="Text Box 2">
                    <a:extLst>
                      <a:ext uri="{FF2B5EF4-FFF2-40B4-BE49-F238E27FC236}">
                        <a16:creationId xmlns:a16="http://schemas.microsoft.com/office/drawing/2014/main" id="{FEC14800-8346-A046-916C-8FE6130B59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0" y="79804"/>
                    <a:ext cx="370205" cy="529281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47B64A58-BFB7-7E43-9A2F-46725BC6DB86}"/>
                </a:ext>
              </a:extLst>
            </p:cNvPr>
            <p:cNvCxnSpPr/>
            <p:nvPr/>
          </p:nvCxnSpPr>
          <p:spPr>
            <a:xfrm>
              <a:off x="214184" y="59724"/>
              <a:ext cx="1227438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8D23D211-0C14-774A-B90F-AA12A5294CF8}"/>
                </a:ext>
              </a:extLst>
            </p:cNvPr>
            <p:cNvGrpSpPr/>
            <p:nvPr/>
          </p:nvGrpSpPr>
          <p:grpSpPr>
            <a:xfrm>
              <a:off x="840259" y="0"/>
              <a:ext cx="370205" cy="608583"/>
              <a:chOff x="0" y="0"/>
              <a:chExt cx="370212" cy="609037"/>
            </a:xfrm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3E52EED2-CF55-3146-A919-60C4DACFE933}"/>
                  </a:ext>
                </a:extLst>
              </p:cNvPr>
              <p:cNvSpPr/>
              <p:nvPr/>
            </p:nvSpPr>
            <p:spPr>
              <a:xfrm>
                <a:off x="114814" y="0"/>
                <a:ext cx="98854" cy="1235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 Box 2">
                    <a:extLst>
                      <a:ext uri="{FF2B5EF4-FFF2-40B4-BE49-F238E27FC236}">
                        <a16:creationId xmlns:a16="http://schemas.microsoft.com/office/drawing/2014/main" id="{D4BA96DA-E76D-2F4F-9B9E-918C9AB31D2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0" y="79756"/>
                    <a:ext cx="370212" cy="529281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>
                    <a:sp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oMath>
                      </m:oMathPara>
                    </a14:m>
                    <a:endParaRPr lang="en-US" sz="2000" dirty="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1" name="Text Box 2">
                    <a:extLst>
                      <a:ext uri="{FF2B5EF4-FFF2-40B4-BE49-F238E27FC236}">
                        <a16:creationId xmlns:a16="http://schemas.microsoft.com/office/drawing/2014/main" id="{D4BA96DA-E76D-2F4F-9B9E-918C9AB31D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0" y="79756"/>
                    <a:ext cx="370212" cy="529281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13333"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F7F6AB6-6FA1-8B44-9846-3E7C8FE5B52D}"/>
              </a:ext>
            </a:extLst>
          </p:cNvPr>
          <p:cNvGrpSpPr/>
          <p:nvPr/>
        </p:nvGrpSpPr>
        <p:grpSpPr>
          <a:xfrm>
            <a:off x="8537530" y="4398284"/>
            <a:ext cx="1326515" cy="441326"/>
            <a:chOff x="114812" y="16475"/>
            <a:chExt cx="1326810" cy="532394"/>
          </a:xfrm>
          <a:effectLst/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0785907-EE25-454E-B75E-B396FE525BD3}"/>
                </a:ext>
              </a:extLst>
            </p:cNvPr>
            <p:cNvGrpSpPr/>
            <p:nvPr/>
          </p:nvGrpSpPr>
          <p:grpSpPr>
            <a:xfrm>
              <a:off x="114812" y="16475"/>
              <a:ext cx="715848" cy="532394"/>
              <a:chOff x="114814" y="0"/>
              <a:chExt cx="715862" cy="532791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6AA50722-C558-BE4B-82E2-0E5598435AF1}"/>
                  </a:ext>
                </a:extLst>
              </p:cNvPr>
              <p:cNvSpPr/>
              <p:nvPr/>
            </p:nvSpPr>
            <p:spPr>
              <a:xfrm>
                <a:off x="114814" y="0"/>
                <a:ext cx="98854" cy="1235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 Box 2">
                    <a:extLst>
                      <a:ext uri="{FF2B5EF4-FFF2-40B4-BE49-F238E27FC236}">
                        <a16:creationId xmlns:a16="http://schemas.microsoft.com/office/drawing/2014/main" id="{E90A0663-5DF1-7E41-8D03-95528EB518A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60471" y="37491"/>
                    <a:ext cx="370205" cy="4953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oMath>
                      </m:oMathPara>
                    </a14:m>
                    <a:endParaRPr lang="en-US" sz="2000" dirty="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6" name="Text Box 2">
                    <a:extLst>
                      <a:ext uri="{FF2B5EF4-FFF2-40B4-BE49-F238E27FC236}">
                        <a16:creationId xmlns:a16="http://schemas.microsoft.com/office/drawing/2014/main" id="{E90A0663-5DF1-7E41-8D03-95528EB518A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60471" y="37491"/>
                    <a:ext cx="370205" cy="49530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DEE6835-7566-234F-948F-4E8516C8CC2B}"/>
                </a:ext>
              </a:extLst>
            </p:cNvPr>
            <p:cNvCxnSpPr/>
            <p:nvPr/>
          </p:nvCxnSpPr>
          <p:spPr>
            <a:xfrm>
              <a:off x="214184" y="59724"/>
              <a:ext cx="1227438" cy="0"/>
            </a:xfrm>
            <a:prstGeom prst="straightConnector1">
              <a:avLst/>
            </a:prstGeom>
            <a:ln w="38100">
              <a:solidFill>
                <a:srgbClr val="FF00FF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847493" y="5055014"/>
                <a:ext cx="10331664" cy="1477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When naming a line segment, the line segment symbol should be used; however, when giving the length of a line segment, the symbol should not be used.</a:t>
                </a:r>
              </a:p>
              <a:p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/>
                          </a:rPr>
                          <m:t>𝑇𝑀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           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𝑇𝑀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 </m:t>
                    </m:r>
                    <m:r>
                      <a:rPr lang="en-US" sz="2000" i="1">
                        <a:latin typeface="Cambria Math"/>
                      </a:rPr>
                      <m:t>12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millimeters</a:t>
                </a:r>
                <a:endParaRPr lang="en-PH" sz="20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93" y="5055014"/>
                <a:ext cx="10331664" cy="1477328"/>
              </a:xfrm>
              <a:prstGeom prst="rect">
                <a:avLst/>
              </a:prstGeom>
              <a:blipFill>
                <a:blip r:embed="rId15"/>
                <a:stretch>
                  <a:fillRect l="-590" t="-2058" b="-61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Google Shape;282;g104476d1465_1_17">
            <a:extLst>
              <a:ext uri="{FF2B5EF4-FFF2-40B4-BE49-F238E27FC236}">
                <a16:creationId xmlns:a16="http://schemas.microsoft.com/office/drawing/2014/main" id="{3554F0DC-0008-0DE0-DD8B-7E3FB92940D1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5599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69795" y="520393"/>
                <a:ext cx="10247971" cy="3939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54013" indent="-354013"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𝑅𝐾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shown. Use a ruler to measure the line 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segment in centimeters.</a:t>
                </a:r>
              </a:p>
              <a:p>
                <a:pPr lvl="5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					  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𝑅𝐾</m:t>
                    </m:r>
                    <m:r>
                      <a:rPr lang="en-US" sz="2400" i="1" dirty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______ cm      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patty paper to copy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𝐿𝐷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Then, draw line segment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𝑋𝑁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with the same length as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𝐿𝐷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795" y="520393"/>
                <a:ext cx="10247971" cy="3939540"/>
              </a:xfrm>
              <a:prstGeom prst="rect">
                <a:avLst/>
              </a:prstGeom>
              <a:blipFill>
                <a:blip r:embed="rId4"/>
                <a:stretch>
                  <a:fillRect l="-952" t="-1391" r="-892" b="-23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285F77CB-5FF9-E743-9AA8-B4C11C925C98}"/>
              </a:ext>
            </a:extLst>
          </p:cNvPr>
          <p:cNvSpPr/>
          <p:nvPr/>
        </p:nvSpPr>
        <p:spPr>
          <a:xfrm>
            <a:off x="0" y="2926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28F8F6-6F78-B240-82A2-0BB1851DBEBB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7036" b="7982"/>
          <a:stretch/>
        </p:blipFill>
        <p:spPr>
          <a:xfrm>
            <a:off x="1601239" y="1443277"/>
            <a:ext cx="4494761" cy="6904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CBD944-CC7F-2C4E-90ED-C2ABF94F8123}"/>
              </a:ext>
            </a:extLst>
          </p:cNvPr>
          <p:cNvPicPr/>
          <p:nvPr/>
        </p:nvPicPr>
        <p:blipFill rotWithShape="1">
          <a:blip r:embed="rId6"/>
          <a:srcRect t="35601" b="14671"/>
          <a:stretch/>
        </p:blipFill>
        <p:spPr>
          <a:xfrm>
            <a:off x="1569234" y="5045593"/>
            <a:ext cx="6003522" cy="57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58644" y="400256"/>
                <a:ext cx="10270273" cy="5063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1200"/>
                  </a:spcAft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Follow these steps to draw a copy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𝐿𝐷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a compass.</a:t>
                </a:r>
              </a:p>
              <a:p>
                <a:pPr marL="80645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𝐶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This will be one endpoint of the new line segment.</a:t>
                </a:r>
              </a:p>
              <a:p>
                <a:pPr marL="80645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Set the compass’ point on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𝐿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marL="80645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Adjust the compass’ width to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𝐷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so the compass’ width is equal to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𝐿𝐷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80645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Without changing the compass’ width, place the compass’ point 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𝐶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draw an arc roughly where the other endpoint will be. </a:t>
                </a:r>
              </a:p>
              <a:p>
                <a:pPr marL="80645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Pick a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𝑀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arc that will be the other endpoint of the new line segment.</a:t>
                </a:r>
              </a:p>
              <a:p>
                <a:pPr marL="80645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 line segment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𝐶𝑀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a straightedge.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44" y="400256"/>
                <a:ext cx="10270273" cy="5063694"/>
              </a:xfrm>
              <a:prstGeom prst="rect">
                <a:avLst/>
              </a:prstGeom>
              <a:blipFill>
                <a:blip r:embed="rId4"/>
                <a:stretch>
                  <a:fillRect l="-950" t="-1084" r="-1068" b="-18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B29BDED-917F-0645-8F07-B04061D83C61}"/>
              </a:ext>
            </a:extLst>
          </p:cNvPr>
          <p:cNvSpPr/>
          <p:nvPr/>
        </p:nvSpPr>
        <p:spPr>
          <a:xfrm>
            <a:off x="0" y="2926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847493" y="400256"/>
            <a:ext cx="94120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</a:t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to show that the two </a:t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toothpicks are congruent </a:t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using each method in the </a:t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table. Then, write a brief </a:t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explanation for each </a:t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method.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564D90-7227-0148-9FA7-E705F22505C9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7023" y="288745"/>
            <a:ext cx="4357878" cy="3062674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1992B91-3BA1-C242-89E4-C791ED95A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848588"/>
              </p:ext>
            </p:extLst>
          </p:nvPr>
        </p:nvGraphicFramePr>
        <p:xfrm>
          <a:off x="1654055" y="3780089"/>
          <a:ext cx="8280000" cy="21600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240000">
                  <a:extLst>
                    <a:ext uri="{9D8B030D-6E8A-4147-A177-3AD203B41FA5}">
                      <a16:colId xmlns:a16="http://schemas.microsoft.com/office/drawing/2014/main" val="2242000192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71902384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Transformation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29299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Patty Paper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560465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Compass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6893901"/>
                  </a:ext>
                </a:extLst>
              </a:tr>
            </a:tbl>
          </a:graphicData>
        </a:graphic>
      </p:graphicFrame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91F90173-EF1F-D4C8-10DC-34E5AEE28471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086A69BC-1E40-9B18-F8E0-A2DBD4BAB75C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141ED73E-1012-2E65-5A6D-33478D2F47D2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41598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69796" y="2634890"/>
                <a:ext cx="10459844" cy="26176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54013" indent="-354013">
                  <a:buFont typeface="+mj-lt"/>
                  <a:buAutoNum type="arabicPeriod" startAt="5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𝐾𝐶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𝑌𝐶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shown.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spcAft>
                    <a:spcPts val="1200"/>
                  </a:spcAft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>
                  <a:spcAft>
                    <a:spcPts val="1200"/>
                  </a:spcAft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how aligning a ruler with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𝐾𝐶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illustrates the ruler postulate. Summarize your discussion.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796" y="2634890"/>
                <a:ext cx="10459844" cy="2617640"/>
              </a:xfrm>
              <a:prstGeom prst="rect">
                <a:avLst/>
              </a:prstGeom>
              <a:blipFill>
                <a:blip r:embed="rId4"/>
                <a:stretch>
                  <a:fillRect l="-932" t="-2093" b="-41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B29BDED-917F-0645-8F07-B04061D83C61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28D625-D56B-3F45-963E-E65476ED7325}"/>
              </a:ext>
            </a:extLst>
          </p:cNvPr>
          <p:cNvPicPr/>
          <p:nvPr/>
        </p:nvPicPr>
        <p:blipFill rotWithShape="1">
          <a:blip r:embed="rId5"/>
          <a:srcRect t="26053" b="17081"/>
          <a:stretch/>
        </p:blipFill>
        <p:spPr>
          <a:xfrm>
            <a:off x="2354672" y="3679490"/>
            <a:ext cx="7398929" cy="528439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650ECF3-DFB3-CF48-8374-116047F81E7C}"/>
              </a:ext>
            </a:extLst>
          </p:cNvPr>
          <p:cNvSpPr/>
          <p:nvPr/>
        </p:nvSpPr>
        <p:spPr>
          <a:xfrm>
            <a:off x="1932433" y="327958"/>
            <a:ext cx="8402469" cy="2010044"/>
          </a:xfrm>
          <a:prstGeom prst="roundRect">
            <a:avLst>
              <a:gd name="adj" fmla="val 16667"/>
            </a:avLst>
          </a:prstGeom>
          <a:solidFill>
            <a:srgbClr val="B8E6F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72000" rIns="91425" bIns="0" anchor="ctr" anchorCtr="0">
            <a:spAutoFit/>
          </a:bodyPr>
          <a:lstStyle/>
          <a:p>
            <a:pPr marL="628650">
              <a:spcAft>
                <a:spcPts val="600"/>
              </a:spcAft>
            </a:pPr>
            <a:r>
              <a:rPr lang="en-US" sz="2000" b="1" dirty="0">
                <a:solidFill>
                  <a:srgbClr val="0075B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Ruler Postulate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28650">
              <a:spcAft>
                <a:spcPts val="1000"/>
              </a:spcAft>
            </a:pPr>
            <a:r>
              <a:rPr lang="en-US" sz="2000" dirty="0">
                <a:solidFill>
                  <a:srgbClr val="0075B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points of a line can be placed in a one-to-one correspondence with the real numbers such that the distance between two distinct points is the absolute value of the difference of the corresponding real numbers.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1" name="image15.png" descr="Icon&#10;&#10;Description automatically generated">
            <a:extLst>
              <a:ext uri="{FF2B5EF4-FFF2-40B4-BE49-F238E27FC236}">
                <a16:creationId xmlns:a16="http://schemas.microsoft.com/office/drawing/2014/main" id="{0FC1F12F-256C-7C4C-9875-C92EAEE7E9E8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080352" y="668419"/>
            <a:ext cx="548640" cy="54853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0971A73F-50C8-513B-AD22-63D2D3DC81E8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3368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58644" y="326030"/>
                <a:ext cx="10292576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a ruler to measure each line segment. Include units.</a:t>
                </a:r>
              </a:p>
              <a:p>
                <a:pPr marL="9144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𝐾𝑌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______	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𝑌𝐶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______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𝐾𝐶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______</a:t>
                </a:r>
              </a:p>
              <a:p>
                <a:pPr marL="9144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𝐾𝑌</m:t>
                    </m:r>
                    <m:r>
                      <a:rPr lang="en-US" sz="2400" i="1">
                        <a:latin typeface="Cambria Math"/>
                      </a:rPr>
                      <m:t>+</m:t>
                    </m:r>
                    <m:r>
                      <a:rPr lang="en-US" sz="2400" i="1">
                        <a:latin typeface="Cambria Math"/>
                      </a:rPr>
                      <m:t>𝑌𝐶</m:t>
                    </m:r>
                    <m:r>
                      <a:rPr lang="en-US" sz="2400" i="1">
                        <a:latin typeface="Cambria Math"/>
                      </a:rPr>
                      <m:t>=</m:t>
                    </m:r>
                    <m:r>
                      <a:rPr lang="en-US" sz="2400" i="1">
                        <a:latin typeface="Cambria Math"/>
                      </a:rPr>
                      <m:t>𝐾𝐶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should be true.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44" y="326030"/>
                <a:ext cx="10292576" cy="3785652"/>
              </a:xfrm>
              <a:prstGeom prst="rect">
                <a:avLst/>
              </a:prstGeom>
              <a:blipFill>
                <a:blip r:embed="rId4"/>
                <a:stretch>
                  <a:fillRect t="-1288" r="-652" b="-2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C0CDF43A-983B-1916-5198-25C30CE5EAEC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9425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764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387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47493" y="2815058"/>
                <a:ext cx="10292575" cy="33855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54013" indent="-354013">
                  <a:buFont typeface="+mj-lt"/>
                  <a:buAutoNum type="arabicPeriod" startAt="6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/>
                          </a:rPr>
                          <m:t>𝐾𝑊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/>
                          </a:rPr>
                          <m:t>𝑊𝑇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shown,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𝐾𝑊</m:t>
                    </m:r>
                    <m:r>
                      <a:rPr lang="en-US" sz="2000" i="1">
                        <a:latin typeface="Cambria Math"/>
                      </a:rPr>
                      <m:t>=4</m:t>
                    </m:r>
                    <m:r>
                      <a:rPr lang="en-US" sz="2000" i="1">
                        <a:latin typeface="Cambria Math"/>
                      </a:rPr>
                      <m:t>𝑥</m:t>
                    </m:r>
                    <m:r>
                      <a:rPr lang="en-US" sz="2000" i="1">
                        <a:latin typeface="Cambria Math"/>
                      </a:rPr>
                      <m:t>−7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</a:t>
                </a:r>
              </a:p>
              <a:p>
                <a:pPr marL="354013" indent="103188"/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𝑊𝑇</m:t>
                    </m:r>
                    <m:r>
                      <a:rPr lang="en-US" sz="2000" i="1">
                        <a:latin typeface="Cambria Math"/>
                      </a:rPr>
                      <m:t>=23.5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𝐾𝑇</m:t>
                    </m:r>
                    <m:r>
                      <a:rPr lang="en-US" sz="2000" i="1">
                        <a:latin typeface="Cambria Math"/>
                      </a:rPr>
                      <m:t>=7</m:t>
                    </m:r>
                    <m:r>
                      <a:rPr lang="en-US" sz="2000" i="1">
                        <a:latin typeface="Cambria Math"/>
                      </a:rPr>
                      <m:t>𝑥</m:t>
                    </m:r>
                    <m:r>
                      <a:rPr lang="en-US" sz="2000" i="1">
                        <a:latin typeface="Cambria Math"/>
                      </a:rPr>
                      <m:t>−3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/>
                          </a:rPr>
                          <m:t>𝐾𝑊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342900" indent="-342900">
                  <a:buFont typeface="+mj-lt"/>
                  <a:buAutoNum type="alphaLcPeriod"/>
                </a:pPr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93" y="2815058"/>
                <a:ext cx="10292575" cy="3385542"/>
              </a:xfrm>
              <a:prstGeom prst="rect">
                <a:avLst/>
              </a:prstGeom>
              <a:blipFill>
                <a:blip r:embed="rId4"/>
                <a:stretch>
                  <a:fillRect l="-652" t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3CE6D98B-1AC7-304B-B959-DC432D18D84B}"/>
              </a:ext>
            </a:extLst>
          </p:cNvPr>
          <p:cNvGrpSpPr/>
          <p:nvPr/>
        </p:nvGrpSpPr>
        <p:grpSpPr>
          <a:xfrm>
            <a:off x="1932432" y="327958"/>
            <a:ext cx="8327136" cy="3342700"/>
            <a:chOff x="1710162" y="961991"/>
            <a:chExt cx="8327136" cy="334511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9350B23-96B6-E845-977B-AC52B983ECB9}"/>
                </a:ext>
              </a:extLst>
            </p:cNvPr>
            <p:cNvSpPr/>
            <p:nvPr/>
          </p:nvSpPr>
          <p:spPr>
            <a:xfrm>
              <a:off x="2031300" y="3252877"/>
              <a:ext cx="6629400" cy="1054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20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AA7459B-8E1B-B34B-B4C5-14B720A776FB}"/>
                </a:ext>
              </a:extLst>
            </p:cNvPr>
            <p:cNvGrpSpPr/>
            <p:nvPr/>
          </p:nvGrpSpPr>
          <p:grpSpPr>
            <a:xfrm>
              <a:off x="1710162" y="961991"/>
              <a:ext cx="8327136" cy="3345111"/>
              <a:chOff x="1710162" y="961991"/>
              <a:chExt cx="8327136" cy="3345111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49E1E3D-2977-0B4F-B00D-2D9C028390F4}"/>
                  </a:ext>
                </a:extLst>
              </p:cNvPr>
              <p:cNvSpPr/>
              <p:nvPr/>
            </p:nvSpPr>
            <p:spPr>
              <a:xfrm>
                <a:off x="2031300" y="3252877"/>
                <a:ext cx="6629400" cy="1054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E01E2110-AC1D-3E4A-8735-D6465326E2F6}"/>
                  </a:ext>
                </a:extLst>
              </p:cNvPr>
              <p:cNvGrpSpPr/>
              <p:nvPr/>
            </p:nvGrpSpPr>
            <p:grpSpPr>
              <a:xfrm>
                <a:off x="1710162" y="961991"/>
                <a:ext cx="8327136" cy="3345111"/>
                <a:chOff x="1710162" y="961991"/>
                <a:chExt cx="8327136" cy="3345111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4E887FFC-DD7D-7146-B8F4-C8B62CCC8008}"/>
                    </a:ext>
                  </a:extLst>
                </p:cNvPr>
                <p:cNvSpPr/>
                <p:nvPr/>
              </p:nvSpPr>
              <p:spPr>
                <a:xfrm>
                  <a:off x="2031300" y="3252877"/>
                  <a:ext cx="6629400" cy="10542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858367F2-7E9F-E949-9790-C96285A68FCA}"/>
                    </a:ext>
                  </a:extLst>
                </p:cNvPr>
                <p:cNvGrpSpPr/>
                <p:nvPr/>
              </p:nvGrpSpPr>
              <p:grpSpPr>
                <a:xfrm>
                  <a:off x="1710162" y="961991"/>
                  <a:ext cx="8327136" cy="3345111"/>
                  <a:chOff x="1710162" y="961991"/>
                  <a:chExt cx="8327136" cy="3345111"/>
                </a:xfrm>
              </p:grpSpPr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D62A8C9E-1647-3742-8606-79E3CE9336C8}"/>
                      </a:ext>
                    </a:extLst>
                  </p:cNvPr>
                  <p:cNvSpPr/>
                  <p:nvPr/>
                </p:nvSpPr>
                <p:spPr>
                  <a:xfrm>
                    <a:off x="2031300" y="3252877"/>
                    <a:ext cx="6629400" cy="10542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 </a:t>
                    </a:r>
                  </a:p>
                </p:txBody>
              </p:sp>
              <p:grpSp>
                <p:nvGrpSpPr>
                  <p:cNvPr id="16" name="Group 15">
                    <a:extLst>
                      <a:ext uri="{FF2B5EF4-FFF2-40B4-BE49-F238E27FC236}">
                        <a16:creationId xmlns:a16="http://schemas.microsoft.com/office/drawing/2014/main" id="{50391B67-00BB-E84C-A1A9-EC74D9BE59FA}"/>
                      </a:ext>
                    </a:extLst>
                  </p:cNvPr>
                  <p:cNvGrpSpPr/>
                  <p:nvPr/>
                </p:nvGrpSpPr>
                <p:grpSpPr>
                  <a:xfrm>
                    <a:off x="1710162" y="961991"/>
                    <a:ext cx="8327136" cy="3345111"/>
                    <a:chOff x="1710162" y="961991"/>
                    <a:chExt cx="8327136" cy="3345111"/>
                  </a:xfrm>
                </p:grpSpPr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A855F523-5B57-654C-832D-4247DAD02A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31300" y="3252877"/>
                      <a:ext cx="6629400" cy="10542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>
                        <a:spcAft>
                          <a:spcPts val="1000"/>
                        </a:spcAft>
                      </a:pPr>
                      <a:r>
                        <a:rPr lang="en-US" sz="1200"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p:txBody>
                </p:sp>
                <p:grpSp>
                  <p:nvGrpSpPr>
                    <p:cNvPr id="18" name="Group 17">
                      <a:extLst>
                        <a:ext uri="{FF2B5EF4-FFF2-40B4-BE49-F238E27FC236}">
                          <a16:creationId xmlns:a16="http://schemas.microsoft.com/office/drawing/2014/main" id="{A262D13E-5E9B-6F42-ABDE-0CCDC4E469F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10162" y="961991"/>
                      <a:ext cx="8327136" cy="3345105"/>
                      <a:chOff x="1710162" y="1012305"/>
                      <a:chExt cx="8327136" cy="3285383"/>
                    </a:xfrm>
                  </p:grpSpPr>
                  <p:sp>
                    <p:nvSpPr>
                      <p:cNvPr id="19" name="Rectangle 18">
                        <a:extLst>
                          <a:ext uri="{FF2B5EF4-FFF2-40B4-BE49-F238E27FC236}">
                            <a16:creationId xmlns:a16="http://schemas.microsoft.com/office/drawing/2014/main" id="{C36CE825-FC2A-B548-82C6-48803ABD1A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31300" y="3262288"/>
                        <a:ext cx="6629400" cy="103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>
                          <a:spcAft>
                            <a:spcPts val="1000"/>
                          </a:spcAft>
                        </a:pPr>
                        <a:r>
                          <a:rPr lang="en-US" sz="1200"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a:t> </a:t>
                        </a:r>
                      </a:p>
                    </p:txBody>
                  </p:sp>
                  <p:grpSp>
                    <p:nvGrpSpPr>
                      <p:cNvPr id="20" name="Group 19">
                        <a:extLst>
                          <a:ext uri="{FF2B5EF4-FFF2-40B4-BE49-F238E27FC236}">
                            <a16:creationId xmlns:a16="http://schemas.microsoft.com/office/drawing/2014/main" id="{5B4167BD-58F9-F74C-9F65-5088AF1A37D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10162" y="1012305"/>
                        <a:ext cx="8327136" cy="3285383"/>
                        <a:chOff x="1710162" y="1123617"/>
                        <a:chExt cx="8327136" cy="3285383"/>
                      </a:xfrm>
                    </p:grpSpPr>
                    <p:sp>
                      <p:nvSpPr>
                        <p:cNvPr id="21" name="Rectangle 20">
                          <a:extLst>
                            <a:ext uri="{FF2B5EF4-FFF2-40B4-BE49-F238E27FC236}">
                              <a16:creationId xmlns:a16="http://schemas.microsoft.com/office/drawing/2014/main" id="{04376FEC-E211-2644-A87D-035D40D5E5E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31300" y="3373600"/>
                          <a:ext cx="6629400" cy="1035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latin typeface="Cambria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p:txBody>
                    </p:sp>
                    <p:grpSp>
                      <p:nvGrpSpPr>
                        <p:cNvPr id="22" name="Group 21">
                          <a:extLst>
                            <a:ext uri="{FF2B5EF4-FFF2-40B4-BE49-F238E27FC236}">
                              <a16:creationId xmlns:a16="http://schemas.microsoft.com/office/drawing/2014/main" id="{3F6AC5B8-923A-FD45-91B4-A4F201AB5D0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10162" y="1123617"/>
                          <a:ext cx="8327136" cy="3062783"/>
                          <a:chOff x="1710162" y="1123617"/>
                          <a:chExt cx="8327136" cy="3062783"/>
                        </a:xfrm>
                      </p:grpSpPr>
                      <p:sp>
                        <p:nvSpPr>
                          <p:cNvPr id="23" name="Rectangle 22">
                            <a:extLst>
                              <a:ext uri="{FF2B5EF4-FFF2-40B4-BE49-F238E27FC236}">
                                <a16:creationId xmlns:a16="http://schemas.microsoft.com/office/drawing/2014/main" id="{D01AE761-4EAB-E241-AEA1-0F529BE8EB7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031300" y="3373600"/>
                            <a:ext cx="6629400" cy="8128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>
                              <a:spcAft>
                                <a:spcPts val="1000"/>
                              </a:spcAft>
                            </a:pPr>
                            <a:r>
                              <a:rPr lang="en-US" sz="1200">
                                <a:latin typeface="Cambria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 </a:t>
                            </a:r>
                          </a:p>
                        </p:txBody>
                      </p:sp>
                      <p:grpSp>
                        <p:nvGrpSpPr>
                          <p:cNvPr id="24" name="Group 23">
                            <a:extLst>
                              <a:ext uri="{FF2B5EF4-FFF2-40B4-BE49-F238E27FC236}">
                                <a16:creationId xmlns:a16="http://schemas.microsoft.com/office/drawing/2014/main" id="{05E10262-C15F-2646-A82B-10D6D4A6129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10162" y="1123617"/>
                            <a:ext cx="8327136" cy="3062783"/>
                            <a:chOff x="-321138" y="-2249983"/>
                            <a:chExt cx="8327136" cy="3062783"/>
                          </a:xfrm>
                        </p:grpSpPr>
                        <p:sp>
                          <p:nvSpPr>
                            <p:cNvPr id="25" name="Rectangle 24">
                              <a:extLst>
                                <a:ext uri="{FF2B5EF4-FFF2-40B4-BE49-F238E27FC236}">
                                  <a16:creationId xmlns:a16="http://schemas.microsoft.com/office/drawing/2014/main" id="{EA3C39F0-9591-8F41-AE7E-3D64B0EBE65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0" y="0"/>
                              <a:ext cx="6629400" cy="8128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>
                                <a:spcAft>
                                  <a:spcPts val="1000"/>
                                </a:spcAft>
                              </a:pPr>
                              <a:r>
                                <a:rPr lang="en-US" sz="1200">
                                  <a:latin typeface="Cambria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 </a:t>
                              </a:r>
                            </a:p>
                          </p:txBody>
                        </p:sp>
                        <p:sp>
                          <p:nvSpPr>
                            <p:cNvPr id="26" name="Rounded Rectangle 25">
                              <a:extLst>
                                <a:ext uri="{FF2B5EF4-FFF2-40B4-BE49-F238E27FC236}">
                                  <a16:creationId xmlns:a16="http://schemas.microsoft.com/office/drawing/2014/main" id="{862D88E1-014B-6E41-B914-3E7D5B77C35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-321138" y="-2249983"/>
                              <a:ext cx="8327136" cy="553189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rgbClr val="E2EED5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72000" rIns="91425" bIns="0" anchor="ctr" anchorCtr="0">
                              <a:spAutoFit/>
                            </a:bodyPr>
                            <a:lstStyle/>
                            <a:p>
                              <a:pPr marL="171450">
                                <a:spcAft>
                                  <a:spcPts val="1000"/>
                                </a:spcAft>
                              </a:pPr>
                              <a:r>
                                <a:rPr lang="en-US" sz="2000" dirty="0">
                                  <a:solidFill>
                                    <a:srgbClr val="6C993D"/>
                                  </a:solidFill>
                                  <a:latin typeface="Verdana" panose="020B0604030504040204" pitchFamily="34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a:t>Points on the same line are called </a:t>
                              </a:r>
                              <a:r>
                                <a:rPr lang="en-US" sz="2000" b="1" i="1" dirty="0">
                                  <a:solidFill>
                                    <a:srgbClr val="6C993D"/>
                                  </a:solidFill>
                                  <a:latin typeface="Verdana" panose="020B0604030504040204" pitchFamily="34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a:t>collinear points</a:t>
                              </a:r>
                              <a:r>
                                <a:rPr lang="en-US" sz="2000" dirty="0">
                                  <a:solidFill>
                                    <a:srgbClr val="6C993D"/>
                                  </a:solidFill>
                                  <a:latin typeface="Verdana" panose="020B0604030504040204" pitchFamily="34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a:t>. </a:t>
                              </a:r>
                              <a:endParaRPr lang="en-US" sz="2000" dirty="0">
                                <a:latin typeface="Verdana" panose="020B0604030504040204" pitchFamily="34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endParaRPr>
                            </a:p>
                          </p:txBody>
                        </p:sp>
                      </p:grpSp>
                    </p:grpSp>
                  </p:grpSp>
                </p:grpSp>
              </p:grpSp>
            </p:grpSp>
          </p:grp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61FB2D5-E7FD-2A49-8D9F-EA4C6C46FDF5}"/>
              </a:ext>
            </a:extLst>
          </p:cNvPr>
          <p:cNvGrpSpPr/>
          <p:nvPr/>
        </p:nvGrpSpPr>
        <p:grpSpPr>
          <a:xfrm>
            <a:off x="1932432" y="1106656"/>
            <a:ext cx="8280000" cy="1779777"/>
            <a:chOff x="0" y="-1193785"/>
            <a:chExt cx="7548663" cy="1779777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7B06C6C-9361-1E45-A54E-E18C188095AF}"/>
                </a:ext>
              </a:extLst>
            </p:cNvPr>
            <p:cNvGrpSpPr/>
            <p:nvPr/>
          </p:nvGrpSpPr>
          <p:grpSpPr>
            <a:xfrm>
              <a:off x="0" y="-1193785"/>
              <a:ext cx="7548663" cy="1779777"/>
              <a:chOff x="2031300" y="2193023"/>
              <a:chExt cx="7548663" cy="1779777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EB442E9D-2462-824B-9F56-34B40AE45175}"/>
                  </a:ext>
                </a:extLst>
              </p:cNvPr>
              <p:cNvGrpSpPr/>
              <p:nvPr/>
            </p:nvGrpSpPr>
            <p:grpSpPr>
              <a:xfrm>
                <a:off x="2031300" y="2193023"/>
                <a:ext cx="7548663" cy="1779777"/>
                <a:chOff x="0" y="-1193785"/>
                <a:chExt cx="7548663" cy="1779777"/>
              </a:xfrm>
            </p:grpSpPr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B87C9DDF-BB7B-B341-929D-03E134F8B6E2}"/>
                    </a:ext>
                  </a:extLst>
                </p:cNvPr>
                <p:cNvSpPr/>
                <p:nvPr/>
              </p:nvSpPr>
              <p:spPr>
                <a:xfrm>
                  <a:off x="0" y="200383"/>
                  <a:ext cx="6629400" cy="38560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72000" rIns="91425" bIns="0" anchor="ctr" anchorCtr="0">
                  <a:sp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5B2D08ED-34E5-1447-B986-8EC9CAFB2048}"/>
                    </a:ext>
                  </a:extLst>
                </p:cNvPr>
                <p:cNvSpPr/>
                <p:nvPr/>
              </p:nvSpPr>
              <p:spPr>
                <a:xfrm>
                  <a:off x="0" y="200383"/>
                  <a:ext cx="6629400" cy="38560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72000" rIns="91425" bIns="0" anchor="ctr" anchorCtr="0">
                  <a:sp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3" name="Rounded Rectangle 32">
                      <a:extLst>
                        <a:ext uri="{FF2B5EF4-FFF2-40B4-BE49-F238E27FC236}">
                          <a16:creationId xmlns:a16="http://schemas.microsoft.com/office/drawing/2014/main" id="{64AA64F9-3C75-874C-9353-F7F58361CD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-1193785"/>
                      <a:ext cx="7548663" cy="1385759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B8E6F5"/>
                    </a:solid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spcFirstLastPara="1" wrap="square" lIns="91425" tIns="72000" rIns="91425" bIns="0" anchor="ctr" anchorCtr="0">
                      <a:spAutoFit/>
                    </a:bodyPr>
                    <a:lstStyle/>
                    <a:p>
                      <a:pPr marL="742950"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solidFill>
                            <a:srgbClr val="00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Segment Addition Postulate</a:t>
                      </a: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742950" marR="486410">
                        <a:spcAft>
                          <a:spcPts val="1000"/>
                        </a:spcAft>
                      </a:pPr>
                      <a:r>
                        <a:rPr lang="en-US" sz="2000" dirty="0">
                          <a:solidFill>
                            <a:srgbClr val="00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If points </a:t>
                      </a:r>
                      <a14:m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00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𝐴</m:t>
                          </m:r>
                        </m:oMath>
                      </a14:m>
                      <a:r>
                        <a:rPr lang="en-US" sz="2000" dirty="0">
                          <a:solidFill>
                            <a:srgbClr val="00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, </a:t>
                      </a:r>
                      <a14:m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00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𝑋</m:t>
                          </m:r>
                        </m:oMath>
                      </a14:m>
                      <a:r>
                        <a:rPr lang="en-US" sz="2000" dirty="0">
                          <a:solidFill>
                            <a:srgbClr val="00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, and </a:t>
                      </a:r>
                      <a14:m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00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𝐵</m:t>
                          </m:r>
                        </m:oMath>
                      </a14:m>
                      <a:r>
                        <a:rPr lang="en-US" sz="2000" dirty="0">
                          <a:solidFill>
                            <a:srgbClr val="00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are collinear points and point </a:t>
                      </a:r>
                      <a14:m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00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𝑋</m:t>
                          </m:r>
                        </m:oMath>
                      </a14:m>
                      <a:r>
                        <a:rPr lang="en-US" sz="2000" dirty="0">
                          <a:solidFill>
                            <a:srgbClr val="00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is between points </a:t>
                      </a:r>
                      <a14:m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00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𝐴</m:t>
                          </m:r>
                        </m:oMath>
                      </a14:m>
                      <a:r>
                        <a:rPr lang="en-US" sz="2000" dirty="0">
                          <a:solidFill>
                            <a:srgbClr val="00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and </a:t>
                      </a:r>
                      <a14:m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00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𝐵</m:t>
                          </m:r>
                        </m:oMath>
                      </a14:m>
                      <a:r>
                        <a:rPr lang="en-US" sz="2000" dirty="0">
                          <a:solidFill>
                            <a:srgbClr val="00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, then </a:t>
                      </a:r>
                      <a14:m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00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𝐴𝑋</m:t>
                          </m:r>
                          <m:r>
                            <a:rPr lang="en-US" sz="2000" i="1">
                              <a:solidFill>
                                <a:srgbClr val="00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+</m:t>
                          </m:r>
                          <m:r>
                            <a:rPr lang="en-US" sz="2000" i="1">
                              <a:solidFill>
                                <a:srgbClr val="00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𝑋𝐵</m:t>
                          </m:r>
                          <m:r>
                            <a:rPr lang="en-US" sz="2000" i="1">
                              <a:solidFill>
                                <a:srgbClr val="00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=</m:t>
                          </m:r>
                          <m:r>
                            <a:rPr lang="en-US" sz="2000" i="1">
                              <a:solidFill>
                                <a:srgbClr val="00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𝐴𝐵</m:t>
                          </m:r>
                        </m:oMath>
                      </a14:m>
                      <a:r>
                        <a:rPr lang="en-US" sz="2000" dirty="0">
                          <a:solidFill>
                            <a:srgbClr val="00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.</a:t>
                      </a:r>
                      <a:endPara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3" name="Rounded Rectangle 32">
                      <a:extLst>
                        <a:ext uri="{FF2B5EF4-FFF2-40B4-BE49-F238E27FC236}">
                          <a16:creationId xmlns:a16="http://schemas.microsoft.com/office/drawing/2014/main" xmlns:a14="http://schemas.microsoft.com/office/drawing/2010/main" xmlns="" id="{64AA64F9-3C75-874C-9353-F7F58361CD0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0" y="-1193785"/>
                      <a:ext cx="7548663" cy="1385759"/>
                    </a:xfrm>
                    <a:prstGeom prst="roundRect">
                      <a:avLst>
                        <a:gd name="adj" fmla="val 16667"/>
                      </a:avLst>
                    </a:prstGeom>
                    <a:blipFill rotWithShape="1">
                      <a:blip r:embed="rId5"/>
                      <a:stretch>
                        <a:fillRect/>
                      </a:stretch>
                    </a:blip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/>
                    <a:lstStyle/>
                    <a:p>
                      <a:r>
                        <a:rPr lang="en-PH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29" name="image15.png" descr="Icon&#10;&#10;Description automatically generated">
              <a:extLst>
                <a:ext uri="{FF2B5EF4-FFF2-40B4-BE49-F238E27FC236}">
                  <a16:creationId xmlns:a16="http://schemas.microsoft.com/office/drawing/2014/main" id="{2A3AE01E-7267-3B4C-A725-4F7B2B80AE81}"/>
                </a:ext>
              </a:extLst>
            </p:cNvPr>
            <p:cNvPicPr/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47917" y="-820946"/>
              <a:ext cx="583544" cy="640080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D1F452B4-3D0E-904D-A3FB-AFC9B0458C60}"/>
              </a:ext>
            </a:extLst>
          </p:cNvPr>
          <p:cNvPicPr/>
          <p:nvPr/>
        </p:nvPicPr>
        <p:blipFill rotWithShape="1">
          <a:blip r:embed="rId7"/>
          <a:srcRect t="21924" b="18671"/>
          <a:stretch/>
        </p:blipFill>
        <p:spPr>
          <a:xfrm>
            <a:off x="2460163" y="3702432"/>
            <a:ext cx="6325235" cy="571500"/>
          </a:xfrm>
          <a:prstGeom prst="rect">
            <a:avLst/>
          </a:prstGeom>
        </p:spPr>
      </p:pic>
      <p:sp>
        <p:nvSpPr>
          <p:cNvPr id="35" name="Google Shape;278;g104476d1465_1_17">
            <a:extLst>
              <a:ext uri="{FF2B5EF4-FFF2-40B4-BE49-F238E27FC236}">
                <a16:creationId xmlns:a16="http://schemas.microsoft.com/office/drawing/2014/main" id="{AF6F556C-76EC-F706-A968-5796CC2ED4E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4548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6102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5495" y="620387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991495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83112" y="-26807"/>
            <a:ext cx="1023682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1.8.3 Guided Practice: Segment Addition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3888" y="217747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847494" y="1386025"/>
                <a:ext cx="9935736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54013" indent="-354013"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𝑌𝐵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𝐵𝑊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𝑊𝐻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shown, where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𝑌𝐵</m:t>
                    </m:r>
                    <m:r>
                      <a:rPr lang="en-US" sz="2400" i="1">
                        <a:latin typeface="Cambria Math"/>
                      </a:rPr>
                      <m:t>=2</m:t>
                    </m:r>
                    <m:r>
                      <a:rPr lang="en-US" sz="2400" i="1"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𝐵𝑊</m:t>
                    </m:r>
                    <m:r>
                      <a:rPr lang="en-US" sz="2400" i="1">
                        <a:latin typeface="Cambria Math"/>
                      </a:rPr>
                      <m:t>=</m:t>
                    </m:r>
                    <m:r>
                      <a:rPr lang="en-US" sz="2400" i="1">
                        <a:latin typeface="Cambria Math"/>
                      </a:rPr>
                      <m:t>𝑥</m:t>
                    </m:r>
                    <m:r>
                      <a:rPr lang="en-US" sz="2400" i="1">
                        <a:latin typeface="Cambria Math"/>
                      </a:rPr>
                      <m:t>+4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𝑊𝐻</m:t>
                    </m:r>
                    <m:r>
                      <a:rPr lang="en-US" sz="2400" i="1">
                        <a:latin typeface="Cambria Math"/>
                      </a:rPr>
                      <m:t>=3</m:t>
                    </m:r>
                    <m:r>
                      <a:rPr lang="en-US" sz="2400" i="1">
                        <a:latin typeface="Cambria Math"/>
                      </a:rPr>
                      <m:t>𝑥</m:t>
                    </m:r>
                    <m:r>
                      <a:rPr lang="en-US" sz="2400" i="1">
                        <a:latin typeface="Cambria Math"/>
                      </a:rPr>
                      <m:t>−1,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𝐵𝐻</m:t>
                    </m:r>
                    <m:r>
                      <a:rPr lang="en-US" sz="2400" i="1">
                        <a:latin typeface="Cambria Math"/>
                      </a:rPr>
                      <m:t>=35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the value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𝑌𝑊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  <a:endParaRPr lang="en-US" sz="16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94" y="1386025"/>
                <a:ext cx="9935736" cy="4154984"/>
              </a:xfrm>
              <a:prstGeom prst="rect">
                <a:avLst/>
              </a:prstGeom>
              <a:blipFill>
                <a:blip r:embed="rId5"/>
                <a:stretch>
                  <a:fillRect l="-920" t="-1320" b="-21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https://s3.amazonaws.com/algebranation/digitaltextbook_uploads/FD99F86EE5AF9654B30469A48163D6EF.pn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079" b="11125"/>
          <a:stretch/>
        </p:blipFill>
        <p:spPr bwMode="auto">
          <a:xfrm>
            <a:off x="1832796" y="2637821"/>
            <a:ext cx="7753350" cy="651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FE9DB68E-C947-CE6A-757E-94AA58F491CB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47493" y="689608"/>
                <a:ext cx="10270273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Points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𝐾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𝐿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𝑀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𝑁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collinear such that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𝐾𝑀</m:t>
                    </m:r>
                    <m:r>
                      <a:rPr lang="en-US" sz="2400" i="1">
                        <a:latin typeface="Cambria Math"/>
                      </a:rPr>
                      <m:t>=</m:t>
                    </m:r>
                    <m:r>
                      <a:rPr lang="en-US" sz="2400" i="1">
                        <a:latin typeface="Cambria Math"/>
                      </a:rPr>
                      <m:t>𝐿𝑁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 a diagram that represents points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𝐾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𝐿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𝑀</m:t>
                    </m:r>
                    <m:r>
                      <a:rPr lang="en-US" sz="2400" i="1">
                        <a:latin typeface="Cambria Math"/>
                      </a:rPr>
                      <m:t>,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𝑁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Compare your diagram with your partner. Discuss whether or not the diagrams drawn must all be the same. Summarize your discussion.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the value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𝐾𝑀</m:t>
                    </m:r>
                    <m:r>
                      <a:rPr lang="en-US" sz="2400" i="1">
                        <a:latin typeface="Cambria Math"/>
                      </a:rPr>
                      <m:t>=6</m:t>
                    </m:r>
                    <m:r>
                      <a:rPr lang="en-US" sz="2400" i="1">
                        <a:latin typeface="Cambria Math"/>
                      </a:rPr>
                      <m:t>𝑥</m:t>
                    </m:r>
                    <m:r>
                      <a:rPr lang="en-US" sz="2400" i="1">
                        <a:latin typeface="Cambria Math"/>
                      </a:rPr>
                      <m:t>−6.2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𝐿𝑁</m:t>
                    </m:r>
                    <m:r>
                      <a:rPr lang="en-US" sz="2400" i="1">
                        <a:latin typeface="Cambria Math"/>
                      </a:rPr>
                      <m:t>=5</m:t>
                    </m:r>
                    <m:r>
                      <a:rPr lang="en-US" sz="2400" i="1">
                        <a:latin typeface="Cambria Math"/>
                      </a:rPr>
                      <m:t>𝑥</m:t>
                    </m:r>
                    <m:r>
                      <a:rPr lang="en-US" sz="2400" i="1">
                        <a:latin typeface="Cambria Math"/>
                      </a:rPr>
                      <m:t>−2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 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Using the information from c, determine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𝐾𝑀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93" y="689608"/>
                <a:ext cx="10270273" cy="4154984"/>
              </a:xfrm>
              <a:prstGeom prst="rect">
                <a:avLst/>
              </a:prstGeom>
              <a:blipFill>
                <a:blip r:embed="rId4"/>
                <a:stretch>
                  <a:fillRect l="-890" t="-1320" r="-890" b="-21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FB1382F-1C07-8740-BDE5-F4BA6E302FE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91551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767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45474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3171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94262" y="-10553"/>
            <a:ext cx="103419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1.8.4 Try It: Ocean to Lake Florida Trail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96359" y="645756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D93CCF23-305F-4542-AFD2-A48933A9E42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DD9058F5-1E80-FE4F-8E0F-5664E6710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1866" y="277393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Google Shape;311;g104476d1465_1_39">
            <a:extLst>
              <a:ext uri="{FF2B5EF4-FFF2-40B4-BE49-F238E27FC236}">
                <a16:creationId xmlns:a16="http://schemas.microsoft.com/office/drawing/2014/main" id="{BA85708A-928D-9938-7051-589A1AD6DA5E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767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C5C30B-A416-29ED-17E8-890B81E623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2824" y="932043"/>
            <a:ext cx="6174725" cy="571471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C082B22-6D29-BB3E-D4EE-3C7CF36D7474}"/>
              </a:ext>
            </a:extLst>
          </p:cNvPr>
          <p:cNvSpPr/>
          <p:nvPr/>
        </p:nvSpPr>
        <p:spPr>
          <a:xfrm>
            <a:off x="3550024" y="4988859"/>
            <a:ext cx="2191870" cy="5378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767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474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91AC6BBB-5763-8341-B240-C23FCD1B4259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2D92FD6-1FDE-624D-9EFB-EDCA01A3EF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931874"/>
              </p:ext>
            </p:extLst>
          </p:nvPr>
        </p:nvGraphicFramePr>
        <p:xfrm>
          <a:off x="1833246" y="999000"/>
          <a:ext cx="7560000" cy="48600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4320000">
                  <a:extLst>
                    <a:ext uri="{9D8B030D-6E8A-4147-A177-3AD203B41FA5}">
                      <a16:colId xmlns:a16="http://schemas.microsoft.com/office/drawing/2014/main" val="1493740944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954271120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99695" marR="0" indent="5715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Hike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Distance (miles)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622306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Little Gopher Camp to South Grade Road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0529795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South Grade Road to Hole-in-the-wall Cypress Strand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3995556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Hole-in-the-wall Cypress Strand to Bowman Island Camp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2455967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858643" y="288746"/>
            <a:ext cx="103594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085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chart.</a:t>
            </a:r>
          </a:p>
        </p:txBody>
      </p:sp>
    </p:spTree>
    <p:extLst>
      <p:ext uri="{BB962C8B-B14F-4D97-AF65-F5344CB8AC3E}">
        <p14:creationId xmlns:p14="http://schemas.microsoft.com/office/powerpoint/2010/main" val="19183854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4476d1465_1_17"/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505415" y="196886"/>
            <a:ext cx="9790770" cy="701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1.8.5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8115" y="17408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858644" y="1061565"/>
            <a:ext cx="10270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Create an example of the segment Addition Postulate and show the steps to finding the total length.</a:t>
            </a:r>
          </a:p>
        </p:txBody>
      </p:sp>
      <p:sp>
        <p:nvSpPr>
          <p:cNvPr id="21" name="Google Shape;278;g104476d1465_1_17">
            <a:extLst>
              <a:ext uri="{FF2B5EF4-FFF2-40B4-BE49-F238E27FC236}">
                <a16:creationId xmlns:a16="http://schemas.microsoft.com/office/drawing/2014/main" id="{816B35B3-4CB9-F7A1-6BED-6123D2DD1BD9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1443</TotalTime>
  <Words>1091</Words>
  <Application>Microsoft Macintosh PowerPoint</Application>
  <PresentationFormat>Widescreen</PresentationFormat>
  <Paragraphs>193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Wingdings</vt:lpstr>
      <vt:lpstr>Verdana</vt:lpstr>
      <vt:lpstr>Arial</vt:lpstr>
      <vt:lpstr>Cambria</vt:lpstr>
      <vt:lpstr>Century Gothic</vt:lpstr>
      <vt:lpstr>Calibri</vt:lpstr>
      <vt:lpstr>Arial Black</vt:lpstr>
      <vt:lpstr>Cambria Math</vt:lpstr>
      <vt:lpstr>1_Office Theme</vt:lpstr>
      <vt:lpstr>Geometry  Unit 1, Lesson 8  Line Segments  Volume 1, pg. 53  </vt:lpstr>
      <vt:lpstr>Benchmarks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Try It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Diana Barnett</cp:lastModifiedBy>
  <cp:revision>36</cp:revision>
  <dcterms:created xsi:type="dcterms:W3CDTF">2015-03-17T18:51:18Z</dcterms:created>
  <dcterms:modified xsi:type="dcterms:W3CDTF">2023-03-01T16:13:43Z</dcterms:modified>
</cp:coreProperties>
</file>