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3" r:id="rId11"/>
    <p:sldId id="332" r:id="rId12"/>
    <p:sldId id="336" r:id="rId13"/>
    <p:sldId id="337" r:id="rId14"/>
    <p:sldId id="317" r:id="rId15"/>
    <p:sldId id="318" r:id="rId16"/>
    <p:sldId id="335" r:id="rId17"/>
    <p:sldId id="319" r:id="rId18"/>
    <p:sldId id="329" r:id="rId19"/>
    <p:sldId id="330" r:id="rId20"/>
    <p:sldId id="331" r:id="rId21"/>
    <p:sldId id="323" r:id="rId22"/>
    <p:sldId id="324" r:id="rId23"/>
    <p:sldId id="302" r:id="rId24"/>
    <p:sldId id="303" r:id="rId25"/>
    <p:sldId id="309" r:id="rId26"/>
    <p:sldId id="306" r:id="rId27"/>
    <p:sldId id="307" r:id="rId28"/>
  </p:sldIdLst>
  <p:sldSz cx="12192000" cy="6858000"/>
  <p:notesSz cx="6858000" cy="9144000"/>
  <p:embeddedFontLst>
    <p:embeddedFont>
      <p:font typeface="Arial Black" panose="020B06040202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57"/>
    <p:restoredTop sz="94694"/>
  </p:normalViewPr>
  <p:slideViewPr>
    <p:cSldViewPr snapToGrid="0">
      <p:cViewPr varScale="1">
        <p:scale>
          <a:sx n="117" d="100"/>
          <a:sy n="117" d="100"/>
        </p:scale>
        <p:origin x="115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71282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019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01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019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09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if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4" Type="http://schemas.openxmlformats.org/officeDocument/2006/relationships/image" Target="../media/image4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Perpendicular Bisectors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1850" y="-5138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81057" y="645223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02200" y="1279567"/>
            <a:ext cx="96687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MA.912.GR.1.1</a:t>
            </a:r>
          </a:p>
          <a:p>
            <a:pPr marL="466725" indent="0">
              <a:buSzPts val="1100"/>
              <a:buNone/>
            </a:pPr>
            <a:r>
              <a:rPr lang="en-US" sz="36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</a:t>
            </a:r>
            <a:r>
              <a:rPr lang="en-US" sz="360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postulates, relationships, and theorems of lines and angles.</a:t>
            </a:r>
          </a:p>
          <a:p>
            <a:pPr marL="0" indent="0">
              <a:buSzPts val="1100"/>
              <a:buNone/>
            </a:pPr>
            <a:endParaRPr lang="en-US" sz="35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MA.912.GR.5.2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the bisector of a segment or an angle, including the perpendicular bisector of a line segment.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64" y="20901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4" y="0"/>
            <a:ext cx="101556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99464" y="1442013"/>
            <a:ext cx="954082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DB0CE1B7-D8BC-06DB-5254-14B085295B03}"/>
              </a:ext>
            </a:extLst>
          </p:cNvPr>
          <p:cNvSpPr txBox="1"/>
          <p:nvPr/>
        </p:nvSpPr>
        <p:spPr>
          <a:xfrm>
            <a:off x="8981057" y="645223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4E7512AC-7E63-7B9B-97E0-A016FB16397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996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892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8227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2200" y="1303318"/>
            <a:ext cx="96805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construct a perpendicular bisector.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rigid transformations to show that any triangle formed by drawing two segments from the endpoints of a segment to a point on its perpendicular bisector is isosceles.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properties of a perpendicular bisector to solve problems.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B5E42176-BD68-C6E0-ACED-61F63E162B7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82275" y="64540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844AAE4-5AE1-3490-3A23-80240E4B9A5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038" y="-8225"/>
            <a:ext cx="102031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1.11.1 Warm-Up: Compare Areas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69" y="2809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8227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19396" y="1386025"/>
                <a:ext cx="1031965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𝐶𝐴𝑇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isosceles right triangle.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inscribed figure has the greatest area? Justify your choice.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6" y="1386025"/>
                <a:ext cx="10319659" cy="4524315"/>
              </a:xfrm>
              <a:prstGeom prst="rect">
                <a:avLst/>
              </a:prstGeom>
              <a:blipFill>
                <a:blip r:embed="rId4"/>
                <a:stretch>
                  <a:fillRect l="-886" t="-1211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90329" y="2085975"/>
            <a:ext cx="56673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7D29369-EA04-30DA-2EAC-FD5086568710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82275" y="645647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9428162-2DFC-B64A-9910-988C5D28DE7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01287" y="-72638"/>
            <a:ext cx="10226863" cy="178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1.11.2 Exploration: Constructing Perpendicular Bisectors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8227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231" y="340739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855023" y="1538932"/>
                <a:ext cx="10226863" cy="4895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steps shown to construct the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1: Set the compass point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open the compass to a width approximately two-thirds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2: Without changing the width of the compass, draw an arc above and below the line centered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1538932"/>
                <a:ext cx="10226863" cy="4895186"/>
              </a:xfrm>
              <a:prstGeom prst="rect">
                <a:avLst/>
              </a:prstGeom>
              <a:blipFill>
                <a:blip r:embed="rId4"/>
                <a:stretch>
                  <a:fillRect l="-894" t="-996" r="-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806718AF-0744-6F65-6691-B68C11691EB0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DD209548-B3A4-BC76-D485-67BBA7B4BDD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5014" y="645631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8" y="520394"/>
                <a:ext cx="10295907" cy="3787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3: Repeat Steps 1 and 2 to create an arc centered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4: Mark the two points of intersections of the arcs 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Draw a line creating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intersects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Step 5: Label the point of intersection for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  <m:r>
                      <m:rPr>
                        <m:nor/>
                      </m:rPr>
                      <a:rPr lang="en-US" sz="240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and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520394"/>
                <a:ext cx="10295907" cy="3787191"/>
              </a:xfrm>
              <a:prstGeom prst="rect">
                <a:avLst/>
              </a:prstGeom>
              <a:blipFill>
                <a:blip r:embed="rId3"/>
                <a:stretch>
                  <a:fillRect t="-1286" b="-2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D4E07E-6CBC-B143-8C14-3BF2ABBBC5E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57192" y="4574981"/>
            <a:ext cx="6135752" cy="1383808"/>
          </a:xfrm>
          <a:prstGeom prst="rect">
            <a:avLst/>
          </a:prstGeom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57D1B6FD-38C3-F24F-2242-B0F397515D8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55023" y="374089"/>
            <a:ext cx="10284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a protractor and ruler to find each of the measurements.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5883D5F-28D3-AA41-A511-33007BA5D3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2174311"/>
                  </p:ext>
                </p:extLst>
              </p:nvPr>
            </p:nvGraphicFramePr>
            <p:xfrm>
              <a:off x="1483882" y="1149087"/>
              <a:ext cx="8396388" cy="455982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26616">
                      <a:extLst>
                        <a:ext uri="{9D8B030D-6E8A-4147-A177-3AD203B41FA5}">
                          <a16:colId xmlns:a16="http://schemas.microsoft.com/office/drawing/2014/main" val="2321492862"/>
                        </a:ext>
                      </a:extLst>
                    </a:gridCol>
                    <a:gridCol w="2544360">
                      <a:extLst>
                        <a:ext uri="{9D8B030D-6E8A-4147-A177-3AD203B41FA5}">
                          <a16:colId xmlns:a16="http://schemas.microsoft.com/office/drawing/2014/main" val="188322878"/>
                        </a:ext>
                      </a:extLst>
                    </a:gridCol>
                    <a:gridCol w="1781052">
                      <a:extLst>
                        <a:ext uri="{9D8B030D-6E8A-4147-A177-3AD203B41FA5}">
                          <a16:colId xmlns:a16="http://schemas.microsoft.com/office/drawing/2014/main" val="2975659253"/>
                        </a:ext>
                      </a:extLst>
                    </a:gridCol>
                    <a:gridCol w="2544360">
                      <a:extLst>
                        <a:ext uri="{9D8B030D-6E8A-4147-A177-3AD203B41FA5}">
                          <a16:colId xmlns:a16="http://schemas.microsoft.com/office/drawing/2014/main" val="3852415170"/>
                        </a:ext>
                      </a:extLst>
                    </a:gridCol>
                  </a:tblGrid>
                  <a:tr h="732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495288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𝐴𝑋𝐷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𝐴𝐵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7223949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𝐴𝑋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5310373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𝐴𝑋𝐶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𝐵𝑋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7776100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𝐶𝐵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9547780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𝐵𝑋𝐷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𝐷𝐵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4953217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𝐶𝐴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3318642"/>
                      </a:ext>
                    </a:extLst>
                  </a:tr>
                  <a:tr h="5467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400">
                                    <a:effectLst/>
                                    <a:latin typeface="Cambria Math"/>
                                  </a:rPr>
                                  <m:t>𝐵𝑋𝐶</m:t>
                                </m:r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/>
                                      </a:rPr>
                                      <m:t>𝐷𝐴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6107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5883D5F-28D3-AA41-A511-33007BA5D3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2174311"/>
                  </p:ext>
                </p:extLst>
              </p:nvPr>
            </p:nvGraphicFramePr>
            <p:xfrm>
              <a:off x="1483882" y="1149087"/>
              <a:ext cx="8396388" cy="455982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26616">
                      <a:extLst>
                        <a:ext uri="{9D8B030D-6E8A-4147-A177-3AD203B41FA5}">
                          <a16:colId xmlns:a16="http://schemas.microsoft.com/office/drawing/2014/main" val="2321492862"/>
                        </a:ext>
                      </a:extLst>
                    </a:gridCol>
                    <a:gridCol w="2544360">
                      <a:extLst>
                        <a:ext uri="{9D8B030D-6E8A-4147-A177-3AD203B41FA5}">
                          <a16:colId xmlns:a16="http://schemas.microsoft.com/office/drawing/2014/main" val="188322878"/>
                        </a:ext>
                      </a:extLst>
                    </a:gridCol>
                    <a:gridCol w="1781052">
                      <a:extLst>
                        <a:ext uri="{9D8B030D-6E8A-4147-A177-3AD203B41FA5}">
                          <a16:colId xmlns:a16="http://schemas.microsoft.com/office/drawing/2014/main" val="2975659253"/>
                        </a:ext>
                      </a:extLst>
                    </a:gridCol>
                    <a:gridCol w="2544360">
                      <a:extLst>
                        <a:ext uri="{9D8B030D-6E8A-4147-A177-3AD203B41FA5}">
                          <a16:colId xmlns:a16="http://schemas.microsoft.com/office/drawing/2014/main" val="3852415170"/>
                        </a:ext>
                      </a:extLst>
                    </a:gridCol>
                  </a:tblGrid>
                  <a:tr h="73257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6495288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" t="-67222" r="-449801" b="-25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134444" r="-143836" b="-6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47223949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234444" r="-143836" b="-5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5310373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" t="-167222" r="-449801" b="-15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334444" r="-143836" b="-4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7776100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434444" r="-143836" b="-3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79547780"/>
                      </a:ext>
                    </a:extLst>
                  </a:tr>
                  <a:tr h="54675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" t="-268715" r="-449801" b="-5139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540449" r="-143836" b="-2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4953217"/>
                      </a:ext>
                    </a:extLst>
                  </a:tr>
                  <a:tr h="54675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633333" r="-143836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83318642"/>
                      </a:ext>
                    </a:extLst>
                  </a:tr>
                  <a:tr h="5467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" t="-733333" r="-449801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110" t="-733333" r="-143836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610776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F5CC175B-01FF-A5D7-305C-49AF527DAA2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6CACC47-525F-CBD3-E349-47D556D4E6F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831272" y="374089"/>
                <a:ext cx="10319657" cy="4899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57200">
                  <a:lnSpc>
                    <a:spcPct val="3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angle formed by the line of intersection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	     	      . The perpendicular bisector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divides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into	  congruent parts.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 the perpendicular bisector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add three points labeled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different places.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2" y="374089"/>
                <a:ext cx="10319657" cy="4899033"/>
              </a:xfrm>
              <a:prstGeom prst="rect">
                <a:avLst/>
              </a:prstGeom>
              <a:blipFill>
                <a:blip r:embed="rId3"/>
                <a:stretch>
                  <a:fillRect l="-886" t="-995" b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D2E366E-1369-3E4D-A055-DCCF9C7C5EBB}"/>
                  </a:ext>
                </a:extLst>
              </p:cNvPr>
              <p:cNvSpPr/>
              <p:nvPr/>
            </p:nvSpPr>
            <p:spPr>
              <a:xfrm>
                <a:off x="1392037" y="1944336"/>
                <a:ext cx="1005840" cy="1104067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85°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90°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28600" indent="-22860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105°</m:t>
                    </m:r>
                  </m:oMath>
                </a14:m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D2E366E-1369-3E4D-A055-DCCF9C7C5E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37" y="1944336"/>
                <a:ext cx="1005840" cy="1104067"/>
              </a:xfrm>
              <a:prstGeom prst="roundRect">
                <a:avLst/>
              </a:prstGeom>
              <a:blipFill>
                <a:blip r:embed="rId4"/>
                <a:stretch>
                  <a:fillRect b="-6557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20">
                <a:extLst>
                  <a:ext uri="{FF2B5EF4-FFF2-40B4-BE49-F238E27FC236}">
                    <a16:creationId xmlns:a16="http://schemas.microsoft.com/office/drawing/2014/main" id="{7EA93992-9DFB-794C-AE5B-943F6DED8C3A}"/>
                  </a:ext>
                </a:extLst>
              </p:cNvPr>
              <p:cNvSpPr/>
              <p:nvPr/>
            </p:nvSpPr>
            <p:spPr>
              <a:xfrm>
                <a:off x="9815187" y="1981603"/>
                <a:ext cx="701675" cy="1066800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28600" indent="-22860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20">
                <a:extLst>
                  <a:ext uri="{FF2B5EF4-FFF2-40B4-BE49-F238E27FC236}">
                    <a16:creationId xmlns:a16="http://schemas.microsoft.com/office/drawing/2014/main" id="{7EA93992-9DFB-794C-AE5B-943F6DED8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5187" y="1981603"/>
                <a:ext cx="701675" cy="1066800"/>
              </a:xfrm>
              <a:prstGeom prst="roundRect">
                <a:avLst/>
              </a:prstGeom>
              <a:blipFill>
                <a:blip r:embed="rId5"/>
                <a:stretch>
                  <a:fillRect l="-2564" b="-8475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6C8B0CC7-25A9-E797-F348-E58DAAFD4FBF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B28290E-8655-4E41-E2E6-DE81D4DC657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4EEC6CCE-1A9D-98C6-CB73-97791097B014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058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90649" y="374090"/>
            <a:ext cx="102484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a ruler, measure the length of each line segment.</a:t>
            </a: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conjecture about the endpoints of a line segment and any point on its perpendicular bisector.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7A61261-A57D-974C-A632-48E75247F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883084"/>
                  </p:ext>
                </p:extLst>
              </p:nvPr>
            </p:nvGraphicFramePr>
            <p:xfrm>
              <a:off x="2971737" y="1027921"/>
              <a:ext cx="5486400" cy="3200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100116925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50463584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99102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𝑄𝐴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50497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𝑄𝐵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87351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𝑅𝐴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55654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𝑅𝐵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92826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𝑆𝐴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849891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𝑆𝐵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66688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C7A61261-A57D-974C-A632-48E75247F0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883084"/>
                  </p:ext>
                </p:extLst>
              </p:nvPr>
            </p:nvGraphicFramePr>
            <p:xfrm>
              <a:off x="2971737" y="1027921"/>
              <a:ext cx="5486400" cy="32004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100116925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50463584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Segment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Length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991029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101333" r="-100222" b="-5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750497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201333" r="-100222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87351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297368" r="-100222" b="-298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55654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402667" r="-100222" b="-2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92826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502667" r="-10022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849891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2" t="-602667" r="-1002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666885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FAFE44C-F3AA-859E-FC32-40C8ED883DFA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BD7B7AB5-12AC-83E3-D845-1DA4B823082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7819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2275" y="64540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43147" y="374090"/>
            <a:ext cx="10307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Share your conjecture with a partner. Summarize your partner’s conjecture and have them initial that your summary is correct.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BC41BC-7B6C-A046-A7D1-5ADCFFCB2C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30728"/>
              </p:ext>
            </p:extLst>
          </p:nvPr>
        </p:nvGraphicFramePr>
        <p:xfrm>
          <a:off x="2033742" y="1947055"/>
          <a:ext cx="7335889" cy="4146209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5513008">
                  <a:extLst>
                    <a:ext uri="{9D8B030D-6E8A-4147-A177-3AD203B41FA5}">
                      <a16:colId xmlns:a16="http://schemas.microsoft.com/office/drawing/2014/main" val="3511257184"/>
                    </a:ext>
                  </a:extLst>
                </a:gridCol>
                <a:gridCol w="1822881">
                  <a:extLst>
                    <a:ext uri="{9D8B030D-6E8A-4147-A177-3AD203B41FA5}">
                      <a16:colId xmlns:a16="http://schemas.microsoft.com/office/drawing/2014/main" val="330428691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4254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Conjecture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Partner’s Initials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35298"/>
                  </a:ext>
                </a:extLst>
              </a:tr>
              <a:tr h="323180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960910"/>
                  </a:ext>
                </a:extLst>
              </a:tr>
            </a:tbl>
          </a:graphicData>
        </a:graphic>
      </p:graphicFrame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B83D5ADA-95A9-6FC6-3346-835B651C08E8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7938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81087" y="64540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26712D2-1E46-11F5-05C7-2B94348CBA7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13163" y="83127"/>
            <a:ext cx="9995568" cy="116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1.11.3 Activity: Perpendicular Bisectors and Triangles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3277" y="26213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843148" y="1527695"/>
                <a:ext cx="9544436" cy="2309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PH" sz="2400" i="1">
                            <a:latin typeface="Cambria Math"/>
                            <a:ea typeface="Verdana" panose="020B0604030504040204" pitchFamily="34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its perpendicular bisector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accPr>
                      <m:e>
                        <m:r>
                          <a:rPr lang="en-PH" sz="2400" i="1">
                            <a:latin typeface="Cambria Math"/>
                            <a:ea typeface="Verdana" panose="020B0604030504040204" pitchFamily="34" charset="0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patty paper.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𝐵𝐷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Make a conjecture about</a:t>
                </a:r>
                <a14:m>
                  <m:oMath xmlns:m="http://schemas.openxmlformats.org/officeDocument/2006/math">
                    <m:r>
                      <a:rPr lang="en-PH" sz="2400">
                        <a:latin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𝐴𝐷𝐸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𝐵𝐷𝐸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527695"/>
                <a:ext cx="9544436" cy="2309863"/>
              </a:xfrm>
              <a:prstGeom prst="rect">
                <a:avLst/>
              </a:prstGeom>
              <a:blipFill>
                <a:blip r:embed="rId4"/>
                <a:stretch>
                  <a:fillRect l="-958" t="-2375" b="-4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274384-6D96-984A-8A32-66A86393A00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5BB2BC-5199-3842-A2EC-90C4CF1C4A9E}"/>
              </a:ext>
            </a:extLst>
          </p:cNvPr>
          <p:cNvPicPr/>
          <p:nvPr/>
        </p:nvPicPr>
        <p:blipFill rotWithShape="1">
          <a:blip r:embed="rId5"/>
          <a:srcRect r="8910" b="3689"/>
          <a:stretch/>
        </p:blipFill>
        <p:spPr>
          <a:xfrm>
            <a:off x="8765835" y="1905550"/>
            <a:ext cx="2866644" cy="352111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1C60ECD-A741-024B-A161-0F38C50FF3BF}"/>
              </a:ext>
            </a:extLst>
          </p:cNvPr>
          <p:cNvGrpSpPr/>
          <p:nvPr/>
        </p:nvGrpSpPr>
        <p:grpSpPr>
          <a:xfrm>
            <a:off x="1193085" y="5227256"/>
            <a:ext cx="7820301" cy="885349"/>
            <a:chOff x="2031299" y="3416765"/>
            <a:chExt cx="7820301" cy="8373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5D29CD5-B8B9-2141-887A-C297B5DE77FC}"/>
                </a:ext>
              </a:extLst>
            </p:cNvPr>
            <p:cNvGrpSpPr/>
            <p:nvPr/>
          </p:nvGrpSpPr>
          <p:grpSpPr>
            <a:xfrm>
              <a:off x="2031299" y="3416765"/>
              <a:ext cx="7820301" cy="837341"/>
              <a:chOff x="2031299" y="3416765"/>
              <a:chExt cx="7820301" cy="83734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45C118B-CDA5-E044-836A-722115B7C1D1}"/>
                  </a:ext>
                </a:extLst>
              </p:cNvPr>
              <p:cNvSpPr/>
              <p:nvPr/>
            </p:nvSpPr>
            <p:spPr>
              <a:xfrm>
                <a:off x="2031300" y="3605361"/>
                <a:ext cx="6629400" cy="34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40" rIns="91425" bIns="91440" anchor="ctr" anchorCtr="0">
                <a:sp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A790B4F-D06C-7E4C-B9D1-3B6D68BAA25C}"/>
                  </a:ext>
                </a:extLst>
              </p:cNvPr>
              <p:cNvGrpSpPr/>
              <p:nvPr/>
            </p:nvGrpSpPr>
            <p:grpSpPr>
              <a:xfrm>
                <a:off x="2031299" y="3416765"/>
                <a:ext cx="7820301" cy="837341"/>
                <a:chOff x="-1" y="43165"/>
                <a:chExt cx="7820301" cy="83734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340829F-CA88-ED48-9EB2-839C57257180}"/>
                    </a:ext>
                  </a:extLst>
                </p:cNvPr>
                <p:cNvSpPr/>
                <p:nvPr/>
              </p:nvSpPr>
              <p:spPr>
                <a:xfrm>
                  <a:off x="0" y="231761"/>
                  <a:ext cx="6629400" cy="3492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84CACCAE-B666-8542-A758-B59AA28093C2}"/>
                    </a:ext>
                  </a:extLst>
                </p:cNvPr>
                <p:cNvSpPr/>
                <p:nvPr/>
              </p:nvSpPr>
              <p:spPr>
                <a:xfrm>
                  <a:off x="-1" y="43165"/>
                  <a:ext cx="7820301" cy="83734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5800"/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right triangle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is a triangle containing an interior right angle.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  <p:pic>
              <p:nvPicPr>
                <p:cNvPr id="20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8B29A566-F7EB-BE4D-838D-97A40CB8F17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08065" y="157736"/>
                  <a:ext cx="566928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21" name="Google Shape;283;g104476d1465_1_17">
            <a:extLst>
              <a:ext uri="{FF2B5EF4-FFF2-40B4-BE49-F238E27FC236}">
                <a16:creationId xmlns:a16="http://schemas.microsoft.com/office/drawing/2014/main" id="{E6BCF7CB-EA07-FBB7-5C3B-FF447BE2C474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F8A20541-11D1-EC80-F85E-BF4E6C22F9D3}"/>
              </a:ext>
            </a:extLst>
          </p:cNvPr>
          <p:cNvSpPr txBox="1"/>
          <p:nvPr/>
        </p:nvSpPr>
        <p:spPr>
          <a:xfrm>
            <a:off x="8981087" y="64540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831273" y="512044"/>
                <a:ext cx="10284032" cy="1939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Reflect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𝐴𝐷𝐸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over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the reflection shows is true about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𝐴𝐷𝐸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𝐵𝐷𝐸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512044"/>
                <a:ext cx="10284032" cy="1939762"/>
              </a:xfrm>
              <a:prstGeom prst="rect">
                <a:avLst/>
              </a:prstGeom>
              <a:blipFill>
                <a:blip r:embed="rId4"/>
                <a:stretch>
                  <a:fillRect l="-889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A609B6-2FD3-F249-9E14-D0E492804DC5}"/>
              </a:ext>
            </a:extLst>
          </p:cNvPr>
          <p:cNvGrpSpPr/>
          <p:nvPr/>
        </p:nvGrpSpPr>
        <p:grpSpPr>
          <a:xfrm>
            <a:off x="1505197" y="4178228"/>
            <a:ext cx="7820300" cy="1031191"/>
            <a:chOff x="2031300" y="3373600"/>
            <a:chExt cx="7820300" cy="103156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A8A7C23-D6E8-6046-B955-8A04944016EE}"/>
                </a:ext>
              </a:extLst>
            </p:cNvPr>
            <p:cNvGrpSpPr/>
            <p:nvPr/>
          </p:nvGrpSpPr>
          <p:grpSpPr>
            <a:xfrm>
              <a:off x="2031300" y="3373600"/>
              <a:ext cx="7820300" cy="1031566"/>
              <a:chOff x="2031300" y="3373600"/>
              <a:chExt cx="7820300" cy="103156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5BAB52C-F725-C444-9067-9A128859CBE3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3CEE693-FBD9-594C-B932-2DCCA50C7026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7820300" cy="1031566"/>
                <a:chOff x="0" y="0"/>
                <a:chExt cx="7820300" cy="1031566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624D293-165B-654F-9ACF-24F2F446B62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E6CA8665-5EFC-1046-A922-377CBBD244FA}"/>
                    </a:ext>
                  </a:extLst>
                </p:cNvPr>
                <p:cNvSpPr/>
                <p:nvPr/>
              </p:nvSpPr>
              <p:spPr>
                <a:xfrm>
                  <a:off x="0" y="145895"/>
                  <a:ext cx="7820300" cy="88567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5800"/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An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isosceles triangle</a:t>
                  </a:r>
                  <a:r>
                    <a:rPr lang="en-US" sz="20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contains at least two equal length sides and two equal interior angle measures.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pic>
              <p:nvPicPr>
                <p:cNvPr id="21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4B220E0D-4669-B44E-B0D6-F69E6E9D7345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90926" y="257706"/>
                  <a:ext cx="608405" cy="608405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740863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843148" y="337514"/>
                <a:ext cx="10295907" cy="4680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63550">
                  <a:lnSpc>
                    <a:spcPct val="30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</a:rPr>
                      <m:t>Δ</m:t>
                    </m:r>
                    <m:r>
                      <a:rPr lang="en-US" sz="2400" i="1">
                        <a:latin typeface="Cambria Math"/>
                      </a:rPr>
                      <m:t>𝐴𝐵𝐷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∠</m:t>
                    </m:r>
                    <m:r>
                      <a:rPr lang="en-US" sz="2400" i="1">
                        <a:latin typeface="Cambria Math"/>
                      </a:rPr>
                      <m:t>𝐷𝐴𝐵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congruent to             because a reflection is a rigid motion that preserves angle measure. 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∠</m:t>
                    </m:r>
                    <m:r>
                      <a:rPr lang="en-US" sz="2400" i="1">
                        <a:latin typeface="Cambria Math"/>
                      </a:rPr>
                      <m:t>𝐷𝐴𝐵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congruent to             and 			      by definition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/>
                      </a:rPr>
                      <m:t>Δ</m:t>
                    </m:r>
                    <m:r>
                      <a:rPr lang="en-US" sz="2400" i="1">
                        <a:latin typeface="Cambria Math"/>
                      </a:rPr>
                      <m:t>𝐴𝐵𝐷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a(n)                     triangle.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337514"/>
                <a:ext cx="10295907" cy="4680448"/>
              </a:xfrm>
              <a:prstGeom prst="rect">
                <a:avLst/>
              </a:prstGeom>
              <a:blipFill>
                <a:blip r:embed="rId3"/>
                <a:stretch>
                  <a:fillRect l="-888" t="-1042" r="-533" b="-1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FA8216EE-488F-0B46-A674-98E7CEF1691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7">
                <a:extLst>
                  <a:ext uri="{FF2B5EF4-FFF2-40B4-BE49-F238E27FC236}">
                    <a16:creationId xmlns:a16="http://schemas.microsoft.com/office/drawing/2014/main" id="{4AD03416-A80A-2249-866D-2380039D2A2C}"/>
                  </a:ext>
                </a:extLst>
              </p:cNvPr>
              <p:cNvSpPr/>
              <p:nvPr/>
            </p:nvSpPr>
            <p:spPr>
              <a:xfrm>
                <a:off x="6187188" y="1085679"/>
                <a:ext cx="1218750" cy="783193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 algn="ctr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𝐴𝐷𝐵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 indent="-228600" algn="ctr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𝐷𝐵𝐴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: Rounded Corners 7">
                <a:extLst>
                  <a:ext uri="{FF2B5EF4-FFF2-40B4-BE49-F238E27FC236}">
                    <a16:creationId xmlns:a16="http://schemas.microsoft.com/office/drawing/2014/main" id="{4AD03416-A80A-2249-866D-2380039D2A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188" y="1085679"/>
                <a:ext cx="1218750" cy="783193"/>
              </a:xfrm>
              <a:prstGeom prst="roundRect">
                <a:avLst/>
              </a:prstGeom>
              <a:blipFill>
                <a:blip r:embed="rId4"/>
                <a:stretch>
                  <a:fillRect b="-992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8">
                <a:extLst>
                  <a:ext uri="{FF2B5EF4-FFF2-40B4-BE49-F238E27FC236}">
                    <a16:creationId xmlns:a16="http://schemas.microsoft.com/office/drawing/2014/main" id="{5262AC3F-4195-1E4F-AC88-7844C7B04A3E}"/>
                  </a:ext>
                </a:extLst>
              </p:cNvPr>
              <p:cNvSpPr/>
              <p:nvPr/>
            </p:nvSpPr>
            <p:spPr>
              <a:xfrm>
                <a:off x="3439077" y="3247619"/>
                <a:ext cx="1231117" cy="783193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 algn="ctr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𝐴𝐷𝐵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 indent="-228600" algn="ctr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𝐷𝐵𝐴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: Rounded Corners 8">
                <a:extLst>
                  <a:ext uri="{FF2B5EF4-FFF2-40B4-BE49-F238E27FC236}">
                    <a16:creationId xmlns:a16="http://schemas.microsoft.com/office/drawing/2014/main" id="{5262AC3F-4195-1E4F-AC88-7844C7B04A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077" y="3247619"/>
                <a:ext cx="1231117" cy="783193"/>
              </a:xfrm>
              <a:prstGeom prst="roundRect">
                <a:avLst/>
              </a:prstGeom>
              <a:blipFill>
                <a:blip r:embed="rId5"/>
                <a:stretch>
                  <a:fillRect b="-10000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A741F016-37A0-5B41-9FD7-9DC43356D0E7}"/>
              </a:ext>
            </a:extLst>
          </p:cNvPr>
          <p:cNvSpPr/>
          <p:nvPr/>
        </p:nvSpPr>
        <p:spPr>
          <a:xfrm>
            <a:off x="2527145" y="4249037"/>
            <a:ext cx="2081530" cy="11237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scalene</a:t>
            </a:r>
          </a:p>
          <a:p>
            <a:pPr marL="228600" indent="-228600"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isosceles</a:t>
            </a:r>
          </a:p>
          <a:p>
            <a:pPr marL="228600" indent="-2286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equilateral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29">
                <a:extLst>
                  <a:ext uri="{FF2B5EF4-FFF2-40B4-BE49-F238E27FC236}">
                    <a16:creationId xmlns:a16="http://schemas.microsoft.com/office/drawing/2014/main" id="{BF0DD69D-A0E3-7F46-9A92-B3B8BE190C1C}"/>
                  </a:ext>
                </a:extLst>
              </p:cNvPr>
              <p:cNvSpPr/>
              <p:nvPr/>
            </p:nvSpPr>
            <p:spPr>
              <a:xfrm>
                <a:off x="5491559" y="2905929"/>
                <a:ext cx="2377440" cy="1466572"/>
              </a:xfrm>
              <a:prstGeom prst="round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𝐵𝐷</m:t>
                        </m:r>
                      </m:e>
                    </m:acc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228600" indent="-2286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𝐴𝐸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𝐵𝐸</m:t>
                        </m:r>
                      </m:e>
                    </m:acc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228600" indent="-22860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None of these</a:t>
                </a:r>
              </a:p>
            </p:txBody>
          </p:sp>
        </mc:Choice>
        <mc:Fallback xmlns="">
          <p:sp>
            <p:nvSpPr>
              <p:cNvPr id="10" name="Rectangle: Rounded Corners 29">
                <a:extLst>
                  <a:ext uri="{FF2B5EF4-FFF2-40B4-BE49-F238E27FC236}">
                    <a16:creationId xmlns:a16="http://schemas.microsoft.com/office/drawing/2014/main" id="{BF0DD69D-A0E3-7F46-9A92-B3B8BE190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559" y="2905929"/>
                <a:ext cx="2377440" cy="1466572"/>
              </a:xfrm>
              <a:prstGeom prst="roundRect">
                <a:avLst/>
              </a:prstGeom>
              <a:blipFill>
                <a:blip r:embed="rId6"/>
                <a:stretch>
                  <a:fillRect b="-3306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7AE8928C-0106-3F14-54BD-D67F778201F3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68A4EA7-7CAD-E14D-9962-546F298D72D5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75" t="4814" r="20731"/>
          <a:stretch/>
        </p:blipFill>
        <p:spPr bwMode="auto">
          <a:xfrm>
            <a:off x="8452775" y="2825185"/>
            <a:ext cx="2841278" cy="34795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4416" y="-30867"/>
            <a:ext cx="10295906" cy="1686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1.11.4 Bring It Together: Perpendicular Bisectors and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843147" y="3004739"/>
                <a:ext cx="7410203" cy="3140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diagram,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𝑋𝐴</m:t>
                    </m:r>
                    <m:r>
                      <a:rPr lang="en-PH" sz="2200" i="1">
                        <a:latin typeface="Cambria Math"/>
                      </a:rPr>
                      <m:t>=</m:t>
                    </m:r>
                    <m:r>
                      <a:rPr lang="en-US" sz="2200" i="1">
                        <a:latin typeface="Cambria Math"/>
                      </a:rPr>
                      <m:t>7.7 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millimeters (mm),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𝑌𝐵</m:t>
                    </m:r>
                    <m:r>
                      <a:rPr lang="en-PH" sz="2200" i="1">
                        <a:latin typeface="Cambria Math"/>
                      </a:rPr>
                      <m:t>=</m:t>
                    </m:r>
                    <m:r>
                      <a:rPr lang="en-US" sz="2200" i="1">
                        <a:latin typeface="Cambria Math"/>
                      </a:rPr>
                      <m:t>6.85 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mm,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/>
                      </a:rPr>
                      <m:t>𝐴𝐵</m:t>
                    </m:r>
                    <m:r>
                      <a:rPr lang="en-PH" sz="2200" i="1">
                        <a:latin typeface="Cambria Math"/>
                      </a:rPr>
                      <m:t>=</m:t>
                    </m:r>
                    <m:r>
                      <a:rPr lang="en-US" sz="2200" i="1">
                        <a:latin typeface="Cambria Math"/>
                      </a:rPr>
                      <m:t>7.7 </m:t>
                    </m:r>
                  </m:oMath>
                </a14:m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mm. </a:t>
                </a:r>
                <a:b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figure is not drawn to scale.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all segment measurements from the given information on the image. Then, label all other segments based on the relationship of a line segment and its perpendicular bisector.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3004739"/>
                <a:ext cx="7410203" cy="3140090"/>
              </a:xfrm>
              <a:prstGeom prst="rect">
                <a:avLst/>
              </a:prstGeom>
              <a:blipFill>
                <a:blip r:embed="rId4"/>
                <a:stretch>
                  <a:fillRect l="-1069" t="-1359" r="-740" b="-3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5D7F7086-3B46-0741-A8D9-C84B5033C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2340" y="43740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B81393E-1933-E241-A85B-BB9C58A53CBA}"/>
              </a:ext>
            </a:extLst>
          </p:cNvPr>
          <p:cNvGrpSpPr/>
          <p:nvPr/>
        </p:nvGrpSpPr>
        <p:grpSpPr>
          <a:xfrm>
            <a:off x="1800561" y="1548598"/>
            <a:ext cx="7908030" cy="1123667"/>
            <a:chOff x="0" y="67667"/>
            <a:chExt cx="7908030" cy="112401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8354EC2-40CE-414B-BB42-DA8C3A932B27}"/>
                </a:ext>
              </a:extLst>
            </p:cNvPr>
            <p:cNvGrpSpPr/>
            <p:nvPr/>
          </p:nvGrpSpPr>
          <p:grpSpPr>
            <a:xfrm>
              <a:off x="0" y="67667"/>
              <a:ext cx="7908030" cy="1124017"/>
              <a:chOff x="2031300" y="3454475"/>
              <a:chExt cx="7908030" cy="1124017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5FB8780-D9D3-6B48-A8D2-10A53C55CDF2}"/>
                  </a:ext>
                </a:extLst>
              </p:cNvPr>
              <p:cNvGrpSpPr/>
              <p:nvPr/>
            </p:nvGrpSpPr>
            <p:grpSpPr>
              <a:xfrm>
                <a:off x="2031300" y="3454475"/>
                <a:ext cx="7908030" cy="1124017"/>
                <a:chOff x="0" y="67667"/>
                <a:chExt cx="7908030" cy="1124017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25E4CAD-F3B8-AE45-88A1-D34C8332B7A1}"/>
                    </a:ext>
                  </a:extLst>
                </p:cNvPr>
                <p:cNvSpPr/>
                <p:nvPr/>
              </p:nvSpPr>
              <p:spPr>
                <a:xfrm>
                  <a:off x="0" y="146905"/>
                  <a:ext cx="6629400" cy="492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r>
                    <a:rPr lang="en-US" sz="20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B7ADEE0-ABB0-3C4F-A475-7F3E711706BA}"/>
                    </a:ext>
                  </a:extLst>
                </p:cNvPr>
                <p:cNvSpPr/>
                <p:nvPr/>
              </p:nvSpPr>
              <p:spPr>
                <a:xfrm>
                  <a:off x="0" y="146905"/>
                  <a:ext cx="6629400" cy="492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r>
                    <a:rPr lang="en-US" sz="20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BD8C8F11-707A-6E46-9CEC-2375609EE6CA}"/>
                    </a:ext>
                  </a:extLst>
                </p:cNvPr>
                <p:cNvSpPr/>
                <p:nvPr/>
              </p:nvSpPr>
              <p:spPr>
                <a:xfrm>
                  <a:off x="0" y="67667"/>
                  <a:ext cx="7908030" cy="112401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/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If a point is on the perpendicular bisector of a line segment, then it is equidistant from the endpoints of the line segment.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4" name="image15.png" descr="Icon&#10;&#10;Description automatically generated">
              <a:extLst>
                <a:ext uri="{FF2B5EF4-FFF2-40B4-BE49-F238E27FC236}">
                  <a16:creationId xmlns:a16="http://schemas.microsoft.com/office/drawing/2014/main" id="{A62784EE-22E7-D449-8752-643B309BAE30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207723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0" name="Google Shape;278;g104476d1465_1_17">
            <a:extLst>
              <a:ext uri="{FF2B5EF4-FFF2-40B4-BE49-F238E27FC236}">
                <a16:creationId xmlns:a16="http://schemas.microsoft.com/office/drawing/2014/main" id="{F747F561-3067-BC07-9E5B-7FFEC4EE0CCE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1" name="Google Shape;283;g104476d1465_1_17">
            <a:extLst>
              <a:ext uri="{FF2B5EF4-FFF2-40B4-BE49-F238E27FC236}">
                <a16:creationId xmlns:a16="http://schemas.microsoft.com/office/drawing/2014/main" id="{B470095C-D5A6-16B3-C506-27D772BCC407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33D19E45-6C7D-AB30-4CA0-3C6F92857DD7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855023" y="435049"/>
                <a:ext cx="10260282" cy="831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𝑋𝑌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label all of the congruent angles.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435049"/>
                <a:ext cx="10260282" cy="831766"/>
              </a:xfrm>
              <a:prstGeom prst="rect">
                <a:avLst/>
              </a:prstGeom>
              <a:blipFill>
                <a:blip r:embed="rId3"/>
                <a:stretch>
                  <a:fillRect l="-891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457FE-DB0D-F74F-9A72-B56CB34D0807}"/>
              </a:ext>
            </a:extLst>
          </p:cNvPr>
          <p:cNvGrpSpPr/>
          <p:nvPr/>
        </p:nvGrpSpPr>
        <p:grpSpPr>
          <a:xfrm>
            <a:off x="2305857" y="2036163"/>
            <a:ext cx="7580286" cy="1697420"/>
            <a:chOff x="0" y="0"/>
            <a:chExt cx="7580286" cy="119552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97FA80-7754-A841-AD5D-BAA7A0DF1C66}"/>
                </a:ext>
              </a:extLst>
            </p:cNvPr>
            <p:cNvGrpSpPr/>
            <p:nvPr/>
          </p:nvGrpSpPr>
          <p:grpSpPr>
            <a:xfrm>
              <a:off x="0" y="0"/>
              <a:ext cx="7580286" cy="1195521"/>
              <a:chOff x="2031300" y="3386808"/>
              <a:chExt cx="7580286" cy="1195521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FEE7C2-C84E-6045-BE9F-CB00C647B823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7580286" cy="1195521"/>
                <a:chOff x="0" y="0"/>
                <a:chExt cx="7580286" cy="1195521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27EF207F-EC96-4E45-A047-49E72DCFF30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E1B9DC2-AC6D-5F41-9A8B-63617719067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FB99BD86-0012-564D-B31D-DF8D03A4F8F8}"/>
                    </a:ext>
                  </a:extLst>
                </p:cNvPr>
                <p:cNvSpPr/>
                <p:nvPr/>
              </p:nvSpPr>
              <p:spPr>
                <a:xfrm>
                  <a:off x="0" y="164271"/>
                  <a:ext cx="7580286" cy="103125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/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triangle formed by a line segment and two segments drawn from the endpoints of the segment to a point on the perpendicular bisector of the segment is an isosceles triangle.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0" name="image15.png" descr="Icon&#10;&#10;Description automatically generated">
              <a:extLst>
                <a:ext uri="{FF2B5EF4-FFF2-40B4-BE49-F238E27FC236}">
                  <a16:creationId xmlns:a16="http://schemas.microsoft.com/office/drawing/2014/main" id="{8D101CD7-F7D3-C041-9B10-82BF7D1FEE5A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7" y="286415"/>
              <a:ext cx="642523" cy="452539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B501C4F5-02AC-8F21-7439-0C72AB4529A0}"/>
              </a:ext>
            </a:extLst>
          </p:cNvPr>
          <p:cNvSpPr txBox="1"/>
          <p:nvPr/>
        </p:nvSpPr>
        <p:spPr>
          <a:xfrm>
            <a:off x="898227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>
            <a:extLst>
              <a:ext uri="{FF2B5EF4-FFF2-40B4-BE49-F238E27FC236}">
                <a16:creationId xmlns:a16="http://schemas.microsoft.com/office/drawing/2014/main" id="{5FC2D9DD-4631-ED82-9FB1-40874A1C877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82275" y="64540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7BA5F169-EAE4-740E-AF86-132E98A9133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13163" y="-11281"/>
            <a:ext cx="1020647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1.11.5 Guided Practice: Perpendicular Bisectors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8563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369" y="24425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31273" y="1360268"/>
                <a:ext cx="10426535" cy="5016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1.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𝐷𝐻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𝐾𝑃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𝐾𝐷</m:t>
                    </m:r>
                    <m:r>
                      <a:rPr lang="en-US" sz="2400" i="1">
                        <a:latin typeface="Cambria Math"/>
                      </a:rPr>
                      <m:t>=−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𝑃𝐷</m:t>
                    </m:r>
                    <m:r>
                      <a:rPr lang="en-US" sz="2400" i="1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+19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3" y="1360268"/>
                <a:ext cx="10426535" cy="5016566"/>
              </a:xfrm>
              <a:prstGeom prst="rect">
                <a:avLst/>
              </a:prstGeom>
              <a:blipFill>
                <a:blip r:embed="rId4"/>
                <a:stretch>
                  <a:fillRect l="-877" t="-1094" b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radar chart&#10;&#10;Description automatically generated">
            <a:extLst>
              <a:ext uri="{FF2B5EF4-FFF2-40B4-BE49-F238E27FC236}">
                <a16:creationId xmlns:a16="http://schemas.microsoft.com/office/drawing/2014/main" id="{2D508EF0-53C2-4449-A6F4-A34CB9902E04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421" t="9094" r="3364" b="8483"/>
          <a:stretch/>
        </p:blipFill>
        <p:spPr bwMode="auto">
          <a:xfrm>
            <a:off x="3089312" y="2202793"/>
            <a:ext cx="6329229" cy="26525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78;g104476d1465_1_17">
            <a:extLst>
              <a:ext uri="{FF2B5EF4-FFF2-40B4-BE49-F238E27FC236}">
                <a16:creationId xmlns:a16="http://schemas.microsoft.com/office/drawing/2014/main" id="{0984C757-3F8A-92FA-555D-CB2F2C1C83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96FCB740-862E-34E2-38F9-CA1A08E3636E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639FFFE-8DEC-4A79-399A-C89C47F3990B}"/>
              </a:ext>
            </a:extLst>
          </p:cNvPr>
          <p:cNvSpPr txBox="1"/>
          <p:nvPr/>
        </p:nvSpPr>
        <p:spPr>
          <a:xfrm>
            <a:off x="898563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60665" y="177450"/>
            <a:ext cx="7706897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1.11.6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218" y="17745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19398" y="1181826"/>
                <a:ext cx="9820894" cy="831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1.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perpendicular bisector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𝑈𝑆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𝑈𝑇</m:t>
                    </m:r>
                    <m:r>
                      <a:rPr lang="en-US" sz="2400" i="1">
                        <a:latin typeface="Cambria Math"/>
                      </a:rPr>
                      <m:t>=8</m:t>
                    </m:r>
                    <m:r>
                      <a:rPr lang="en-US" sz="2400" i="1">
                        <a:latin typeface="Cambria Math"/>
                      </a:rPr>
                      <m:t>𝑦</m:t>
                    </m:r>
                    <m:r>
                      <a:rPr lang="en-US" sz="2400" i="1">
                        <a:latin typeface="Cambria Math"/>
                      </a:rPr>
                      <m:t>−12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𝑆𝑇</m:t>
                    </m:r>
                    <m:r>
                      <a:rPr lang="en-US" sz="2400" i="1">
                        <a:latin typeface="Cambria Math"/>
                      </a:rPr>
                      <m:t>=3</m:t>
                    </m:r>
                    <m:r>
                      <a:rPr lang="en-US" sz="2400" i="1">
                        <a:latin typeface="Cambria Math"/>
                      </a:rPr>
                      <m:t>𝑦</m:t>
                    </m:r>
                    <m:r>
                      <a:rPr lang="en-US" sz="2400" i="1">
                        <a:latin typeface="Cambria Math"/>
                      </a:rPr>
                      <m:t>+23.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98" y="1181826"/>
                <a:ext cx="9820894" cy="831766"/>
              </a:xfrm>
              <a:prstGeom prst="rect">
                <a:avLst/>
              </a:prstGeom>
              <a:blipFill>
                <a:blip r:embed="rId4"/>
                <a:stretch>
                  <a:fillRect l="-931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81A9CA2-0645-4547-8E05-A9C337F9CC0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FDA61E-BAA8-F947-801D-E60F571F1B3E}"/>
              </a:ext>
            </a:extLst>
          </p:cNvPr>
          <p:cNvPicPr/>
          <p:nvPr/>
        </p:nvPicPr>
        <p:blipFill rotWithShape="1">
          <a:blip r:embed="rId5"/>
          <a:srcRect l="3323" t="2615" r="2371" b="2177"/>
          <a:stretch/>
        </p:blipFill>
        <p:spPr>
          <a:xfrm>
            <a:off x="2672080" y="2196465"/>
            <a:ext cx="6761480" cy="3373120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8B3DD7ED-0E98-3049-821D-3A30A0ED48C9}"/>
              </a:ext>
            </a:extLst>
          </p:cNvPr>
          <p:cNvSpPr txBox="1"/>
          <p:nvPr/>
        </p:nvSpPr>
        <p:spPr>
          <a:xfrm>
            <a:off x="898603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311;g104476d1465_1_39">
            <a:extLst>
              <a:ext uri="{FF2B5EF4-FFF2-40B4-BE49-F238E27FC236}">
                <a16:creationId xmlns:a16="http://schemas.microsoft.com/office/drawing/2014/main" id="{D05A2C67-2F68-A20B-EB46-A2E8A0E4F259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855024" y="398473"/>
            <a:ext cx="10284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error that was made in the construction of a perpendicular bisector.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2122761" y="1745170"/>
            <a:ext cx="7748558" cy="3895455"/>
            <a:chOff x="641225" y="1745491"/>
            <a:chExt cx="7748558" cy="389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B0498EE-E8B7-5941-86CB-AFAF4670E478}"/>
                </a:ext>
              </a:extLst>
            </p:cNvPr>
            <p:cNvGrpSpPr/>
            <p:nvPr/>
          </p:nvGrpSpPr>
          <p:grpSpPr>
            <a:xfrm>
              <a:off x="986665" y="1870972"/>
              <a:ext cx="7096032" cy="3769974"/>
              <a:chOff x="0" y="0"/>
              <a:chExt cx="3441372" cy="182877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967AEC2-225E-274C-AD84-A0574BD572D3}"/>
                  </a:ext>
                </a:extLst>
              </p:cNvPr>
              <p:cNvGrpSpPr/>
              <p:nvPr/>
            </p:nvGrpSpPr>
            <p:grpSpPr>
              <a:xfrm>
                <a:off x="0" y="0"/>
                <a:ext cx="3441372" cy="1461260"/>
                <a:chOff x="0" y="0"/>
                <a:chExt cx="3441372" cy="146126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F29A7331-6682-D040-AB23-782B6724CC37}"/>
                    </a:ext>
                  </a:extLst>
                </p:cNvPr>
                <p:cNvGrpSpPr/>
                <p:nvPr/>
              </p:nvGrpSpPr>
              <p:grpSpPr>
                <a:xfrm>
                  <a:off x="549889" y="461042"/>
                  <a:ext cx="1813432" cy="907629"/>
                  <a:chOff x="0" y="0"/>
                  <a:chExt cx="1238345" cy="759504"/>
                </a:xfrm>
              </p:grpSpPr>
              <p:sp>
                <p:nvSpPr>
                  <p:cNvPr id="18" name="Arc 17">
                    <a:extLst>
                      <a:ext uri="{FF2B5EF4-FFF2-40B4-BE49-F238E27FC236}">
                        <a16:creationId xmlns:a16="http://schemas.microsoft.com/office/drawing/2014/main" id="{F23ED933-A4B3-824D-A136-BA0020A377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5887528">
                    <a:off x="81898" y="-81898"/>
                    <a:ext cx="750604" cy="914400"/>
                  </a:xfrm>
                  <a:prstGeom prst="arc">
                    <a:avLst/>
                  </a:prstGeom>
                  <a:ln>
                    <a:prstDash val="dash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" name="Arc 18">
                    <a:extLst>
                      <a:ext uri="{FF2B5EF4-FFF2-40B4-BE49-F238E27FC236}">
                        <a16:creationId xmlns:a16="http://schemas.microsoft.com/office/drawing/2014/main" id="{0705497C-52FC-7949-860E-1B63850E41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0800000">
                    <a:off x="323945" y="67941"/>
                    <a:ext cx="914400" cy="691563"/>
                  </a:xfrm>
                  <a:prstGeom prst="arc">
                    <a:avLst>
                      <a:gd name="adj1" fmla="val 16200000"/>
                      <a:gd name="adj2" fmla="val 110522"/>
                    </a:avLst>
                  </a:prstGeom>
                  <a:ln>
                    <a:prstDash val="dash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CA707127-7C9E-A244-83BE-158F4532601B}"/>
                    </a:ext>
                  </a:extLst>
                </p:cNvPr>
                <p:cNvCxnSpPr/>
                <p:nvPr/>
              </p:nvCxnSpPr>
              <p:spPr>
                <a:xfrm flipV="1">
                  <a:off x="0" y="41782"/>
                  <a:ext cx="3441372" cy="0"/>
                </a:xfrm>
                <a:prstGeom prst="line">
                  <a:avLst/>
                </a:prstGeom>
                <a:ln w="38100"/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01E5398-FDB8-FE4C-9E8F-E5DCAC1A39E4}"/>
                    </a:ext>
                  </a:extLst>
                </p:cNvPr>
                <p:cNvCxnSpPr/>
                <p:nvPr/>
              </p:nvCxnSpPr>
              <p:spPr>
                <a:xfrm flipV="1">
                  <a:off x="1463649" y="7364"/>
                  <a:ext cx="0" cy="1453896"/>
                </a:xfrm>
                <a:prstGeom prst="line">
                  <a:avLst/>
                </a:prstGeom>
                <a:ln w="38100"/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45933253-D3D0-8B4B-BB09-9BABE5E77B39}"/>
                    </a:ext>
                  </a:extLst>
                </p:cNvPr>
                <p:cNvGrpSpPr/>
                <p:nvPr/>
              </p:nvGrpSpPr>
              <p:grpSpPr>
                <a:xfrm>
                  <a:off x="841882" y="0"/>
                  <a:ext cx="1238345" cy="759504"/>
                  <a:chOff x="0" y="0"/>
                  <a:chExt cx="1238345" cy="759504"/>
                </a:xfrm>
              </p:grpSpPr>
              <p:sp>
                <p:nvSpPr>
                  <p:cNvPr id="16" name="Arc 15">
                    <a:extLst>
                      <a:ext uri="{FF2B5EF4-FFF2-40B4-BE49-F238E27FC236}">
                        <a16:creationId xmlns:a16="http://schemas.microsoft.com/office/drawing/2014/main" id="{68CF1B96-E896-3348-B4C7-BC796CC83E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5887528">
                    <a:off x="81898" y="-81898"/>
                    <a:ext cx="750604" cy="914400"/>
                  </a:xfrm>
                  <a:prstGeom prst="arc">
                    <a:avLst/>
                  </a:prstGeom>
                  <a:ln>
                    <a:prstDash val="dash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Arc 16">
                    <a:extLst>
                      <a:ext uri="{FF2B5EF4-FFF2-40B4-BE49-F238E27FC236}">
                        <a16:creationId xmlns:a16="http://schemas.microsoft.com/office/drawing/2014/main" id="{5B26C02C-6DBD-2840-86AE-EDD8612245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10800000">
                    <a:off x="323945" y="67941"/>
                    <a:ext cx="914400" cy="691563"/>
                  </a:xfrm>
                  <a:prstGeom prst="arc">
                    <a:avLst>
                      <a:gd name="adj1" fmla="val 16200000"/>
                      <a:gd name="adj2" fmla="val 110522"/>
                    </a:avLst>
                  </a:prstGeom>
                  <a:ln>
                    <a:prstDash val="dash"/>
                  </a:ln>
                  <a:effectLst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 Box 2">
                    <a:extLst>
                      <a:ext uri="{FF2B5EF4-FFF2-40B4-BE49-F238E27FC236}">
                        <a16:creationId xmlns:a16="http://schemas.microsoft.com/office/drawing/2014/main" id="{2A62A70D-06FC-344D-B659-414AB52F3A7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02602" y="492098"/>
                    <a:ext cx="345440" cy="42227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Text Box 2">
                    <a:extLst>
                      <a:ext uri="{FF2B5EF4-FFF2-40B4-BE49-F238E27FC236}">
                        <a16:creationId xmlns:a16="http://schemas.microsoft.com/office/drawing/2014/main" id="{2A62A70D-06FC-344D-B659-414AB52F3A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02602" y="492098"/>
                    <a:ext cx="345440" cy="4222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 Box 2">
                    <a:extLst>
                      <a:ext uri="{FF2B5EF4-FFF2-40B4-BE49-F238E27FC236}">
                        <a16:creationId xmlns:a16="http://schemas.microsoft.com/office/drawing/2014/main" id="{09A9AFB7-8D66-1340-B910-06B09EF0BC8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64612" y="1406498"/>
                    <a:ext cx="345440" cy="42227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US" sz="12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 Box 2">
                    <a:extLst>
                      <a:ext uri="{FF2B5EF4-FFF2-40B4-BE49-F238E27FC236}">
                        <a16:creationId xmlns:a16="http://schemas.microsoft.com/office/drawing/2014/main" id="{09A9AFB7-8D66-1340-B910-06B09EF0BC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64612" y="1406498"/>
                    <a:ext cx="345440" cy="4222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">
                  <a:extLst>
                    <a:ext uri="{FF2B5EF4-FFF2-40B4-BE49-F238E27FC236}">
                      <a16:creationId xmlns:a16="http://schemas.microsoft.com/office/drawing/2014/main" id="{7A689C1F-A7CB-2F4A-B3B3-7449938BF7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1225" y="1748377"/>
                  <a:ext cx="345440" cy="4222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 Box 2">
                  <a:extLst>
                    <a:ext uri="{FF2B5EF4-FFF2-40B4-BE49-F238E27FC236}">
                      <a16:creationId xmlns:a16="http://schemas.microsoft.com/office/drawing/2014/main" id="{7A689C1F-A7CB-2F4A-B3B3-7449938BF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1225" y="1748377"/>
                  <a:ext cx="345440" cy="4222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 Box 2">
                  <a:extLst>
                    <a:ext uri="{FF2B5EF4-FFF2-40B4-BE49-F238E27FC236}">
                      <a16:creationId xmlns:a16="http://schemas.microsoft.com/office/drawing/2014/main" id="{AF8FB5C6-C4F7-454F-BB3E-7A70256579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044343" y="1745491"/>
                  <a:ext cx="345440" cy="4222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Text Box 2">
                  <a:extLst>
                    <a:ext uri="{FF2B5EF4-FFF2-40B4-BE49-F238E27FC236}">
                      <a16:creationId xmlns:a16="http://schemas.microsoft.com/office/drawing/2014/main" id="{AF8FB5C6-C4F7-454F-BB3E-7A7025657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44343" y="1745491"/>
                  <a:ext cx="345440" cy="4222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4802ADFD-BF83-83B3-BABF-12C5753689AF}"/>
              </a:ext>
            </a:extLst>
          </p:cNvPr>
          <p:cNvSpPr txBox="1"/>
          <p:nvPr/>
        </p:nvSpPr>
        <p:spPr>
          <a:xfrm>
            <a:off x="898603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5076D31-6CCE-9585-1EF0-DFBD6F250FAC}"/>
              </a:ext>
            </a:extLst>
          </p:cNvPr>
          <p:cNvSpPr txBox="1"/>
          <p:nvPr/>
        </p:nvSpPr>
        <p:spPr>
          <a:xfrm>
            <a:off x="898603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25038" y="91978"/>
            <a:ext cx="9702141" cy="113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1.11.7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420" y="2848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78774" y="1309584"/>
            <a:ext cx="10248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summary of what you learned in this lesson.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B9648848-DE45-BC6F-AE6A-739DE42E7E2E}"/>
              </a:ext>
            </a:extLst>
          </p:cNvPr>
          <p:cNvSpPr txBox="1"/>
          <p:nvPr/>
        </p:nvSpPr>
        <p:spPr>
          <a:xfrm>
            <a:off x="8986032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311;g104476d1465_1_39">
            <a:extLst>
              <a:ext uri="{FF2B5EF4-FFF2-40B4-BE49-F238E27FC236}">
                <a16:creationId xmlns:a16="http://schemas.microsoft.com/office/drawing/2014/main" id="{715535AB-B88C-5D53-7A18-4EA8E5A1769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2309</TotalTime>
  <Words>1117</Words>
  <Application>Microsoft Macintosh PowerPoint</Application>
  <PresentationFormat>Widescreen</PresentationFormat>
  <Paragraphs>233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Wingdings</vt:lpstr>
      <vt:lpstr>Verdana</vt:lpstr>
      <vt:lpstr>Courier New</vt:lpstr>
      <vt:lpstr>Arial</vt:lpstr>
      <vt:lpstr>Century Gothic</vt:lpstr>
      <vt:lpstr>Times New Roman</vt:lpstr>
      <vt:lpstr>Calibri</vt:lpstr>
      <vt:lpstr>Arial Black</vt:lpstr>
      <vt:lpstr>Cambria Math</vt:lpstr>
      <vt:lpstr>1_Office Theme</vt:lpstr>
      <vt:lpstr>Geometry  Unit 1, Lesson 11  Perpendicular Bisectors  Volume 1, pg. 69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51</cp:revision>
  <dcterms:created xsi:type="dcterms:W3CDTF">2015-03-17T18:51:18Z</dcterms:created>
  <dcterms:modified xsi:type="dcterms:W3CDTF">2023-03-01T16:13:23Z</dcterms:modified>
</cp:coreProperties>
</file>