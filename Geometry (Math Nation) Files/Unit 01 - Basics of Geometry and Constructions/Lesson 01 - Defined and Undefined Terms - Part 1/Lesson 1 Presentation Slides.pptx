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85" r:id="rId7"/>
    <p:sldId id="286" r:id="rId8"/>
    <p:sldId id="261" r:id="rId9"/>
    <p:sldId id="287" r:id="rId10"/>
    <p:sldId id="288" r:id="rId11"/>
    <p:sldId id="289" r:id="rId12"/>
    <p:sldId id="290" r:id="rId13"/>
    <p:sldId id="308" r:id="rId14"/>
    <p:sldId id="316" r:id="rId15"/>
    <p:sldId id="326" r:id="rId16"/>
    <p:sldId id="319" r:id="rId17"/>
    <p:sldId id="320" r:id="rId18"/>
    <p:sldId id="322" r:id="rId19"/>
    <p:sldId id="327" r:id="rId20"/>
    <p:sldId id="314" r:id="rId21"/>
    <p:sldId id="315" r:id="rId22"/>
    <p:sldId id="317" r:id="rId23"/>
    <p:sldId id="324" r:id="rId24"/>
    <p:sldId id="325" r:id="rId25"/>
    <p:sldId id="323" r:id="rId26"/>
    <p:sldId id="306" r:id="rId27"/>
    <p:sldId id="307" r:id="rId28"/>
    <p:sldId id="310" r:id="rId29"/>
  </p:sldIdLst>
  <p:sldSz cx="12192000" cy="6858000"/>
  <p:notesSz cx="6858000" cy="9144000"/>
  <p:embeddedFontLs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5" autoAdjust="0"/>
    <p:restoredTop sz="95374" autoAdjust="0"/>
  </p:normalViewPr>
  <p:slideViewPr>
    <p:cSldViewPr snapToGrid="0">
      <p:cViewPr varScale="1">
        <p:scale>
          <a:sx n="117" d="100"/>
          <a:sy n="117" d="100"/>
        </p:scale>
        <p:origin x="2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194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3913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202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555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555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564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2935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4030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6138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tiff"/><Relationship Id="rId4" Type="http://schemas.openxmlformats.org/officeDocument/2006/relationships/image" Target="../media/image22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0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Defined and Undefined Terms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8425"/>
            <a:ext cx="957325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MA.912.GR.1.1</a:t>
            </a:r>
          </a:p>
          <a:p>
            <a:pPr marL="466725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Solve mathematical and real-world problems involving postulates, relationships, and theorems of lines and angles.</a:t>
            </a:r>
          </a:p>
          <a:p>
            <a:pPr marL="0" indent="0">
              <a:buSzPts val="1100"/>
              <a:buNone/>
            </a:pP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MA.912.GR.2.2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transformations that do or do not preserve distance.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100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970691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79FE975D-9AC2-C5A6-CBF6-DC643113E8F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8512" y="1608425"/>
            <a:ext cx="960121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rigid motions to define parallel lines and perpendicular lines.</a:t>
            </a:r>
          </a:p>
          <a:p>
            <a:pPr marL="628650" indent="-62865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experiment with rigid motions on a plane.</a:t>
            </a:r>
          </a:p>
          <a:p>
            <a:pPr marL="628650" indent="-6286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rigid motions to define a right angle.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54973B70-BA8E-7F33-9E90-70CDC2A1645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2698" y="60449"/>
            <a:ext cx="7649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A Billion!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99" y="3408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55785" y="1386149"/>
                <a:ext cx="10269416" cy="446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billion is a big number. Starting the school year, it may feel like there are a billion seconds left in the year. When you started school there were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1.555×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US" sz="22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15,550,000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seconds left in the school year.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billion seconds is approximately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years!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So, although it may feel like a billion, it really isn’t.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5" y="1386149"/>
                <a:ext cx="10269416" cy="4462760"/>
              </a:xfrm>
              <a:prstGeom prst="rect">
                <a:avLst/>
              </a:prstGeom>
              <a:blipFill>
                <a:blip r:embed="rId4"/>
                <a:stretch>
                  <a:fillRect l="-772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3622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A8E46A7-21E9-A149-B73A-4DDB97029B7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99" y="3424949"/>
            <a:ext cx="7713726" cy="1396303"/>
          </a:xfrm>
          <a:prstGeom prst="rect">
            <a:avLst/>
          </a:prstGeom>
        </p:spPr>
      </p:pic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2C79114-6CF2-AE6A-934C-23853BD67609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785" y="520518"/>
                <a:ext cx="10304584" cy="437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location of 1 billion on the line segment?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your strategy for estimating the location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billion on the line segment.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5" y="520518"/>
                <a:ext cx="10304584" cy="4370427"/>
              </a:xfrm>
              <a:prstGeom prst="rect">
                <a:avLst/>
              </a:prstGeom>
              <a:blipFill>
                <a:blip r:embed="rId3"/>
                <a:stretch>
                  <a:fillRect l="-887" t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3622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536749" y="1786800"/>
            <a:ext cx="6353175" cy="741687"/>
            <a:chOff x="1838324" y="1564733"/>
            <a:chExt cx="6353175" cy="74168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CB3BAD-B9C9-E549-86ED-51855C93B948}"/>
                </a:ext>
              </a:extLst>
            </p:cNvPr>
            <p:cNvCxnSpPr/>
            <p:nvPr/>
          </p:nvCxnSpPr>
          <p:spPr>
            <a:xfrm>
              <a:off x="2071687" y="1564733"/>
              <a:ext cx="500062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oval"/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2">
                  <a:extLst>
                    <a:ext uri="{FF2B5EF4-FFF2-40B4-BE49-F238E27FC236}">
                      <a16:creationId xmlns:a16="http://schemas.microsoft.com/office/drawing/2014/main" id="{8FC3498E-2DBF-0847-BF33-BE641860CB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38324" y="1763495"/>
                  <a:ext cx="466725" cy="4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2">
                  <a:extLst>
                    <a:ext uri="{FF2B5EF4-FFF2-40B4-BE49-F238E27FC236}">
                      <a16:creationId xmlns:a16="http://schemas.microsoft.com/office/drawing/2014/main" id="{8FC3498E-2DBF-0847-BF33-BE641860C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8324" y="1763495"/>
                  <a:ext cx="466725" cy="4476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2">
                  <a:extLst>
                    <a:ext uri="{FF2B5EF4-FFF2-40B4-BE49-F238E27FC236}">
                      <a16:creationId xmlns:a16="http://schemas.microsoft.com/office/drawing/2014/main" id="{0B5D53A3-D854-F94E-9584-560E4A13F9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00824" y="1858745"/>
                  <a:ext cx="1590675" cy="4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trillion</a:t>
                  </a:r>
                </a:p>
              </p:txBody>
            </p:sp>
          </mc:Choice>
          <mc:Fallback xmlns="">
            <p:sp>
              <p:nvSpPr>
                <p:cNvPr id="16" name="Text Box 2">
                  <a:extLst>
                    <a:ext uri="{FF2B5EF4-FFF2-40B4-BE49-F238E27FC236}">
                      <a16:creationId xmlns:a16="http://schemas.microsoft.com/office/drawing/2014/main" id="{0B5D53A3-D854-F94E-9584-560E4A13F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00824" y="1858745"/>
                  <a:ext cx="1590675" cy="447675"/>
                </a:xfrm>
                <a:prstGeom prst="rect">
                  <a:avLst/>
                </a:prstGeom>
                <a:blipFill>
                  <a:blip r:embed="rId6"/>
                  <a:stretch>
                    <a:fillRect t="-8333" b="-13889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4E73B95-E1EC-25E8-2800-9B32B19284D8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1938" y="-1"/>
            <a:ext cx="10081986" cy="120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1.1.2 Guided Instruction: Definitions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919" y="23035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49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67508" y="1394250"/>
                <a:ext cx="10257692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Warm-Up, the diagram is a line segment.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it wasn’t called a line.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your best definition of a line segment.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line. Label the line using the letter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your best definition of a line.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8" y="1394250"/>
                <a:ext cx="10257692" cy="4524315"/>
              </a:xfrm>
              <a:prstGeom prst="rect">
                <a:avLst/>
              </a:prstGeom>
              <a:blipFill>
                <a:blip r:embed="rId4"/>
                <a:stretch>
                  <a:fillRect l="-891" t="-107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7C254E6-45C8-3F96-A468-BABB71A4CAE0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08F1F0-567A-6E43-A85D-BAF099012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14722"/>
              </p:ext>
            </p:extLst>
          </p:nvPr>
        </p:nvGraphicFramePr>
        <p:xfrm>
          <a:off x="2257373" y="2492934"/>
          <a:ext cx="6820285" cy="395893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211921">
                  <a:extLst>
                    <a:ext uri="{9D8B030D-6E8A-4147-A177-3AD203B41FA5}">
                      <a16:colId xmlns:a16="http://schemas.microsoft.com/office/drawing/2014/main" val="344047637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093663383"/>
                    </a:ext>
                  </a:extLst>
                </a:gridCol>
                <a:gridCol w="1225084">
                  <a:extLst>
                    <a:ext uri="{9D8B030D-6E8A-4147-A177-3AD203B41FA5}">
                      <a16:colId xmlns:a16="http://schemas.microsoft.com/office/drawing/2014/main" val="2344243948"/>
                    </a:ext>
                  </a:extLst>
                </a:gridCol>
              </a:tblGrid>
              <a:tr h="669052">
                <a:tc>
                  <a:txBody>
                    <a:bodyPr/>
                    <a:lstStyle/>
                    <a:p>
                      <a:pPr marL="0" marR="0" indent="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Definition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Their Reason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888300"/>
                  </a:ext>
                </a:extLst>
              </a:tr>
              <a:tr h="16449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segment 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3183"/>
                  </a:ext>
                </a:extLst>
              </a:tr>
              <a:tr h="16449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524" marR="5452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24048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855785" y="418890"/>
            <a:ext cx="103045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another partner pair the definitions they wrote. Record their definition and write your summary of their reason for the definition.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74F41929-F49D-95D0-701D-28291DB80B10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938A81-E6DE-C6BD-B1EF-13697C70E2CE}"/>
              </a:ext>
            </a:extLst>
          </p:cNvPr>
          <p:cNvSpPr txBox="1"/>
          <p:nvPr/>
        </p:nvSpPr>
        <p:spPr>
          <a:xfrm>
            <a:off x="8889924" y="645749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1762107" y="666257"/>
            <a:ext cx="8327136" cy="2287106"/>
            <a:chOff x="1257299" y="3630925"/>
            <a:chExt cx="8327136" cy="2287106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878BB35-FA08-9C48-960E-315D63567F07}"/>
                </a:ext>
              </a:extLst>
            </p:cNvPr>
            <p:cNvSpPr/>
            <p:nvPr/>
          </p:nvSpPr>
          <p:spPr>
            <a:xfrm>
              <a:off x="1257299" y="3630925"/>
              <a:ext cx="8327136" cy="2287106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76B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Facts About Lines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line has infinite length, with no height and no width.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line is assumed to be straight.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line is considered one-dimensional.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line is considered an undefined term.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line goes on forever in both directions.</a:t>
              </a:r>
              <a:endPara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image15.png" descr="Icon&#10;&#10;Description automatically generated">
              <a:extLst>
                <a:ext uri="{FF2B5EF4-FFF2-40B4-BE49-F238E27FC236}">
                  <a16:creationId xmlns:a16="http://schemas.microsoft.com/office/drawing/2014/main" id="{9F9C114B-2EC9-A046-9D25-F4B8A5999B9D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12866" y="3777243"/>
              <a:ext cx="675665" cy="675575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855785" y="1673252"/>
            <a:ext cx="102576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 has infinite length, thus, any line drawn should have arrowheads on both ends.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 can be named by a single lowercase script letter, or by any two (or more) points which lie on the line.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44062" y="418890"/>
                <a:ext cx="10292861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two lines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script lowercase letter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name the </a:t>
                </a:r>
                <a:r>
                  <a:rPr lang="en-US" sz="2000" dirty="0">
                    <a:solidFill>
                      <a:srgbClr val="7030A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purple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line on the left.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letters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name the </a:t>
                </a:r>
                <a:r>
                  <a:rPr lang="en-US" sz="20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orange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line on the right.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plane is named by a single uppercase letter written in script or by three points that do not lie on the same line.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2" y="418890"/>
                <a:ext cx="10292861" cy="5940088"/>
              </a:xfrm>
              <a:prstGeom prst="rect">
                <a:avLst/>
              </a:prstGeom>
              <a:blipFill>
                <a:blip r:embed="rId4"/>
                <a:stretch>
                  <a:fillRect l="-617" t="-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09A5B4-5E34-0745-86B9-B6D2E9F94EC9}"/>
              </a:ext>
            </a:extLst>
          </p:cNvPr>
          <p:cNvCxnSpPr/>
          <p:nvPr/>
        </p:nvCxnSpPr>
        <p:spPr>
          <a:xfrm>
            <a:off x="1490312" y="1284575"/>
            <a:ext cx="2343150" cy="209550"/>
          </a:xfrm>
          <a:prstGeom prst="straightConnector1">
            <a:avLst/>
          </a:prstGeom>
          <a:ln w="57150">
            <a:solidFill>
              <a:srgbClr val="7030A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0BADB-2409-384A-98D1-60A5ECCCC69A}"/>
              </a:ext>
            </a:extLst>
          </p:cNvPr>
          <p:cNvCxnSpPr/>
          <p:nvPr/>
        </p:nvCxnSpPr>
        <p:spPr>
          <a:xfrm flipV="1">
            <a:off x="4452587" y="1291560"/>
            <a:ext cx="3314700" cy="13335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628790" y="3062553"/>
            <a:ext cx="8327136" cy="1946588"/>
            <a:chOff x="1257299" y="3630925"/>
            <a:chExt cx="8327136" cy="194658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878BB35-FA08-9C48-960E-315D63567F07}"/>
                </a:ext>
              </a:extLst>
            </p:cNvPr>
            <p:cNvSpPr/>
            <p:nvPr/>
          </p:nvSpPr>
          <p:spPr>
            <a:xfrm>
              <a:off x="1257299" y="3630925"/>
              <a:ext cx="8327136" cy="1946588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76B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Facts About Planes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plane has infinite length and width, with no height.</a:t>
              </a: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plane is considered two-dimensional.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plane is considered an undefined term.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71550" indent="-228600">
                <a:buClrTx/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plane goes on forever.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image15.png" descr="Icon&#10;&#10;Description automatically generated">
              <a:extLst>
                <a:ext uri="{FF2B5EF4-FFF2-40B4-BE49-F238E27FC236}">
                  <a16:creationId xmlns:a16="http://schemas.microsoft.com/office/drawing/2014/main" id="{9F9C114B-2EC9-A046-9D25-F4B8A5999B9D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12866" y="3777243"/>
              <a:ext cx="675665" cy="675575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66581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55784" y="280835"/>
                <a:ext cx="7549201" cy="604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line and point shown.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following: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57300" indent="-342900">
                  <a:buFont typeface="Arial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piece of patty paper, copy line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pPr marL="5715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573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Fold the patty paper so that the fold goes through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each part of line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coincides with itself. Unfold the patty paper and draw a dashed line along the fold through the point, as shown below.</a:t>
                </a:r>
              </a:p>
              <a:p>
                <a:pPr marL="9144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573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Fold the dashed line on itself so that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coincides with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4" y="280835"/>
                <a:ext cx="7549201" cy="6046399"/>
              </a:xfrm>
              <a:prstGeom prst="rect">
                <a:avLst/>
              </a:prstGeom>
              <a:blipFill>
                <a:blip r:embed="rId3"/>
                <a:stretch>
                  <a:fillRect l="-1176" t="-839" r="-840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C7E59DEC-9F65-7F4A-9C1B-7CC510E8FE5C}"/>
              </a:ext>
            </a:extLst>
          </p:cNvPr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969" t="14260" r="15383" b="28032"/>
          <a:stretch/>
        </p:blipFill>
        <p:spPr bwMode="auto">
          <a:xfrm>
            <a:off x="8786063" y="280835"/>
            <a:ext cx="2735018" cy="27145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B8DD2-3CA9-E040-A837-C978618FDF67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70" t="15858" r="14149" b="24912"/>
          <a:stretch/>
        </p:blipFill>
        <p:spPr bwMode="auto">
          <a:xfrm>
            <a:off x="8692033" y="3304034"/>
            <a:ext cx="3024096" cy="28343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70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18FF685C-10FD-BFB5-578E-7FBA885B323C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8165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412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24671" y="410790"/>
                <a:ext cx="6896654" cy="487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resulting fold is a line that is parallel to the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writing utensil and straightedge to draw the parallel line. Label the line using letters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shown below.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the lines are parallel by folding the patty paper so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coincide. Unfold the paper and draw a dashed line along the fold and name it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𝐵𝐻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71" y="410790"/>
                <a:ext cx="6896654" cy="4876463"/>
              </a:xfrm>
              <a:prstGeom prst="rect">
                <a:avLst/>
              </a:prstGeom>
              <a:blipFill>
                <a:blip r:embed="rId3"/>
                <a:stretch>
                  <a:fillRect l="-1238" t="-1000" r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3622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picture containing sky, wire, line&#10;&#10;Description automatically generated">
            <a:extLst>
              <a:ext uri="{FF2B5EF4-FFF2-40B4-BE49-F238E27FC236}">
                <a16:creationId xmlns:a16="http://schemas.microsoft.com/office/drawing/2014/main" id="{4CEE09A6-4BB3-2F41-92FF-C359E9AD6BA5}"/>
              </a:ext>
            </a:extLst>
          </p:cNvPr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25" t="14262" r="6383" b="17863"/>
          <a:stretch/>
        </p:blipFill>
        <p:spPr bwMode="auto">
          <a:xfrm>
            <a:off x="8258289" y="410790"/>
            <a:ext cx="2857023" cy="27495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picture containing text, sky, line, different&#10;&#10;Description automatically generated">
            <a:extLst>
              <a:ext uri="{FF2B5EF4-FFF2-40B4-BE49-F238E27FC236}">
                <a16:creationId xmlns:a16="http://schemas.microsoft.com/office/drawing/2014/main" id="{81751947-0D5D-DD4E-80A5-4526BD500D23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93" t="14593" r="5040" b="15653"/>
          <a:stretch/>
        </p:blipFill>
        <p:spPr bwMode="auto">
          <a:xfrm>
            <a:off x="8182147" y="3282816"/>
            <a:ext cx="3085182" cy="30135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2B98CE2-7867-CC7A-FAC6-83AB50CB1FC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0945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67508" y="410789"/>
                <a:ext cx="10245969" cy="3880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      	      of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describe how the lines you drew on patty paper,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lie on the same plane.</a:t>
                </a:r>
              </a:p>
              <a:p>
                <a:endParaRPr lang="en-US" sz="2400" dirty="0"/>
              </a:p>
              <a:p>
                <a:pPr lvl="0"/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8" y="410789"/>
                <a:ext cx="10245969" cy="3880037"/>
              </a:xfrm>
              <a:prstGeom prst="rect">
                <a:avLst/>
              </a:prstGeom>
              <a:blipFill>
                <a:blip r:embed="rId3"/>
                <a:stretch>
                  <a:fillRect t="-1256" r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3622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A60F73-FF63-8A40-B9B1-BDCA18D900B5}"/>
              </a:ext>
            </a:extLst>
          </p:cNvPr>
          <p:cNvSpPr/>
          <p:nvPr/>
        </p:nvSpPr>
        <p:spPr>
          <a:xfrm>
            <a:off x="3107189" y="1345446"/>
            <a:ext cx="2011680" cy="919401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4D9C9E02-FE1B-339D-3772-87E0882225F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325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1676896" y="186734"/>
            <a:ext cx="8123981" cy="925030"/>
            <a:chOff x="483765" y="934331"/>
            <a:chExt cx="8123981" cy="92503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C451481-9C77-0B49-8AE9-08A372EF525F}"/>
                </a:ext>
              </a:extLst>
            </p:cNvPr>
            <p:cNvSpPr/>
            <p:nvPr/>
          </p:nvSpPr>
          <p:spPr>
            <a:xfrm>
              <a:off x="483765" y="934331"/>
              <a:ext cx="8123981" cy="925030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76B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Parallel lines</a:t>
              </a:r>
              <a:r>
                <a:rPr lang="en-US" sz="2000" dirty="0">
                  <a:solidFill>
                    <a:srgbClr val="0076B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do not intersect and lie in the same plane.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image15.png" descr="Icon&#10;&#10;Description automatically generated">
              <a:extLst>
                <a:ext uri="{FF2B5EF4-FFF2-40B4-BE49-F238E27FC236}">
                  <a16:creationId xmlns:a16="http://schemas.microsoft.com/office/drawing/2014/main" id="{5C020991-2956-BE4B-932A-174F8D6555E9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32265" y="1055282"/>
              <a:ext cx="626714" cy="625977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E88C73F-65BB-D5F1-1FE6-7FDE33B1721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72F42F5-98A6-868E-B6EA-9EB0BC595D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408220"/>
                  </p:ext>
                </p:extLst>
              </p:nvPr>
            </p:nvGraphicFramePr>
            <p:xfrm>
              <a:off x="916151" y="1722998"/>
              <a:ext cx="10359699" cy="418381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53233">
                      <a:extLst>
                        <a:ext uri="{9D8B030D-6E8A-4147-A177-3AD203B41FA5}">
                          <a16:colId xmlns:a16="http://schemas.microsoft.com/office/drawing/2014/main" val="673153012"/>
                        </a:ext>
                      </a:extLst>
                    </a:gridCol>
                    <a:gridCol w="3453233">
                      <a:extLst>
                        <a:ext uri="{9D8B030D-6E8A-4147-A177-3AD203B41FA5}">
                          <a16:colId xmlns:a16="http://schemas.microsoft.com/office/drawing/2014/main" val="3303485096"/>
                        </a:ext>
                      </a:extLst>
                    </a:gridCol>
                    <a:gridCol w="3453233">
                      <a:extLst>
                        <a:ext uri="{9D8B030D-6E8A-4147-A177-3AD203B41FA5}">
                          <a16:colId xmlns:a16="http://schemas.microsoft.com/office/drawing/2014/main" val="2577419233"/>
                        </a:ext>
                      </a:extLst>
                    </a:gridCol>
                  </a:tblGrid>
                  <a:tr h="736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Parallel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𝑇𝑊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.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Parallel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𝑇𝑊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.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Parallel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𝑇𝑊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𝐵</m:t>
                              </m:r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, </m:t>
                              </m:r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𝐶</m:t>
                              </m:r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.</a:t>
                          </a:r>
                          <a:r>
                            <a:rPr lang="en-US" sz="18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5001860"/>
                      </a:ext>
                    </a:extLst>
                  </a:tr>
                  <a:tr h="3447393"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166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72F42F5-98A6-868E-B6EA-9EB0BC595D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408220"/>
                  </p:ext>
                </p:extLst>
              </p:nvPr>
            </p:nvGraphicFramePr>
            <p:xfrm>
              <a:off x="916151" y="1722998"/>
              <a:ext cx="10359699" cy="418381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53233">
                      <a:extLst>
                        <a:ext uri="{9D8B030D-6E8A-4147-A177-3AD203B41FA5}">
                          <a16:colId xmlns:a16="http://schemas.microsoft.com/office/drawing/2014/main" val="673153012"/>
                        </a:ext>
                      </a:extLst>
                    </a:gridCol>
                    <a:gridCol w="3453233">
                      <a:extLst>
                        <a:ext uri="{9D8B030D-6E8A-4147-A177-3AD203B41FA5}">
                          <a16:colId xmlns:a16="http://schemas.microsoft.com/office/drawing/2014/main" val="3303485096"/>
                        </a:ext>
                      </a:extLst>
                    </a:gridCol>
                    <a:gridCol w="3453233">
                      <a:extLst>
                        <a:ext uri="{9D8B030D-6E8A-4147-A177-3AD203B41FA5}">
                          <a16:colId xmlns:a16="http://schemas.microsoft.com/office/drawing/2014/main" val="2577419233"/>
                        </a:ext>
                      </a:extLst>
                    </a:gridCol>
                  </a:tblGrid>
                  <a:tr h="7364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8" t="-1724" r="-200368" b="-4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8" t="-1724" r="-100368" b="-4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68" t="-1724" r="-368" b="-47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001860"/>
                      </a:ext>
                    </a:extLst>
                  </a:tr>
                  <a:tr h="3447393"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1666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0361224-41A0-204B-E5E0-B761750D2FE8}"/>
              </a:ext>
            </a:extLst>
          </p:cNvPr>
          <p:cNvSpPr txBox="1"/>
          <p:nvPr/>
        </p:nvSpPr>
        <p:spPr>
          <a:xfrm>
            <a:off x="830317" y="1232715"/>
            <a:ext cx="615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cap="non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The table shows multiple examples of parallel lines.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797313-EFD9-568F-A3CD-DB5E432AAF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565" r="19336"/>
          <a:stretch/>
        </p:blipFill>
        <p:spPr bwMode="auto">
          <a:xfrm>
            <a:off x="1318281" y="2839218"/>
            <a:ext cx="2549525" cy="2294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9FCDB0-A03F-8DC0-C030-AC04634670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542" t="22763" r="1512" b="23762"/>
          <a:stretch/>
        </p:blipFill>
        <p:spPr bwMode="auto">
          <a:xfrm>
            <a:off x="4337814" y="3137654"/>
            <a:ext cx="3427621" cy="10241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4B0BE9-CE99-C7BC-EC78-A9E074F31A0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631" r="7631"/>
          <a:stretch/>
        </p:blipFill>
        <p:spPr>
          <a:xfrm>
            <a:off x="7911290" y="2701433"/>
            <a:ext cx="3218705" cy="21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07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245EB41-A57E-F8BF-8869-659EF2C7158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2698" y="68550"/>
            <a:ext cx="91961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1.1.3 Collaboration: Definitions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168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045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44062" y="1394251"/>
                <a:ext cx="10281138" cy="313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Continue using the patty paper from the previous component.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a point on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Then, fold the patty paper along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𝐵𝐻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copy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naming it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Unfold the paper and draw a line segment that connects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angle does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𝑅𝑌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form with the dashed line?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2" y="1394251"/>
                <a:ext cx="10281138" cy="3138936"/>
              </a:xfrm>
              <a:prstGeom prst="rect">
                <a:avLst/>
              </a:prstGeom>
              <a:blipFill>
                <a:blip r:embed="rId4"/>
                <a:stretch>
                  <a:fillRect l="-863" t="-1205" b="-3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E3B18D-55B0-9448-839E-EE1B33A0C21E}"/>
              </a:ext>
            </a:extLst>
          </p:cNvPr>
          <p:cNvGrpSpPr/>
          <p:nvPr/>
        </p:nvGrpSpPr>
        <p:grpSpPr>
          <a:xfrm>
            <a:off x="2156298" y="5081075"/>
            <a:ext cx="6629400" cy="2223623"/>
            <a:chOff x="0" y="-998500"/>
            <a:chExt cx="6629400" cy="22236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EC14E33-E6E3-E044-BA3E-14EBA2C37D7E}"/>
                </a:ext>
              </a:extLst>
            </p:cNvPr>
            <p:cNvGrpSpPr/>
            <p:nvPr/>
          </p:nvGrpSpPr>
          <p:grpSpPr>
            <a:xfrm>
              <a:off x="0" y="-998500"/>
              <a:ext cx="6629400" cy="2223619"/>
              <a:chOff x="2031300" y="2281501"/>
              <a:chExt cx="6629400" cy="218417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62DDA2B-3A16-CD46-96E3-1DCF79A4D895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05A31D9-0CE3-BB47-AD7D-E5BE381BF93D}"/>
                  </a:ext>
                </a:extLst>
              </p:cNvPr>
              <p:cNvGrpSpPr/>
              <p:nvPr/>
            </p:nvGrpSpPr>
            <p:grpSpPr>
              <a:xfrm>
                <a:off x="2031300" y="2281501"/>
                <a:ext cx="6629400" cy="2184171"/>
                <a:chOff x="2031300" y="2392813"/>
                <a:chExt cx="6629400" cy="218417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AF92F55-3CFE-6D4A-AAA0-F41F6F2C7F31}"/>
                    </a:ext>
                  </a:extLst>
                </p:cNvPr>
                <p:cNvSpPr/>
                <p:nvPr/>
              </p:nvSpPr>
              <p:spPr>
                <a:xfrm>
                  <a:off x="2031300" y="3373599"/>
                  <a:ext cx="6629400" cy="12033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B87B5ED6-E3A0-F547-91BD-3A8BA3383680}"/>
                    </a:ext>
                  </a:extLst>
                </p:cNvPr>
                <p:cNvGrpSpPr/>
                <p:nvPr/>
              </p:nvGrpSpPr>
              <p:grpSpPr>
                <a:xfrm>
                  <a:off x="2031300" y="2392813"/>
                  <a:ext cx="6629400" cy="1793587"/>
                  <a:chOff x="2031300" y="2392813"/>
                  <a:chExt cx="6629400" cy="1793587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0EA31866-7F67-1D47-8AFB-C075E2CC31CE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4A16299E-3D86-6F43-AAC6-5BFF0958916B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2392813"/>
                    <a:ext cx="6629400" cy="1793587"/>
                    <a:chOff x="0" y="-980787"/>
                    <a:chExt cx="6629400" cy="1793587"/>
                  </a:xfrm>
                </p:grpSpPr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505FA6EE-EBA9-4343-A398-5C1F68652D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3" name="Rounded Rectangle 22">
                          <a:extLst>
                            <a:ext uri="{FF2B5EF4-FFF2-40B4-BE49-F238E27FC236}">
                              <a16:creationId xmlns:a16="http://schemas.microsoft.com/office/drawing/2014/main" id="{BE68F4E1-DEF0-514B-8768-B349B06123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-980787"/>
                          <a:ext cx="6629400" cy="980785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E2EED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685800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solidFill>
                                <a:srgbClr val="6D983E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sz="2000" b="1" i="1" dirty="0">
                              <a:solidFill>
                                <a:srgbClr val="6D983E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right angle</a:t>
                          </a:r>
                          <a:r>
                            <a:rPr lang="en-US" sz="2000" b="1" dirty="0">
                              <a:solidFill>
                                <a:srgbClr val="6D983E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6D983E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is an angle measuring exactly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6D983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90°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6D983E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endParaRPr lang="en-US" sz="2000" dirty="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3" name="Rounded Rectangle 22">
                          <a:extLst>
                            <a:ext uri="{FF2B5EF4-FFF2-40B4-BE49-F238E27FC236}">
                              <a16:creationId xmlns:a16="http://schemas.microsoft.com/office/drawing/2014/main" id="{BE68F4E1-DEF0-514B-8768-B349B06123C5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0" y="-980787"/>
                          <a:ext cx="6629400" cy="980785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</p:grpSp>
        </p:grpSp>
        <p:pic>
          <p:nvPicPr>
            <p:cNvPr id="14" name="Shape 11" descr="Icon&#10;&#10;Description automatically generated">
              <a:extLst>
                <a:ext uri="{FF2B5EF4-FFF2-40B4-BE49-F238E27FC236}">
                  <a16:creationId xmlns:a16="http://schemas.microsoft.com/office/drawing/2014/main" id="{C9601B31-EC2C-1D4E-915B-48FA181ADA75}"/>
                </a:ext>
              </a:extLst>
            </p:cNvPr>
            <p:cNvPicPr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4804" y="-851016"/>
              <a:ext cx="580817" cy="58148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4" name="Google Shape;283;g104476d1465_1_17">
            <a:extLst>
              <a:ext uri="{FF2B5EF4-FFF2-40B4-BE49-F238E27FC236}">
                <a16:creationId xmlns:a16="http://schemas.microsoft.com/office/drawing/2014/main" id="{5885B95A-B2A2-F785-9AEC-19AD4B94E495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152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67508" y="410789"/>
                <a:ext cx="10245969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ruler to measure the distance between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dashed line, and between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dashed line. Write the measurements, with units, on the diagram.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partner: when you reflect an object across a line, will corresponding points be the same distance from the line of reflection? Summarize your discussion.</a:t>
                </a:r>
              </a:p>
              <a:p>
                <a:pPr lvl="0"/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8" y="410789"/>
                <a:ext cx="10245969" cy="5878532"/>
              </a:xfrm>
              <a:prstGeom prst="rect">
                <a:avLst/>
              </a:prstGeom>
              <a:blipFill>
                <a:blip r:embed="rId3"/>
                <a:stretch>
                  <a:fillRect t="-862" r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3622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42CFA-7B5D-054B-A0BD-56FF92B7115F}"/>
              </a:ext>
            </a:extLst>
          </p:cNvPr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404" b="17383"/>
          <a:stretch/>
        </p:blipFill>
        <p:spPr bwMode="auto">
          <a:xfrm>
            <a:off x="2930038" y="1842738"/>
            <a:ext cx="5100320" cy="2341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1467E7A-E606-1556-3AC8-153BD7C21E9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8200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55784" y="418890"/>
                <a:ext cx="10292861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 </a:t>
                </a:r>
              </a:p>
              <a:p>
                <a:pPr marL="457200">
                  <a:lnSpc>
                    <a:spcPct val="2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patty paper is similar to a			  By reflecting across a line of 			a parallel line was created. </a:t>
                </a:r>
              </a:p>
              <a:p>
                <a:pPr marL="457200">
                  <a:lnSpc>
                    <a:spcPct val="2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parallel line		     the same distance from the line of</a:t>
                </a:r>
              </a:p>
              <a:p>
                <a:pPr marL="9144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𝑅𝑌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related to the dashed line?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4" y="418890"/>
                <a:ext cx="10292861" cy="5262979"/>
              </a:xfrm>
              <a:prstGeom prst="rect">
                <a:avLst/>
              </a:prstGeom>
              <a:blipFill>
                <a:blip r:embed="rId3"/>
                <a:stretch>
                  <a:fillRect l="-863" t="-964" r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75522B-5B9E-254D-9387-FD92C3A2CD77}"/>
              </a:ext>
            </a:extLst>
          </p:cNvPr>
          <p:cNvSpPr/>
          <p:nvPr/>
        </p:nvSpPr>
        <p:spPr>
          <a:xfrm>
            <a:off x="6096000" y="867308"/>
            <a:ext cx="2276837" cy="103182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C42433-A1B7-2A4D-8137-127BE0292DC3}"/>
              </a:ext>
            </a:extLst>
          </p:cNvPr>
          <p:cNvSpPr/>
          <p:nvPr/>
        </p:nvSpPr>
        <p:spPr>
          <a:xfrm>
            <a:off x="3879391" y="1937906"/>
            <a:ext cx="2403876" cy="86541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reflection,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rotation,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3D46C7-DDFE-8442-A484-41D368CDECF4}"/>
              </a:ext>
            </a:extLst>
          </p:cNvPr>
          <p:cNvSpPr/>
          <p:nvPr/>
        </p:nvSpPr>
        <p:spPr>
          <a:xfrm>
            <a:off x="4031197" y="2886079"/>
            <a:ext cx="1894477" cy="74866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not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9BA010-2C59-D048-8257-FD85306E8F11}"/>
              </a:ext>
            </a:extLst>
          </p:cNvPr>
          <p:cNvSpPr/>
          <p:nvPr/>
        </p:nvSpPr>
        <p:spPr>
          <a:xfrm>
            <a:off x="1902850" y="3707178"/>
            <a:ext cx="2516749" cy="94992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B8E0E484-9D74-44CA-9495-0911C222E65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7698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9B5042-2E2B-3743-8819-2C9B27511F75}"/>
              </a:ext>
            </a:extLst>
          </p:cNvPr>
          <p:cNvGrpSpPr/>
          <p:nvPr/>
        </p:nvGrpSpPr>
        <p:grpSpPr>
          <a:xfrm>
            <a:off x="742235" y="131683"/>
            <a:ext cx="9263614" cy="946455"/>
            <a:chOff x="0" y="-160271"/>
            <a:chExt cx="9264432" cy="9466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9A819A-9FAD-4A47-87E3-B0CAE5C3DFB5}"/>
                </a:ext>
              </a:extLst>
            </p:cNvPr>
            <p:cNvGrpSpPr/>
            <p:nvPr/>
          </p:nvGrpSpPr>
          <p:grpSpPr>
            <a:xfrm>
              <a:off x="0" y="-160271"/>
              <a:ext cx="9264432" cy="946646"/>
              <a:chOff x="2031300" y="3226537"/>
              <a:chExt cx="9264432" cy="94664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6132DC7-FC83-B746-A58E-A42195205291}"/>
                  </a:ext>
                </a:extLst>
              </p:cNvPr>
              <p:cNvGrpSpPr/>
              <p:nvPr/>
            </p:nvGrpSpPr>
            <p:grpSpPr>
              <a:xfrm>
                <a:off x="2031300" y="3226537"/>
                <a:ext cx="9264432" cy="946646"/>
                <a:chOff x="0" y="-160271"/>
                <a:chExt cx="9264432" cy="946646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38582AC-CC0C-E64A-9DDA-81A1A901F4A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1E5DA77-56EF-3D4B-A6FC-DDBFC89971E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371B11A3-0CD1-0645-AA66-95A9FF84B82A}"/>
                    </a:ext>
                  </a:extLst>
                </p:cNvPr>
                <p:cNvSpPr/>
                <p:nvPr/>
              </p:nvSpPr>
              <p:spPr>
                <a:xfrm>
                  <a:off x="201328" y="-160271"/>
                  <a:ext cx="9063104" cy="87507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Perpendicular lines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are lines that intersect at right angles.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ED41189F-DCF9-084E-B46F-E73B26035CF6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95926" y="-62770"/>
              <a:ext cx="680068" cy="680068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2EFDDD7-271C-964B-86EC-F61E7A9BF71A}"/>
              </a:ext>
            </a:extLst>
          </p:cNvPr>
          <p:cNvSpPr txBox="1"/>
          <p:nvPr/>
        </p:nvSpPr>
        <p:spPr>
          <a:xfrm>
            <a:off x="327426" y="5895320"/>
            <a:ext cx="11300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two lines are perpendicular, then any two adjacent angles formed are ____________. </a:t>
            </a:r>
          </a:p>
        </p:txBody>
      </p:sp>
      <p:pic>
        <p:nvPicPr>
          <p:cNvPr id="15" name="Google Shape;283;g104476d1465_1_17">
            <a:extLst>
              <a:ext uri="{FF2B5EF4-FFF2-40B4-BE49-F238E27FC236}">
                <a16:creationId xmlns:a16="http://schemas.microsoft.com/office/drawing/2014/main" id="{E78770D0-817A-2D1D-D09C-A5F7304E966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7">
                <a:extLst>
                  <a:ext uri="{FF2B5EF4-FFF2-40B4-BE49-F238E27FC236}">
                    <a16:creationId xmlns:a16="http://schemas.microsoft.com/office/drawing/2014/main" id="{5501F6BC-242F-A20D-DC4B-6EC765E787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605108"/>
                  </p:ext>
                </p:extLst>
              </p:nvPr>
            </p:nvGraphicFramePr>
            <p:xfrm>
              <a:off x="916151" y="1722998"/>
              <a:ext cx="10948422" cy="418381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49474">
                      <a:extLst>
                        <a:ext uri="{9D8B030D-6E8A-4147-A177-3AD203B41FA5}">
                          <a16:colId xmlns:a16="http://schemas.microsoft.com/office/drawing/2014/main" val="673153012"/>
                        </a:ext>
                      </a:extLst>
                    </a:gridCol>
                    <a:gridCol w="3649474">
                      <a:extLst>
                        <a:ext uri="{9D8B030D-6E8A-4147-A177-3AD203B41FA5}">
                          <a16:colId xmlns:a16="http://schemas.microsoft.com/office/drawing/2014/main" val="3303485096"/>
                        </a:ext>
                      </a:extLst>
                    </a:gridCol>
                    <a:gridCol w="3649474">
                      <a:extLst>
                        <a:ext uri="{9D8B030D-6E8A-4147-A177-3AD203B41FA5}">
                          <a16:colId xmlns:a16="http://schemas.microsoft.com/office/drawing/2014/main" val="2577419233"/>
                        </a:ext>
                      </a:extLst>
                    </a:gridCol>
                  </a:tblGrid>
                  <a:tr h="736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Perpendicular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𝑅𝐵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𝑋</m:t>
                              </m:r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.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Perpendicular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𝑅𝐵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.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Perpendicular lines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𝐾𝑇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𝑅𝐵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shown in planes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.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800" b="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5001860"/>
                      </a:ext>
                    </a:extLst>
                  </a:tr>
                  <a:tr h="3447393"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166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7">
                <a:extLst>
                  <a:ext uri="{FF2B5EF4-FFF2-40B4-BE49-F238E27FC236}">
                    <a16:creationId xmlns:a16="http://schemas.microsoft.com/office/drawing/2014/main" id="{5501F6BC-242F-A20D-DC4B-6EC765E787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605108"/>
                  </p:ext>
                </p:extLst>
              </p:nvPr>
            </p:nvGraphicFramePr>
            <p:xfrm>
              <a:off x="916151" y="1722998"/>
              <a:ext cx="10948422" cy="418381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49474">
                      <a:extLst>
                        <a:ext uri="{9D8B030D-6E8A-4147-A177-3AD203B41FA5}">
                          <a16:colId xmlns:a16="http://schemas.microsoft.com/office/drawing/2014/main" val="673153012"/>
                        </a:ext>
                      </a:extLst>
                    </a:gridCol>
                    <a:gridCol w="3649474">
                      <a:extLst>
                        <a:ext uri="{9D8B030D-6E8A-4147-A177-3AD203B41FA5}">
                          <a16:colId xmlns:a16="http://schemas.microsoft.com/office/drawing/2014/main" val="3303485096"/>
                        </a:ext>
                      </a:extLst>
                    </a:gridCol>
                    <a:gridCol w="3649474">
                      <a:extLst>
                        <a:ext uri="{9D8B030D-6E8A-4147-A177-3AD203B41FA5}">
                          <a16:colId xmlns:a16="http://schemas.microsoft.com/office/drawing/2014/main" val="2577419233"/>
                        </a:ext>
                      </a:extLst>
                    </a:gridCol>
                  </a:tblGrid>
                  <a:tr h="7364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" t="-1724" r="-200000" b="-4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97" t="-1724" r="-100697" b="-4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724" r="-347" b="-47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001860"/>
                      </a:ext>
                    </a:extLst>
                  </a:tr>
                  <a:tr h="3447393"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1666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0595DD3-7E31-4965-4A26-8C88BC4F7CE9}"/>
              </a:ext>
            </a:extLst>
          </p:cNvPr>
          <p:cNvSpPr txBox="1"/>
          <p:nvPr/>
        </p:nvSpPr>
        <p:spPr>
          <a:xfrm>
            <a:off x="830317" y="1232715"/>
            <a:ext cx="7966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cap="non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The table shows multiple examples of perpendicular lines.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42ECE-949C-B092-6CFB-FC1AEFBCD4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8" r="16395"/>
          <a:stretch/>
        </p:blipFill>
        <p:spPr>
          <a:xfrm>
            <a:off x="1528606" y="2805032"/>
            <a:ext cx="2528036" cy="21685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F922AC-A1CD-041E-4194-CA104EC70F2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1539"/>
          <a:stretch/>
        </p:blipFill>
        <p:spPr>
          <a:xfrm>
            <a:off x="4985974" y="2770132"/>
            <a:ext cx="2974633" cy="2305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7A3AA9-6E83-7E25-72F3-AD9F7418050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181" r="4562"/>
          <a:stretch/>
        </p:blipFill>
        <p:spPr>
          <a:xfrm>
            <a:off x="8313026" y="2886182"/>
            <a:ext cx="3456957" cy="21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9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37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E1DD28-2108-504B-8CD6-D26897EBB0B2}"/>
              </a:ext>
            </a:extLst>
          </p:cNvPr>
          <p:cNvGrpSpPr/>
          <p:nvPr/>
        </p:nvGrpSpPr>
        <p:grpSpPr>
          <a:xfrm>
            <a:off x="1310006" y="-125886"/>
            <a:ext cx="9231338" cy="1354543"/>
            <a:chOff x="-704780" y="0"/>
            <a:chExt cx="9232136" cy="135464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E33B65-2841-CD4A-AA3F-35D7B1ED7E63}"/>
                </a:ext>
              </a:extLst>
            </p:cNvPr>
            <p:cNvSpPr/>
            <p:nvPr/>
          </p:nvSpPr>
          <p:spPr>
            <a:xfrm>
              <a:off x="0" y="0"/>
              <a:ext cx="6629400" cy="786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277586C-A63E-C546-9DD6-129E1F65A6BF}"/>
                </a:ext>
              </a:extLst>
            </p:cNvPr>
            <p:cNvSpPr/>
            <p:nvPr/>
          </p:nvSpPr>
          <p:spPr>
            <a:xfrm>
              <a:off x="-704780" y="594141"/>
              <a:ext cx="9232136" cy="760504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Skew lines</a:t>
              </a: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are lines that do not intersect and are not parallel.</a:t>
              </a:r>
            </a:p>
            <a:p>
              <a:pPr marL="742950">
                <a:spcAft>
                  <a:spcPts val="1000"/>
                </a:spcAft>
              </a:pPr>
              <a:endParaRPr lang="en-US" sz="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9" name="image15.png" descr="Icon&#10;&#10;Description automatically generated">
            <a:extLst>
              <a:ext uri="{FF2B5EF4-FFF2-40B4-BE49-F238E27FC236}">
                <a16:creationId xmlns:a16="http://schemas.microsoft.com/office/drawing/2014/main" id="{EAB92925-98BA-044B-B286-A4DABC2173A9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27655" y="494681"/>
            <a:ext cx="646001" cy="64600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E3A00476-0616-30E4-E35F-0510066FFDA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66B5A3-8405-CDEE-9FC2-500EC7FEE03D}"/>
              </a:ext>
            </a:extLst>
          </p:cNvPr>
          <p:cNvSpPr txBox="1"/>
          <p:nvPr/>
        </p:nvSpPr>
        <p:spPr>
          <a:xfrm>
            <a:off x="1310006" y="1488869"/>
            <a:ext cx="615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table shows an example of skew lines.</a:t>
            </a:r>
            <a:endParaRPr lang="en-US" sz="18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D88DB-11E4-B163-54BB-10193DA31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388" y="1858201"/>
            <a:ext cx="7772400" cy="362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12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5A156520-79A3-E57D-C3AA-CA8B5FB1EEA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1938" y="-74346"/>
            <a:ext cx="95543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004" y="2252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79230" y="1394250"/>
            <a:ext cx="10245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Rate yourself based on what you understood in today’s lesson.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EFEAC5-2D83-7E4C-93CB-1D5F7B486C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6151221"/>
                  </p:ext>
                </p:extLst>
              </p:nvPr>
            </p:nvGraphicFramePr>
            <p:xfrm>
              <a:off x="1441938" y="2495361"/>
              <a:ext cx="7728966" cy="369232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102535">
                      <a:extLst>
                        <a:ext uri="{9D8B030D-6E8A-4147-A177-3AD203B41FA5}">
                          <a16:colId xmlns:a16="http://schemas.microsoft.com/office/drawing/2014/main" val="3085565606"/>
                        </a:ext>
                      </a:extLst>
                    </a:gridCol>
                    <a:gridCol w="3626431">
                      <a:extLst>
                        <a:ext uri="{9D8B030D-6E8A-4147-A177-3AD203B41FA5}">
                          <a16:colId xmlns:a16="http://schemas.microsoft.com/office/drawing/2014/main" val="2796695331"/>
                        </a:ext>
                      </a:extLst>
                    </a:gridCol>
                  </a:tblGrid>
                  <a:tr h="1469985"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Skill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am just starting.</a:t>
                          </a:r>
                        </a:p>
                        <a:p>
                          <a:pPr marL="0" marR="0" indent="4254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have some skills.</a:t>
                          </a:r>
                        </a:p>
                        <a:p>
                          <a:pPr marL="0" marR="0" indent="4254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am almost there.</a:t>
                          </a:r>
                        </a:p>
                        <a:p>
                          <a:pPr marL="0" marR="0" indent="4254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𝟒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have it!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9070809"/>
                      </a:ext>
                    </a:extLst>
                  </a:tr>
                  <a:tr h="659757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parallel lines. 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9132912"/>
                      </a:ext>
                    </a:extLst>
                  </a:tr>
                  <a:tr h="883607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perpendicular lines.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62191779"/>
                      </a:ext>
                    </a:extLst>
                  </a:tr>
                  <a:tr h="678975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a right angle.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606515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EFEAC5-2D83-7E4C-93CB-1D5F7B486C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6151221"/>
                  </p:ext>
                </p:extLst>
              </p:nvPr>
            </p:nvGraphicFramePr>
            <p:xfrm>
              <a:off x="1441938" y="2495361"/>
              <a:ext cx="7728966" cy="369232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102535">
                      <a:extLst>
                        <a:ext uri="{9D8B030D-6E8A-4147-A177-3AD203B41FA5}">
                          <a16:colId xmlns:a16="http://schemas.microsoft.com/office/drawing/2014/main" val="3085565606"/>
                        </a:ext>
                      </a:extLst>
                    </a:gridCol>
                    <a:gridCol w="3626431">
                      <a:extLst>
                        <a:ext uri="{9D8B030D-6E8A-4147-A177-3AD203B41FA5}">
                          <a16:colId xmlns:a16="http://schemas.microsoft.com/office/drawing/2014/main" val="2796695331"/>
                        </a:ext>
                      </a:extLst>
                    </a:gridCol>
                  </a:tblGrid>
                  <a:tr h="1469985"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Skill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3445" t="-413" r="-336" b="-15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9070809"/>
                      </a:ext>
                    </a:extLst>
                  </a:tr>
                  <a:tr h="659757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parallel lines. 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9132912"/>
                      </a:ext>
                    </a:extLst>
                  </a:tr>
                  <a:tr h="883607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perpendicular lines.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62191779"/>
                      </a:ext>
                    </a:extLst>
                  </a:tr>
                  <a:tr h="678975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can define a right angle.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254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6065153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9E0CE63-EAB3-CBB4-FF4C-BFCBFBBFB50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855785" y="431082"/>
            <a:ext cx="10304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Rate yourself based on how you feel about the following statements.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A057F2B-B43B-F64E-8B11-07A9669FD9E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079692-FA1F-494E-BCF1-9BA5119F47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7726131"/>
                  </p:ext>
                </p:extLst>
              </p:nvPr>
            </p:nvGraphicFramePr>
            <p:xfrm>
              <a:off x="1484471" y="1706049"/>
              <a:ext cx="7650099" cy="4040157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019362">
                      <a:extLst>
                        <a:ext uri="{9D8B030D-6E8A-4147-A177-3AD203B41FA5}">
                          <a16:colId xmlns:a16="http://schemas.microsoft.com/office/drawing/2014/main" val="496140001"/>
                        </a:ext>
                      </a:extLst>
                    </a:gridCol>
                    <a:gridCol w="3630737">
                      <a:extLst>
                        <a:ext uri="{9D8B030D-6E8A-4147-A177-3AD203B41FA5}">
                          <a16:colId xmlns:a16="http://schemas.microsoft.com/office/drawing/2014/main" val="2351670774"/>
                        </a:ext>
                      </a:extLst>
                    </a:gridCol>
                  </a:tblGrid>
                  <a:tr h="16326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struggle with this.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am ready to grow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in this area.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I am almost there.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– That’s me!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2154245"/>
                      </a:ext>
                    </a:extLst>
                  </a:tr>
                  <a:tr h="111117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am willing to try new things.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9299708"/>
                      </a:ext>
                    </a:extLst>
                  </a:tr>
                  <a:tr h="129636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persevere when something is challenging.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5501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079692-FA1F-494E-BCF1-9BA5119F47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7726131"/>
                  </p:ext>
                </p:extLst>
              </p:nvPr>
            </p:nvGraphicFramePr>
            <p:xfrm>
              <a:off x="1484471" y="1706049"/>
              <a:ext cx="7650099" cy="4040157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019362">
                      <a:extLst>
                        <a:ext uri="{9D8B030D-6E8A-4147-A177-3AD203B41FA5}">
                          <a16:colId xmlns:a16="http://schemas.microsoft.com/office/drawing/2014/main" val="496140001"/>
                        </a:ext>
                      </a:extLst>
                    </a:gridCol>
                    <a:gridCol w="3630737">
                      <a:extLst>
                        <a:ext uri="{9D8B030D-6E8A-4147-A177-3AD203B41FA5}">
                          <a16:colId xmlns:a16="http://schemas.microsoft.com/office/drawing/2014/main" val="2351670774"/>
                        </a:ext>
                      </a:extLst>
                    </a:gridCol>
                  </a:tblGrid>
                  <a:tr h="16326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906" t="-1119" r="-336" b="-1485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2154245"/>
                      </a:ext>
                    </a:extLst>
                  </a:tr>
                  <a:tr h="111117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am willing to try new things.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9299708"/>
                      </a:ext>
                    </a:extLst>
                  </a:tr>
                  <a:tr h="129636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persevere when something is challenging.</a:t>
                          </a:r>
                        </a:p>
                      </a:txBody>
                      <a:tcPr marL="1828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5501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E00FE614-6A56-48F9-897E-ED6E996489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6E12A4-2E78-4ACA-9035-1E1080933F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ECB8D3-89E5-4C48-974F-594F5F575674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1450</Words>
  <Application>Microsoft Office PowerPoint</Application>
  <PresentationFormat>Widescreen</PresentationFormat>
  <Paragraphs>249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1_Office Theme</vt:lpstr>
      <vt:lpstr>Geometry  Unit 1, Lesson 1  Defined and Undefined Terms – Part 1  Volume 1, pg. 3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49</cp:revision>
  <dcterms:created xsi:type="dcterms:W3CDTF">2015-03-17T18:51:18Z</dcterms:created>
  <dcterms:modified xsi:type="dcterms:W3CDTF">2025-01-18T13:32:32Z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