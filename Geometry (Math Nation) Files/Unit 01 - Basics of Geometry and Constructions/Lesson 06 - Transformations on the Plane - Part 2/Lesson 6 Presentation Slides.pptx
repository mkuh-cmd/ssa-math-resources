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08" r:id="rId10"/>
    <p:sldId id="326" r:id="rId11"/>
    <p:sldId id="328" r:id="rId12"/>
    <p:sldId id="327" r:id="rId13"/>
    <p:sldId id="330" r:id="rId14"/>
    <p:sldId id="329" r:id="rId15"/>
    <p:sldId id="332" r:id="rId16"/>
    <p:sldId id="333" r:id="rId17"/>
    <p:sldId id="331" r:id="rId18"/>
    <p:sldId id="323" r:id="rId19"/>
    <p:sldId id="324" r:id="rId20"/>
    <p:sldId id="325" r:id="rId21"/>
    <p:sldId id="334" r:id="rId22"/>
    <p:sldId id="302" r:id="rId23"/>
    <p:sldId id="303" r:id="rId24"/>
    <p:sldId id="309" r:id="rId25"/>
    <p:sldId id="306" r:id="rId26"/>
    <p:sldId id="307" r:id="rId27"/>
    <p:sldId id="310" r:id="rId28"/>
  </p:sldIdLst>
  <p:sldSz cx="12192000" cy="6858000"/>
  <p:notesSz cx="6858000" cy="9144000"/>
  <p:embeddedFontLst>
    <p:embeddedFont>
      <p:font typeface="Arial Black" panose="020B0A04020102020204" pitchFamily="34" charset="0"/>
      <p:bold r:id="rId30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5B"/>
    <a:srgbClr val="F79647"/>
    <a:srgbClr val="FCBD1E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77" autoAdjust="0"/>
    <p:restoredTop sz="94737"/>
  </p:normalViewPr>
  <p:slideViewPr>
    <p:cSldViewPr snapToGrid="0">
      <p:cViewPr varScale="1">
        <p:scale>
          <a:sx n="83" d="100"/>
          <a:sy n="83" d="100"/>
        </p:scale>
        <p:origin x="283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007931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1563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1962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22831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52349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06433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3229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5722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0770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38047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8492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tiff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tiff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tiff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tiff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4.tiff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tiff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tiff"/><Relationship Id="rId5" Type="http://schemas.openxmlformats.org/officeDocument/2006/relationships/image" Target="../media/image36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tiff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tiff"/><Relationship Id="rId5" Type="http://schemas.openxmlformats.org/officeDocument/2006/relationships/image" Target="../media/image41.png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Transformations on the Plane – Part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649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50" y="1600324"/>
            <a:ext cx="962386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MA.912.GR.2.3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 sequence of transformations that will map a given figure onto itself or onto another congruent or similar figure.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791"/>
            <a:ext cx="103987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958110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77C6829-C721-C84C-B217-05FC82BD090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8514" y="1530368"/>
            <a:ext cx="948169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describe a single transformation that was applied </a:t>
            </a:r>
            <a:endParaRPr lang="en-US" sz="3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84D53208-BBC5-F045-A1FC-36E1745FA757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2698" y="60449"/>
            <a:ext cx="1017605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1.6.1 Warm-Up: Which One Doesn’t Belong?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323" y="23106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847492" y="1386149"/>
            <a:ext cx="6686071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diagram shows four polygons.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polygon does not belong?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your reasoning.</a:t>
            </a:r>
          </a:p>
          <a:p>
            <a:pPr lvl="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2E26B32-0C88-7847-9ECA-D11545A204F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D61B4-BDF1-3C18-85BD-39D6F6AE1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0" y="1119899"/>
            <a:ext cx="4867518" cy="423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83112" y="-1"/>
            <a:ext cx="10403538" cy="1226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1.6.2 Guided Instruction: Determining a Single Transformation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7975" y="23983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58644" y="1226966"/>
                <a:ext cx="101141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1226966"/>
                <a:ext cx="10114155" cy="830997"/>
              </a:xfrm>
              <a:prstGeom prst="rect">
                <a:avLst/>
              </a:prstGeom>
              <a:blipFill>
                <a:blip r:embed="rId5"/>
                <a:stretch>
                  <a:fillRect l="-964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D185CEC-69E3-ED4E-87D7-D8AED7B3213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770BF6-1752-F74F-B3F3-BD8098D10869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0635" y="2129524"/>
            <a:ext cx="6045259" cy="439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288870"/>
                <a:ext cx="102925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used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288870"/>
                <a:ext cx="10292575" cy="830997"/>
              </a:xfrm>
              <a:prstGeom prst="rect">
                <a:avLst/>
              </a:prstGeom>
              <a:blipFill>
                <a:blip r:embed="rId4"/>
                <a:stretch>
                  <a:fillRect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B009C-1EB7-1741-B3FB-C89905402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038709"/>
              </p:ext>
            </p:extLst>
          </p:nvPr>
        </p:nvGraphicFramePr>
        <p:xfrm>
          <a:off x="1470173" y="1321829"/>
          <a:ext cx="7632000" cy="42062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7965028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73457098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727629928"/>
                    </a:ext>
                  </a:extLst>
                </a:gridCol>
              </a:tblGrid>
              <a:tr h="4799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Degrees or Scale Factor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37420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reflection is ______.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 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919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2" y="296971"/>
                <a:ext cx="102702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2" y="296971"/>
                <a:ext cx="10270274" cy="830997"/>
              </a:xfrm>
              <a:prstGeom prst="rect">
                <a:avLst/>
              </a:prstGeom>
              <a:blipFill>
                <a:blip r:embed="rId4"/>
                <a:stretch>
                  <a:fillRect l="-890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F961AF-76E5-214C-AE4A-58B5D214AEB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2723679" y="1092118"/>
            <a:ext cx="5430275" cy="576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475389"/>
                <a:ext cx="102702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used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475389"/>
                <a:ext cx="10270274" cy="830997"/>
              </a:xfrm>
              <a:prstGeom prst="rect">
                <a:avLst/>
              </a:prstGeom>
              <a:blipFill>
                <a:blip r:embed="rId4"/>
                <a:stretch>
                  <a:fillRect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B009C-1EB7-1741-B3FB-C89905402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18564"/>
              </p:ext>
            </p:extLst>
          </p:nvPr>
        </p:nvGraphicFramePr>
        <p:xfrm>
          <a:off x="1403266" y="1689763"/>
          <a:ext cx="7632000" cy="42062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7965028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73457098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727629928"/>
                    </a:ext>
                  </a:extLst>
                </a:gridCol>
              </a:tblGrid>
              <a:tr h="4799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Degrees or Scale Factor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37420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reflection is ______.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 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919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22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4" y="288870"/>
                <a:ext cx="102814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288870"/>
                <a:ext cx="10281424" cy="830997"/>
              </a:xfrm>
              <a:prstGeom prst="rect">
                <a:avLst/>
              </a:prstGeom>
              <a:blipFill>
                <a:blip r:embed="rId4"/>
                <a:stretch>
                  <a:fillRect l="-949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4467A0-D366-2A48-BD43-8FF4F307C57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97164" y="1206555"/>
            <a:ext cx="6223000" cy="536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74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47493" y="467288"/>
                <a:ext cx="103117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used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467288"/>
                <a:ext cx="10311728" cy="830997"/>
              </a:xfrm>
              <a:prstGeom prst="rect">
                <a:avLst/>
              </a:prstGeom>
              <a:blipFill>
                <a:blip r:embed="rId4"/>
                <a:stretch>
                  <a:fillRect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B009C-1EB7-1741-B3FB-C89905402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95560"/>
              </p:ext>
            </p:extLst>
          </p:nvPr>
        </p:nvGraphicFramePr>
        <p:xfrm>
          <a:off x="1434224" y="1685713"/>
          <a:ext cx="7632000" cy="42062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7965028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73457098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727629928"/>
                    </a:ext>
                  </a:extLst>
                </a:gridCol>
              </a:tblGrid>
              <a:tr h="4799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Degrees or Scale Factor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37420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reflection is ______.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 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919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6041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58643" y="508843"/>
                <a:ext cx="1024797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𝑊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𝑋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𝑌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𝑉𝑊𝑋𝑌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3" y="508843"/>
                <a:ext cx="10247971" cy="830997"/>
              </a:xfrm>
              <a:prstGeom prst="rect">
                <a:avLst/>
              </a:prstGeom>
              <a:blipFill>
                <a:blip r:embed="rId4"/>
                <a:stretch>
                  <a:fillRect l="-952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9CC3CA-CD76-AF45-B8A5-6A4B69942910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4"/>
          <a:stretch/>
        </p:blipFill>
        <p:spPr bwMode="auto">
          <a:xfrm>
            <a:off x="1643965" y="1731467"/>
            <a:ext cx="7245959" cy="43347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530373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869794" y="500740"/>
                <a:ext cx="1027577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used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4" y="500740"/>
                <a:ext cx="10275779" cy="830997"/>
              </a:xfrm>
              <a:prstGeom prst="rect">
                <a:avLst/>
              </a:prstGeom>
              <a:blipFill>
                <a:blip r:embed="rId4"/>
                <a:stretch>
                  <a:fillRect t="-5882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01B009C-1EB7-1741-B3FB-C89905402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860437"/>
              </p:ext>
            </p:extLst>
          </p:nvPr>
        </p:nvGraphicFramePr>
        <p:xfrm>
          <a:off x="1436720" y="1685712"/>
          <a:ext cx="7632000" cy="420624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2647965028"/>
                    </a:ext>
                  </a:extLst>
                </a:gridCol>
                <a:gridCol w="2952000">
                  <a:extLst>
                    <a:ext uri="{9D8B030D-6E8A-4147-A177-3AD203B41FA5}">
                      <a16:colId xmlns:a16="http://schemas.microsoft.com/office/drawing/2014/main" val="734570985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727629928"/>
                    </a:ext>
                  </a:extLst>
                </a:gridCol>
              </a:tblGrid>
              <a:tr h="4799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Type of Transformation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Center, Line, or Movement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Degrees or Scale Factor</a:t>
                      </a:r>
                    </a:p>
                  </a:txBody>
                  <a:tcPr marL="137160" marR="137160" marT="137160" marB="1371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837420"/>
                  </a:ext>
                </a:extLst>
              </a:tr>
              <a:tr h="3240000">
                <a:tc>
                  <a:txBody>
                    <a:bodyPr/>
                    <a:lstStyle/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  <a:p>
                      <a:pPr marL="273050" marR="0" lvl="0" indent="-2730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ourier New" panose="02070309020205020404" pitchFamily="49" charset="0"/>
                        <a:buChar char="o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dilation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Center of rotation is 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Line of reflection is ______.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Down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Left 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Right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itchFamily="2" charset="2"/>
                        <a:buChar char=""/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Up 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137160" marR="137160" marT="137160" marB="1371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2919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4117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58644" y="500739"/>
            <a:ext cx="10291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chart so it can be used to distinguish between similar-looking transformations. First, write your own hints. Then, exchange hints with your partner.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A44B5-3021-4F48-8C76-C946C95EFE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25528"/>
              </p:ext>
            </p:extLst>
          </p:nvPr>
        </p:nvGraphicFramePr>
        <p:xfrm>
          <a:off x="1471825" y="2009433"/>
          <a:ext cx="7560000" cy="4140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68460889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756329064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336784758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42545" marR="0" indent="-42545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Hints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Partner’s Hints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03374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7417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Reflection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537251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1319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Translation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074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810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847492" y="754169"/>
            <a:ext cx="10230033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 startAt="6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Which transformations resulted in congruent figures?</a:t>
            </a:r>
          </a:p>
          <a:p>
            <a:pPr marL="985838" indent="-414338">
              <a:buFont typeface="Wingdings" pitchFamily="2" charset="2"/>
              <a:buChar char="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Dilation</a:t>
            </a:r>
          </a:p>
          <a:p>
            <a:pPr marL="985838" indent="-414338">
              <a:buFont typeface="Wingdings" pitchFamily="2" charset="2"/>
              <a:buChar char="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Reflection</a:t>
            </a:r>
          </a:p>
          <a:p>
            <a:pPr marL="985838" indent="-414338">
              <a:buFont typeface="Wingdings" pitchFamily="2" charset="2"/>
              <a:buChar char="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Rotation</a:t>
            </a:r>
          </a:p>
          <a:p>
            <a:pPr marL="985838" indent="-414338">
              <a:buFont typeface="Wingdings" pitchFamily="2" charset="2"/>
              <a:buChar char="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Translation</a:t>
            </a:r>
          </a:p>
          <a:p>
            <a:pPr marL="914400" indent="-34290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When a transformation results in a congruent figure, what is another name that can be used for that transformation? 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B29BDED-917F-0645-8F07-B04061D83C6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2741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2698" y="128939"/>
            <a:ext cx="10466460" cy="1159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1.6.3 Guided Practice: Describing Transformations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3248" y="2466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922632" y="1270239"/>
                <a:ext cx="10195134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 diagrams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transformation that was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applied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632" y="1270239"/>
                <a:ext cx="10195134" cy="2893100"/>
              </a:xfrm>
              <a:prstGeom prst="rect">
                <a:avLst/>
              </a:prstGeom>
              <a:blipFill>
                <a:blip r:embed="rId5"/>
                <a:stretch>
                  <a:fillRect l="-897" t="-1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0D0C5ECD-32B3-814E-9ECE-3E62993CA72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1" name="Picture 10" descr="Chart, line chart&#10;&#10;Description automatically generated">
            <a:extLst>
              <a:ext uri="{FF2B5EF4-FFF2-40B4-BE49-F238E27FC236}">
                <a16:creationId xmlns:a16="http://schemas.microsoft.com/office/drawing/2014/main" id="{A7C582A1-DAC1-E14F-A5DD-C15C9452BAB1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55774" y="2116929"/>
            <a:ext cx="5413594" cy="351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13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090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858644" y="609426"/>
                <a:ext cx="1028142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applied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609426"/>
                <a:ext cx="10281424" cy="830997"/>
              </a:xfrm>
              <a:prstGeom prst="rect">
                <a:avLst/>
              </a:prstGeom>
              <a:blipFill>
                <a:blip r:embed="rId4"/>
                <a:stretch>
                  <a:fillRect l="-949" t="-6618" b="-154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BE694B58-34B6-F641-A75B-F5C465E4621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0193" y="1883312"/>
            <a:ext cx="7922376" cy="34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847493" y="386406"/>
                <a:ext cx="10292575" cy="6155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applied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Review your hints chart and add anything else you think will be helpful.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386406"/>
                <a:ext cx="10292575" cy="6155531"/>
              </a:xfrm>
              <a:prstGeom prst="rect">
                <a:avLst/>
              </a:prstGeom>
              <a:blipFill>
                <a:blip r:embed="rId4"/>
                <a:stretch>
                  <a:fillRect l="-889" t="-891" b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91AC6BBB-5763-8341-B240-C23FCD1B4259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8A5B4-A418-DB42-BC3D-2F696F4DAD6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8616" y="1236903"/>
            <a:ext cx="5868920" cy="409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200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E3C8BB3-D8AE-154C-9B2D-B1D7451436F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49658" y="178419"/>
            <a:ext cx="7622291" cy="61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1.6.4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789" y="60449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58643" y="1270258"/>
                <a:ext cx="5705929" cy="2923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applied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  <a:p>
                <a:pPr lvl="0"/>
                <a:endParaRPr lang="en-US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3" y="1270258"/>
                <a:ext cx="5705929" cy="2923877"/>
              </a:xfrm>
              <a:prstGeom prst="rect">
                <a:avLst/>
              </a:prstGeom>
              <a:blipFill>
                <a:blip r:embed="rId5"/>
                <a:stretch>
                  <a:fillRect l="-1709" t="-1875" r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781A9CA2-0645-4547-8E05-A9C337F9CC05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9565DC-8383-8D4F-AAA4-49248DA2C261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5711" y="807749"/>
            <a:ext cx="4895724" cy="4228043"/>
          </a:xfrm>
          <a:prstGeom prst="rect">
            <a:avLst/>
          </a:prstGeom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DABA57C7-EB8A-B14F-B02B-71F6CBDAB37A}"/>
              </a:ext>
            </a:extLst>
          </p:cNvPr>
          <p:cNvSpPr txBox="1"/>
          <p:nvPr/>
        </p:nvSpPr>
        <p:spPr>
          <a:xfrm>
            <a:off x="8889924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836341" y="240803"/>
                <a:ext cx="10257960" cy="6247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transformation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single transformation that was applied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𝐹𝐺𝐻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create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𝐹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𝐺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  <m:r>
                      <a:rPr lang="en-US" sz="2400" i="1">
                        <a:latin typeface="Cambria Math"/>
                      </a:rPr>
                      <m:t>𝐻</m:t>
                    </m:r>
                    <m:r>
                      <a:rPr lang="en-US" sz="2400" i="1">
                        <a:latin typeface="Cambria Math"/>
                      </a:rPr>
                      <m:t>′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 </a:t>
                </a:r>
              </a:p>
              <a:p>
                <a:pPr lvl="0"/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341" y="240803"/>
                <a:ext cx="10257960" cy="6247864"/>
              </a:xfrm>
              <a:prstGeom prst="rect">
                <a:avLst/>
              </a:prstGeom>
              <a:blipFill>
                <a:blip r:embed="rId4"/>
                <a:stretch>
                  <a:fillRect l="-891" t="-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8FE59E28-D820-CB4E-8A39-A020690B276D}"/>
              </a:ext>
            </a:extLst>
          </p:cNvPr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71CFD0-C594-754D-8D9B-A13FE1CFC7BD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3818" y="1010259"/>
            <a:ext cx="5206106" cy="4302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04476d1465_1_17"/>
          <p:cNvSpPr txBox="1"/>
          <p:nvPr/>
        </p:nvSpPr>
        <p:spPr>
          <a:xfrm>
            <a:off x="8891036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9262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09080" y="213499"/>
            <a:ext cx="10782919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0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1.6.5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247" y="1629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847493" y="1386150"/>
                <a:ext cx="1023681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diagram shows four different single transformations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𝑌𝐹𝐵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93" y="1386150"/>
                <a:ext cx="10236819" cy="830997"/>
              </a:xfrm>
              <a:prstGeom prst="rect">
                <a:avLst/>
              </a:prstGeom>
              <a:blipFill>
                <a:blip r:embed="rId5"/>
                <a:stretch>
                  <a:fillRect l="-89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055A48D7-DC81-5F4D-9632-5F42A5D9EE47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0ABB08-E3E1-764B-85F4-BEAD2B93DDFD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0749" y="2217147"/>
            <a:ext cx="6667411" cy="433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767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89924" y="645474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/>
              <p:nvPr/>
            </p:nvSpPr>
            <p:spPr>
              <a:xfrm>
                <a:off x="858644" y="431083"/>
                <a:ext cx="1027027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85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chart by naming and describing the type of transformation that was applied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∆</m:t>
                    </m:r>
                    <m:r>
                      <a:rPr lang="en-US" sz="2400" i="1">
                        <a:latin typeface="Cambria Math"/>
                      </a:rPr>
                      <m:t>𝑌𝐹𝐵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result in each triangle.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CE9D117-FAE6-F74F-940B-9CD147975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644" y="431083"/>
                <a:ext cx="10270273" cy="1200329"/>
              </a:xfrm>
              <a:prstGeom prst="rect">
                <a:avLst/>
              </a:prstGeom>
              <a:blipFill>
                <a:blip r:embed="rId4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5A057F2B-B43B-F64E-8B11-07A9669FD9E1}"/>
              </a:ext>
            </a:extLst>
          </p:cNvPr>
          <p:cNvSpPr/>
          <p:nvPr/>
        </p:nvSpPr>
        <p:spPr>
          <a:xfrm>
            <a:off x="0" y="-11151"/>
            <a:ext cx="223200" cy="6866100"/>
          </a:xfrm>
          <a:prstGeom prst="rect">
            <a:avLst/>
          </a:prstGeom>
          <a:solidFill>
            <a:srgbClr val="F25E5B"/>
          </a:solidFill>
          <a:ln w="9525" cap="flat" cmpd="sng">
            <a:solidFill>
              <a:srgbClr val="F25E5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0691E40-76F5-6D4F-87C6-7C7AC9A5BC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548186"/>
                  </p:ext>
                </p:extLst>
              </p:nvPr>
            </p:nvGraphicFramePr>
            <p:xfrm>
              <a:off x="1707485" y="1936763"/>
              <a:ext cx="7740000" cy="432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1620933458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255029618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1788685608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Type of Transformation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the Transformation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09848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∆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𝑃𝐿𝐶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576562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∆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𝑇𝐾𝑍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4992412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∆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𝐺𝑉𝑆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4526777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∆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𝐷𝑊𝑁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1519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30691E40-76F5-6D4F-87C6-7C7AC9A5BC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1548186"/>
                  </p:ext>
                </p:extLst>
              </p:nvPr>
            </p:nvGraphicFramePr>
            <p:xfrm>
              <a:off x="1707485" y="1936763"/>
              <a:ext cx="7740000" cy="4320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1620933458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255029618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val="1788685608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Triangle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Type of Transformation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Description of the Transformation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9098486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6" t="-81757" r="-378195" b="-3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0576562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6" t="-181757" r="-378195" b="-2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49924127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6" t="-281757" r="-378195" b="-10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45267773"/>
                      </a:ext>
                    </a:extLst>
                  </a:tr>
                  <a:tr h="90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6" t="-381757" r="-378195" b="-13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61519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33964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1361</TotalTime>
  <Words>1045</Words>
  <Application>Microsoft Office PowerPoint</Application>
  <PresentationFormat>Widescreen</PresentationFormat>
  <Paragraphs>240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Calibri</vt:lpstr>
      <vt:lpstr>Arial Black</vt:lpstr>
      <vt:lpstr>Verdana</vt:lpstr>
      <vt:lpstr>Courier New</vt:lpstr>
      <vt:lpstr>Century Gothic</vt:lpstr>
      <vt:lpstr>Arial</vt:lpstr>
      <vt:lpstr>Wingdings</vt:lpstr>
      <vt:lpstr>Cambria Math</vt:lpstr>
      <vt:lpstr>1_Office Theme</vt:lpstr>
      <vt:lpstr>Geometry  Unit 1, Lesson 6  Transformations on the Plane – Part 2  Volume 1, pg. 34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29</cp:revision>
  <dcterms:created xsi:type="dcterms:W3CDTF">2015-03-17T18:51:18Z</dcterms:created>
  <dcterms:modified xsi:type="dcterms:W3CDTF">2022-07-25T01:04:04Z</dcterms:modified>
</cp:coreProperties>
</file>