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5" r:id="rId4"/>
    <p:sldId id="286" r:id="rId5"/>
    <p:sldId id="261" r:id="rId6"/>
    <p:sldId id="287" r:id="rId7"/>
    <p:sldId id="317" r:id="rId8"/>
    <p:sldId id="318" r:id="rId9"/>
    <p:sldId id="288" r:id="rId10"/>
    <p:sldId id="319" r:id="rId11"/>
    <p:sldId id="323" r:id="rId12"/>
    <p:sldId id="289" r:id="rId13"/>
    <p:sldId id="290" r:id="rId14"/>
    <p:sldId id="308" r:id="rId15"/>
    <p:sldId id="320" r:id="rId16"/>
    <p:sldId id="321" r:id="rId17"/>
    <p:sldId id="322" r:id="rId18"/>
    <p:sldId id="306" r:id="rId19"/>
    <p:sldId id="307" r:id="rId20"/>
  </p:sldIdLst>
  <p:sldSz cx="12192000" cy="6858000"/>
  <p:notesSz cx="6858000" cy="9144000"/>
  <p:embeddedFontLst>
    <p:embeddedFont>
      <p:font typeface="Arial Black" panose="020B0604020202020204" pitchFamily="34" charset="0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ambria" panose="02040503050406030204" pitchFamily="18" charset="0"/>
      <p:regular r:id="rId27"/>
      <p:bold r:id="rId28"/>
      <p:italic r:id="rId29"/>
      <p:boldItalic r:id="rId30"/>
    </p:embeddedFont>
    <p:embeddedFont>
      <p:font typeface="Cambria Math" panose="02040503050406030204" pitchFamily="18" charset="0"/>
      <p:regular r:id="rId31"/>
    </p:embeddedFont>
    <p:embeddedFont>
      <p:font typeface="Century Gothic" panose="020B0502020202020204" pitchFamily="34" charset="0"/>
      <p:regular r:id="rId32"/>
      <p:bold r:id="rId33"/>
      <p:italic r:id="rId34"/>
      <p:boldItalic r:id="rId35"/>
    </p:embeddedFont>
    <p:embeddedFont>
      <p:font typeface="Verdana" panose="020B060403050404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E5B"/>
    <a:srgbClr val="F79647"/>
    <a:srgbClr val="FCBD1E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70" autoAdjust="0"/>
    <p:restoredTop sz="94754"/>
  </p:normalViewPr>
  <p:slideViewPr>
    <p:cSldViewPr snapToGrid="0">
      <p:cViewPr varScale="1">
        <p:scale>
          <a:sx n="124" d="100"/>
          <a:sy n="124" d="100"/>
        </p:scale>
        <p:origin x="368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71520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47535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tiff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tiff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0.png"/><Relationship Id="rId7" Type="http://schemas.openxmlformats.org/officeDocument/2006/relationships/image" Target="../media/image3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0.png"/><Relationship Id="rId5" Type="http://schemas.openxmlformats.org/officeDocument/2006/relationships/image" Target="../media/image31.png"/><Relationship Id="rId4" Type="http://schemas.openxmlformats.org/officeDocument/2006/relationships/image" Target="../media/image32.png"/><Relationship Id="rId9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9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Copying an Angle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58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257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2200" y="-7101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21818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555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102200" y="1343723"/>
            <a:ext cx="960297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MA.912.GR.1.1</a:t>
            </a:r>
          </a:p>
          <a:p>
            <a:pPr marL="466725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Prove relationships and theorems about lines and angles. </a:t>
            </a:r>
            <a:r>
              <a:rPr lang="en-US" sz="320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postulates, relationships, and theorems of lines and angles.</a:t>
            </a:r>
          </a:p>
          <a:p>
            <a:pPr marL="0" indent="0">
              <a:buSzPts val="1100"/>
              <a:buNone/>
            </a:pPr>
            <a:endParaRPr lang="en-US" sz="32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MA.912.GR.5.1</a:t>
            </a:r>
          </a:p>
          <a:p>
            <a:pPr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Construct a copy of a segment or an angle. 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287" y="20791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944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8587" y="0"/>
            <a:ext cx="106421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994150" y="645474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70517" y="1596390"/>
            <a:ext cx="955659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77C6829-C721-C84C-B217-05FC82BD090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944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51387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19657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102199" y="1366027"/>
            <a:ext cx="954721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8650" indent="-62865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construct a copy of an angle.</a:t>
            </a:r>
          </a:p>
          <a:p>
            <a:pPr marL="628650" indent="-628650">
              <a:buFont typeface="Wingdings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28650" indent="-62865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the angle addition postulate.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84D53208-BBC5-F045-A1FC-36E1745FA757}"/>
              </a:ext>
            </a:extLst>
          </p:cNvPr>
          <p:cNvSpPr/>
          <p:nvPr/>
        </p:nvSpPr>
        <p:spPr>
          <a:xfrm>
            <a:off x="0" y="2926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652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474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652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38506" y="247990"/>
            <a:ext cx="772261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1.9.1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944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5474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869796" y="1386025"/>
                <a:ext cx="10236820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Points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collinear.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𝐶𝑊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𝐻𝑊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−19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=7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𝐻𝑊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796" y="1386025"/>
                <a:ext cx="10236820" cy="3046988"/>
              </a:xfrm>
              <a:prstGeom prst="rect">
                <a:avLst/>
              </a:prstGeom>
              <a:blipFill>
                <a:blip r:embed="rId5"/>
                <a:stretch>
                  <a:fillRect l="-953" t="-1800" r="-476" b="-3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2E26B32-0C88-7847-9ECA-D11545A204F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944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309;g104476d1465_1_39">
            <a:extLst>
              <a:ext uri="{FF2B5EF4-FFF2-40B4-BE49-F238E27FC236}">
                <a16:creationId xmlns:a16="http://schemas.microsoft.com/office/drawing/2014/main" id="{FCEADAAC-DB46-4B57-0A7B-D6FAF24B490B}"/>
              </a:ext>
            </a:extLst>
          </p:cNvPr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9438" y="61895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27356" y="0"/>
            <a:ext cx="9400478" cy="1257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1.9.2 Activity: Copying an Angle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5438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0374" y="19704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836341" y="1307966"/>
                <a:ext cx="10281425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4013" indent="-354013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𝐹𝐺𝐻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to copy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𝐹𝐺𝐻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only a compass.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41" y="1307966"/>
                <a:ext cx="10281425" cy="4893647"/>
              </a:xfrm>
              <a:prstGeom prst="rect">
                <a:avLst/>
              </a:prstGeom>
              <a:blipFill>
                <a:blip r:embed="rId5"/>
                <a:stretch>
                  <a:fillRect l="-889" t="-1122" b="-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32274384-6D96-984A-8A32-66A86393A00D}"/>
              </a:ext>
            </a:extLst>
          </p:cNvPr>
          <p:cNvSpPr/>
          <p:nvPr/>
        </p:nvSpPr>
        <p:spPr>
          <a:xfrm>
            <a:off x="0" y="2926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2" name="Picture 11" descr="Line chart&#10;&#10;Description automatically generated">
            <a:extLst>
              <a:ext uri="{FF2B5EF4-FFF2-40B4-BE49-F238E27FC236}">
                <a16:creationId xmlns:a16="http://schemas.microsoft.com/office/drawing/2014/main" id="{852EB18A-449A-7640-88B4-C1B523A69A3A}"/>
              </a:ext>
            </a:extLst>
          </p:cNvPr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571" t="10147" r="11152" b="11539"/>
          <a:stretch/>
        </p:blipFill>
        <p:spPr bwMode="auto">
          <a:xfrm>
            <a:off x="3604170" y="1893194"/>
            <a:ext cx="4983660" cy="32539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47493" y="337514"/>
                <a:ext cx="1029257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order the nine steps for copying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𝐹𝐺𝐻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first and last step are in the correct position.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337514"/>
                <a:ext cx="10292575" cy="830997"/>
              </a:xfrm>
              <a:prstGeom prst="rect">
                <a:avLst/>
              </a:prstGeom>
              <a:blipFill>
                <a:blip r:embed="rId3"/>
                <a:stretch>
                  <a:fillRect t="-5839" r="-474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85F77CB-5FF9-E743-9AA8-B4C11C925C9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63EE205-B6E5-1B46-8DAD-15A49A9129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9922984"/>
                  </p:ext>
                </p:extLst>
              </p:nvPr>
            </p:nvGraphicFramePr>
            <p:xfrm>
              <a:off x="2523511" y="1423205"/>
              <a:ext cx="6797675" cy="478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539875">
                      <a:extLst>
                        <a:ext uri="{9D8B030D-6E8A-4147-A177-3AD203B41FA5}">
                          <a16:colId xmlns:a16="http://schemas.microsoft.com/office/drawing/2014/main" val="1957603508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1999015357"/>
                        </a:ext>
                      </a:extLst>
                    </a:gridCol>
                  </a:tblGrid>
                  <a:tr h="118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Draw a point and label it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Then, draw a ray starting at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in any direction. Label the ray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𝑋𝑍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28596764"/>
                      </a:ext>
                    </a:extLst>
                  </a:tr>
                  <a:tr h="118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Set the compass’ point on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adjust the compass’ width to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58329"/>
                      </a:ext>
                    </a:extLst>
                  </a:tr>
                  <a:tr h="1224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Without changing the compass’ width, place the compass’ point on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draw a similar arc to create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where the two arcs meet.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61447367"/>
                      </a:ext>
                    </a:extLst>
                  </a:tr>
                  <a:tr h="118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Set the compass’ point on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adjust the compass’ width to any width.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867909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63EE205-B6E5-1B46-8DAD-15A49A9129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9922984"/>
                  </p:ext>
                </p:extLst>
              </p:nvPr>
            </p:nvGraphicFramePr>
            <p:xfrm>
              <a:off x="2523511" y="1423205"/>
              <a:ext cx="6797675" cy="478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539875">
                      <a:extLst>
                        <a:ext uri="{9D8B030D-6E8A-4147-A177-3AD203B41FA5}">
                          <a16:colId xmlns:a16="http://schemas.microsoft.com/office/drawing/2014/main" val="1957603508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1999015357"/>
                        </a:ext>
                      </a:extLst>
                    </a:gridCol>
                  </a:tblGrid>
                  <a:tr h="118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398" t="-513" r="-231" b="-3041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96764"/>
                      </a:ext>
                    </a:extLst>
                  </a:tr>
                  <a:tr h="118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398" t="-100513" r="-231" b="-2041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58329"/>
                      </a:ext>
                    </a:extLst>
                  </a:tr>
                  <a:tr h="1224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398" t="-194527" r="-231" b="-980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1447367"/>
                      </a:ext>
                    </a:extLst>
                  </a:tr>
                  <a:tr h="118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398" t="-303590" r="-231" b="-10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67909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94741EAB-857F-9E02-7225-1E968D15F28B}"/>
              </a:ext>
            </a:extLst>
          </p:cNvPr>
          <p:cNvSpPr txBox="1"/>
          <p:nvPr/>
        </p:nvSpPr>
        <p:spPr>
          <a:xfrm>
            <a:off x="8995438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03E0CF03-89E1-B5B6-69C9-5934BBE63D1B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9438" y="61895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944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474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FA8216EE-488F-0B46-A674-98E7CEF1691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89DCCB6-97BD-814B-A38D-6B9BB6BE19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028411"/>
                  </p:ext>
                </p:extLst>
              </p:nvPr>
            </p:nvGraphicFramePr>
            <p:xfrm>
              <a:off x="2512774" y="424889"/>
              <a:ext cx="6825802" cy="6008221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546247">
                      <a:extLst>
                        <a:ext uri="{9D8B030D-6E8A-4147-A177-3AD203B41FA5}">
                          <a16:colId xmlns:a16="http://schemas.microsoft.com/office/drawing/2014/main" val="3922014158"/>
                        </a:ext>
                      </a:extLst>
                    </a:gridCol>
                    <a:gridCol w="5279555">
                      <a:extLst>
                        <a:ext uri="{9D8B030D-6E8A-4147-A177-3AD203B41FA5}">
                          <a16:colId xmlns:a16="http://schemas.microsoft.com/office/drawing/2014/main" val="3715710713"/>
                        </a:ext>
                      </a:extLst>
                    </a:gridCol>
                  </a:tblGrid>
                  <a:tr h="1224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Without changing the compass’ width, place the compass’ point on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draw a similar arc. Label the point where the arc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𝑋𝑍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intersect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68129761"/>
                      </a:ext>
                    </a:extLst>
                  </a:tr>
                  <a:tr h="118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Label the point where the arc crosses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𝐺𝐹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as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1313237"/>
                      </a:ext>
                    </a:extLst>
                  </a:tr>
                  <a:tr h="118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Label the point where the arc crosses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𝐺𝐻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as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27033688"/>
                      </a:ext>
                    </a:extLst>
                  </a:tr>
                  <a:tr h="118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Draw an arc across both rays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∠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𝐹𝐺𝐻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96011664"/>
                      </a:ext>
                    </a:extLst>
                  </a:tr>
                  <a:tr h="118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9</a:t>
                          </a:r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Draw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𝑋𝑊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using a straightedge.</a:t>
                          </a:r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592998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89DCCB6-97BD-814B-A38D-6B9BB6BE19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028411"/>
                  </p:ext>
                </p:extLst>
              </p:nvPr>
            </p:nvGraphicFramePr>
            <p:xfrm>
              <a:off x="2512774" y="424889"/>
              <a:ext cx="6825802" cy="6008221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546247">
                      <a:extLst>
                        <a:ext uri="{9D8B030D-6E8A-4147-A177-3AD203B41FA5}">
                          <a16:colId xmlns:a16="http://schemas.microsoft.com/office/drawing/2014/main" val="3922014158"/>
                        </a:ext>
                      </a:extLst>
                    </a:gridCol>
                    <a:gridCol w="5279555">
                      <a:extLst>
                        <a:ext uri="{9D8B030D-6E8A-4147-A177-3AD203B41FA5}">
                          <a16:colId xmlns:a16="http://schemas.microsoft.com/office/drawing/2014/main" val="3715710713"/>
                        </a:ext>
                      </a:extLst>
                    </a:gridCol>
                  </a:tblGrid>
                  <a:tr h="125622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446" t="-5825" r="-346" b="-3800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8129761"/>
                      </a:ext>
                    </a:extLst>
                  </a:tr>
                  <a:tr h="118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446" t="-111224" r="-346" b="-2994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1313237"/>
                      </a:ext>
                    </a:extLst>
                  </a:tr>
                  <a:tr h="118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446" t="-212308" r="-346" b="-2010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7033688"/>
                      </a:ext>
                    </a:extLst>
                  </a:tr>
                  <a:tr h="118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446" t="-312308" r="-346" b="-1010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011664"/>
                      </a:ext>
                    </a:extLst>
                  </a:tr>
                  <a:tr h="118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9</a:t>
                          </a:r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064" marR="5706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446" t="-412308" r="-346" b="-10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92998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95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847494" y="616291"/>
                <a:ext cx="1028142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Compare your ordering with another group.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necessary, make adjustments to the order.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your steps to draw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𝑊𝑋𝑌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 copy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𝐹𝐺𝐻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If necessary, make adjustments to the order of your steps.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4" y="616291"/>
                <a:ext cx="10281424" cy="3416320"/>
              </a:xfrm>
              <a:prstGeom prst="rect">
                <a:avLst/>
              </a:prstGeom>
              <a:blipFill>
                <a:blip r:embed="rId4"/>
                <a:stretch>
                  <a:fillRect t="-1426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FA8216EE-488F-0B46-A674-98E7CEF16917}"/>
              </a:ext>
            </a:extLst>
          </p:cNvPr>
          <p:cNvSpPr/>
          <p:nvPr/>
        </p:nvSpPr>
        <p:spPr>
          <a:xfrm>
            <a:off x="0" y="2926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5478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652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94150" y="645474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hart, scatter chart&#10;&#10;Description automatically generated">
            <a:extLst>
              <a:ext uri="{FF2B5EF4-FFF2-40B4-BE49-F238E27FC236}">
                <a16:creationId xmlns:a16="http://schemas.microsoft.com/office/drawing/2014/main" id="{43A62CAA-DA9C-9E4C-9820-7DAC237BF783}"/>
              </a:ext>
            </a:extLst>
          </p:cNvPr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6693" b="7051"/>
          <a:stretch/>
        </p:blipFill>
        <p:spPr bwMode="auto">
          <a:xfrm>
            <a:off x="3563962" y="3101389"/>
            <a:ext cx="4261275" cy="37566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652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71960" y="102512"/>
            <a:ext cx="10325516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1.9.3 Guided Instruction: Angle Addition Postulate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549" y="21820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94150" y="645805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858644" y="2753748"/>
                <a:ext cx="9671913" cy="10296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lies in the interior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𝐾𝑊𝑇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shown.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𝑊𝑃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2753748"/>
                <a:ext cx="9671913" cy="1029641"/>
              </a:xfrm>
              <a:prstGeom prst="rect">
                <a:avLst/>
              </a:prstGeom>
              <a:blipFill>
                <a:blip r:embed="rId6"/>
                <a:stretch>
                  <a:fillRect l="-1009" t="-5325" b="-11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D185CEC-69E3-ED4E-87D7-D8AED7B3213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E311F01E-0493-9344-9DDB-15CC53A8C07D}"/>
                  </a:ext>
                </a:extLst>
              </p:cNvPr>
              <p:cNvSpPr/>
              <p:nvPr/>
            </p:nvSpPr>
            <p:spPr>
              <a:xfrm>
                <a:off x="2624410" y="1187095"/>
                <a:ext cx="6784369" cy="1385759"/>
              </a:xfrm>
              <a:prstGeom prst="roundRect">
                <a:avLst>
                  <a:gd name="adj" fmla="val 16667"/>
                </a:avLst>
              </a:prstGeom>
              <a:solidFill>
                <a:srgbClr val="B8E6F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72000" rIns="0" bIns="0" anchor="ctr" anchorCtr="0">
                <a:spAutoFit/>
              </a:bodyPr>
              <a:lstStyle/>
              <a:p>
                <a:pPr marL="742950">
                  <a:spcAft>
                    <a:spcPts val="1000"/>
                  </a:spcAft>
                </a:pPr>
                <a:r>
                  <a:rPr lang="en-US" sz="2000" b="1" dirty="0">
                    <a:solidFill>
                      <a:srgbClr val="00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Angle Addition Postulate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2950" marR="486410">
                  <a:spcAft>
                    <a:spcPts val="1000"/>
                  </a:spcAft>
                </a:pPr>
                <a:r>
                  <a:rPr lang="en-US" sz="2000" dirty="0">
                    <a:solidFill>
                      <a:srgbClr val="00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point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𝑋</m:t>
                    </m:r>
                  </m:oMath>
                </a14:m>
                <a:r>
                  <a:rPr lang="en-US" sz="2000" dirty="0">
                    <a:solidFill>
                      <a:srgbClr val="00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 the interior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𝐴𝑀𝐵</m:t>
                    </m:r>
                  </m:oMath>
                </a14:m>
                <a:r>
                  <a:rPr lang="en-US" sz="2000" dirty="0">
                    <a:solidFill>
                      <a:srgbClr val="00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𝐴𝑀𝑋</m:t>
                    </m:r>
                    <m:r>
                      <a:rPr lang="en-US" sz="20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  <m:r>
                      <a:rPr lang="en-US" sz="20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𝑋𝑀𝐵</m:t>
                    </m:r>
                    <m:r>
                      <a:rPr lang="en-US" sz="20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r>
                      <a:rPr lang="en-US" sz="20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𝐴𝑀𝐵</m:t>
                    </m:r>
                  </m:oMath>
                </a14:m>
                <a:r>
                  <a:rPr lang="en-US" sz="2000" dirty="0">
                    <a:solidFill>
                      <a:srgbClr val="00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E311F01E-0493-9344-9DDB-15CC53A8C0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410" y="1187095"/>
                <a:ext cx="6784369" cy="1385759"/>
              </a:xfrm>
              <a:prstGeom prst="roundRect">
                <a:avLst>
                  <a:gd name="adj" fmla="val 16667"/>
                </a:avLst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Shape 55" descr="Icon&#10;&#10;Description automatically generated">
            <a:extLst>
              <a:ext uri="{FF2B5EF4-FFF2-40B4-BE49-F238E27FC236}">
                <a16:creationId xmlns:a16="http://schemas.microsoft.com/office/drawing/2014/main" id="{4C8A115F-7425-BA49-A688-9C8957FAE16D}"/>
              </a:ext>
            </a:extLst>
          </p:cNvPr>
          <p:cNvPicPr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83221" y="1275959"/>
            <a:ext cx="604726" cy="6040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944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474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58643" y="467164"/>
                <a:ext cx="10370635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 protractor to measure each angle in degrees. </a:t>
                </a:r>
              </a:p>
              <a:p>
                <a:pPr marL="892175"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𝐾𝑊𝑇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   </a:t>
                </a:r>
                <a:endParaRPr lang="en-PH" sz="2400" i="1" dirty="0">
                  <a:latin typeface="Cambria Math" panose="02040503050406030204" pitchFamily="18" charset="0"/>
                </a:endParaRPr>
              </a:p>
              <a:p>
                <a:pPr marL="892175"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𝐾𝑊𝑃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   </a:t>
                </a:r>
                <a:endParaRPr lang="en-PH" sz="2400" i="1" dirty="0">
                  <a:latin typeface="Cambria Math" panose="02040503050406030204" pitchFamily="18" charset="0"/>
                </a:endParaRPr>
              </a:p>
              <a:p>
                <a:pPr marL="892175"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𝑃𝑊𝑇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 </a:t>
                </a:r>
              </a:p>
              <a:p>
                <a:pPr marL="9144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why</a:t>
                </a:r>
              </a:p>
              <a:p>
                <a:pPr marL="914400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𝐾𝑊𝑃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𝑃𝑊𝑇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𝐾𝑊𝑇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should be true. Summarize your discussion.</a:t>
                </a:r>
              </a:p>
              <a:p>
                <a:pPr marL="9144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𝐾𝑊𝑇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70°,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𝐾𝑊𝑃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(5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+5)°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𝑃𝑊𝑇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(4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−7)°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determine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3" y="467164"/>
                <a:ext cx="10370635" cy="5632311"/>
              </a:xfrm>
              <a:prstGeom prst="rect">
                <a:avLst/>
              </a:prstGeom>
              <a:blipFill>
                <a:blip r:embed="rId4"/>
                <a:stretch>
                  <a:fillRect t="-866" r="-1764" b="-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95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309;g104476d1465_1_39">
            <a:extLst>
              <a:ext uri="{FF2B5EF4-FFF2-40B4-BE49-F238E27FC236}">
                <a16:creationId xmlns:a16="http://schemas.microsoft.com/office/drawing/2014/main" id="{2BC9FBEB-E6C3-853B-9B45-BE073F73D2AE}"/>
              </a:ext>
            </a:extLst>
          </p:cNvPr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249" y="618944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16204" y="0"/>
            <a:ext cx="9757318" cy="122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1.9.4 Try It: Copying an Angle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324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4798" y="22363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858644" y="1386026"/>
                <a:ext cx="952894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4013" indent="-354013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𝐾𝐿𝑀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𝑅𝑆𝑇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 copy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𝐾𝐿𝑀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1386026"/>
                <a:ext cx="9528940" cy="4524315"/>
              </a:xfrm>
              <a:prstGeom prst="rect">
                <a:avLst/>
              </a:prstGeom>
              <a:blipFill>
                <a:blip r:embed="rId5"/>
                <a:stretch>
                  <a:fillRect l="-1024" t="-1211" b="-1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D93CCF23-305F-4542-AFD2-A48933A9E420}"/>
              </a:ext>
            </a:extLst>
          </p:cNvPr>
          <p:cNvSpPr/>
          <p:nvPr/>
        </p:nvSpPr>
        <p:spPr>
          <a:xfrm>
            <a:off x="0" y="2926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23A67EE0-70CB-A14E-90E6-25DDA6737729}"/>
              </a:ext>
            </a:extLst>
          </p:cNvPr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556" b="26984"/>
          <a:stretch/>
        </p:blipFill>
        <p:spPr bwMode="auto">
          <a:xfrm>
            <a:off x="2519850" y="2023110"/>
            <a:ext cx="6571440" cy="306358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944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/>
              <p:nvPr/>
            </p:nvSpPr>
            <p:spPr>
              <a:xfrm>
                <a:off x="858644" y="349705"/>
                <a:ext cx="9846528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Three angles are shown,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𝑊𝐸𝐿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𝐿𝐸𝑅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𝑊𝐸𝑅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𝐿𝐸𝑅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=(14.35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−9.8)°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𝑊𝐸𝐿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=(2.5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+10)°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𝑊𝐸𝑅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=135°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what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𝑊𝐸𝐿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349705"/>
                <a:ext cx="9846528" cy="6001643"/>
              </a:xfrm>
              <a:prstGeom prst="rect">
                <a:avLst/>
              </a:prstGeom>
              <a:blipFill>
                <a:blip r:embed="rId4"/>
                <a:stretch>
                  <a:fillRect l="-991" t="-914" b="-1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3DDED37-A9DC-1840-BFB8-744A6C95606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C69025C-81DD-E748-8999-422747334DC3}"/>
              </a:ext>
            </a:extLst>
          </p:cNvPr>
          <p:cNvGrpSpPr/>
          <p:nvPr/>
        </p:nvGrpSpPr>
        <p:grpSpPr>
          <a:xfrm>
            <a:off x="2547979" y="940159"/>
            <a:ext cx="6870257" cy="3919197"/>
            <a:chOff x="0" y="0"/>
            <a:chExt cx="5330825" cy="3041161"/>
          </a:xfrm>
        </p:grpSpPr>
        <p:pic>
          <p:nvPicPr>
            <p:cNvPr id="8" name="Picture 7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175D5E40-02CB-D84F-A2C4-9699099C2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330825" cy="2993390"/>
            </a:xfrm>
            <a:prstGeom prst="rect">
              <a:avLst/>
            </a:prstGeom>
            <a:noFill/>
            <a:ln>
              <a:noFill/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31">
                  <a:extLst>
                    <a:ext uri="{FF2B5EF4-FFF2-40B4-BE49-F238E27FC236}">
                      <a16:creationId xmlns:a16="http://schemas.microsoft.com/office/drawing/2014/main" id="{D30EE8A1-B050-9645-BE99-50E7A8ACDDDF}"/>
                    </a:ext>
                  </a:extLst>
                </p:cNvPr>
                <p:cNvSpPr txBox="1"/>
                <p:nvPr/>
              </p:nvSpPr>
              <p:spPr>
                <a:xfrm>
                  <a:off x="140677" y="1083212"/>
                  <a:ext cx="317500" cy="36830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𝑾</m:t>
                        </m:r>
                      </m:oMath>
                    </m:oMathPara>
                  </a14:m>
                  <a:endPara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 Box 31">
                  <a:extLst>
                    <a:ext uri="{FF2B5EF4-FFF2-40B4-BE49-F238E27FC236}">
                      <a16:creationId xmlns:a16="http://schemas.microsoft.com/office/drawing/2014/main" id="{D30EE8A1-B050-9645-BE99-50E7A8ACDD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677" y="1083212"/>
                  <a:ext cx="317500" cy="3683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32">
                  <a:extLst>
                    <a:ext uri="{FF2B5EF4-FFF2-40B4-BE49-F238E27FC236}">
                      <a16:creationId xmlns:a16="http://schemas.microsoft.com/office/drawing/2014/main" id="{695969A7-7009-684E-A609-C8EA1766D521}"/>
                    </a:ext>
                  </a:extLst>
                </p:cNvPr>
                <p:cNvSpPr txBox="1"/>
                <p:nvPr/>
              </p:nvSpPr>
              <p:spPr>
                <a:xfrm>
                  <a:off x="1617785" y="323557"/>
                  <a:ext cx="317500" cy="36830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oMath>
                    </m:oMathPara>
                  </a14:m>
                  <a:endPara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 Box 32">
                  <a:extLst>
                    <a:ext uri="{FF2B5EF4-FFF2-40B4-BE49-F238E27FC236}">
                      <a16:creationId xmlns:a16="http://schemas.microsoft.com/office/drawing/2014/main" id="{695969A7-7009-684E-A609-C8EA1766D5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7785" y="323557"/>
                  <a:ext cx="317500" cy="3683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33">
                  <a:extLst>
                    <a:ext uri="{FF2B5EF4-FFF2-40B4-BE49-F238E27FC236}">
                      <a16:creationId xmlns:a16="http://schemas.microsoft.com/office/drawing/2014/main" id="{164EA292-6ECF-B647-9A73-F06D0AB0AD8D}"/>
                    </a:ext>
                  </a:extLst>
                </p:cNvPr>
                <p:cNvSpPr txBox="1"/>
                <p:nvPr/>
              </p:nvSpPr>
              <p:spPr>
                <a:xfrm>
                  <a:off x="4121834" y="2672861"/>
                  <a:ext cx="317500" cy="36830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oMath>
                    </m:oMathPara>
                  </a14:m>
                  <a:endPara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 Box 33">
                  <a:extLst>
                    <a:ext uri="{FF2B5EF4-FFF2-40B4-BE49-F238E27FC236}">
                      <a16:creationId xmlns:a16="http://schemas.microsoft.com/office/drawing/2014/main" id="{164EA292-6ECF-B647-9A73-F06D0AB0AD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834" y="2672861"/>
                  <a:ext cx="317500" cy="3683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35">
                  <a:extLst>
                    <a:ext uri="{FF2B5EF4-FFF2-40B4-BE49-F238E27FC236}">
                      <a16:creationId xmlns:a16="http://schemas.microsoft.com/office/drawing/2014/main" id="{8AE90545-8EBB-4441-A8E8-6E42806BE898}"/>
                    </a:ext>
                  </a:extLst>
                </p:cNvPr>
                <p:cNvSpPr txBox="1"/>
                <p:nvPr/>
              </p:nvSpPr>
              <p:spPr>
                <a:xfrm>
                  <a:off x="1772529" y="2630658"/>
                  <a:ext cx="317500" cy="36830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𝑬</m:t>
                        </m:r>
                      </m:oMath>
                    </m:oMathPara>
                  </a14:m>
                  <a:endPara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 Box 35">
                  <a:extLst>
                    <a:ext uri="{FF2B5EF4-FFF2-40B4-BE49-F238E27FC236}">
                      <a16:creationId xmlns:a16="http://schemas.microsoft.com/office/drawing/2014/main" id="{8AE90545-8EBB-4441-A8E8-6E42806BE8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2529" y="2630658"/>
                  <a:ext cx="317500" cy="3683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61466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04476d1465_1_39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95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309;g104476d1465_1_39">
            <a:extLst>
              <a:ext uri="{FF2B5EF4-FFF2-40B4-BE49-F238E27FC236}">
                <a16:creationId xmlns:a16="http://schemas.microsoft.com/office/drawing/2014/main" id="{D36D6A1C-ACCB-019B-A40A-CFB297B49662}"/>
              </a:ext>
            </a:extLst>
          </p:cNvPr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944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49658" y="266309"/>
            <a:ext cx="10178492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1.9.5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3850" y="18810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836341" y="1386026"/>
            <a:ext cx="103371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Write an explanation to a classmate who might have missed today’s lesson, in your own words, about copying an angle.</a:t>
            </a:r>
            <a:endParaRPr lang="en-US" sz="4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55A48D7-DC81-5F4D-9632-5F42A5D9EE4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</TotalTime>
  <Words>809</Words>
  <Application>Microsoft Macintosh PowerPoint</Application>
  <PresentationFormat>Widescreen</PresentationFormat>
  <Paragraphs>151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Wingdings</vt:lpstr>
      <vt:lpstr>Verdana</vt:lpstr>
      <vt:lpstr>Arial</vt:lpstr>
      <vt:lpstr>Cambria</vt:lpstr>
      <vt:lpstr>Century Gothic</vt:lpstr>
      <vt:lpstr>Calibri</vt:lpstr>
      <vt:lpstr>Arial Black</vt:lpstr>
      <vt:lpstr>Cambria Math</vt:lpstr>
      <vt:lpstr>1_Office Theme</vt:lpstr>
      <vt:lpstr>Geometry  Unit 1, Lesson 9  Copying an Angle  Volume 1, pg. 58  </vt:lpstr>
      <vt:lpstr>Benchmarks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Try It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34</cp:revision>
  <dcterms:created xsi:type="dcterms:W3CDTF">2015-03-17T18:51:18Z</dcterms:created>
  <dcterms:modified xsi:type="dcterms:W3CDTF">2023-03-01T16:13:34Z</dcterms:modified>
</cp:coreProperties>
</file>