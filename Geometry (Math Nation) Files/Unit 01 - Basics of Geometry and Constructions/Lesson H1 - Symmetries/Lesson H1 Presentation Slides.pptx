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13" r:id="rId11"/>
    <p:sldId id="328" r:id="rId12"/>
    <p:sldId id="321" r:id="rId13"/>
    <p:sldId id="322" r:id="rId14"/>
    <p:sldId id="323" r:id="rId15"/>
    <p:sldId id="324" r:id="rId16"/>
    <p:sldId id="325" r:id="rId17"/>
    <p:sldId id="317" r:id="rId18"/>
    <p:sldId id="318" r:id="rId19"/>
    <p:sldId id="319" r:id="rId20"/>
    <p:sldId id="327" r:id="rId21"/>
    <p:sldId id="306" r:id="rId22"/>
    <p:sldId id="307" r:id="rId23"/>
  </p:sldIdLst>
  <p:sldSz cx="12192000" cy="6858000"/>
  <p:notesSz cx="6858000" cy="9144000"/>
  <p:embeddedFontLst>
    <p:embeddedFont>
      <p:font typeface="Arial Black" panose="020B0604020202020204" pitchFamily="34" charset="0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44" autoAdjust="0"/>
    <p:restoredTop sz="95627" autoAdjust="0"/>
  </p:normalViewPr>
  <p:slideViewPr>
    <p:cSldViewPr snapToGrid="0">
      <p:cViewPr varScale="1">
        <p:scale>
          <a:sx n="125" d="100"/>
          <a:sy n="125" d="100"/>
        </p:scale>
        <p:origin x="176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32060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8849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364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151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2003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8565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0489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84479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hingiverse.com/thing:19176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mathoverflow.net/questions/50872/how-might-m-c-escher-have-designed-his-patterns" TargetMode="Externa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7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H1</a:t>
            </a:r>
            <a:br>
              <a:rPr lang="en-US" sz="37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Symmetries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1850" y="-71013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1818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102200" y="1388330"/>
            <a:ext cx="1000441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MA.912.GR.2.4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symmetries of reflection, symmetries of rotation, and symmetries of translation of a geometric figure.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69" y="1296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6068" y="45867"/>
            <a:ext cx="10413141" cy="11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6067" y="1596390"/>
            <a:ext cx="958795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E2C4A53-4314-97A3-4871-C94EF58B966E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AAB54D95-E108-1127-29B5-5FFF960CE4D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90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9263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9657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9500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102200" y="1299119"/>
            <a:ext cx="956951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symmetries of reflection.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symmetries of rotation.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symmetries of translation.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615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957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09;g104476d1465_1_39">
            <a:extLst>
              <a:ext uri="{FF2B5EF4-FFF2-40B4-BE49-F238E27FC236}">
                <a16:creationId xmlns:a16="http://schemas.microsoft.com/office/drawing/2014/main" id="{613023B0-3664-4DC9-C55F-9F8ED8C184A2}"/>
              </a:ext>
            </a:extLst>
          </p:cNvPr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83111" y="-8225"/>
            <a:ext cx="942278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1.H1.1 Warm-Up: Artwork of M.C. Escher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99" y="14260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914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58644" y="1386025"/>
            <a:ext cx="1029257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M.C. Escher (1898-1972) was a Dutch artist whose work was inspired by mathematics. Though initially trained as an architect, he became one of the most famous and influential graphic artists in the world.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Below are two examples of Escher’s work. 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01C271-3433-914F-BFBA-F61AA2ADA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865184"/>
              </p:ext>
            </p:extLst>
          </p:nvPr>
        </p:nvGraphicFramePr>
        <p:xfrm>
          <a:off x="2146200" y="3429000"/>
          <a:ext cx="6811010" cy="3074751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05505">
                  <a:extLst>
                    <a:ext uri="{9D8B030D-6E8A-4147-A177-3AD203B41FA5}">
                      <a16:colId xmlns:a16="http://schemas.microsoft.com/office/drawing/2014/main" val="1192944467"/>
                    </a:ext>
                  </a:extLst>
                </a:gridCol>
                <a:gridCol w="3405505">
                  <a:extLst>
                    <a:ext uri="{9D8B030D-6E8A-4147-A177-3AD203B41FA5}">
                      <a16:colId xmlns:a16="http://schemas.microsoft.com/office/drawing/2014/main" val="2960210370"/>
                    </a:ext>
                  </a:extLst>
                </a:gridCol>
              </a:tblGrid>
              <a:tr h="22854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Example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Example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702438"/>
                  </a:ext>
                </a:extLst>
              </a:tr>
              <a:tr h="267851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125078"/>
                  </a:ext>
                </a:extLst>
              </a:tr>
            </a:tbl>
          </a:graphicData>
        </a:graphic>
      </p:graphicFrame>
      <p:pic>
        <p:nvPicPr>
          <p:cNvPr id="11" name="Picture 10" descr="ho.history overview - How might M.C. Escher have designed ...">
            <a:extLst>
              <a:ext uri="{FF2B5EF4-FFF2-40B4-BE49-F238E27FC236}">
                <a16:creationId xmlns:a16="http://schemas.microsoft.com/office/drawing/2014/main" id="{D477332B-FAD1-134F-9931-0B3A337D34B2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576683" y="3901140"/>
            <a:ext cx="2563853" cy="2547575"/>
          </a:xfrm>
          <a:prstGeom prst="rect">
            <a:avLst/>
          </a:prstGeom>
        </p:spPr>
      </p:pic>
      <p:pic>
        <p:nvPicPr>
          <p:cNvPr id="12" name="Picture 11" descr="M.C.Escher Lizard by ARTCAD - Thingiverse">
            <a:extLst>
              <a:ext uri="{FF2B5EF4-FFF2-40B4-BE49-F238E27FC236}">
                <a16:creationId xmlns:a16="http://schemas.microsoft.com/office/drawing/2014/main" id="{F87A2512-8775-DB4A-B1E1-AF9BA8C43E0F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683254" y="4000830"/>
            <a:ext cx="3160924" cy="234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27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434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58645" y="520394"/>
            <a:ext cx="10281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any similarities and differences you notice about the two examples.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-11554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3E0CD0-640B-BC40-A6B7-76828E8C5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816639"/>
              </p:ext>
            </p:extLst>
          </p:nvPr>
        </p:nvGraphicFramePr>
        <p:xfrm>
          <a:off x="1534489" y="1658704"/>
          <a:ext cx="7200000" cy="3836848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1750756745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83347187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Similarities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Differences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16468"/>
                  </a:ext>
                </a:extLst>
              </a:tr>
              <a:tr h="329684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152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786382" y="1069396"/>
            <a:ext cx="96012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The four images shown below have symmetry.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Discuss with your partner why each image has symmetry and which transformations could be used to show that one part of the image aligns with the other.  </a:t>
            </a:r>
          </a:p>
        </p:txBody>
      </p:sp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09815C38-B15C-2C4D-9E74-CFCE180557A1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4740" y="3220869"/>
            <a:ext cx="3020151" cy="963210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16566" y="-22381"/>
            <a:ext cx="9601200" cy="973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1.H1.2 Exploration: Symmetry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895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6594" y="8823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77FDFF9E-9668-7F40-B604-2436455445A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DCFB43-9FE2-7D47-8CFB-5551D2277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807182"/>
              </p:ext>
            </p:extLst>
          </p:nvPr>
        </p:nvGraphicFramePr>
        <p:xfrm>
          <a:off x="2192475" y="2647083"/>
          <a:ext cx="4852416" cy="4131028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57756">
                  <a:extLst>
                    <a:ext uri="{9D8B030D-6E8A-4147-A177-3AD203B41FA5}">
                      <a16:colId xmlns:a16="http://schemas.microsoft.com/office/drawing/2014/main" val="3269962597"/>
                    </a:ext>
                  </a:extLst>
                </a:gridCol>
                <a:gridCol w="2994660">
                  <a:extLst>
                    <a:ext uri="{9D8B030D-6E8A-4147-A177-3AD203B41FA5}">
                      <a16:colId xmlns:a16="http://schemas.microsoft.com/office/drawing/2014/main" val="1081998252"/>
                    </a:ext>
                  </a:extLst>
                </a:gridCol>
              </a:tblGrid>
              <a:tr h="2278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Image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Image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984494"/>
                  </a:ext>
                </a:extLst>
              </a:tr>
              <a:tr h="139074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2532765"/>
                  </a:ext>
                </a:extLst>
              </a:tr>
              <a:tr h="2278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Image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Image 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923728"/>
                  </a:ext>
                </a:extLst>
              </a:tr>
              <a:tr h="19478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856462"/>
                  </a:ext>
                </a:extLst>
              </a:tr>
            </a:tbl>
          </a:graphicData>
        </a:graphic>
      </p:graphicFrame>
      <p:pic>
        <p:nvPicPr>
          <p:cNvPr id="13" name="Picture 12" descr="A butterfly on a flower&#10;&#10;Description automatically generated with medium confidence">
            <a:extLst>
              <a:ext uri="{FF2B5EF4-FFF2-40B4-BE49-F238E27FC236}">
                <a16:creationId xmlns:a16="http://schemas.microsoft.com/office/drawing/2014/main" id="{5DA85969-2C00-004F-86C3-F71F9D47AAF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6432" y="3103187"/>
            <a:ext cx="1613390" cy="1152422"/>
          </a:xfrm>
          <a:prstGeom prst="rect">
            <a:avLst/>
          </a:prstGeom>
        </p:spPr>
      </p:pic>
      <p:pic>
        <p:nvPicPr>
          <p:cNvPr id="16" name="Picture 15" descr="Background pattern&#10;&#10;Description automatically generated">
            <a:extLst>
              <a:ext uri="{FF2B5EF4-FFF2-40B4-BE49-F238E27FC236}">
                <a16:creationId xmlns:a16="http://schemas.microsoft.com/office/drawing/2014/main" id="{C9F19BBD-6F90-D940-9ADA-CE93404DE1FC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6432" y="4932168"/>
            <a:ext cx="1613390" cy="1627299"/>
          </a:xfrm>
          <a:prstGeom prst="rect">
            <a:avLst/>
          </a:prstGeom>
        </p:spPr>
      </p:pic>
      <p:pic>
        <p:nvPicPr>
          <p:cNvPr id="17" name="Picture 16" descr="A white and yellow flower&#10;&#10;Description automatically generated with medium confidence">
            <a:extLst>
              <a:ext uri="{FF2B5EF4-FFF2-40B4-BE49-F238E27FC236}">
                <a16:creationId xmlns:a16="http://schemas.microsoft.com/office/drawing/2014/main" id="{95183B65-A9D2-A741-9776-7BBBCA8FC75E}"/>
              </a:ext>
            </a:extLst>
          </p:cNvPr>
          <p:cNvPicPr/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307" r="21722" b="10140"/>
          <a:stretch/>
        </p:blipFill>
        <p:spPr bwMode="auto">
          <a:xfrm>
            <a:off x="4678715" y="4964601"/>
            <a:ext cx="1617282" cy="16272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36341" y="585962"/>
            <a:ext cx="10303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 Some images may align with more than one type of transformation.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4014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0A5626-3ED2-4241-9AA9-97022E1FE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98715"/>
              </p:ext>
            </p:extLst>
          </p:nvPr>
        </p:nvGraphicFramePr>
        <p:xfrm>
          <a:off x="2956424" y="1659464"/>
          <a:ext cx="4682160" cy="44196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111831859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3895106932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877612"/>
                  </a:ext>
                </a:extLst>
              </a:tr>
              <a:tr h="6485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 across a line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 about a point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630125"/>
                  </a:ext>
                </a:extLst>
              </a:tr>
              <a:tr h="6371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 across a line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 about a point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425862"/>
                  </a:ext>
                </a:extLst>
              </a:tr>
              <a:tr h="5228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 across a line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 about a point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34591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 across a line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 about a point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487584"/>
                  </a:ext>
                </a:extLst>
              </a:tr>
            </a:tbl>
          </a:graphicData>
        </a:graphic>
      </p:graphicFrame>
      <p:sp>
        <p:nvSpPr>
          <p:cNvPr id="27" name="Google Shape;282;g104476d1465_1_17">
            <a:extLst>
              <a:ext uri="{FF2B5EF4-FFF2-40B4-BE49-F238E27FC236}">
                <a16:creationId xmlns:a16="http://schemas.microsoft.com/office/drawing/2014/main" id="{5BDC4CDD-2240-576F-8209-8E8F8322CEC2}"/>
              </a:ext>
            </a:extLst>
          </p:cNvPr>
          <p:cNvSpPr txBox="1"/>
          <p:nvPr/>
        </p:nvSpPr>
        <p:spPr>
          <a:xfrm>
            <a:off x="8994150" y="645895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3;g104476d1465_1_17">
            <a:extLst>
              <a:ext uri="{FF2B5EF4-FFF2-40B4-BE49-F238E27FC236}">
                <a16:creationId xmlns:a16="http://schemas.microsoft.com/office/drawing/2014/main" id="{DCB7B9EB-2126-2E1C-AE10-7F4D3495EE8E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47493" y="4625200"/>
            <a:ext cx="6501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image is a tessellation?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4014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3CA598F-B764-1E4E-B895-A5378CA00FA2}"/>
              </a:ext>
            </a:extLst>
          </p:cNvPr>
          <p:cNvGrpSpPr/>
          <p:nvPr/>
        </p:nvGrpSpPr>
        <p:grpSpPr>
          <a:xfrm>
            <a:off x="847493" y="788935"/>
            <a:ext cx="10959350" cy="1804346"/>
            <a:chOff x="2031300" y="1038677"/>
            <a:chExt cx="6629400" cy="32684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8E1135-A996-8549-A580-141394507342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08000" rIns="91425" bIns="0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>
                  <a:solidFill>
                    <a:srgbClr val="6C993D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US" sz="20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D74A36C-95F3-104A-B7D1-6C0D12BA595F}"/>
                </a:ext>
              </a:extLst>
            </p:cNvPr>
            <p:cNvGrpSpPr/>
            <p:nvPr/>
          </p:nvGrpSpPr>
          <p:grpSpPr>
            <a:xfrm>
              <a:off x="2031300" y="1038677"/>
              <a:ext cx="6629400" cy="3268425"/>
              <a:chOff x="2031300" y="1038677"/>
              <a:chExt cx="6629400" cy="326842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373455B-A49B-2A4E-BEFA-D135FACE52A0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08000" rIns="91425" bIns="0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>
                    <a:solidFill>
                      <a:srgbClr val="6C993D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75ED775-FA05-BD44-A6DD-A441B25F6E0C}"/>
                  </a:ext>
                </a:extLst>
              </p:cNvPr>
              <p:cNvGrpSpPr/>
              <p:nvPr/>
            </p:nvGrpSpPr>
            <p:grpSpPr>
              <a:xfrm>
                <a:off x="2031300" y="1038677"/>
                <a:ext cx="6629400" cy="3268425"/>
                <a:chOff x="2031300" y="1038677"/>
                <a:chExt cx="6629400" cy="3268425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A9C15F4C-0DAF-674A-923F-6D564EB936F8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108000" rIns="91425" bIns="0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2000">
                      <a:solidFill>
                        <a:srgbClr val="6C993D"/>
                      </a:solidFill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en-US" sz="20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4E09D1C-335B-8045-A67C-A16FFF71B670}"/>
                    </a:ext>
                  </a:extLst>
                </p:cNvPr>
                <p:cNvGrpSpPr/>
                <p:nvPr/>
              </p:nvGrpSpPr>
              <p:grpSpPr>
                <a:xfrm>
                  <a:off x="2031300" y="1038677"/>
                  <a:ext cx="6629400" cy="3268425"/>
                  <a:chOff x="2031300" y="1038677"/>
                  <a:chExt cx="6629400" cy="3268425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83CF9A10-0255-F344-8472-7B5EF3DD4452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108000" rIns="91425" bIns="0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2000">
                        <a:solidFill>
                          <a:srgbClr val="6C993D"/>
                        </a:solidFill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20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50A9E095-8183-8048-824D-0D5C38C9F91C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1038677"/>
                    <a:ext cx="6629400" cy="3268425"/>
                    <a:chOff x="2031300" y="1038677"/>
                    <a:chExt cx="6629400" cy="3268425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620AE2E8-F89F-D14C-AA97-6A04591FBA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108000" rIns="91425" bIns="0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rgbClr val="6C993D"/>
                          </a:solidFill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7A33BFD3-6A50-5444-B74F-305DDB1D67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1300" y="1038677"/>
                      <a:ext cx="6629400" cy="3268423"/>
                      <a:chOff x="2031300" y="1087618"/>
                      <a:chExt cx="6629400" cy="3210070"/>
                    </a:xfrm>
                  </p:grpSpPr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8B7DC435-6E45-124D-A904-9B1A8F6376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108000" rIns="91425" bIns="0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2000">
                            <a:solidFill>
                              <a:srgbClr val="6C993D"/>
                            </a:solidFill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  <a:endParaRPr lang="en-US" sz="20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BDA72A84-9470-2941-A139-17E862ACAA6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31300" y="1087618"/>
                        <a:ext cx="6629400" cy="3210070"/>
                        <a:chOff x="2031300" y="1198930"/>
                        <a:chExt cx="6629400" cy="3210070"/>
                      </a:xfrm>
                    </p:grpSpPr>
                    <p:sp>
                      <p:nvSpPr>
                        <p:cNvPr id="21" name="Rectangle 20">
                          <a:extLst>
                            <a:ext uri="{FF2B5EF4-FFF2-40B4-BE49-F238E27FC236}">
                              <a16:creationId xmlns:a16="http://schemas.microsoft.com/office/drawing/2014/main" id="{30ECBCBF-98CE-3E4C-8DF1-65132FFFC6C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108000" rIns="91425" bIns="0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solidFill>
                                <a:srgbClr val="6C993D"/>
                              </a:solidFill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20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8EE5EE9D-2078-BE41-8103-539A99000CA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31300" y="1198930"/>
                          <a:ext cx="6629400" cy="2987470"/>
                          <a:chOff x="2031300" y="1198930"/>
                          <a:chExt cx="6629400" cy="2987470"/>
                        </a:xfrm>
                      </p:grpSpPr>
                      <p:sp>
                        <p:nvSpPr>
                          <p:cNvPr id="23" name="Rectangle 22">
                            <a:extLst>
                              <a:ext uri="{FF2B5EF4-FFF2-40B4-BE49-F238E27FC236}">
                                <a16:creationId xmlns:a16="http://schemas.microsoft.com/office/drawing/2014/main" id="{38845CC5-308F-6B42-8685-D1D7C8348FE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108000" rIns="91425" bIns="0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2000">
                                <a:solidFill>
                                  <a:srgbClr val="6C993D"/>
                                </a:solidFill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  <a:endParaRPr lang="en-US" sz="20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grpSp>
                        <p:nvGrpSpPr>
                          <p:cNvPr id="24" name="Group 23">
                            <a:extLst>
                              <a:ext uri="{FF2B5EF4-FFF2-40B4-BE49-F238E27FC236}">
                                <a16:creationId xmlns:a16="http://schemas.microsoft.com/office/drawing/2014/main" id="{A4335281-9F83-D44B-892E-01EBD591169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031300" y="1198930"/>
                            <a:ext cx="6629400" cy="2987470"/>
                            <a:chOff x="0" y="-2174670"/>
                            <a:chExt cx="6629400" cy="2987470"/>
                          </a:xfrm>
                        </p:grpSpPr>
                        <p:sp>
                          <p:nvSpPr>
                            <p:cNvPr id="25" name="Rectangle 24">
                              <a:extLst>
                                <a:ext uri="{FF2B5EF4-FFF2-40B4-BE49-F238E27FC236}">
                                  <a16:creationId xmlns:a16="http://schemas.microsoft.com/office/drawing/2014/main" id="{8E68737B-1776-BA4D-BE86-5B056EC5CCF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108000" rIns="91425" bIns="0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2000">
                                  <a:solidFill>
                                    <a:srgbClr val="6C993D"/>
                                  </a:solidFill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  <a:endParaRPr lang="en-US" sz="20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26" name="Rounded Rectangle 25">
                              <a:extLst>
                                <a:ext uri="{FF2B5EF4-FFF2-40B4-BE49-F238E27FC236}">
                                  <a16:creationId xmlns:a16="http://schemas.microsoft.com/office/drawing/2014/main" id="{6BCCFDB2-FC17-2F49-83DF-AEE2C8E939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17552" y="-2174670"/>
                              <a:ext cx="3314700" cy="2581070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2EED5"/>
                            </a:solidFill>
                            <a:ln>
                              <a:noFill/>
                            </a:ln>
                            <a:effectLst>
                              <a:outerShdw blurRad="50800" dist="3810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</p:spPr>
                          <p:txBody>
                            <a:bodyPr spcFirstLastPara="1" wrap="square" lIns="91425" tIns="108000" rIns="91425" bIns="0" anchor="ctr" anchorCtr="0">
                              <a:spAutoFit/>
                            </a:bodyPr>
                            <a:lstStyle/>
                            <a:p>
                              <a:pPr marL="171450">
                                <a:spcAft>
                                  <a:spcPts val="1000"/>
                                </a:spcAft>
                              </a:pPr>
                              <a:r>
                                <a:rPr lang="en-US" sz="2000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a:t>A </a:t>
                              </a:r>
                              <a:r>
                                <a:rPr lang="en-US" sz="2000" b="1" i="1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a:t>tessellation</a:t>
                              </a:r>
                              <a:r>
                                <a:rPr lang="en-US" sz="2000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a:t> is an arrangement of shapes closely fitted together in a repeated pattern without gaps or overlaps.</a:t>
                              </a:r>
                              <a:endParaRPr lang="en-US" sz="2000" dirty="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</p:grpSp>
        </p:grpSp>
      </p:grpSp>
      <p:pic>
        <p:nvPicPr>
          <p:cNvPr id="27" name="Google Shape;283;g104476d1465_1_17">
            <a:extLst>
              <a:ext uri="{FF2B5EF4-FFF2-40B4-BE49-F238E27FC236}">
                <a16:creationId xmlns:a16="http://schemas.microsoft.com/office/drawing/2014/main" id="{8DD2D21B-B0B3-33E3-FBB0-E42397AB20A6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" name="Google Shape;282;g104476d1465_1_17">
            <a:extLst>
              <a:ext uri="{FF2B5EF4-FFF2-40B4-BE49-F238E27FC236}">
                <a16:creationId xmlns:a16="http://schemas.microsoft.com/office/drawing/2014/main" id="{67BDF371-0A14-5A00-EFFB-3884FD44AABF}"/>
              </a:ext>
            </a:extLst>
          </p:cNvPr>
          <p:cNvSpPr txBox="1"/>
          <p:nvPr/>
        </p:nvSpPr>
        <p:spPr>
          <a:xfrm>
            <a:off x="8994150" y="645895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3960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7110866" y="2186096"/>
            <a:ext cx="2799583" cy="1192467"/>
            <a:chOff x="3279482" y="2124296"/>
            <a:chExt cx="2799583" cy="119246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E23187C-E199-DB47-A7FE-CF22090CB107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79482" y="2234674"/>
              <a:ext cx="2799583" cy="929686"/>
            </a:xfrm>
            <a:prstGeom prst="rect">
              <a:avLst/>
            </a:prstGeom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DD8F96B-4A02-9F42-BCBC-79FF09392D53}"/>
                </a:ext>
              </a:extLst>
            </p:cNvPr>
            <p:cNvCxnSpPr>
              <a:cxnSpLocks/>
            </p:cNvCxnSpPr>
            <p:nvPr/>
          </p:nvCxnSpPr>
          <p:spPr>
            <a:xfrm>
              <a:off x="3837901" y="2124296"/>
              <a:ext cx="0" cy="1192467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11A478AC-DAFA-E840-A234-4E2217A5E546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8442" y="3437696"/>
            <a:ext cx="1743393" cy="1785497"/>
          </a:xfrm>
          <a:prstGeom prst="rect">
            <a:avLst/>
          </a:prstGeom>
        </p:spPr>
      </p:pic>
      <p:pic>
        <p:nvPicPr>
          <p:cNvPr id="11" name="Picture 10" descr="Shape&#10;&#10;Description automatically generated">
            <a:extLst>
              <a:ext uri="{FF2B5EF4-FFF2-40B4-BE49-F238E27FC236}">
                <a16:creationId xmlns:a16="http://schemas.microsoft.com/office/drawing/2014/main" id="{E4CC24F5-45E6-3644-9D60-5D5C20C243F4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9978" y="512722"/>
            <a:ext cx="2994660" cy="155278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AE1501-EBE5-F94A-BE48-5A7085CC5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95881"/>
              </p:ext>
            </p:extLst>
          </p:nvPr>
        </p:nvGraphicFramePr>
        <p:xfrm>
          <a:off x="7023835" y="234234"/>
          <a:ext cx="4716000" cy="5067728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1557943912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110366702"/>
                    </a:ext>
                  </a:extLst>
                </a:gridCol>
              </a:tblGrid>
              <a:tr h="3308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Symmetry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424525"/>
                  </a:ext>
                </a:extLst>
              </a:tr>
              <a:tr h="1390406">
                <a:tc>
                  <a:txBody>
                    <a:bodyPr/>
                    <a:lstStyle/>
                    <a:p>
                      <a:pPr>
                        <a:tabLst>
                          <a:tab pos="2149475" algn="l"/>
                        </a:tabLst>
                      </a:pPr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Translational symmetry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802092"/>
                  </a:ext>
                </a:extLst>
              </a:tr>
              <a:tr h="147917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Reflectional symmetry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740911"/>
                  </a:ext>
                </a:extLst>
              </a:tr>
              <a:tr h="180190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Rotational symmetry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530552"/>
                  </a:ext>
                </a:extLst>
              </a:tr>
            </a:tbl>
          </a:graphicData>
        </a:graphic>
      </p:graphicFrame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47493" y="5440432"/>
            <a:ext cx="10216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Micah commented to his partner that he thought the picture for reflectional symmetry could also be translational symmetry. Discuss this with your partner.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47492" y="302593"/>
            <a:ext cx="5765181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Translational symmetry is when sliding a pattern is used to create symmetry.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Reflectional symmetry is when a pattern can be reflected to create symmetry.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Rotational symmetry is when a rotation can be used to create symmetry. The table shows examples of each type of symmetry.</a:t>
            </a:r>
          </a:p>
        </p:txBody>
      </p:sp>
      <p:pic>
        <p:nvPicPr>
          <p:cNvPr id="17" name="Google Shape;283;g104476d1465_1_17">
            <a:extLst>
              <a:ext uri="{FF2B5EF4-FFF2-40B4-BE49-F238E27FC236}">
                <a16:creationId xmlns:a16="http://schemas.microsoft.com/office/drawing/2014/main" id="{E6536D2C-8E09-FAF9-5967-2CCF1BD0E52A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9931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69794" y="374089"/>
            <a:ext cx="10270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pattern, use the first two squares to complete the pattern.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E17CCB-0057-1141-9F15-88690AE96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164278"/>
              </p:ext>
            </p:extLst>
          </p:nvPr>
        </p:nvGraphicFramePr>
        <p:xfrm>
          <a:off x="2795879" y="1280077"/>
          <a:ext cx="6245169" cy="514872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245169">
                  <a:extLst>
                    <a:ext uri="{9D8B030D-6E8A-4147-A177-3AD203B41FA5}">
                      <a16:colId xmlns:a16="http://schemas.microsoft.com/office/drawing/2014/main" val="2114712887"/>
                    </a:ext>
                  </a:extLst>
                </a:gridCol>
              </a:tblGrid>
              <a:tr h="314916">
                <a:tc>
                  <a:txBody>
                    <a:bodyPr/>
                    <a:lstStyle/>
                    <a:p>
                      <a:pPr marL="42545" marR="0" indent="-4254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Pattern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82376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617906"/>
                  </a:ext>
                </a:extLst>
              </a:tr>
              <a:tr h="3149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Pattern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0895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529374"/>
                  </a:ext>
                </a:extLst>
              </a:tr>
              <a:tr h="3149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Pattern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09639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Verdana" panose="020B0604030504040204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898569"/>
                  </a:ext>
                </a:extLst>
              </a:tr>
            </a:tbl>
          </a:graphicData>
        </a:graphic>
      </p:graphicFrame>
      <p:sp>
        <p:nvSpPr>
          <p:cNvPr id="4" name="Rectangle 4">
            <a:extLst>
              <a:ext uri="{FF2B5EF4-FFF2-40B4-BE49-F238E27FC236}">
                <a16:creationId xmlns:a16="http://schemas.microsoft.com/office/drawing/2014/main" id="{5C1E851C-671A-9E47-981A-160F569D6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4" y="2887762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A5E8F0-8FEB-9840-B46E-6368AB871B2A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4258" y="5186767"/>
            <a:ext cx="4514150" cy="11857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9B037C-9BCB-5E48-AB53-26846C3648E3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4258" y="3424825"/>
            <a:ext cx="4497722" cy="1253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F3CFEA-9354-2D4E-AD50-0D1AD39D7A71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4258" y="1701865"/>
            <a:ext cx="4426487" cy="1214751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568CBFB1-547C-A009-BD0B-A91B46D07318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>
            <a:extLst>
              <a:ext uri="{FF2B5EF4-FFF2-40B4-BE49-F238E27FC236}">
                <a16:creationId xmlns:a16="http://schemas.microsoft.com/office/drawing/2014/main" id="{83D004B0-2282-A1B3-FAEB-1CB5B2B29974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8176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47493" y="374089"/>
            <a:ext cx="10281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determine the type of symmetry each pattern displays.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313054-39F8-2545-8444-C2602F114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828412"/>
              </p:ext>
            </p:extLst>
          </p:nvPr>
        </p:nvGraphicFramePr>
        <p:xfrm>
          <a:off x="2525250" y="1741607"/>
          <a:ext cx="6800850" cy="336643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367915">
                  <a:extLst>
                    <a:ext uri="{9D8B030D-6E8A-4147-A177-3AD203B41FA5}">
                      <a16:colId xmlns:a16="http://schemas.microsoft.com/office/drawing/2014/main" val="2155373303"/>
                    </a:ext>
                  </a:extLst>
                </a:gridCol>
                <a:gridCol w="4432935">
                  <a:extLst>
                    <a:ext uri="{9D8B030D-6E8A-4147-A177-3AD203B41FA5}">
                      <a16:colId xmlns:a16="http://schemas.microsoft.com/office/drawing/2014/main" val="169831657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Pattern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Type of Symmetry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863667"/>
                  </a:ext>
                </a:extLst>
              </a:tr>
              <a:tr h="96614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692848"/>
                  </a:ext>
                </a:extLst>
              </a:tr>
              <a:tr h="96614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980315"/>
                  </a:ext>
                </a:extLst>
              </a:tr>
              <a:tr h="96614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391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218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D7E1AC-03C4-EC45-A100-04391F602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693844"/>
              </p:ext>
            </p:extLst>
          </p:nvPr>
        </p:nvGraphicFramePr>
        <p:xfrm>
          <a:off x="1626727" y="2578100"/>
          <a:ext cx="7812000" cy="35258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10821942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952684889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927405326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3523936278"/>
                    </a:ext>
                  </a:extLst>
                </a:gridCol>
              </a:tblGrid>
              <a:tr h="750009">
                <a:tc>
                  <a:txBody>
                    <a:bodyPr/>
                    <a:lstStyle/>
                    <a:p>
                      <a:pPr marL="42545" marR="0" indent="-4254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Polygon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Figure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Lines of Symmetry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Order of Rotational Symmetry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468087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Isosceles triangle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637669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Equilateral triangle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43274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E2A985B-DB32-B740-9ACA-05F6B3E6B558}"/>
              </a:ext>
            </a:extLst>
          </p:cNvPr>
          <p:cNvPicPr/>
          <p:nvPr/>
        </p:nvPicPr>
        <p:blipFill rotWithShape="1">
          <a:blip r:embed="rId3"/>
          <a:srcRect t="10761" b="6785"/>
          <a:stretch/>
        </p:blipFill>
        <p:spPr>
          <a:xfrm>
            <a:off x="3518109" y="3644314"/>
            <a:ext cx="1192877" cy="1145571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58645" y="374089"/>
            <a:ext cx="102591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order of rotational symmetry of a shape is the number of times it can be rotated around a full circle and still look the same.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7.   Complete the chart for each polygon.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7FA742-6937-EE48-AE91-E944078AD73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448036" y="4922395"/>
            <a:ext cx="1333025" cy="1181545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80CAAB86-1DB5-CE28-D3C6-BBFEF193A4CD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5553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629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071F42-3410-6147-B3C3-C1DA607D6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746330"/>
              </p:ext>
            </p:extLst>
          </p:nvPr>
        </p:nvGraphicFramePr>
        <p:xfrm>
          <a:off x="2112065" y="443096"/>
          <a:ext cx="7812000" cy="60458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3517957166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898706321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4017561288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1724916510"/>
                    </a:ext>
                  </a:extLst>
                </a:gridCol>
              </a:tblGrid>
              <a:tr h="1004400">
                <a:tc>
                  <a:txBody>
                    <a:bodyPr/>
                    <a:lstStyle/>
                    <a:p>
                      <a:pPr marL="42545" marR="0" indent="-4254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Polygon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Figure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Lines of Symmetry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Order of Rotational Symmetry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Square</a:t>
                      </a:r>
                    </a:p>
                  </a:txBody>
                  <a:tcPr marL="43818" marR="438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3818" marR="438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3818" marR="4381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3818" marR="4381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Kite</a:t>
                      </a:r>
                    </a:p>
                  </a:txBody>
                  <a:tcPr marL="37945" marR="37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945" marR="37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37945" marR="379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37945" marR="379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002041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Regular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Pentagon</a:t>
                      </a:r>
                    </a:p>
                  </a:txBody>
                  <a:tcPr marL="37945" marR="37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945" marR="37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37945" marR="379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37945" marR="379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092917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Regular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Hexagon</a:t>
                      </a:r>
                    </a:p>
                  </a:txBody>
                  <a:tcPr marL="37945" marR="37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7945" marR="37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37945" marR="379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37945" marR="379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3545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F29EA4C-8049-DE4E-8720-236C9CE52DB4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8553" y="2764091"/>
            <a:ext cx="823517" cy="11832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07F80D-0589-4B4C-877B-2CE9530B060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186816" y="4021390"/>
            <a:ext cx="1223385" cy="11832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87D7C5-5998-3143-96BA-63F64CBD930E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4116100" y="5285900"/>
            <a:ext cx="1337389" cy="1181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00671F-798B-E048-9BFC-F9A46C1C9620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4186815" y="1465237"/>
            <a:ext cx="1146998" cy="11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88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3693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93902" y="9288"/>
            <a:ext cx="104528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1.H1.3 Activity: Creating a Tessellation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7147" y="29723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858644" y="1386025"/>
            <a:ext cx="59803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Image C is a tessellation that was created by MC Escher, a famous Dutch artist.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create a tessellation, you will need a 3x5 index card and tape.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274384-6D96-984A-8A32-66A86393A00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0BEBA5-9B7D-B34B-9188-39430BD2867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680383" y="4063682"/>
            <a:ext cx="3538633" cy="2177447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6850" y="1386025"/>
            <a:ext cx="3109800" cy="36024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2" name="Google Shape;311;g104476d1465_1_39">
            <a:extLst>
              <a:ext uri="{FF2B5EF4-FFF2-40B4-BE49-F238E27FC236}">
                <a16:creationId xmlns:a16="http://schemas.microsoft.com/office/drawing/2014/main" id="{54524E78-8E88-31DC-981D-F5C198FEE536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ED0B07BE-A332-7FE1-56B9-D988B82D3D2D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836341" y="337514"/>
            <a:ext cx="10270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your own tessellation by choosing one of the following options. The more cuts you make, the more interesting your pattern will become.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FA8216EE-488F-0B46-A674-98E7CEF16917}"/>
              </a:ext>
            </a:extLst>
          </p:cNvPr>
          <p:cNvSpPr/>
          <p:nvPr/>
        </p:nvSpPr>
        <p:spPr>
          <a:xfrm>
            <a:off x="-2709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567A09-6BA4-AD45-AE2C-BA93860AE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378684"/>
              </p:ext>
            </p:extLst>
          </p:nvPr>
        </p:nvGraphicFramePr>
        <p:xfrm>
          <a:off x="1382751" y="1350550"/>
          <a:ext cx="4605454" cy="9696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605454">
                  <a:extLst>
                    <a:ext uri="{9D8B030D-6E8A-4147-A177-3AD203B41FA5}">
                      <a16:colId xmlns:a16="http://schemas.microsoft.com/office/drawing/2014/main" val="12946488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Horizontal Cut</a:t>
                      </a: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723412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Draw a curve or pattern along a horizontal side of the card.</a:t>
                      </a: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620644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1382751" y="4898022"/>
            <a:ext cx="332781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Cut along the curve or pattern and shift the piece to the opposite side.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Tape the piece on. </a:t>
            </a:r>
          </a:p>
        </p:txBody>
      </p:sp>
      <p:pic>
        <p:nvPicPr>
          <p:cNvPr id="19" name="Google Shape;311;g104476d1465_1_39">
            <a:extLst>
              <a:ext uri="{FF2B5EF4-FFF2-40B4-BE49-F238E27FC236}">
                <a16:creationId xmlns:a16="http://schemas.microsoft.com/office/drawing/2014/main" id="{A5A4FCDD-7B2E-7BE4-E1C5-EFA7E6F9F37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25B539-136F-36E3-6D72-65E1DE2AE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240" y="4738675"/>
            <a:ext cx="6148009" cy="2119200"/>
          </a:xfrm>
          <a:prstGeom prst="rect">
            <a:avLst/>
          </a:prstGeom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6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Picture 19" descr="A picture containing diagram&#10;&#10;Description automatically generated">
            <a:extLst>
              <a:ext uri="{FF2B5EF4-FFF2-40B4-BE49-F238E27FC236}">
                <a16:creationId xmlns:a16="http://schemas.microsoft.com/office/drawing/2014/main" id="{8522D10A-F0B0-4726-3C00-51925F142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1686" y="2465585"/>
            <a:ext cx="2882900" cy="1727200"/>
          </a:xfrm>
          <a:prstGeom prst="rect">
            <a:avLst/>
          </a:prstGeom>
        </p:spPr>
      </p:pic>
      <p:pic>
        <p:nvPicPr>
          <p:cNvPr id="22" name="Picture 21" descr="Diagram&#10;&#10;Description automatically generated">
            <a:extLst>
              <a:ext uri="{FF2B5EF4-FFF2-40B4-BE49-F238E27FC236}">
                <a16:creationId xmlns:a16="http://schemas.microsoft.com/office/drawing/2014/main" id="{2579F314-9F02-9EB0-C0A8-D5710428A3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350" y="2281435"/>
            <a:ext cx="3098800" cy="2095500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0D7B8BD-CA6F-6673-4E74-7AC4C495B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644862"/>
              </p:ext>
            </p:extLst>
          </p:nvPr>
        </p:nvGraphicFramePr>
        <p:xfrm>
          <a:off x="6615151" y="1350550"/>
          <a:ext cx="4605454" cy="94546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605454">
                  <a:extLst>
                    <a:ext uri="{9D8B030D-6E8A-4147-A177-3AD203B41FA5}">
                      <a16:colId xmlns:a16="http://schemas.microsoft.com/office/drawing/2014/main" val="1294648889"/>
                    </a:ext>
                  </a:extLst>
                </a:gridCol>
              </a:tblGrid>
              <a:tr h="3358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Vertical Cut</a:t>
                      </a:r>
                    </a:p>
                  </a:txBody>
                  <a:tcPr marL="68580" marR="6858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14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Draw a curve or pattern along a vertical side of the card.</a:t>
                      </a: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249" y="620072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3249" y="64552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847493" y="337514"/>
            <a:ext cx="1028567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your card to create a tessellation by filling up a sheet of paper. Then, color your tessellation. </a:t>
            </a:r>
          </a:p>
          <a:p>
            <a:r>
              <a:rPr lang="en-US" sz="2400" dirty="0"/>
              <a:t>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FA8216EE-488F-0B46-A674-98E7CEF1691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7493" y="348590"/>
            <a:ext cx="99005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 is also possible to make multiple cuts as shown.</a:t>
            </a:r>
          </a:p>
        </p:txBody>
      </p:sp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F5657755-B48B-28A4-3222-FDA16100F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442" y="810255"/>
            <a:ext cx="8697958" cy="428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63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3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683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71960" y="203919"/>
            <a:ext cx="9656957" cy="70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1.H1.4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300" y="18111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847493" y="1107730"/>
            <a:ext cx="10281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Symmetry is often found in nature. Describe the transformations that show the symmetry of each object.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-9784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FFB8E2-D996-7F4C-8F85-3449D655D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432832"/>
              </p:ext>
            </p:extLst>
          </p:nvPr>
        </p:nvGraphicFramePr>
        <p:xfrm>
          <a:off x="2073662" y="2129605"/>
          <a:ext cx="7125095" cy="4511031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942180">
                  <a:extLst>
                    <a:ext uri="{9D8B030D-6E8A-4147-A177-3AD203B41FA5}">
                      <a16:colId xmlns:a16="http://schemas.microsoft.com/office/drawing/2014/main" val="41492855"/>
                    </a:ext>
                  </a:extLst>
                </a:gridCol>
                <a:gridCol w="1468436">
                  <a:extLst>
                    <a:ext uri="{9D8B030D-6E8A-4147-A177-3AD203B41FA5}">
                      <a16:colId xmlns:a16="http://schemas.microsoft.com/office/drawing/2014/main" val="429247628"/>
                    </a:ext>
                  </a:extLst>
                </a:gridCol>
                <a:gridCol w="2714479">
                  <a:extLst>
                    <a:ext uri="{9D8B030D-6E8A-4147-A177-3AD203B41FA5}">
                      <a16:colId xmlns:a16="http://schemas.microsoft.com/office/drawing/2014/main" val="387456574"/>
                    </a:ext>
                  </a:extLst>
                </a:gridCol>
              </a:tblGrid>
              <a:tr h="236547">
                <a:tc>
                  <a:txBody>
                    <a:bodyPr/>
                    <a:lstStyle/>
                    <a:p>
                      <a:pPr marL="42545" marR="0" indent="-4254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247024"/>
                  </a:ext>
                </a:extLst>
              </a:tr>
              <a:tr h="21194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Each petal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723474"/>
                  </a:ext>
                </a:extLst>
              </a:tr>
              <a:tr h="199535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Each arm of the starfish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95707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835713A-51D2-D241-99B5-2280F22E10A2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2061" y="2640209"/>
            <a:ext cx="1769467" cy="19237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50D397-A387-A84F-BD17-058C555B7AAC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9630" y="4720913"/>
            <a:ext cx="1654328" cy="180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2950</TotalTime>
  <Words>899</Words>
  <Application>Microsoft Macintosh PowerPoint</Application>
  <PresentationFormat>Widescreen</PresentationFormat>
  <Paragraphs>203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Wingdings</vt:lpstr>
      <vt:lpstr>Verdana</vt:lpstr>
      <vt:lpstr>Arial</vt:lpstr>
      <vt:lpstr>Cambria</vt:lpstr>
      <vt:lpstr>Century Gothic</vt:lpstr>
      <vt:lpstr>Calibri</vt:lpstr>
      <vt:lpstr>Arial Black</vt:lpstr>
      <vt:lpstr>1_Office Theme</vt:lpstr>
      <vt:lpstr>Geometry  Unit 1, Lesson H1  Symmetries  Volume 1, pg. 47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33</cp:revision>
  <dcterms:created xsi:type="dcterms:W3CDTF">2015-03-17T18:51:18Z</dcterms:created>
  <dcterms:modified xsi:type="dcterms:W3CDTF">2023-02-27T19:19:17Z</dcterms:modified>
</cp:coreProperties>
</file>