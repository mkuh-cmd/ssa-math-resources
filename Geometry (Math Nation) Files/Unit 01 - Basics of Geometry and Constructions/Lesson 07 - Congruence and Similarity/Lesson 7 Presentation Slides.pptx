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288" r:id="rId8"/>
    <p:sldId id="314" r:id="rId9"/>
    <p:sldId id="315" r:id="rId10"/>
    <p:sldId id="316" r:id="rId11"/>
    <p:sldId id="339" r:id="rId12"/>
    <p:sldId id="332" r:id="rId13"/>
    <p:sldId id="334" r:id="rId14"/>
    <p:sldId id="335" r:id="rId15"/>
    <p:sldId id="336" r:id="rId16"/>
    <p:sldId id="323" r:id="rId17"/>
    <p:sldId id="324" r:id="rId18"/>
    <p:sldId id="337" r:id="rId19"/>
    <p:sldId id="329" r:id="rId20"/>
    <p:sldId id="330" r:id="rId21"/>
    <p:sldId id="331" r:id="rId22"/>
    <p:sldId id="289" r:id="rId23"/>
    <p:sldId id="290" r:id="rId24"/>
    <p:sldId id="308" r:id="rId25"/>
    <p:sldId id="338" r:id="rId26"/>
    <p:sldId id="306" r:id="rId27"/>
    <p:sldId id="307" r:id="rId28"/>
  </p:sldIdLst>
  <p:sldSz cx="12192000" cy="6858000"/>
  <p:notesSz cx="6858000" cy="9144000"/>
  <p:embeddedFontLst>
    <p:embeddedFont>
      <p:font typeface="Arial Black" panose="020B0A04020102020204" pitchFamily="34" charset="0"/>
      <p:bold r:id="rId30"/>
    </p:embeddedFont>
    <p:embeddedFont>
      <p:font typeface="Calibri" panose="020F0502020204030204" pitchFamily="34" charset="0"/>
      <p:regular r:id="rId31"/>
      <p:bold r:id="rId32"/>
      <p:italic r:id="rId33"/>
      <p:boldItalic r:id="rId34"/>
    </p:embeddedFont>
    <p:embeddedFont>
      <p:font typeface="Cambria" panose="02040503050406030204" pitchFamily="18" charset="0"/>
      <p:regular r:id="rId35"/>
      <p:bold r:id="rId36"/>
      <p:italic r:id="rId37"/>
      <p:boldItalic r:id="rId38"/>
    </p:embeddedFont>
    <p:embeddedFont>
      <p:font typeface="Cambria Math" panose="02040503050406030204" pitchFamily="18" charset="0"/>
      <p:regular r:id="rId39"/>
    </p:embeddedFont>
    <p:embeddedFont>
      <p:font typeface="Century Gothic" panose="020B0502020202020204" pitchFamily="34" charset="0"/>
      <p:regular r:id="rId40"/>
      <p:bold r:id="rId41"/>
      <p:italic r:id="rId42"/>
      <p:boldItalic r:id="rId43"/>
    </p:embeddedFont>
    <p:embeddedFont>
      <p:font typeface="Verdana" panose="020B060403050404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E5B"/>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020" autoAdjust="0"/>
    <p:restoredTop sz="94822" autoAdjust="0"/>
  </p:normalViewPr>
  <p:slideViewPr>
    <p:cSldViewPr snapToGrid="0">
      <p:cViewPr varScale="1">
        <p:scale>
          <a:sx n="86" d="100"/>
          <a:sy n="86" d="100"/>
        </p:scale>
        <p:origin x="318"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6803693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017217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2252516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8453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4378581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2064024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8406461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3918865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8480710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0220800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4.tiff"/><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9.tiff"/><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8.tiff"/><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 Lesson 7</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Congruence and Similarity</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40</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64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40</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47850" y="1421906"/>
            <a:ext cx="964617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MA.912.GR.2.6</a:t>
            </a:r>
          </a:p>
          <a:p>
            <a:pPr indent="0">
              <a:spcAft>
                <a:spcPts val="1800"/>
              </a:spcAft>
              <a:buNone/>
            </a:pPr>
            <a:r>
              <a:rPr lang="en-US" sz="2800" dirty="0">
                <a:latin typeface="Verdana" panose="020B0604030504040204" pitchFamily="34" charset="0"/>
                <a:ea typeface="Verdana" panose="020B0604030504040204" pitchFamily="34" charset="0"/>
                <a:cs typeface="Verdana" panose="020B0604030504040204" pitchFamily="34" charset="0"/>
              </a:rPr>
              <a:t>Apply rigid transformations to map one figure onto another to justify that the two figures are congruent.</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MA.912.GR.2.8</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Apply an appropriate transformation to map one figure onto another to justify that the two figures are similar.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199" y="129791"/>
            <a:ext cx="1039872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40</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047850" y="1596514"/>
            <a:ext cx="966847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78;g104476d1465_1_17">
            <a:extLst>
              <a:ext uri="{FF2B5EF4-FFF2-40B4-BE49-F238E27FC236}">
                <a16:creationId xmlns:a16="http://schemas.microsoft.com/office/drawing/2014/main" id="{077C6829-C721-C84C-B217-05FC82BD0900}"/>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0784"/>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19984"/>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40</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78513" y="1600324"/>
            <a:ext cx="960435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2438" indent="-452438">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recognize the relationship between corresponding sides and corresponding angles of congruent and similar figures.</a:t>
            </a:r>
          </a:p>
          <a:p>
            <a:pPr marL="452438" indent="-452438">
              <a:buFont typeface="Wingdings" pitchFamily="2" charset="2"/>
              <a:buChar char="q"/>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452438" indent="-452438">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write congruence statements to relate corresponding parts following a rigid transformation. </a:t>
            </a:r>
          </a:p>
          <a:p>
            <a:pPr marL="452438" indent="-452438">
              <a:buFont typeface="Wingdings" pitchFamily="2" charset="2"/>
              <a:buChar char="q"/>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452438" indent="-452438">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write similarity statements to relate corresponding parts following a dilation.</a:t>
            </a:r>
          </a:p>
        </p:txBody>
      </p:sp>
      <p:sp>
        <p:nvSpPr>
          <p:cNvPr id="8" name="Google Shape;278;g104476d1465_1_17">
            <a:extLst>
              <a:ext uri="{FF2B5EF4-FFF2-40B4-BE49-F238E27FC236}">
                <a16:creationId xmlns:a16="http://schemas.microsoft.com/office/drawing/2014/main" id="{84D53208-BBC5-F045-A1FC-36E1745FA757}"/>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41</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6511"/>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05054" y="26515"/>
            <a:ext cx="10223096"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1.7.1 Warm-Up: 10,000 Hours to Awesome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593248" y="15544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358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41</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1D7562E-134F-D14B-AF1A-DF40E11EF758}"/>
                  </a:ext>
                </a:extLst>
              </p:cNvPr>
              <p:cNvSpPr txBox="1"/>
              <p:nvPr/>
            </p:nvSpPr>
            <p:spPr>
              <a:xfrm>
                <a:off x="858644" y="1476303"/>
                <a:ext cx="10223096" cy="452431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Best-selling author Malcolm Gladwell states in his book "Outliers" that it takes </a:t>
                </a:r>
                <a14:m>
                  <m:oMath xmlns:m="http://schemas.openxmlformats.org/officeDocument/2006/math">
                    <m:r>
                      <a:rPr lang="en-US" sz="2400" i="1">
                        <a:latin typeface="Cambria Math"/>
                      </a:rPr>
                      <m:t>10,000</m:t>
                    </m:r>
                  </m:oMath>
                </a14:m>
                <a:r>
                  <a:rPr lang="en-US" sz="2400" dirty="0">
                    <a:latin typeface="Verdana" panose="020B0604030504040204" pitchFamily="34" charset="0"/>
                    <a:ea typeface="Verdana" panose="020B0604030504040204" pitchFamily="34" charset="0"/>
                    <a:cs typeface="Verdana" panose="020B0604030504040204" pitchFamily="34" charset="0"/>
                  </a:rPr>
                  <a:t> hours of practice to be a phenom — so freakishly awesome or great at something. In 1973, Herbert Simon and </a:t>
                </a: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William Chase wrote a paper published in </a:t>
                </a:r>
                <a:r>
                  <a:rPr lang="en-US" sz="2400" i="1" dirty="0">
                    <a:latin typeface="Verdana" panose="020B0604030504040204" pitchFamily="34" charset="0"/>
                    <a:ea typeface="Verdana" panose="020B0604030504040204" pitchFamily="34" charset="0"/>
                    <a:cs typeface="Verdana" panose="020B0604030504040204" pitchFamily="34" charset="0"/>
                  </a:rPr>
                  <a:t>American Scientist</a:t>
                </a:r>
                <a:r>
                  <a:rPr lang="en-US" sz="2400" dirty="0">
                    <a:latin typeface="Verdana" panose="020B0604030504040204" pitchFamily="34" charset="0"/>
                    <a:ea typeface="Verdana" panose="020B0604030504040204" pitchFamily="34" charset="0"/>
                    <a:cs typeface="Verdana" panose="020B0604030504040204" pitchFamily="34" charset="0"/>
                  </a:rPr>
                  <a:t>. Simon and Chase did experiments with chess-playing tasks and computer simulations to determine how long it would take someone to reach the grandmaster level in the game of chess. Their conclusion was that it could take as many as </a:t>
                </a:r>
                <a:br>
                  <a:rPr lang="en-US" sz="24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400" i="1">
                        <a:latin typeface="Cambria Math"/>
                      </a:rPr>
                      <m:t>50,000</m:t>
                    </m:r>
                  </m:oMath>
                </a14:m>
                <a:r>
                  <a:rPr lang="en-US" sz="2400" dirty="0">
                    <a:latin typeface="Verdana" panose="020B0604030504040204" pitchFamily="34" charset="0"/>
                    <a:ea typeface="Verdana" panose="020B0604030504040204" pitchFamily="34" charset="0"/>
                    <a:cs typeface="Verdana" panose="020B0604030504040204" pitchFamily="34" charset="0"/>
                  </a:rPr>
                  <a:t> hours staring at chess positions to become a chess grandmaster.</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858644" y="1476303"/>
                <a:ext cx="10223096" cy="4524315"/>
              </a:xfrm>
              <a:prstGeom prst="rect">
                <a:avLst/>
              </a:prstGeom>
              <a:blipFill>
                <a:blip r:embed="rId5"/>
                <a:stretch>
                  <a:fillRect l="-954" t="-1078"/>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D2E26B32-0C88-7847-9ECA-D11545A204F9}"/>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41</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858645" y="640129"/>
                <a:ext cx="10259122" cy="452431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skill, hobby, or activity would you like to become freakishly awesome at?</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How many years is </a:t>
                </a:r>
                <a14:m>
                  <m:oMath xmlns:m="http://schemas.openxmlformats.org/officeDocument/2006/math">
                    <m:r>
                      <a:rPr lang="en-US" sz="2400" i="1">
                        <a:latin typeface="Cambria Math" panose="02040503050406030204" pitchFamily="18" charset="0"/>
                      </a:rPr>
                      <m:t>10,000</m:t>
                    </m:r>
                  </m:oMath>
                </a14:m>
                <a:r>
                  <a:rPr lang="en-US" sz="2400" dirty="0">
                    <a:latin typeface="Verdana" panose="020B0604030504040204" pitchFamily="34" charset="0"/>
                    <a:ea typeface="Verdana" panose="020B0604030504040204" pitchFamily="34" charset="0"/>
                    <a:cs typeface="Verdana" panose="020B0604030504040204" pitchFamily="34" charset="0"/>
                  </a:rPr>
                  <a:t> hours?</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How many years is </a:t>
                </a:r>
                <a14:m>
                  <m:oMath xmlns:m="http://schemas.openxmlformats.org/officeDocument/2006/math">
                    <m:r>
                      <a:rPr lang="en-US" sz="2400" i="1">
                        <a:latin typeface="Cambria Math" panose="02040503050406030204" pitchFamily="18" charset="0"/>
                      </a:rPr>
                      <m:t>50,000</m:t>
                    </m:r>
                  </m:oMath>
                </a14:m>
                <a:r>
                  <a:rPr lang="en-US" sz="2400" dirty="0">
                    <a:latin typeface="Verdana" panose="020B0604030504040204" pitchFamily="34" charset="0"/>
                    <a:ea typeface="Verdana" panose="020B0604030504040204" pitchFamily="34" charset="0"/>
                    <a:cs typeface="Verdana" panose="020B0604030504040204" pitchFamily="34" charset="0"/>
                  </a:rPr>
                  <a:t> hours?</a:t>
                </a: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58645" y="640129"/>
                <a:ext cx="10259122" cy="4524315"/>
              </a:xfrm>
              <a:prstGeom prst="rect">
                <a:avLst/>
              </a:prstGeom>
              <a:blipFill>
                <a:blip r:embed="rId4"/>
                <a:stretch>
                  <a:fillRect l="-951" t="-1078" b="-202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285F77CB-5FF9-E743-9AA8-B4C11C925C98}"/>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41</a:t>
            </a:r>
            <a:endParaRPr i="1" dirty="0">
              <a:latin typeface="Calibri"/>
              <a:ea typeface="Calibri"/>
              <a:cs typeface="Calibri"/>
              <a:sym typeface="Calibri"/>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60809" y="274560"/>
            <a:ext cx="9723863"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1.7.2 Collaboration: Line Segments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93248" y="19510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858643" y="1386149"/>
                <a:ext cx="10883591" cy="1354986"/>
              </a:xfrm>
              <a:prstGeom prst="rect">
                <a:avLst/>
              </a:prstGeom>
              <a:noFill/>
            </p:spPr>
            <p:txBody>
              <a:bodyPr wrap="square" rtlCol="0">
                <a:spAutoFit/>
              </a:bodyPr>
              <a:lstStyle/>
              <a:p>
                <a:pPr marL="457200" indent="-457200">
                  <a:spcAft>
                    <a:spcPts val="1200"/>
                  </a:spcAft>
                  <a:buFont typeface="+mj-lt"/>
                  <a:buAutoNum type="arabicPeriod"/>
                </a:pPr>
                <a:r>
                  <a:rPr lang="en-US" sz="2400" dirty="0">
                    <a:latin typeface="Verdana" pitchFamily="34" charset="0"/>
                    <a:ea typeface="Verdana" pitchFamily="34" charset="0"/>
                  </a:rPr>
                  <a:t>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𝐿𝑀</m:t>
                        </m:r>
                      </m:e>
                    </m:acc>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𝑇𝑆</m:t>
                        </m:r>
                      </m:e>
                    </m:acc>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𝑌𝑍</m:t>
                        </m:r>
                      </m:e>
                    </m:acc>
                  </m:oMath>
                </a14:m>
                <a:r>
                  <a:rPr lang="en-US" sz="2400" dirty="0">
                    <a:latin typeface="Verdana" panose="020B0604030504040204" pitchFamily="34" charset="0"/>
                    <a:ea typeface="Verdana" panose="020B0604030504040204" pitchFamily="34" charset="0"/>
                    <a:cs typeface="Verdana" panose="020B0604030504040204" pitchFamily="34" charset="0"/>
                  </a:rPr>
                  <a:t> are shown on the coordinate grid.</a:t>
                </a:r>
              </a:p>
              <a:p>
                <a:pPr marL="914400" indent="-401638">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016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three line segments? </a:t>
                </a: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858643" y="1386149"/>
                <a:ext cx="10883591" cy="1354986"/>
              </a:xfrm>
              <a:prstGeom prst="rect">
                <a:avLst/>
              </a:prstGeom>
              <a:blipFill>
                <a:blip r:embed="rId4"/>
                <a:stretch>
                  <a:fillRect l="-896" t="-4036" b="-8969"/>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E9CA456B-1791-3E43-BCF8-7E55B6240BB8}"/>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2" name="Picture 11" descr="Chart, scatter chart&#10;&#10;Description automatically generated">
            <a:extLst>
              <a:ext uri="{FF2B5EF4-FFF2-40B4-BE49-F238E27FC236}">
                <a16:creationId xmlns:a16="http://schemas.microsoft.com/office/drawing/2014/main" id="{07B737B0-7C78-5F49-96DC-8D4FB1E95380}"/>
              </a:ext>
            </a:extLst>
          </p:cNvPr>
          <p:cNvPicPr/>
          <p:nvPr/>
        </p:nvPicPr>
        <p:blipFill>
          <a:blip r:embed="rId5" cstate="screen">
            <a:extLst>
              <a:ext uri="{28A0092B-C50C-407E-A947-70E740481C1C}">
                <a14:useLocalDpi xmlns:a14="http://schemas.microsoft.com/office/drawing/2010/main"/>
              </a:ext>
            </a:extLst>
          </a:blip>
          <a:stretch>
            <a:fillRect/>
          </a:stretch>
        </p:blipFill>
        <p:spPr>
          <a:xfrm>
            <a:off x="2835301" y="2741135"/>
            <a:ext cx="4869653" cy="4005396"/>
          </a:xfrm>
          <a:prstGeom prst="rect">
            <a:avLst/>
          </a:prstGeom>
        </p:spPr>
      </p:pic>
      <p:sp>
        <p:nvSpPr>
          <p:cNvPr id="13" name="Google Shape;282;g104476d1465_1_17">
            <a:extLst>
              <a:ext uri="{FF2B5EF4-FFF2-40B4-BE49-F238E27FC236}">
                <a16:creationId xmlns:a16="http://schemas.microsoft.com/office/drawing/2014/main" id="{449F1DBB-C118-C0E7-93F4-91FA535DAAA3}"/>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41</a:t>
            </a:r>
            <a:endParaRPr i="1" dirty="0">
              <a:latin typeface="Calibri"/>
              <a:ea typeface="Calibri"/>
              <a:cs typeface="Calibri"/>
              <a:sym typeface="Calibri"/>
            </a:endParaRPr>
          </a:p>
        </p:txBody>
      </p:sp>
      <p:pic>
        <p:nvPicPr>
          <p:cNvPr id="14" name="Google Shape;311;g104476d1465_1_39">
            <a:extLst>
              <a:ext uri="{FF2B5EF4-FFF2-40B4-BE49-F238E27FC236}">
                <a16:creationId xmlns:a16="http://schemas.microsoft.com/office/drawing/2014/main" id="{A7F8F903-2988-F590-A35C-45C66BDD22C3}"/>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42</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AA35BC6-D428-FC41-BDE5-6438AB8840FC}"/>
                  </a:ext>
                </a:extLst>
              </p:cNvPr>
              <p:cNvSpPr txBox="1"/>
              <p:nvPr/>
            </p:nvSpPr>
            <p:spPr>
              <a:xfrm>
                <a:off x="836341" y="522299"/>
                <a:ext cx="10292576" cy="4527393"/>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List at least two different ways to show that the length of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𝑇𝑆</m:t>
                        </m:r>
                      </m:e>
                    </m:acc>
                  </m:oMath>
                </a14:m>
                <a:r>
                  <a:rPr lang="en-US" sz="2400" dirty="0">
                    <a:latin typeface="Verdana" panose="020B0604030504040204" pitchFamily="34" charset="0"/>
                    <a:ea typeface="Verdana" panose="020B0604030504040204" pitchFamily="34" charset="0"/>
                    <a:cs typeface="Verdana" panose="020B0604030504040204" pitchFamily="34" charset="0"/>
                  </a:rPr>
                  <a:t> is equal to the length of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𝑌𝑍</m:t>
                        </m:r>
                      </m:e>
                    </m:acc>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the ratio of the length of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𝑇𝑆</m:t>
                        </m:r>
                      </m:e>
                    </m:acc>
                  </m:oMath>
                </a14:m>
                <a:r>
                  <a:rPr lang="en-US" sz="2400" dirty="0">
                    <a:latin typeface="Verdana" panose="020B0604030504040204" pitchFamily="34" charset="0"/>
                    <a:ea typeface="Verdana" panose="020B0604030504040204" pitchFamily="34" charset="0"/>
                    <a:cs typeface="Verdana" panose="020B0604030504040204" pitchFamily="34" charset="0"/>
                  </a:rPr>
                  <a:t> to the length of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𝐿𝑀</m:t>
                        </m:r>
                      </m:e>
                    </m:acc>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the ratio of the length of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𝑇𝑆</m:t>
                        </m:r>
                      </m:e>
                    </m:acc>
                  </m:oMath>
                </a14:m>
                <a:r>
                  <a:rPr lang="en-US" sz="2400" dirty="0">
                    <a:latin typeface="Verdana" panose="020B0604030504040204" pitchFamily="34" charset="0"/>
                    <a:ea typeface="Verdana" panose="020B0604030504040204" pitchFamily="34" charset="0"/>
                    <a:cs typeface="Verdana" panose="020B0604030504040204" pitchFamily="34" charset="0"/>
                  </a:rPr>
                  <a:t> to the length of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𝑌𝑍</m:t>
                        </m:r>
                      </m:e>
                    </m:acc>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Describe a single transformation that could have been used to transform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𝑇𝑆</m:t>
                        </m:r>
                      </m:e>
                    </m:acc>
                  </m:oMath>
                </a14:m>
                <a:r>
                  <a:rPr lang="en-US" sz="2400" dirty="0">
                    <a:latin typeface="Verdana" panose="020B0604030504040204" pitchFamily="34" charset="0"/>
                    <a:ea typeface="Verdana" panose="020B0604030504040204" pitchFamily="34" charset="0"/>
                    <a:cs typeface="Verdana" panose="020B0604030504040204" pitchFamily="34" charset="0"/>
                  </a:rPr>
                  <a:t> to create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𝐿𝑀</m:t>
                        </m:r>
                      </m:e>
                    </m:acc>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836341" y="522299"/>
                <a:ext cx="10292576" cy="4527393"/>
              </a:xfrm>
              <a:prstGeom prst="rect">
                <a:avLst/>
              </a:prstGeom>
              <a:blipFill>
                <a:blip r:embed="rId4"/>
                <a:stretch>
                  <a:fillRect t="-1078" r="-1717" b="-2156"/>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60F4B17-87E0-004C-AADF-1570DE52C58A}"/>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251846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229" y="619767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0003" y="645474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42</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AA35BC6-D428-FC41-BDE5-6438AB8840FC}"/>
                  </a:ext>
                </a:extLst>
              </p:cNvPr>
              <p:cNvSpPr txBox="1"/>
              <p:nvPr/>
            </p:nvSpPr>
            <p:spPr>
              <a:xfrm>
                <a:off x="858644" y="597308"/>
                <a:ext cx="10270274" cy="5263749"/>
              </a:xfrm>
              <a:prstGeom prst="rect">
                <a:avLst/>
              </a:prstGeom>
              <a:noFill/>
            </p:spPr>
            <p:txBody>
              <a:bodyPr wrap="square" rtlCol="0">
                <a:spAutoFit/>
              </a:bodyPr>
              <a:lstStyle/>
              <a:p>
                <a:pPr marL="914400" indent="-457200">
                  <a:buFont typeface="+mj-lt"/>
                  <a:buAutoNum type="alphaLcPeriod" startAt="6"/>
                </a:pPr>
                <a:r>
                  <a:rPr lang="en-US" sz="2400" dirty="0">
                    <a:latin typeface="Verdana" panose="020B0604030504040204" pitchFamily="34" charset="0"/>
                    <a:ea typeface="Verdana" panose="020B0604030504040204" pitchFamily="34" charset="0"/>
                    <a:cs typeface="Verdana" panose="020B0604030504040204" pitchFamily="34" charset="0"/>
                  </a:rPr>
                  <a:t>Draw a line that extends through the coordinate plane and passes through points </a:t>
                </a:r>
                <a14:m>
                  <m:oMath xmlns:m="http://schemas.openxmlformats.org/officeDocument/2006/math">
                    <m:r>
                      <a:rPr lang="en-US" sz="2400" i="1">
                        <a:latin typeface="Cambria Math"/>
                      </a:rPr>
                      <m:t>𝐿</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a:rPr>
                      <m:t>𝑇</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6"/>
                </a:pPr>
                <a:r>
                  <a:rPr lang="en-US" sz="2400" dirty="0">
                    <a:latin typeface="Verdana" panose="020B0604030504040204" pitchFamily="34" charset="0"/>
                    <a:ea typeface="Verdana" panose="020B0604030504040204" pitchFamily="34" charset="0"/>
                    <a:cs typeface="Verdana" panose="020B0604030504040204" pitchFamily="34" charset="0"/>
                  </a:rPr>
                  <a:t>Draw a line that extends through the coordinate plane and passes through points </a:t>
                </a:r>
                <a14:m>
                  <m:oMath xmlns:m="http://schemas.openxmlformats.org/officeDocument/2006/math">
                    <m:r>
                      <a:rPr lang="en-US" sz="2400" i="1">
                        <a:latin typeface="Cambria Math" panose="02040503050406030204" pitchFamily="18" charset="0"/>
                      </a:rPr>
                      <m:t>𝑀</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𝑆</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6"/>
                </a:pPr>
                <a:r>
                  <a:rPr lang="en-US" sz="2400" dirty="0">
                    <a:latin typeface="Verdana" panose="020B0604030504040204" pitchFamily="34" charset="0"/>
                    <a:ea typeface="Verdana" panose="020B0604030504040204" pitchFamily="34" charset="0"/>
                    <a:cs typeface="Verdana" panose="020B0604030504040204" pitchFamily="34" charset="0"/>
                  </a:rPr>
                  <a:t>Where do the two lines intersect?</a:t>
                </a:r>
              </a:p>
              <a:p>
                <a:pPr marL="914400" indent="-457200">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6"/>
                </a:pPr>
                <a:r>
                  <a:rPr lang="en-US" sz="2400" dirty="0">
                    <a:latin typeface="Verdana" panose="020B0604030504040204" pitchFamily="34" charset="0"/>
                    <a:ea typeface="Verdana" panose="020B0604030504040204" pitchFamily="34" charset="0"/>
                    <a:cs typeface="Verdana" panose="020B0604030504040204" pitchFamily="34" charset="0"/>
                  </a:rPr>
                  <a:t>What is a single transformation that could have been used to transform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𝑇𝑆</m:t>
                        </m:r>
                      </m:e>
                    </m:acc>
                  </m:oMath>
                </a14:m>
                <a:r>
                  <a:rPr lang="en-US" sz="2400" dirty="0">
                    <a:latin typeface="Verdana" panose="020B0604030504040204" pitchFamily="34" charset="0"/>
                    <a:ea typeface="Verdana" panose="020B0604030504040204" pitchFamily="34" charset="0"/>
                    <a:cs typeface="Verdana" panose="020B0604030504040204" pitchFamily="34" charset="0"/>
                  </a:rPr>
                  <a:t> to create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𝑌𝑍</m:t>
                        </m:r>
                      </m:e>
                    </m:acc>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889000" indent="-457200">
                  <a:buFont typeface="+mj-lt"/>
                  <a:buAutoNum type="alphaLcPeriod" startAt="6"/>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858644" y="597308"/>
                <a:ext cx="10270274" cy="5263749"/>
              </a:xfrm>
              <a:prstGeom prst="rect">
                <a:avLst/>
              </a:prstGeom>
              <a:blipFill>
                <a:blip r:embed="rId4"/>
                <a:stretch>
                  <a:fillRect t="-927" r="-53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60F4B17-87E0-004C-AADF-1570DE52C58A}"/>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03534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229" y="620033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0003" y="645740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42</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2AA35BC6-D428-FC41-BDE5-6438AB8840FC}"/>
              </a:ext>
            </a:extLst>
          </p:cNvPr>
          <p:cNvSpPr txBox="1"/>
          <p:nvPr/>
        </p:nvSpPr>
        <p:spPr>
          <a:xfrm>
            <a:off x="847493" y="418890"/>
            <a:ext cx="10281424" cy="2308324"/>
          </a:xfrm>
          <a:prstGeom prst="rect">
            <a:avLst/>
          </a:prstGeom>
          <a:noFill/>
        </p:spPr>
        <p:txBody>
          <a:bodyPr wrap="square" rtlCol="0">
            <a:spAutoFit/>
          </a:bodyPr>
          <a:lstStyle/>
          <a:p>
            <a:pPr marL="914400" indent="-457200">
              <a:buFont typeface="+mj-lt"/>
              <a:buAutoNum type="alphaLcPeriod" startAt="10"/>
            </a:pPr>
            <a:r>
              <a:rPr lang="en-US" sz="2400" dirty="0">
                <a:latin typeface="Verdana" panose="020B0604030504040204" pitchFamily="34" charset="0"/>
                <a:ea typeface="Verdana" panose="020B0604030504040204" pitchFamily="34" charset="0"/>
                <a:cs typeface="Verdana" panose="020B0604030504040204" pitchFamily="34" charset="0"/>
              </a:rPr>
              <a:t>Ask two classmates the transformation they selected. Record their transformation and write your summary of their reason. </a:t>
            </a:r>
            <a:r>
              <a:rPr lang="en-US" sz="2400" i="1" dirty="0">
                <a:latin typeface="Verdana" panose="020B0604030504040204" pitchFamily="34" charset="0"/>
                <a:ea typeface="Verdana" panose="020B0604030504040204" pitchFamily="34" charset="0"/>
                <a:cs typeface="Verdana" panose="020B0604030504040204" pitchFamily="34" charset="0"/>
              </a:rPr>
              <a:t>You are the only person who should write in the first two columns of the table.</a:t>
            </a:r>
            <a:r>
              <a:rPr lang="en-US" sz="2400" dirty="0">
                <a:latin typeface="Verdana" panose="020B0604030504040204" pitchFamily="34" charset="0"/>
                <a:ea typeface="Verdana" panose="020B0604030504040204" pitchFamily="34" charset="0"/>
                <a:cs typeface="Verdana" panose="020B0604030504040204" pitchFamily="34" charset="0"/>
              </a:rPr>
              <a:t> Have the person initial next to your summary stating that your summary was correct.</a:t>
            </a:r>
          </a:p>
        </p:txBody>
      </p:sp>
      <p:sp>
        <p:nvSpPr>
          <p:cNvPr id="6" name="Google Shape;278;g104476d1465_1_17">
            <a:extLst>
              <a:ext uri="{FF2B5EF4-FFF2-40B4-BE49-F238E27FC236}">
                <a16:creationId xmlns:a16="http://schemas.microsoft.com/office/drawing/2014/main" id="{D60F4B17-87E0-004C-AADF-1570DE52C58A}"/>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7" name="Table 6">
            <a:extLst>
              <a:ext uri="{FF2B5EF4-FFF2-40B4-BE49-F238E27FC236}">
                <a16:creationId xmlns:a16="http://schemas.microsoft.com/office/drawing/2014/main" id="{0742E395-7313-C749-8B35-268B448085C5}"/>
              </a:ext>
            </a:extLst>
          </p:cNvPr>
          <p:cNvGraphicFramePr>
            <a:graphicFrameLocks noGrp="1"/>
          </p:cNvGraphicFramePr>
          <p:nvPr>
            <p:extLst>
              <p:ext uri="{D42A27DB-BD31-4B8C-83A1-F6EECF244321}">
                <p14:modId xmlns:p14="http://schemas.microsoft.com/office/powerpoint/2010/main" val="2734366756"/>
              </p:ext>
            </p:extLst>
          </p:nvPr>
        </p:nvGraphicFramePr>
        <p:xfrm>
          <a:off x="2027701" y="2978426"/>
          <a:ext cx="6840000" cy="3238917"/>
        </p:xfrm>
        <a:graphic>
          <a:graphicData uri="http://schemas.openxmlformats.org/drawingml/2006/table">
            <a:tbl>
              <a:tblPr bandRow="1">
                <a:tableStyleId>{A91F0D33-8C57-4600-99A7-42BC86742BE1}</a:tableStyleId>
              </a:tblPr>
              <a:tblGrid>
                <a:gridCol w="2520000">
                  <a:extLst>
                    <a:ext uri="{9D8B030D-6E8A-4147-A177-3AD203B41FA5}">
                      <a16:colId xmlns:a16="http://schemas.microsoft.com/office/drawing/2014/main" val="1762500003"/>
                    </a:ext>
                  </a:extLst>
                </a:gridCol>
                <a:gridCol w="2700000">
                  <a:extLst>
                    <a:ext uri="{9D8B030D-6E8A-4147-A177-3AD203B41FA5}">
                      <a16:colId xmlns:a16="http://schemas.microsoft.com/office/drawing/2014/main" val="1102919635"/>
                    </a:ext>
                  </a:extLst>
                </a:gridCol>
                <a:gridCol w="1620000">
                  <a:extLst>
                    <a:ext uri="{9D8B030D-6E8A-4147-A177-3AD203B41FA5}">
                      <a16:colId xmlns:a16="http://schemas.microsoft.com/office/drawing/2014/main" val="2308043680"/>
                    </a:ext>
                  </a:extLst>
                </a:gridCol>
              </a:tblGrid>
              <a:tr h="718917">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Transformation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Summary of Their Reason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Initials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16694826"/>
                  </a:ext>
                </a:extLst>
              </a:tr>
              <a:tr h="126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3249611"/>
                  </a:ext>
                </a:extLst>
              </a:tr>
              <a:tr h="126000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1007793"/>
                  </a:ext>
                </a:extLst>
              </a:tr>
            </a:tbl>
          </a:graphicData>
        </a:graphic>
      </p:graphicFrame>
    </p:spTree>
    <p:extLst>
      <p:ext uri="{BB962C8B-B14F-4D97-AF65-F5344CB8AC3E}">
        <p14:creationId xmlns:p14="http://schemas.microsoft.com/office/powerpoint/2010/main" val="889846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767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474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AA35BC6-D428-FC41-BDE5-6438AB8840FC}"/>
                  </a:ext>
                </a:extLst>
              </p:cNvPr>
              <p:cNvSpPr txBox="1"/>
              <p:nvPr/>
            </p:nvSpPr>
            <p:spPr>
              <a:xfrm>
                <a:off x="847492" y="530400"/>
                <a:ext cx="10326029" cy="831766"/>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Day’Ron and Zeb were discussing how to transform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𝑇𝑆</m:t>
                        </m:r>
                      </m:e>
                    </m:acc>
                  </m:oMath>
                </a14:m>
                <a:r>
                  <a:rPr lang="en-US" sz="2400" dirty="0">
                    <a:latin typeface="Verdana" panose="020B0604030504040204" pitchFamily="34" charset="0"/>
                    <a:ea typeface="Verdana" panose="020B0604030504040204" pitchFamily="34" charset="0"/>
                    <a:cs typeface="Verdana" panose="020B0604030504040204" pitchFamily="34" charset="0"/>
                  </a:rPr>
                  <a:t> to create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𝑌𝑍</m:t>
                        </m:r>
                      </m:e>
                    </m:acc>
                  </m:oMath>
                </a14:m>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847492" y="530400"/>
                <a:ext cx="10326029" cy="831766"/>
              </a:xfrm>
              <a:prstGeom prst="rect">
                <a:avLst/>
              </a:prstGeom>
              <a:blipFill>
                <a:blip r:embed="rId4"/>
                <a:stretch>
                  <a:fillRect l="-885" t="-6618" b="-15441"/>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60F4B17-87E0-004C-AADF-1570DE52C58A}"/>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3FAF07C5-6989-1046-8ED0-B61CE0513F30}"/>
                  </a:ext>
                </a:extLst>
              </p:cNvPr>
              <p:cNvGraphicFramePr>
                <a:graphicFrameLocks noGrp="1"/>
              </p:cNvGraphicFramePr>
              <p:nvPr>
                <p:extLst>
                  <p:ext uri="{D42A27DB-BD31-4B8C-83A1-F6EECF244321}">
                    <p14:modId xmlns:p14="http://schemas.microsoft.com/office/powerpoint/2010/main" val="1981025612"/>
                  </p:ext>
                </p:extLst>
              </p:nvPr>
            </p:nvGraphicFramePr>
            <p:xfrm>
              <a:off x="1608999" y="1758400"/>
              <a:ext cx="7200000" cy="2880000"/>
            </p:xfrm>
            <a:graphic>
              <a:graphicData uri="http://schemas.openxmlformats.org/drawingml/2006/table">
                <a:tbl>
                  <a:tblPr firstRow="1" firstCol="1" bandRow="1">
                    <a:tableStyleId>{A91F0D33-8C57-4600-99A7-42BC86742BE1}</a:tableStyleId>
                  </a:tblPr>
                  <a:tblGrid>
                    <a:gridCol w="3600000">
                      <a:extLst>
                        <a:ext uri="{9D8B030D-6E8A-4147-A177-3AD203B41FA5}">
                          <a16:colId xmlns:a16="http://schemas.microsoft.com/office/drawing/2014/main" val="2360083136"/>
                        </a:ext>
                      </a:extLst>
                    </a:gridCol>
                    <a:gridCol w="3600000">
                      <a:extLst>
                        <a:ext uri="{9D8B030D-6E8A-4147-A177-3AD203B41FA5}">
                          <a16:colId xmlns:a16="http://schemas.microsoft.com/office/drawing/2014/main" val="3412090369"/>
                        </a:ext>
                      </a:extLst>
                    </a:gridCol>
                  </a:tblGrid>
                  <a:tr h="540000">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Day’Ron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Zeb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089612322"/>
                      </a:ext>
                    </a:extLst>
                  </a:tr>
                  <a:tr h="2340000">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The only two single transformations are a translation of up </a:t>
                          </a:r>
                          <a14:m>
                            <m:oMath xmlns:m="http://schemas.openxmlformats.org/officeDocument/2006/math">
                              <m:r>
                                <a:rPr lang="en-US" sz="2400">
                                  <a:effectLst/>
                                  <a:latin typeface="Cambria Math"/>
                                </a:rPr>
                                <m:t>5,</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or a reflection across the line </a:t>
                          </a:r>
                          <a14:m>
                            <m:oMath xmlns:m="http://schemas.openxmlformats.org/officeDocument/2006/math">
                              <m:r>
                                <a:rPr lang="en-US" sz="2400">
                                  <a:effectLst/>
                                  <a:latin typeface="Cambria Math"/>
                                </a:rPr>
                                <m:t>𝑦</m:t>
                              </m:r>
                              <m:r>
                                <a:rPr lang="en-US" sz="2400">
                                  <a:effectLst/>
                                  <a:latin typeface="Cambria Math"/>
                                </a:rPr>
                                <m:t> = 3.5.</m:t>
                              </m:r>
                            </m:oMath>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There are three single transformations. </a:t>
                          </a:r>
                          <a:br>
                            <a:rPr lang="en-US" sz="2400" dirty="0">
                              <a:effectLst/>
                              <a:latin typeface="Verdana" panose="020B0604030504040204" pitchFamily="34" charset="0"/>
                              <a:ea typeface="Verdana" panose="020B0604030504040204" pitchFamily="34" charset="0"/>
                              <a:cs typeface="Verdana" panose="020B0604030504040204" pitchFamily="34" charset="0"/>
                            </a:rPr>
                          </a:br>
                          <a:r>
                            <a:rPr lang="en-US" sz="2400" dirty="0">
                              <a:effectLst/>
                              <a:latin typeface="Verdana" panose="020B0604030504040204" pitchFamily="34" charset="0"/>
                              <a:ea typeface="Verdana" panose="020B0604030504040204" pitchFamily="34" charset="0"/>
                              <a:cs typeface="Verdana" panose="020B0604030504040204" pitchFamily="34" charset="0"/>
                            </a:rPr>
                            <a:t>A translation of up </a:t>
                          </a:r>
                          <a14:m>
                            <m:oMath xmlns:m="http://schemas.openxmlformats.org/officeDocument/2006/math">
                              <m:r>
                                <a:rPr lang="en-US" sz="2400">
                                  <a:effectLst/>
                                  <a:latin typeface="Cambria Math"/>
                                </a:rPr>
                                <m:t>5, </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a reflection across the line </a:t>
                          </a:r>
                          <a14:m>
                            <m:oMath xmlns:m="http://schemas.openxmlformats.org/officeDocument/2006/math">
                              <m:r>
                                <a:rPr lang="en-US" sz="2400">
                                  <a:effectLst/>
                                  <a:latin typeface="Cambria Math"/>
                                </a:rPr>
                                <m:t>𝑦</m:t>
                              </m:r>
                              <m:r>
                                <a:rPr lang="en-US" sz="2400">
                                  <a:effectLst/>
                                  <a:latin typeface="Cambria Math"/>
                                </a:rPr>
                                <m:t> = 3.5</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and a rotation of </a:t>
                          </a:r>
                          <a14:m>
                            <m:oMath xmlns:m="http://schemas.openxmlformats.org/officeDocument/2006/math">
                              <m:r>
                                <a:rPr lang="en-US" sz="2400">
                                  <a:effectLst/>
                                  <a:latin typeface="Cambria Math"/>
                                </a:rPr>
                                <m:t>180°</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6352642"/>
                      </a:ext>
                    </a:extLst>
                  </a:tr>
                </a:tbl>
              </a:graphicData>
            </a:graphic>
          </p:graphicFrame>
        </mc:Choice>
        <mc:Fallback>
          <p:graphicFrame>
            <p:nvGraphicFramePr>
              <p:cNvPr id="2" name="Table 1">
                <a:extLst>
                  <a:ext uri="{FF2B5EF4-FFF2-40B4-BE49-F238E27FC236}">
                    <a16:creationId xmlns:a16="http://schemas.microsoft.com/office/drawing/2014/main" id="{3FAF07C5-6989-1046-8ED0-B61CE0513F30}"/>
                  </a:ext>
                </a:extLst>
              </p:cNvPr>
              <p:cNvGraphicFramePr>
                <a:graphicFrameLocks noGrp="1"/>
              </p:cNvGraphicFramePr>
              <p:nvPr>
                <p:extLst>
                  <p:ext uri="{D42A27DB-BD31-4B8C-83A1-F6EECF244321}">
                    <p14:modId xmlns:p14="http://schemas.microsoft.com/office/powerpoint/2010/main" val="1981025612"/>
                  </p:ext>
                </p:extLst>
              </p:nvPr>
            </p:nvGraphicFramePr>
            <p:xfrm>
              <a:off x="1608999" y="1758400"/>
              <a:ext cx="7200000" cy="2880000"/>
            </p:xfrm>
            <a:graphic>
              <a:graphicData uri="http://schemas.openxmlformats.org/drawingml/2006/table">
                <a:tbl>
                  <a:tblPr firstRow="1" firstCol="1" bandRow="1">
                    <a:tableStyleId>{A91F0D33-8C57-4600-99A7-42BC86742BE1}</a:tableStyleId>
                  </a:tblPr>
                  <a:tblGrid>
                    <a:gridCol w="3600000">
                      <a:extLst>
                        <a:ext uri="{9D8B030D-6E8A-4147-A177-3AD203B41FA5}">
                          <a16:colId xmlns:a16="http://schemas.microsoft.com/office/drawing/2014/main" val="2360083136"/>
                        </a:ext>
                      </a:extLst>
                    </a:gridCol>
                    <a:gridCol w="3600000">
                      <a:extLst>
                        <a:ext uri="{9D8B030D-6E8A-4147-A177-3AD203B41FA5}">
                          <a16:colId xmlns:a16="http://schemas.microsoft.com/office/drawing/2014/main" val="3412090369"/>
                        </a:ext>
                      </a:extLst>
                    </a:gridCol>
                  </a:tblGrid>
                  <a:tr h="540000">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Day’Ron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Zeb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089612322"/>
                      </a:ext>
                    </a:extLst>
                  </a:tr>
                  <a:tr h="23400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69" t="-23438" r="-100169" b="-3385"/>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338" t="-23438" r="-338" b="-3385"/>
                          </a:stretch>
                        </a:blipFill>
                      </a:tcPr>
                    </a:tc>
                    <a:extLst>
                      <a:ext uri="{0D108BD9-81ED-4DB2-BD59-A6C34878D82A}">
                        <a16:rowId xmlns:a16="http://schemas.microsoft.com/office/drawing/2014/main" val="1596352642"/>
                      </a:ext>
                    </a:extLst>
                  </a:tr>
                </a:tbl>
              </a:graphicData>
            </a:graphic>
          </p:graphicFrame>
        </mc:Fallback>
      </mc:AlternateContent>
    </p:spTree>
    <p:extLst>
      <p:ext uri="{BB962C8B-B14F-4D97-AF65-F5344CB8AC3E}">
        <p14:creationId xmlns:p14="http://schemas.microsoft.com/office/powerpoint/2010/main" val="1616123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767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474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AA35BC6-D428-FC41-BDE5-6438AB8840FC}"/>
                  </a:ext>
                </a:extLst>
              </p:cNvPr>
              <p:cNvSpPr txBox="1"/>
              <p:nvPr/>
            </p:nvSpPr>
            <p:spPr>
              <a:xfrm>
                <a:off x="402023" y="707701"/>
                <a:ext cx="6339971" cy="5203732"/>
              </a:xfrm>
              <a:prstGeom prst="rect">
                <a:avLst/>
              </a:prstGeom>
              <a:noFill/>
            </p:spPr>
            <p:txBody>
              <a:bodyPr wrap="square" rtlCol="0">
                <a:spAutoFit/>
              </a:bodyPr>
              <a:lstStyle/>
              <a:p>
                <a:pPr marL="452438">
                  <a:spcAft>
                    <a:spcPts val="1200"/>
                  </a:spcAft>
                </a:pPr>
                <a:r>
                  <a:rPr lang="en-US" sz="2400" dirty="0">
                    <a:latin typeface="Verdana" panose="020B0604030504040204" pitchFamily="34" charset="0"/>
                    <a:ea typeface="Verdana" panose="020B0604030504040204" pitchFamily="34" charset="0"/>
                    <a:cs typeface="Verdana" panose="020B0604030504040204" pitchFamily="34" charset="0"/>
                  </a:rPr>
                  <a:t>Day’Ron disagreed with Zeb. To prove his point, he used a graphing utility to show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𝑇𝑆</m:t>
                        </m:r>
                      </m:e>
                    </m:acc>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𝑌𝑍</m:t>
                        </m:r>
                      </m:e>
                    </m:acc>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𝐿𝑀</m:t>
                        </m:r>
                      </m:e>
                    </m:acc>
                  </m:oMath>
                </a14:m>
                <a:r>
                  <a:rPr lang="en-US" sz="2400" dirty="0">
                    <a:latin typeface="Verdana" panose="020B0604030504040204" pitchFamily="34" charset="0"/>
                    <a:ea typeface="Verdana" panose="020B0604030504040204" pitchFamily="34" charset="0"/>
                    <a:cs typeface="Verdana" panose="020B0604030504040204" pitchFamily="34" charset="0"/>
                  </a:rPr>
                  <a:t> and point </a:t>
                </a:r>
                <a14:m>
                  <m:oMath xmlns:m="http://schemas.openxmlformats.org/officeDocument/2006/math">
                    <m:r>
                      <a:rPr lang="en-US" sz="2400" i="1">
                        <a:latin typeface="Cambria Math"/>
                      </a:rPr>
                      <m:t>𝑃</m:t>
                    </m:r>
                  </m:oMath>
                </a14:m>
                <a:r>
                  <a:rPr lang="en-US" sz="2400" dirty="0">
                    <a:latin typeface="Verdana" panose="020B0604030504040204" pitchFamily="34" charset="0"/>
                    <a:ea typeface="Verdana" panose="020B0604030504040204" pitchFamily="34" charset="0"/>
                    <a:cs typeface="Verdana" panose="020B0604030504040204" pitchFamily="34" charset="0"/>
                  </a:rPr>
                  <a:t> on the coordinate grid. </a:t>
                </a:r>
              </a:p>
              <a:p>
                <a:pPr marL="452438">
                  <a:spcAft>
                    <a:spcPts val="1200"/>
                  </a:spcAft>
                </a:pPr>
                <a:r>
                  <a:rPr lang="en-US" sz="2400" dirty="0">
                    <a:latin typeface="Verdana" panose="020B0604030504040204" pitchFamily="34" charset="0"/>
                    <a:ea typeface="Verdana" panose="020B0604030504040204" pitchFamily="34" charset="0"/>
                    <a:cs typeface="Verdana" panose="020B0604030504040204" pitchFamily="34" charset="0"/>
                  </a:rPr>
                  <a:t>Day’Ron said, “It is not possible to rotate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𝑇𝑆</m:t>
                        </m:r>
                      </m:e>
                    </m:acc>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a:rPr>
                      <m:t>180°</m:t>
                    </m:r>
                  </m:oMath>
                </a14:m>
                <a:r>
                  <a:rPr lang="en-US" sz="2400" dirty="0">
                    <a:latin typeface="Verdana" panose="020B0604030504040204" pitchFamily="34" charset="0"/>
                    <a:ea typeface="Verdana" panose="020B0604030504040204" pitchFamily="34" charset="0"/>
                    <a:cs typeface="Verdana" panose="020B0604030504040204" pitchFamily="34" charset="0"/>
                  </a:rPr>
                  <a:t> so that point </a:t>
                </a:r>
                <a14:m>
                  <m:oMath xmlns:m="http://schemas.openxmlformats.org/officeDocument/2006/math">
                    <m:r>
                      <a:rPr lang="en-US" sz="2400" i="1">
                        <a:latin typeface="Cambria Math"/>
                      </a:rPr>
                      <m:t>𝑇</m:t>
                    </m:r>
                  </m:oMath>
                </a14:m>
                <a:r>
                  <a:rPr lang="en-US" sz="2400" dirty="0">
                    <a:latin typeface="Verdana" panose="020B0604030504040204" pitchFamily="34" charset="0"/>
                    <a:ea typeface="Verdana" panose="020B0604030504040204" pitchFamily="34" charset="0"/>
                    <a:cs typeface="Verdana" panose="020B0604030504040204" pitchFamily="34" charset="0"/>
                  </a:rPr>
                  <a:t> aligns with point </a:t>
                </a:r>
                <a14:m>
                  <m:oMath xmlns:m="http://schemas.openxmlformats.org/officeDocument/2006/math">
                    <m:r>
                      <a:rPr lang="en-US" sz="2400" i="1">
                        <a:latin typeface="Cambria Math"/>
                      </a:rPr>
                      <m:t>𝑌</m:t>
                    </m:r>
                  </m:oMath>
                </a14:m>
                <a:r>
                  <a:rPr lang="en-US" sz="2400" dirty="0">
                    <a:latin typeface="Verdana" panose="020B0604030504040204" pitchFamily="34" charset="0"/>
                    <a:ea typeface="Verdana" panose="020B0604030504040204" pitchFamily="34" charset="0"/>
                    <a:cs typeface="Verdana" panose="020B0604030504040204" pitchFamily="34" charset="0"/>
                  </a:rPr>
                  <a:t> and point </a:t>
                </a:r>
                <a14:m>
                  <m:oMath xmlns:m="http://schemas.openxmlformats.org/officeDocument/2006/math">
                    <m:r>
                      <a:rPr lang="en-US" sz="2400" i="1">
                        <a:latin typeface="Cambria Math"/>
                      </a:rPr>
                      <m:t>𝑆</m:t>
                    </m:r>
                  </m:oMath>
                </a14:m>
                <a:r>
                  <a:rPr lang="en-US" sz="2400" dirty="0">
                    <a:latin typeface="Verdana" panose="020B0604030504040204" pitchFamily="34" charset="0"/>
                    <a:ea typeface="Verdana" panose="020B0604030504040204" pitchFamily="34" charset="0"/>
                    <a:cs typeface="Verdana" panose="020B0604030504040204" pitchFamily="34" charset="0"/>
                  </a:rPr>
                  <a:t> aligns with point </a:t>
                </a:r>
                <a14:m>
                  <m:oMath xmlns:m="http://schemas.openxmlformats.org/officeDocument/2006/math">
                    <m:r>
                      <a:rPr lang="en-US" sz="2400" i="1">
                        <a:latin typeface="Cambria Math"/>
                      </a:rPr>
                      <m:t>𝑍</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452438"/>
                <a:r>
                  <a:rPr lang="en-US" sz="2400" dirty="0">
                    <a:latin typeface="Verdana" panose="020B0604030504040204" pitchFamily="34" charset="0"/>
                    <a:ea typeface="Verdana" panose="020B0604030504040204" pitchFamily="34" charset="0"/>
                    <a:cs typeface="Verdana" panose="020B0604030504040204" pitchFamily="34" charset="0"/>
                  </a:rPr>
                  <a:t>Zeb replied, “Yes, but that does not matter because the letters do not have to match exactly. If you rotate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𝑇𝑆</m:t>
                        </m:r>
                      </m:e>
                    </m:acc>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a:rPr>
                      <m:t>180°</m:t>
                    </m:r>
                  </m:oMath>
                </a14:m>
                <a:r>
                  <a:rPr lang="en-US" sz="2400" dirty="0">
                    <a:latin typeface="Verdana" panose="020B0604030504040204" pitchFamily="34" charset="0"/>
                    <a:ea typeface="Verdana" panose="020B0604030504040204" pitchFamily="34" charset="0"/>
                    <a:cs typeface="Verdana" panose="020B0604030504040204" pitchFamily="34" charset="0"/>
                  </a:rPr>
                  <a:t> about point </a:t>
                </a:r>
                <a14:m>
                  <m:oMath xmlns:m="http://schemas.openxmlformats.org/officeDocument/2006/math">
                    <m:r>
                      <a:rPr lang="en-US" sz="2400" i="1">
                        <a:latin typeface="Cambria Math"/>
                      </a:rPr>
                      <m:t>𝑃</m:t>
                    </m:r>
                  </m:oMath>
                </a14:m>
                <a:r>
                  <a:rPr lang="en-US" sz="2400" dirty="0">
                    <a:latin typeface="Verdana" panose="020B0604030504040204" pitchFamily="34" charset="0"/>
                    <a:ea typeface="Verdana" panose="020B0604030504040204" pitchFamily="34" charset="0"/>
                    <a:cs typeface="Verdana" panose="020B0604030504040204" pitchFamily="34" charset="0"/>
                  </a:rPr>
                  <a:t> it will coincide with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𝑌𝑍</m:t>
                        </m:r>
                      </m:e>
                    </m:acc>
                    <m:r>
                      <a:rPr lang="en-US" sz="2400" i="1">
                        <a:latin typeface="Cambria Math"/>
                      </a:rPr>
                      <m:t>.</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402023" y="707701"/>
                <a:ext cx="6339971" cy="5203732"/>
              </a:xfrm>
              <a:prstGeom prst="rect">
                <a:avLst/>
              </a:prstGeom>
              <a:blipFill>
                <a:blip r:embed="rId4"/>
                <a:stretch>
                  <a:fillRect t="-937" r="-1731" b="-1522"/>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60F4B17-87E0-004C-AADF-1570DE52C58A}"/>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Picture 6">
            <a:extLst>
              <a:ext uri="{FF2B5EF4-FFF2-40B4-BE49-F238E27FC236}">
                <a16:creationId xmlns:a16="http://schemas.microsoft.com/office/drawing/2014/main" id="{E41F8717-2993-D647-8BB6-CF0FDE2E9357}"/>
              </a:ext>
            </a:extLst>
          </p:cNvPr>
          <p:cNvPicPr/>
          <p:nvPr/>
        </p:nvPicPr>
        <p:blipFill>
          <a:blip r:embed="rId5" cstate="screen">
            <a:extLst>
              <a:ext uri="{28A0092B-C50C-407E-A947-70E740481C1C}">
                <a14:useLocalDpi xmlns:a14="http://schemas.microsoft.com/office/drawing/2010/main"/>
              </a:ext>
            </a:extLst>
          </a:blip>
          <a:stretch>
            <a:fillRect/>
          </a:stretch>
        </p:blipFill>
        <p:spPr>
          <a:xfrm>
            <a:off x="6741994" y="946567"/>
            <a:ext cx="4951433" cy="4002986"/>
          </a:xfrm>
          <a:prstGeom prst="rect">
            <a:avLst/>
          </a:prstGeom>
        </p:spPr>
      </p:pic>
    </p:spTree>
    <p:extLst>
      <p:ext uri="{BB962C8B-B14F-4D97-AF65-F5344CB8AC3E}">
        <p14:creationId xmlns:p14="http://schemas.microsoft.com/office/powerpoint/2010/main" val="2762324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6205"/>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328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AA35BC6-D428-FC41-BDE5-6438AB8840FC}"/>
                  </a:ext>
                </a:extLst>
              </p:cNvPr>
              <p:cNvSpPr txBox="1"/>
              <p:nvPr/>
            </p:nvSpPr>
            <p:spPr>
              <a:xfrm>
                <a:off x="858644" y="410789"/>
                <a:ext cx="10270273" cy="4895186"/>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Discuss </a:t>
                </a:r>
                <a:r>
                  <a:rPr lang="en-US" sz="2400" dirty="0" err="1">
                    <a:latin typeface="Verdana" panose="020B0604030504040204" pitchFamily="34" charset="0"/>
                    <a:ea typeface="Verdana" panose="020B0604030504040204" pitchFamily="34" charset="0"/>
                    <a:cs typeface="Verdana" panose="020B0604030504040204" pitchFamily="34" charset="0"/>
                  </a:rPr>
                  <a:t>Day’Ron</a:t>
                </a:r>
                <a:r>
                  <a:rPr lang="en-US" sz="2400" dirty="0">
                    <a:latin typeface="Verdana" panose="020B0604030504040204" pitchFamily="34" charset="0"/>
                    <a:ea typeface="Verdana" panose="020B0604030504040204" pitchFamily="34" charset="0"/>
                    <a:cs typeface="Verdana" panose="020B0604030504040204" pitchFamily="34" charset="0"/>
                  </a:rPr>
                  <a:t> and </a:t>
                </a:r>
                <a:r>
                  <a:rPr lang="en-US" sz="2400" dirty="0" err="1">
                    <a:latin typeface="Verdana" panose="020B0604030504040204" pitchFamily="34" charset="0"/>
                    <a:ea typeface="Verdana" panose="020B0604030504040204" pitchFamily="34" charset="0"/>
                    <a:cs typeface="Verdana" panose="020B0604030504040204" pitchFamily="34" charset="0"/>
                  </a:rPr>
                  <a:t>Zeb’s</a:t>
                </a:r>
                <a:r>
                  <a:rPr lang="en-US" sz="2400" dirty="0">
                    <a:latin typeface="Verdana" panose="020B0604030504040204" pitchFamily="34" charset="0"/>
                    <a:ea typeface="Verdana" panose="020B0604030504040204" pitchFamily="34" charset="0"/>
                    <a:cs typeface="Verdana" panose="020B0604030504040204" pitchFamily="34" charset="0"/>
                  </a:rPr>
                  <a:t> justifications with your partner. Summarize your discussion.</a:t>
                </a:r>
                <a:endParaRPr lang="en-PH" sz="2400" dirty="0">
                  <a:latin typeface="Verdana" pitchFamily="34" charset="0"/>
                  <a:ea typeface="Verdana"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Which transformation of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𝑇𝑆</m:t>
                        </m:r>
                      </m:e>
                    </m:acc>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𝑌𝑍</m:t>
                        </m:r>
                      </m:e>
                    </m:acc>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𝐿𝑀</m:t>
                        </m:r>
                      </m:e>
                    </m:acc>
                    <m:r>
                      <a:rPr lang="en-US" sz="2400" i="1">
                        <a:latin typeface="Cambria Math"/>
                      </a:rPr>
                      <m:t> </m:t>
                    </m:r>
                  </m:oMath>
                </a14:m>
                <a:r>
                  <a:rPr lang="en-US" sz="2400" dirty="0">
                    <a:latin typeface="Verdana" panose="020B0604030504040204" pitchFamily="34" charset="0"/>
                    <a:ea typeface="Verdana" panose="020B0604030504040204" pitchFamily="34" charset="0"/>
                    <a:cs typeface="Verdana" panose="020B0604030504040204" pitchFamily="34" charset="0"/>
                  </a:rPr>
                  <a:t>showed congruence?</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Which transformation of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𝑇𝑆</m:t>
                        </m:r>
                      </m:e>
                    </m:acc>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𝑌𝑍</m:t>
                        </m:r>
                      </m:e>
                    </m:acc>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𝐿𝑀</m:t>
                        </m:r>
                      </m:e>
                    </m:acc>
                  </m:oMath>
                </a14:m>
                <a:r>
                  <a:rPr lang="en-US" sz="2400" dirty="0">
                    <a:latin typeface="Verdana" panose="020B0604030504040204" pitchFamily="34" charset="0"/>
                    <a:ea typeface="Verdana" panose="020B0604030504040204" pitchFamily="34" charset="0"/>
                    <a:cs typeface="Verdana" panose="020B0604030504040204" pitchFamily="34" charset="0"/>
                  </a:rPr>
                  <a:t> showed similarity?</a:t>
                </a:r>
              </a:p>
            </p:txBody>
          </p:sp>
        </mc:Choice>
        <mc:Fallback>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858644" y="410789"/>
                <a:ext cx="10270273" cy="4895186"/>
              </a:xfrm>
              <a:prstGeom prst="rect">
                <a:avLst/>
              </a:prstGeom>
              <a:blipFill>
                <a:blip r:embed="rId4"/>
                <a:stretch>
                  <a:fillRect l="-950" t="-996" b="-174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60F4B17-87E0-004C-AADF-1570DE52C58A}"/>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613630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44</a:t>
            </a:r>
            <a:endParaRPr i="1" dirty="0">
              <a:latin typeface="Calibri"/>
              <a:ea typeface="Calibri"/>
              <a:cs typeface="Calibri"/>
              <a:sym typeface="Calibri"/>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14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767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27355" y="216499"/>
            <a:ext cx="8876371"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1.7.3 Guided Practice: Angles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474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44</a:t>
            </a:r>
            <a:endParaRPr i="1" dirty="0">
              <a:latin typeface="Calibri"/>
              <a:ea typeface="Calibri"/>
              <a:cs typeface="Calibri"/>
              <a:sym typeface="Calibri"/>
            </a:endParaRP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93248" y="13704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1D40250-DEDD-2C41-8538-3D4DD18CCC4A}"/>
                  </a:ext>
                </a:extLst>
              </p:cNvPr>
              <p:cNvSpPr txBox="1"/>
              <p:nvPr/>
            </p:nvSpPr>
            <p:spPr>
              <a:xfrm>
                <a:off x="802888" y="1085154"/>
                <a:ext cx="6430425" cy="3939540"/>
              </a:xfrm>
              <a:prstGeom prst="rect">
                <a:avLst/>
              </a:prstGeom>
              <a:noFill/>
            </p:spPr>
            <p:txBody>
              <a:bodyPr wrap="square" rtlCol="0">
                <a:spAutoFit/>
              </a:bodyPr>
              <a:lstStyle/>
              <a:p>
                <a:pPr>
                  <a:spcAft>
                    <a:spcPts val="1200"/>
                  </a:spcAft>
                </a:pPr>
                <a14:m>
                  <m:oMath xmlns:m="http://schemas.openxmlformats.org/officeDocument/2006/math">
                    <m:acc>
                      <m:accPr>
                        <m:chr m:val="̅"/>
                        <m:ctrlPr>
                          <a:rPr lang="en-US" sz="2400" i="1" smtClean="0">
                            <a:latin typeface="Cambria Math" panose="02040503050406030204" pitchFamily="18" charset="0"/>
                          </a:rPr>
                        </m:ctrlPr>
                      </m:accPr>
                      <m:e>
                        <m:r>
                          <a:rPr lang="en-US" sz="2400" i="1">
                            <a:latin typeface="Cambria Math"/>
                          </a:rPr>
                          <m:t>𝑊𝐷</m:t>
                        </m:r>
                      </m:e>
                    </m:acc>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a:rPr>
                      <m:t>∠</m:t>
                    </m:r>
                    <m:r>
                      <a:rPr lang="en-US" sz="2400" i="1">
                        <a:latin typeface="Cambria Math"/>
                      </a:rPr>
                      <m:t>𝑌𝑀𝐺</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a:rPr>
                      <m:t>∠</m:t>
                    </m:r>
                    <m:r>
                      <a:rPr lang="en-US" sz="2400" i="1">
                        <a:latin typeface="Cambria Math"/>
                      </a:rPr>
                      <m:t>𝑅𝐻𝐵</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a:rPr>
                      <m:t>∠</m:t>
                    </m:r>
                    <m:r>
                      <a:rPr lang="en-US" sz="2400" i="1">
                        <a:latin typeface="Cambria Math"/>
                      </a:rPr>
                      <m:t>𝐾𝑋𝑇</m:t>
                    </m:r>
                    <m:r>
                      <a:rPr lang="en-US" sz="2400" b="0" i="1" smtClean="0">
                        <a:latin typeface="Cambria Math" panose="02040503050406030204" pitchFamily="18"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are shown on the coordinate grid. Each color relates to  corresponding points.</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Describe a single transformation that could have been used to transform </a:t>
                </a:r>
                <a14:m>
                  <m:oMath xmlns:m="http://schemas.openxmlformats.org/officeDocument/2006/math">
                    <m:r>
                      <a:rPr lang="en-US" sz="2400" i="1">
                        <a:latin typeface="Cambria Math"/>
                      </a:rPr>
                      <m:t>∠</m:t>
                    </m:r>
                    <m:r>
                      <a:rPr lang="en-US" sz="2400" i="1">
                        <a:latin typeface="Cambria Math"/>
                      </a:rPr>
                      <m:t>𝑌𝑀𝐺</m:t>
                    </m:r>
                  </m:oMath>
                </a14:m>
                <a:r>
                  <a:rPr lang="en-US" sz="2400" dirty="0">
                    <a:latin typeface="Verdana" panose="020B0604030504040204" pitchFamily="34" charset="0"/>
                    <a:ea typeface="Verdana" panose="020B0604030504040204" pitchFamily="34" charset="0"/>
                    <a:cs typeface="Verdana" panose="020B0604030504040204" pitchFamily="34" charset="0"/>
                  </a:rPr>
                  <a:t> to create </a:t>
                </a:r>
                <a14:m>
                  <m:oMath xmlns:m="http://schemas.openxmlformats.org/officeDocument/2006/math">
                    <m:r>
                      <a:rPr lang="en-US" sz="2400" i="1">
                        <a:latin typeface="Cambria Math"/>
                      </a:rPr>
                      <m:t>∠</m:t>
                    </m:r>
                    <m:r>
                      <a:rPr lang="en-US" sz="2400" i="1">
                        <a:latin typeface="Cambria Math"/>
                      </a:rPr>
                      <m:t>𝐾𝑋𝑇</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Describe a single transformation that could have been used to transform </a:t>
                </a:r>
                <a14:m>
                  <m:oMath xmlns:m="http://schemas.openxmlformats.org/officeDocument/2006/math">
                    <m:r>
                      <a:rPr lang="en-US" sz="2400" i="1">
                        <a:latin typeface="Cambria Math"/>
                      </a:rPr>
                      <m:t>∠</m:t>
                    </m:r>
                    <m:r>
                      <a:rPr lang="en-US" sz="2400" i="1">
                        <a:latin typeface="Cambria Math"/>
                      </a:rPr>
                      <m:t>𝑌𝑀𝐺</m:t>
                    </m:r>
                  </m:oMath>
                </a14:m>
                <a:r>
                  <a:rPr lang="en-US" sz="2400" dirty="0">
                    <a:latin typeface="Verdana" panose="020B0604030504040204" pitchFamily="34" charset="0"/>
                    <a:ea typeface="Verdana" panose="020B0604030504040204" pitchFamily="34" charset="0"/>
                    <a:cs typeface="Verdana" panose="020B0604030504040204" pitchFamily="34" charset="0"/>
                  </a:rPr>
                  <a:t> to create </a:t>
                </a:r>
                <a14:m>
                  <m:oMath xmlns:m="http://schemas.openxmlformats.org/officeDocument/2006/math">
                    <m:r>
                      <a:rPr lang="en-US" sz="2400" i="1">
                        <a:latin typeface="Cambria Math"/>
                      </a:rPr>
                      <m:t>∠</m:t>
                    </m:r>
                    <m:r>
                      <a:rPr lang="en-US" sz="2400" i="1">
                        <a:latin typeface="Cambria Math"/>
                      </a:rPr>
                      <m:t>𝑅𝐻𝐵</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802888" y="1085154"/>
                <a:ext cx="6430425" cy="3939540"/>
              </a:xfrm>
              <a:prstGeom prst="rect">
                <a:avLst/>
              </a:prstGeom>
              <a:blipFill>
                <a:blip r:embed="rId5"/>
                <a:stretch>
                  <a:fillRect l="-1517" t="-1393" r="-1896" b="-2477"/>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0D0C5ECD-32B3-814E-9ECE-3E62993CA726}"/>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1" name="Picture 10">
            <a:extLst>
              <a:ext uri="{FF2B5EF4-FFF2-40B4-BE49-F238E27FC236}">
                <a16:creationId xmlns:a16="http://schemas.microsoft.com/office/drawing/2014/main" id="{AAE61873-6D24-4A43-A054-56765498ADEB}"/>
              </a:ext>
            </a:extLst>
          </p:cNvPr>
          <p:cNvPicPr/>
          <p:nvPr/>
        </p:nvPicPr>
        <p:blipFill>
          <a:blip r:embed="rId6" cstate="screen">
            <a:extLst>
              <a:ext uri="{28A0092B-C50C-407E-A947-70E740481C1C}">
                <a14:useLocalDpi xmlns:a14="http://schemas.microsoft.com/office/drawing/2010/main"/>
              </a:ext>
            </a:extLst>
          </a:blip>
          <a:stretch>
            <a:fillRect/>
          </a:stretch>
        </p:blipFill>
        <p:spPr>
          <a:xfrm>
            <a:off x="7384457" y="1085154"/>
            <a:ext cx="4525618" cy="4418047"/>
          </a:xfrm>
          <a:prstGeom prst="rect">
            <a:avLst/>
          </a:prstGeom>
        </p:spPr>
      </p:pic>
    </p:spTree>
    <p:extLst>
      <p:ext uri="{BB962C8B-B14F-4D97-AF65-F5344CB8AC3E}">
        <p14:creationId xmlns:p14="http://schemas.microsoft.com/office/powerpoint/2010/main" val="745523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229"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000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44</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AA35BC6-D428-FC41-BDE5-6438AB8840FC}"/>
                  </a:ext>
                </a:extLst>
              </p:cNvPr>
              <p:cNvSpPr txBox="1"/>
              <p:nvPr/>
            </p:nvSpPr>
            <p:spPr>
              <a:xfrm>
                <a:off x="858643" y="410790"/>
                <a:ext cx="10259123" cy="6001643"/>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Use patty paper to create </a:t>
                </a:r>
                <a14:m>
                  <m:oMath xmlns:m="http://schemas.openxmlformats.org/officeDocument/2006/math">
                    <m:r>
                      <a:rPr lang="en-US" sz="2400" i="1">
                        <a:latin typeface="Cambria Math"/>
                      </a:rPr>
                      <m:t>∠</m:t>
                    </m:r>
                    <m:r>
                      <a:rPr lang="en-US" sz="2400" i="1">
                        <a:latin typeface="Cambria Math"/>
                      </a:rPr>
                      <m:t>𝐴𝐿𝑍</m:t>
                    </m:r>
                  </m:oMath>
                </a14:m>
                <a:r>
                  <a:rPr lang="en-US" sz="2400" dirty="0">
                    <a:latin typeface="Verdana" panose="020B0604030504040204" pitchFamily="34" charset="0"/>
                    <a:ea typeface="Verdana" panose="020B0604030504040204" pitchFamily="34" charset="0"/>
                    <a:cs typeface="Verdana" panose="020B0604030504040204" pitchFamily="34" charset="0"/>
                  </a:rPr>
                  <a:t> by rotating </a:t>
                </a:r>
                <a14:m>
                  <m:oMath xmlns:m="http://schemas.openxmlformats.org/officeDocument/2006/math">
                    <m:r>
                      <a:rPr lang="en-US" sz="2400" i="1">
                        <a:latin typeface="Cambria Math"/>
                      </a:rPr>
                      <m:t>∠</m:t>
                    </m:r>
                    <m:r>
                      <a:rPr lang="en-US" sz="2400" i="1">
                        <a:latin typeface="Cambria Math"/>
                      </a:rPr>
                      <m:t>𝑌𝑀𝐺</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a:rPr>
                      <m:t>90°</m:t>
                    </m:r>
                  </m:oMath>
                </a14:m>
                <a:r>
                  <a:rPr lang="en-US" sz="2400" dirty="0">
                    <a:latin typeface="Verdana" panose="020B0604030504040204" pitchFamily="34" charset="0"/>
                    <a:ea typeface="Verdana" panose="020B0604030504040204" pitchFamily="34" charset="0"/>
                    <a:cs typeface="Verdana" panose="020B0604030504040204" pitchFamily="34" charset="0"/>
                  </a:rPr>
                  <a:t> counterclockwise centered on point M. </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Use patty paper to create </a:t>
                </a:r>
                <a14:m>
                  <m:oMath xmlns:m="http://schemas.openxmlformats.org/officeDocument/2006/math">
                    <m:r>
                      <a:rPr lang="en-US" sz="2400" i="1">
                        <a:latin typeface="Cambria Math"/>
                      </a:rPr>
                      <m:t>∠</m:t>
                    </m:r>
                    <m:r>
                      <a:rPr lang="en-US" sz="2400" i="1">
                        <a:latin typeface="Cambria Math"/>
                      </a:rPr>
                      <m:t>𝐶𝑁𝐹</m:t>
                    </m:r>
                  </m:oMath>
                </a14:m>
                <a:r>
                  <a:rPr lang="en-US" sz="2400" dirty="0">
                    <a:latin typeface="Verdana" panose="020B0604030504040204" pitchFamily="34" charset="0"/>
                    <a:ea typeface="Verdana" panose="020B0604030504040204" pitchFamily="34" charset="0"/>
                    <a:cs typeface="Verdana" panose="020B0604030504040204" pitchFamily="34" charset="0"/>
                  </a:rPr>
                  <a:t> by translating </a:t>
                </a:r>
                <a14:m>
                  <m:oMath xmlns:m="http://schemas.openxmlformats.org/officeDocument/2006/math">
                    <m:r>
                      <a:rPr lang="en-US" sz="2400" i="1">
                        <a:latin typeface="Cambria Math"/>
                      </a:rPr>
                      <m:t>∠</m:t>
                    </m:r>
                    <m:r>
                      <a:rPr lang="en-US" sz="2400" i="1">
                        <a:latin typeface="Cambria Math"/>
                      </a:rPr>
                      <m:t>𝑌𝑀𝐺</m:t>
                    </m:r>
                  </m:oMath>
                </a14:m>
                <a:r>
                  <a:rPr lang="en-US" sz="2400" dirty="0">
                    <a:latin typeface="Verdana" panose="020B0604030504040204" pitchFamily="34" charset="0"/>
                    <a:ea typeface="Verdana" panose="020B0604030504040204" pitchFamily="34" charset="0"/>
                    <a:cs typeface="Verdana" panose="020B0604030504040204" pitchFamily="34" charset="0"/>
                  </a:rPr>
                  <a:t> left </a:t>
                </a:r>
                <a14:m>
                  <m:oMath xmlns:m="http://schemas.openxmlformats.org/officeDocument/2006/math">
                    <m:r>
                      <a:rPr lang="en-US" sz="2400" i="1">
                        <a:latin typeface="Cambria Math"/>
                      </a:rPr>
                      <m:t>4</m:t>
                    </m:r>
                  </m:oMath>
                </a14:m>
                <a:r>
                  <a:rPr lang="en-US" sz="2400" dirty="0">
                    <a:latin typeface="Verdana" panose="020B0604030504040204" pitchFamily="34" charset="0"/>
                    <a:ea typeface="Verdana" panose="020B0604030504040204" pitchFamily="34" charset="0"/>
                    <a:cs typeface="Verdana" panose="020B0604030504040204" pitchFamily="34" charset="0"/>
                  </a:rPr>
                  <a:t> down </a:t>
                </a:r>
                <a14:m>
                  <m:oMath xmlns:m="http://schemas.openxmlformats.org/officeDocument/2006/math">
                    <m:r>
                      <a:rPr lang="en-US" sz="2400" i="1">
                        <a:latin typeface="Cambria Math"/>
                      </a:rPr>
                      <m:t>1</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Which angles have the same measure as </a:t>
                </a:r>
                <a14:m>
                  <m:oMath xmlns:m="http://schemas.openxmlformats.org/officeDocument/2006/math">
                    <m:r>
                      <a:rPr lang="en-US" sz="2400" i="1">
                        <a:latin typeface="Cambria Math"/>
                      </a:rPr>
                      <m:t>∠</m:t>
                    </m:r>
                    <m:r>
                      <a:rPr lang="en-US" sz="2400" i="1">
                        <a:latin typeface="Cambria Math"/>
                      </a:rPr>
                      <m:t>𝑌𝑀𝐺</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Which transformation(s) resulted in an angle whose measurement is the same as </a:t>
                </a:r>
                <a14:m>
                  <m:oMath xmlns:m="http://schemas.openxmlformats.org/officeDocument/2006/math">
                    <m:r>
                      <a:rPr lang="en-US" sz="2400" i="1">
                        <a:latin typeface="Cambria Math"/>
                      </a:rPr>
                      <m:t>∠</m:t>
                    </m:r>
                    <m:r>
                      <a:rPr lang="en-US" sz="2400" i="1">
                        <a:latin typeface="Cambria Math"/>
                      </a:rPr>
                      <m:t>𝑌𝑀𝐺</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858643" y="410790"/>
                <a:ext cx="10259123" cy="6001643"/>
              </a:xfrm>
              <a:prstGeom prst="rect">
                <a:avLst/>
              </a:prstGeom>
              <a:blipFill>
                <a:blip r:embed="rId4"/>
                <a:stretch>
                  <a:fillRect l="-951" t="-914" b="-1218"/>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60F4B17-87E0-004C-AADF-1570DE52C58A}"/>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284180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45</a:t>
            </a:r>
            <a:endParaRPr i="1" dirty="0">
              <a:latin typeface="Calibri"/>
              <a:ea typeface="Calibri"/>
              <a:cs typeface="Calibri"/>
              <a:sym typeface="Calibri"/>
            </a:endParaRP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065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767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38507" y="63626"/>
            <a:ext cx="9684417"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1.7.4 Bring It Together: Congruence and Similarity</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474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45</a:t>
            </a:r>
            <a:endParaRPr i="1" dirty="0">
              <a:latin typeface="Calibri"/>
              <a:ea typeface="Calibri"/>
              <a:cs typeface="Calibri"/>
              <a:sym typeface="Calibri"/>
            </a:endParaRPr>
          </a:p>
        </p:txBody>
      </p:sp>
      <p:sp>
        <p:nvSpPr>
          <p:cNvPr id="8" name="TextBox 7">
            <a:extLst>
              <a:ext uri="{FF2B5EF4-FFF2-40B4-BE49-F238E27FC236}">
                <a16:creationId xmlns:a16="http://schemas.microsoft.com/office/drawing/2014/main" id="{669E00F9-F39F-5043-888E-B0A2D8C9AE0F}"/>
              </a:ext>
            </a:extLst>
          </p:cNvPr>
          <p:cNvSpPr txBox="1"/>
          <p:nvPr/>
        </p:nvSpPr>
        <p:spPr>
          <a:xfrm>
            <a:off x="858644" y="1093169"/>
            <a:ext cx="10264280" cy="5381986"/>
          </a:xfrm>
          <a:prstGeom prst="rect">
            <a:avLst/>
          </a:prstGeom>
          <a:noFill/>
        </p:spPr>
        <p:txBody>
          <a:bodyPr wrap="square" rtlCol="0">
            <a:spAutoFit/>
          </a:bodyPr>
          <a:lstStyle/>
          <a:p>
            <a:pPr marL="457200" indent="-457200">
              <a:spcAft>
                <a:spcPts val="1200"/>
              </a:spcAft>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statements.</a:t>
            </a:r>
          </a:p>
          <a:p>
            <a:pPr marL="914400" indent="-457200">
              <a:lnSpc>
                <a:spcPct val="200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A rigid transformation results in a line segment that 	       congruent to the original line segment. </a:t>
            </a:r>
          </a:p>
          <a:p>
            <a:pPr marL="914400" indent="-457200">
              <a:lnSpc>
                <a:spcPct val="200000"/>
              </a:lnSpc>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A dilation results in a line segment that 		 congruent to the original line segment.</a:t>
            </a:r>
          </a:p>
          <a:p>
            <a:pPr marL="914400" indent="-457200">
              <a:lnSpc>
                <a:spcPct val="200000"/>
              </a:lnSpc>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A rigid transformation results in an angle that	    	congruent to the original angle.</a:t>
            </a:r>
            <a:endParaRPr lang="en-US" sz="2000" dirty="0">
              <a:latin typeface="Verdana" panose="020B0604030504040204" pitchFamily="34" charset="0"/>
              <a:ea typeface="Verdana" panose="020B0604030504040204" pitchFamily="34" charset="0"/>
            </a:endParaRPr>
          </a:p>
          <a:p>
            <a:pPr marL="914400" indent="-457200">
              <a:lnSpc>
                <a:spcPct val="200000"/>
              </a:lnSpc>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A dilation results in an angle that		  congruent to the original angle.</a:t>
            </a:r>
            <a:endParaRPr lang="en-US" dirty="0"/>
          </a:p>
        </p:txBody>
      </p:sp>
      <p:sp>
        <p:nvSpPr>
          <p:cNvPr id="10" name="Google Shape;278;g104476d1465_1_17">
            <a:extLst>
              <a:ext uri="{FF2B5EF4-FFF2-40B4-BE49-F238E27FC236}">
                <a16:creationId xmlns:a16="http://schemas.microsoft.com/office/drawing/2014/main" id="{E37649FA-72D0-DE42-98CE-D098AE151A20}"/>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1" name="Picture 2" descr="Icon&#10;&#10;Description automatically generated">
            <a:extLst>
              <a:ext uri="{FF2B5EF4-FFF2-40B4-BE49-F238E27FC236}">
                <a16:creationId xmlns:a16="http://schemas.microsoft.com/office/drawing/2014/main" id="{5D7F7086-3B46-0741-A8D9-C84B5033CCC5}"/>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93247" y="10137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Rectangle: Rounded Corners 235">
            <a:extLst>
              <a:ext uri="{FF2B5EF4-FFF2-40B4-BE49-F238E27FC236}">
                <a16:creationId xmlns:a16="http://schemas.microsoft.com/office/drawing/2014/main" id="{A92F998C-EF4C-B748-9098-BF10B80AAE70}"/>
              </a:ext>
            </a:extLst>
          </p:cNvPr>
          <p:cNvSpPr/>
          <p:nvPr/>
        </p:nvSpPr>
        <p:spPr>
          <a:xfrm>
            <a:off x="8595371" y="1583144"/>
            <a:ext cx="1296000" cy="762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273050"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is</a:t>
            </a:r>
          </a:p>
          <a:p>
            <a:pPr marL="273050"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is not</a:t>
            </a:r>
            <a:r>
              <a:rPr lang="en-US" sz="1200" dirty="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13" name="Rectangle: Rounded Corners 235">
            <a:extLst>
              <a:ext uri="{FF2B5EF4-FFF2-40B4-BE49-F238E27FC236}">
                <a16:creationId xmlns:a16="http://schemas.microsoft.com/office/drawing/2014/main" id="{D710F373-806B-5240-856C-76BD492942D2}"/>
              </a:ext>
            </a:extLst>
          </p:cNvPr>
          <p:cNvSpPr/>
          <p:nvPr/>
        </p:nvSpPr>
        <p:spPr>
          <a:xfrm>
            <a:off x="7025595" y="2783166"/>
            <a:ext cx="1260000" cy="762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273050"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is</a:t>
            </a:r>
          </a:p>
          <a:p>
            <a:pPr marL="273050"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is not</a:t>
            </a:r>
          </a:p>
        </p:txBody>
      </p:sp>
      <p:sp>
        <p:nvSpPr>
          <p:cNvPr id="14" name="Rectangle: Rounded Corners 235">
            <a:extLst>
              <a:ext uri="{FF2B5EF4-FFF2-40B4-BE49-F238E27FC236}">
                <a16:creationId xmlns:a16="http://schemas.microsoft.com/office/drawing/2014/main" id="{387E0478-DE6A-0D4C-86B6-020FD7B8BD19}"/>
              </a:ext>
            </a:extLst>
          </p:cNvPr>
          <p:cNvSpPr/>
          <p:nvPr/>
        </p:nvSpPr>
        <p:spPr>
          <a:xfrm>
            <a:off x="7830884" y="4021875"/>
            <a:ext cx="1260000" cy="762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273050"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is</a:t>
            </a:r>
          </a:p>
          <a:p>
            <a:pPr marL="273050"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is not</a:t>
            </a:r>
          </a:p>
        </p:txBody>
      </p:sp>
      <p:sp>
        <p:nvSpPr>
          <p:cNvPr id="15" name="Rectangle: Rounded Corners 235">
            <a:extLst>
              <a:ext uri="{FF2B5EF4-FFF2-40B4-BE49-F238E27FC236}">
                <a16:creationId xmlns:a16="http://schemas.microsoft.com/office/drawing/2014/main" id="{D710F373-806B-5240-856C-76BD492942D2}"/>
              </a:ext>
            </a:extLst>
          </p:cNvPr>
          <p:cNvSpPr/>
          <p:nvPr/>
        </p:nvSpPr>
        <p:spPr>
          <a:xfrm>
            <a:off x="6220409" y="5235163"/>
            <a:ext cx="1260000" cy="762000"/>
          </a:xfrm>
          <a:prstGeom prst="roundRect">
            <a:avLst>
              <a:gd name="adj" fmla="val 16667"/>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273050"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is</a:t>
            </a:r>
          </a:p>
          <a:p>
            <a:pPr marL="273050" indent="-27305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is not</a:t>
            </a:r>
          </a:p>
        </p:txBody>
      </p:sp>
    </p:spTree>
    <p:extLst>
      <p:ext uri="{BB962C8B-B14F-4D97-AF65-F5344CB8AC3E}">
        <p14:creationId xmlns:p14="http://schemas.microsoft.com/office/powerpoint/2010/main" val="3399856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45</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A08C1C0E-C7C0-F14B-88E2-57B6133AD69D}"/>
                  </a:ext>
                </a:extLst>
              </p:cNvPr>
              <p:cNvSpPr txBox="1"/>
              <p:nvPr/>
            </p:nvSpPr>
            <p:spPr>
              <a:xfrm>
                <a:off x="869795" y="4448510"/>
                <a:ext cx="10270274" cy="193899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Two congruent figures can also be considered similar with a scale factor of </a:t>
                </a:r>
                <a14:m>
                  <m:oMath xmlns:m="http://schemas.openxmlformats.org/officeDocument/2006/math">
                    <m:r>
                      <a:rPr lang="en-US" sz="2000" i="1">
                        <a:latin typeface="Cambria Math"/>
                      </a:rPr>
                      <m:t>1</m:t>
                    </m:r>
                  </m:oMath>
                </a14:m>
                <a:r>
                  <a:rPr lang="en-US" sz="2000" dirty="0">
                    <a:latin typeface="Verdana" panose="020B0604030504040204" pitchFamily="34" charset="0"/>
                    <a:ea typeface="Verdana" panose="020B0604030504040204" pitchFamily="34" charset="0"/>
                    <a:cs typeface="Verdana" panose="020B0604030504040204" pitchFamily="34" charset="0"/>
                  </a:rPr>
                  <a:t>. Although this is known, it is not often required to state that two congruent figures are also similar.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Which statement in Question 1 would be false for a dilation with a scale of factor of </a:t>
                </a:r>
                <a14:m>
                  <m:oMath xmlns:m="http://schemas.openxmlformats.org/officeDocument/2006/math">
                    <m:r>
                      <a:rPr lang="en-US" sz="2000" i="1">
                        <a:latin typeface="Cambria Math"/>
                      </a:rPr>
                      <m:t>1</m:t>
                    </m:r>
                  </m:oMath>
                </a14:m>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p:sp>
            <p:nvSpPr>
              <p:cNvPr id="5" name="TextBox 4">
                <a:extLst>
                  <a:ext uri="{FF2B5EF4-FFF2-40B4-BE49-F238E27FC236}">
                    <a16:creationId xmlns:a16="http://schemas.microsoft.com/office/drawing/2014/main" id="{A08C1C0E-C7C0-F14B-88E2-57B6133AD69D}"/>
                  </a:ext>
                </a:extLst>
              </p:cNvPr>
              <p:cNvSpPr txBox="1">
                <a:spLocks noRot="1" noChangeAspect="1" noMove="1" noResize="1" noEditPoints="1" noAdjustHandles="1" noChangeArrowheads="1" noChangeShapeType="1" noTextEdit="1"/>
              </p:cNvSpPr>
              <p:nvPr/>
            </p:nvSpPr>
            <p:spPr>
              <a:xfrm>
                <a:off x="869795" y="4448510"/>
                <a:ext cx="10270274" cy="1938992"/>
              </a:xfrm>
              <a:prstGeom prst="rect">
                <a:avLst/>
              </a:prstGeom>
              <a:blipFill>
                <a:blip r:embed="rId4"/>
                <a:stretch>
                  <a:fillRect l="-653" t="-1887" r="-178" b="-4717"/>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7F2D86FB-FD71-474A-BE55-9ECAAD056232}"/>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7" name="Group 6">
            <a:extLst>
              <a:ext uri="{FF2B5EF4-FFF2-40B4-BE49-F238E27FC236}">
                <a16:creationId xmlns:a16="http://schemas.microsoft.com/office/drawing/2014/main" id="{16F5920B-52A3-0447-AE36-C427EFA79B02}"/>
              </a:ext>
            </a:extLst>
          </p:cNvPr>
          <p:cNvGrpSpPr/>
          <p:nvPr/>
        </p:nvGrpSpPr>
        <p:grpSpPr>
          <a:xfrm>
            <a:off x="1785675" y="2010187"/>
            <a:ext cx="8280000" cy="2338577"/>
            <a:chOff x="2031300" y="3252943"/>
            <a:chExt cx="8280000" cy="2338951"/>
          </a:xfrm>
          <a:effectLst>
            <a:outerShdw blurRad="50800" dist="38100" dir="2700000" algn="tl" rotWithShape="0">
              <a:prstClr val="black">
                <a:alpha val="40000"/>
              </a:prstClr>
            </a:outerShdw>
          </a:effectLst>
        </p:grpSpPr>
        <p:grpSp>
          <p:nvGrpSpPr>
            <p:cNvPr id="8" name="Group 7">
              <a:extLst>
                <a:ext uri="{FF2B5EF4-FFF2-40B4-BE49-F238E27FC236}">
                  <a16:creationId xmlns:a16="http://schemas.microsoft.com/office/drawing/2014/main" id="{CDE25DA4-2690-6A4E-AB63-BACE27C851F8}"/>
                </a:ext>
              </a:extLst>
            </p:cNvPr>
            <p:cNvGrpSpPr/>
            <p:nvPr/>
          </p:nvGrpSpPr>
          <p:grpSpPr>
            <a:xfrm>
              <a:off x="2031300" y="3252943"/>
              <a:ext cx="8280000" cy="2338951"/>
              <a:chOff x="2031300" y="3252874"/>
              <a:chExt cx="8280000" cy="2339278"/>
            </a:xfrm>
          </p:grpSpPr>
          <p:sp>
            <p:nvSpPr>
              <p:cNvPr id="9" name="Rectangle 8">
                <a:extLst>
                  <a:ext uri="{FF2B5EF4-FFF2-40B4-BE49-F238E27FC236}">
                    <a16:creationId xmlns:a16="http://schemas.microsoft.com/office/drawing/2014/main" id="{CD5E9335-FC3A-6146-A9EB-F8C751350631}"/>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0" name="Group 9">
                <a:extLst>
                  <a:ext uri="{FF2B5EF4-FFF2-40B4-BE49-F238E27FC236}">
                    <a16:creationId xmlns:a16="http://schemas.microsoft.com/office/drawing/2014/main" id="{D0B4B1F6-5900-B54C-8A9F-80C0CA60EB0D}"/>
                  </a:ext>
                </a:extLst>
              </p:cNvPr>
              <p:cNvGrpSpPr/>
              <p:nvPr/>
            </p:nvGrpSpPr>
            <p:grpSpPr>
              <a:xfrm>
                <a:off x="2031300" y="3252874"/>
                <a:ext cx="8280000" cy="2339278"/>
                <a:chOff x="2031300" y="3252874"/>
                <a:chExt cx="8280000" cy="2339278"/>
              </a:xfrm>
            </p:grpSpPr>
            <p:sp>
              <p:nvSpPr>
                <p:cNvPr id="11" name="Rectangle 10">
                  <a:extLst>
                    <a:ext uri="{FF2B5EF4-FFF2-40B4-BE49-F238E27FC236}">
                      <a16:creationId xmlns:a16="http://schemas.microsoft.com/office/drawing/2014/main" id="{B1E73B87-2D1F-9B40-B761-7D76DA725BE7}"/>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3" name="Group 12">
                  <a:extLst>
                    <a:ext uri="{FF2B5EF4-FFF2-40B4-BE49-F238E27FC236}">
                      <a16:creationId xmlns:a16="http://schemas.microsoft.com/office/drawing/2014/main" id="{81B9B157-764B-474E-A7B1-218083A40FBA}"/>
                    </a:ext>
                  </a:extLst>
                </p:cNvPr>
                <p:cNvGrpSpPr/>
                <p:nvPr/>
              </p:nvGrpSpPr>
              <p:grpSpPr>
                <a:xfrm>
                  <a:off x="2031300" y="3252874"/>
                  <a:ext cx="8280000" cy="2339278"/>
                  <a:chOff x="2031300" y="3252874"/>
                  <a:chExt cx="8280000" cy="2339278"/>
                </a:xfrm>
              </p:grpSpPr>
              <p:sp>
                <p:nvSpPr>
                  <p:cNvPr id="14" name="Rectangle 13">
                    <a:extLst>
                      <a:ext uri="{FF2B5EF4-FFF2-40B4-BE49-F238E27FC236}">
                        <a16:creationId xmlns:a16="http://schemas.microsoft.com/office/drawing/2014/main" id="{89A3EEF8-4400-4E4E-8CCE-CF1C8A688B22}"/>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5" name="Group 14">
                    <a:extLst>
                      <a:ext uri="{FF2B5EF4-FFF2-40B4-BE49-F238E27FC236}">
                        <a16:creationId xmlns:a16="http://schemas.microsoft.com/office/drawing/2014/main" id="{CB6C99A6-282C-A144-A703-98958B2495E3}"/>
                      </a:ext>
                    </a:extLst>
                  </p:cNvPr>
                  <p:cNvGrpSpPr/>
                  <p:nvPr/>
                </p:nvGrpSpPr>
                <p:grpSpPr>
                  <a:xfrm>
                    <a:off x="2031300" y="3252874"/>
                    <a:ext cx="8280000" cy="2339278"/>
                    <a:chOff x="2031300" y="3252874"/>
                    <a:chExt cx="8280000" cy="2339278"/>
                  </a:xfrm>
                </p:grpSpPr>
                <p:sp>
                  <p:nvSpPr>
                    <p:cNvPr id="16" name="Rectangle 15">
                      <a:extLst>
                        <a:ext uri="{FF2B5EF4-FFF2-40B4-BE49-F238E27FC236}">
                          <a16:creationId xmlns:a16="http://schemas.microsoft.com/office/drawing/2014/main" id="{E4AF72A5-1D7C-104B-87E6-C7D803BA083B}"/>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7" name="Group 16">
                      <a:extLst>
                        <a:ext uri="{FF2B5EF4-FFF2-40B4-BE49-F238E27FC236}">
                          <a16:creationId xmlns:a16="http://schemas.microsoft.com/office/drawing/2014/main" id="{740644B2-8B61-7F44-8D86-080FDF146CD6}"/>
                        </a:ext>
                      </a:extLst>
                    </p:cNvPr>
                    <p:cNvGrpSpPr/>
                    <p:nvPr/>
                  </p:nvGrpSpPr>
                  <p:grpSpPr>
                    <a:xfrm>
                      <a:off x="2031300" y="3252874"/>
                      <a:ext cx="8280000" cy="2339278"/>
                      <a:chOff x="2031300" y="3252874"/>
                      <a:chExt cx="8280000" cy="2339278"/>
                    </a:xfrm>
                  </p:grpSpPr>
                  <p:sp>
                    <p:nvSpPr>
                      <p:cNvPr id="18" name="Rectangle 17">
                        <a:extLst>
                          <a:ext uri="{FF2B5EF4-FFF2-40B4-BE49-F238E27FC236}">
                            <a16:creationId xmlns:a16="http://schemas.microsoft.com/office/drawing/2014/main" id="{9F79BEE8-57BA-004A-9F5C-162ADB8D3AED}"/>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9" name="Group 18">
                        <a:extLst>
                          <a:ext uri="{FF2B5EF4-FFF2-40B4-BE49-F238E27FC236}">
                            <a16:creationId xmlns:a16="http://schemas.microsoft.com/office/drawing/2014/main" id="{4DA423A4-A581-CA44-A98D-00382211438F}"/>
                          </a:ext>
                        </a:extLst>
                      </p:cNvPr>
                      <p:cNvGrpSpPr/>
                      <p:nvPr/>
                    </p:nvGrpSpPr>
                    <p:grpSpPr>
                      <a:xfrm>
                        <a:off x="2031300" y="3252874"/>
                        <a:ext cx="8280000" cy="2339278"/>
                        <a:chOff x="2031300" y="3262288"/>
                        <a:chExt cx="8280000" cy="2297516"/>
                      </a:xfrm>
                    </p:grpSpPr>
                    <p:sp>
                      <p:nvSpPr>
                        <p:cNvPr id="20" name="Rectangle 19">
                          <a:extLst>
                            <a:ext uri="{FF2B5EF4-FFF2-40B4-BE49-F238E27FC236}">
                              <a16:creationId xmlns:a16="http://schemas.microsoft.com/office/drawing/2014/main" id="{F03C324D-3BD5-2E41-9FC6-A6CE8B19C79A}"/>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1" name="Group 20">
                          <a:extLst>
                            <a:ext uri="{FF2B5EF4-FFF2-40B4-BE49-F238E27FC236}">
                              <a16:creationId xmlns:a16="http://schemas.microsoft.com/office/drawing/2014/main" id="{89D0FAF7-3731-6040-9817-D5A359CCB546}"/>
                            </a:ext>
                          </a:extLst>
                        </p:cNvPr>
                        <p:cNvGrpSpPr/>
                        <p:nvPr/>
                      </p:nvGrpSpPr>
                      <p:grpSpPr>
                        <a:xfrm>
                          <a:off x="2031300" y="3262288"/>
                          <a:ext cx="8280000" cy="2297516"/>
                          <a:chOff x="2031300" y="3373600"/>
                          <a:chExt cx="8280000" cy="2297516"/>
                        </a:xfrm>
                      </p:grpSpPr>
                      <p:sp>
                        <p:nvSpPr>
                          <p:cNvPr id="22" name="Rectangle 21">
                            <a:extLst>
                              <a:ext uri="{FF2B5EF4-FFF2-40B4-BE49-F238E27FC236}">
                                <a16:creationId xmlns:a16="http://schemas.microsoft.com/office/drawing/2014/main" id="{0E44077D-9BCE-4649-B6D2-0D12BBB5961B}"/>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3" name="Group 22">
                            <a:extLst>
                              <a:ext uri="{FF2B5EF4-FFF2-40B4-BE49-F238E27FC236}">
                                <a16:creationId xmlns:a16="http://schemas.microsoft.com/office/drawing/2014/main" id="{81117CE6-5B6F-EA46-ADE9-85EC02843808}"/>
                              </a:ext>
                            </a:extLst>
                          </p:cNvPr>
                          <p:cNvGrpSpPr/>
                          <p:nvPr/>
                        </p:nvGrpSpPr>
                        <p:grpSpPr>
                          <a:xfrm>
                            <a:off x="2031300" y="3373600"/>
                            <a:ext cx="8280000" cy="2297516"/>
                            <a:chOff x="2031300" y="3373600"/>
                            <a:chExt cx="8280000" cy="2297516"/>
                          </a:xfrm>
                        </p:grpSpPr>
                        <p:sp>
                          <p:nvSpPr>
                            <p:cNvPr id="24" name="Rectangle 23">
                              <a:extLst>
                                <a:ext uri="{FF2B5EF4-FFF2-40B4-BE49-F238E27FC236}">
                                  <a16:creationId xmlns:a16="http://schemas.microsoft.com/office/drawing/2014/main" id="{397D6C2A-97F8-C34F-933A-492060594885}"/>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5" name="Group 24">
                              <a:extLst>
                                <a:ext uri="{FF2B5EF4-FFF2-40B4-BE49-F238E27FC236}">
                                  <a16:creationId xmlns:a16="http://schemas.microsoft.com/office/drawing/2014/main" id="{3F4017D6-401A-7048-81BF-31B13664556D}"/>
                                </a:ext>
                              </a:extLst>
                            </p:cNvPr>
                            <p:cNvGrpSpPr/>
                            <p:nvPr/>
                          </p:nvGrpSpPr>
                          <p:grpSpPr>
                            <a:xfrm>
                              <a:off x="2031300" y="3373600"/>
                              <a:ext cx="8280000" cy="2297516"/>
                              <a:chOff x="0" y="0"/>
                              <a:chExt cx="8280000" cy="2297516"/>
                            </a:xfrm>
                          </p:grpSpPr>
                          <p:sp>
                            <p:nvSpPr>
                              <p:cNvPr id="26" name="Rectangle 25">
                                <a:extLst>
                                  <a:ext uri="{FF2B5EF4-FFF2-40B4-BE49-F238E27FC236}">
                                    <a16:creationId xmlns:a16="http://schemas.microsoft.com/office/drawing/2014/main" id="{E4169263-BDB9-6547-AD8B-2ABA4A46ACCC}"/>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7" name="Rounded Rectangle 26">
                                <a:extLst>
                                  <a:ext uri="{FF2B5EF4-FFF2-40B4-BE49-F238E27FC236}">
                                    <a16:creationId xmlns:a16="http://schemas.microsoft.com/office/drawing/2014/main" id="{13AAEF32-9BB7-0B4C-A4E9-3A4F351D0374}"/>
                                  </a:ext>
                                </a:extLst>
                              </p:cNvPr>
                              <p:cNvSpPr/>
                              <p:nvPr/>
                            </p:nvSpPr>
                            <p:spPr>
                              <a:xfrm>
                                <a:off x="0" y="445913"/>
                                <a:ext cx="8280000" cy="1851603"/>
                              </a:xfrm>
                              <a:prstGeom prst="roundRect">
                                <a:avLst>
                                  <a:gd name="adj" fmla="val 16667"/>
                                </a:avLst>
                              </a:prstGeom>
                              <a:solidFill>
                                <a:srgbClr val="E2EED5"/>
                              </a:solidFill>
                              <a:ln>
                                <a:noFill/>
                              </a:ln>
                            </p:spPr>
                            <p:txBody>
                              <a:bodyPr spcFirstLastPara="1" wrap="square" lIns="91425" tIns="0" rIns="91425" bIns="0" anchor="b" anchorCtr="0">
                                <a:spAutoFit/>
                              </a:bodyPr>
                              <a:lstStyle/>
                              <a:p>
                                <a:pPr marL="711200">
                                  <a:spcAft>
                                    <a:spcPts val="1000"/>
                                  </a:spcAft>
                                  <a:tabLst>
                                    <a:tab pos="714375" algn="l"/>
                                  </a:tabLst>
                                </a:pP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Similarity</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having exactly the same shape but not necessarily the same size. Two figures are similar</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if and only if one figure can be obtained from the other by a dilation, or a sequence of transformations that includes a dilation.</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28" name="Shape 21" descr="Icon&#10;&#10;Description automatically generated">
                                <a:extLst>
                                  <a:ext uri="{FF2B5EF4-FFF2-40B4-BE49-F238E27FC236}">
                                    <a16:creationId xmlns:a16="http://schemas.microsoft.com/office/drawing/2014/main" id="{1D9C3C32-1E23-D14D-9234-BBE6888CE443}"/>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76039" y="832413"/>
                                <a:ext cx="677654" cy="677654"/>
                              </a:xfrm>
                              <a:prstGeom prst="rect">
                                <a:avLst/>
                              </a:prstGeom>
                              <a:noFill/>
                              <a:ln>
                                <a:noFill/>
                              </a:ln>
                              <a:effectLst>
                                <a:outerShdw blurRad="50800" dist="38100" dir="2700000" algn="tl" rotWithShape="0">
                                  <a:prstClr val="black">
                                    <a:alpha val="40000"/>
                                  </a:prstClr>
                                </a:outerShdw>
                              </a:effectLst>
                            </p:spPr>
                          </p:pic>
                        </p:grpSp>
                      </p:grpSp>
                    </p:grpSp>
                  </p:grpSp>
                </p:grpSp>
              </p:grpSp>
            </p:grpSp>
          </p:grpSp>
        </p:grpSp>
      </p:grpSp>
      <p:grpSp>
        <p:nvGrpSpPr>
          <p:cNvPr id="29" name="Group 28">
            <a:extLst>
              <a:ext uri="{FF2B5EF4-FFF2-40B4-BE49-F238E27FC236}">
                <a16:creationId xmlns:a16="http://schemas.microsoft.com/office/drawing/2014/main" id="{3978DF10-3D8F-0243-95FC-6E5A24C3C06A}"/>
              </a:ext>
            </a:extLst>
          </p:cNvPr>
          <p:cNvGrpSpPr/>
          <p:nvPr/>
        </p:nvGrpSpPr>
        <p:grpSpPr>
          <a:xfrm>
            <a:off x="1785675" y="376826"/>
            <a:ext cx="8280000" cy="1884695"/>
            <a:chOff x="2031300" y="3038219"/>
            <a:chExt cx="8280000" cy="1885073"/>
          </a:xfrm>
        </p:grpSpPr>
        <p:sp>
          <p:nvSpPr>
            <p:cNvPr id="30" name="Rectangle 29">
              <a:extLst>
                <a:ext uri="{FF2B5EF4-FFF2-40B4-BE49-F238E27FC236}">
                  <a16:creationId xmlns:a16="http://schemas.microsoft.com/office/drawing/2014/main" id="{D48DB4C3-ECA0-7742-B663-77E61D2790DC}"/>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1" name="Group 30">
              <a:extLst>
                <a:ext uri="{FF2B5EF4-FFF2-40B4-BE49-F238E27FC236}">
                  <a16:creationId xmlns:a16="http://schemas.microsoft.com/office/drawing/2014/main" id="{173B69EF-3075-134A-90E9-1D482370AD96}"/>
                </a:ext>
              </a:extLst>
            </p:cNvPr>
            <p:cNvGrpSpPr/>
            <p:nvPr/>
          </p:nvGrpSpPr>
          <p:grpSpPr>
            <a:xfrm>
              <a:off x="2031300" y="3038219"/>
              <a:ext cx="8280000" cy="1885073"/>
              <a:chOff x="2031300" y="3038219"/>
              <a:chExt cx="8280000" cy="1885073"/>
            </a:xfrm>
          </p:grpSpPr>
          <p:sp>
            <p:nvSpPr>
              <p:cNvPr id="32" name="Rectangle 31">
                <a:extLst>
                  <a:ext uri="{FF2B5EF4-FFF2-40B4-BE49-F238E27FC236}">
                    <a16:creationId xmlns:a16="http://schemas.microsoft.com/office/drawing/2014/main" id="{F1B2A83B-3288-3D4A-914C-2F0B9E31D35E}"/>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3" name="Group 32">
                <a:extLst>
                  <a:ext uri="{FF2B5EF4-FFF2-40B4-BE49-F238E27FC236}">
                    <a16:creationId xmlns:a16="http://schemas.microsoft.com/office/drawing/2014/main" id="{DE27C39A-B9C2-D14E-B38F-2A387D5F1AB0}"/>
                  </a:ext>
                </a:extLst>
              </p:cNvPr>
              <p:cNvGrpSpPr/>
              <p:nvPr/>
            </p:nvGrpSpPr>
            <p:grpSpPr>
              <a:xfrm>
                <a:off x="2031300" y="3038219"/>
                <a:ext cx="8280000" cy="1885073"/>
                <a:chOff x="2031300" y="3038219"/>
                <a:chExt cx="8280000" cy="1885073"/>
              </a:xfrm>
            </p:grpSpPr>
            <p:sp>
              <p:nvSpPr>
                <p:cNvPr id="34" name="Rectangle 33">
                  <a:extLst>
                    <a:ext uri="{FF2B5EF4-FFF2-40B4-BE49-F238E27FC236}">
                      <a16:creationId xmlns:a16="http://schemas.microsoft.com/office/drawing/2014/main" id="{AB1A4172-6D8F-2647-90FD-10730F0EC246}"/>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5" name="Group 34">
                  <a:extLst>
                    <a:ext uri="{FF2B5EF4-FFF2-40B4-BE49-F238E27FC236}">
                      <a16:creationId xmlns:a16="http://schemas.microsoft.com/office/drawing/2014/main" id="{B1293842-04AB-664A-A4AF-C31C9A19083D}"/>
                    </a:ext>
                  </a:extLst>
                </p:cNvPr>
                <p:cNvGrpSpPr/>
                <p:nvPr/>
              </p:nvGrpSpPr>
              <p:grpSpPr>
                <a:xfrm>
                  <a:off x="2031300" y="3038219"/>
                  <a:ext cx="8280000" cy="1885073"/>
                  <a:chOff x="2031300" y="3038219"/>
                  <a:chExt cx="8280000" cy="1885073"/>
                </a:xfrm>
              </p:grpSpPr>
              <p:sp>
                <p:nvSpPr>
                  <p:cNvPr id="36" name="Rectangle 35">
                    <a:extLst>
                      <a:ext uri="{FF2B5EF4-FFF2-40B4-BE49-F238E27FC236}">
                        <a16:creationId xmlns:a16="http://schemas.microsoft.com/office/drawing/2014/main" id="{9975BFB8-A6F0-5D40-BDFA-36671BFEB752}"/>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7" name="Group 36">
                    <a:extLst>
                      <a:ext uri="{FF2B5EF4-FFF2-40B4-BE49-F238E27FC236}">
                        <a16:creationId xmlns:a16="http://schemas.microsoft.com/office/drawing/2014/main" id="{43ADE53E-DB50-BF44-860F-0C3E82C635BE}"/>
                      </a:ext>
                    </a:extLst>
                  </p:cNvPr>
                  <p:cNvGrpSpPr/>
                  <p:nvPr/>
                </p:nvGrpSpPr>
                <p:grpSpPr>
                  <a:xfrm>
                    <a:off x="2031300" y="3038219"/>
                    <a:ext cx="8280000" cy="1885073"/>
                    <a:chOff x="2031300" y="3038219"/>
                    <a:chExt cx="8280000" cy="1885073"/>
                  </a:xfrm>
                </p:grpSpPr>
                <p:sp>
                  <p:nvSpPr>
                    <p:cNvPr id="38" name="Rectangle 37">
                      <a:extLst>
                        <a:ext uri="{FF2B5EF4-FFF2-40B4-BE49-F238E27FC236}">
                          <a16:creationId xmlns:a16="http://schemas.microsoft.com/office/drawing/2014/main" id="{B07260E3-1840-1647-B49C-FA09324C671D}"/>
                        </a:ext>
                      </a:extLst>
                    </p:cNvPr>
                    <p:cNvSpPr/>
                    <p:nvPr/>
                  </p:nvSpPr>
                  <p:spPr>
                    <a:xfrm>
                      <a:off x="2031300" y="3252877"/>
                      <a:ext cx="6629400" cy="10542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39" name="Group 38">
                      <a:extLst>
                        <a:ext uri="{FF2B5EF4-FFF2-40B4-BE49-F238E27FC236}">
                          <a16:creationId xmlns:a16="http://schemas.microsoft.com/office/drawing/2014/main" id="{661C7071-FB1B-9747-B503-D35FB5367C94}"/>
                        </a:ext>
                      </a:extLst>
                    </p:cNvPr>
                    <p:cNvGrpSpPr/>
                    <p:nvPr/>
                  </p:nvGrpSpPr>
                  <p:grpSpPr>
                    <a:xfrm>
                      <a:off x="2031300" y="3038219"/>
                      <a:ext cx="8280000" cy="1885073"/>
                      <a:chOff x="2031300" y="3051465"/>
                      <a:chExt cx="8280000" cy="1851419"/>
                    </a:xfrm>
                  </p:grpSpPr>
                  <p:sp>
                    <p:nvSpPr>
                      <p:cNvPr id="40" name="Rectangle 39">
                        <a:extLst>
                          <a:ext uri="{FF2B5EF4-FFF2-40B4-BE49-F238E27FC236}">
                            <a16:creationId xmlns:a16="http://schemas.microsoft.com/office/drawing/2014/main" id="{2714B6BF-B19C-2F41-AE17-FFFA14D95459}"/>
                          </a:ext>
                        </a:extLst>
                      </p:cNvPr>
                      <p:cNvSpPr/>
                      <p:nvPr/>
                    </p:nvSpPr>
                    <p:spPr>
                      <a:xfrm>
                        <a:off x="2031300" y="3262288"/>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41" name="Group 40">
                        <a:extLst>
                          <a:ext uri="{FF2B5EF4-FFF2-40B4-BE49-F238E27FC236}">
                            <a16:creationId xmlns:a16="http://schemas.microsoft.com/office/drawing/2014/main" id="{6AA05227-D7A0-7F4B-B367-4B9CE77BA051}"/>
                          </a:ext>
                        </a:extLst>
                      </p:cNvPr>
                      <p:cNvGrpSpPr/>
                      <p:nvPr/>
                    </p:nvGrpSpPr>
                    <p:grpSpPr>
                      <a:xfrm>
                        <a:off x="2031300" y="3051465"/>
                        <a:ext cx="8280000" cy="1851419"/>
                        <a:chOff x="2031300" y="3162777"/>
                        <a:chExt cx="8280000" cy="1851419"/>
                      </a:xfrm>
                    </p:grpSpPr>
                    <p:sp>
                      <p:nvSpPr>
                        <p:cNvPr id="42" name="Rectangle 41">
                          <a:extLst>
                            <a:ext uri="{FF2B5EF4-FFF2-40B4-BE49-F238E27FC236}">
                              <a16:creationId xmlns:a16="http://schemas.microsoft.com/office/drawing/2014/main" id="{38460CF9-F6DA-F54C-B190-E2750774F569}"/>
                            </a:ext>
                          </a:extLst>
                        </p:cNvPr>
                        <p:cNvSpPr/>
                        <p:nvPr/>
                      </p:nvSpPr>
                      <p:spPr>
                        <a:xfrm>
                          <a:off x="2031300" y="3373600"/>
                          <a:ext cx="6629400" cy="10354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43" name="Group 42">
                          <a:extLst>
                            <a:ext uri="{FF2B5EF4-FFF2-40B4-BE49-F238E27FC236}">
                              <a16:creationId xmlns:a16="http://schemas.microsoft.com/office/drawing/2014/main" id="{E9EE2572-F00D-A84F-990B-D9E2688AABDB}"/>
                            </a:ext>
                          </a:extLst>
                        </p:cNvPr>
                        <p:cNvGrpSpPr/>
                        <p:nvPr/>
                      </p:nvGrpSpPr>
                      <p:grpSpPr>
                        <a:xfrm>
                          <a:off x="2031300" y="3162777"/>
                          <a:ext cx="8280000" cy="1851419"/>
                          <a:chOff x="2031300" y="3162777"/>
                          <a:chExt cx="8280000" cy="1851419"/>
                        </a:xfrm>
                      </p:grpSpPr>
                      <p:sp>
                        <p:nvSpPr>
                          <p:cNvPr id="44" name="Rectangle 43">
                            <a:extLst>
                              <a:ext uri="{FF2B5EF4-FFF2-40B4-BE49-F238E27FC236}">
                                <a16:creationId xmlns:a16="http://schemas.microsoft.com/office/drawing/2014/main" id="{DA7617BC-3308-584B-8636-7671BDA08DEA}"/>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45" name="Group 44">
                            <a:extLst>
                              <a:ext uri="{FF2B5EF4-FFF2-40B4-BE49-F238E27FC236}">
                                <a16:creationId xmlns:a16="http://schemas.microsoft.com/office/drawing/2014/main" id="{42DE1429-E8D2-FB4C-AB94-A95C065DD4E6}"/>
                              </a:ext>
                            </a:extLst>
                          </p:cNvPr>
                          <p:cNvGrpSpPr/>
                          <p:nvPr/>
                        </p:nvGrpSpPr>
                        <p:grpSpPr>
                          <a:xfrm>
                            <a:off x="2031300" y="3162777"/>
                            <a:ext cx="8280000" cy="1851419"/>
                            <a:chOff x="0" y="-210823"/>
                            <a:chExt cx="8280000" cy="1851419"/>
                          </a:xfrm>
                        </p:grpSpPr>
                        <p:sp>
                          <p:nvSpPr>
                            <p:cNvPr id="46" name="Rectangle 45">
                              <a:extLst>
                                <a:ext uri="{FF2B5EF4-FFF2-40B4-BE49-F238E27FC236}">
                                  <a16:creationId xmlns:a16="http://schemas.microsoft.com/office/drawing/2014/main" id="{9F7EC12D-2DD5-2C4E-ACC8-5C26737F4F2B}"/>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47" name="Rounded Rectangle 46">
                              <a:extLst>
                                <a:ext uri="{FF2B5EF4-FFF2-40B4-BE49-F238E27FC236}">
                                  <a16:creationId xmlns:a16="http://schemas.microsoft.com/office/drawing/2014/main" id="{5EDBC98C-444A-B644-AB2E-98AA2BF3A2C3}"/>
                                </a:ext>
                              </a:extLst>
                            </p:cNvPr>
                            <p:cNvSpPr/>
                            <p:nvPr/>
                          </p:nvSpPr>
                          <p:spPr>
                            <a:xfrm>
                              <a:off x="0" y="-210823"/>
                              <a:ext cx="8280000" cy="1851419"/>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0" rIns="0" bIns="0" anchor="b" anchorCtr="0">
                              <a:spAutoFit/>
                            </a:bodyPr>
                            <a:lstStyle/>
                            <a:p>
                              <a:pPr marL="71755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Two figures are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congruent</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if they have exactly the same shape and size. Equivalently, two figures are congruent if one figure can be mapped to the other using a single rigid motion, or a sequence of transformations that includes only rigid motions.</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p:txBody>
                        </p:sp>
                      </p:grpSp>
                    </p:grpSp>
                  </p:grpSp>
                </p:grpSp>
              </p:grpSp>
            </p:grpSp>
          </p:grpSp>
        </p:grpSp>
      </p:grpSp>
      <p:pic>
        <p:nvPicPr>
          <p:cNvPr id="48" name="Shape 21" descr="Icon&#10;&#10;Description automatically generated">
            <a:extLst>
              <a:ext uri="{FF2B5EF4-FFF2-40B4-BE49-F238E27FC236}">
                <a16:creationId xmlns:a16="http://schemas.microsoft.com/office/drawing/2014/main" id="{DD8436C9-8E61-834E-B4E4-F904ED7B2F86}"/>
              </a:ext>
            </a:extLst>
          </p:cNvPr>
          <p:cNvPicPr/>
          <p:nvPr/>
        </p:nvPicPr>
        <p:blipFill rotWithShape="1">
          <a:blip r:embed="rId6" cstate="screen">
            <a:alphaModFix/>
            <a:extLst>
              <a:ext uri="{28A0092B-C50C-407E-A947-70E740481C1C}">
                <a14:useLocalDpi xmlns:a14="http://schemas.microsoft.com/office/drawing/2010/main"/>
              </a:ext>
            </a:extLst>
          </a:blip>
          <a:srcRect/>
          <a:stretch/>
        </p:blipFill>
        <p:spPr>
          <a:xfrm>
            <a:off x="1906983" y="674433"/>
            <a:ext cx="632385" cy="643545"/>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772273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46</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767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05053" y="41112"/>
            <a:ext cx="10013795"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1.7.5 Guided Instruction: Congruence and Similarity Statements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440476" y="86927"/>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474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46</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01B13E8-EC8D-E443-A329-C5E3593DD13A}"/>
                  </a:ext>
                </a:extLst>
              </p:cNvPr>
              <p:cNvSpPr txBox="1"/>
              <p:nvPr/>
            </p:nvSpPr>
            <p:spPr>
              <a:xfrm>
                <a:off x="847493" y="1142002"/>
                <a:ext cx="10270273"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Five triangles are shown on the coordinate grid. </a:t>
                </a:r>
                <a14:m>
                  <m:oMath xmlns:m="http://schemas.openxmlformats.org/officeDocument/2006/math">
                    <m:r>
                      <a:rPr lang="en-US" sz="2400" i="1">
                        <a:latin typeface="Cambria Math"/>
                      </a:rPr>
                      <m:t>∆</m:t>
                    </m:r>
                    <m:r>
                      <a:rPr lang="en-US" sz="2400" i="1">
                        <a:latin typeface="Cambria Math"/>
                      </a:rPr>
                      <m:t>𝐹𝑁𝑇</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a:rPr>
                      <m:t>∆</m:t>
                    </m:r>
                    <m:r>
                      <a:rPr lang="en-US" sz="2400" i="1">
                        <a:latin typeface="Cambria Math"/>
                      </a:rPr>
                      <m:t>𝑉𝐾𝑅</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a:rPr>
                      <m:t>∆</m:t>
                    </m:r>
                    <m:r>
                      <a:rPr lang="en-US" sz="2400" i="1">
                        <a:latin typeface="Cambria Math"/>
                      </a:rPr>
                      <m:t>𝑃𝑊𝑀</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a:rPr>
                      <m:t>∆</m:t>
                    </m:r>
                    <m:r>
                      <a:rPr lang="en-US" sz="2400" i="1">
                        <a:latin typeface="Cambria Math"/>
                      </a:rPr>
                      <m:t>𝐷𝑆𝑌</m:t>
                    </m:r>
                  </m:oMath>
                </a14:m>
                <a:r>
                  <a:rPr lang="en-US" sz="2400" dirty="0">
                    <a:latin typeface="Verdana" panose="020B0604030504040204" pitchFamily="34" charset="0"/>
                    <a:ea typeface="Verdana" panose="020B0604030504040204" pitchFamily="34" charset="0"/>
                    <a:cs typeface="Verdana" panose="020B0604030504040204" pitchFamily="34" charset="0"/>
                  </a:rPr>
                  <a:t> are created using a single transformation of </a:t>
                </a:r>
                <a14:m>
                  <m:oMath xmlns:m="http://schemas.openxmlformats.org/officeDocument/2006/math">
                    <m:r>
                      <a:rPr lang="en-US" sz="2400" i="1">
                        <a:latin typeface="Cambria Math"/>
                      </a:rPr>
                      <m:t>∆</m:t>
                    </m:r>
                    <m:r>
                      <a:rPr lang="en-US" sz="2400" i="1">
                        <a:latin typeface="Cambria Math"/>
                      </a:rPr>
                      <m:t>𝐿𝐵𝐻</m:t>
                    </m:r>
                  </m:oMath>
                </a14:m>
                <a:r>
                  <a:rPr lang="en-US" sz="2400" dirty="0">
                    <a:latin typeface="Verdana" panose="020B0604030504040204" pitchFamily="34" charset="0"/>
                    <a:ea typeface="Verdana" panose="020B0604030504040204" pitchFamily="34" charset="0"/>
                    <a:cs typeface="Verdana" panose="020B0604030504040204" pitchFamily="34" charset="0"/>
                  </a:rPr>
                  <a:t>. Each color relates to corresponding points.</a:t>
                </a:r>
              </a:p>
            </p:txBody>
          </p:sp>
        </mc:Choice>
        <mc:Fallback>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847493" y="1142002"/>
                <a:ext cx="10270273" cy="1200329"/>
              </a:xfrm>
              <a:prstGeom prst="rect">
                <a:avLst/>
              </a:prstGeom>
              <a:blipFill>
                <a:blip r:embed="rId5"/>
                <a:stretch>
                  <a:fillRect l="-890" t="-4569" b="-10152"/>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7D185CEC-69E3-ED4E-87D7-D8AED7B32136}"/>
              </a:ext>
            </a:extLst>
          </p:cNvPr>
          <p:cNvSpPr/>
          <p:nvPr/>
        </p:nvSpPr>
        <p:spPr>
          <a:xfrm>
            <a:off x="0" y="-1115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Picture 9">
            <a:extLst>
              <a:ext uri="{FF2B5EF4-FFF2-40B4-BE49-F238E27FC236}">
                <a16:creationId xmlns:a16="http://schemas.microsoft.com/office/drawing/2014/main" id="{0CE5F55A-B009-6C4A-A6AD-9DD7281B3716}"/>
              </a:ext>
            </a:extLst>
          </p:cNvPr>
          <p:cNvPicPr/>
          <p:nvPr/>
        </p:nvPicPr>
        <p:blipFill>
          <a:blip r:embed="rId6" cstate="screen">
            <a:extLst>
              <a:ext uri="{28A0092B-C50C-407E-A947-70E740481C1C}">
                <a14:useLocalDpi xmlns:a14="http://schemas.microsoft.com/office/drawing/2010/main"/>
              </a:ext>
            </a:extLst>
          </a:blip>
          <a:stretch>
            <a:fillRect/>
          </a:stretch>
        </p:blipFill>
        <p:spPr>
          <a:xfrm>
            <a:off x="2312466" y="2606763"/>
            <a:ext cx="5653128" cy="3817813"/>
          </a:xfrm>
          <a:prstGeom prst="rect">
            <a:avLst/>
          </a:prstGeom>
        </p:spPr>
      </p:pic>
    </p:spTree>
    <p:extLst>
      <p:ext uri="{BB962C8B-B14F-4D97-AF65-F5344CB8AC3E}">
        <p14:creationId xmlns:p14="http://schemas.microsoft.com/office/powerpoint/2010/main" val="3902457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46</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880946" y="288870"/>
            <a:ext cx="7911422" cy="461665"/>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a:t>
            </a:r>
          </a:p>
        </p:txBody>
      </p:sp>
      <p:sp>
        <p:nvSpPr>
          <p:cNvPr id="6" name="Google Shape;278;g104476d1465_1_17">
            <a:extLst>
              <a:ext uri="{FF2B5EF4-FFF2-40B4-BE49-F238E27FC236}">
                <a16:creationId xmlns:a16="http://schemas.microsoft.com/office/drawing/2014/main" id="{6B29BDED-917F-0645-8F07-B04061D83C61}"/>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57409B2F-0F06-214D-B754-04754DFFE42F}"/>
                  </a:ext>
                </a:extLst>
              </p:cNvPr>
              <p:cNvGraphicFramePr>
                <a:graphicFrameLocks noGrp="1"/>
              </p:cNvGraphicFramePr>
              <p:nvPr>
                <p:extLst>
                  <p:ext uri="{D42A27DB-BD31-4B8C-83A1-F6EECF244321}">
                    <p14:modId xmlns:p14="http://schemas.microsoft.com/office/powerpoint/2010/main" val="2170759587"/>
                  </p:ext>
                </p:extLst>
              </p:nvPr>
            </p:nvGraphicFramePr>
            <p:xfrm>
              <a:off x="1744179" y="1061066"/>
              <a:ext cx="7380000" cy="5040000"/>
            </p:xfrm>
            <a:graphic>
              <a:graphicData uri="http://schemas.openxmlformats.org/drawingml/2006/table">
                <a:tbl>
                  <a:tblPr firstRow="1" firstCol="1" bandRow="1">
                    <a:tableStyleId>{A91F0D33-8C57-4600-99A7-42BC86742BE1}</a:tableStyleId>
                  </a:tblPr>
                  <a:tblGrid>
                    <a:gridCol w="1800000">
                      <a:extLst>
                        <a:ext uri="{9D8B030D-6E8A-4147-A177-3AD203B41FA5}">
                          <a16:colId xmlns:a16="http://schemas.microsoft.com/office/drawing/2014/main" val="2476762529"/>
                        </a:ext>
                      </a:extLst>
                    </a:gridCol>
                    <a:gridCol w="2880000">
                      <a:extLst>
                        <a:ext uri="{9D8B030D-6E8A-4147-A177-3AD203B41FA5}">
                          <a16:colId xmlns:a16="http://schemas.microsoft.com/office/drawing/2014/main" val="3564954977"/>
                        </a:ext>
                      </a:extLst>
                    </a:gridCol>
                    <a:gridCol w="2700000">
                      <a:extLst>
                        <a:ext uri="{9D8B030D-6E8A-4147-A177-3AD203B41FA5}">
                          <a16:colId xmlns:a16="http://schemas.microsoft.com/office/drawing/2014/main" val="1065779312"/>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Triangle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 of Transformation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Congruent or Similar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276200966"/>
                      </a:ext>
                    </a:extLst>
                  </a:tr>
                  <a:tr h="108000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m:t>
                                </m:r>
                                <m:r>
                                  <a:rPr lang="en-US" sz="2000">
                                    <a:effectLst/>
                                    <a:latin typeface="Cambria Math"/>
                                  </a:rPr>
                                  <m:t>𝐹𝑁𝑇</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1940041"/>
                      </a:ext>
                    </a:extLst>
                  </a:tr>
                  <a:tr h="108000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m:t>
                                </m:r>
                                <m:r>
                                  <a:rPr lang="en-US" sz="2000">
                                    <a:effectLst/>
                                    <a:latin typeface="Cambria Math"/>
                                  </a:rPr>
                                  <m:t>𝑉𝐾𝑅</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8307529"/>
                      </a:ext>
                    </a:extLst>
                  </a:tr>
                  <a:tr h="108000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m:t>
                                </m:r>
                                <m:r>
                                  <a:rPr lang="en-US" sz="2000">
                                    <a:effectLst/>
                                    <a:latin typeface="Cambria Math"/>
                                  </a:rPr>
                                  <m:t>𝑃𝑊𝑀</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5693311"/>
                      </a:ext>
                    </a:extLst>
                  </a:tr>
                  <a:tr h="108000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m:t>
                                </m:r>
                                <m:r>
                                  <a:rPr lang="en-US" sz="2000">
                                    <a:effectLst/>
                                    <a:latin typeface="Cambria Math"/>
                                  </a:rPr>
                                  <m:t>𝐷𝑆𝑌</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990658"/>
                      </a:ext>
                    </a:extLst>
                  </a:tr>
                </a:tbl>
              </a:graphicData>
            </a:graphic>
          </p:graphicFrame>
        </mc:Choice>
        <mc:Fallback>
          <p:graphicFrame>
            <p:nvGraphicFramePr>
              <p:cNvPr id="2" name="Table 1">
                <a:extLst>
                  <a:ext uri="{FF2B5EF4-FFF2-40B4-BE49-F238E27FC236}">
                    <a16:creationId xmlns:a16="http://schemas.microsoft.com/office/drawing/2014/main" id="{57409B2F-0F06-214D-B754-04754DFFE42F}"/>
                  </a:ext>
                </a:extLst>
              </p:cNvPr>
              <p:cNvGraphicFramePr>
                <a:graphicFrameLocks noGrp="1"/>
              </p:cNvGraphicFramePr>
              <p:nvPr>
                <p:extLst>
                  <p:ext uri="{D42A27DB-BD31-4B8C-83A1-F6EECF244321}">
                    <p14:modId xmlns:p14="http://schemas.microsoft.com/office/powerpoint/2010/main" val="2170759587"/>
                  </p:ext>
                </p:extLst>
              </p:nvPr>
            </p:nvGraphicFramePr>
            <p:xfrm>
              <a:off x="1744179" y="1061066"/>
              <a:ext cx="7380000" cy="5040000"/>
            </p:xfrm>
            <a:graphic>
              <a:graphicData uri="http://schemas.openxmlformats.org/drawingml/2006/table">
                <a:tbl>
                  <a:tblPr firstRow="1" firstCol="1" bandRow="1">
                    <a:tableStyleId>{A91F0D33-8C57-4600-99A7-42BC86742BE1}</a:tableStyleId>
                  </a:tblPr>
                  <a:tblGrid>
                    <a:gridCol w="1800000">
                      <a:extLst>
                        <a:ext uri="{9D8B030D-6E8A-4147-A177-3AD203B41FA5}">
                          <a16:colId xmlns:a16="http://schemas.microsoft.com/office/drawing/2014/main" val="2476762529"/>
                        </a:ext>
                      </a:extLst>
                    </a:gridCol>
                    <a:gridCol w="2880000">
                      <a:extLst>
                        <a:ext uri="{9D8B030D-6E8A-4147-A177-3AD203B41FA5}">
                          <a16:colId xmlns:a16="http://schemas.microsoft.com/office/drawing/2014/main" val="3564954977"/>
                        </a:ext>
                      </a:extLst>
                    </a:gridCol>
                    <a:gridCol w="2700000">
                      <a:extLst>
                        <a:ext uri="{9D8B030D-6E8A-4147-A177-3AD203B41FA5}">
                          <a16:colId xmlns:a16="http://schemas.microsoft.com/office/drawing/2014/main" val="1065779312"/>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Triangle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 of Transformation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Congruent or Similar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276200966"/>
                      </a:ext>
                    </a:extLst>
                  </a:tr>
                  <a:tr h="1080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39" t="-68927" r="-311186" b="-301695"/>
                          </a:stretch>
                        </a:blipFill>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1940041"/>
                      </a:ext>
                    </a:extLst>
                  </a:tr>
                  <a:tr h="1080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39" t="-167978" r="-311186" b="-200000"/>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8307529"/>
                      </a:ext>
                    </a:extLst>
                  </a:tr>
                  <a:tr h="1080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39" t="-269492" r="-311186" b="-101130"/>
                          </a:stretch>
                        </a:blipFill>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5693311"/>
                      </a:ext>
                    </a:extLst>
                  </a:tr>
                  <a:tr h="1080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39" t="-369492" r="-311186" b="-1130"/>
                          </a:stretch>
                        </a:blipFill>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990658"/>
                      </a:ext>
                    </a:extLst>
                  </a:tr>
                </a:tbl>
              </a:graphicData>
            </a:graphic>
          </p:graphicFrame>
        </mc:Fallback>
      </mc:AlternateContent>
    </p:spTree>
    <p:extLst>
      <p:ext uri="{BB962C8B-B14F-4D97-AF65-F5344CB8AC3E}">
        <p14:creationId xmlns:p14="http://schemas.microsoft.com/office/powerpoint/2010/main" val="3393813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46</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847492" y="288870"/>
            <a:ext cx="10281425" cy="5262979"/>
          </a:xfrm>
          <a:prstGeom prst="rect">
            <a:avLst/>
          </a:prstGeom>
          <a:noFill/>
        </p:spPr>
        <p:txBody>
          <a:bodyPr wrap="square" rtlCol="0">
            <a:spAutoFit/>
          </a:bodyPr>
          <a:lstStyle/>
          <a:p>
            <a:pPr marL="914400"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Use the information about the transformations to complete each statement.</a:t>
            </a: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914400" indent="-45720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endParaRPr>
          </a:p>
          <a:p>
            <a:pPr marL="914400" indent="-457200" eaLnBrk="0" fontAlgn="base" hangingPunct="0">
              <a:spcBef>
                <a:spcPct val="0"/>
              </a:spcBef>
              <a:spcAft>
                <a:spcPct val="0"/>
              </a:spcAft>
              <a:buClrTx/>
              <a:buFont typeface="+mj-lt"/>
              <a:buAutoNum type="alphaLcPeriod" startAt="3"/>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Discuss with your partner why there could be multiple answers to each statement. Summarize your discussion.</a:t>
            </a:r>
          </a:p>
        </p:txBody>
      </p:sp>
      <p:sp>
        <p:nvSpPr>
          <p:cNvPr id="6" name="Google Shape;278;g104476d1465_1_17">
            <a:extLst>
              <a:ext uri="{FF2B5EF4-FFF2-40B4-BE49-F238E27FC236}">
                <a16:creationId xmlns:a16="http://schemas.microsoft.com/office/drawing/2014/main" id="{6B29BDED-917F-0645-8F07-B04061D83C61}"/>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693D705F-06D8-8A4B-824C-2E2CAAA3277F}"/>
                  </a:ext>
                </a:extLst>
              </p:cNvPr>
              <p:cNvGraphicFramePr>
                <a:graphicFrameLocks noGrp="1"/>
              </p:cNvGraphicFramePr>
              <p:nvPr>
                <p:extLst>
                  <p:ext uri="{D42A27DB-BD31-4B8C-83A1-F6EECF244321}">
                    <p14:modId xmlns:p14="http://schemas.microsoft.com/office/powerpoint/2010/main" val="3930938968"/>
                  </p:ext>
                </p:extLst>
              </p:nvPr>
            </p:nvGraphicFramePr>
            <p:xfrm>
              <a:off x="1620883" y="1504340"/>
              <a:ext cx="6974840" cy="3119120"/>
            </p:xfrm>
            <a:graphic>
              <a:graphicData uri="http://schemas.openxmlformats.org/drawingml/2006/table">
                <a:tbl>
                  <a:tblPr firstRow="1" firstCol="1" bandRow="1">
                    <a:tableStyleId>{A91F0D33-8C57-4600-99A7-42BC86742BE1}</a:tableStyleId>
                  </a:tblPr>
                  <a:tblGrid>
                    <a:gridCol w="2324735">
                      <a:extLst>
                        <a:ext uri="{9D8B030D-6E8A-4147-A177-3AD203B41FA5}">
                          <a16:colId xmlns:a16="http://schemas.microsoft.com/office/drawing/2014/main" val="3351378122"/>
                        </a:ext>
                      </a:extLst>
                    </a:gridCol>
                    <a:gridCol w="2324735">
                      <a:extLst>
                        <a:ext uri="{9D8B030D-6E8A-4147-A177-3AD203B41FA5}">
                          <a16:colId xmlns:a16="http://schemas.microsoft.com/office/drawing/2014/main" val="1413385413"/>
                        </a:ext>
                      </a:extLst>
                    </a:gridCol>
                    <a:gridCol w="2325370">
                      <a:extLst>
                        <a:ext uri="{9D8B030D-6E8A-4147-A177-3AD203B41FA5}">
                          <a16:colId xmlns:a16="http://schemas.microsoft.com/office/drawing/2014/main" val="32782595"/>
                        </a:ext>
                      </a:extLst>
                    </a:gridCol>
                  </a:tblGrid>
                  <a:tr h="1010920">
                    <a:tc>
                      <a:txBody>
                        <a:bodyPr/>
                        <a:lstStyle/>
                        <a:p>
                          <a:pPr marL="0" marR="0" algn="ctr">
                            <a:spcBef>
                              <a:spcPts val="0"/>
                            </a:spcBef>
                            <a:spcAft>
                              <a:spcPts val="0"/>
                            </a:spcAft>
                          </a:pPr>
                          <a14:m>
                            <m:oMath xmlns:m="http://schemas.openxmlformats.org/officeDocument/2006/math">
                              <m:acc>
                                <m:accPr>
                                  <m:chr m:val="̅"/>
                                  <m:ctrlPr>
                                    <a:rPr lang="en-US" sz="2400" i="1">
                                      <a:effectLst/>
                                      <a:latin typeface="Cambria Math" panose="02040503050406030204" pitchFamily="18" charset="0"/>
                                    </a:rPr>
                                  </m:ctrlPr>
                                </m:accPr>
                                <m:e>
                                  <m:r>
                                    <a:rPr lang="en-US" sz="2400">
                                      <a:effectLst/>
                                      <a:latin typeface="Cambria Math"/>
                                    </a:rPr>
                                    <m:t>𝐿𝐻</m:t>
                                  </m:r>
                                </m:e>
                              </m:acc>
                              <m:r>
                                <a:rPr lang="en-US" sz="2400">
                                  <a:effectLst/>
                                  <a:latin typeface="Cambria Math"/>
                                </a:rPr>
                                <m:t>≅</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_____</a:t>
                          </a:r>
                        </a:p>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14:m>
                            <m:oMath xmlns:m="http://schemas.openxmlformats.org/officeDocument/2006/math">
                              <m:acc>
                                <m:accPr>
                                  <m:chr m:val="̅"/>
                                  <m:ctrlPr>
                                    <a:rPr lang="en-US" sz="2400" i="1">
                                      <a:effectLst/>
                                      <a:latin typeface="Cambria Math" panose="02040503050406030204" pitchFamily="18" charset="0"/>
                                    </a:rPr>
                                  </m:ctrlPr>
                                </m:accPr>
                                <m:e>
                                  <m:r>
                                    <a:rPr lang="en-US" sz="2400">
                                      <a:effectLst/>
                                      <a:latin typeface="Cambria Math"/>
                                    </a:rPr>
                                    <m:t>𝑇𝑁</m:t>
                                  </m:r>
                                </m:e>
                              </m:acc>
                              <m:r>
                                <a:rPr lang="en-US" sz="2400">
                                  <a:effectLst/>
                                  <a:latin typeface="Cambria Math"/>
                                </a:rPr>
                                <m:t>≅</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_____</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14:m>
                            <m:oMath xmlns:m="http://schemas.openxmlformats.org/officeDocument/2006/math">
                              <m:acc>
                                <m:accPr>
                                  <m:chr m:val="̅"/>
                                  <m:ctrlPr>
                                    <a:rPr lang="en-US" sz="2400" i="1">
                                      <a:effectLst/>
                                      <a:latin typeface="Cambria Math" panose="02040503050406030204" pitchFamily="18" charset="0"/>
                                    </a:rPr>
                                  </m:ctrlPr>
                                </m:accPr>
                                <m:e>
                                  <m:r>
                                    <a:rPr lang="en-US" sz="2400">
                                      <a:effectLst/>
                                      <a:latin typeface="Cambria Math"/>
                                    </a:rPr>
                                    <m:t>𝑌𝑆</m:t>
                                  </m:r>
                                  <m:r>
                                    <a:rPr lang="en-US" sz="2400">
                                      <a:effectLst/>
                                      <a:latin typeface="Cambria Math"/>
                                    </a:rPr>
                                    <m:t> </m:t>
                                  </m:r>
                                </m:e>
                              </m:acc>
                              <m:r>
                                <a:rPr lang="en-US" sz="2400">
                                  <a:effectLst/>
                                  <a:latin typeface="Cambria Math"/>
                                </a:rPr>
                                <m:t>~</m:t>
                              </m:r>
                            </m:oMath>
                          </a14:m>
                          <a:r>
                            <a:rPr lang="en-US" sz="2400">
                              <a:effectLst/>
                              <a:latin typeface="Verdana" panose="020B0604030504040204" pitchFamily="34" charset="0"/>
                              <a:ea typeface="Verdana" panose="020B0604030504040204" pitchFamily="34" charset="0"/>
                              <a:cs typeface="Verdana" panose="020B0604030504040204" pitchFamily="34" charset="0"/>
                            </a:rPr>
                            <a:t> _____</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471463995"/>
                      </a:ext>
                    </a:extLst>
                  </a:tr>
                  <a:tr h="1010920">
                    <a:tc>
                      <a:txBody>
                        <a:bodyPr/>
                        <a:lstStyle/>
                        <a:p>
                          <a:pPr marL="0" marR="0" algn="ctr">
                            <a:spcBef>
                              <a:spcPts val="0"/>
                            </a:spcBef>
                            <a:spcAft>
                              <a:spcPts val="0"/>
                            </a:spcAft>
                          </a:pPr>
                          <a14:m>
                            <m:oMath xmlns:m="http://schemas.openxmlformats.org/officeDocument/2006/math">
                              <m:r>
                                <a:rPr lang="en-US" sz="2400">
                                  <a:effectLst/>
                                  <a:latin typeface="Cambria Math"/>
                                </a:rPr>
                                <m:t>∠</m:t>
                              </m:r>
                              <m:r>
                                <a:rPr lang="en-US" sz="2400">
                                  <a:effectLst/>
                                  <a:latin typeface="Cambria Math"/>
                                </a:rPr>
                                <m:t>𝐷𝑌𝑆</m:t>
                              </m:r>
                              <m:r>
                                <a:rPr lang="en-US" sz="2400">
                                  <a:effectLst/>
                                  <a:latin typeface="Cambria Math"/>
                                </a:rPr>
                                <m:t>≅</m:t>
                              </m:r>
                            </m:oMath>
                          </a14:m>
                          <a:r>
                            <a:rPr lang="en-US" sz="2400">
                              <a:effectLst/>
                              <a:latin typeface="Verdana" panose="020B0604030504040204" pitchFamily="34" charset="0"/>
                              <a:ea typeface="Verdana" panose="020B0604030504040204" pitchFamily="34" charset="0"/>
                              <a:cs typeface="Verdana" panose="020B0604030504040204" pitchFamily="34" charset="0"/>
                            </a:rPr>
                            <a:t> _____</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14:m>
                            <m:oMath xmlns:m="http://schemas.openxmlformats.org/officeDocument/2006/math">
                              <m:acc>
                                <m:accPr>
                                  <m:chr m:val="̅"/>
                                  <m:ctrlPr>
                                    <a:rPr lang="en-US" sz="2400" i="1">
                                      <a:effectLst/>
                                      <a:latin typeface="Cambria Math" panose="02040503050406030204" pitchFamily="18" charset="0"/>
                                    </a:rPr>
                                  </m:ctrlPr>
                                </m:accPr>
                                <m:e>
                                  <m:r>
                                    <a:rPr lang="en-US" sz="2400">
                                      <a:effectLst/>
                                      <a:latin typeface="Cambria Math"/>
                                    </a:rPr>
                                    <m:t>𝑀𝑃</m:t>
                                  </m:r>
                                </m:e>
                              </m:acc>
                              <m:r>
                                <a:rPr lang="en-US" sz="2400">
                                  <a:effectLst/>
                                  <a:latin typeface="Cambria Math"/>
                                </a:rPr>
                                <m:t> ~</m:t>
                              </m:r>
                            </m:oMath>
                          </a14:m>
                          <a:r>
                            <a:rPr lang="en-US" sz="2400">
                              <a:effectLst/>
                              <a:latin typeface="Verdana" panose="020B0604030504040204" pitchFamily="34" charset="0"/>
                              <a:ea typeface="Verdana" panose="020B0604030504040204" pitchFamily="34" charset="0"/>
                              <a:cs typeface="Verdana" panose="020B0604030504040204" pitchFamily="34" charset="0"/>
                            </a:rPr>
                            <a:t> _____</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_____</a:t>
                          </a:r>
                          <a14:m>
                            <m:oMath xmlns:m="http://schemas.openxmlformats.org/officeDocument/2006/math">
                              <m:r>
                                <a:rPr lang="en-US" sz="2400">
                                  <a:effectLst/>
                                  <a:latin typeface="Cambria Math"/>
                                </a:rPr>
                                <m:t>≅</m:t>
                              </m:r>
                            </m:oMath>
                          </a14:m>
                          <a:r>
                            <a:rPr lang="en-US" sz="240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acc>
                                <m:accPr>
                                  <m:chr m:val="̅"/>
                                  <m:ctrlPr>
                                    <a:rPr lang="en-US" sz="2400" i="1">
                                      <a:effectLst/>
                                      <a:latin typeface="Cambria Math" panose="02040503050406030204" pitchFamily="18" charset="0"/>
                                    </a:rPr>
                                  </m:ctrlPr>
                                </m:accPr>
                                <m:e>
                                  <m:r>
                                    <a:rPr lang="en-US" sz="2400">
                                      <a:effectLst/>
                                      <a:latin typeface="Cambria Math"/>
                                    </a:rPr>
                                    <m:t>𝐿𝐻</m:t>
                                  </m:r>
                                </m:e>
                              </m:acc>
                            </m:oMath>
                          </a14:m>
                          <a:endParaRPr lang="en-US"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226858447"/>
                      </a:ext>
                    </a:extLst>
                  </a:tr>
                  <a:tr h="1010920">
                    <a:tc>
                      <a:txBody>
                        <a:bodyPr/>
                        <a:lstStyle/>
                        <a:p>
                          <a:pPr marL="0" marR="0" algn="ctr">
                            <a:spcBef>
                              <a:spcPts val="0"/>
                            </a:spcBef>
                            <a:spcAft>
                              <a:spcPts val="0"/>
                            </a:spcAft>
                          </a:pPr>
                          <a14:m>
                            <m:oMath xmlns:m="http://schemas.openxmlformats.org/officeDocument/2006/math">
                              <m:acc>
                                <m:accPr>
                                  <m:chr m:val="̅"/>
                                  <m:ctrlPr>
                                    <a:rPr lang="en-US" sz="2400" i="1">
                                      <a:effectLst/>
                                      <a:latin typeface="Cambria Math" panose="02040503050406030204" pitchFamily="18" charset="0"/>
                                    </a:rPr>
                                  </m:ctrlPr>
                                </m:accPr>
                                <m:e>
                                  <m:r>
                                    <a:rPr lang="en-US" sz="2400">
                                      <a:effectLst/>
                                      <a:latin typeface="Cambria Math"/>
                                    </a:rPr>
                                    <m:t>𝑃𝑊</m:t>
                                  </m:r>
                                </m:e>
                              </m:acc>
                              <m:r>
                                <a:rPr lang="en-US" sz="2400">
                                  <a:effectLst/>
                                  <a:latin typeface="Cambria Math"/>
                                </a:rPr>
                                <m:t>≅</m:t>
                              </m:r>
                            </m:oMath>
                          </a14:m>
                          <a:r>
                            <a:rPr lang="en-US" sz="2400">
                              <a:effectLst/>
                              <a:latin typeface="Verdana" panose="020B0604030504040204" pitchFamily="34" charset="0"/>
                              <a:ea typeface="Verdana" panose="020B0604030504040204" pitchFamily="34" charset="0"/>
                              <a:cs typeface="Verdana" panose="020B0604030504040204" pitchFamily="34" charset="0"/>
                            </a:rPr>
                            <a:t> _____</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_____</a:t>
                          </a:r>
                          <a14:m>
                            <m:oMath xmlns:m="http://schemas.openxmlformats.org/officeDocument/2006/math">
                              <m:r>
                                <a:rPr lang="en-US" sz="2400">
                                  <a:effectLst/>
                                  <a:latin typeface="Cambria Math"/>
                                </a:rPr>
                                <m:t>≅</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effectLst/>
                                  <a:latin typeface="Cambria Math"/>
                                </a:rPr>
                                <m:t>∠</m:t>
                              </m:r>
                              <m:r>
                                <a:rPr lang="en-US" sz="2400">
                                  <a:effectLst/>
                                  <a:latin typeface="Cambria Math"/>
                                </a:rPr>
                                <m:t>𝐿𝐻𝐵</m:t>
                              </m:r>
                            </m:oMath>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14:m>
                            <m:oMath xmlns:m="http://schemas.openxmlformats.org/officeDocument/2006/math">
                              <m:r>
                                <a:rPr lang="en-US" sz="2400">
                                  <a:effectLst/>
                                  <a:latin typeface="Cambria Math"/>
                                </a:rPr>
                                <m:t>∠</m:t>
                              </m:r>
                              <m:r>
                                <a:rPr lang="en-US" sz="2400">
                                  <a:effectLst/>
                                  <a:latin typeface="Cambria Math"/>
                                </a:rPr>
                                <m:t>𝑉𝐾𝑅</m:t>
                              </m:r>
                              <m:r>
                                <a:rPr lang="en-US" sz="2400">
                                  <a:effectLst/>
                                  <a:latin typeface="Cambria Math"/>
                                </a:rPr>
                                <m:t>≅</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_____</a:t>
                          </a:r>
                        </a:p>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722947675"/>
                      </a:ext>
                    </a:extLst>
                  </a:tr>
                </a:tbl>
              </a:graphicData>
            </a:graphic>
          </p:graphicFrame>
        </mc:Choice>
        <mc:Fallback>
          <p:graphicFrame>
            <p:nvGraphicFramePr>
              <p:cNvPr id="2" name="Table 1">
                <a:extLst>
                  <a:ext uri="{FF2B5EF4-FFF2-40B4-BE49-F238E27FC236}">
                    <a16:creationId xmlns:a16="http://schemas.microsoft.com/office/drawing/2014/main" id="{693D705F-06D8-8A4B-824C-2E2CAAA3277F}"/>
                  </a:ext>
                </a:extLst>
              </p:cNvPr>
              <p:cNvGraphicFramePr>
                <a:graphicFrameLocks noGrp="1"/>
              </p:cNvGraphicFramePr>
              <p:nvPr>
                <p:extLst>
                  <p:ext uri="{D42A27DB-BD31-4B8C-83A1-F6EECF244321}">
                    <p14:modId xmlns:p14="http://schemas.microsoft.com/office/powerpoint/2010/main" val="3930938968"/>
                  </p:ext>
                </p:extLst>
              </p:nvPr>
            </p:nvGraphicFramePr>
            <p:xfrm>
              <a:off x="1620883" y="1504340"/>
              <a:ext cx="6974840" cy="3119120"/>
            </p:xfrm>
            <a:graphic>
              <a:graphicData uri="http://schemas.openxmlformats.org/drawingml/2006/table">
                <a:tbl>
                  <a:tblPr firstRow="1" firstCol="1" bandRow="1">
                    <a:tableStyleId>{A91F0D33-8C57-4600-99A7-42BC86742BE1}</a:tableStyleId>
                  </a:tblPr>
                  <a:tblGrid>
                    <a:gridCol w="2324735">
                      <a:extLst>
                        <a:ext uri="{9D8B030D-6E8A-4147-A177-3AD203B41FA5}">
                          <a16:colId xmlns:a16="http://schemas.microsoft.com/office/drawing/2014/main" val="3351378122"/>
                        </a:ext>
                      </a:extLst>
                    </a:gridCol>
                    <a:gridCol w="2324735">
                      <a:extLst>
                        <a:ext uri="{9D8B030D-6E8A-4147-A177-3AD203B41FA5}">
                          <a16:colId xmlns:a16="http://schemas.microsoft.com/office/drawing/2014/main" val="1413385413"/>
                        </a:ext>
                      </a:extLst>
                    </a:gridCol>
                    <a:gridCol w="2325370">
                      <a:extLst>
                        <a:ext uri="{9D8B030D-6E8A-4147-A177-3AD203B41FA5}">
                          <a16:colId xmlns:a16="http://schemas.microsoft.com/office/drawing/2014/main" val="32782595"/>
                        </a:ext>
                      </a:extLst>
                    </a:gridCol>
                  </a:tblGrid>
                  <a:tr h="1010920">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9639" r="-200000" b="-209036"/>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0000" t="-9639" r="-100000" b="-209036"/>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0000" t="-9639" b="-209036"/>
                          </a:stretch>
                        </a:blipFill>
                      </a:tcPr>
                    </a:tc>
                    <a:extLst>
                      <a:ext uri="{0D108BD9-81ED-4DB2-BD59-A6C34878D82A}">
                        <a16:rowId xmlns:a16="http://schemas.microsoft.com/office/drawing/2014/main" val="2471463995"/>
                      </a:ext>
                    </a:extLst>
                  </a:tr>
                  <a:tr h="1010920">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08982" r="-200000" b="-107784"/>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0000" t="-108982" r="-100000" b="-107784"/>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0000" t="-108982" b="-107784"/>
                          </a:stretch>
                        </a:blipFill>
                      </a:tcPr>
                    </a:tc>
                    <a:extLst>
                      <a:ext uri="{0D108BD9-81ED-4DB2-BD59-A6C34878D82A}">
                        <a16:rowId xmlns:a16="http://schemas.microsoft.com/office/drawing/2014/main" val="1226858447"/>
                      </a:ext>
                    </a:extLst>
                  </a:tr>
                  <a:tr h="1097280">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93889" r="-200000"/>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0000" t="-193889" r="-100000"/>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0000" t="-193889"/>
                          </a:stretch>
                        </a:blipFill>
                      </a:tcPr>
                    </a:tc>
                    <a:extLst>
                      <a:ext uri="{0D108BD9-81ED-4DB2-BD59-A6C34878D82A}">
                        <a16:rowId xmlns:a16="http://schemas.microsoft.com/office/drawing/2014/main" val="3722947675"/>
                      </a:ext>
                    </a:extLst>
                  </a:tr>
                </a:tbl>
              </a:graphicData>
            </a:graphic>
          </p:graphicFrame>
        </mc:Fallback>
      </mc:AlternateContent>
    </p:spTree>
    <p:extLst>
      <p:ext uri="{BB962C8B-B14F-4D97-AF65-F5344CB8AC3E}">
        <p14:creationId xmlns:p14="http://schemas.microsoft.com/office/powerpoint/2010/main" val="15714952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47</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47</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38506" y="83255"/>
            <a:ext cx="9422782" cy="7016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3F2A67"/>
                </a:solidFill>
                <a:latin typeface="Verdana"/>
                <a:ea typeface="Verdana"/>
                <a:cs typeface="Verdana"/>
                <a:sym typeface="Verdana"/>
              </a:rPr>
              <a:t>1.7.6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593248" y="8325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825190" y="1207731"/>
            <a:ext cx="9710882" cy="3939540"/>
          </a:xfrm>
          <a:prstGeom prst="rect">
            <a:avLst/>
          </a:prstGeom>
          <a:noFill/>
        </p:spPr>
        <p:txBody>
          <a:bodyPr wrap="square" rtlCol="0">
            <a:spAutoFit/>
          </a:bodyPr>
          <a:lstStyle/>
          <a:p>
            <a:pPr>
              <a:spcAft>
                <a:spcPts val="1200"/>
              </a:spcAft>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 about today’s lesson.</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Something I learned today …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I didn’t know …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One question I still have …</a:t>
            </a:r>
          </a:p>
        </p:txBody>
      </p:sp>
      <p:sp>
        <p:nvSpPr>
          <p:cNvPr id="8" name="Google Shape;278;g104476d1465_1_17">
            <a:extLst>
              <a:ext uri="{FF2B5EF4-FFF2-40B4-BE49-F238E27FC236}">
                <a16:creationId xmlns:a16="http://schemas.microsoft.com/office/drawing/2014/main" id="{055A48D7-DC81-5F4D-9632-5F42A5D9EE47}"/>
              </a:ext>
            </a:extLst>
          </p:cNvPr>
          <p:cNvSpPr/>
          <p:nvPr/>
        </p:nvSpPr>
        <p:spPr>
          <a:xfrm>
            <a:off x="0" y="-8101"/>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1439</TotalTime>
  <Words>1498</Words>
  <Application>Microsoft Office PowerPoint</Application>
  <PresentationFormat>Widescreen</PresentationFormat>
  <Paragraphs>263</Paragraphs>
  <Slides>27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Cambria</vt:lpstr>
      <vt:lpstr>Verdana</vt:lpstr>
      <vt:lpstr>Wingdings</vt:lpstr>
      <vt:lpstr>Century Gothic</vt:lpstr>
      <vt:lpstr>Calibri</vt:lpstr>
      <vt:lpstr>Arial Black</vt:lpstr>
      <vt:lpstr>Cambria Math</vt:lpstr>
      <vt:lpstr>Courier New</vt:lpstr>
      <vt:lpstr>Arial</vt:lpstr>
      <vt:lpstr>1_Office Theme</vt:lpstr>
      <vt:lpstr>Geometry  Unit 1, Lesson 7  Congruence and Similarity  Volume 1, pg. 40  </vt:lpstr>
      <vt:lpstr>Benchmarks</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Bring It Together</vt:lpstr>
      <vt:lpstr>PowerPoint Presentation</vt:lpstr>
      <vt:lpstr>PowerPoint Presentation</vt:lpstr>
      <vt:lpstr>Guided Instruction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31</cp:revision>
  <dcterms:created xsi:type="dcterms:W3CDTF">2015-03-17T18:51:18Z</dcterms:created>
  <dcterms:modified xsi:type="dcterms:W3CDTF">2022-07-02T15:23:09Z</dcterms:modified>
</cp:coreProperties>
</file>