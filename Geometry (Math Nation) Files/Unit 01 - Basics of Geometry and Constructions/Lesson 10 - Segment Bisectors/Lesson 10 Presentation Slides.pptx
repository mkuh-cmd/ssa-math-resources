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13" r:id="rId11"/>
    <p:sldId id="326" r:id="rId12"/>
    <p:sldId id="331" r:id="rId13"/>
    <p:sldId id="330" r:id="rId14"/>
    <p:sldId id="328" r:id="rId15"/>
    <p:sldId id="289" r:id="rId16"/>
    <p:sldId id="290" r:id="rId17"/>
    <p:sldId id="308" r:id="rId18"/>
    <p:sldId id="323" r:id="rId19"/>
    <p:sldId id="324" r:id="rId20"/>
    <p:sldId id="302" r:id="rId21"/>
    <p:sldId id="303" r:id="rId22"/>
    <p:sldId id="306" r:id="rId23"/>
    <p:sldId id="307" r:id="rId24"/>
    <p:sldId id="309" r:id="rId25"/>
  </p:sldIdLst>
  <p:sldSz cx="12192000" cy="6858000"/>
  <p:notesSz cx="6858000" cy="9144000"/>
  <p:embeddedFontLst>
    <p:embeddedFont>
      <p:font typeface="Arial Black" panose="020B06040202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56" autoAdjust="0"/>
    <p:restoredTop sz="95374" autoAdjust="0"/>
  </p:normalViewPr>
  <p:slideViewPr>
    <p:cSldViewPr snapToGrid="0">
      <p:cViewPr varScale="1">
        <p:scale>
          <a:sx n="116" d="100"/>
          <a:sy n="116" d="100"/>
        </p:scale>
        <p:origin x="200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39325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4195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4195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4195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8363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https://ponte516arouca.com/wp-content/uploads/2020/09/ponte_516_arouca_1-1240x743.jp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10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Segment Bisectors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</a:t>
            </a: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693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99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102200" y="1338942"/>
            <a:ext cx="95974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MA.912.GR.1.1</a:t>
            </a:r>
          </a:p>
          <a:p>
            <a:pPr marL="466725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lines and angles. Solve mathematical and real-world problems involving postulates, relationships, and theorems of lines and angles.</a:t>
            </a:r>
          </a:p>
          <a:p>
            <a:pPr marL="0" indent="0">
              <a:buSzPts val="1100"/>
              <a:buNone/>
            </a:pPr>
            <a:endParaRPr lang="en-US" sz="35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35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.912.GR.5.2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 the bisector of a segment or an angle, including the perpendicular bisector of a line segment.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78" y="16804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1678" y="83126"/>
            <a:ext cx="10207382" cy="1121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65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21678" y="1406384"/>
            <a:ext cx="958986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9996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8923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102200" y="1398320"/>
            <a:ext cx="956184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86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construct the bisector of a segment.</a:t>
            </a:r>
          </a:p>
          <a:p>
            <a:pPr lvl="0"/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628650" indent="-6286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use the definition of a midpoint to solve problems.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3498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696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631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09;g104476d1465_1_39">
            <a:extLst>
              <a:ext uri="{FF2B5EF4-FFF2-40B4-BE49-F238E27FC236}">
                <a16:creationId xmlns:a16="http://schemas.microsoft.com/office/drawing/2014/main" id="{0098BC85-020E-7FDD-1F4F-68A8809A5E7C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02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148" y="0"/>
            <a:ext cx="10295906" cy="128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1.10.1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049" y="26956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024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55023" y="1386026"/>
                <a:ext cx="1029590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May 2021, the world’s longest suspended pedestrian bridge opened in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Arouca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Portugal. The bridge runs over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1700 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feet across a canyon, nearly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above the Paiva River.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1386026"/>
                <a:ext cx="10295907" cy="1200329"/>
              </a:xfrm>
              <a:prstGeom prst="rect">
                <a:avLst/>
              </a:prstGeom>
              <a:blipFill>
                <a:blip r:embed="rId5"/>
                <a:stretch>
                  <a:fillRect l="-863" t="-3125" r="-2096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713EB7-F29B-E847-8D17-7C6CB9FD6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0051" y="2389844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A picture containing tree, outdoor&#10;&#10;Description automatically generated">
            <a:extLst>
              <a:ext uri="{FF2B5EF4-FFF2-40B4-BE49-F238E27FC236}">
                <a16:creationId xmlns:a16="http://schemas.microsoft.com/office/drawing/2014/main" id="{52F3A693-D9BA-D74F-843E-5FF71BC85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27530" y="2697621"/>
            <a:ext cx="63119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44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7" y="520393"/>
            <a:ext cx="94917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3498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44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309;g104476d1465_1_39">
            <a:extLst>
              <a:ext uri="{FF2B5EF4-FFF2-40B4-BE49-F238E27FC236}">
                <a16:creationId xmlns:a16="http://schemas.microsoft.com/office/drawing/2014/main" id="{D705B01F-99EB-295F-D22A-107D4A2C4435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C2163EA1-D0B6-B04A-B312-9B30DA79DAA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03550" y="2148365"/>
            <a:ext cx="6946900" cy="666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843148" y="1257235"/>
                <a:ext cx="10295907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following. </a:t>
                </a:r>
              </a:p>
              <a:p>
                <a:pPr marL="914400" indent="-457200">
                  <a:spcAft>
                    <a:spcPts val="6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Copy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onto patty paper.</a:t>
                </a:r>
              </a:p>
              <a:p>
                <a:pPr marL="914400" indent="-457200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Follow the steps on the copy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123444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Fold the copy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is on patty paper so the endpoints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align. </a:t>
                </a:r>
              </a:p>
              <a:p>
                <a:pPr marL="123444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the paper folds. </a:t>
                </a:r>
              </a:p>
              <a:p>
                <a:pPr marL="123444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Copy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above.</a:t>
                </a:r>
              </a:p>
              <a:p>
                <a:pPr marL="123444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line, a line segment, or a ray through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notice about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𝑇𝑀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257235"/>
                <a:ext cx="10295907" cy="5386090"/>
              </a:xfrm>
              <a:prstGeom prst="rect">
                <a:avLst/>
              </a:prstGeom>
              <a:blipFill>
                <a:blip r:embed="rId4"/>
                <a:stretch>
                  <a:fillRect l="-888" t="-905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5038" y="24853"/>
            <a:ext cx="1020311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1.10.2 Exploration: Segment Bisector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880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1177" y="264917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77FDFF9E-9668-7F40-B604-2436455445A7}"/>
              </a:ext>
            </a:extLst>
          </p:cNvPr>
          <p:cNvSpPr/>
          <p:nvPr/>
        </p:nvSpPr>
        <p:spPr>
          <a:xfrm>
            <a:off x="0" y="3498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3CCEE-7350-C944-9F3B-C7518CB484D3}"/>
              </a:ext>
            </a:extLst>
          </p:cNvPr>
          <p:cNvGrpSpPr/>
          <p:nvPr/>
        </p:nvGrpSpPr>
        <p:grpSpPr>
          <a:xfrm>
            <a:off x="2781300" y="2901951"/>
            <a:ext cx="6629400" cy="1054080"/>
            <a:chOff x="2031300" y="3252877"/>
            <a:chExt cx="6629400" cy="105422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0E6042-BDEB-CF40-BB2E-0AA35DD5DFED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D069D95-F05F-F846-BB81-29CAD032FC5E}"/>
                </a:ext>
              </a:extLst>
            </p:cNvPr>
            <p:cNvGrpSpPr/>
            <p:nvPr/>
          </p:nvGrpSpPr>
          <p:grpSpPr>
            <a:xfrm>
              <a:off x="2031300" y="3252877"/>
              <a:ext cx="6629400" cy="1054225"/>
              <a:chOff x="2031300" y="3252877"/>
              <a:chExt cx="6629400" cy="105422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86F204E-D9B8-F046-A423-BD250B55C5E2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4E2C05F-07FD-0F43-88CA-010A04B0734E}"/>
                  </a:ext>
                </a:extLst>
              </p:cNvPr>
              <p:cNvGrpSpPr/>
              <p:nvPr/>
            </p:nvGrpSpPr>
            <p:grpSpPr>
              <a:xfrm>
                <a:off x="2031300" y="3252877"/>
                <a:ext cx="6629400" cy="1054225"/>
                <a:chOff x="2031300" y="3252877"/>
                <a:chExt cx="6629400" cy="1054225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C64719E-23FB-DD42-9BCB-E92B05E10EA5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52D6A324-5E44-7145-A93B-C345A983B403}"/>
                    </a:ext>
                  </a:extLst>
                </p:cNvPr>
                <p:cNvGrpSpPr/>
                <p:nvPr/>
              </p:nvGrpSpPr>
              <p:grpSpPr>
                <a:xfrm>
                  <a:off x="2031300" y="3252877"/>
                  <a:ext cx="6629400" cy="1054225"/>
                  <a:chOff x="2031300" y="3252877"/>
                  <a:chExt cx="6629400" cy="1054225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44768D9F-7B69-784F-B98A-FD0C41DE7F7C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2448E727-CFCD-3A40-8868-CEFFD6DD9441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3252877"/>
                    <a:ext cx="6629400" cy="1054225"/>
                    <a:chOff x="2031300" y="3252877"/>
                    <a:chExt cx="6629400" cy="1054225"/>
                  </a:xfrm>
                </p:grpSpPr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194864F1-B368-9D40-92D8-A966FA991A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3A4F8D3A-D810-AE4D-87D6-C437EE0B7F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3252879"/>
                      <a:ext cx="6629400" cy="1054222"/>
                      <a:chOff x="2031300" y="3262288"/>
                      <a:chExt cx="6629400" cy="1035400"/>
                    </a:xfrm>
                  </p:grpSpPr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:a16="http://schemas.microsoft.com/office/drawing/2014/main" id="{DB209448-D253-F641-96A6-CBABEEACF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45A97355-32B1-4F43-8F6E-E66931C517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3262288"/>
                        <a:ext cx="6629400" cy="1035400"/>
                        <a:chOff x="2031300" y="3373600"/>
                        <a:chExt cx="6629400" cy="1035400"/>
                      </a:xfrm>
                    </p:grpSpPr>
                    <p:sp>
                      <p:nvSpPr>
                        <p:cNvPr id="25" name="Rectangle 24">
                          <a:extLst>
                            <a:ext uri="{FF2B5EF4-FFF2-40B4-BE49-F238E27FC236}">
                              <a16:creationId xmlns:a16="http://schemas.microsoft.com/office/drawing/2014/main" id="{31A4BDE0-6098-D94B-BF72-B7488D1756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6" name="Group 25">
                          <a:extLst>
                            <a:ext uri="{FF2B5EF4-FFF2-40B4-BE49-F238E27FC236}">
                              <a16:creationId xmlns:a16="http://schemas.microsoft.com/office/drawing/2014/main" id="{D8560FD9-0EE1-454D-AB5F-43E39BB0211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31300" y="3373600"/>
                          <a:ext cx="6629400" cy="812800"/>
                          <a:chOff x="2031300" y="3373600"/>
                          <a:chExt cx="6629400" cy="812800"/>
                        </a:xfrm>
                      </p:grpSpPr>
                      <p:sp>
                        <p:nvSpPr>
                          <p:cNvPr id="27" name="Rectangle 26">
                            <a:extLst>
                              <a:ext uri="{FF2B5EF4-FFF2-40B4-BE49-F238E27FC236}">
                                <a16:creationId xmlns:a16="http://schemas.microsoft.com/office/drawing/2014/main" id="{97D17F3F-2490-0147-926E-A8C71D2CFB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sp>
                        <p:nvSpPr>
                          <p:cNvPr id="29" name="Rectangle 28">
                            <a:extLst>
                              <a:ext uri="{FF2B5EF4-FFF2-40B4-BE49-F238E27FC236}">
                                <a16:creationId xmlns:a16="http://schemas.microsoft.com/office/drawing/2014/main" id="{51243A20-9C5C-5E43-A539-825DD3F917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</p:grpSp>
                  </p:grpSp>
                </p:grp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843148" y="2234914"/>
                <a:ext cx="1030778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𝑊𝑋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where point P is the midpoint.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033463" indent="-4635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transformations can be used to show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𝑊𝑃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maps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𝑃𝑋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2234914"/>
                <a:ext cx="10307782" cy="2308324"/>
              </a:xfrm>
              <a:prstGeom prst="rect">
                <a:avLst/>
              </a:prstGeom>
              <a:blipFill>
                <a:blip r:embed="rId4"/>
                <a:stretch>
                  <a:fillRect l="-887" t="-2381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63DBFF-3EEF-9E42-86A3-0F3B456C7C85}"/>
              </a:ext>
            </a:extLst>
          </p:cNvPr>
          <p:cNvPicPr/>
          <p:nvPr/>
        </p:nvPicPr>
        <p:blipFill rotWithShape="1">
          <a:blip r:embed="rId5"/>
          <a:srcRect t="20567" b="20140"/>
          <a:stretch/>
        </p:blipFill>
        <p:spPr>
          <a:xfrm>
            <a:off x="2988323" y="3069988"/>
            <a:ext cx="4925060" cy="638175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6CBC027-FAA5-4247-A9C9-F98BA16351B5}"/>
              </a:ext>
            </a:extLst>
          </p:cNvPr>
          <p:cNvSpPr/>
          <p:nvPr/>
        </p:nvSpPr>
        <p:spPr>
          <a:xfrm>
            <a:off x="2610975" y="518568"/>
            <a:ext cx="6629400" cy="1061239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>
              <a:spcAft>
                <a:spcPts val="1000"/>
              </a:spcAft>
            </a:pPr>
            <a:r>
              <a:rPr lang="en-US" sz="24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4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midpoint</a:t>
            </a:r>
            <a:r>
              <a:rPr lang="en-US" sz="24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a segment divides it into two congruent segments.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55023" y="564093"/>
            <a:ext cx="102840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classmates which transformations they selected. Record their transformation and write your summary of their reason. </a:t>
            </a:r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C6B9DA3-F042-FA45-98F1-2BB1BD7D0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611694"/>
              </p:ext>
            </p:extLst>
          </p:nvPr>
        </p:nvGraphicFramePr>
        <p:xfrm>
          <a:off x="2396925" y="2976297"/>
          <a:ext cx="7057500" cy="356116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328912418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826889602"/>
                    </a:ext>
                  </a:extLst>
                </a:gridCol>
                <a:gridCol w="1205340">
                  <a:extLst>
                    <a:ext uri="{9D8B030D-6E8A-4147-A177-3AD203B41FA5}">
                      <a16:colId xmlns:a16="http://schemas.microsoft.com/office/drawing/2014/main" val="2669754505"/>
                    </a:ext>
                  </a:extLst>
                </a:gridCol>
              </a:tblGrid>
              <a:tr h="817965"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Their Reason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498728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55338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1763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422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180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877825" y="374089"/>
                <a:ext cx="10253472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2000"/>
                  </a:spcAf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2000"/>
                  </a:spcAf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2000"/>
                  </a:spcAft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𝐻𝐿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where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midpoint.</a:t>
                </a:r>
              </a:p>
              <a:p>
                <a:pPr marL="974725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each description to draw a segment bisector for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𝐻𝐿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5" y="374089"/>
                <a:ext cx="10253472" cy="2339102"/>
              </a:xfrm>
              <a:prstGeom prst="rect">
                <a:avLst/>
              </a:prstGeom>
              <a:blipFill>
                <a:blip r:embed="rId4"/>
                <a:stretch>
                  <a:fillRect l="-892"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1AAAA11C-9416-3140-8CF5-F1332EAC90E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1939" y="3082772"/>
            <a:ext cx="3447472" cy="2441067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BF7FD0D-908F-AD42-9E0B-2DD88C45A31F}"/>
              </a:ext>
            </a:extLst>
          </p:cNvPr>
          <p:cNvSpPr/>
          <p:nvPr/>
        </p:nvSpPr>
        <p:spPr>
          <a:xfrm>
            <a:off x="2007765" y="305986"/>
            <a:ext cx="8327136" cy="1061239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14300">
              <a:spcAft>
                <a:spcPts val="1000"/>
              </a:spcAft>
            </a:pPr>
            <a:r>
              <a:rPr lang="en-US" sz="24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4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segment</a:t>
            </a:r>
            <a:r>
              <a:rPr lang="en-US" sz="24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bisector</a:t>
            </a:r>
            <a:r>
              <a:rPr lang="en-US" sz="2400" b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  <a:r>
              <a:rPr lang="en-US" sz="2400" b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400" b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line, ray, or line segment that cuts a line segment into two equal parts.</a:t>
            </a:r>
            <a:endParaRPr lang="en-US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247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73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832339" y="374089"/>
                <a:ext cx="10316308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your drawings with your partner.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definition of a segment bisector, discuss with your partner if all of the segment bisectors have to be at the same angle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𝐻𝐿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Summarize your discussion.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39" y="374089"/>
                <a:ext cx="10316308" cy="5262979"/>
              </a:xfrm>
              <a:prstGeom prst="rect">
                <a:avLst/>
              </a:prstGeom>
              <a:blipFill>
                <a:blip r:embed="rId4"/>
                <a:stretch>
                  <a:fillRect b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3498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04E6ED37-70AA-9047-8DBF-94970E90B52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7731" y="564512"/>
            <a:ext cx="3538825" cy="2441067"/>
          </a:xfrm>
          <a:prstGeom prst="rect">
            <a:avLst/>
          </a:prstGeom>
        </p:spPr>
      </p:pic>
      <p:pic>
        <p:nvPicPr>
          <p:cNvPr id="27" name="Picture 26" descr="Chart, line chart&#10;&#10;Description automatically generated">
            <a:extLst>
              <a:ext uri="{FF2B5EF4-FFF2-40B4-BE49-F238E27FC236}">
                <a16:creationId xmlns:a16="http://schemas.microsoft.com/office/drawing/2014/main" id="{801EF11D-641D-5B40-9793-0981C8FE3CD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5406" y="564513"/>
            <a:ext cx="3423186" cy="244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31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10841DC-9DFF-6C41-BAC1-867245648D91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83" t="7026" r="6948" b="14401"/>
          <a:stretch/>
        </p:blipFill>
        <p:spPr bwMode="auto">
          <a:xfrm>
            <a:off x="6872718" y="606643"/>
            <a:ext cx="4130399" cy="28092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867508" y="374090"/>
                <a:ext cx="10269415" cy="578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 where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point of intersection.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patty paper to copy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Fold the copy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determine if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midpoint.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2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sentence.</a:t>
                </a:r>
              </a:p>
              <a:p>
                <a:pPr marL="914400">
                  <a:lnSpc>
                    <a:spcPct val="2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a segment bisector because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a midpoint.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08" y="374090"/>
                <a:ext cx="10269415" cy="5784789"/>
              </a:xfrm>
              <a:prstGeom prst="rect">
                <a:avLst/>
              </a:prstGeom>
              <a:blipFill>
                <a:blip r:embed="rId4"/>
                <a:stretch>
                  <a:fillRect l="-653" b="-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231">
            <a:extLst>
              <a:ext uri="{FF2B5EF4-FFF2-40B4-BE49-F238E27FC236}">
                <a16:creationId xmlns:a16="http://schemas.microsoft.com/office/drawing/2014/main" id="{E5F03553-E9C3-8D49-B832-B795A82007CA}"/>
              </a:ext>
            </a:extLst>
          </p:cNvPr>
          <p:cNvSpPr/>
          <p:nvPr/>
        </p:nvSpPr>
        <p:spPr>
          <a:xfrm>
            <a:off x="8498300" y="4655557"/>
            <a:ext cx="1297704" cy="9250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40" rIns="91425" bIns="0" anchor="ctr" anchorCtr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</a:p>
          <a:p>
            <a:pPr marL="285750" indent="-2857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not</a:t>
            </a:r>
          </a:p>
        </p:txBody>
      </p:sp>
      <p:sp>
        <p:nvSpPr>
          <p:cNvPr id="10" name="Rectangle: Rounded Corners 231">
            <a:extLst>
              <a:ext uri="{FF2B5EF4-FFF2-40B4-BE49-F238E27FC236}">
                <a16:creationId xmlns:a16="http://schemas.microsoft.com/office/drawing/2014/main" id="{E5F03553-E9C3-8D49-B832-B795A82007CA}"/>
              </a:ext>
            </a:extLst>
          </p:cNvPr>
          <p:cNvSpPr/>
          <p:nvPr/>
        </p:nvSpPr>
        <p:spPr>
          <a:xfrm>
            <a:off x="2342313" y="4612423"/>
            <a:ext cx="1297704" cy="9250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40" rIns="91425" bIns="0" anchor="ctr" anchorCtr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</a:t>
            </a:r>
          </a:p>
          <a:p>
            <a:pPr marL="285750" indent="-2857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not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9FB1DE5-FED4-1B15-8037-6E3AE7091784}"/>
              </a:ext>
            </a:extLst>
          </p:cNvPr>
          <p:cNvSpPr/>
          <p:nvPr/>
        </p:nvSpPr>
        <p:spPr>
          <a:xfrm>
            <a:off x="0" y="3498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A900DAFB-2185-B90A-6919-C87035223858}"/>
              </a:ext>
            </a:extLst>
          </p:cNvPr>
          <p:cNvSpPr txBox="1"/>
          <p:nvPr/>
        </p:nvSpPr>
        <p:spPr>
          <a:xfrm>
            <a:off x="8994150" y="64673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DF05D6D8-C4D0-F8CA-F50C-B0C176C49499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809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0487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10E9D1AD-364D-5202-E9D3-C31FD836FC7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9;g104476d1465_1_39">
            <a:extLst>
              <a:ext uri="{FF2B5EF4-FFF2-40B4-BE49-F238E27FC236}">
                <a16:creationId xmlns:a16="http://schemas.microsoft.com/office/drawing/2014/main" id="{870F52D5-49AC-4049-8AB7-09A9B8865B61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53661" y="1"/>
            <a:ext cx="10527324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1.10.3 Guided Instruction: Determining Lengths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775" y="15937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55785" y="1165600"/>
                <a:ext cx="10281138" cy="4939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diagram of the description.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𝐺𝐾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=7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85" y="1165600"/>
                <a:ext cx="10281138" cy="4939173"/>
              </a:xfrm>
              <a:prstGeom prst="rect">
                <a:avLst/>
              </a:prstGeom>
              <a:blipFill>
                <a:blip r:embed="rId4"/>
                <a:stretch>
                  <a:fillRect l="-889" t="-247" b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D13F77CB-17BE-2832-E634-B70781968A62}"/>
              </a:ext>
            </a:extLst>
          </p:cNvPr>
          <p:cNvSpPr/>
          <p:nvPr/>
        </p:nvSpPr>
        <p:spPr>
          <a:xfrm>
            <a:off x="0" y="3498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643763EB-3B92-9FF3-5814-8CBC328E178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40D30F1-F44F-DCFD-B98A-1ACD33FC871A}"/>
              </a:ext>
            </a:extLst>
          </p:cNvPr>
          <p:cNvSpPr txBox="1"/>
          <p:nvPr/>
        </p:nvSpPr>
        <p:spPr>
          <a:xfrm>
            <a:off x="8990487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4061" y="652159"/>
                <a:ext cx="10281139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𝑀𝑉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bisect each other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diagram of the description.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𝑌𝐻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−4.5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=17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+0.75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=13.25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1" y="652159"/>
                <a:ext cx="10281139" cy="4154984"/>
              </a:xfrm>
              <a:prstGeom prst="rect">
                <a:avLst/>
              </a:prstGeom>
              <a:blipFill>
                <a:blip r:embed="rId4"/>
                <a:stretch>
                  <a:fillRect l="-889" t="-1320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3079" y="621244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3B234F4-EF6B-9452-1347-D6C3A03894BC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09;g104476d1465_1_39">
            <a:extLst>
              <a:ext uri="{FF2B5EF4-FFF2-40B4-BE49-F238E27FC236}">
                <a16:creationId xmlns:a16="http://schemas.microsoft.com/office/drawing/2014/main" id="{8F10756D-AC4B-6344-0418-E397663C49B0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95046" y="0"/>
            <a:ext cx="105507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1.10.4 Guided Practice: Determining Lengths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6563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4416" y="22512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32338" y="1386025"/>
                <a:ext cx="10328031" cy="468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−41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𝑋𝐶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+22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38" y="1386025"/>
                <a:ext cx="10328031" cy="4680705"/>
              </a:xfrm>
              <a:prstGeom prst="rect">
                <a:avLst/>
              </a:prstGeom>
              <a:blipFill>
                <a:blip r:embed="rId5"/>
                <a:stretch>
                  <a:fillRect l="-945" t="-1172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5760D5-A1E1-DD44-AA4E-C0DE8BC89DD4}"/>
              </a:ext>
            </a:extLst>
          </p:cNvPr>
          <p:cNvPicPr/>
          <p:nvPr/>
        </p:nvPicPr>
        <p:blipFill rotWithShape="1">
          <a:blip r:embed="rId6"/>
          <a:srcRect l="3952" t="11473" r="2422" b="6443"/>
          <a:stretch/>
        </p:blipFill>
        <p:spPr>
          <a:xfrm>
            <a:off x="2879384" y="1789559"/>
            <a:ext cx="52482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41937" y="234539"/>
            <a:ext cx="7682069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1.10.5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868" y="234539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855785" y="1192843"/>
                <a:ext cx="10269415" cy="4199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𝐵𝐿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𝐻𝑌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diagram of the description.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𝐻𝐶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𝐻𝑌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85" y="1192843"/>
                <a:ext cx="10269415" cy="4199739"/>
              </a:xfrm>
              <a:prstGeom prst="rect">
                <a:avLst/>
              </a:prstGeom>
              <a:blipFill>
                <a:blip r:embed="rId5"/>
                <a:stretch>
                  <a:fillRect l="-890" t="-290" b="-2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81A9CA2-0645-4547-8E05-A9C337F9CC0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787490C0-7B8C-F949-A7F4-B30E78DE8CE2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641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309;g104476d1465_1_39">
            <a:extLst>
              <a:ext uri="{FF2B5EF4-FFF2-40B4-BE49-F238E27FC236}">
                <a16:creationId xmlns:a16="http://schemas.microsoft.com/office/drawing/2014/main" id="{948F7E82-B57E-2667-AE8A-75DAA28BB97C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4D60F6F-8AE8-A34E-A46A-A3FFBA228E6B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33" r="31521" b="9519"/>
          <a:stretch/>
        </p:blipFill>
        <p:spPr bwMode="auto">
          <a:xfrm>
            <a:off x="7474770" y="1359041"/>
            <a:ext cx="2955757" cy="34921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82" name="Google Shape;282;g104476d1465_1_17"/>
          <p:cNvSpPr txBox="1"/>
          <p:nvPr/>
        </p:nvSpPr>
        <p:spPr>
          <a:xfrm>
            <a:off x="899213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131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53661" y="0"/>
            <a:ext cx="10172469" cy="1298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1.10.6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780" y="2515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867507" y="1386026"/>
                <a:ext cx="10269415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1.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𝐻𝑀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bisect each other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 point</a:t>
                </a:r>
                <a14:m>
                  <m:oMath xmlns:m="http://schemas.openxmlformats.org/officeDocument/2006/math">
                    <m:r>
                      <a:rPr lang="en-PH" sz="240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𝑋𝐾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𝑌𝑀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Taliyah and Giancarlo used the given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information to create two different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equations. 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equations are shown.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07" y="1386026"/>
                <a:ext cx="10269415" cy="3785652"/>
              </a:xfrm>
              <a:prstGeom prst="rect">
                <a:avLst/>
              </a:prstGeom>
              <a:blipFill>
                <a:blip r:embed="rId6"/>
                <a:stretch>
                  <a:fillRect l="-890" t="-1449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3498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E5ED14F-CDC3-EE48-9ED6-6C23EA2861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76407"/>
                  </p:ext>
                </p:extLst>
              </p:nvPr>
            </p:nvGraphicFramePr>
            <p:xfrm>
              <a:off x="2437291" y="5471974"/>
              <a:ext cx="5486400" cy="9144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946383034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6613967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Taliyah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Giancarlo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80520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+3=2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+3=2(11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7609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BE5ED14F-CDC3-EE48-9ED6-6C23EA2861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76407"/>
                  </p:ext>
                </p:extLst>
              </p:nvPr>
            </p:nvGraphicFramePr>
            <p:xfrm>
              <a:off x="2437291" y="5471974"/>
              <a:ext cx="5486400" cy="9144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946383034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6613967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Taliyah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Giancarlo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80520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22" t="-102667" r="-10022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444" t="-102667" r="-444" b="-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609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3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8FE59E28-D820-CB4E-8A39-A020690B27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78B2BD-AB9E-DF46-912B-8A5BC4621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563071"/>
              </p:ext>
            </p:extLst>
          </p:nvPr>
        </p:nvGraphicFramePr>
        <p:xfrm>
          <a:off x="1778147" y="2342875"/>
          <a:ext cx="8113200" cy="4114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056600">
                  <a:extLst>
                    <a:ext uri="{9D8B030D-6E8A-4147-A177-3AD203B41FA5}">
                      <a16:colId xmlns:a16="http://schemas.microsoft.com/office/drawing/2014/main" val="3176495053"/>
                    </a:ext>
                  </a:extLst>
                </a:gridCol>
                <a:gridCol w="4056600">
                  <a:extLst>
                    <a:ext uri="{9D8B030D-6E8A-4147-A177-3AD203B41FA5}">
                      <a16:colId xmlns:a16="http://schemas.microsoft.com/office/drawing/2014/main" val="340875932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Taliyah</a:t>
                      </a: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Giancarlo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43720"/>
                  </a:ext>
                </a:extLst>
              </a:tr>
              <a:tr h="3657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9030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5785" y="523206"/>
                <a:ext cx="102811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Both Taliyah and Giancarlo made a mistake. If Taliyah was trying to find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Giancarlo was trying to find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determine each of their errors. Explain each error.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85" y="523206"/>
                <a:ext cx="10281138" cy="1200329"/>
              </a:xfrm>
              <a:prstGeom prst="rect">
                <a:avLst/>
              </a:prstGeom>
              <a:blipFill>
                <a:blip r:embed="rId4"/>
                <a:stretch>
                  <a:fillRect l="-889" t="-4061" r="-1600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1063</Words>
  <Application>Microsoft Macintosh PowerPoint</Application>
  <PresentationFormat>Widescreen</PresentationFormat>
  <Paragraphs>216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Wingdings</vt:lpstr>
      <vt:lpstr>Verdana</vt:lpstr>
      <vt:lpstr>Courier New</vt:lpstr>
      <vt:lpstr>Arial</vt:lpstr>
      <vt:lpstr>Cambria</vt:lpstr>
      <vt:lpstr>Century Gothic</vt:lpstr>
      <vt:lpstr>Calibri</vt:lpstr>
      <vt:lpstr>Arial Black</vt:lpstr>
      <vt:lpstr>Cambria Math</vt:lpstr>
      <vt:lpstr>1_Office Theme</vt:lpstr>
      <vt:lpstr>Geometry  Unit 1, Lesson 10  Segment Bisectors  Volume 1, pg. 63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47</cp:revision>
  <dcterms:created xsi:type="dcterms:W3CDTF">2015-03-17T18:51:18Z</dcterms:created>
  <dcterms:modified xsi:type="dcterms:W3CDTF">2023-03-01T16:14:48Z</dcterms:modified>
</cp:coreProperties>
</file>