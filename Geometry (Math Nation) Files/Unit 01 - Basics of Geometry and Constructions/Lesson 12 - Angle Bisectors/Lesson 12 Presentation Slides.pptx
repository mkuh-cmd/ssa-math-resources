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85" r:id="rId4"/>
    <p:sldId id="286" r:id="rId5"/>
    <p:sldId id="261" r:id="rId6"/>
    <p:sldId id="287" r:id="rId7"/>
    <p:sldId id="288" r:id="rId8"/>
    <p:sldId id="314" r:id="rId9"/>
    <p:sldId id="315" r:id="rId10"/>
    <p:sldId id="321" r:id="rId11"/>
    <p:sldId id="318" r:id="rId12"/>
    <p:sldId id="317" r:id="rId13"/>
    <p:sldId id="316" r:id="rId14"/>
    <p:sldId id="319" r:id="rId15"/>
    <p:sldId id="289" r:id="rId16"/>
    <p:sldId id="290" r:id="rId17"/>
    <p:sldId id="308" r:id="rId18"/>
    <p:sldId id="320" r:id="rId19"/>
    <p:sldId id="306" r:id="rId20"/>
    <p:sldId id="307" r:id="rId21"/>
  </p:sldIdLst>
  <p:sldSz cx="12192000" cy="6858000"/>
  <p:notesSz cx="6858000" cy="9144000"/>
  <p:embeddedFontLst>
    <p:embeddedFont>
      <p:font typeface="Arial Black" panose="020B0604020202020204" pitchFamily="34" charset="0"/>
      <p:bold r:id="rId23"/>
    </p:embeddedFont>
    <p:embeddedFont>
      <p:font typeface="Calibri" panose="020F0502020204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Cambria Math" panose="02040503050406030204" pitchFamily="18" charset="0"/>
      <p:regular r:id="rId32"/>
    </p:embeddedFont>
    <p:embeddedFont>
      <p:font typeface="Century Gothic" panose="020B050202020202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646" autoAdjust="0"/>
    <p:restoredTop sz="94694"/>
  </p:normalViewPr>
  <p:slideViewPr>
    <p:cSldViewPr snapToGrid="0">
      <p:cViewPr varScale="1">
        <p:scale>
          <a:sx n="115" d="100"/>
          <a:sy n="115" d="100"/>
        </p:scale>
        <p:origin x="216" y="2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5310819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015473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86859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03821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71749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0.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12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Angle Bisectors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75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1850" y="-5138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30786"/>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102200" y="1350820"/>
            <a:ext cx="9597468" cy="4205700"/>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MA.912.GR.1.1</a:t>
            </a:r>
          </a:p>
          <a:p>
            <a:pPr marL="466725" indent="0">
              <a:buSzPts val="1100"/>
              <a:buNone/>
            </a:pPr>
            <a:r>
              <a:rPr lang="en-US" sz="36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Prove relationships and theorems about lines and angles. Solve mathematical and real-world problems involving postulates, relationships, and theorems of lines and angles.</a:t>
            </a:r>
          </a:p>
          <a:p>
            <a:pPr marL="0" indent="0">
              <a:buSzPts val="1100"/>
              <a:buNone/>
            </a:pPr>
            <a:endParaRPr lang="en-US" sz="350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350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.912.GR.5.2</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Construct the bisector of a segment or an angle, including the perpendicular bisector of a line segment.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pic>
        <p:nvPicPr>
          <p:cNvPr id="9" name="Google Shape;283;g104476d1465_1_17">
            <a:extLst>
              <a:ext uri="{FF2B5EF4-FFF2-40B4-BE49-F238E27FC236}">
                <a16:creationId xmlns:a16="http://schemas.microsoft.com/office/drawing/2014/main" id="{F313F2FA-078C-5069-9658-43F1940C73D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74379" y="209015"/>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1678" y="0"/>
            <a:ext cx="1058739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7511" y="645402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21679" y="1596390"/>
            <a:ext cx="960173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3361"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Google Shape;283;g104476d1465_1_17">
            <a:extLst>
              <a:ext uri="{FF2B5EF4-FFF2-40B4-BE49-F238E27FC236}">
                <a16:creationId xmlns:a16="http://schemas.microsoft.com/office/drawing/2014/main" id="{D338FC08-2347-3F00-90CB-C9037B37506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822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211003"/>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102200" y="1422072"/>
            <a:ext cx="95618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construct an angle bisector. </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9F918A47-71F3-D435-0C29-1CF9058A76E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2540" y="-19775"/>
            <a:ext cx="101556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1.12.1 Warm-Up: Agree of Disagree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63850" y="26942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Google Shape;283;g104476d1465_1_17">
            <a:extLst>
              <a:ext uri="{FF2B5EF4-FFF2-40B4-BE49-F238E27FC236}">
                <a16:creationId xmlns:a16="http://schemas.microsoft.com/office/drawing/2014/main" id="{D11303BB-70B9-9C97-9560-F952209851D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1026" name="Picture 2">
            <a:extLst>
              <a:ext uri="{FF2B5EF4-FFF2-40B4-BE49-F238E27FC236}">
                <a16:creationId xmlns:a16="http://schemas.microsoft.com/office/drawing/2014/main" id="{2DC025A2-C5F6-9E3E-1FEE-56862360DD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9282" y="1196700"/>
            <a:ext cx="8677667" cy="5316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75</a:t>
            </a:r>
            <a:endParaRPr i="1" dirty="0">
              <a:latin typeface="Calibri"/>
              <a:ea typeface="Calibri"/>
              <a:cs typeface="Calibri"/>
              <a:sym typeface="Calibri"/>
            </a:endParaRP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0"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050" name="Picture 2">
            <a:extLst>
              <a:ext uri="{FF2B5EF4-FFF2-40B4-BE49-F238E27FC236}">
                <a16:creationId xmlns:a16="http://schemas.microsoft.com/office/drawing/2014/main" id="{132A0264-CF98-B892-34B7-6586959798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1" y="214313"/>
            <a:ext cx="7157783" cy="587216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7C1CA7-1313-7A6A-A239-647DE26C22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751" y="1266826"/>
            <a:ext cx="5419725" cy="349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31519"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4BDBD20D-1A8A-1968-B900-FAD3E5129B0E}"/>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2" name="Picture 11">
            <a:extLst>
              <a:ext uri="{FF2B5EF4-FFF2-40B4-BE49-F238E27FC236}">
                <a16:creationId xmlns:a16="http://schemas.microsoft.com/office/drawing/2014/main" id="{35B319E1-0B48-2E47-AB16-693494515C81}"/>
              </a:ext>
            </a:extLst>
          </p:cNvPr>
          <p:cNvPicPr/>
          <p:nvPr/>
        </p:nvPicPr>
        <p:blipFill>
          <a:blip r:embed="rId3"/>
          <a:stretch>
            <a:fillRect/>
          </a:stretch>
        </p:blipFill>
        <p:spPr>
          <a:xfrm>
            <a:off x="5713606" y="1130146"/>
            <a:ext cx="5065230" cy="2360246"/>
          </a:xfrm>
          <a:prstGeom prst="rect">
            <a:avLst/>
          </a:prstGeom>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13164" y="195871"/>
            <a:ext cx="10386820" cy="107104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1.12.2 Collaboration: Bisecting an Angle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5575" y="64508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43278" y="35648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Google Shape;278;g104476d1465_1_17">
            <a:extLst>
              <a:ext uri="{FF2B5EF4-FFF2-40B4-BE49-F238E27FC236}">
                <a16:creationId xmlns:a16="http://schemas.microsoft.com/office/drawing/2014/main" id="{E9CA456B-1791-3E43-BCF8-7E55B6240BB8}"/>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843147" y="1386026"/>
                <a:ext cx="10295908" cy="5184624"/>
              </a:xfrm>
              <a:prstGeom prst="rect">
                <a:avLst/>
              </a:prstGeom>
              <a:noFill/>
            </p:spPr>
            <p:txBody>
              <a:bodyPr wrap="square" rtlCol="0">
                <a:spAutoFit/>
              </a:bodyPr>
              <a:lstStyle/>
              <a:p>
                <a:pPr marL="457200" indent="-457200"/>
                <a:r>
                  <a:rPr lang="en-US" sz="2400" dirty="0">
                    <a:latin typeface="Verdana" pitchFamily="34" charset="0"/>
                    <a:ea typeface="Verdana" pitchFamily="34" charset="0"/>
                  </a:rPr>
                  <a:t>1.	</a:t>
                </a:r>
                <a14:m>
                  <m:oMath xmlns:m="http://schemas.openxmlformats.org/officeDocument/2006/math">
                    <m:r>
                      <a:rPr lang="en-US" sz="2400" i="1">
                        <a:latin typeface="Cambria Math"/>
                      </a:rPr>
                      <m:t>∠</m:t>
                    </m:r>
                    <m:r>
                      <a:rPr lang="en-US" sz="2400" i="1">
                        <a:latin typeface="Cambria Math"/>
                      </a:rPr>
                      <m:t>𝐹𝑋𝐺</m:t>
                    </m:r>
                  </m:oMath>
                </a14:m>
                <a:r>
                  <a:rPr lang="en-US" sz="2400" dirty="0">
                    <a:latin typeface="Verdana" panose="020B0604030504040204" pitchFamily="34" charset="0"/>
                    <a:ea typeface="Verdana" panose="020B0604030504040204" pitchFamily="34" charset="0"/>
                    <a:cs typeface="Verdana" panose="020B0604030504040204" pitchFamily="34" charset="0"/>
                  </a:rPr>
                  <a:t> is shown.</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Measure the angle with a protractor.</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𝑋𝑌</m:t>
                        </m:r>
                      </m:e>
                    </m:acc>
                  </m:oMath>
                </a14:m>
                <a:r>
                  <a:rPr lang="en-US" sz="2400" dirty="0">
                    <a:latin typeface="Verdana" panose="020B0604030504040204" pitchFamily="34" charset="0"/>
                    <a:ea typeface="Verdana" panose="020B0604030504040204" pitchFamily="34" charset="0"/>
                    <a:cs typeface="Verdana" panose="020B0604030504040204" pitchFamily="34" charset="0"/>
                  </a:rPr>
                  <a:t> that bisects </a:t>
                </a:r>
                <a14:m>
                  <m:oMath xmlns:m="http://schemas.openxmlformats.org/officeDocument/2006/math">
                    <m:r>
                      <a:rPr lang="en-US" sz="2400" i="1">
                        <a:latin typeface="Cambria Math"/>
                      </a:rPr>
                      <m:t>∠</m:t>
                    </m:r>
                    <m:r>
                      <a:rPr lang="en-US" sz="2400" i="1">
                        <a:latin typeface="Cambria Math"/>
                      </a:rPr>
                      <m:t>𝐹𝑋𝐺</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why bisecting </a:t>
                </a:r>
                <a14:m>
                  <m:oMath xmlns:m="http://schemas.openxmlformats.org/officeDocument/2006/math">
                    <m:r>
                      <a:rPr lang="en-US" sz="2400" i="1">
                        <a:latin typeface="Cambria Math"/>
                      </a:rPr>
                      <m:t>∠</m:t>
                    </m:r>
                    <m:r>
                      <a:rPr lang="en-US" sz="2400" i="1">
                        <a:latin typeface="Cambria Math"/>
                      </a:rPr>
                      <m:t>𝐹𝑋𝐺</m:t>
                    </m:r>
                  </m:oMath>
                </a14:m>
                <a:r>
                  <a:rPr lang="en-US" sz="2400" dirty="0">
                    <a:latin typeface="Verdana" panose="020B0604030504040204" pitchFamily="34" charset="0"/>
                    <a:ea typeface="Verdana" panose="020B0604030504040204" pitchFamily="34" charset="0"/>
                    <a:cs typeface="Verdana" panose="020B0604030504040204" pitchFamily="34" charset="0"/>
                  </a:rPr>
                  <a:t> using a protractor and a ruler may not be accurate. Summarize your discussion.</a:t>
                </a:r>
              </a:p>
              <a:p>
                <a:pPr lvl="0"/>
                <a:endParaRPr lang="en-US" sz="1600" dirty="0"/>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843147" y="1386026"/>
                <a:ext cx="10295908" cy="5184624"/>
              </a:xfrm>
              <a:prstGeom prst="rect">
                <a:avLst/>
              </a:prstGeom>
              <a:blipFill>
                <a:blip r:embed="rId5"/>
                <a:stretch>
                  <a:fillRect l="-888" t="-1058"/>
                </a:stretch>
              </a:blipFill>
            </p:spPr>
            <p:txBody>
              <a:bodyPr/>
              <a:lstStyle/>
              <a:p>
                <a:r>
                  <a:rPr lang="en-US">
                    <a:noFill/>
                  </a:rPr>
                  <a:t> </a:t>
                </a:r>
              </a:p>
            </p:txBody>
          </p:sp>
        </mc:Fallback>
      </mc:AlternateContent>
      <p:pic>
        <p:nvPicPr>
          <p:cNvPr id="13" name="Google Shape;311;g104476d1465_1_39">
            <a:extLst>
              <a:ext uri="{FF2B5EF4-FFF2-40B4-BE49-F238E27FC236}">
                <a16:creationId xmlns:a16="http://schemas.microsoft.com/office/drawing/2014/main" id="{411EE44B-E741-50FE-13FB-627943CB0759}"/>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3151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7" name="Picture 6">
            <a:extLst>
              <a:ext uri="{FF2B5EF4-FFF2-40B4-BE49-F238E27FC236}">
                <a16:creationId xmlns:a16="http://schemas.microsoft.com/office/drawing/2014/main" id="{B260DC0D-FDE2-C146-A5E7-044CB1B4EEDC}"/>
              </a:ext>
            </a:extLst>
          </p:cNvPr>
          <p:cNvPicPr/>
          <p:nvPr/>
        </p:nvPicPr>
        <p:blipFill rotWithShape="1">
          <a:blip r:embed="rId3">
            <a:extLst>
              <a:ext uri="{28A0092B-C50C-407E-A947-70E740481C1C}">
                <a14:useLocalDpi xmlns:a14="http://schemas.microsoft.com/office/drawing/2010/main"/>
              </a:ext>
            </a:extLst>
          </a:blip>
          <a:srcRect t="8637" b="4677"/>
          <a:stretch/>
        </p:blipFill>
        <p:spPr bwMode="auto">
          <a:xfrm>
            <a:off x="4781991" y="115274"/>
            <a:ext cx="4472846" cy="3741317"/>
          </a:xfrm>
          <a:prstGeom prst="rect">
            <a:avLst/>
          </a:prstGeom>
          <a:ln>
            <a:noFill/>
          </a:ln>
          <a:extLst>
            <a:ext uri="{53640926-AAD7-44D8-BBD7-CCE9431645EC}">
              <a14:shadowObscured xmlns:a14="http://schemas.microsoft.com/office/drawing/2010/main"/>
            </a:ext>
          </a:ex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31273" y="520394"/>
                <a:ext cx="10233027" cy="5721823"/>
              </a:xfrm>
              <a:prstGeom prst="rect">
                <a:avLst/>
              </a:prstGeom>
              <a:noFill/>
            </p:spPr>
            <p:txBody>
              <a:bodyPr wrap="square" rtlCol="0">
                <a:spAutoFit/>
              </a:bodyPr>
              <a:lstStyle/>
              <a:p>
                <a:pPr marL="457200" indent="-457200"/>
                <a:r>
                  <a:rPr lang="en-US" sz="2400" dirty="0">
                    <a:latin typeface="Verdana" pitchFamily="34" charset="0"/>
                    <a:ea typeface="Verdana" pitchFamily="34" charset="0"/>
                  </a:rPr>
                  <a:t>2.	</a:t>
                </a:r>
                <a14:m>
                  <m:oMath xmlns:m="http://schemas.openxmlformats.org/officeDocument/2006/math">
                    <m:r>
                      <a:rPr lang="en-US" sz="2400" i="1">
                        <a:latin typeface="Cambria Math"/>
                      </a:rPr>
                      <m:t>∠</m:t>
                    </m:r>
                    <m:r>
                      <a:rPr lang="en-US" sz="2400" i="1">
                        <a:latin typeface="Cambria Math"/>
                      </a:rPr>
                      <m:t>𝑅𝑇𝐻</m:t>
                    </m:r>
                  </m:oMath>
                </a14:m>
                <a:r>
                  <a:rPr lang="en-US" sz="2400" dirty="0">
                    <a:latin typeface="Verdana" panose="020B0604030504040204" pitchFamily="34" charset="0"/>
                    <a:ea typeface="Verdana" panose="020B0604030504040204" pitchFamily="34" charset="0"/>
                    <a:cs typeface="Verdana" panose="020B0604030504040204" pitchFamily="34" charset="0"/>
                  </a:rPr>
                  <a:t> is shown.</a:t>
                </a:r>
              </a:p>
              <a:p>
                <a:pPr marL="4572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patty paper to copy </a:t>
                </a:r>
                <a14:m>
                  <m:oMath xmlns:m="http://schemas.openxmlformats.org/officeDocument/2006/math">
                    <m:r>
                      <a:rPr lang="en-US" sz="2400" i="1">
                        <a:latin typeface="Cambria Math"/>
                      </a:rPr>
                      <m:t>∠</m:t>
                    </m:r>
                    <m:r>
                      <a:rPr lang="en-US" sz="2400" i="1">
                        <a:latin typeface="Cambria Math"/>
                      </a:rPr>
                      <m:t>𝑅𝑇𝐻</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Fold the patty paper so that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𝑇𝑅</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𝑇𝐻</m:t>
                        </m:r>
                      </m:e>
                    </m:acc>
                  </m:oMath>
                </a14:m>
                <a:r>
                  <a:rPr lang="en-US" sz="2400" dirty="0">
                    <a:latin typeface="Verdana" panose="020B0604030504040204" pitchFamily="34" charset="0"/>
                    <a:ea typeface="Verdana" panose="020B0604030504040204" pitchFamily="34" charset="0"/>
                    <a:cs typeface="Verdana" panose="020B0604030504040204" pitchFamily="34" charset="0"/>
                  </a:rPr>
                  <a:t> lie on each other. Open the paper and draw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 along the crease.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how folding the patty paper bisects the angle.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31273" y="520394"/>
                <a:ext cx="10233027" cy="5721823"/>
              </a:xfrm>
              <a:prstGeom prst="rect">
                <a:avLst/>
              </a:prstGeom>
              <a:blipFill>
                <a:blip r:embed="rId5"/>
                <a:stretch>
                  <a:fillRect l="-893" t="-958" b="-138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85F77CB-5FF9-E743-9AA8-B4C11C925C98}"/>
              </a:ext>
            </a:extLst>
          </p:cNvPr>
          <p:cNvSpPr/>
          <p:nvPr/>
        </p:nvSpPr>
        <p:spPr>
          <a:xfrm>
            <a:off x="0"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630506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694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4733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855023" y="410666"/>
                <a:ext cx="10295908" cy="181588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Another way to more accurately bisect an angle is to use a compass and a ruler.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r>
                  <a:rPr lang="en-US" sz="2400" dirty="0">
                    <a:latin typeface="Verdana" pitchFamily="34" charset="0"/>
                    <a:ea typeface="Verdana" pitchFamily="34" charset="0"/>
                  </a:rPr>
                  <a:t>3.	</a:t>
                </a:r>
                <a14:m>
                  <m:oMath xmlns:m="http://schemas.openxmlformats.org/officeDocument/2006/math">
                    <m:r>
                      <a:rPr lang="en-US" sz="2400" i="1">
                        <a:latin typeface="Cambria Math"/>
                      </a:rPr>
                      <m:t>∠</m:t>
                    </m:r>
                    <m:r>
                      <a:rPr lang="en-US" sz="2400" i="1">
                        <a:latin typeface="Cambria Math"/>
                      </a:rPr>
                      <m:t>𝑃𝐺𝑊</m:t>
                    </m:r>
                  </m:oMath>
                </a14:m>
                <a:r>
                  <a:rPr lang="en-US" sz="2400" dirty="0">
                    <a:latin typeface="Verdana" panose="020B0604030504040204" pitchFamily="34" charset="0"/>
                    <a:ea typeface="Verdana" panose="020B0604030504040204" pitchFamily="34" charset="0"/>
                    <a:cs typeface="Verdana" panose="020B0604030504040204" pitchFamily="34" charset="0"/>
                  </a:rPr>
                  <a:t> is shown.</a:t>
                </a:r>
              </a:p>
              <a:p>
                <a:endParaRPr lang="en-US" sz="1600" dirty="0"/>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55023" y="410666"/>
                <a:ext cx="10295908" cy="1815882"/>
              </a:xfrm>
              <a:prstGeom prst="rect">
                <a:avLst/>
              </a:prstGeom>
              <a:blipFill>
                <a:blip r:embed="rId4"/>
                <a:stretch>
                  <a:fillRect l="-888" t="-268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a16="http://schemas.microsoft.com/office/drawing/2014/main" id="{04E41573-F82E-B943-A476-293A6A1EC3BC}"/>
              </a:ext>
            </a:extLst>
          </p:cNvPr>
          <p:cNvPicPr/>
          <p:nvPr/>
        </p:nvPicPr>
        <p:blipFill>
          <a:blip r:embed="rId5"/>
          <a:stretch>
            <a:fillRect/>
          </a:stretch>
        </p:blipFill>
        <p:spPr>
          <a:xfrm>
            <a:off x="2920963" y="2223579"/>
            <a:ext cx="6164027" cy="4101344"/>
          </a:xfrm>
          <a:prstGeom prst="rect">
            <a:avLst/>
          </a:prstGeom>
        </p:spPr>
      </p:pic>
    </p:spTree>
    <p:extLst>
      <p:ext uri="{BB962C8B-B14F-4D97-AF65-F5344CB8AC3E}">
        <p14:creationId xmlns:p14="http://schemas.microsoft.com/office/powerpoint/2010/main" val="438931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694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831274" y="376699"/>
                <a:ext cx="10307782" cy="6090193"/>
              </a:xfrm>
              <a:prstGeom prst="rect">
                <a:avLst/>
              </a:prstGeom>
              <a:noFill/>
            </p:spPr>
            <p:txBody>
              <a:bodyPr wrap="square" rtlCol="0">
                <a:spAutoFit/>
              </a:bodyPr>
              <a:lstStyle/>
              <a:p>
                <a:r>
                  <a:rPr lang="en-US" sz="2150" dirty="0">
                    <a:latin typeface="Verdana" panose="020B0604030504040204" pitchFamily="34" charset="0"/>
                    <a:ea typeface="Verdana" panose="020B0604030504040204" pitchFamily="34" charset="0"/>
                    <a:cs typeface="Verdana" panose="020B0604030504040204" pitchFamily="34" charset="0"/>
                  </a:rPr>
                  <a:t>Work with your partner and use the steps below to bisect </a:t>
                </a:r>
                <a14:m>
                  <m:oMath xmlns:m="http://schemas.openxmlformats.org/officeDocument/2006/math">
                    <m:r>
                      <a:rPr lang="en-US" sz="2150" i="1">
                        <a:latin typeface="Cambria Math"/>
                      </a:rPr>
                      <m:t>∠</m:t>
                    </m:r>
                    <m:r>
                      <a:rPr lang="en-US" sz="2150" i="1">
                        <a:latin typeface="Cambria Math"/>
                      </a:rPr>
                      <m:t>𝑃𝐺𝑊</m:t>
                    </m:r>
                  </m:oMath>
                </a14:m>
                <a:r>
                  <a:rPr lang="en-US" sz="2150" dirty="0">
                    <a:latin typeface="Verdana" panose="020B0604030504040204" pitchFamily="34" charset="0"/>
                    <a:ea typeface="Verdana" panose="020B0604030504040204" pitchFamily="34" charset="0"/>
                    <a:cs typeface="Verdana" panose="020B0604030504040204" pitchFamily="34" charset="0"/>
                  </a:rPr>
                  <a:t>.</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Place the compass’ point on point </a:t>
                </a:r>
                <a14:m>
                  <m:oMath xmlns:m="http://schemas.openxmlformats.org/officeDocument/2006/math">
                    <m:r>
                      <a:rPr lang="en-US" sz="2150" i="1">
                        <a:latin typeface="Cambria Math"/>
                      </a:rPr>
                      <m:t>𝐺</m:t>
                    </m:r>
                  </m:oMath>
                </a14:m>
                <a:r>
                  <a:rPr lang="en-US" sz="2150" dirty="0">
                    <a:latin typeface="Verdana" panose="020B0604030504040204" pitchFamily="34" charset="0"/>
                    <a:ea typeface="Verdana" panose="020B0604030504040204" pitchFamily="34" charset="0"/>
                    <a:cs typeface="Verdana" panose="020B0604030504040204" pitchFamily="34" charset="0"/>
                  </a:rPr>
                  <a:t>.</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Adjust the compass’ width to any width that will stay on the angle. </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Use the setting to draw an arc that extends across each leg of </a:t>
                </a:r>
                <a14:m>
                  <m:oMath xmlns:m="http://schemas.openxmlformats.org/officeDocument/2006/math">
                    <m:r>
                      <a:rPr lang="en-US" sz="2150" i="1">
                        <a:latin typeface="Cambria Math"/>
                      </a:rPr>
                      <m:t>∠</m:t>
                    </m:r>
                    <m:r>
                      <a:rPr lang="en-US" sz="2150" i="1">
                        <a:latin typeface="Cambria Math"/>
                      </a:rPr>
                      <m:t>𝑃𝐺𝑊</m:t>
                    </m:r>
                  </m:oMath>
                </a14:m>
                <a:r>
                  <a:rPr lang="en-US" sz="2150" dirty="0">
                    <a:latin typeface="Verdana" panose="020B0604030504040204" pitchFamily="34" charset="0"/>
                    <a:ea typeface="Verdana" panose="020B0604030504040204" pitchFamily="34" charset="0"/>
                    <a:cs typeface="Verdana" panose="020B0604030504040204" pitchFamily="34" charset="0"/>
                  </a:rPr>
                  <a:t>. Label the intersections of the arc and the two sides of the angle points </a:t>
                </a:r>
                <a14:m>
                  <m:oMath xmlns:m="http://schemas.openxmlformats.org/officeDocument/2006/math">
                    <m:r>
                      <a:rPr lang="en-US" sz="2150" i="1">
                        <a:latin typeface="Cambria Math"/>
                      </a:rPr>
                      <m:t>𝐹</m:t>
                    </m:r>
                  </m:oMath>
                </a14:m>
                <a:r>
                  <a:rPr lang="en-US" sz="215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150" i="1">
                        <a:latin typeface="Cambria Math"/>
                      </a:rPr>
                      <m:t>𝐻</m:t>
                    </m:r>
                  </m:oMath>
                </a14:m>
                <a:r>
                  <a:rPr lang="en-US" sz="2150" dirty="0">
                    <a:latin typeface="Verdana" panose="020B0604030504040204" pitchFamily="34" charset="0"/>
                    <a:ea typeface="Verdana" panose="020B0604030504040204" pitchFamily="34" charset="0"/>
                    <a:cs typeface="Verdana" panose="020B0604030504040204" pitchFamily="34" charset="0"/>
                  </a:rPr>
                  <a:t>.</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Place the compass’ point on point </a:t>
                </a:r>
                <a14:m>
                  <m:oMath xmlns:m="http://schemas.openxmlformats.org/officeDocument/2006/math">
                    <m:r>
                      <a:rPr lang="en-US" sz="2150" i="1">
                        <a:latin typeface="Cambria Math"/>
                      </a:rPr>
                      <m:t>𝐹</m:t>
                    </m:r>
                  </m:oMath>
                </a14:m>
                <a:r>
                  <a:rPr lang="en-US" sz="2150" dirty="0">
                    <a:latin typeface="Verdana" panose="020B0604030504040204" pitchFamily="34" charset="0"/>
                    <a:ea typeface="Verdana" panose="020B0604030504040204" pitchFamily="34" charset="0"/>
                    <a:cs typeface="Verdana" panose="020B0604030504040204" pitchFamily="34" charset="0"/>
                  </a:rPr>
                  <a:t>. Keep the width of the compass the same or open the compass wider than the width used to draw the arc in the previous step. Draw an arc in the interior of the angle. </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Without changing the compass’ setting, place the compass’ point on point </a:t>
                </a:r>
                <a14:m>
                  <m:oMath xmlns:m="http://schemas.openxmlformats.org/officeDocument/2006/math">
                    <m:r>
                      <a:rPr lang="en-US" sz="2150" i="1">
                        <a:latin typeface="Cambria Math"/>
                      </a:rPr>
                      <m:t>𝐻</m:t>
                    </m:r>
                  </m:oMath>
                </a14:m>
                <a:r>
                  <a:rPr lang="en-US" sz="2150" dirty="0">
                    <a:latin typeface="Verdana" panose="020B0604030504040204" pitchFamily="34" charset="0"/>
                    <a:ea typeface="Verdana" panose="020B0604030504040204" pitchFamily="34" charset="0"/>
                    <a:cs typeface="Verdana" panose="020B0604030504040204" pitchFamily="34" charset="0"/>
                  </a:rPr>
                  <a:t> and make an arc in the interior of the angle. The two small arcs in the interior of </a:t>
                </a:r>
                <a14:m>
                  <m:oMath xmlns:m="http://schemas.openxmlformats.org/officeDocument/2006/math">
                    <m:r>
                      <a:rPr lang="en-US" sz="2150" i="1">
                        <a:latin typeface="Cambria Math"/>
                      </a:rPr>
                      <m:t>∠</m:t>
                    </m:r>
                    <m:r>
                      <a:rPr lang="en-US" sz="2150" i="1">
                        <a:latin typeface="Cambria Math"/>
                      </a:rPr>
                      <m:t>𝑃𝐺𝑊</m:t>
                    </m:r>
                  </m:oMath>
                </a14:m>
                <a:r>
                  <a:rPr lang="en-US" sz="2150" dirty="0">
                    <a:latin typeface="Verdana" panose="020B0604030504040204" pitchFamily="34" charset="0"/>
                    <a:ea typeface="Verdana" panose="020B0604030504040204" pitchFamily="34" charset="0"/>
                    <a:cs typeface="Verdana" panose="020B0604030504040204" pitchFamily="34" charset="0"/>
                  </a:rPr>
                  <a:t> should be intersecting. If they are not intersecting, adjust the compass to a larger width and draw new arcs from points </a:t>
                </a:r>
                <a14:m>
                  <m:oMath xmlns:m="http://schemas.openxmlformats.org/officeDocument/2006/math">
                    <m:r>
                      <a:rPr lang="en-US" sz="2150" i="1">
                        <a:latin typeface="Cambria Math"/>
                      </a:rPr>
                      <m:t>𝐹</m:t>
                    </m:r>
                  </m:oMath>
                </a14:m>
                <a:r>
                  <a:rPr lang="en-US" sz="215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150" i="1">
                        <a:latin typeface="Cambria Math"/>
                      </a:rPr>
                      <m:t>𝐻</m:t>
                    </m:r>
                  </m:oMath>
                </a14:m>
                <a:r>
                  <a:rPr lang="en-US" sz="2150" dirty="0">
                    <a:latin typeface="Verdana" panose="020B0604030504040204" pitchFamily="34" charset="0"/>
                    <a:ea typeface="Verdana" panose="020B0604030504040204" pitchFamily="34" charset="0"/>
                    <a:cs typeface="Verdana" panose="020B0604030504040204" pitchFamily="34" charset="0"/>
                  </a:rPr>
                  <a:t>.</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Draw and label point </a:t>
                </a:r>
                <a14:m>
                  <m:oMath xmlns:m="http://schemas.openxmlformats.org/officeDocument/2006/math">
                    <m:r>
                      <a:rPr lang="en-US" sz="2150" i="1">
                        <a:latin typeface="Cambria Math"/>
                      </a:rPr>
                      <m:t>𝑌</m:t>
                    </m:r>
                  </m:oMath>
                </a14:m>
                <a:r>
                  <a:rPr lang="en-US" sz="2150" dirty="0">
                    <a:latin typeface="Verdana" panose="020B0604030504040204" pitchFamily="34" charset="0"/>
                    <a:ea typeface="Verdana" panose="020B0604030504040204" pitchFamily="34" charset="0"/>
                    <a:cs typeface="Verdana" panose="020B0604030504040204" pitchFamily="34" charset="0"/>
                  </a:rPr>
                  <a:t> where the two arcs intersect.</a:t>
                </a:r>
              </a:p>
              <a:p>
                <a:pPr marL="914400" indent="-463550">
                  <a:buFont typeface="Arial" panose="020B0604020202020204" pitchFamily="34" charset="0"/>
                  <a:buChar char="•"/>
                </a:pPr>
                <a:r>
                  <a:rPr lang="en-US" sz="2150" dirty="0">
                    <a:latin typeface="Verdana" panose="020B0604030504040204" pitchFamily="34" charset="0"/>
                    <a:ea typeface="Verdana" panose="020B0604030504040204" pitchFamily="34" charset="0"/>
                    <a:cs typeface="Verdana" panose="020B0604030504040204" pitchFamily="34" charset="0"/>
                  </a:rPr>
                  <a:t>Use a straightedge to draw a ray from point </a:t>
                </a:r>
                <a14:m>
                  <m:oMath xmlns:m="http://schemas.openxmlformats.org/officeDocument/2006/math">
                    <m:r>
                      <a:rPr lang="en-US" sz="2150" i="1">
                        <a:latin typeface="Cambria Math"/>
                      </a:rPr>
                      <m:t>𝐺</m:t>
                    </m:r>
                  </m:oMath>
                </a14:m>
                <a:r>
                  <a:rPr lang="en-US" sz="2150" dirty="0">
                    <a:latin typeface="Verdana" panose="020B0604030504040204" pitchFamily="34" charset="0"/>
                    <a:ea typeface="Verdana" panose="020B0604030504040204" pitchFamily="34" charset="0"/>
                    <a:cs typeface="Verdana" panose="020B0604030504040204" pitchFamily="34" charset="0"/>
                  </a:rPr>
                  <a:t> through point </a:t>
                </a:r>
                <a14:m>
                  <m:oMath xmlns:m="http://schemas.openxmlformats.org/officeDocument/2006/math">
                    <m:r>
                      <a:rPr lang="en-US" sz="2150" i="1">
                        <a:latin typeface="Cambria Math"/>
                      </a:rPr>
                      <m:t>𝑌</m:t>
                    </m:r>
                  </m:oMath>
                </a14:m>
                <a:r>
                  <a:rPr lang="en-US" sz="2150" dirty="0">
                    <a:latin typeface="Verdana" panose="020B0604030504040204" pitchFamily="34" charset="0"/>
                    <a:ea typeface="Verdana" panose="020B0604030504040204" pitchFamily="34" charset="0"/>
                    <a:cs typeface="Verdana" panose="020B0604030504040204" pitchFamily="34" charset="0"/>
                  </a:rPr>
                  <a:t>.</a:t>
                </a:r>
              </a:p>
              <a:p>
                <a14:m>
                  <m:oMath xmlns:m="http://schemas.openxmlformats.org/officeDocument/2006/math">
                    <m:acc>
                      <m:accPr>
                        <m:chr m:val="⃗"/>
                        <m:ctrlPr>
                          <a:rPr lang="en-US" sz="2150" i="1">
                            <a:latin typeface="Cambria Math" panose="02040503050406030204" pitchFamily="18" charset="0"/>
                          </a:rPr>
                        </m:ctrlPr>
                      </m:accPr>
                      <m:e>
                        <m:r>
                          <a:rPr lang="en-US" sz="2150" i="1">
                            <a:latin typeface="Cambria Math"/>
                          </a:rPr>
                          <m:t>𝐺𝑌</m:t>
                        </m:r>
                      </m:e>
                    </m:acc>
                  </m:oMath>
                </a14:m>
                <a:r>
                  <a:rPr lang="en-US" sz="2150" dirty="0">
                    <a:latin typeface="Verdana" panose="020B0604030504040204" pitchFamily="34" charset="0"/>
                    <a:ea typeface="Verdana" panose="020B0604030504040204" pitchFamily="34" charset="0"/>
                    <a:cs typeface="Verdana" panose="020B0604030504040204" pitchFamily="34" charset="0"/>
                  </a:rPr>
                  <a:t> bisects </a:t>
                </a:r>
                <a14:m>
                  <m:oMath xmlns:m="http://schemas.openxmlformats.org/officeDocument/2006/math">
                    <m:r>
                      <a:rPr lang="en-US" sz="2150" i="1">
                        <a:latin typeface="Cambria Math"/>
                      </a:rPr>
                      <m:t>∠</m:t>
                    </m:r>
                    <m:r>
                      <a:rPr lang="en-US" sz="2150" i="1">
                        <a:latin typeface="Cambria Math"/>
                      </a:rPr>
                      <m:t>𝑃𝐺𝑊</m:t>
                    </m:r>
                  </m:oMath>
                </a14:m>
                <a:r>
                  <a:rPr lang="en-US" sz="215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31274" y="376699"/>
                <a:ext cx="10307782" cy="6090193"/>
              </a:xfrm>
              <a:prstGeom prst="rect">
                <a:avLst/>
              </a:prstGeom>
              <a:blipFill>
                <a:blip r:embed="rId4"/>
                <a:stretch>
                  <a:fillRect l="-739" t="-624" r="-1724" b="-83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820731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843148" y="410666"/>
            <a:ext cx="10295907" cy="1569660"/>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Olivia found some steps for bisecting an angle on the internet. She wrote them down and then mixed them up to test herself. Her mixed-up steps are shown. Work with your partner to order the steps 1-9.</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0A6124BD-10FF-764C-BBA4-D3CBA9A620B7}"/>
              </a:ext>
            </a:extLst>
          </p:cNvPr>
          <p:cNvGraphicFramePr>
            <a:graphicFrameLocks noGrp="1"/>
          </p:cNvGraphicFramePr>
          <p:nvPr>
            <p:extLst>
              <p:ext uri="{D42A27DB-BD31-4B8C-83A1-F6EECF244321}">
                <p14:modId xmlns:p14="http://schemas.microsoft.com/office/powerpoint/2010/main" val="3236422827"/>
              </p:ext>
            </p:extLst>
          </p:nvPr>
        </p:nvGraphicFramePr>
        <p:xfrm>
          <a:off x="2333501" y="2238199"/>
          <a:ext cx="7315200" cy="3962400"/>
        </p:xfrm>
        <a:graphic>
          <a:graphicData uri="http://schemas.openxmlformats.org/drawingml/2006/table">
            <a:tbl>
              <a:tblPr firstRow="1" firstCol="1" bandRow="1">
                <a:tableStyleId>{A91F0D33-8C57-4600-99A7-42BC86742BE1}</a:tableStyleId>
              </a:tblPr>
              <a:tblGrid>
                <a:gridCol w="914400">
                  <a:extLst>
                    <a:ext uri="{9D8B030D-6E8A-4147-A177-3AD203B41FA5}">
                      <a16:colId xmlns:a16="http://schemas.microsoft.com/office/drawing/2014/main" val="4010099130"/>
                    </a:ext>
                  </a:extLst>
                </a:gridCol>
                <a:gridCol w="6400800">
                  <a:extLst>
                    <a:ext uri="{9D8B030D-6E8A-4147-A177-3AD203B41FA5}">
                      <a16:colId xmlns:a16="http://schemas.microsoft.com/office/drawing/2014/main" val="2153844524"/>
                    </a:ext>
                  </a:extLst>
                </a:gridCol>
              </a:tblGrid>
              <a:tr h="914400">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Draw a ray from the vertex of the angle to the intersection of the two small arcs.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0991307"/>
                  </a:ext>
                </a:extLst>
              </a:tr>
              <a:tr h="914400">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Stretch the compass to any length that stays on the angle.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1686981"/>
                  </a:ext>
                </a:extLst>
              </a:tr>
              <a:tr h="914400">
                <a:tc>
                  <a:txBody>
                    <a:bodyPr/>
                    <a:lstStyle/>
                    <a:p>
                      <a:pPr marL="0" marR="0">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Without changing the span on the compass, place the point of the compass on the other point made by the arc and the other side of the angle and make a similar arc.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1340842"/>
                  </a:ext>
                </a:extLst>
              </a:tr>
              <a:tr h="914400">
                <a:tc>
                  <a:txBody>
                    <a:bodyPr/>
                    <a:lstStyle/>
                    <a:p>
                      <a:pPr marL="0" marR="0">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Place the compass point on one of the two new points made by the arc.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0667017"/>
                  </a:ext>
                </a:extLst>
              </a:tr>
            </a:tbl>
          </a:graphicData>
        </a:graphic>
      </p:graphicFrame>
    </p:spTree>
    <p:extLst>
      <p:ext uri="{BB962C8B-B14F-4D97-AF65-F5344CB8AC3E}">
        <p14:creationId xmlns:p14="http://schemas.microsoft.com/office/powerpoint/2010/main" val="125184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77</a:t>
            </a:r>
            <a:endParaRPr i="1" dirty="0">
              <a:latin typeface="Calibri"/>
              <a:ea typeface="Calibri"/>
              <a:cs typeface="Calibri"/>
              <a:sym typeface="Calibri"/>
            </a:endParaRP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E1FD2DFB-FEA3-F943-88D3-412984ECE9CE}"/>
              </a:ext>
            </a:extLst>
          </p:cNvPr>
          <p:cNvGraphicFramePr>
            <a:graphicFrameLocks noGrp="1"/>
          </p:cNvGraphicFramePr>
          <p:nvPr>
            <p:extLst>
              <p:ext uri="{D42A27DB-BD31-4B8C-83A1-F6EECF244321}">
                <p14:modId xmlns:p14="http://schemas.microsoft.com/office/powerpoint/2010/main" val="3350577348"/>
              </p:ext>
            </p:extLst>
          </p:nvPr>
        </p:nvGraphicFramePr>
        <p:xfrm>
          <a:off x="2355272" y="740786"/>
          <a:ext cx="7315200" cy="4572000"/>
        </p:xfrm>
        <a:graphic>
          <a:graphicData uri="http://schemas.openxmlformats.org/drawingml/2006/table">
            <a:tbl>
              <a:tblPr firstRow="1" firstCol="1" bandRow="1">
                <a:tableStyleId>{A91F0D33-8C57-4600-99A7-42BC86742BE1}</a:tableStyleId>
              </a:tblPr>
              <a:tblGrid>
                <a:gridCol w="914400">
                  <a:extLst>
                    <a:ext uri="{9D8B030D-6E8A-4147-A177-3AD203B41FA5}">
                      <a16:colId xmlns:a16="http://schemas.microsoft.com/office/drawing/2014/main" val="2179501493"/>
                    </a:ext>
                  </a:extLst>
                </a:gridCol>
                <a:gridCol w="6400800">
                  <a:extLst>
                    <a:ext uri="{9D8B030D-6E8A-4147-A177-3AD203B41FA5}">
                      <a16:colId xmlns:a16="http://schemas.microsoft.com/office/drawing/2014/main" val="428885296"/>
                    </a:ext>
                  </a:extLst>
                </a:gridCol>
              </a:tblGrid>
              <a:tr h="9144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Change the compass width so that the pencil stays between the rays of the angle.</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1665270"/>
                  </a:ext>
                </a:extLst>
              </a:tr>
              <a:tr h="9144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Place compass point on the vertex of the angle.</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0017130"/>
                  </a:ext>
                </a:extLst>
              </a:tr>
              <a:tr h="9144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Swing the compass to make an arc that crosses both rays of the angle.</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822007"/>
                  </a:ext>
                </a:extLst>
              </a:tr>
              <a:tr h="9144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Draw an arc in the interior of the angle.</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194185"/>
                  </a:ext>
                </a:extLst>
              </a:tr>
              <a:tr h="9144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Mark the point where the two small arcs in the interior of the angle intersect.</a:t>
                      </a:r>
                    </a:p>
                  </a:txBody>
                  <a:tcPr marL="60795" marR="60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9065001"/>
                  </a:ext>
                </a:extLst>
              </a:tr>
            </a:tbl>
          </a:graphicData>
        </a:graphic>
      </p:graphicFrame>
    </p:spTree>
    <p:extLst>
      <p:ext uri="{BB962C8B-B14F-4D97-AF65-F5344CB8AC3E}">
        <p14:creationId xmlns:p14="http://schemas.microsoft.com/office/powerpoint/2010/main" val="1366797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1" name="Picture 30">
            <a:extLst>
              <a:ext uri="{FF2B5EF4-FFF2-40B4-BE49-F238E27FC236}">
                <a16:creationId xmlns:a16="http://schemas.microsoft.com/office/drawing/2014/main" id="{0F741592-1264-834F-B8F3-B69E78D04CC3}"/>
              </a:ext>
            </a:extLst>
          </p:cNvPr>
          <p:cNvPicPr/>
          <p:nvPr/>
        </p:nvPicPr>
        <p:blipFill>
          <a:blip r:embed="rId3"/>
          <a:stretch>
            <a:fillRect/>
          </a:stretch>
        </p:blipFill>
        <p:spPr>
          <a:xfrm>
            <a:off x="3517817" y="3778859"/>
            <a:ext cx="3585278" cy="2978289"/>
          </a:xfrm>
          <a:prstGeom prst="rect">
            <a:avLst/>
          </a:prstGeom>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5038" y="36551"/>
            <a:ext cx="10399934" cy="15097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1.12.3 Guided Instruction: Using Angle Bisectors to Solve Problems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50469" y="38215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5971"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843148" y="2595368"/>
                <a:ext cx="10295907" cy="136082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a:rPr>
                      <m:t>∠</m:t>
                    </m:r>
                    <m:r>
                      <a:rPr lang="en-US" sz="2000" i="1">
                        <a:latin typeface="Cambria Math"/>
                      </a:rPr>
                      <m:t>𝐻𝑀𝑋</m:t>
                    </m:r>
                  </m:oMath>
                </a14:m>
                <a:r>
                  <a:rPr lang="en-US" sz="2000" dirty="0">
                    <a:latin typeface="Verdana" panose="020B0604030504040204" pitchFamily="34" charset="0"/>
                    <a:ea typeface="Verdana" panose="020B0604030504040204" pitchFamily="34" charset="0"/>
                    <a:cs typeface="Verdana" panose="020B0604030504040204" pitchFamily="34" charset="0"/>
                  </a:rPr>
                  <a:t> is shown where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𝑀𝐵</m:t>
                        </m:r>
                      </m:e>
                    </m:acc>
                  </m:oMath>
                </a14:m>
                <a:r>
                  <a:rPr lang="en-US" sz="2000" dirty="0">
                    <a:latin typeface="Verdana" panose="020B0604030504040204" pitchFamily="34" charset="0"/>
                    <a:ea typeface="Verdana" panose="020B0604030504040204" pitchFamily="34" charset="0"/>
                    <a:cs typeface="Verdana" panose="020B0604030504040204" pitchFamily="34" charset="0"/>
                  </a:rPr>
                  <a:t> bisects </a:t>
                </a:r>
                <a14:m>
                  <m:oMath xmlns:m="http://schemas.openxmlformats.org/officeDocument/2006/math">
                    <m:r>
                      <a:rPr lang="en-US" sz="2000" i="1">
                        <a:latin typeface="Cambria Math"/>
                      </a:rPr>
                      <m:t>∠</m:t>
                    </m:r>
                    <m:r>
                      <a:rPr lang="en-US" sz="2000" i="1">
                        <a:latin typeface="Cambria Math"/>
                      </a:rPr>
                      <m:t>𝐻𝑀𝑋</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latin typeface="Cambria Math"/>
                      </a:rPr>
                      <m:t>𝑚</m:t>
                    </m:r>
                    <m:r>
                      <a:rPr lang="en-US" sz="2000" i="1">
                        <a:latin typeface="Cambria Math"/>
                      </a:rPr>
                      <m:t>∠</m:t>
                    </m:r>
                    <m:r>
                      <a:rPr lang="en-US" sz="2000" i="1">
                        <a:latin typeface="Cambria Math"/>
                      </a:rPr>
                      <m:t>𝐻𝑀𝑋</m:t>
                    </m:r>
                    <m:r>
                      <a:rPr lang="en-US" sz="2000" i="1">
                        <a:latin typeface="Cambria Math"/>
                      </a:rPr>
                      <m:t>=(7</m:t>
                    </m:r>
                    <m:r>
                      <a:rPr lang="en-US" sz="2000" i="1">
                        <a:latin typeface="Cambria Math"/>
                      </a:rPr>
                      <m:t>𝑥</m:t>
                    </m:r>
                    <m:r>
                      <a:rPr lang="en-US" sz="2000" i="1">
                        <a:latin typeface="Cambria Math"/>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a:rPr>
                      <m:t>𝑚</m:t>
                    </m:r>
                    <m:r>
                      <a:rPr lang="en-US" sz="2000" i="1">
                        <a:latin typeface="Cambria Math"/>
                      </a:rPr>
                      <m:t>∠</m:t>
                    </m:r>
                    <m:r>
                      <a:rPr lang="en-US" sz="2000" i="1">
                        <a:latin typeface="Cambria Math"/>
                      </a:rPr>
                      <m:t>𝐵𝑀𝑋</m:t>
                    </m:r>
                    <m:r>
                      <a:rPr lang="en-US" sz="2000" i="1">
                        <a:latin typeface="Cambria Math"/>
                      </a:rPr>
                      <m:t>=(3</m:t>
                    </m:r>
                    <m:r>
                      <a:rPr lang="en-US" sz="2000" i="1">
                        <a:latin typeface="Cambria Math"/>
                      </a:rPr>
                      <m:t>𝑥</m:t>
                    </m:r>
                    <m:r>
                      <a:rPr lang="en-US" sz="2000" i="1">
                        <a:latin typeface="Cambria Math"/>
                      </a:rPr>
                      <m:t>+6)°</m:t>
                    </m:r>
                  </m:oMath>
                </a14:m>
                <a:r>
                  <a:rPr lang="en-US" sz="2000" dirty="0">
                    <a:latin typeface="Verdana" panose="020B0604030504040204" pitchFamily="34" charset="0"/>
                    <a:ea typeface="Verdana" panose="020B0604030504040204" pitchFamily="34" charset="0"/>
                    <a:cs typeface="Verdana" panose="020B0604030504040204" pitchFamily="34" charset="0"/>
                  </a:rPr>
                  <a:t>, then find the value of </a:t>
                </a:r>
                <a14:m>
                  <m:oMath xmlns:m="http://schemas.openxmlformats.org/officeDocument/2006/math">
                    <m:r>
                      <a:rPr lang="en-US" sz="2000" i="1">
                        <a:latin typeface="Cambria Math"/>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843148" y="2595368"/>
                <a:ext cx="10295907" cy="1360822"/>
              </a:xfrm>
              <a:prstGeom prst="rect">
                <a:avLst/>
              </a:prstGeom>
              <a:blipFill>
                <a:blip r:embed="rId5"/>
                <a:stretch>
                  <a:fillRect l="-617" t="-926" b="-7407"/>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7D185CEC-69E3-ED4E-87D7-D8AED7B32136}"/>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Rectangle 10">
            <a:extLst>
              <a:ext uri="{FF2B5EF4-FFF2-40B4-BE49-F238E27FC236}">
                <a16:creationId xmlns:a16="http://schemas.microsoft.com/office/drawing/2014/main" id="{71FF0305-A519-6A43-A14A-C82926D9E800}"/>
              </a:ext>
            </a:extLst>
          </p:cNvPr>
          <p:cNvSpPr/>
          <p:nvPr/>
        </p:nvSpPr>
        <p:spPr>
          <a:xfrm>
            <a:off x="2708275" y="2369514"/>
            <a:ext cx="6629400" cy="307542"/>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5" name="Rectangle 14">
            <a:extLst>
              <a:ext uri="{FF2B5EF4-FFF2-40B4-BE49-F238E27FC236}">
                <a16:creationId xmlns:a16="http://schemas.microsoft.com/office/drawing/2014/main" id="{99BAA19E-DB38-294B-8E7F-F874404A6A5B}"/>
              </a:ext>
            </a:extLst>
          </p:cNvPr>
          <p:cNvSpPr/>
          <p:nvPr/>
        </p:nvSpPr>
        <p:spPr>
          <a:xfrm>
            <a:off x="2708275" y="2369514"/>
            <a:ext cx="6629400" cy="307542"/>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32" name="Rounded Rectangle 31">
            <a:extLst>
              <a:ext uri="{FF2B5EF4-FFF2-40B4-BE49-F238E27FC236}">
                <a16:creationId xmlns:a16="http://schemas.microsoft.com/office/drawing/2014/main" id="{A8AC6B98-E46A-C348-965B-1552FFBFDB12}"/>
              </a:ext>
            </a:extLst>
          </p:cNvPr>
          <p:cNvSpPr/>
          <p:nvPr/>
        </p:nvSpPr>
        <p:spPr>
          <a:xfrm>
            <a:off x="1919313" y="1501370"/>
            <a:ext cx="7943293" cy="95538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1143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An</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 angle bisector</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line, ray, or line segment that cuts an angle into two equal parts.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Google Shape;311;g104476d1465_1_39">
            <a:extLst>
              <a:ext uri="{FF2B5EF4-FFF2-40B4-BE49-F238E27FC236}">
                <a16:creationId xmlns:a16="http://schemas.microsoft.com/office/drawing/2014/main" id="{4912F6F2-D5A5-6E3E-CE08-6867358B5237}"/>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3151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694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402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831273" y="561877"/>
                <a:ext cx="10295906" cy="530773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𝐷𝑌</m:t>
                        </m:r>
                      </m:e>
                    </m:acc>
                  </m:oMath>
                </a14:m>
                <a:r>
                  <a:rPr lang="en-US" sz="2400" dirty="0">
                    <a:latin typeface="Verdana" panose="020B0604030504040204" pitchFamily="34" charset="0"/>
                    <a:ea typeface="Verdana" panose="020B0604030504040204" pitchFamily="34" charset="0"/>
                    <a:cs typeface="Verdana" panose="020B0604030504040204" pitchFamily="34" charset="0"/>
                  </a:rPr>
                  <a:t> bisects </a:t>
                </a:r>
                <a14:m>
                  <m:oMath xmlns:m="http://schemas.openxmlformats.org/officeDocument/2006/math">
                    <m:r>
                      <a:rPr lang="en-US" sz="2400" i="1">
                        <a:latin typeface="Cambria Math"/>
                      </a:rPr>
                      <m:t>∠</m:t>
                    </m:r>
                    <m:r>
                      <a:rPr lang="en-US" sz="2400" i="1">
                        <a:latin typeface="Cambria Math"/>
                      </a:rPr>
                      <m:t>𝑊𝐷𝑁</m:t>
                    </m:r>
                  </m:oMath>
                </a14:m>
                <a:r>
                  <a:rPr lang="en-US" sz="2400" dirty="0">
                    <a:latin typeface="Verdana" panose="020B0604030504040204" pitchFamily="34" charset="0"/>
                    <a:ea typeface="Verdana" panose="020B0604030504040204" pitchFamily="34" charset="0"/>
                    <a:cs typeface="Verdana" panose="020B0604030504040204" pitchFamily="34" charset="0"/>
                  </a:rPr>
                  <a:t> such that </a:t>
                </a:r>
                <a14:m>
                  <m:oMath xmlns:m="http://schemas.openxmlformats.org/officeDocument/2006/math">
                    <m:r>
                      <a:rPr lang="en-US" sz="2400" i="1">
                        <a:latin typeface="Cambria Math"/>
                      </a:rPr>
                      <m:t>𝑚</m:t>
                    </m:r>
                    <m:r>
                      <a:rPr lang="en-US" sz="2400" i="1">
                        <a:latin typeface="Cambria Math"/>
                      </a:rPr>
                      <m:t>∠</m:t>
                    </m:r>
                    <m:r>
                      <a:rPr lang="en-US" sz="2400" i="1">
                        <a:latin typeface="Cambria Math"/>
                      </a:rPr>
                      <m:t>𝑌𝐷𝑁</m:t>
                    </m:r>
                    <m:r>
                      <a:rPr lang="en-US" sz="2400" i="1">
                        <a:latin typeface="Cambria Math"/>
                      </a:rPr>
                      <m:t>=(10</m:t>
                    </m:r>
                    <m:r>
                      <a:rPr lang="en-US" sz="2400" i="1">
                        <a:latin typeface="Cambria Math"/>
                      </a:rPr>
                      <m:t>𝑥</m:t>
                    </m:r>
                    <m:r>
                      <a:rPr lang="en-US" sz="2400" i="1">
                        <a:latin typeface="Cambria Math"/>
                      </a:rPr>
                      <m:t>−4)°</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br>
                  <a:rPr lang="en-US" sz="24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a:rPr>
                      <m:t>𝑚</m:t>
                    </m:r>
                    <m:r>
                      <a:rPr lang="en-US" sz="2400" i="1">
                        <a:latin typeface="Cambria Math"/>
                      </a:rPr>
                      <m:t>∠</m:t>
                    </m:r>
                    <m:r>
                      <a:rPr lang="en-US" sz="2400" i="1">
                        <a:latin typeface="Cambria Math"/>
                      </a:rPr>
                      <m:t>𝑊𝐷𝑁</m:t>
                    </m:r>
                    <m:r>
                      <a:rPr lang="en-US" sz="2400" i="1">
                        <a:latin typeface="Cambria Math"/>
                      </a:rPr>
                      <m:t>=(17</m:t>
                    </m:r>
                    <m:r>
                      <a:rPr lang="en-US" sz="2400" i="1">
                        <a:latin typeface="Cambria Math"/>
                      </a:rPr>
                      <m:t>𝑥</m:t>
                    </m:r>
                    <m:r>
                      <a:rPr lang="en-US" sz="2400" i="1">
                        <a:latin typeface="Cambria Math"/>
                      </a:rPr>
                      <m:t>+16.75)°</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diagram of the description.</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err="1">
                    <a:latin typeface="Verdana" panose="020B0604030504040204" pitchFamily="34" charset="0"/>
                    <a:ea typeface="Verdana" panose="020B0604030504040204" pitchFamily="34" charset="0"/>
                    <a:cs typeface="Verdana" panose="020B0604030504040204" pitchFamily="34" charset="0"/>
                  </a:rPr>
                  <a:t>Yordis</a:t>
                </a:r>
                <a:r>
                  <a:rPr lang="en-US" sz="2400" dirty="0">
                    <a:latin typeface="Verdana" panose="020B0604030504040204" pitchFamily="34" charset="0"/>
                    <a:ea typeface="Verdana" panose="020B0604030504040204" pitchFamily="34" charset="0"/>
                    <a:cs typeface="Verdana" panose="020B0604030504040204" pitchFamily="34" charset="0"/>
                  </a:rPr>
                  <a:t> and </a:t>
                </a:r>
                <a:r>
                  <a:rPr lang="en-US" sz="2400" dirty="0" err="1">
                    <a:latin typeface="Verdana" panose="020B0604030504040204" pitchFamily="34" charset="0"/>
                    <a:ea typeface="Verdana" panose="020B0604030504040204" pitchFamily="34" charset="0"/>
                    <a:cs typeface="Verdana" panose="020B0604030504040204" pitchFamily="34" charset="0"/>
                  </a:rPr>
                  <a:t>Hae</a:t>
                </a:r>
                <a:r>
                  <a:rPr lang="en-US" sz="2400" dirty="0">
                    <a:latin typeface="Verdana" panose="020B0604030504040204" pitchFamily="34" charset="0"/>
                    <a:ea typeface="Verdana" panose="020B0604030504040204" pitchFamily="34" charset="0"/>
                    <a:cs typeface="Verdana" panose="020B0604030504040204" pitchFamily="34" charset="0"/>
                  </a:rPr>
                  <a:t>-Won used the given information to determine the value of </a:t>
                </a:r>
                <a14:m>
                  <m:oMath xmlns:m="http://schemas.openxmlformats.org/officeDocument/2006/math">
                    <m:r>
                      <a:rPr lang="en-US" sz="2400" i="1">
                        <a:latin typeface="Cambria Math"/>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Their equations are shown.</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which student made a mistake setting up the equations.</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31273" y="561877"/>
                <a:ext cx="10295906" cy="5307735"/>
              </a:xfrm>
              <a:prstGeom prst="rect">
                <a:avLst/>
              </a:prstGeom>
              <a:blipFill>
                <a:blip r:embed="rId4"/>
                <a:stretch>
                  <a:fillRect l="-862" t="-239" b="-167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B29BDED-917F-0645-8F07-B04061D83C61}"/>
              </a:ext>
            </a:extLst>
          </p:cNvPr>
          <p:cNvSpPr/>
          <p:nvPr/>
        </p:nvSpPr>
        <p:spPr>
          <a:xfrm>
            <a:off x="0"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616507C-9F6F-D54B-8BD3-0DD58CD209BF}"/>
                  </a:ext>
                </a:extLst>
              </p:cNvPr>
              <p:cNvGraphicFramePr>
                <a:graphicFrameLocks noGrp="1"/>
              </p:cNvGraphicFramePr>
              <p:nvPr>
                <p:extLst>
                  <p:ext uri="{D42A27DB-BD31-4B8C-83A1-F6EECF244321}">
                    <p14:modId xmlns:p14="http://schemas.microsoft.com/office/powerpoint/2010/main" val="2428428843"/>
                  </p:ext>
                </p:extLst>
              </p:nvPr>
            </p:nvGraphicFramePr>
            <p:xfrm>
              <a:off x="1874698" y="3642756"/>
              <a:ext cx="6828155" cy="1216660"/>
            </p:xfrm>
            <a:graphic>
              <a:graphicData uri="http://schemas.openxmlformats.org/drawingml/2006/table">
                <a:tbl>
                  <a:tblPr firstRow="1" firstCol="1" bandRow="1">
                    <a:tableStyleId>{A91F0D33-8C57-4600-99A7-42BC86742BE1}</a:tableStyleId>
                  </a:tblPr>
                  <a:tblGrid>
                    <a:gridCol w="3451225">
                      <a:extLst>
                        <a:ext uri="{9D8B030D-6E8A-4147-A177-3AD203B41FA5}">
                          <a16:colId xmlns:a16="http://schemas.microsoft.com/office/drawing/2014/main" val="2036206405"/>
                        </a:ext>
                      </a:extLst>
                    </a:gridCol>
                    <a:gridCol w="3376930">
                      <a:extLst>
                        <a:ext uri="{9D8B030D-6E8A-4147-A177-3AD203B41FA5}">
                          <a16:colId xmlns:a16="http://schemas.microsoft.com/office/drawing/2014/main" val="4284053380"/>
                        </a:ext>
                      </a:extLst>
                    </a:gridCol>
                  </a:tblGrid>
                  <a:tr h="440055">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Yordis</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8763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Hae</a:t>
                          </a:r>
                          <a:r>
                            <a:rPr lang="en-US" sz="2000" b="1" dirty="0">
                              <a:effectLst/>
                              <a:latin typeface="Verdana" panose="020B0604030504040204" pitchFamily="34" charset="0"/>
                              <a:ea typeface="Verdana" panose="020B0604030504040204" pitchFamily="34" charset="0"/>
                              <a:cs typeface="Verdana" panose="020B0604030504040204" pitchFamily="34" charset="0"/>
                            </a:rPr>
                            <a:t>-Won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006888933"/>
                      </a:ext>
                    </a:extLst>
                  </a:tr>
                  <a:tr h="77660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10</m:t>
                                </m:r>
                                <m:r>
                                  <a:rPr lang="en-US" sz="2000">
                                    <a:effectLst/>
                                    <a:latin typeface="Cambria Math"/>
                                  </a:rPr>
                                  <m:t>𝑥</m:t>
                                </m:r>
                                <m:r>
                                  <a:rPr lang="en-US" sz="2000">
                                    <a:effectLst/>
                                    <a:latin typeface="Cambria Math"/>
                                  </a:rPr>
                                  <m:t>−4=</m:t>
                                </m:r>
                                <m:f>
                                  <m:fPr>
                                    <m:ctrlPr>
                                      <a:rPr lang="en-US"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m:t>
                                    </m:r>
                                  </m:den>
                                </m:f>
                                <m:d>
                                  <m:dPr>
                                    <m:ctrlPr>
                                      <a:rPr lang="en-US" sz="2000" i="1">
                                        <a:effectLst/>
                                        <a:latin typeface="Cambria Math" panose="02040503050406030204" pitchFamily="18" charset="0"/>
                                      </a:rPr>
                                    </m:ctrlPr>
                                  </m:dPr>
                                  <m:e>
                                    <m:r>
                                      <a:rPr lang="en-US" sz="2000">
                                        <a:effectLst/>
                                        <a:latin typeface="Cambria Math"/>
                                      </a:rPr>
                                      <m:t>17</m:t>
                                    </m:r>
                                    <m:r>
                                      <a:rPr lang="en-US" sz="2000">
                                        <a:effectLst/>
                                        <a:latin typeface="Cambria Math"/>
                                      </a:rPr>
                                      <m:t>𝑥</m:t>
                                    </m:r>
                                    <m:r>
                                      <a:rPr lang="en-US" sz="2000">
                                        <a:effectLst/>
                                        <a:latin typeface="Cambria Math"/>
                                      </a:rPr>
                                      <m:t>+16.75</m:t>
                                    </m:r>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m:t>
                                    </m:r>
                                  </m:den>
                                </m:f>
                                <m:d>
                                  <m:dPr>
                                    <m:ctrlPr>
                                      <a:rPr lang="en-US" sz="2000" i="1">
                                        <a:effectLst/>
                                        <a:latin typeface="Cambria Math" panose="02040503050406030204" pitchFamily="18" charset="0"/>
                                      </a:rPr>
                                    </m:ctrlPr>
                                  </m:dPr>
                                  <m:e>
                                    <m:r>
                                      <a:rPr lang="en-US" sz="2000">
                                        <a:effectLst/>
                                        <a:latin typeface="Cambria Math"/>
                                      </a:rPr>
                                      <m:t>10</m:t>
                                    </m:r>
                                    <m:r>
                                      <a:rPr lang="en-US" sz="2000">
                                        <a:effectLst/>
                                        <a:latin typeface="Cambria Math"/>
                                      </a:rPr>
                                      <m:t>𝑥</m:t>
                                    </m:r>
                                    <m:r>
                                      <a:rPr lang="en-US" sz="2000">
                                        <a:effectLst/>
                                        <a:latin typeface="Cambria Math"/>
                                      </a:rPr>
                                      <m:t>−4</m:t>
                                    </m:r>
                                  </m:e>
                                </m:d>
                                <m:r>
                                  <a:rPr lang="en-US" sz="2000">
                                    <a:effectLst/>
                                    <a:latin typeface="Cambria Math"/>
                                  </a:rPr>
                                  <m:t>=17</m:t>
                                </m:r>
                                <m:r>
                                  <a:rPr lang="en-US" sz="2000">
                                    <a:effectLst/>
                                    <a:latin typeface="Cambria Math"/>
                                  </a:rPr>
                                  <m:t>𝑥</m:t>
                                </m:r>
                                <m:r>
                                  <a:rPr lang="en-US" sz="2000">
                                    <a:effectLst/>
                                    <a:latin typeface="Cambria Math"/>
                                  </a:rPr>
                                  <m:t>+16.75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0830309"/>
                      </a:ext>
                    </a:extLst>
                  </a:tr>
                </a:tbl>
              </a:graphicData>
            </a:graphic>
          </p:graphicFrame>
        </mc:Choice>
        <mc:Fallback xmlns="">
          <p:graphicFrame>
            <p:nvGraphicFramePr>
              <p:cNvPr id="2" name="Table 1">
                <a:extLst>
                  <a:ext uri="{FF2B5EF4-FFF2-40B4-BE49-F238E27FC236}">
                    <a16:creationId xmlns:a16="http://schemas.microsoft.com/office/drawing/2014/main" id="{2616507C-9F6F-D54B-8BD3-0DD58CD209BF}"/>
                  </a:ext>
                </a:extLst>
              </p:cNvPr>
              <p:cNvGraphicFramePr>
                <a:graphicFrameLocks noGrp="1"/>
              </p:cNvGraphicFramePr>
              <p:nvPr>
                <p:extLst>
                  <p:ext uri="{D42A27DB-BD31-4B8C-83A1-F6EECF244321}">
                    <p14:modId xmlns:p14="http://schemas.microsoft.com/office/powerpoint/2010/main" val="2428428843"/>
                  </p:ext>
                </p:extLst>
              </p:nvPr>
            </p:nvGraphicFramePr>
            <p:xfrm>
              <a:off x="1874698" y="3642756"/>
              <a:ext cx="6828155" cy="1216660"/>
            </p:xfrm>
            <a:graphic>
              <a:graphicData uri="http://schemas.openxmlformats.org/drawingml/2006/table">
                <a:tbl>
                  <a:tblPr firstRow="1" firstCol="1" bandRow="1">
                    <a:tableStyleId>{A91F0D33-8C57-4600-99A7-42BC86742BE1}</a:tableStyleId>
                  </a:tblPr>
                  <a:tblGrid>
                    <a:gridCol w="3451225">
                      <a:extLst>
                        <a:ext uri="{9D8B030D-6E8A-4147-A177-3AD203B41FA5}">
                          <a16:colId xmlns:a16="http://schemas.microsoft.com/office/drawing/2014/main" val="2036206405"/>
                        </a:ext>
                      </a:extLst>
                    </a:gridCol>
                    <a:gridCol w="3376930">
                      <a:extLst>
                        <a:ext uri="{9D8B030D-6E8A-4147-A177-3AD203B41FA5}">
                          <a16:colId xmlns:a16="http://schemas.microsoft.com/office/drawing/2014/main" val="4284053380"/>
                        </a:ext>
                      </a:extLst>
                    </a:gridCol>
                  </a:tblGrid>
                  <a:tr h="440055">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Yordis</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8763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Hae</a:t>
                          </a:r>
                          <a:r>
                            <a:rPr lang="en-US" sz="2000" b="1" dirty="0">
                              <a:effectLst/>
                              <a:latin typeface="Verdana" panose="020B0604030504040204" pitchFamily="34" charset="0"/>
                              <a:ea typeface="Verdana" panose="020B0604030504040204" pitchFamily="34" charset="0"/>
                              <a:cs typeface="Verdana" panose="020B0604030504040204" pitchFamily="34" charset="0"/>
                            </a:rPr>
                            <a:t>-Won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006888933"/>
                      </a:ext>
                    </a:extLst>
                  </a:tr>
                  <a:tr h="77660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76" t="-57813" r="-98060" b="-156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2527" t="-57813" r="-361" b="-1563"/>
                          </a:stretch>
                        </a:blipFill>
                      </a:tcPr>
                    </a:tc>
                    <a:extLst>
                      <a:ext uri="{0D108BD9-81ED-4DB2-BD59-A6C34878D82A}">
                        <a16:rowId xmlns:a16="http://schemas.microsoft.com/office/drawing/2014/main" val="2610830309"/>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843148" y="478750"/>
                <a:ext cx="10295907" cy="5677067"/>
              </a:xfrm>
              <a:prstGeom prst="rect">
                <a:avLst/>
              </a:prstGeom>
              <a:noFill/>
            </p:spPr>
            <p:txBody>
              <a:bodyPr wrap="square" rtlCol="0">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Write a short note to the student who made a mistake in setting up the equations to explain their error to them.</a:t>
                </a: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𝐵𝑇</m:t>
                        </m:r>
                      </m:e>
                    </m:acc>
                  </m:oMath>
                </a14:m>
                <a:r>
                  <a:rPr lang="en-US" sz="2400" dirty="0">
                    <a:latin typeface="Verdana" panose="020B0604030504040204" pitchFamily="34" charset="0"/>
                    <a:ea typeface="Verdana" panose="020B0604030504040204" pitchFamily="34" charset="0"/>
                    <a:cs typeface="Verdana" panose="020B0604030504040204" pitchFamily="34" charset="0"/>
                  </a:rPr>
                  <a:t> bisects </a:t>
                </a:r>
                <a14:m>
                  <m:oMath xmlns:m="http://schemas.openxmlformats.org/officeDocument/2006/math">
                    <m:r>
                      <a:rPr lang="en-US" sz="2400" i="1">
                        <a:latin typeface="Cambria Math"/>
                      </a:rPr>
                      <m:t>∠</m:t>
                    </m:r>
                    <m:r>
                      <a:rPr lang="en-US" sz="2400" i="1">
                        <a:latin typeface="Cambria Math"/>
                      </a:rPr>
                      <m:t>𝐻𝐵𝑁</m:t>
                    </m:r>
                  </m:oMath>
                </a14:m>
                <a:r>
                  <a:rPr lang="en-US" sz="2400" dirty="0">
                    <a:latin typeface="Verdana" panose="020B0604030504040204" pitchFamily="34" charset="0"/>
                    <a:ea typeface="Verdana" panose="020B0604030504040204" pitchFamily="34" charset="0"/>
                    <a:cs typeface="Verdana" panose="020B0604030504040204" pitchFamily="34" charset="0"/>
                  </a:rPr>
                  <a:t> such that </a:t>
                </a:r>
                <a14:m>
                  <m:oMath xmlns:m="http://schemas.openxmlformats.org/officeDocument/2006/math">
                    <m:r>
                      <a:rPr lang="en-US" sz="2400" i="1">
                        <a:latin typeface="Cambria Math"/>
                      </a:rPr>
                      <m:t>𝑚</m:t>
                    </m:r>
                    <m:r>
                      <a:rPr lang="en-US" sz="2400" i="1">
                        <a:latin typeface="Cambria Math"/>
                      </a:rPr>
                      <m:t>∠</m:t>
                    </m:r>
                    <m:r>
                      <a:rPr lang="en-US" sz="2400" i="1">
                        <a:latin typeface="Cambria Math"/>
                      </a:rPr>
                      <m:t>𝐻𝐵𝑁</m:t>
                    </m:r>
                    <m:r>
                      <a:rPr lang="en-US" sz="2400" i="1">
                        <a:latin typeface="Cambria Math"/>
                      </a:rPr>
                      <m:t>=(10</m:t>
                    </m:r>
                    <m:r>
                      <a:rPr lang="en-US" sz="2400" i="1">
                        <a:latin typeface="Cambria Math"/>
                      </a:rPr>
                      <m:t>𝑥</m:t>
                    </m:r>
                    <m:r>
                      <a:rPr lang="en-US" sz="2400" i="1">
                        <a:latin typeface="Cambria Math"/>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t>
                </a:r>
                <a:br>
                  <a:rPr lang="en-US" sz="2400" i="1" dirty="0">
                    <a:latin typeface="Cambria Math"/>
                  </a:rPr>
                </a:br>
                <a14:m>
                  <m:oMath xmlns:m="http://schemas.openxmlformats.org/officeDocument/2006/math">
                    <m:r>
                      <a:rPr lang="en-US" sz="2400" i="1">
                        <a:latin typeface="Cambria Math"/>
                      </a:rPr>
                      <m:t>𝑚</m:t>
                    </m:r>
                    <m:r>
                      <a:rPr lang="en-US" sz="2400" i="1">
                        <a:latin typeface="Cambria Math"/>
                      </a:rPr>
                      <m:t>∠</m:t>
                    </m:r>
                    <m:r>
                      <a:rPr lang="en-US" sz="2400" i="1">
                        <a:latin typeface="Cambria Math"/>
                      </a:rPr>
                      <m:t>𝐻𝐵𝑇</m:t>
                    </m:r>
                    <m:r>
                      <a:rPr lang="en-US" sz="2400" i="1">
                        <a:latin typeface="Cambria Math"/>
                      </a:rPr>
                      <m:t>=(5</m:t>
                    </m:r>
                    <m:r>
                      <a:rPr lang="en-US" sz="2400" i="1">
                        <a:latin typeface="Cambria Math"/>
                      </a:rPr>
                      <m:t>𝑥</m:t>
                    </m:r>
                    <m:r>
                      <a:rPr lang="en-US" sz="2400" i="1">
                        <a:latin typeface="Cambria Math"/>
                      </a:rPr>
                      <m:t>−1)°</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𝑚</m:t>
                    </m:r>
                    <m:r>
                      <a:rPr lang="en-US" sz="2400" i="1">
                        <a:latin typeface="Cambria Math"/>
                      </a:rPr>
                      <m:t>∠</m:t>
                    </m:r>
                    <m:r>
                      <a:rPr lang="en-US" sz="2400" i="1">
                        <a:latin typeface="Cambria Math"/>
                      </a:rPr>
                      <m:t>𝑇𝐵𝑁</m:t>
                    </m:r>
                    <m:r>
                      <a:rPr lang="en-US" sz="2400" i="1">
                        <a:latin typeface="Cambria Math"/>
                      </a:rPr>
                      <m:t>=(7</m:t>
                    </m:r>
                    <m:r>
                      <a:rPr lang="en-US" sz="2400" i="1">
                        <a:latin typeface="Cambria Math"/>
                      </a:rPr>
                      <m:t>𝑥</m:t>
                    </m:r>
                    <m:r>
                      <a:rPr lang="en-US" sz="2400" i="1">
                        <a:latin typeface="Cambria Math"/>
                      </a:rPr>
                      <m:t>−23)°</m:t>
                    </m:r>
                  </m:oMath>
                </a14:m>
                <a:r>
                  <a:rPr lang="en-US" sz="2400" dirty="0">
                    <a:latin typeface="Verdana" panose="020B0604030504040204" pitchFamily="34" charset="0"/>
                    <a:ea typeface="Verdana" panose="020B0604030504040204" pitchFamily="34" charset="0"/>
                    <a:cs typeface="Verdana" panose="020B0604030504040204" pitchFamily="34" charset="0"/>
                  </a:rPr>
                  <a:t>. Find </a:t>
                </a:r>
                <a14:m>
                  <m:oMath xmlns:m="http://schemas.openxmlformats.org/officeDocument/2006/math">
                    <m:r>
                      <a:rPr lang="en-US" sz="2400" i="1">
                        <a:latin typeface="Cambria Math"/>
                      </a:rPr>
                      <m:t>𝑚</m:t>
                    </m:r>
                    <m:r>
                      <a:rPr lang="en-US" sz="2400" i="1">
                        <a:latin typeface="Cambria Math"/>
                      </a:rPr>
                      <m:t>∠</m:t>
                    </m:r>
                    <m:r>
                      <a:rPr lang="en-US" sz="2400" i="1">
                        <a:latin typeface="Cambria Math"/>
                      </a:rPr>
                      <m:t>𝑇𝐵𝑁</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43148" y="478750"/>
                <a:ext cx="10295907" cy="5677067"/>
              </a:xfrm>
              <a:prstGeom prst="rect">
                <a:avLst/>
              </a:prstGeom>
              <a:blipFill>
                <a:blip r:embed="rId4"/>
                <a:stretch>
                  <a:fillRect l="-863" t="-893" b="-156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B29BDED-917F-0645-8F07-B04061D83C61}"/>
              </a:ext>
            </a:extLst>
          </p:cNvPr>
          <p:cNvSpPr/>
          <p:nvPr/>
        </p:nvSpPr>
        <p:spPr>
          <a:xfrm>
            <a:off x="0" y="-1187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Rounded Rectangle 6">
            <a:extLst>
              <a:ext uri="{FF2B5EF4-FFF2-40B4-BE49-F238E27FC236}">
                <a16:creationId xmlns:a16="http://schemas.microsoft.com/office/drawing/2014/main" id="{2EE2331C-4584-9143-BC91-FB0B88147B42}"/>
              </a:ext>
            </a:extLst>
          </p:cNvPr>
          <p:cNvSpPr/>
          <p:nvPr/>
        </p:nvSpPr>
        <p:spPr>
          <a:xfrm>
            <a:off x="2925525" y="1477470"/>
            <a:ext cx="2788939" cy="3362341"/>
          </a:xfrm>
          <a:prstGeom prst="roundRect">
            <a:avLst>
              <a:gd name="adj" fmla="val 16667"/>
            </a:avLst>
          </a:prstGeom>
          <a:solidFill>
            <a:srgbClr val="DAE5F1"/>
          </a:solidFill>
          <a:ln>
            <a:noFill/>
          </a:ln>
        </p:spPr>
        <p:txBody>
          <a:bodyPr spcFirstLastPara="1" wrap="square" lIns="91425" tIns="45700" rIns="91425" bIns="45700" anchor="ctr" anchorCtr="0">
            <a:noAutofit/>
          </a:bodyPr>
          <a:lstStyle/>
          <a:p>
            <a:pPr>
              <a:spcAft>
                <a:spcPts val="600"/>
              </a:spcAft>
            </a:pPr>
            <a:r>
              <a:rPr lang="en-US" sz="2000" b="1" dirty="0">
                <a:solidFill>
                  <a:srgbClr val="DB2B2A"/>
                </a:solidFill>
                <a:latin typeface="Verdana" pitchFamily="34" charset="0"/>
                <a:ea typeface="Verdana" pitchFamily="34" charset="0"/>
                <a:cs typeface="Verdana" pitchFamily="34" charset="0"/>
              </a:rPr>
              <a:t>M</a:t>
            </a:r>
            <a:r>
              <a:rPr lang="en-US" sz="2000" b="1" dirty="0">
                <a:latin typeface="Verdana" pitchFamily="34" charset="0"/>
                <a:ea typeface="Verdana" pitchFamily="34" charset="0"/>
                <a:cs typeface="Verdana" pitchFamily="34" charset="0"/>
              </a:rPr>
              <a:t>eans</a:t>
            </a:r>
            <a:endParaRPr lang="en-US" sz="2000" dirty="0">
              <a:latin typeface="Verdana" pitchFamily="34" charset="0"/>
              <a:ea typeface="Verdana" pitchFamily="34" charset="0"/>
              <a:cs typeface="Times New Roman" panose="02020603050405020304" pitchFamily="18" charset="0"/>
            </a:endParaRPr>
          </a:p>
          <a:p>
            <a:pPr>
              <a:spcAft>
                <a:spcPts val="600"/>
              </a:spcAft>
            </a:pPr>
            <a:r>
              <a:rPr lang="en-US" sz="2000" b="1" dirty="0">
                <a:solidFill>
                  <a:srgbClr val="F25756"/>
                </a:solidFill>
                <a:latin typeface="Verdana" panose="020B0604030504040204" pitchFamily="34" charset="0"/>
                <a:ea typeface="Verdana" panose="020B0604030504040204" pitchFamily="34" charset="0"/>
                <a:cs typeface="Verdana" panose="020B0604030504040204" pitchFamily="34" charset="0"/>
              </a:rPr>
              <a:t>I</a:t>
            </a:r>
            <a:endParaRPr lang="en-US" sz="2000" dirty="0">
              <a:latin typeface="Verdana" pitchFamily="34" charset="0"/>
              <a:ea typeface="Verdana" pitchFamily="34" charset="0"/>
              <a:cs typeface="Times New Roman" panose="02020603050405020304" pitchFamily="18" charset="0"/>
            </a:endParaRPr>
          </a:p>
          <a:p>
            <a:pPr>
              <a:spcAft>
                <a:spcPts val="600"/>
              </a:spcAft>
            </a:pPr>
            <a:r>
              <a:rPr lang="en-US" sz="20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2000" b="1" dirty="0">
                <a:latin typeface="Verdana" panose="020B0604030504040204" pitchFamily="34" charset="0"/>
                <a:ea typeface="Verdana" panose="020B0604030504040204" pitchFamily="34" charset="0"/>
                <a:cs typeface="Verdana" panose="020B0604030504040204" pitchFamily="34" charset="0"/>
              </a:rPr>
              <a:t>tart</a:t>
            </a:r>
            <a:endParaRPr lang="en-US" sz="2000" dirty="0">
              <a:latin typeface="Verdana" pitchFamily="34" charset="0"/>
              <a:ea typeface="Verdana" pitchFamily="34" charset="0"/>
              <a:cs typeface="Times New Roman" panose="02020603050405020304" pitchFamily="18" charset="0"/>
            </a:endParaRPr>
          </a:p>
          <a:p>
            <a:pPr>
              <a:spcAft>
                <a:spcPts val="600"/>
              </a:spcAft>
            </a:pPr>
            <a:r>
              <a:rPr lang="en-US" sz="20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2000" b="1" dirty="0">
                <a:latin typeface="Verdana" panose="020B0604030504040204" pitchFamily="34" charset="0"/>
                <a:ea typeface="Verdana" panose="020B0604030504040204" pitchFamily="34" charset="0"/>
                <a:cs typeface="Verdana" panose="020B0604030504040204" pitchFamily="34" charset="0"/>
              </a:rPr>
              <a:t>o </a:t>
            </a:r>
            <a:endParaRPr lang="en-US" sz="2000" dirty="0">
              <a:latin typeface="Verdana" pitchFamily="34" charset="0"/>
              <a:ea typeface="Verdana" pitchFamily="34" charset="0"/>
              <a:cs typeface="Times New Roman" panose="02020603050405020304" pitchFamily="18" charset="0"/>
            </a:endParaRPr>
          </a:p>
          <a:p>
            <a:pPr>
              <a:spcAft>
                <a:spcPts val="600"/>
              </a:spcAft>
            </a:pPr>
            <a:r>
              <a:rPr lang="en-US" sz="20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2000" b="1" dirty="0">
                <a:latin typeface="Verdana" panose="020B0604030504040204" pitchFamily="34" charset="0"/>
                <a:ea typeface="Verdana" panose="020B0604030504040204" pitchFamily="34" charset="0"/>
                <a:cs typeface="Verdana" panose="020B0604030504040204" pitchFamily="34" charset="0"/>
              </a:rPr>
              <a:t>cquire</a:t>
            </a:r>
            <a:endParaRPr lang="en-US" sz="2000" dirty="0">
              <a:latin typeface="Verdana" pitchFamily="34" charset="0"/>
              <a:ea typeface="Verdana" pitchFamily="34" charset="0"/>
              <a:cs typeface="Times New Roman" panose="02020603050405020304" pitchFamily="18" charset="0"/>
            </a:endParaRPr>
          </a:p>
          <a:p>
            <a:pPr>
              <a:spcAft>
                <a:spcPts val="600"/>
              </a:spcAft>
            </a:pPr>
            <a:r>
              <a:rPr lang="en-US" sz="20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2000" b="1" dirty="0">
                <a:latin typeface="Verdana" panose="020B0604030504040204" pitchFamily="34" charset="0"/>
                <a:ea typeface="Verdana" panose="020B0604030504040204" pitchFamily="34" charset="0"/>
                <a:cs typeface="Verdana" panose="020B0604030504040204" pitchFamily="34" charset="0"/>
              </a:rPr>
              <a:t>nowledge</a:t>
            </a:r>
            <a:endParaRPr lang="en-US" sz="2000" dirty="0">
              <a:latin typeface="Verdana" pitchFamily="34" charset="0"/>
              <a:ea typeface="Verdana" pitchFamily="34" charset="0"/>
              <a:cs typeface="Times New Roman" panose="02020603050405020304" pitchFamily="18" charset="0"/>
            </a:endParaRPr>
          </a:p>
          <a:p>
            <a:pPr>
              <a:spcAft>
                <a:spcPts val="600"/>
              </a:spcAft>
            </a:pPr>
            <a:r>
              <a:rPr lang="en-US" sz="20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2000" b="1" dirty="0">
                <a:latin typeface="Verdana" panose="020B0604030504040204" pitchFamily="34" charset="0"/>
                <a:ea typeface="Verdana" panose="020B0604030504040204" pitchFamily="34" charset="0"/>
                <a:cs typeface="Verdana" panose="020B0604030504040204" pitchFamily="34" charset="0"/>
              </a:rPr>
              <a:t>xperience </a:t>
            </a:r>
            <a:endParaRPr lang="en-US" sz="2000" dirty="0">
              <a:latin typeface="Verdana" pitchFamily="34" charset="0"/>
              <a:ea typeface="Verdana" pitchFamily="34" charset="0"/>
              <a:cs typeface="Times New Roman" panose="02020603050405020304" pitchFamily="18" charset="0"/>
            </a:endParaRPr>
          </a:p>
          <a:p>
            <a:r>
              <a:rPr lang="en-US" sz="20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2000" b="1" dirty="0">
                <a:latin typeface="Verdana" panose="020B0604030504040204" pitchFamily="34" charset="0"/>
                <a:ea typeface="Verdana" panose="020B0604030504040204" pitchFamily="34" charset="0"/>
                <a:cs typeface="Verdana" panose="020B0604030504040204" pitchFamily="34" charset="0"/>
              </a:rPr>
              <a:t>kills</a:t>
            </a:r>
            <a:r>
              <a:rPr lang="en-US" sz="2000" dirty="0">
                <a:latin typeface="Verdana" pitchFamily="34" charset="0"/>
                <a:ea typeface="Verdana" pitchFamily="34" charset="0"/>
                <a:cs typeface="Times New Roman" panose="02020603050405020304" pitchFamily="18" charset="0"/>
              </a:rPr>
              <a:t>  </a:t>
            </a:r>
          </a:p>
        </p:txBody>
      </p:sp>
      <p:sp>
        <p:nvSpPr>
          <p:cNvPr id="8" name="Rounded Rectangle 7">
            <a:extLst>
              <a:ext uri="{FF2B5EF4-FFF2-40B4-BE49-F238E27FC236}">
                <a16:creationId xmlns:a16="http://schemas.microsoft.com/office/drawing/2014/main" id="{B34EBFC8-E0EC-7A45-978D-CB8903D6365F}"/>
              </a:ext>
            </a:extLst>
          </p:cNvPr>
          <p:cNvSpPr/>
          <p:nvPr/>
        </p:nvSpPr>
        <p:spPr>
          <a:xfrm>
            <a:off x="5957775" y="1477469"/>
            <a:ext cx="3657600" cy="3364992"/>
          </a:xfrm>
          <a:prstGeom prst="roundRect">
            <a:avLst>
              <a:gd name="adj" fmla="val 166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spcAft>
                <a:spcPts val="1000"/>
              </a:spcAft>
            </a:pPr>
            <a:r>
              <a:rPr lang="en-US" sz="1200" i="1">
                <a:solidFill>
                  <a:srgbClr val="FF0000"/>
                </a:solidFill>
                <a:latin typeface="Verdana" panose="020B0604030504040204" pitchFamily="34" charset="0"/>
                <a:ea typeface="Verdana" panose="020B0604030504040204" pitchFamily="34" charset="0"/>
                <a:cs typeface="Verdana" panose="020B0604030504040204" pitchFamily="34"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710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48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4799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397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60664" y="42877"/>
            <a:ext cx="10167486" cy="127459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1.12.4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44974" y="21668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855023" y="1611656"/>
                <a:ext cx="10295907"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Construct the angle bisector of </a:t>
                </a:r>
                <a14:m>
                  <m:oMath xmlns:m="http://schemas.openxmlformats.org/officeDocument/2006/math">
                    <m:r>
                      <a:rPr lang="en-US" sz="2400" i="1">
                        <a:latin typeface="Cambria Math"/>
                      </a:rPr>
                      <m:t>∠</m:t>
                    </m:r>
                    <m:r>
                      <a:rPr lang="en-US" sz="2400" i="1">
                        <a:latin typeface="Cambria Math"/>
                      </a:rPr>
                      <m:t>𝐾𝑌𝐹</m:t>
                    </m:r>
                  </m:oMath>
                </a14:m>
                <a:r>
                  <a:rPr lang="en-US" sz="2400" dirty="0">
                    <a:latin typeface="Verdana" panose="020B0604030504040204" pitchFamily="34" charset="0"/>
                    <a:ea typeface="Verdana" panose="020B0604030504040204" pitchFamily="34" charset="0"/>
                    <a:cs typeface="Verdana" panose="020B0604030504040204" pitchFamily="34" charset="0"/>
                  </a:rPr>
                  <a:t> using a compass and a straightedge.</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855023" y="1611656"/>
                <a:ext cx="10295907" cy="830997"/>
              </a:xfrm>
              <a:prstGeom prst="rect">
                <a:avLst/>
              </a:prstGeom>
              <a:blipFill>
                <a:blip r:embed="rId4"/>
                <a:stretch>
                  <a:fillRect l="-888" t="-6569" b="-15328"/>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055A48D7-DC81-5F4D-9632-5F42A5D9EE4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a:extLst>
              <a:ext uri="{FF2B5EF4-FFF2-40B4-BE49-F238E27FC236}">
                <a16:creationId xmlns:a16="http://schemas.microsoft.com/office/drawing/2014/main" id="{B6218010-479F-8D4D-9487-60D441C93DAF}"/>
              </a:ext>
            </a:extLst>
          </p:cNvPr>
          <p:cNvPicPr/>
          <p:nvPr/>
        </p:nvPicPr>
        <p:blipFill>
          <a:blip r:embed="rId5"/>
          <a:stretch>
            <a:fillRect/>
          </a:stretch>
        </p:blipFill>
        <p:spPr>
          <a:xfrm>
            <a:off x="2357690" y="2699729"/>
            <a:ext cx="7826547" cy="2842310"/>
          </a:xfrm>
          <a:prstGeom prst="rect">
            <a:avLst/>
          </a:prstGeom>
        </p:spPr>
      </p:pic>
      <p:sp>
        <p:nvSpPr>
          <p:cNvPr id="11" name="Google Shape;310;g104476d1465_1_39">
            <a:extLst>
              <a:ext uri="{FF2B5EF4-FFF2-40B4-BE49-F238E27FC236}">
                <a16:creationId xmlns:a16="http://schemas.microsoft.com/office/drawing/2014/main" id="{2D4B6AAA-F448-7EF0-E417-76BED13D4823}"/>
              </a:ext>
            </a:extLst>
          </p:cNvPr>
          <p:cNvSpPr txBox="1"/>
          <p:nvPr/>
        </p:nvSpPr>
        <p:spPr>
          <a:xfrm>
            <a:off x="8994150" y="644799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79</a:t>
            </a:r>
            <a:endParaRPr i="1" dirty="0">
              <a:latin typeface="Calibri"/>
              <a:ea typeface="Calibri"/>
              <a:cs typeface="Calibri"/>
              <a:sym typeface="Calibri"/>
            </a:endParaRPr>
          </a:p>
        </p:txBody>
      </p:sp>
      <p:pic>
        <p:nvPicPr>
          <p:cNvPr id="13" name="Google Shape;311;g104476d1465_1_39">
            <a:extLst>
              <a:ext uri="{FF2B5EF4-FFF2-40B4-BE49-F238E27FC236}">
                <a16:creationId xmlns:a16="http://schemas.microsoft.com/office/drawing/2014/main" id="{3E7BEAD5-E064-3F30-52FD-E68050B67943}"/>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8150" y="619397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1374</TotalTime>
  <Words>1095</Words>
  <Application>Microsoft Macintosh PowerPoint</Application>
  <PresentationFormat>Widescreen</PresentationFormat>
  <Paragraphs>165</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Wingdings</vt:lpstr>
      <vt:lpstr>Verdana</vt:lpstr>
      <vt:lpstr>Arial</vt:lpstr>
      <vt:lpstr>Cambria</vt:lpstr>
      <vt:lpstr>Century Gothic</vt:lpstr>
      <vt:lpstr>Calibri</vt:lpstr>
      <vt:lpstr>Arial Black</vt:lpstr>
      <vt:lpstr>Cambria Math</vt:lpstr>
      <vt:lpstr>1_Office Theme</vt:lpstr>
      <vt:lpstr>Geometry  Unit 1, Lesson 12  Angle Bisectors  Volume 1, pg. 75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41</cp:revision>
  <dcterms:created xsi:type="dcterms:W3CDTF">2015-03-17T18:51:18Z</dcterms:created>
  <dcterms:modified xsi:type="dcterms:W3CDTF">2023-03-01T16:14:36Z</dcterms:modified>
</cp:coreProperties>
</file>