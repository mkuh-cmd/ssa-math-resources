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26" r:id="rId9"/>
    <p:sldId id="289" r:id="rId10"/>
    <p:sldId id="290" r:id="rId11"/>
    <p:sldId id="308" r:id="rId12"/>
    <p:sldId id="327" r:id="rId13"/>
    <p:sldId id="328" r:id="rId14"/>
    <p:sldId id="330" r:id="rId15"/>
    <p:sldId id="329" r:id="rId16"/>
    <p:sldId id="331" r:id="rId17"/>
    <p:sldId id="332" r:id="rId18"/>
    <p:sldId id="333" r:id="rId19"/>
    <p:sldId id="323" r:id="rId20"/>
    <p:sldId id="324" r:id="rId21"/>
    <p:sldId id="334" r:id="rId22"/>
    <p:sldId id="335" r:id="rId23"/>
    <p:sldId id="306" r:id="rId24"/>
    <p:sldId id="307" r:id="rId25"/>
    <p:sldId id="336" r:id="rId26"/>
  </p:sldIdLst>
  <p:sldSz cx="12192000" cy="6858000"/>
  <p:notesSz cx="6858000" cy="9144000"/>
  <p:embeddedFontLst>
    <p:embeddedFont>
      <p:font typeface="Arial Black" panose="020B0A04020102020204" pitchFamily="34" charset="0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" panose="02040503050406030204" pitchFamily="18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E5B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15" autoAdjust="0"/>
    <p:restoredTop sz="94800"/>
  </p:normalViewPr>
  <p:slideViewPr>
    <p:cSldViewPr snapToGrid="0">
      <p:cViewPr varScale="1">
        <p:scale>
          <a:sx n="86" d="100"/>
          <a:sy n="86" d="100"/>
        </p:scale>
        <p:origin x="54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920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584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4840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19159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92616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52315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92761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95798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23301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59483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91191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5232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hyperlink" Target="https://en.wikipedia.org/wiki/Xiasi_Do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jpeg"/><Relationship Id="rId5" Type="http://schemas.openxmlformats.org/officeDocument/2006/relationships/hyperlink" Target="http://www.freestockphotos.biz/stockphoto/15883" TargetMode="External"/><Relationship Id="rId4" Type="http://schemas.openxmlformats.org/officeDocument/2006/relationships/image" Target="../media/image14.png"/><Relationship Id="rId9" Type="http://schemas.openxmlformats.org/officeDocument/2006/relationships/hyperlink" Target="https://www.maxpixel.net/Cartoon-Green-High-Quality-Happy-Animals-Tortoise-1298747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11" Type="http://schemas.openxmlformats.org/officeDocument/2006/relationships/image" Target="../media/image25.png"/><Relationship Id="rId5" Type="http://schemas.openxmlformats.org/officeDocument/2006/relationships/image" Target="../media/image18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7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Transformations on the Plane – Part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64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47850" y="1600324"/>
            <a:ext cx="918897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MA.912.GR.2.3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a sequence of transformations that will map a given figure onto itself or onto another congruent or similar figure. 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76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37892"/>
            <a:ext cx="1007062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474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958110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77C6829-C721-C84C-B217-05FC82BD0900}"/>
              </a:ext>
            </a:extLst>
          </p:cNvPr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78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9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78513" y="1477662"/>
            <a:ext cx="1002810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0850" indent="-4508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identify the angle of rotation of a transformation of a figure on a plane.</a:t>
            </a:r>
          </a:p>
          <a:p>
            <a:pPr marL="450850" indent="-450850">
              <a:buFont typeface="Wingdings" pitchFamily="2" charset="2"/>
              <a:buChar char="q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0850" indent="-4508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identify the center of rotation of a transformation of a figure on a plane.</a:t>
            </a:r>
          </a:p>
          <a:p>
            <a:pPr marL="450850" indent="-450850">
              <a:buFont typeface="Wingdings" pitchFamily="2" charset="2"/>
              <a:buChar char="q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0850" indent="-4508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identify the direction of a rotation of a transformation of a figure on a plane.</a:t>
            </a:r>
          </a:p>
          <a:p>
            <a:pPr marL="450850" indent="-450850">
              <a:buFont typeface="Wingdings" pitchFamily="2" charset="2"/>
              <a:buChar char="q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0850" indent="-4508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distinguish a rotation from other transformations.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84D53208-BBC5-F045-A1FC-36E1745FA757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76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474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2698" y="60449"/>
            <a:ext cx="102054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1.5.1 Warm-Up: Rotations in Drawings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850" y="3496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869794" y="1386149"/>
            <a:ext cx="1020545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picture shows the front, side, and back view of an animated character.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all three views — front, side, and back, of the animated character?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2E26B32-0C88-7847-9ECA-D11545A204F9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8E9AFC-CCF4-2244-99A5-F79D52F3930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585136" y="2358228"/>
            <a:ext cx="6946900" cy="302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58644" y="520518"/>
            <a:ext cx="10247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animators and cartoonists sketch the movement of a character, they use a sheet like the one shown.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85F77CB-5FF9-E743-9AA8-B4C11C925C98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909406"/>
              </p:ext>
            </p:extLst>
          </p:nvPr>
        </p:nvGraphicFramePr>
        <p:xfrm>
          <a:off x="1813118" y="1658922"/>
          <a:ext cx="7776000" cy="4541801"/>
        </p:xfrm>
        <a:graphic>
          <a:graphicData uri="http://schemas.openxmlformats.org/drawingml/2006/table">
            <a:tbl>
              <a:tblPr firstRow="1" firstCol="1" bandRow="1"/>
              <a:tblGrid>
                <a:gridCol w="25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Front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Side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Back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783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783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783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45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783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F53811-2537-4C46-A4E8-F45DF3604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055751"/>
              </p:ext>
            </p:extLst>
          </p:nvPr>
        </p:nvGraphicFramePr>
        <p:xfrm>
          <a:off x="1922503" y="2169398"/>
          <a:ext cx="8346994" cy="2519204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629206">
                  <a:extLst>
                    <a:ext uri="{9D8B030D-6E8A-4147-A177-3AD203B41FA5}">
                      <a16:colId xmlns:a16="http://schemas.microsoft.com/office/drawing/2014/main" val="499817374"/>
                    </a:ext>
                  </a:extLst>
                </a:gridCol>
                <a:gridCol w="2652446">
                  <a:extLst>
                    <a:ext uri="{9D8B030D-6E8A-4147-A177-3AD203B41FA5}">
                      <a16:colId xmlns:a16="http://schemas.microsoft.com/office/drawing/2014/main" val="1125836416"/>
                    </a:ext>
                  </a:extLst>
                </a:gridCol>
                <a:gridCol w="3065342">
                  <a:extLst>
                    <a:ext uri="{9D8B030D-6E8A-4147-A177-3AD203B41FA5}">
                      <a16:colId xmlns:a16="http://schemas.microsoft.com/office/drawing/2014/main" val="1835977249"/>
                    </a:ext>
                  </a:extLst>
                </a:gridCol>
              </a:tblGrid>
              <a:tr h="251920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 </a:t>
                      </a:r>
                      <a:endParaRPr lang="en-US" sz="15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664" marR="836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664" marR="836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664" marR="836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0207346"/>
                  </a:ext>
                </a:extLst>
              </a:tr>
            </a:tbl>
          </a:graphicData>
        </a:graphic>
      </p:graphicFrame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6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8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58644" y="520518"/>
            <a:ext cx="102702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one of the pictures below, or your own idea, to sketch the three views. Use the dotted lines to help you align key features of the picture.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85F77CB-5FF9-E743-9AA8-B4C11C925C98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C9CDFD-DED4-044A-B163-2B696A839250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025629" y="2187615"/>
            <a:ext cx="2395717" cy="23957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461406-B0E5-7F46-A89E-1ED99AEF4045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670544" y="2304455"/>
            <a:ext cx="2449652" cy="22119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E534F2-DE17-1940-9882-628556599795}"/>
              </a:ext>
            </a:extLst>
          </p:cNvPr>
          <p:cNvPicPr/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7349459" y="2426843"/>
            <a:ext cx="2815856" cy="187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7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543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16204" y="-1"/>
            <a:ext cx="10470445" cy="1239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1.5.2 Guided Instruction: Transformations on the Plane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249" y="19204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720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795223" y="1386149"/>
                <a:ext cx="6028657" cy="5139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diagram shows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∆</m:t>
                    </m:r>
                    <m:r>
                      <a:rPr lang="en-US" sz="2200" i="1">
                        <a:latin typeface="Cambria Math"/>
                      </a:rPr>
                      <m:t>𝑅𝐾𝑋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∆</m:t>
                    </m:r>
                    <m:r>
                      <a:rPr lang="en-US" sz="2200" i="1">
                        <a:latin typeface="Cambria Math"/>
                      </a:rPr>
                      <m:t>𝑅</m:t>
                    </m:r>
                    <m:r>
                      <a:rPr lang="en-US" sz="2200" i="1">
                        <a:latin typeface="Cambria Math"/>
                      </a:rPr>
                      <m:t>′</m:t>
                    </m:r>
                    <m:r>
                      <a:rPr lang="en-US" sz="2200" i="1">
                        <a:latin typeface="Cambria Math"/>
                      </a:rPr>
                      <m:t>𝐾</m:t>
                    </m:r>
                    <m:r>
                      <a:rPr lang="en-US" sz="2200" i="1">
                        <a:latin typeface="Cambria Math"/>
                      </a:rPr>
                      <m:t>′</m:t>
                    </m:r>
                    <m:r>
                      <a:rPr lang="en-US" sz="2200" i="1">
                        <a:latin typeface="Cambria Math"/>
                      </a:rPr>
                      <m:t>𝑋</m:t>
                    </m:r>
                    <m:r>
                      <a:rPr lang="en-US" sz="22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</a:t>
                </a:r>
                <a:b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circular grid paper.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8038" indent="-342900" defTabSz="808038">
                  <a:spcAft>
                    <a:spcPts val="1200"/>
                  </a:spcAft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Follow the steps below.</a:t>
                </a:r>
              </a:p>
              <a:p>
                <a:pPr marL="808038" indent="-342900" defTabSz="808038" eaLnBrk="0" fontAlgn="base" hangingPunct="0">
                  <a:spcBef>
                    <a:spcPct val="0"/>
                  </a:spcBef>
                  <a:spcAft>
                    <a:spcPts val="60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en-US" alt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 piece of patty paper to copy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∆</m:t>
                    </m:r>
                    <m:r>
                      <a:rPr lang="en-US" sz="2200" i="1">
                        <a:latin typeface="Cambria Math"/>
                      </a:rPr>
                      <m:t>𝑅𝐾𝑋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br>
                  <a:rPr lang="en-US" alt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alt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point </a:t>
                </a:r>
                <a14:m>
                  <m:oMath xmlns:m="http://schemas.openxmlformats.org/officeDocument/2006/math">
                    <m:r>
                      <a:rPr lang="en-US" altLang="en-US" sz="22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𝑀</m:t>
                    </m:r>
                  </m:oMath>
                </a14:m>
                <a:r>
                  <a:rPr lang="en-US" alt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808038" indent="-342900" defTabSz="808038" eaLnBrk="0" fontAlgn="base" hangingPunct="0">
                  <a:spcBef>
                    <a:spcPct val="0"/>
                  </a:spcBef>
                  <a:spcAft>
                    <a:spcPts val="60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en-US" alt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Place the patty paper so that it aligns with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∆</m:t>
                    </m:r>
                    <m:r>
                      <a:rPr lang="en-US" sz="2200" i="1">
                        <a:latin typeface="Cambria Math"/>
                      </a:rPr>
                      <m:t>𝑅𝐾𝑋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alt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point </a:t>
                </a:r>
                <a14:m>
                  <m:oMath xmlns:m="http://schemas.openxmlformats.org/officeDocument/2006/math">
                    <m:r>
                      <a:rPr lang="en-US" altLang="en-US" sz="22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𝑀</m:t>
                    </m:r>
                  </m:oMath>
                </a14:m>
                <a:r>
                  <a:rPr lang="en-US" alt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808038" indent="-342900" defTabSz="808038" eaLnBrk="0" fontAlgn="base" hangingPunct="0">
                  <a:spcBef>
                    <a:spcPct val="0"/>
                  </a:spcBef>
                  <a:spcAft>
                    <a:spcPts val="60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en-US" alt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Place the point of your writing utensil </a:t>
                </a:r>
                <a:br>
                  <a:rPr lang="en-US" alt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alt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point </a:t>
                </a:r>
                <a14:m>
                  <m:oMath xmlns:m="http://schemas.openxmlformats.org/officeDocument/2006/math">
                    <m:r>
                      <a:rPr lang="en-US" altLang="en-US" sz="22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𝑀</m:t>
                    </m:r>
                    <m:r>
                      <a:rPr lang="en-US" altLang="en-US" sz="22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alt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rotate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∆</m:t>
                    </m:r>
                    <m:r>
                      <a:rPr lang="en-US" sz="2200" i="1">
                        <a:latin typeface="Cambria Math"/>
                      </a:rPr>
                      <m:t>𝑅𝐾𝑋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alt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 that it lays on top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∆</m:t>
                    </m:r>
                    <m:r>
                      <a:rPr lang="en-US" sz="2200" i="1">
                        <a:latin typeface="Cambria Math"/>
                      </a:rPr>
                      <m:t>𝑅</m:t>
                    </m:r>
                    <m:r>
                      <a:rPr lang="en-US" sz="2200" i="1">
                        <a:latin typeface="Cambria Math"/>
                      </a:rPr>
                      <m:t>′</m:t>
                    </m:r>
                    <m:r>
                      <a:rPr lang="en-US" sz="2200" i="1">
                        <a:latin typeface="Cambria Math"/>
                      </a:rPr>
                      <m:t>𝐾</m:t>
                    </m:r>
                    <m:r>
                      <a:rPr lang="en-US" sz="2200" i="1">
                        <a:latin typeface="Cambria Math"/>
                      </a:rPr>
                      <m:t>′</m:t>
                    </m:r>
                    <m:r>
                      <a:rPr lang="en-US" sz="2200" i="1">
                        <a:latin typeface="Cambria Math"/>
                      </a:rPr>
                      <m:t>𝑋</m:t>
                    </m:r>
                    <m:r>
                      <a:rPr lang="en-US" sz="2200" i="1">
                        <a:latin typeface="Cambria Math"/>
                      </a:rPr>
                      <m:t>′</m:t>
                    </m:r>
                  </m:oMath>
                </a14:m>
                <a:r>
                  <a:rPr lang="en-US" alt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223" y="1386149"/>
                <a:ext cx="6028657" cy="5139869"/>
              </a:xfrm>
              <a:prstGeom prst="rect">
                <a:avLst/>
              </a:prstGeom>
              <a:blipFill>
                <a:blip r:embed="rId5"/>
                <a:stretch>
                  <a:fillRect l="-1314" t="-948" r="-910" b="-1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D185CEC-69E3-ED4E-87D7-D8AED7B3213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7037819" y="1541781"/>
            <a:ext cx="4461085" cy="4614080"/>
            <a:chOff x="2244725" y="1786135"/>
            <a:chExt cx="4654550" cy="481418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304B655-4CC3-8C49-AC08-D7638A7AF6ED}"/>
                </a:ext>
              </a:extLst>
            </p:cNvPr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44725" y="2138267"/>
              <a:ext cx="4654550" cy="399423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2">
                  <a:extLst>
                    <a:ext uri="{FF2B5EF4-FFF2-40B4-BE49-F238E27FC236}">
                      <a16:creationId xmlns:a16="http://schemas.microsoft.com/office/drawing/2014/main" id="{802B8A9D-EE93-604F-ABA4-78938D016C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11930" y="2999772"/>
                  <a:ext cx="380788" cy="2727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30°</m:t>
                        </m:r>
                      </m:oMath>
                    </m:oMathPara>
                  </a14:m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 Box 2">
                  <a:extLst>
                    <a:ext uri="{FF2B5EF4-FFF2-40B4-BE49-F238E27FC236}">
                      <a16:creationId xmlns:a16="http://schemas.microsoft.com/office/drawing/2014/main" id="{802B8A9D-EE93-604F-ABA4-78938D016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11930" y="2999772"/>
                  <a:ext cx="380788" cy="272721"/>
                </a:xfrm>
                <a:prstGeom prst="rect">
                  <a:avLst/>
                </a:prstGeom>
                <a:blipFill>
                  <a:blip r:embed="rId7"/>
                  <a:stretch>
                    <a:fillRect r="-45161" b="-36364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2">
                  <a:extLst>
                    <a:ext uri="{FF2B5EF4-FFF2-40B4-BE49-F238E27FC236}">
                      <a16:creationId xmlns:a16="http://schemas.microsoft.com/office/drawing/2014/main" id="{EE109773-A27A-1C4F-9C5D-D2189550DA5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06294" y="2171815"/>
                  <a:ext cx="380788" cy="2727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60°</m:t>
                        </m:r>
                      </m:oMath>
                    </m:oMathPara>
                  </a14:m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 Box 2">
                  <a:extLst>
                    <a:ext uri="{FF2B5EF4-FFF2-40B4-BE49-F238E27FC236}">
                      <a16:creationId xmlns:a16="http://schemas.microsoft.com/office/drawing/2014/main" id="{EE109773-A27A-1C4F-9C5D-D2189550DA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06294" y="2171815"/>
                  <a:ext cx="380788" cy="272721"/>
                </a:xfrm>
                <a:prstGeom prst="rect">
                  <a:avLst/>
                </a:prstGeom>
                <a:blipFill>
                  <a:blip r:embed="rId8"/>
                  <a:stretch>
                    <a:fillRect r="-41935" b="-3478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2">
                  <a:extLst>
                    <a:ext uri="{FF2B5EF4-FFF2-40B4-BE49-F238E27FC236}">
                      <a16:creationId xmlns:a16="http://schemas.microsoft.com/office/drawing/2014/main" id="{517FCB56-6C23-C84F-8B7E-725D3467CD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74826" y="1786135"/>
                  <a:ext cx="380788" cy="2727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90°</m:t>
                        </m:r>
                      </m:oMath>
                    </m:oMathPara>
                  </a14:m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2">
                  <a:extLst>
                    <a:ext uri="{FF2B5EF4-FFF2-40B4-BE49-F238E27FC236}">
                      <a16:creationId xmlns:a16="http://schemas.microsoft.com/office/drawing/2014/main" id="{517FCB56-6C23-C84F-8B7E-725D3467CD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74826" y="1786135"/>
                  <a:ext cx="380788" cy="272721"/>
                </a:xfrm>
                <a:prstGeom prst="rect">
                  <a:avLst/>
                </a:prstGeom>
                <a:blipFill>
                  <a:blip r:embed="rId9"/>
                  <a:stretch>
                    <a:fillRect r="-46667" b="-30435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2">
                  <a:extLst>
                    <a:ext uri="{FF2B5EF4-FFF2-40B4-BE49-F238E27FC236}">
                      <a16:creationId xmlns:a16="http://schemas.microsoft.com/office/drawing/2014/main" id="{EF77123D-52F9-6A47-AA7A-48FCFD803C5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10492" y="2138267"/>
                  <a:ext cx="380788" cy="2727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120°</m:t>
                        </m:r>
                      </m:oMath>
                    </m:oMathPara>
                  </a14:m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 Box 2">
                  <a:extLst>
                    <a:ext uri="{FF2B5EF4-FFF2-40B4-BE49-F238E27FC236}">
                      <a16:creationId xmlns:a16="http://schemas.microsoft.com/office/drawing/2014/main" id="{EF77123D-52F9-6A47-AA7A-48FCFD803C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0492" y="2138267"/>
                  <a:ext cx="380788" cy="272721"/>
                </a:xfrm>
                <a:prstGeom prst="rect">
                  <a:avLst/>
                </a:prstGeom>
                <a:blipFill>
                  <a:blip r:embed="rId10"/>
                  <a:stretch>
                    <a:fillRect r="-80645" b="-30435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2">
                  <a:extLst>
                    <a:ext uri="{FF2B5EF4-FFF2-40B4-BE49-F238E27FC236}">
                      <a16:creationId xmlns:a16="http://schemas.microsoft.com/office/drawing/2014/main" id="{CAF7CD32-2691-9048-8E26-CEA91BC70C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3545" y="3071514"/>
                  <a:ext cx="416952" cy="2727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150°</m:t>
                        </m:r>
                      </m:oMath>
                    </m:oMathPara>
                  </a14:m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 Box 2">
                  <a:extLst>
                    <a:ext uri="{FF2B5EF4-FFF2-40B4-BE49-F238E27FC236}">
                      <a16:creationId xmlns:a16="http://schemas.microsoft.com/office/drawing/2014/main" id="{CAF7CD32-2691-9048-8E26-CEA91BC70C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53545" y="3071514"/>
                  <a:ext cx="416952" cy="272721"/>
                </a:xfrm>
                <a:prstGeom prst="rect">
                  <a:avLst/>
                </a:prstGeom>
                <a:blipFill>
                  <a:blip r:embed="rId11"/>
                  <a:stretch>
                    <a:fillRect r="-62857" b="-3478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2">
                  <a:extLst>
                    <a:ext uri="{FF2B5EF4-FFF2-40B4-BE49-F238E27FC236}">
                      <a16:creationId xmlns:a16="http://schemas.microsoft.com/office/drawing/2014/main" id="{0CCE2B07-FA65-174B-8DB8-38A53A90FBF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26412" y="4135384"/>
                  <a:ext cx="457797" cy="2727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180°</m:t>
                        </m:r>
                      </m:oMath>
                    </m:oMathPara>
                  </a14:m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 Box 2">
                  <a:extLst>
                    <a:ext uri="{FF2B5EF4-FFF2-40B4-BE49-F238E27FC236}">
                      <a16:creationId xmlns:a16="http://schemas.microsoft.com/office/drawing/2014/main" id="{0CCE2B07-FA65-174B-8DB8-38A53A90FB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26412" y="4135384"/>
                  <a:ext cx="457797" cy="272721"/>
                </a:xfrm>
                <a:prstGeom prst="rect">
                  <a:avLst/>
                </a:prstGeom>
                <a:blipFill>
                  <a:blip r:embed="rId12"/>
                  <a:stretch>
                    <a:fillRect r="-51351" b="-3478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2">
                  <a:extLst>
                    <a:ext uri="{FF2B5EF4-FFF2-40B4-BE49-F238E27FC236}">
                      <a16:creationId xmlns:a16="http://schemas.microsoft.com/office/drawing/2014/main" id="{D1A5F41F-D1C6-0349-9A4B-6EBA318EBE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01635" y="5199254"/>
                  <a:ext cx="457797" cy="2727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210°</m:t>
                        </m:r>
                      </m:oMath>
                    </m:oMathPara>
                  </a14:m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 Box 2">
                  <a:extLst>
                    <a:ext uri="{FF2B5EF4-FFF2-40B4-BE49-F238E27FC236}">
                      <a16:creationId xmlns:a16="http://schemas.microsoft.com/office/drawing/2014/main" id="{D1A5F41F-D1C6-0349-9A4B-6EBA318EBE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01635" y="5199254"/>
                  <a:ext cx="457797" cy="272721"/>
                </a:xfrm>
                <a:prstGeom prst="rect">
                  <a:avLst/>
                </a:prstGeom>
                <a:blipFill>
                  <a:blip r:embed="rId13"/>
                  <a:stretch>
                    <a:fillRect r="-54054" b="-30435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2">
                  <a:extLst>
                    <a:ext uri="{FF2B5EF4-FFF2-40B4-BE49-F238E27FC236}">
                      <a16:creationId xmlns:a16="http://schemas.microsoft.com/office/drawing/2014/main" id="{42F4BC19-DB0B-4F4B-B754-F9614490EB6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52564" y="6200115"/>
                  <a:ext cx="657188" cy="4002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270°</m:t>
                        </m:r>
                      </m:oMath>
                    </m:oMathPara>
                  </a14:m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 Box 2">
                  <a:extLst>
                    <a:ext uri="{FF2B5EF4-FFF2-40B4-BE49-F238E27FC236}">
                      <a16:creationId xmlns:a16="http://schemas.microsoft.com/office/drawing/2014/main" id="{42F4BC19-DB0B-4F4B-B754-F9614490EB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52564" y="6200115"/>
                  <a:ext cx="657188" cy="400200"/>
                </a:xfrm>
                <a:prstGeom prst="rect">
                  <a:avLst/>
                </a:prstGeom>
                <a:blipFill>
                  <a:blip r:embed="rId14"/>
                  <a:stretch>
                    <a:fillRect r="-5660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2">
                  <a:extLst>
                    <a:ext uri="{FF2B5EF4-FFF2-40B4-BE49-F238E27FC236}">
                      <a16:creationId xmlns:a16="http://schemas.microsoft.com/office/drawing/2014/main" id="{D7AF6440-CDCC-6446-96E7-18B023C487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667789" y="5774900"/>
                  <a:ext cx="457797" cy="2727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300°</m:t>
                        </m:r>
                      </m:oMath>
                    </m:oMathPara>
                  </a14:m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 Box 2">
                  <a:extLst>
                    <a:ext uri="{FF2B5EF4-FFF2-40B4-BE49-F238E27FC236}">
                      <a16:creationId xmlns:a16="http://schemas.microsoft.com/office/drawing/2014/main" id="{D7AF6440-CDCC-6446-96E7-18B023C487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67789" y="5774900"/>
                  <a:ext cx="457797" cy="272721"/>
                </a:xfrm>
                <a:prstGeom prst="rect">
                  <a:avLst/>
                </a:prstGeom>
                <a:blipFill>
                  <a:blip r:embed="rId15"/>
                  <a:stretch>
                    <a:fillRect r="-51351" b="-30435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2">
                  <a:extLst>
                    <a:ext uri="{FF2B5EF4-FFF2-40B4-BE49-F238E27FC236}">
                      <a16:creationId xmlns:a16="http://schemas.microsoft.com/office/drawing/2014/main" id="{669F04F8-6517-F649-AB89-71DECB9FFC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376425" y="4980940"/>
                  <a:ext cx="457797" cy="2727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330°</m:t>
                        </m:r>
                      </m:oMath>
                    </m:oMathPara>
                  </a14:m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 Box 2">
                  <a:extLst>
                    <a:ext uri="{FF2B5EF4-FFF2-40B4-BE49-F238E27FC236}">
                      <a16:creationId xmlns:a16="http://schemas.microsoft.com/office/drawing/2014/main" id="{669F04F8-6517-F649-AB89-71DECB9FFC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376425" y="4980940"/>
                  <a:ext cx="457797" cy="272721"/>
                </a:xfrm>
                <a:prstGeom prst="rect">
                  <a:avLst/>
                </a:prstGeom>
                <a:blipFill>
                  <a:blip r:embed="rId16"/>
                  <a:stretch>
                    <a:fillRect r="-48649" b="-36364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7492" y="296970"/>
                <a:ext cx="10281425" cy="5786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Draw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∠</m:t>
                    </m:r>
                    <m:r>
                      <a:rPr lang="en-US" sz="2000" i="1">
                        <a:latin typeface="Cambria Math"/>
                      </a:rPr>
                      <m:t>𝑅𝑀𝑅</m:t>
                    </m:r>
                    <m:r>
                      <a:rPr lang="en-US" sz="20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∠</m:t>
                    </m:r>
                    <m:r>
                      <a:rPr lang="en-US" sz="2000" i="1">
                        <a:latin typeface="Cambria Math"/>
                      </a:rPr>
                      <m:t>𝐾𝑀𝐾</m:t>
                    </m:r>
                    <m:r>
                      <a:rPr lang="en-US" sz="20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2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angle measures on the circular grid can be used to verify the rotation and how to determine the direction of rotation. Summarize your discussion.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2" y="296970"/>
                <a:ext cx="10281425" cy="5786199"/>
              </a:xfrm>
              <a:prstGeom prst="rect">
                <a:avLst/>
              </a:prstGeom>
              <a:blipFill>
                <a:blip r:embed="rId4"/>
                <a:stretch>
                  <a:fillRect t="-738" b="-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62BED961-CB6E-364E-9924-06C1067D4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01" y="521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5" name="Table 34">
                <a:extLst>
                  <a:ext uri="{FF2B5EF4-FFF2-40B4-BE49-F238E27FC236}">
                    <a16:creationId xmlns:a16="http://schemas.microsoft.com/office/drawing/2014/main" id="{82E016FF-9324-4645-82D0-334953B1F1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0293258"/>
                  </p:ext>
                </p:extLst>
              </p:nvPr>
            </p:nvGraphicFramePr>
            <p:xfrm>
              <a:off x="1838554" y="2683036"/>
              <a:ext cx="6480000" cy="208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1109091379"/>
                        </a:ext>
                      </a:extLst>
                    </a:gridCol>
                    <a:gridCol w="4680000">
                      <a:extLst>
                        <a:ext uri="{9D8B030D-6E8A-4147-A177-3AD203B41FA5}">
                          <a16:colId xmlns:a16="http://schemas.microsoft.com/office/drawing/2014/main" val="3259206274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Measurement (degrees)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55239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𝑋𝑀𝑋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979190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𝑅𝑀𝑅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4707234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𝐾𝑀𝐾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475120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5" name="Table 34">
                <a:extLst>
                  <a:ext uri="{FF2B5EF4-FFF2-40B4-BE49-F238E27FC236}">
                    <a16:creationId xmlns:a16="http://schemas.microsoft.com/office/drawing/2014/main" id="{82E016FF-9324-4645-82D0-334953B1F1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0293258"/>
                  </p:ext>
                </p:extLst>
              </p:nvPr>
            </p:nvGraphicFramePr>
            <p:xfrm>
              <a:off x="1838554" y="2683036"/>
              <a:ext cx="6480000" cy="208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1109091379"/>
                        </a:ext>
                      </a:extLst>
                    </a:gridCol>
                    <a:gridCol w="4680000">
                      <a:extLst>
                        <a:ext uri="{9D8B030D-6E8A-4147-A177-3AD203B41FA5}">
                          <a16:colId xmlns:a16="http://schemas.microsoft.com/office/drawing/2014/main" val="3259206274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Measurement (degrees)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55239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38" t="-87640" r="-260135" b="-201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979190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38" t="-189773" r="-260135" b="-10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4707234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38" t="-286517" r="-260135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475120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58644" y="288869"/>
                <a:ext cx="10270273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0805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Identify the transformation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∆</m:t>
                    </m:r>
                    <m:r>
                      <a:rPr lang="en-US" sz="2000" i="1">
                        <a:latin typeface="Cambria Math"/>
                      </a:rPr>
                      <m:t>𝑅𝐾𝑋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Describe the transformation using direction, degrees, or scale factor.</a:t>
                </a:r>
              </a:p>
              <a:p>
                <a:pPr marL="908050" indent="-457200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8050" indent="-457200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8050" indent="-457200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8050" indent="-457200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805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805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805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805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805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805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805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805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805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8050" indent="-457200">
                  <a:buFont typeface="+mj-lt"/>
                  <a:buAutoNum type="alphaL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whether or not the transformation could be described as “a rotation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270°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clockwise centered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.”             Explain why or why not.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288869"/>
                <a:ext cx="10270273" cy="5940088"/>
              </a:xfrm>
              <a:prstGeom prst="rect">
                <a:avLst/>
              </a:prstGeom>
              <a:blipFill>
                <a:blip r:embed="rId4"/>
                <a:stretch>
                  <a:fillRect t="-615" r="-890" b="-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0BF0C4-6FC7-404C-A5EA-D4F4E9094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731689"/>
              </p:ext>
            </p:extLst>
          </p:nvPr>
        </p:nvGraphicFramePr>
        <p:xfrm>
          <a:off x="1913938" y="1108140"/>
          <a:ext cx="7452000" cy="384048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412000">
                  <a:extLst>
                    <a:ext uri="{9D8B030D-6E8A-4147-A177-3AD203B41FA5}">
                      <a16:colId xmlns:a16="http://schemas.microsoft.com/office/drawing/2014/main" val="4050971299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199374457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37620026"/>
                    </a:ext>
                  </a:extLst>
                </a:gridCol>
              </a:tblGrid>
              <a:tr h="6485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Type of 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Center, Line, or Movement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666824"/>
                  </a:ext>
                </a:extLst>
              </a:tr>
              <a:tr h="3026385">
                <a:tc>
                  <a:txBody>
                    <a:bodyPr/>
                    <a:lstStyle/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Dilation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Rotation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Reflection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Translation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dilation is _____.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rotation is _____.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Line of reflection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______.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Down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Left 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Right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Up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6791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550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2096A0-9A0C-014B-9551-AF975BC9E25C}"/>
              </a:ext>
            </a:extLst>
          </p:cNvPr>
          <p:cNvPicPr/>
          <p:nvPr/>
        </p:nvPicPr>
        <p:blipFill rotWithShape="1">
          <a:blip r:embed="rId3"/>
          <a:srcRect l="14598" r="17376"/>
          <a:stretch/>
        </p:blipFill>
        <p:spPr>
          <a:xfrm>
            <a:off x="8251765" y="86968"/>
            <a:ext cx="3376385" cy="6113755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7492" y="433834"/>
                <a:ext cx="7286573" cy="4308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diagram shows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𝑅𝐾𝑋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𝑅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𝐾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𝑋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without the circular grid paper.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𝑋𝑀𝑋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𝑅𝑀𝑅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𝐾𝑀𝐾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1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degree of rotation can be determined using the angles that connect the vertices and the center of rotation.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2" y="433834"/>
                <a:ext cx="7286573" cy="4308872"/>
              </a:xfrm>
              <a:prstGeom prst="rect">
                <a:avLst/>
              </a:prstGeom>
              <a:blipFill>
                <a:blip r:embed="rId5"/>
                <a:stretch>
                  <a:fillRect l="-1255" t="-1273" b="-2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6948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3B4455-1ED0-5F45-B333-1156FCA6B6A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95333" y="1060326"/>
            <a:ext cx="6685581" cy="5597572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5711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7485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36341" y="288870"/>
                <a:ext cx="1028142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diagram shows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𝑅𝐾𝑋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𝑅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𝐾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𝑋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a different transformation.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41" y="288870"/>
                <a:ext cx="10281426" cy="830997"/>
              </a:xfrm>
              <a:prstGeom prst="rect">
                <a:avLst/>
              </a:prstGeom>
              <a:blipFill>
                <a:blip r:embed="rId5"/>
                <a:stretch>
                  <a:fillRect l="-889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4670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7492" y="500743"/>
                <a:ext cx="1028142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Identify the transformation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𝑅𝐾𝑋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Describe the transformation using direction, degrees, or scale factor.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2" y="500743"/>
                <a:ext cx="10281425" cy="830997"/>
              </a:xfrm>
              <a:prstGeom prst="rect">
                <a:avLst/>
              </a:prstGeom>
              <a:blipFill>
                <a:blip r:embed="rId4"/>
                <a:stretch>
                  <a:fillRect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08F070-5CBA-0B47-8857-98F7CF5BD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981866"/>
              </p:ext>
            </p:extLst>
          </p:nvPr>
        </p:nvGraphicFramePr>
        <p:xfrm>
          <a:off x="1880081" y="1586918"/>
          <a:ext cx="7560000" cy="4138196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143612319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3587347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625732518"/>
                    </a:ext>
                  </a:extLst>
                </a:gridCol>
              </a:tblGrid>
              <a:tr h="815876">
                <a:tc>
                  <a:txBody>
                    <a:bodyPr/>
                    <a:lstStyle/>
                    <a:p>
                      <a:pPr marL="4572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Type of 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Center, Line, or Movement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194103"/>
                  </a:ext>
                </a:extLst>
              </a:tr>
              <a:tr h="3252158">
                <a:tc>
                  <a:txBody>
                    <a:bodyPr/>
                    <a:lstStyle/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Dilation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Rotation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Reflection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Translation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dilation is _____.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rotation is _____.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Line of </a:t>
                      </a: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reflection </a:t>
                      </a:r>
                      <a:b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</a:t>
                      </a: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______.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Down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Left 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Right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Up 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4605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392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58644" y="500740"/>
                <a:ext cx="10292576" cy="5586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0805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Two students’ descriptions of the transformation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𝑅𝐾𝑋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shown.</a:t>
                </a:r>
              </a:p>
              <a:p>
                <a:pPr marL="896112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112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112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112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3716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 piece of patty paper to copy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𝑅𝐾𝑋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13716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Perform each student’s transformation to prove that each transformation does not work.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why both students are wrong. Write your reasoning for why the transformations do not work. </a:t>
                </a:r>
              </a:p>
              <a:p>
                <a:pPr lvl="0"/>
                <a:endParaRPr lang="en-US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500740"/>
                <a:ext cx="10292576" cy="5586145"/>
              </a:xfrm>
              <a:prstGeom prst="rect">
                <a:avLst/>
              </a:prstGeom>
              <a:blipFill>
                <a:blip r:embed="rId4"/>
                <a:stretch>
                  <a:fillRect t="-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711235F-D09F-2B4D-843F-CCEC3E4152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5415"/>
                  </p:ext>
                </p:extLst>
              </p:nvPr>
            </p:nvGraphicFramePr>
            <p:xfrm>
              <a:off x="1914705" y="1426183"/>
              <a:ext cx="7200000" cy="102743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3616218337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3925021317"/>
                        </a:ext>
                      </a:extLst>
                    </a:gridCol>
                  </a:tblGrid>
                  <a:tr h="5048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Michela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Marc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3013480"/>
                      </a:ext>
                    </a:extLst>
                  </a:tr>
                  <a:tr h="5226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reflection across line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𝑀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translation down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840125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711235F-D09F-2B4D-843F-CCEC3E4152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5415"/>
                  </p:ext>
                </p:extLst>
              </p:nvPr>
            </p:nvGraphicFramePr>
            <p:xfrm>
              <a:off x="1914705" y="1426183"/>
              <a:ext cx="7200000" cy="102743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3616218337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3925021317"/>
                        </a:ext>
                      </a:extLst>
                    </a:gridCol>
                  </a:tblGrid>
                  <a:tr h="5048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Michela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Marc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3013480"/>
                      </a:ext>
                    </a:extLst>
                  </a:tr>
                  <a:tr h="5226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9" t="-98837" r="-100338" b="-8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translation down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84012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09941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hart, radar chart&#10;&#10;Description automatically generated">
            <a:extLst>
              <a:ext uri="{FF2B5EF4-FFF2-40B4-BE49-F238E27FC236}">
                <a16:creationId xmlns:a16="http://schemas.microsoft.com/office/drawing/2014/main" id="{9801B62E-58CA-974F-81CF-B70BB7F78CB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7050" y="825542"/>
            <a:ext cx="5609870" cy="5873090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69794" y="363877"/>
                <a:ext cx="102591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diagram shows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𝑇𝐾𝐹𝑌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𝑇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𝐾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𝐹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𝑌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94" y="363877"/>
                <a:ext cx="10259123" cy="461665"/>
              </a:xfrm>
              <a:prstGeom prst="rect">
                <a:avLst/>
              </a:prstGeom>
              <a:blipFill>
                <a:blip r:embed="rId5"/>
                <a:stretch>
                  <a:fillRect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0392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9101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0875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36340" y="411531"/>
                <a:ext cx="1032603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0328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Identify the transformation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𝑇𝐾𝐹𝑌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Describe the transformation using direction, degrees, or scale factor.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40" y="411531"/>
                <a:ext cx="10326031" cy="830997"/>
              </a:xfrm>
              <a:prstGeom prst="rect">
                <a:avLst/>
              </a:prstGeom>
              <a:blipFill>
                <a:blip r:embed="rId4"/>
                <a:stretch>
                  <a:fillRect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D99093-3DFC-1741-B1A5-6F718D4A4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91176"/>
              </p:ext>
            </p:extLst>
          </p:nvPr>
        </p:nvGraphicFramePr>
        <p:xfrm>
          <a:off x="2011817" y="1591331"/>
          <a:ext cx="7488000" cy="4395003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898354862"/>
                    </a:ext>
                  </a:extLst>
                </a:gridCol>
                <a:gridCol w="2808000">
                  <a:extLst>
                    <a:ext uri="{9D8B030D-6E8A-4147-A177-3AD203B41FA5}">
                      <a16:colId xmlns:a16="http://schemas.microsoft.com/office/drawing/2014/main" val="1333897848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803259840"/>
                    </a:ext>
                  </a:extLst>
                </a:gridCol>
              </a:tblGrid>
              <a:tr h="76788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Type of 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Center, Line, or Movement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773638"/>
                  </a:ext>
                </a:extLst>
              </a:tr>
              <a:tr h="3218537">
                <a:tc>
                  <a:txBody>
                    <a:bodyPr/>
                    <a:lstStyle/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Dilation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Rotation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Reflection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Translation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dilation is _____.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rotation is _____.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Line of reflection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______.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Down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Left 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Right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Up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081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6020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27355" y="216499"/>
            <a:ext cx="9612351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1.5.3 Guided Practice: Rotations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3248" y="13704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781196" y="1104325"/>
                <a:ext cx="1037002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table shows three different rotations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𝑇𝐾𝐹𝑌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Determine the direction of rotation, center of rotation, and the degree of rotation for each.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96" y="1104325"/>
                <a:ext cx="10370024" cy="1200329"/>
              </a:xfrm>
              <a:prstGeom prst="rect">
                <a:avLst/>
              </a:prstGeom>
              <a:blipFill>
                <a:blip r:embed="rId5"/>
                <a:stretch>
                  <a:fillRect l="-882" t="-45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D0C5ECD-32B3-814E-9ECE-3E62993CA726}"/>
              </a:ext>
            </a:extLst>
          </p:cNvPr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D416B7-1E34-964E-B8F9-1919B2348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130915"/>
              </p:ext>
            </p:extLst>
          </p:nvPr>
        </p:nvGraphicFramePr>
        <p:xfrm>
          <a:off x="1826322" y="2494427"/>
          <a:ext cx="7740000" cy="3963372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4320000">
                  <a:extLst>
                    <a:ext uri="{9D8B030D-6E8A-4147-A177-3AD203B41FA5}">
                      <a16:colId xmlns:a16="http://schemas.microsoft.com/office/drawing/2014/main" val="1929313184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423625347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Direction, Center, </a:t>
                      </a:r>
                      <a:b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and Degree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913600"/>
                  </a:ext>
                </a:extLst>
              </a:tr>
              <a:tr h="324337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Direction of rotation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________.</a:t>
                      </a: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rotation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________.</a:t>
                      </a: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Degree of rotation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________.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53293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2BE24180-AD41-CF48-8394-38CD1AD8E5C9}"/>
              </a:ext>
            </a:extLst>
          </p:cNvPr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414" r="4912"/>
          <a:stretch/>
        </p:blipFill>
        <p:spPr>
          <a:xfrm>
            <a:off x="1999012" y="3315747"/>
            <a:ext cx="4096988" cy="302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705363-5BCC-594E-9D2F-3110E3AC4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934096"/>
              </p:ext>
            </p:extLst>
          </p:nvPr>
        </p:nvGraphicFramePr>
        <p:xfrm>
          <a:off x="1759691" y="700946"/>
          <a:ext cx="8208000" cy="510912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4788000">
                  <a:extLst>
                    <a:ext uri="{9D8B030D-6E8A-4147-A177-3AD203B41FA5}">
                      <a16:colId xmlns:a16="http://schemas.microsoft.com/office/drawing/2014/main" val="2056108016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20707871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Direction, Center, </a:t>
                      </a:r>
                      <a:b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and Degree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Direction of rotation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________.</a:t>
                      </a: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rotation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________.</a:t>
                      </a: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Degree of rotation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________.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68791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03127AA8-7024-9147-A60B-6499DF396AFB}"/>
              </a:ext>
            </a:extLst>
          </p:cNvPr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80" t="6568" r="4130" b="2749"/>
          <a:stretch/>
        </p:blipFill>
        <p:spPr>
          <a:xfrm>
            <a:off x="2046353" y="1564433"/>
            <a:ext cx="4358245" cy="3966358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9872" y="62016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1646" y="645873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1AC6BBB-5763-8341-B240-C23FCD1B4259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1252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502A33-8D26-744F-B6BA-E29C413EFC85}"/>
              </a:ext>
            </a:extLst>
          </p:cNvPr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30" r="5109"/>
          <a:stretch/>
        </p:blipFill>
        <p:spPr>
          <a:xfrm>
            <a:off x="1693859" y="1552314"/>
            <a:ext cx="4845132" cy="4102109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B705363-5BCC-594E-9D2F-3110E3AC4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605578"/>
              </p:ext>
            </p:extLst>
          </p:nvPr>
        </p:nvGraphicFramePr>
        <p:xfrm>
          <a:off x="1754769" y="700946"/>
          <a:ext cx="8208000" cy="510912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4788000">
                  <a:extLst>
                    <a:ext uri="{9D8B030D-6E8A-4147-A177-3AD203B41FA5}">
                      <a16:colId xmlns:a16="http://schemas.microsoft.com/office/drawing/2014/main" val="2056108016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20707871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Direction, Center, </a:t>
                      </a:r>
                      <a:b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and Degree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Direction of rotation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________.</a:t>
                      </a: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rotation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________.</a:t>
                      </a: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Degree of rotation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________.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687910"/>
                  </a:ext>
                </a:extLst>
              </a:tr>
            </a:tbl>
          </a:graphicData>
        </a:graphic>
      </p:graphicFrame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1AC6BBB-5763-8341-B240-C23FCD1B4259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0046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D416B7-1E34-964E-B8F9-1919B2348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905833"/>
              </p:ext>
            </p:extLst>
          </p:nvPr>
        </p:nvGraphicFramePr>
        <p:xfrm>
          <a:off x="1505414" y="2474104"/>
          <a:ext cx="7740000" cy="410328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4320000">
                  <a:extLst>
                    <a:ext uri="{9D8B030D-6E8A-4147-A177-3AD203B41FA5}">
                      <a16:colId xmlns:a16="http://schemas.microsoft.com/office/drawing/2014/main" val="1929313184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423625347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Direction, Center, </a:t>
                      </a:r>
                      <a:b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and Degree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913600"/>
                  </a:ext>
                </a:extLst>
              </a:tr>
              <a:tr h="334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Direction of rotation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________.</a:t>
                      </a: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rotation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________.</a:t>
                      </a: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Degree of rotation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________.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532937"/>
                  </a:ext>
                </a:extLst>
              </a:tr>
            </a:tbl>
          </a:graphicData>
        </a:graphic>
      </p:graphicFrame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05414" y="221725"/>
            <a:ext cx="1038123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1.5.4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439" y="1712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836342" y="1166274"/>
                <a:ext cx="103812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table shows two different rotations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𝑇𝐾𝐹𝑌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Determine the direction of rotation, center of rotation, and the degree of rotation for each.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42" y="1166274"/>
                <a:ext cx="10381236" cy="1200329"/>
              </a:xfrm>
              <a:prstGeom prst="rect">
                <a:avLst/>
              </a:prstGeom>
              <a:blipFill>
                <a:blip r:embed="rId4"/>
                <a:stretch>
                  <a:fillRect l="-881" t="-4569" r="-1820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55A48D7-DC81-5F4D-9632-5F42A5D9EE47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867954-32E7-F94A-A572-FAEBAD501641}"/>
              </a:ext>
            </a:extLst>
          </p:cNvPr>
          <p:cNvPicPr/>
          <p:nvPr/>
        </p:nvPicPr>
        <p:blipFill rotWithShape="1">
          <a:blip r:embed="rId5"/>
          <a:srcRect l="5355" t="1563" r="2965" b="2874"/>
          <a:stretch/>
        </p:blipFill>
        <p:spPr bwMode="auto">
          <a:xfrm>
            <a:off x="1923997" y="3247866"/>
            <a:ext cx="3255406" cy="325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Google Shape;310;g104476d1465_1_39">
            <a:extLst>
              <a:ext uri="{FF2B5EF4-FFF2-40B4-BE49-F238E27FC236}">
                <a16:creationId xmlns:a16="http://schemas.microsoft.com/office/drawing/2014/main" id="{1485AB85-9745-5FCF-EDD6-199C3EDE605A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311;g104476d1465_1_39">
            <a:extLst>
              <a:ext uri="{FF2B5EF4-FFF2-40B4-BE49-F238E27FC236}">
                <a16:creationId xmlns:a16="http://schemas.microsoft.com/office/drawing/2014/main" id="{969DE8C6-13DD-2B2F-C624-D3EF889E945F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1AC6BBB-5763-8341-B240-C23FCD1B4259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E59A61-C1F8-A844-82FA-1B06A42D854D}"/>
              </a:ext>
            </a:extLst>
          </p:cNvPr>
          <p:cNvPicPr/>
          <p:nvPr/>
        </p:nvPicPr>
        <p:blipFill rotWithShape="1">
          <a:blip r:embed="rId4"/>
          <a:srcRect t="1397" b="1842"/>
          <a:stretch/>
        </p:blipFill>
        <p:spPr bwMode="auto">
          <a:xfrm>
            <a:off x="1761775" y="1471028"/>
            <a:ext cx="4163900" cy="48806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1D416B7-1E34-964E-B8F9-1919B2348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295624"/>
              </p:ext>
            </p:extLst>
          </p:nvPr>
        </p:nvGraphicFramePr>
        <p:xfrm>
          <a:off x="1491785" y="598957"/>
          <a:ext cx="7740000" cy="5858842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4320000">
                  <a:extLst>
                    <a:ext uri="{9D8B030D-6E8A-4147-A177-3AD203B41FA5}">
                      <a16:colId xmlns:a16="http://schemas.microsoft.com/office/drawing/2014/main" val="1929313184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423625347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Direction, Center, </a:t>
                      </a:r>
                      <a:b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and Degree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913600"/>
                  </a:ext>
                </a:extLst>
              </a:tr>
              <a:tr h="513884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Direction of rotation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________.</a:t>
                      </a: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rotation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________.</a:t>
                      </a: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273050" marR="0" lvl="0" indent="-2730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Degree of rotation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________. 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532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94757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1204</Words>
  <Application>Microsoft Office PowerPoint</Application>
  <PresentationFormat>Widescreen</PresentationFormat>
  <Paragraphs>286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Verdana</vt:lpstr>
      <vt:lpstr>Wingdings</vt:lpstr>
      <vt:lpstr>Century Gothic</vt:lpstr>
      <vt:lpstr>Calibri</vt:lpstr>
      <vt:lpstr>Arial Black</vt:lpstr>
      <vt:lpstr>Symbol</vt:lpstr>
      <vt:lpstr>Cambria Math</vt:lpstr>
      <vt:lpstr>Courier New</vt:lpstr>
      <vt:lpstr>Arial</vt:lpstr>
      <vt:lpstr>Cambria</vt:lpstr>
      <vt:lpstr>1_Office Theme</vt:lpstr>
      <vt:lpstr>Geometry  Unit 1, Lesson 5  Transformations on the Plane – Part 1  Volume 1, pg. 27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30</cp:revision>
  <dcterms:created xsi:type="dcterms:W3CDTF">2015-03-17T18:51:18Z</dcterms:created>
  <dcterms:modified xsi:type="dcterms:W3CDTF">2022-07-02T12:29:06Z</dcterms:modified>
</cp:coreProperties>
</file>