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85" r:id="rId4"/>
    <p:sldId id="286" r:id="rId5"/>
    <p:sldId id="261" r:id="rId6"/>
    <p:sldId id="287" r:id="rId7"/>
    <p:sldId id="311" r:id="rId8"/>
    <p:sldId id="312" r:id="rId9"/>
    <p:sldId id="334" r:id="rId10"/>
    <p:sldId id="288" r:id="rId11"/>
    <p:sldId id="332" r:id="rId12"/>
    <p:sldId id="329" r:id="rId13"/>
    <p:sldId id="330" r:id="rId14"/>
    <p:sldId id="313" r:id="rId15"/>
    <p:sldId id="331" r:id="rId16"/>
    <p:sldId id="333" r:id="rId17"/>
    <p:sldId id="306" r:id="rId18"/>
    <p:sldId id="307" r:id="rId19"/>
    <p:sldId id="310" r:id="rId20"/>
  </p:sldIdLst>
  <p:sldSz cx="12192000" cy="6858000"/>
  <p:notesSz cx="6858000" cy="9144000"/>
  <p:embeddedFontLst>
    <p:embeddedFont>
      <p:font typeface="Arial Black" panose="020B0604020202020204" pitchFamily="34" charset="0"/>
      <p:bold r:id="rId22"/>
    </p:embeddedFont>
    <p:embeddedFont>
      <p:font typeface="Calibri" panose="020F0502020204030204" pitchFamily="34" charset="0"/>
      <p:regular r:id="rId23"/>
      <p:bold r:id="rId24"/>
      <p:italic r:id="rId25"/>
      <p:boldItalic r:id="rId26"/>
    </p:embeddedFont>
    <p:embeddedFont>
      <p:font typeface="Cambria" panose="02040503050406030204" pitchFamily="18" charset="0"/>
      <p:regular r:id="rId27"/>
      <p:bold r:id="rId28"/>
      <p:italic r:id="rId29"/>
      <p:boldItalic r:id="rId30"/>
    </p:embeddedFont>
    <p:embeddedFont>
      <p:font typeface="Cambria Math" panose="02040503050406030204" pitchFamily="18" charset="0"/>
      <p:regular r:id="rId31"/>
    </p:embeddedFont>
    <p:embeddedFont>
      <p:font typeface="Century Gothic" panose="020B0502020202020204" pitchFamily="34" charset="0"/>
      <p:regular r:id="rId32"/>
      <p:bold r:id="rId33"/>
      <p:italic r:id="rId34"/>
      <p:boldItalic r:id="rId35"/>
    </p:embeddedFont>
    <p:embeddedFont>
      <p:font typeface="Verdana" panose="020B060403050404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E5B"/>
    <a:srgbClr val="F79647"/>
    <a:srgbClr val="FCBD1E"/>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442" autoAdjust="0"/>
    <p:restoredTop sz="94707" autoAdjust="0"/>
  </p:normalViewPr>
  <p:slideViewPr>
    <p:cSldViewPr snapToGrid="0">
      <p:cViewPr varScale="1">
        <p:scale>
          <a:sx n="123" d="100"/>
          <a:sy n="123" d="100"/>
        </p:scale>
        <p:origin x="224" y="2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8606583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3357682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8406461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2392357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 Lesson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Defined and Undefined Terms – Part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4475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047850" y="1608425"/>
            <a:ext cx="9601565"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a:ea typeface="Verdana"/>
                <a:cs typeface="Verdana"/>
                <a:sym typeface="Verdana"/>
              </a:rPr>
              <a:t>MA.912.GR.1.1</a:t>
            </a:r>
          </a:p>
          <a:p>
            <a:pPr marL="466725" indent="0">
              <a:buSzPts val="1100"/>
              <a:buNone/>
            </a:pPr>
            <a:r>
              <a:rPr lang="en-US" sz="2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Prove relationships and theorems about lines and angles. Solve mathematical and real-world problems involving postulates, relationships, and theorems of lines and angles.</a:t>
            </a:r>
          </a:p>
          <a:p>
            <a:pPr marL="0" indent="0">
              <a:buSzPts val="1100"/>
              <a:buNone/>
            </a:pPr>
            <a:endParaRPr lang="en-US" sz="2800" dirty="0">
              <a:solidFill>
                <a:schemeClr val="tx1"/>
              </a:solidFill>
              <a:latin typeface="Verdana"/>
              <a:ea typeface="Verdana"/>
              <a:cs typeface="Verdana"/>
              <a:sym typeface="Verdana"/>
            </a:endParaRPr>
          </a:p>
          <a:p>
            <a:pPr marL="0" indent="0">
              <a:buSzPts val="1100"/>
              <a:buNone/>
            </a:pPr>
            <a:r>
              <a:rPr lang="en-US" sz="2800" dirty="0">
                <a:solidFill>
                  <a:schemeClr val="tx1"/>
                </a:solidFill>
                <a:latin typeface="Verdana"/>
                <a:ea typeface="Verdana"/>
                <a:cs typeface="Verdana"/>
                <a:sym typeface="Verdana"/>
              </a:rPr>
              <a:t>MA.912.GR.2.2</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Identify transformations that do or do not preserve distance. </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200" y="137892"/>
            <a:ext cx="1039872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604615"/>
            <a:ext cx="955880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p:txBody>
      </p:sp>
      <p:sp>
        <p:nvSpPr>
          <p:cNvPr id="9" name="Google Shape;278;g104476d1465_1_17">
            <a:extLst>
              <a:ext uri="{FF2B5EF4-FFF2-40B4-BE49-F238E27FC236}">
                <a16:creationId xmlns:a16="http://schemas.microsoft.com/office/drawing/2014/main" id="{077C6829-C721-C84C-B217-05FC82BD0900}"/>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13375" y="3888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31213" y="328085"/>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078513" y="1608425"/>
            <a:ext cx="961550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understand the three undefined terms of geometry.</a:t>
            </a:r>
          </a:p>
          <a:p>
            <a:pPr marL="457200" indent="-457200">
              <a:buFont typeface="Wingdings" pitchFamily="2" charset="2"/>
              <a:buChar char="q"/>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use rigid motions to define a straight angle.</a:t>
            </a:r>
          </a:p>
          <a:p>
            <a:pPr marL="457200" indent="-457200">
              <a:buFont typeface="Wingdings" pitchFamily="2" charset="2"/>
              <a:buChar char="q"/>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experiment with rigid motions on a plane.</a:t>
            </a:r>
          </a:p>
        </p:txBody>
      </p:sp>
      <p:sp>
        <p:nvSpPr>
          <p:cNvPr id="8" name="Google Shape;278;g104476d1465_1_17">
            <a:extLst>
              <a:ext uri="{FF2B5EF4-FFF2-40B4-BE49-F238E27FC236}">
                <a16:creationId xmlns:a16="http://schemas.microsoft.com/office/drawing/2014/main" id="{84D53208-BBC5-F045-A1FC-36E1745FA757}"/>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7673"/>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93902" y="0"/>
            <a:ext cx="9374182" cy="1271418"/>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1.2.1 Warm-Up: Would You Rather?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34901" y="211884"/>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474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a:t>
            </a:r>
            <a:endParaRPr i="1" dirty="0">
              <a:latin typeface="Calibri"/>
              <a:ea typeface="Calibri"/>
              <a:cs typeface="Calibri"/>
              <a:sym typeface="Calibri"/>
            </a:endParaRPr>
          </a:p>
        </p:txBody>
      </p:sp>
      <p:sp>
        <p:nvSpPr>
          <p:cNvPr id="2" name="TextBox 1">
            <a:extLst>
              <a:ext uri="{FF2B5EF4-FFF2-40B4-BE49-F238E27FC236}">
                <a16:creationId xmlns:a16="http://schemas.microsoft.com/office/drawing/2014/main" id="{E1D7562E-134F-D14B-AF1A-DF40E11EF758}"/>
              </a:ext>
            </a:extLst>
          </p:cNvPr>
          <p:cNvSpPr txBox="1"/>
          <p:nvPr/>
        </p:nvSpPr>
        <p:spPr>
          <a:xfrm>
            <a:off x="847493" y="1394250"/>
            <a:ext cx="10270274" cy="2677656"/>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Would you rather have pennies to match your weight or quarters to match your height?</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Explain your reasoning.</a:t>
            </a:r>
          </a:p>
        </p:txBody>
      </p:sp>
      <p:sp>
        <p:nvSpPr>
          <p:cNvPr id="9" name="Google Shape;278;g104476d1465_1_17">
            <a:extLst>
              <a:ext uri="{FF2B5EF4-FFF2-40B4-BE49-F238E27FC236}">
                <a16:creationId xmlns:a16="http://schemas.microsoft.com/office/drawing/2014/main" id="{D2E26B32-0C88-7847-9ECA-D11545A204F9}"/>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7673"/>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474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a:t>
            </a:r>
            <a:endParaRPr i="1" dirty="0">
              <a:latin typeface="Calibri"/>
              <a:ea typeface="Calibri"/>
              <a:cs typeface="Calibri"/>
              <a:sym typeface="Calibri"/>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18654" y="68550"/>
            <a:ext cx="955414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1.2.2 Exploration: Definitions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a:t>
            </a:r>
            <a:endParaRPr i="1" dirty="0">
              <a:latin typeface="Calibri"/>
              <a:ea typeface="Calibri"/>
              <a:cs typeface="Calibri"/>
              <a:sym typeface="Calibri"/>
            </a:endParaRP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66946" y="355273"/>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836340" y="1394250"/>
                <a:ext cx="10259123" cy="4247317"/>
              </a:xfrm>
              <a:prstGeom prst="rect">
                <a:avLst/>
              </a:prstGeom>
              <a:noFill/>
            </p:spPr>
            <p:txBody>
              <a:bodyPr wrap="square" rtlCol="0">
                <a:spAutoFit/>
              </a:bodyPr>
              <a:lstStyle/>
              <a:p>
                <a:pPr marL="457200" indent="-457200">
                  <a:spcAft>
                    <a:spcPts val="1200"/>
                  </a:spcAft>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Use two sheets of patty paper to complete the following. </a:t>
                </a:r>
              </a:p>
              <a:p>
                <a:pPr marL="914400" indent="-457200">
                  <a:spcAft>
                    <a:spcPts val="600"/>
                  </a:spcAft>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Draw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𝐻𝑁</m:t>
                        </m:r>
                      </m:e>
                    </m:acc>
                  </m:oMath>
                </a14:m>
                <a:r>
                  <a:rPr lang="en-US" sz="2400" dirty="0">
                    <a:latin typeface="Verdana" panose="020B0604030504040204" pitchFamily="34" charset="0"/>
                    <a:ea typeface="Verdana" panose="020B0604030504040204" pitchFamily="34" charset="0"/>
                    <a:cs typeface="Verdana" panose="020B0604030504040204" pitchFamily="34" charset="0"/>
                  </a:rPr>
                  <a:t> on one piece of patty paper.</a:t>
                </a:r>
              </a:p>
              <a:p>
                <a:pPr marL="914400" indent="-457200">
                  <a:spcAft>
                    <a:spcPts val="600"/>
                  </a:spcAft>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Draw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𝐵𝐿</m:t>
                        </m:r>
                      </m:e>
                    </m:acc>
                  </m:oMath>
                </a14:m>
                <a:r>
                  <a:rPr lang="en-US" sz="2400" dirty="0">
                    <a:latin typeface="Verdana" panose="020B0604030504040204" pitchFamily="34" charset="0"/>
                    <a:ea typeface="Verdana" panose="020B0604030504040204" pitchFamily="34" charset="0"/>
                    <a:cs typeface="Verdana" panose="020B0604030504040204" pitchFamily="34" charset="0"/>
                  </a:rPr>
                  <a:t> on the other piece of patty paper.</a:t>
                </a:r>
              </a:p>
              <a:p>
                <a:pPr marL="914400" indent="-457200">
                  <a:spcAft>
                    <a:spcPts val="600"/>
                  </a:spcAft>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Lay the piece of patty paper with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𝐻𝑁</m:t>
                        </m:r>
                      </m:e>
                    </m:acc>
                  </m:oMath>
                </a14:m>
                <a:r>
                  <a:rPr lang="en-US" sz="2400" dirty="0">
                    <a:latin typeface="Verdana" panose="020B0604030504040204" pitchFamily="34" charset="0"/>
                    <a:ea typeface="Verdana" panose="020B0604030504040204" pitchFamily="34" charset="0"/>
                    <a:cs typeface="Verdana" panose="020B0604030504040204" pitchFamily="34" charset="0"/>
                  </a:rPr>
                  <a:t> drawn on it on top of the piece with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𝐵𝐿</m:t>
                        </m:r>
                      </m:e>
                    </m:acc>
                  </m:oMath>
                </a14:m>
                <a:r>
                  <a:rPr lang="en-US" sz="2400" dirty="0">
                    <a:latin typeface="Verdana" panose="020B0604030504040204" pitchFamily="34" charset="0"/>
                    <a:ea typeface="Verdana" panose="020B0604030504040204" pitchFamily="34" charset="0"/>
                    <a:cs typeface="Verdana" panose="020B0604030504040204" pitchFamily="34" charset="0"/>
                  </a:rPr>
                  <a:t> drawn on it. Place the papers so that the points </a:t>
                </a:r>
                <a14:m>
                  <m:oMath xmlns:m="http://schemas.openxmlformats.org/officeDocument/2006/math">
                    <m:r>
                      <a:rPr lang="en-US" sz="2400" i="1">
                        <a:latin typeface="Cambria Math"/>
                      </a:rPr>
                      <m:t>𝐻</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a:rPr>
                      <m:t>𝐵</m:t>
                    </m:r>
                  </m:oMath>
                </a14:m>
                <a:r>
                  <a:rPr lang="en-US" sz="2400" dirty="0">
                    <a:latin typeface="Verdana" panose="020B0604030504040204" pitchFamily="34" charset="0"/>
                    <a:ea typeface="Verdana" panose="020B0604030504040204" pitchFamily="34" charset="0"/>
                    <a:cs typeface="Verdana" panose="020B0604030504040204" pitchFamily="34" charset="0"/>
                  </a:rPr>
                  <a:t> are on top of each other and the line segments coincide.</a:t>
                </a:r>
              </a:p>
              <a:p>
                <a:pPr marL="914400" indent="-457200">
                  <a:spcAft>
                    <a:spcPts val="600"/>
                  </a:spcAft>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Place your writing utensil on endpoint </a:t>
                </a:r>
                <a14:m>
                  <m:oMath xmlns:m="http://schemas.openxmlformats.org/officeDocument/2006/math">
                    <m:r>
                      <a:rPr lang="en-US" sz="2400" i="1">
                        <a:latin typeface="Cambria Math"/>
                      </a:rPr>
                      <m:t>𝐻</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Rotate the top sheet of patty paper until the two line segments make an obtuse angle.</a:t>
                </a: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836340" y="1394250"/>
                <a:ext cx="10259123" cy="4247317"/>
              </a:xfrm>
              <a:prstGeom prst="rect">
                <a:avLst/>
              </a:prstGeom>
              <a:blipFill>
                <a:blip r:embed="rId5"/>
                <a:stretch>
                  <a:fillRect l="-891" t="-1149" r="-594" b="-2443"/>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77FDFF9E-9668-7F40-B604-2436455445A7}"/>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TextBox 9">
            <a:extLst>
              <a:ext uri="{FF2B5EF4-FFF2-40B4-BE49-F238E27FC236}">
                <a16:creationId xmlns:a16="http://schemas.microsoft.com/office/drawing/2014/main" id="{152D1D4D-DCB8-A246-B186-D40316579D77}"/>
              </a:ext>
            </a:extLst>
          </p:cNvPr>
          <p:cNvSpPr txBox="1"/>
          <p:nvPr/>
        </p:nvSpPr>
        <p:spPr>
          <a:xfrm>
            <a:off x="847493" y="528619"/>
            <a:ext cx="10292575" cy="5262979"/>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Draw the obtuse angle you created below.</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When you rotated the top sheet, did the line segment change in size?</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When you rotated the top sheet, did the line segment change in position? </a:t>
            </a:r>
          </a:p>
        </p:txBody>
      </p:sp>
      <p:sp>
        <p:nvSpPr>
          <p:cNvPr id="9" name="Google Shape;278;g104476d1465_1_17">
            <a:extLst>
              <a:ext uri="{FF2B5EF4-FFF2-40B4-BE49-F238E27FC236}">
                <a16:creationId xmlns:a16="http://schemas.microsoft.com/office/drawing/2014/main" id="{77FDFF9E-9668-7F40-B604-2436455445A7}"/>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a:extLst>
              <a:ext uri="{FF2B5EF4-FFF2-40B4-BE49-F238E27FC236}">
                <a16:creationId xmlns:a16="http://schemas.microsoft.com/office/drawing/2014/main" id="{11D32C73-898D-2C74-1E9A-D82E1B5B63D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a:t>
            </a:r>
            <a:endParaRPr i="1" dirty="0">
              <a:latin typeface="Calibri"/>
              <a:ea typeface="Calibri"/>
              <a:cs typeface="Calibri"/>
              <a:sym typeface="Calibri"/>
            </a:endParaRPr>
          </a:p>
        </p:txBody>
      </p:sp>
      <p:pic>
        <p:nvPicPr>
          <p:cNvPr id="7" name="Google Shape;283;g104476d1465_1_17">
            <a:extLst>
              <a:ext uri="{FF2B5EF4-FFF2-40B4-BE49-F238E27FC236}">
                <a16:creationId xmlns:a16="http://schemas.microsoft.com/office/drawing/2014/main" id="{2BFCEDD6-BC53-C531-A7EC-EEA4E2ED6C3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5465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825190" y="528619"/>
            <a:ext cx="10303727" cy="4524315"/>
          </a:xfrm>
          <a:prstGeom prst="rect">
            <a:avLst/>
          </a:prstGeom>
          <a:noFill/>
        </p:spPr>
        <p:txBody>
          <a:bodyPr wrap="square" rtlCol="0">
            <a:spAutoFit/>
          </a:bodyPr>
          <a:lstStyle/>
          <a:p>
            <a:pPr marL="45720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Which part(s) of the obtuse angle has two points? </a:t>
            </a: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Rotate the top sheet of patty paper until the two line segments make a straight line.</a:t>
            </a: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Name the resulting line segment using the endpoints.</a:t>
            </a:r>
          </a:p>
        </p:txBody>
      </p:sp>
      <p:sp>
        <p:nvSpPr>
          <p:cNvPr id="6" name="Google Shape;278;g104476d1465_1_17">
            <a:extLst>
              <a:ext uri="{FF2B5EF4-FFF2-40B4-BE49-F238E27FC236}">
                <a16:creationId xmlns:a16="http://schemas.microsoft.com/office/drawing/2014/main" id="{285F77CB-5FF9-E743-9AA8-B4C11C925C98}"/>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598233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858645" y="528619"/>
                <a:ext cx="10218967" cy="4524315"/>
              </a:xfrm>
              <a:prstGeom prst="rect">
                <a:avLst/>
              </a:prstGeom>
              <a:noFill/>
            </p:spPr>
            <p:txBody>
              <a:bodyPr wrap="square" rtlCol="0">
                <a:spAutoFit/>
              </a:bodyPr>
              <a:lstStyle/>
              <a:p>
                <a:pPr marL="457200" indent="-457200">
                  <a:buFont typeface="+mj-lt"/>
                  <a:buAutoNum type="arabicPeriod" startAt="8"/>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estimate the number of degrees you rotated the top sheet of patty paper from its original position on top of line segment </a:t>
                </a:r>
                <a14:m>
                  <m:oMath xmlns:m="http://schemas.openxmlformats.org/officeDocument/2006/math">
                    <m:r>
                      <a:rPr lang="en-US" sz="2400" i="1">
                        <a:latin typeface="Cambria Math" panose="02040503050406030204" pitchFamily="18" charset="0"/>
                      </a:rPr>
                      <m:t>𝐵𝐿</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8"/>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r>
                  <a:rPr lang="en-US" sz="2400" dirty="0">
                    <a:latin typeface="Verdana" panose="020B0604030504040204" pitchFamily="34" charset="0"/>
                    <a:ea typeface="Verdana" panose="020B0604030504040204" pitchFamily="34" charset="0"/>
                    <a:cs typeface="Verdana" panose="020B0604030504040204" pitchFamily="34" charset="0"/>
                  </a:rPr>
                  <a:t>Based on the rotation and the definition of a straight angle, what “fact” about a line can be added to the “Facts about Lines” in the previous lesson?</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858645" y="528619"/>
                <a:ext cx="10218967" cy="4524315"/>
              </a:xfrm>
              <a:prstGeom prst="rect">
                <a:avLst/>
              </a:prstGeom>
              <a:blipFill>
                <a:blip r:embed="rId4"/>
                <a:stretch>
                  <a:fillRect l="-955" t="-1078" b="-2156"/>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120769DD-BB28-C740-A6A6-8565E70B1E53}"/>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7" name="Group 6">
            <a:extLst>
              <a:ext uri="{FF2B5EF4-FFF2-40B4-BE49-F238E27FC236}">
                <a16:creationId xmlns:a16="http://schemas.microsoft.com/office/drawing/2014/main" id="{0798C72F-DB6A-9745-81D3-20A060F602AA}"/>
              </a:ext>
            </a:extLst>
          </p:cNvPr>
          <p:cNvGrpSpPr/>
          <p:nvPr/>
        </p:nvGrpSpPr>
        <p:grpSpPr>
          <a:xfrm>
            <a:off x="1939578" y="1985918"/>
            <a:ext cx="6629400" cy="1064485"/>
            <a:chOff x="0" y="2"/>
            <a:chExt cx="6629400" cy="1064485"/>
          </a:xfrm>
        </p:grpSpPr>
        <p:grpSp>
          <p:nvGrpSpPr>
            <p:cNvPr id="8" name="Group 7">
              <a:extLst>
                <a:ext uri="{FF2B5EF4-FFF2-40B4-BE49-F238E27FC236}">
                  <a16:creationId xmlns:a16="http://schemas.microsoft.com/office/drawing/2014/main" id="{0274328B-85CD-8B46-BCFA-C09F8062AB12}"/>
                </a:ext>
              </a:extLst>
            </p:cNvPr>
            <p:cNvGrpSpPr/>
            <p:nvPr/>
          </p:nvGrpSpPr>
          <p:grpSpPr>
            <a:xfrm>
              <a:off x="0" y="2"/>
              <a:ext cx="6629400" cy="1064485"/>
              <a:chOff x="2031300" y="3262288"/>
              <a:chExt cx="6629400" cy="1045600"/>
            </a:xfrm>
          </p:grpSpPr>
          <p:sp>
            <p:nvSpPr>
              <p:cNvPr id="10" name="Rectangle 9">
                <a:extLst>
                  <a:ext uri="{FF2B5EF4-FFF2-40B4-BE49-F238E27FC236}">
                    <a16:creationId xmlns:a16="http://schemas.microsoft.com/office/drawing/2014/main" id="{20B84495-5E3C-4845-8390-DD83AFEB46FE}"/>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1" name="Group 10">
                <a:extLst>
                  <a:ext uri="{FF2B5EF4-FFF2-40B4-BE49-F238E27FC236}">
                    <a16:creationId xmlns:a16="http://schemas.microsoft.com/office/drawing/2014/main" id="{706A1CCC-713C-4140-BB57-730D7605DABC}"/>
                  </a:ext>
                </a:extLst>
              </p:cNvPr>
              <p:cNvGrpSpPr/>
              <p:nvPr/>
            </p:nvGrpSpPr>
            <p:grpSpPr>
              <a:xfrm>
                <a:off x="2031300" y="3262288"/>
                <a:ext cx="6629400" cy="1045600"/>
                <a:chOff x="2031300" y="3373600"/>
                <a:chExt cx="6629400" cy="1045600"/>
              </a:xfrm>
            </p:grpSpPr>
            <p:sp>
              <p:nvSpPr>
                <p:cNvPr id="13" name="Rectangle 12">
                  <a:extLst>
                    <a:ext uri="{FF2B5EF4-FFF2-40B4-BE49-F238E27FC236}">
                      <a16:creationId xmlns:a16="http://schemas.microsoft.com/office/drawing/2014/main" id="{962810D0-98D8-9D46-9032-51A0EEABA180}"/>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4" name="Group 13">
                  <a:extLst>
                    <a:ext uri="{FF2B5EF4-FFF2-40B4-BE49-F238E27FC236}">
                      <a16:creationId xmlns:a16="http://schemas.microsoft.com/office/drawing/2014/main" id="{B5E1200D-B20E-B247-B89C-F10A4D11DAC2}"/>
                    </a:ext>
                  </a:extLst>
                </p:cNvPr>
                <p:cNvGrpSpPr/>
                <p:nvPr/>
              </p:nvGrpSpPr>
              <p:grpSpPr>
                <a:xfrm>
                  <a:off x="2031300" y="3373600"/>
                  <a:ext cx="6629400" cy="1045600"/>
                  <a:chOff x="2031300" y="3373600"/>
                  <a:chExt cx="6629400" cy="1045600"/>
                </a:xfrm>
              </p:grpSpPr>
              <p:sp>
                <p:nvSpPr>
                  <p:cNvPr id="15" name="Rectangle 14">
                    <a:extLst>
                      <a:ext uri="{FF2B5EF4-FFF2-40B4-BE49-F238E27FC236}">
                        <a16:creationId xmlns:a16="http://schemas.microsoft.com/office/drawing/2014/main" id="{F39FA06F-8EE5-6441-8570-A52738D22C9C}"/>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6" name="Group 15">
                    <a:extLst>
                      <a:ext uri="{FF2B5EF4-FFF2-40B4-BE49-F238E27FC236}">
                        <a16:creationId xmlns:a16="http://schemas.microsoft.com/office/drawing/2014/main" id="{F1E8181C-FBFA-B447-8EF1-87E52343158C}"/>
                      </a:ext>
                    </a:extLst>
                  </p:cNvPr>
                  <p:cNvGrpSpPr/>
                  <p:nvPr/>
                </p:nvGrpSpPr>
                <p:grpSpPr>
                  <a:xfrm>
                    <a:off x="2031300" y="3373600"/>
                    <a:ext cx="6629400" cy="1045600"/>
                    <a:chOff x="0" y="0"/>
                    <a:chExt cx="6629400" cy="1045600"/>
                  </a:xfrm>
                </p:grpSpPr>
                <p:sp>
                  <p:nvSpPr>
                    <p:cNvPr id="17" name="Rectangle 16">
                      <a:extLst>
                        <a:ext uri="{FF2B5EF4-FFF2-40B4-BE49-F238E27FC236}">
                          <a16:creationId xmlns:a16="http://schemas.microsoft.com/office/drawing/2014/main" id="{5EC2E2AA-9788-7B40-A7A1-805DBD036C62}"/>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18" name="Rounded Rectangle 17">
                          <a:extLst>
                            <a:ext uri="{FF2B5EF4-FFF2-40B4-BE49-F238E27FC236}">
                              <a16:creationId xmlns:a16="http://schemas.microsoft.com/office/drawing/2014/main" id="{87EA59ED-D31B-EF4F-909D-4B2EB8FD402F}"/>
                            </a:ext>
                          </a:extLst>
                        </p:cNvPr>
                        <p:cNvSpPr/>
                        <p:nvPr/>
                      </p:nvSpPr>
                      <p:spPr>
                        <a:xfrm>
                          <a:off x="0" y="158268"/>
                          <a:ext cx="6629400" cy="887332"/>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72000" rIns="91425" bIns="0" anchor="ctr" anchorCtr="0">
                          <a:spAutoFit/>
                        </a:bodyPr>
                        <a:lstStyle/>
                        <a:p>
                          <a:pPr marL="715963">
                            <a:spcAft>
                              <a:spcPts val="1000"/>
                            </a:spcAft>
                          </a:pPr>
                          <a:r>
                            <a:rPr lang="en-US" sz="2000" dirty="0">
                              <a:solidFill>
                                <a:srgbClr val="6D983E"/>
                              </a:solidFill>
                              <a:latin typeface="Verdana" panose="020B0604030504040204" pitchFamily="34" charset="0"/>
                              <a:ea typeface="Verdana" panose="020B0604030504040204" pitchFamily="34" charset="0"/>
                              <a:cs typeface="Verdana" panose="020B0604030504040204" pitchFamily="34" charset="0"/>
                            </a:rPr>
                            <a:t>A</a:t>
                          </a:r>
                          <a:r>
                            <a:rPr lang="en-US" sz="2000" b="1" i="1" dirty="0">
                              <a:solidFill>
                                <a:srgbClr val="6D983E"/>
                              </a:solidFill>
                              <a:latin typeface="Verdana" panose="020B0604030504040204" pitchFamily="34" charset="0"/>
                              <a:ea typeface="Verdana" panose="020B0604030504040204" pitchFamily="34" charset="0"/>
                              <a:cs typeface="Verdana" panose="020B0604030504040204" pitchFamily="34" charset="0"/>
                            </a:rPr>
                            <a:t> straight angle</a:t>
                          </a:r>
                          <a:r>
                            <a:rPr lang="en-US" sz="2000" b="1" dirty="0">
                              <a:solidFill>
                                <a:srgbClr val="6D983E"/>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D983E"/>
                              </a:solidFill>
                              <a:latin typeface="Verdana" panose="020B0604030504040204" pitchFamily="34" charset="0"/>
                              <a:ea typeface="Verdana" panose="020B0604030504040204" pitchFamily="34" charset="0"/>
                              <a:cs typeface="Verdana" panose="020B0604030504040204" pitchFamily="34" charset="0"/>
                            </a:rPr>
                            <a:t>is an angle measuring exactly </a:t>
                          </a:r>
                          <a14:m>
                            <m:oMath xmlns:m="http://schemas.openxmlformats.org/officeDocument/2006/math">
                              <m:r>
                                <a:rPr lang="en-US" sz="2000" i="1">
                                  <a:solidFill>
                                    <a:srgbClr val="6D983E"/>
                                  </a:solidFill>
                                  <a:latin typeface="Cambria Math" panose="02040503050406030204" pitchFamily="18" charset="0"/>
                                  <a:ea typeface="Times New Roman" panose="02020603050405020304" pitchFamily="18" charset="0"/>
                                  <a:cs typeface="Times New Roman" panose="02020603050405020304" pitchFamily="18" charset="0"/>
                                </a:rPr>
                                <m:t>180°</m:t>
                              </m:r>
                            </m:oMath>
                          </a14:m>
                          <a:r>
                            <a:rPr lang="en-US" sz="2000" dirty="0">
                              <a:solidFill>
                                <a:srgbClr val="6D983E"/>
                              </a:solidFill>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8" name="Rounded Rectangle 17">
                          <a:extLst>
                            <a:ext uri="{FF2B5EF4-FFF2-40B4-BE49-F238E27FC236}">
                              <a16:creationId xmlns:a16="http://schemas.microsoft.com/office/drawing/2014/main" id="{87EA59ED-D31B-EF4F-909D-4B2EB8FD402F}"/>
                            </a:ext>
                          </a:extLst>
                        </p:cNvPr>
                        <p:cNvSpPr>
                          <a:spLocks noRot="1" noChangeAspect="1" noMove="1" noResize="1" noEditPoints="1" noAdjustHandles="1" noChangeArrowheads="1" noChangeShapeType="1" noTextEdit="1"/>
                        </p:cNvSpPr>
                        <p:nvPr/>
                      </p:nvSpPr>
                      <p:spPr>
                        <a:xfrm>
                          <a:off x="0" y="158268"/>
                          <a:ext cx="6629400" cy="887332"/>
                        </a:xfrm>
                        <a:prstGeom prst="roundRect">
                          <a:avLst>
                            <a:gd name="adj" fmla="val 16667"/>
                          </a:avLst>
                        </a:prstGeom>
                        <a:blipFill>
                          <a:blip r:embed="rId5"/>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grpSp>
            </p:grpSp>
          </p:grpSp>
        </p:grpSp>
        <p:pic>
          <p:nvPicPr>
            <p:cNvPr id="9" name="Shape 11" descr="Icon&#10;&#10;Description automatically generated">
              <a:extLst>
                <a:ext uri="{FF2B5EF4-FFF2-40B4-BE49-F238E27FC236}">
                  <a16:creationId xmlns:a16="http://schemas.microsoft.com/office/drawing/2014/main" id="{8E514332-5C32-C14D-B68E-76DC3E607D77}"/>
                </a:ext>
              </a:extLst>
            </p:cNvPr>
            <p:cNvPicPr/>
            <p:nvPr/>
          </p:nvPicPr>
          <p:blipFill rotWithShape="1">
            <a:blip r:embed="rId6" cstate="screen">
              <a:alphaModFix/>
              <a:extLst>
                <a:ext uri="{28A0092B-C50C-407E-A947-70E740481C1C}">
                  <a14:useLocalDpi xmlns:a14="http://schemas.microsoft.com/office/drawing/2010/main"/>
                </a:ext>
              </a:extLst>
            </a:blip>
            <a:srcRect/>
            <a:stretch/>
          </p:blipFill>
          <p:spPr>
            <a:xfrm>
              <a:off x="120555" y="294187"/>
              <a:ext cx="596176" cy="606697"/>
            </a:xfrm>
            <a:prstGeom prst="rect">
              <a:avLst/>
            </a:prstGeom>
            <a:noFill/>
            <a:ln>
              <a:noFill/>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1165770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a:t>
            </a:r>
            <a:endParaRPr i="1" dirty="0">
              <a:latin typeface="Calibri"/>
              <a:ea typeface="Calibri"/>
              <a:cs typeface="Calibri"/>
              <a:sym typeface="Calibri"/>
            </a:endParaRP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70525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6065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71960" y="46673"/>
            <a:ext cx="1005196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1.2.3 Bring It Together: Undefined Terms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a:t>
            </a:r>
            <a:endParaRPr i="1" dirty="0">
              <a:latin typeface="Calibri"/>
              <a:ea typeface="Calibri"/>
              <a:cs typeface="Calibri"/>
              <a:sym typeface="Calibri"/>
            </a:endParaRPr>
          </a:p>
        </p:txBody>
      </p:sp>
      <p:sp>
        <p:nvSpPr>
          <p:cNvPr id="8" name="TextBox 7">
            <a:extLst>
              <a:ext uri="{FF2B5EF4-FFF2-40B4-BE49-F238E27FC236}">
                <a16:creationId xmlns:a16="http://schemas.microsoft.com/office/drawing/2014/main" id="{669E00F9-F39F-5043-888E-B0A2D8C9AE0F}"/>
              </a:ext>
            </a:extLst>
          </p:cNvPr>
          <p:cNvSpPr txBox="1"/>
          <p:nvPr/>
        </p:nvSpPr>
        <p:spPr>
          <a:xfrm>
            <a:off x="858644" y="2645114"/>
            <a:ext cx="10247971" cy="2308324"/>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There are three terms in geometry that are considered “undefined terms.”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A term is considered undefined if, when explaining the term, the explanation relies on the term itself or a close synonym. This is sometimes called a circular definition.</a:t>
            </a:r>
          </a:p>
        </p:txBody>
      </p:sp>
      <p:sp>
        <p:nvSpPr>
          <p:cNvPr id="10" name="Google Shape;278;g104476d1465_1_17">
            <a:extLst>
              <a:ext uri="{FF2B5EF4-FFF2-40B4-BE49-F238E27FC236}">
                <a16:creationId xmlns:a16="http://schemas.microsoft.com/office/drawing/2014/main" id="{E37649FA-72D0-DE42-98CE-D098AE151A20}"/>
              </a:ext>
            </a:extLst>
          </p:cNvPr>
          <p:cNvSpPr/>
          <p:nvPr/>
        </p:nvSpPr>
        <p:spPr>
          <a:xfrm>
            <a:off x="0" y="305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1" name="Picture 2" descr="Icon&#10;&#10;Description automatically generated">
            <a:extLst>
              <a:ext uri="{FF2B5EF4-FFF2-40B4-BE49-F238E27FC236}">
                <a16:creationId xmlns:a16="http://schemas.microsoft.com/office/drawing/2014/main" id="{5D7F7086-3B46-0741-A8D9-C84B5033CCC5}"/>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72676" y="22262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2B0F65BE-AE8E-2C4D-A498-387C235F9496}"/>
              </a:ext>
            </a:extLst>
          </p:cNvPr>
          <p:cNvGrpSpPr/>
          <p:nvPr/>
        </p:nvGrpSpPr>
        <p:grpSpPr>
          <a:xfrm>
            <a:off x="2232479" y="1441255"/>
            <a:ext cx="7553601" cy="903358"/>
            <a:chOff x="-1" y="-3151"/>
            <a:chExt cx="7553601" cy="903492"/>
          </a:xfrm>
        </p:grpSpPr>
        <p:grpSp>
          <p:nvGrpSpPr>
            <p:cNvPr id="13" name="Group 12">
              <a:extLst>
                <a:ext uri="{FF2B5EF4-FFF2-40B4-BE49-F238E27FC236}">
                  <a16:creationId xmlns:a16="http://schemas.microsoft.com/office/drawing/2014/main" id="{B9F69195-ADE3-E64B-BD40-1281F9C04CD4}"/>
                </a:ext>
              </a:extLst>
            </p:cNvPr>
            <p:cNvGrpSpPr/>
            <p:nvPr/>
          </p:nvGrpSpPr>
          <p:grpSpPr>
            <a:xfrm>
              <a:off x="-1" y="-3151"/>
              <a:ext cx="7553601" cy="903492"/>
              <a:chOff x="2031299" y="3383657"/>
              <a:chExt cx="7553601" cy="903492"/>
            </a:xfrm>
          </p:grpSpPr>
          <p:grpSp>
            <p:nvGrpSpPr>
              <p:cNvPr id="15" name="Group 14">
                <a:extLst>
                  <a:ext uri="{FF2B5EF4-FFF2-40B4-BE49-F238E27FC236}">
                    <a16:creationId xmlns:a16="http://schemas.microsoft.com/office/drawing/2014/main" id="{5E147E21-512D-0049-95D5-9043395224DF}"/>
                  </a:ext>
                </a:extLst>
              </p:cNvPr>
              <p:cNvGrpSpPr/>
              <p:nvPr/>
            </p:nvGrpSpPr>
            <p:grpSpPr>
              <a:xfrm>
                <a:off x="2031299" y="3383657"/>
                <a:ext cx="7553601" cy="903492"/>
                <a:chOff x="-1" y="-3151"/>
                <a:chExt cx="7553601" cy="903492"/>
              </a:xfrm>
            </p:grpSpPr>
            <p:sp>
              <p:nvSpPr>
                <p:cNvPr id="16" name="Rectangle 15">
                  <a:extLst>
                    <a:ext uri="{FF2B5EF4-FFF2-40B4-BE49-F238E27FC236}">
                      <a16:creationId xmlns:a16="http://schemas.microsoft.com/office/drawing/2014/main" id="{0F8F2241-5D36-7A4C-AC88-26D8E7604022}"/>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7" name="Rectangle 16">
                  <a:extLst>
                    <a:ext uri="{FF2B5EF4-FFF2-40B4-BE49-F238E27FC236}">
                      <a16:creationId xmlns:a16="http://schemas.microsoft.com/office/drawing/2014/main" id="{C918AD0E-19A3-7D4A-98B8-96BAFCD29CA7}"/>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8" name="Rounded Rectangle 17">
                  <a:extLst>
                    <a:ext uri="{FF2B5EF4-FFF2-40B4-BE49-F238E27FC236}">
                      <a16:creationId xmlns:a16="http://schemas.microsoft.com/office/drawing/2014/main" id="{04B0E2E0-4026-844F-BB49-65F5CCFA430F}"/>
                    </a:ext>
                  </a:extLst>
                </p:cNvPr>
                <p:cNvSpPr/>
                <p:nvPr/>
              </p:nvSpPr>
              <p:spPr>
                <a:xfrm>
                  <a:off x="-1" y="-3151"/>
                  <a:ext cx="7553601" cy="903492"/>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72000" rIns="91425" bIns="0" anchor="ctr" anchorCtr="0">
                  <a:spAutoFit/>
                </a:bodyPr>
                <a:lstStyle/>
                <a:p>
                  <a:pPr marL="804863">
                    <a:spcAft>
                      <a:spcPts val="1000"/>
                    </a:spcAft>
                  </a:pP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A </a:t>
                  </a:r>
                  <a:r>
                    <a:rPr lang="en-US" sz="2000" b="1" dirty="0">
                      <a:solidFill>
                        <a:srgbClr val="0075BF"/>
                      </a:solidFill>
                      <a:latin typeface="Verdana" panose="020B0604030504040204" pitchFamily="34" charset="0"/>
                      <a:ea typeface="Verdana" panose="020B0604030504040204" pitchFamily="34" charset="0"/>
                      <a:cs typeface="Verdana" panose="020B0604030504040204" pitchFamily="34" charset="0"/>
                    </a:rPr>
                    <a:t>definition</a:t>
                  </a: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is an exact statement, written formally, of the meaning or description of a word.</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pSp>
        </p:grpSp>
        <p:pic>
          <p:nvPicPr>
            <p:cNvPr id="14" name="image15.png" descr="Icon&#10;&#10;Description automatically generated">
              <a:extLst>
                <a:ext uri="{FF2B5EF4-FFF2-40B4-BE49-F238E27FC236}">
                  <a16:creationId xmlns:a16="http://schemas.microsoft.com/office/drawing/2014/main" id="{F3DBBDB5-01FC-314B-ADF2-405C13DDE8A5}"/>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167495" y="135864"/>
              <a:ext cx="625463" cy="625463"/>
            </a:xfrm>
            <a:prstGeom prst="rect">
              <a:avLst/>
            </a:prstGeom>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3399856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000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B74EB5C6-2FDE-474B-866F-02AD6706D73C}"/>
              </a:ext>
            </a:extLst>
          </p:cNvPr>
          <p:cNvSpPr txBox="1"/>
          <p:nvPr/>
        </p:nvSpPr>
        <p:spPr>
          <a:xfrm>
            <a:off x="858643" y="528619"/>
            <a:ext cx="10281425" cy="5109091"/>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In the previous lesson you wrote a definition for the term “line.” Review your definition and determine if your definition is considered circular.</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Although we have “facts about lines,” “line” is an undefined term in geometry. The other two undefined terms in geometry are “point” and “plane.” Look back through the previous lesson to notice how often these terms were used without providing a definition.</a:t>
            </a:r>
          </a:p>
          <a:p>
            <a:r>
              <a:rPr lang="en-US" dirty="0"/>
              <a:t> </a:t>
            </a:r>
          </a:p>
        </p:txBody>
      </p:sp>
      <p:sp>
        <p:nvSpPr>
          <p:cNvPr id="6" name="Google Shape;278;g104476d1465_1_17">
            <a:extLst>
              <a:ext uri="{FF2B5EF4-FFF2-40B4-BE49-F238E27FC236}">
                <a16:creationId xmlns:a16="http://schemas.microsoft.com/office/drawing/2014/main" id="{120769DD-BB28-C740-A6A6-8565E70B1E53}"/>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8" name="Google Shape;283;g104476d1465_1_17">
            <a:extLst>
              <a:ext uri="{FF2B5EF4-FFF2-40B4-BE49-F238E27FC236}">
                <a16:creationId xmlns:a16="http://schemas.microsoft.com/office/drawing/2014/main" id="{E30BCF2E-9932-0B1E-54F5-0E364452067D}"/>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878348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A08C1C0E-C7C0-F14B-88E2-57B6133AD69D}"/>
              </a:ext>
            </a:extLst>
          </p:cNvPr>
          <p:cNvSpPr txBox="1"/>
          <p:nvPr/>
        </p:nvSpPr>
        <p:spPr>
          <a:xfrm>
            <a:off x="847493" y="528619"/>
            <a:ext cx="10281424" cy="83099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label each description as a line, plane, or point. </a:t>
            </a:r>
          </a:p>
        </p:txBody>
      </p:sp>
      <p:sp>
        <p:nvSpPr>
          <p:cNvPr id="6" name="Google Shape;278;g104476d1465_1_17">
            <a:extLst>
              <a:ext uri="{FF2B5EF4-FFF2-40B4-BE49-F238E27FC236}">
                <a16:creationId xmlns:a16="http://schemas.microsoft.com/office/drawing/2014/main" id="{7F2D86FB-FD71-474A-BE55-9ECAAD056232}"/>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a:extLst>
              <a:ext uri="{FF2B5EF4-FFF2-40B4-BE49-F238E27FC236}">
                <a16:creationId xmlns:a16="http://schemas.microsoft.com/office/drawing/2014/main" id="{43C34E26-6843-F243-821D-564477E2FCE5}"/>
              </a:ext>
            </a:extLst>
          </p:cNvPr>
          <p:cNvGraphicFramePr>
            <a:graphicFrameLocks noGrp="1"/>
          </p:cNvGraphicFramePr>
          <p:nvPr>
            <p:extLst>
              <p:ext uri="{D42A27DB-BD31-4B8C-83A1-F6EECF244321}">
                <p14:modId xmlns:p14="http://schemas.microsoft.com/office/powerpoint/2010/main" val="1211319202"/>
              </p:ext>
            </p:extLst>
          </p:nvPr>
        </p:nvGraphicFramePr>
        <p:xfrm>
          <a:off x="1405216" y="1537977"/>
          <a:ext cx="7200000" cy="4572000"/>
        </p:xfrm>
        <a:graphic>
          <a:graphicData uri="http://schemas.openxmlformats.org/drawingml/2006/table">
            <a:tbl>
              <a:tblPr firstRow="1" firstCol="1" bandRow="1">
                <a:tableStyleId>{A91F0D33-8C57-4600-99A7-42BC86742BE1}</a:tableStyleId>
              </a:tblPr>
              <a:tblGrid>
                <a:gridCol w="4320000">
                  <a:extLst>
                    <a:ext uri="{9D8B030D-6E8A-4147-A177-3AD203B41FA5}">
                      <a16:colId xmlns:a16="http://schemas.microsoft.com/office/drawing/2014/main" val="4132573196"/>
                    </a:ext>
                  </a:extLst>
                </a:gridCol>
                <a:gridCol w="2880000">
                  <a:extLst>
                    <a:ext uri="{9D8B030D-6E8A-4147-A177-3AD203B41FA5}">
                      <a16:colId xmlns:a16="http://schemas.microsoft.com/office/drawing/2014/main" val="1394288436"/>
                    </a:ext>
                  </a:extLst>
                </a:gridCol>
              </a:tblGrid>
              <a:tr h="54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Undefined Term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292687093"/>
                  </a:ext>
                </a:extLst>
              </a:tr>
              <a:tr h="84328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has two dimensions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Line</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Point</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Plane</a:t>
                      </a:r>
                    </a:p>
                  </a:txBody>
                  <a:tcPr marL="90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319896"/>
                  </a:ext>
                </a:extLst>
              </a:tr>
              <a:tr h="84328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has no length, no width, </a:t>
                      </a:r>
                      <a:br>
                        <a:rPr lang="en-US" sz="2000" dirty="0">
                          <a:effectLst/>
                          <a:latin typeface="Verdana" panose="020B0604030504040204" pitchFamily="34" charset="0"/>
                          <a:ea typeface="Verdana" panose="020B0604030504040204" pitchFamily="34" charset="0"/>
                          <a:cs typeface="Verdana" panose="020B0604030504040204" pitchFamily="34" charset="0"/>
                        </a:rPr>
                      </a:br>
                      <a:r>
                        <a:rPr lang="en-US" sz="2000" dirty="0">
                          <a:effectLst/>
                          <a:latin typeface="Verdana" panose="020B0604030504040204" pitchFamily="34" charset="0"/>
                          <a:ea typeface="Verdana" panose="020B0604030504040204" pitchFamily="34" charset="0"/>
                          <a:cs typeface="Verdana" panose="020B0604030504040204" pitchFamily="34" charset="0"/>
                        </a:rPr>
                        <a:t>and no 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Line</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Point</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Plane </a:t>
                      </a:r>
                    </a:p>
                  </a:txBody>
                  <a:tcPr marL="90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09356297"/>
                  </a:ext>
                </a:extLst>
              </a:tr>
              <a:tr h="84328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is often drawn as a </a:t>
                      </a:r>
                      <a:br>
                        <a:rPr lang="en-US" sz="2000" dirty="0">
                          <a:effectLst/>
                          <a:latin typeface="Verdana" panose="020B0604030504040204" pitchFamily="34" charset="0"/>
                          <a:ea typeface="Verdana" panose="020B0604030504040204" pitchFamily="34" charset="0"/>
                          <a:cs typeface="Verdana" panose="020B0604030504040204" pitchFamily="34" charset="0"/>
                        </a:rPr>
                      </a:br>
                      <a:r>
                        <a:rPr lang="en-US" sz="2000" dirty="0">
                          <a:effectLst/>
                          <a:latin typeface="Verdana" panose="020B0604030504040204" pitchFamily="34" charset="0"/>
                          <a:ea typeface="Verdana" panose="020B0604030504040204" pitchFamily="34" charset="0"/>
                          <a:cs typeface="Verdana" panose="020B0604030504040204" pitchFamily="34" charset="0"/>
                        </a:rPr>
                        <a:t>four-sided figure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Line</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Point</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Plane</a:t>
                      </a:r>
                    </a:p>
                  </a:txBody>
                  <a:tcPr marL="90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4633740"/>
                  </a:ext>
                </a:extLst>
              </a:tr>
              <a:tr h="84328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has infinite length, </a:t>
                      </a:r>
                      <a:br>
                        <a:rPr lang="en-US" sz="2000" dirty="0">
                          <a:effectLst/>
                          <a:latin typeface="Verdana" panose="020B0604030504040204" pitchFamily="34" charset="0"/>
                          <a:ea typeface="Verdana" panose="020B0604030504040204" pitchFamily="34" charset="0"/>
                          <a:cs typeface="Verdana" panose="020B0604030504040204" pitchFamily="34" charset="0"/>
                        </a:rPr>
                      </a:br>
                      <a:r>
                        <a:rPr lang="en-US" sz="2000" dirty="0">
                          <a:effectLst/>
                          <a:latin typeface="Verdana" panose="020B0604030504040204" pitchFamily="34" charset="0"/>
                          <a:ea typeface="Verdana" panose="020B0604030504040204" pitchFamily="34" charset="0"/>
                          <a:cs typeface="Verdana" panose="020B0604030504040204" pitchFamily="34" charset="0"/>
                        </a:rPr>
                        <a:t>no width, no 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Line</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Point</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Plane </a:t>
                      </a:r>
                    </a:p>
                  </a:txBody>
                  <a:tcPr marL="90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32887953"/>
                  </a:ext>
                </a:extLst>
              </a:tr>
            </a:tbl>
          </a:graphicData>
        </a:graphic>
      </p:graphicFrame>
    </p:spTree>
    <p:extLst>
      <p:ext uri="{BB962C8B-B14F-4D97-AF65-F5344CB8AC3E}">
        <p14:creationId xmlns:p14="http://schemas.microsoft.com/office/powerpoint/2010/main" val="772273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a:t>
            </a:r>
            <a:endParaRPr i="1" dirty="0">
              <a:latin typeface="Calibri"/>
              <a:ea typeface="Calibri"/>
              <a:cs typeface="Calibri"/>
              <a:sym typeface="Calibri"/>
            </a:endParaRPr>
          </a:p>
        </p:txBody>
      </p:sp>
      <p:sp>
        <p:nvSpPr>
          <p:cNvPr id="6" name="Google Shape;278;g104476d1465_1_17">
            <a:extLst>
              <a:ext uri="{FF2B5EF4-FFF2-40B4-BE49-F238E27FC236}">
                <a16:creationId xmlns:a16="http://schemas.microsoft.com/office/drawing/2014/main" id="{7F2D86FB-FD71-474A-BE55-9ECAAD056232}"/>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a:extLst>
              <a:ext uri="{FF2B5EF4-FFF2-40B4-BE49-F238E27FC236}">
                <a16:creationId xmlns:a16="http://schemas.microsoft.com/office/drawing/2014/main" id="{38902BCC-15EB-8940-8E0A-1AA57D319C13}"/>
              </a:ext>
            </a:extLst>
          </p:cNvPr>
          <p:cNvGraphicFramePr>
            <a:graphicFrameLocks noGrp="1"/>
          </p:cNvGraphicFramePr>
          <p:nvPr>
            <p:extLst>
              <p:ext uri="{D42A27DB-BD31-4B8C-83A1-F6EECF244321}">
                <p14:modId xmlns:p14="http://schemas.microsoft.com/office/powerpoint/2010/main" val="4072954580"/>
              </p:ext>
            </p:extLst>
          </p:nvPr>
        </p:nvGraphicFramePr>
        <p:xfrm>
          <a:off x="1354848" y="783958"/>
          <a:ext cx="7200000" cy="5580000"/>
        </p:xfrm>
        <a:graphic>
          <a:graphicData uri="http://schemas.openxmlformats.org/drawingml/2006/table">
            <a:tbl>
              <a:tblPr firstRow="1" firstCol="1" bandRow="1">
                <a:tableStyleId>{A91F0D33-8C57-4600-99A7-42BC86742BE1}</a:tableStyleId>
              </a:tblPr>
              <a:tblGrid>
                <a:gridCol w="4320000">
                  <a:extLst>
                    <a:ext uri="{9D8B030D-6E8A-4147-A177-3AD203B41FA5}">
                      <a16:colId xmlns:a16="http://schemas.microsoft.com/office/drawing/2014/main" val="1220086047"/>
                    </a:ext>
                  </a:extLst>
                </a:gridCol>
                <a:gridCol w="2880000">
                  <a:extLst>
                    <a:ext uri="{9D8B030D-6E8A-4147-A177-3AD203B41FA5}">
                      <a16:colId xmlns:a16="http://schemas.microsoft.com/office/drawing/2014/main" val="4140598855"/>
                    </a:ext>
                  </a:extLst>
                </a:gridCol>
              </a:tblGrid>
              <a:tr h="54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Undefined Term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84328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named by an ordered pair in the coordinate plane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Line</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Point</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Plane</a:t>
                      </a:r>
                    </a:p>
                  </a:txBody>
                  <a:tcPr marL="90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2384086"/>
                  </a:ext>
                </a:extLst>
              </a:tr>
              <a:tr h="84328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indicates a location </a:t>
                      </a:r>
                      <a:br>
                        <a:rPr lang="en-US" sz="2000" dirty="0">
                          <a:effectLst/>
                          <a:latin typeface="Verdana" panose="020B0604030504040204" pitchFamily="34" charset="0"/>
                          <a:ea typeface="Verdana" panose="020B0604030504040204" pitchFamily="34" charset="0"/>
                          <a:cs typeface="Verdana" panose="020B0604030504040204" pitchFamily="34" charset="0"/>
                        </a:rPr>
                      </a:br>
                      <a:r>
                        <a:rPr lang="en-US" sz="2000" dirty="0">
                          <a:effectLst/>
                          <a:latin typeface="Verdana" panose="020B0604030504040204" pitchFamily="34" charset="0"/>
                          <a:ea typeface="Verdana" panose="020B0604030504040204" pitchFamily="34" charset="0"/>
                          <a:cs typeface="Verdana" panose="020B0604030504040204" pitchFamily="34" charset="0"/>
                        </a:rPr>
                        <a:t>or position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Line</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Point</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Plane </a:t>
                      </a:r>
                    </a:p>
                  </a:txBody>
                  <a:tcPr marL="90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7375327"/>
                  </a:ext>
                </a:extLst>
              </a:tr>
              <a:tr h="84328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has one dimension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Line</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Point</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Plane</a:t>
                      </a:r>
                    </a:p>
                  </a:txBody>
                  <a:tcPr marL="90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1968653"/>
                  </a:ext>
                </a:extLst>
              </a:tr>
              <a:tr h="84328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has infinite length, </a:t>
                      </a:r>
                      <a:br>
                        <a:rPr lang="en-US" sz="2000" dirty="0">
                          <a:effectLst/>
                          <a:latin typeface="Verdana" panose="020B0604030504040204" pitchFamily="34" charset="0"/>
                          <a:ea typeface="Verdana" panose="020B0604030504040204" pitchFamily="34" charset="0"/>
                          <a:cs typeface="Verdana" panose="020B0604030504040204" pitchFamily="34" charset="0"/>
                        </a:rPr>
                      </a:br>
                      <a:r>
                        <a:rPr lang="en-US" sz="2000" dirty="0">
                          <a:effectLst/>
                          <a:latin typeface="Verdana" panose="020B0604030504040204" pitchFamily="34" charset="0"/>
                          <a:ea typeface="Verdana" panose="020B0604030504040204" pitchFamily="34" charset="0"/>
                          <a:cs typeface="Verdana" panose="020B0604030504040204" pitchFamily="34" charset="0"/>
                        </a:rPr>
                        <a:t>infinite width, and zero 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Line</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Point</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Plane </a:t>
                      </a:r>
                    </a:p>
                  </a:txBody>
                  <a:tcPr marL="90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163670"/>
                  </a:ext>
                </a:extLst>
              </a:tr>
              <a:tr h="84328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has no dimension or </a:t>
                      </a:r>
                      <a:br>
                        <a:rPr lang="en-US" sz="2000" dirty="0">
                          <a:effectLst/>
                          <a:latin typeface="Verdana" panose="020B0604030504040204" pitchFamily="34" charset="0"/>
                          <a:ea typeface="Verdana" panose="020B0604030504040204" pitchFamily="34" charset="0"/>
                          <a:cs typeface="Verdana" panose="020B0604030504040204" pitchFamily="34" charset="0"/>
                        </a:rPr>
                      </a:br>
                      <a:r>
                        <a:rPr lang="en-US" sz="2000" dirty="0">
                          <a:effectLst/>
                          <a:latin typeface="Verdana" panose="020B0604030504040204" pitchFamily="34" charset="0"/>
                          <a:ea typeface="Verdana" panose="020B0604030504040204" pitchFamily="34" charset="0"/>
                          <a:cs typeface="Verdana" panose="020B0604030504040204" pitchFamily="34" charset="0"/>
                        </a:rPr>
                        <a:t>actual 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Line</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Point</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Plane</a:t>
                      </a:r>
                    </a:p>
                  </a:txBody>
                  <a:tcPr marL="900000" marR="900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2907681"/>
                  </a:ext>
                </a:extLst>
              </a:tr>
            </a:tbl>
          </a:graphicData>
        </a:graphic>
      </p:graphicFrame>
    </p:spTree>
    <p:extLst>
      <p:ext uri="{BB962C8B-B14F-4D97-AF65-F5344CB8AC3E}">
        <p14:creationId xmlns:p14="http://schemas.microsoft.com/office/powerpoint/2010/main" val="3916688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71960" y="83255"/>
            <a:ext cx="9545445" cy="701690"/>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3F2A67"/>
                </a:solidFill>
                <a:latin typeface="Verdana"/>
                <a:ea typeface="Verdana"/>
                <a:cs typeface="Verdana"/>
                <a:sym typeface="Verdana"/>
              </a:rPr>
              <a:t>1.2.4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527150" y="8325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836341" y="1386150"/>
            <a:ext cx="10303728" cy="46166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Rate yourself based on what you understood in today’s lesson.</a:t>
            </a:r>
          </a:p>
        </p:txBody>
      </p:sp>
      <p:sp>
        <p:nvSpPr>
          <p:cNvPr id="8" name="Google Shape;278;g104476d1465_1_17">
            <a:extLst>
              <a:ext uri="{FF2B5EF4-FFF2-40B4-BE49-F238E27FC236}">
                <a16:creationId xmlns:a16="http://schemas.microsoft.com/office/drawing/2014/main" id="{055A48D7-DC81-5F4D-9632-5F42A5D9EE47}"/>
              </a:ext>
            </a:extLst>
          </p:cNvPr>
          <p:cNvSpPr/>
          <p:nvPr/>
        </p:nvSpPr>
        <p:spPr>
          <a:xfrm>
            <a:off x="0" y="305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8B730018-BC60-1245-B69B-A97BD6C12611}"/>
                  </a:ext>
                </a:extLst>
              </p:cNvPr>
              <p:cNvGraphicFramePr>
                <a:graphicFrameLocks noGrp="1"/>
              </p:cNvGraphicFramePr>
              <p:nvPr>
                <p:extLst>
                  <p:ext uri="{D42A27DB-BD31-4B8C-83A1-F6EECF244321}">
                    <p14:modId xmlns:p14="http://schemas.microsoft.com/office/powerpoint/2010/main" val="1413095153"/>
                  </p:ext>
                </p:extLst>
              </p:nvPr>
            </p:nvGraphicFramePr>
            <p:xfrm>
              <a:off x="1385962" y="2220989"/>
              <a:ext cx="7740000" cy="2407920"/>
            </p:xfrm>
            <a:graphic>
              <a:graphicData uri="http://schemas.openxmlformats.org/drawingml/2006/table">
                <a:tbl>
                  <a:tblPr bandRow="1">
                    <a:tableStyleId>{A91F0D33-8C57-4600-99A7-42BC86742BE1}</a:tableStyleId>
                  </a:tblPr>
                  <a:tblGrid>
                    <a:gridCol w="4140000">
                      <a:extLst>
                        <a:ext uri="{9D8B030D-6E8A-4147-A177-3AD203B41FA5}">
                          <a16:colId xmlns:a16="http://schemas.microsoft.com/office/drawing/2014/main" val="3840307883"/>
                        </a:ext>
                      </a:extLst>
                    </a:gridCol>
                    <a:gridCol w="3600000">
                      <a:extLst>
                        <a:ext uri="{9D8B030D-6E8A-4147-A177-3AD203B41FA5}">
                          <a16:colId xmlns:a16="http://schemas.microsoft.com/office/drawing/2014/main" val="4071552971"/>
                        </a:ext>
                      </a:extLst>
                    </a:gridCol>
                  </a:tblGrid>
                  <a:tr h="874528">
                    <a:tc>
                      <a:txBody>
                        <a:bodyPr/>
                        <a:lstStyle/>
                        <a:p>
                          <a:pPr marL="42545" marR="0" indent="-42545"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Skill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spcBef>
                              <a:spcPts val="0"/>
                            </a:spcBef>
                            <a:spcAft>
                              <a:spcPts val="0"/>
                            </a:spcAft>
                          </a:pPr>
                          <a14:m>
                            <m:oMath xmlns:m="http://schemas.openxmlformats.org/officeDocument/2006/math">
                              <m:r>
                                <a:rPr lang="en-US" sz="2000" b="1">
                                  <a:effectLst/>
                                  <a:latin typeface="Cambria Math"/>
                                </a:rPr>
                                <m:t>𝟏</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 – I am just starting.</a:t>
                          </a:r>
                        </a:p>
                        <a:p>
                          <a:pPr marL="0" marR="0">
                            <a:spcBef>
                              <a:spcPts val="0"/>
                            </a:spcBef>
                            <a:spcAft>
                              <a:spcPts val="0"/>
                            </a:spcAft>
                          </a:pPr>
                          <a14:m>
                            <m:oMath xmlns:m="http://schemas.openxmlformats.org/officeDocument/2006/math">
                              <m:r>
                                <a:rPr lang="en-US" sz="2000" b="1">
                                  <a:effectLst/>
                                  <a:latin typeface="Cambria Math"/>
                                </a:rPr>
                                <m:t>𝟐</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 – I have some skills.</a:t>
                          </a:r>
                        </a:p>
                        <a:p>
                          <a:pPr marL="0" marR="0">
                            <a:spcBef>
                              <a:spcPts val="0"/>
                            </a:spcBef>
                            <a:spcAft>
                              <a:spcPts val="0"/>
                            </a:spcAft>
                          </a:pPr>
                          <a14:m>
                            <m:oMath xmlns:m="http://schemas.openxmlformats.org/officeDocument/2006/math">
                              <m:r>
                                <a:rPr lang="en-US" sz="2000" b="1">
                                  <a:effectLst/>
                                  <a:latin typeface="Cambria Math"/>
                                </a:rPr>
                                <m:t>𝟑</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 – I am almost there.</a:t>
                          </a:r>
                        </a:p>
                        <a:p>
                          <a:pPr marL="0" marR="0">
                            <a:spcBef>
                              <a:spcPts val="0"/>
                            </a:spcBef>
                            <a:spcAft>
                              <a:spcPts val="0"/>
                            </a:spcAft>
                          </a:pPr>
                          <a14:m>
                            <m:oMath xmlns:m="http://schemas.openxmlformats.org/officeDocument/2006/math">
                              <m:r>
                                <a:rPr lang="en-US" sz="2000" b="1">
                                  <a:effectLst/>
                                  <a:latin typeface="Cambria Math"/>
                                </a:rPr>
                                <m:t>𝟒</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 – I have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5516695"/>
                      </a:ext>
                    </a:extLst>
                  </a:tr>
                  <a:tr h="430787">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can understand the three  undefined terms of geometry.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9466373"/>
                      </a:ext>
                    </a:extLst>
                  </a:tr>
                  <a:tr h="20476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can define a straight angle.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7385687"/>
                      </a:ext>
                    </a:extLst>
                  </a:tr>
                </a:tbl>
              </a:graphicData>
            </a:graphic>
          </p:graphicFrame>
        </mc:Choice>
        <mc:Fallback xmlns="">
          <p:graphicFrame>
            <p:nvGraphicFramePr>
              <p:cNvPr id="2" name="Table 1">
                <a:extLst>
                  <a:ext uri="{FF2B5EF4-FFF2-40B4-BE49-F238E27FC236}">
                    <a16:creationId xmlns:a16="http://schemas.microsoft.com/office/drawing/2014/main" id="{8B730018-BC60-1245-B69B-A97BD6C12611}"/>
                  </a:ext>
                </a:extLst>
              </p:cNvPr>
              <p:cNvGraphicFramePr>
                <a:graphicFrameLocks noGrp="1"/>
              </p:cNvGraphicFramePr>
              <p:nvPr>
                <p:extLst>
                  <p:ext uri="{D42A27DB-BD31-4B8C-83A1-F6EECF244321}">
                    <p14:modId xmlns:p14="http://schemas.microsoft.com/office/powerpoint/2010/main" val="1413095153"/>
                  </p:ext>
                </p:extLst>
              </p:nvPr>
            </p:nvGraphicFramePr>
            <p:xfrm>
              <a:off x="1385962" y="2220989"/>
              <a:ext cx="7740000" cy="2407920"/>
            </p:xfrm>
            <a:graphic>
              <a:graphicData uri="http://schemas.openxmlformats.org/drawingml/2006/table">
                <a:tbl>
                  <a:tblPr bandRow="1">
                    <a:tableStyleId>{A91F0D33-8C57-4600-99A7-42BC86742BE1}</a:tableStyleId>
                  </a:tblPr>
                  <a:tblGrid>
                    <a:gridCol w="4140000">
                      <a:extLst>
                        <a:ext uri="{9D8B030D-6E8A-4147-A177-3AD203B41FA5}">
                          <a16:colId xmlns:a16="http://schemas.microsoft.com/office/drawing/2014/main" val="3840307883"/>
                        </a:ext>
                      </a:extLst>
                    </a:gridCol>
                    <a:gridCol w="3600000">
                      <a:extLst>
                        <a:ext uri="{9D8B030D-6E8A-4147-A177-3AD203B41FA5}">
                          <a16:colId xmlns:a16="http://schemas.microsoft.com/office/drawing/2014/main" val="4071552971"/>
                        </a:ext>
                      </a:extLst>
                    </a:gridCol>
                  </a:tblGrid>
                  <a:tr h="1310640">
                    <a:tc>
                      <a:txBody>
                        <a:bodyPr/>
                        <a:lstStyle/>
                        <a:p>
                          <a:pPr marL="42545" marR="0" indent="-42545"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Skill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5228" t="-2315" r="-338" b="-91204"/>
                          </a:stretch>
                        </a:blipFill>
                      </a:tcPr>
                    </a:tc>
                    <a:extLst>
                      <a:ext uri="{0D108BD9-81ED-4DB2-BD59-A6C34878D82A}">
                        <a16:rowId xmlns:a16="http://schemas.microsoft.com/office/drawing/2014/main" val="15516695"/>
                      </a:ext>
                    </a:extLst>
                  </a:tr>
                  <a:tr h="70104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can understand the three  undefined terms of geometry.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9466373"/>
                      </a:ext>
                    </a:extLst>
                  </a:tr>
                  <a:tr h="39624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can define a straight angle.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7385687"/>
                      </a:ext>
                    </a:extLst>
                  </a:tr>
                </a:tbl>
              </a:graphicData>
            </a:graphic>
          </p:graphicFrame>
        </mc:Fallback>
      </mc:AlternateContent>
    </p:spTree>
    <p:extLst>
      <p:ext uri="{BB962C8B-B14F-4D97-AF65-F5344CB8AC3E}">
        <p14:creationId xmlns:p14="http://schemas.microsoft.com/office/powerpoint/2010/main" val="553995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767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474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4CE9D117-FAE6-F74F-940B-9CD1479755BE}"/>
              </a:ext>
            </a:extLst>
          </p:cNvPr>
          <p:cNvSpPr txBox="1"/>
          <p:nvPr/>
        </p:nvSpPr>
        <p:spPr>
          <a:xfrm>
            <a:off x="858644" y="431083"/>
            <a:ext cx="10281424" cy="83099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Rate yourself based on how you feel about the following statements.</a:t>
            </a:r>
          </a:p>
        </p:txBody>
      </p:sp>
      <p:sp>
        <p:nvSpPr>
          <p:cNvPr id="6" name="Google Shape;278;g104476d1465_1_17">
            <a:extLst>
              <a:ext uri="{FF2B5EF4-FFF2-40B4-BE49-F238E27FC236}">
                <a16:creationId xmlns:a16="http://schemas.microsoft.com/office/drawing/2014/main" id="{5A057F2B-B43B-F64E-8B11-07A9669FD9E1}"/>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35B69763-CE3B-3E48-AFF9-DDA8A96CC0AA}"/>
                  </a:ext>
                </a:extLst>
              </p:cNvPr>
              <p:cNvGraphicFramePr>
                <a:graphicFrameLocks noGrp="1"/>
              </p:cNvGraphicFramePr>
              <p:nvPr>
                <p:extLst>
                  <p:ext uri="{D42A27DB-BD31-4B8C-83A1-F6EECF244321}">
                    <p14:modId xmlns:p14="http://schemas.microsoft.com/office/powerpoint/2010/main" val="3037709669"/>
                  </p:ext>
                </p:extLst>
              </p:nvPr>
            </p:nvGraphicFramePr>
            <p:xfrm>
              <a:off x="1406402" y="1704615"/>
              <a:ext cx="7740000" cy="2695440"/>
            </p:xfrm>
            <a:graphic>
              <a:graphicData uri="http://schemas.openxmlformats.org/drawingml/2006/table">
                <a:tbl>
                  <a:tblPr bandRow="1">
                    <a:tableStyleId>{A91F0D33-8C57-4600-99A7-42BC86742BE1}</a:tableStyleId>
                  </a:tblPr>
                  <a:tblGrid>
                    <a:gridCol w="4140000">
                      <a:extLst>
                        <a:ext uri="{9D8B030D-6E8A-4147-A177-3AD203B41FA5}">
                          <a16:colId xmlns:a16="http://schemas.microsoft.com/office/drawing/2014/main" val="2099703398"/>
                        </a:ext>
                      </a:extLst>
                    </a:gridCol>
                    <a:gridCol w="3600000">
                      <a:extLst>
                        <a:ext uri="{9D8B030D-6E8A-4147-A177-3AD203B41FA5}">
                          <a16:colId xmlns:a16="http://schemas.microsoft.com/office/drawing/2014/main" val="628115671"/>
                        </a:ext>
                      </a:extLst>
                    </a:gridCol>
                  </a:tblGrid>
                  <a:tr h="151892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spcBef>
                              <a:spcPts val="0"/>
                            </a:spcBef>
                            <a:spcAft>
                              <a:spcPts val="0"/>
                            </a:spcAft>
                          </a:pPr>
                          <a14:m>
                            <m:oMath xmlns:m="http://schemas.openxmlformats.org/officeDocument/2006/math">
                              <m:r>
                                <a:rPr lang="en-US" sz="2000" b="1">
                                  <a:effectLst/>
                                  <a:latin typeface="Cambria Math"/>
                                </a:rPr>
                                <m:t>𝟏</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 – I struggle with this.</a:t>
                          </a:r>
                        </a:p>
                        <a:p>
                          <a:pPr marL="534988" marR="0" indent="-534988">
                            <a:spcBef>
                              <a:spcPts val="0"/>
                            </a:spcBef>
                            <a:spcAft>
                              <a:spcPts val="0"/>
                            </a:spcAft>
                          </a:pPr>
                          <a14:m>
                            <m:oMath xmlns:m="http://schemas.openxmlformats.org/officeDocument/2006/math">
                              <m:r>
                                <a:rPr lang="en-US" sz="2000" b="1">
                                  <a:effectLst/>
                                  <a:latin typeface="Cambria Math"/>
                                </a:rPr>
                                <m:t>𝟐</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 – I am ready to grow in this area.</a:t>
                          </a:r>
                        </a:p>
                        <a:p>
                          <a:pPr marL="0" marR="0">
                            <a:spcBef>
                              <a:spcPts val="0"/>
                            </a:spcBef>
                            <a:spcAft>
                              <a:spcPts val="0"/>
                            </a:spcAft>
                          </a:pPr>
                          <a14:m>
                            <m:oMath xmlns:m="http://schemas.openxmlformats.org/officeDocument/2006/math">
                              <m:r>
                                <a:rPr lang="en-US" sz="2000" b="1">
                                  <a:effectLst/>
                                  <a:latin typeface="Cambria Math"/>
                                </a:rPr>
                                <m:t>𝟑</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 – I am almost there.</a:t>
                          </a:r>
                        </a:p>
                        <a:p>
                          <a:pPr marL="0" marR="0">
                            <a:spcBef>
                              <a:spcPts val="0"/>
                            </a:spcBef>
                            <a:spcAft>
                              <a:spcPts val="0"/>
                            </a:spcAft>
                          </a:pPr>
                          <a14:m>
                            <m:oMath xmlns:m="http://schemas.openxmlformats.org/officeDocument/2006/math">
                              <m:r>
                                <a:rPr lang="en-US" sz="2000" b="1">
                                  <a:effectLst/>
                                  <a:latin typeface="Cambria Math"/>
                                </a:rPr>
                                <m:t>𝟒</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 – That’s 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00319809"/>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am a student learner.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980669"/>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am a mathematician.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935598"/>
                      </a:ext>
                    </a:extLst>
                  </a:tr>
                </a:tbl>
              </a:graphicData>
            </a:graphic>
          </p:graphicFrame>
        </mc:Choice>
        <mc:Fallback xmlns="">
          <p:graphicFrame>
            <p:nvGraphicFramePr>
              <p:cNvPr id="2" name="Table 1">
                <a:extLst>
                  <a:ext uri="{FF2B5EF4-FFF2-40B4-BE49-F238E27FC236}">
                    <a16:creationId xmlns:a16="http://schemas.microsoft.com/office/drawing/2014/main" id="{35B69763-CE3B-3E48-AFF9-DDA8A96CC0AA}"/>
                  </a:ext>
                </a:extLst>
              </p:cNvPr>
              <p:cNvGraphicFramePr>
                <a:graphicFrameLocks noGrp="1"/>
              </p:cNvGraphicFramePr>
              <p:nvPr>
                <p:extLst>
                  <p:ext uri="{D42A27DB-BD31-4B8C-83A1-F6EECF244321}">
                    <p14:modId xmlns:p14="http://schemas.microsoft.com/office/powerpoint/2010/main" val="3037709669"/>
                  </p:ext>
                </p:extLst>
              </p:nvPr>
            </p:nvGraphicFramePr>
            <p:xfrm>
              <a:off x="1406402" y="1704615"/>
              <a:ext cx="7740000" cy="2695440"/>
            </p:xfrm>
            <a:graphic>
              <a:graphicData uri="http://schemas.openxmlformats.org/drawingml/2006/table">
                <a:tbl>
                  <a:tblPr bandRow="1">
                    <a:tableStyleId>{A91F0D33-8C57-4600-99A7-42BC86742BE1}</a:tableStyleId>
                  </a:tblPr>
                  <a:tblGrid>
                    <a:gridCol w="4140000">
                      <a:extLst>
                        <a:ext uri="{9D8B030D-6E8A-4147-A177-3AD203B41FA5}">
                          <a16:colId xmlns:a16="http://schemas.microsoft.com/office/drawing/2014/main" val="2099703398"/>
                        </a:ext>
                      </a:extLst>
                    </a:gridCol>
                    <a:gridCol w="3600000">
                      <a:extLst>
                        <a:ext uri="{9D8B030D-6E8A-4147-A177-3AD203B41FA5}">
                          <a16:colId xmlns:a16="http://schemas.microsoft.com/office/drawing/2014/main" val="628115671"/>
                        </a:ext>
                      </a:extLst>
                    </a:gridCol>
                  </a:tblGrid>
                  <a:tr h="161544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5228" t="-1880" r="-338" b="-68797"/>
                          </a:stretch>
                        </a:blipFill>
                      </a:tcPr>
                    </a:tc>
                    <a:extLst>
                      <a:ext uri="{0D108BD9-81ED-4DB2-BD59-A6C34878D82A}">
                        <a16:rowId xmlns:a16="http://schemas.microsoft.com/office/drawing/2014/main" val="2900319809"/>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am a student learner.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980669"/>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am a mathematician.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935598"/>
                      </a:ext>
                    </a:extLst>
                  </a:tr>
                </a:tbl>
              </a:graphicData>
            </a:graphic>
          </p:graphicFrame>
        </mc:Fallback>
      </mc:AlternateContent>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1329</TotalTime>
  <Words>975</Words>
  <Application>Microsoft Macintosh PowerPoint</Application>
  <PresentationFormat>Widescreen</PresentationFormat>
  <Paragraphs>187</Paragraphs>
  <Slides>19</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Wingdings</vt:lpstr>
      <vt:lpstr>Verdana</vt:lpstr>
      <vt:lpstr>Courier New</vt:lpstr>
      <vt:lpstr>Arial</vt:lpstr>
      <vt:lpstr>Cambria</vt:lpstr>
      <vt:lpstr>Century Gothic</vt:lpstr>
      <vt:lpstr>Calibri</vt:lpstr>
      <vt:lpstr>Arial Black</vt:lpstr>
      <vt:lpstr>Cambria Math</vt:lpstr>
      <vt:lpstr>1_Office Theme</vt:lpstr>
      <vt:lpstr>Geometry  Unit 1, Lesson 2  Defined and Undefined Terms – Part 2  Volume 1, pg. 9  </vt:lpstr>
      <vt:lpstr>Benchmarks</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29</cp:revision>
  <dcterms:created xsi:type="dcterms:W3CDTF">2015-03-17T18:51:18Z</dcterms:created>
  <dcterms:modified xsi:type="dcterms:W3CDTF">2023-03-01T16:13:59Z</dcterms:modified>
</cp:coreProperties>
</file>