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7" r:id="rId3"/>
    <p:sldId id="285" r:id="rId4"/>
    <p:sldId id="286" r:id="rId5"/>
    <p:sldId id="261" r:id="rId6"/>
    <p:sldId id="287" r:id="rId7"/>
    <p:sldId id="311" r:id="rId8"/>
    <p:sldId id="312" r:id="rId9"/>
    <p:sldId id="353" r:id="rId10"/>
    <p:sldId id="368" r:id="rId11"/>
    <p:sldId id="387" r:id="rId12"/>
    <p:sldId id="388" r:id="rId13"/>
    <p:sldId id="389" r:id="rId14"/>
    <p:sldId id="390" r:id="rId15"/>
    <p:sldId id="329" r:id="rId16"/>
    <p:sldId id="330" r:id="rId17"/>
    <p:sldId id="370" r:id="rId18"/>
    <p:sldId id="371" r:id="rId19"/>
    <p:sldId id="372" r:id="rId20"/>
    <p:sldId id="373" r:id="rId21"/>
    <p:sldId id="374" r:id="rId22"/>
    <p:sldId id="385" r:id="rId23"/>
    <p:sldId id="386" r:id="rId24"/>
    <p:sldId id="377" r:id="rId25"/>
    <p:sldId id="378" r:id="rId26"/>
    <p:sldId id="306" r:id="rId27"/>
    <p:sldId id="307" r:id="rId28"/>
  </p:sldIdLst>
  <p:sldSz cx="12192000" cy="6858000"/>
  <p:notesSz cx="6858000" cy="9144000"/>
  <p:embeddedFontLst>
    <p:embeddedFont>
      <p:font typeface="Arial Black" panose="020B0A04020102020204" pitchFamily="34" charset="0"/>
      <p:bold r:id="rId30"/>
    </p:embeddedFont>
    <p:embeddedFont>
      <p:font typeface="Calibri" panose="020F0502020204030204" pitchFamily="34" charset="0"/>
      <p:regular r:id="rId31"/>
      <p:bold r:id="rId32"/>
      <p:italic r:id="rId33"/>
      <p:boldItalic r:id="rId34"/>
    </p:embeddedFont>
    <p:embeddedFont>
      <p:font typeface="Cambria" panose="02040503050406030204" pitchFamily="18" charset="0"/>
      <p:regular r:id="rId35"/>
      <p:bold r:id="rId36"/>
      <p:italic r:id="rId37"/>
      <p:boldItalic r:id="rId38"/>
    </p:embeddedFont>
    <p:embeddedFont>
      <p:font typeface="Cambria Math" panose="02040503050406030204" pitchFamily="18" charset="0"/>
      <p:regular r:id="rId39"/>
    </p:embeddedFont>
    <p:embeddedFont>
      <p:font typeface="Century Gothic" panose="020B0502020202020204" pitchFamily="34" charset="0"/>
      <p:regular r:id="rId40"/>
      <p:bold r:id="rId41"/>
      <p:italic r:id="rId42"/>
      <p:boldItalic r:id="rId43"/>
    </p:embeddedFont>
    <p:embeddedFont>
      <p:font typeface="Verdana" panose="020B0604030504040204" pitchFamily="3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EA6"/>
    <a:srgbClr val="E45088"/>
    <a:srgbClr val="E24E5F"/>
    <a:srgbClr val="79B0DD"/>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7898"/>
    <p:restoredTop sz="94648"/>
  </p:normalViewPr>
  <p:slideViewPr>
    <p:cSldViewPr snapToGrid="0">
      <p:cViewPr varScale="1">
        <p:scale>
          <a:sx n="114" d="100"/>
          <a:sy n="114" d="100"/>
        </p:scale>
        <p:origin x="1116"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64"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54213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06019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1007193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87373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685236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320407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4037198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4960737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034354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1543685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018124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871493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692103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155004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1539314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40.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7"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36.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36.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13,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Partitioning Line Segments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299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72938" y="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sp>
        <p:nvSpPr>
          <p:cNvPr id="282"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28068" y="1463011"/>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MA.912.GR.3.3</a:t>
            </a:r>
          </a:p>
          <a:p>
            <a:pPr indent="0">
              <a:buNone/>
            </a:pPr>
            <a:r>
              <a:rPr lang="en-US" sz="3500" dirty="0">
                <a:solidFill>
                  <a:schemeClr val="tx1"/>
                </a:solidFill>
                <a:latin typeface="Verdana"/>
                <a:ea typeface="Verdana"/>
                <a:cs typeface="Verdana"/>
                <a:sym typeface="Verdana"/>
              </a:rPr>
              <a:t>Use coordinate geometry to solve mathematical and real-world geometric problems involving lines, circles, triangles, and quadrilaterals. </a:t>
            </a:r>
          </a:p>
        </p:txBody>
      </p:sp>
      <p:pic>
        <p:nvPicPr>
          <p:cNvPr id="9" name="Google Shape;281;g104476d1465_1_17"/>
          <p:cNvPicPr preferRelativeResize="0"/>
          <p:nvPr/>
        </p:nvPicPr>
        <p:blipFill>
          <a:blip r:embed="rId4">
            <a:alphaModFix/>
          </a:blip>
          <a:stretch>
            <a:fillRect/>
          </a:stretch>
        </p:blipFill>
        <p:spPr>
          <a:xfrm>
            <a:off x="455298" y="310185"/>
            <a:ext cx="747300" cy="7473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8586"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259526" y="0"/>
            <a:ext cx="972345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38659" y="1460584"/>
            <a:ext cx="10692800" cy="47400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pic>
        <p:nvPicPr>
          <p:cNvPr id="10" name="Google Shape;281;g104476d1465_1_17"/>
          <p:cNvPicPr preferRelativeResize="0"/>
          <p:nvPr/>
        </p:nvPicPr>
        <p:blipFill>
          <a:blip r:embed="rId3">
            <a:alphaModFix/>
          </a:blip>
          <a:stretch>
            <a:fillRect/>
          </a:stretch>
        </p:blipFill>
        <p:spPr>
          <a:xfrm>
            <a:off x="455298" y="310185"/>
            <a:ext cx="747300" cy="747300"/>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72938" y="209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455298" y="31018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27748" y="1455711"/>
            <a:ext cx="1028523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34988" indent="-528638">
              <a:buClr>
                <a:srgbClr val="434343"/>
              </a:buClr>
              <a:buSzPct val="100000"/>
              <a:buFont typeface="Wingdings" pitchFamily="2" charset="2"/>
              <a:buChar char="q"/>
            </a:pPr>
            <a:r>
              <a:rPr lang="en-US" sz="3500" dirty="0">
                <a:solidFill>
                  <a:schemeClr val="tx1"/>
                </a:solidFill>
                <a:latin typeface="Verdana"/>
                <a:ea typeface="Verdana"/>
                <a:cs typeface="Verdana"/>
                <a:sym typeface="Verdana"/>
              </a:rPr>
              <a:t>I can use coordinate geometry to partition a line segment.  </a:t>
            </a:r>
          </a:p>
        </p:txBody>
      </p:sp>
      <p:sp>
        <p:nvSpPr>
          <p:cNvPr id="11"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299</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72938" y="20985"/>
            <a:ext cx="944614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13.4.1 Warm-Up: Heroic Person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455298" y="31018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A4C0B51D-09DC-AA4D-9C14-AE2048199B26}"/>
              </a:ext>
            </a:extLst>
          </p:cNvPr>
          <p:cNvSpPr txBox="1"/>
          <p:nvPr/>
        </p:nvSpPr>
        <p:spPr>
          <a:xfrm>
            <a:off x="529408" y="1457368"/>
            <a:ext cx="7906776"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Who do you consider heroic and inspirational?</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Why did you pick this person? </a:t>
            </a:r>
          </a:p>
        </p:txBody>
      </p:sp>
      <p:sp>
        <p:nvSpPr>
          <p:cNvPr id="11"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300</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15433" y="2766145"/>
            <a:ext cx="4772476" cy="1325700"/>
          </a:xfrm>
          <a:prstGeom prst="rect">
            <a:avLst/>
          </a:prstGeom>
          <a:noFill/>
          <a:ln>
            <a:noFill/>
          </a:ln>
        </p:spPr>
        <p:txBody>
          <a:bodyPr spcFirstLastPara="1" wrap="square" lIns="91425" tIns="45700" rIns="91425" bIns="45700" anchor="ctr" anchorCtr="0">
            <a:noAutofit/>
          </a:bodyPr>
          <a:lstStyle/>
          <a:p>
            <a:pPr algn="ctr">
              <a:buClr>
                <a:schemeClr val="lt1"/>
              </a:buClr>
              <a:buSzPts val="4800"/>
            </a:pPr>
            <a:r>
              <a:rPr lang="en-US" sz="5400" b="1" dirty="0">
                <a:solidFill>
                  <a:srgbClr val="33BEA6"/>
                </a:solidFill>
                <a:latin typeface="Verdana"/>
                <a:ea typeface="Verdana"/>
                <a:cs typeface="Verdana"/>
                <a:sym typeface="Verdana"/>
              </a:rPr>
              <a:t>Exploration</a:t>
            </a:r>
            <a:endParaRPr sz="4800" b="1" dirty="0">
              <a:solidFill>
                <a:srgbClr val="33BEA6"/>
              </a:solidFill>
              <a:latin typeface="Verdana"/>
              <a:ea typeface="Verdana"/>
              <a:cs typeface="Verdana"/>
              <a:sym typeface="Verdana"/>
            </a:endParaRPr>
          </a:p>
        </p:txBody>
      </p:sp>
      <p:pic>
        <p:nvPicPr>
          <p:cNvPr id="9" name="image10.png" descr="Icon&#10;&#10;Description automatically generated">
            <a:extLst>
              <a:ext uri="{FF2B5EF4-FFF2-40B4-BE49-F238E27FC236}">
                <a16:creationId xmlns:a16="http://schemas.microsoft.com/office/drawing/2014/main" id="{0516010E-9948-1440-845F-954A929DED99}"/>
              </a:ext>
            </a:extLst>
          </p:cNvPr>
          <p:cNvPicPr/>
          <p:nvPr/>
        </p:nvPicPr>
        <p:blipFill>
          <a:blip r:embed="rId3"/>
          <a:srcRect/>
          <a:stretch>
            <a:fillRect/>
          </a:stretch>
        </p:blipFill>
        <p:spPr>
          <a:xfrm>
            <a:off x="4459205" y="2850881"/>
            <a:ext cx="1156228" cy="1156228"/>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a:extLst>
              <a:ext uri="{FF2B5EF4-FFF2-40B4-BE49-F238E27FC236}">
                <a16:creationId xmlns:a16="http://schemas.microsoft.com/office/drawing/2014/main" id="{0EE66A06-BDEC-8746-990C-91BB109658E7}"/>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161174" y="1591329"/>
            <a:ext cx="6032198" cy="1809580"/>
          </a:xfrm>
          <a:prstGeom prst="rect">
            <a:avLst/>
          </a:prstGeom>
        </p:spPr>
      </p:pic>
      <p:sp>
        <p:nvSpPr>
          <p:cNvPr id="278" name="Google Shape;278;g104476d1465_1_17"/>
          <p:cNvSpPr/>
          <p:nvPr/>
        </p:nvSpPr>
        <p:spPr>
          <a:xfrm>
            <a:off x="0" y="-2184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6646" y="38480"/>
            <a:ext cx="75331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13.4.2 Exploration: Partitioning a Line Segment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96874" y="1505848"/>
                <a:ext cx="7992528" cy="46243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Directed line segment </a:t>
                </a:r>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𝑆𝑃</m:t>
                        </m:r>
                      </m:e>
                    </m:acc>
                  </m:oMath>
                </a14:m>
                <a:r>
                  <a:rPr lang="en-US" sz="2400" dirty="0">
                    <a:latin typeface="Verdana" panose="020B0604030504040204" pitchFamily="34" charset="0"/>
                    <a:ea typeface="Verdana" panose="020B0604030504040204" pitchFamily="34" charset="0"/>
                    <a:cs typeface="Verdana" panose="020B0604030504040204" pitchFamily="34" charset="0"/>
                  </a:rPr>
                  <a:t> is shown. </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96874" y="1505848"/>
                <a:ext cx="7992528" cy="462434"/>
              </a:xfrm>
              <a:prstGeom prst="rect">
                <a:avLst/>
              </a:prstGeom>
              <a:blipFill>
                <a:blip r:embed="rId4"/>
                <a:stretch>
                  <a:fillRect l="-1220" t="-11842" b="-27632"/>
                </a:stretch>
              </a:blipFill>
            </p:spPr>
            <p:txBody>
              <a:bodyPr/>
              <a:lstStyle/>
              <a:p>
                <a:r>
                  <a:rPr lang="en-US">
                    <a:noFill/>
                  </a:rPr>
                  <a:t> </a:t>
                </a:r>
              </a:p>
            </p:txBody>
          </p:sp>
        </mc:Fallback>
      </mc:AlternateContent>
      <p:pic>
        <p:nvPicPr>
          <p:cNvPr id="9" name="image10.png" descr="Icon&#10;&#10;Description automatically generated">
            <a:extLst>
              <a:ext uri="{FF2B5EF4-FFF2-40B4-BE49-F238E27FC236}">
                <a16:creationId xmlns:a16="http://schemas.microsoft.com/office/drawing/2014/main" id="{ED8421D0-CC05-1A4A-8FF9-2A68B6D0C3B8}"/>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455298" y="323792"/>
            <a:ext cx="755076" cy="755076"/>
          </a:xfrm>
          <a:prstGeom prst="rect">
            <a:avLst/>
          </a:prstGeom>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D38A43D-A174-8F4C-B298-89A2B70B0856}"/>
                  </a:ext>
                </a:extLst>
              </p:cNvPr>
              <p:cNvSpPr txBox="1"/>
              <p:nvPr/>
            </p:nvSpPr>
            <p:spPr>
              <a:xfrm>
                <a:off x="596873" y="3400909"/>
                <a:ext cx="9668003" cy="1940531"/>
              </a:xfrm>
              <a:prstGeom prst="rect">
                <a:avLst/>
              </a:prstGeom>
              <a:noFill/>
            </p:spPr>
            <p:txBody>
              <a:bodyPr wrap="square" rtlCol="0">
                <a:spAutoFit/>
              </a:bodyPr>
              <a:lstStyle/>
              <a:p>
                <a:pPr marL="941388" indent="-4445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How many equal parts is </a:t>
                </a:r>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𝑆𝑃</m:t>
                        </m:r>
                      </m:e>
                    </m:acc>
                  </m:oMath>
                </a14:m>
                <a:r>
                  <a:rPr lang="en-US" sz="2400" dirty="0">
                    <a:latin typeface="Verdana" panose="020B0604030504040204" pitchFamily="34" charset="0"/>
                    <a:ea typeface="Verdana" panose="020B0604030504040204" pitchFamily="34" charset="0"/>
                    <a:cs typeface="Verdana" panose="020B0604030504040204" pitchFamily="34" charset="0"/>
                  </a:rPr>
                  <a:t> partitioned into?</a:t>
                </a:r>
              </a:p>
              <a:p>
                <a:pPr marL="941388" indent="-4445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41388" indent="-4445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41388" indent="-4445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Make a mark where </a:t>
                </a:r>
                <a14:m>
                  <m:oMath xmlns:m="http://schemas.openxmlformats.org/officeDocument/2006/math">
                    <m:acc>
                      <m:accPr>
                        <m:chr m:val="̅"/>
                        <m:ctrlPr>
                          <a:rPr lang="en-US" sz="2400" i="1" dirty="0">
                            <a:latin typeface="Cambria Math" panose="02040503050406030204" pitchFamily="18" charset="0"/>
                            <a:ea typeface="Verdana" panose="020B0604030504040204" pitchFamily="34" charset="0"/>
                            <a:cs typeface="Verdana" panose="020B0604030504040204" pitchFamily="34" charset="0"/>
                          </a:rPr>
                        </m:ctrlPr>
                      </m:accPr>
                      <m:e>
                        <m:r>
                          <a:rPr lang="es-ES" sz="2400" i="1" dirty="0">
                            <a:latin typeface="Cambria Math" panose="02040503050406030204" pitchFamily="18" charset="0"/>
                            <a:ea typeface="Verdana" panose="020B0604030504040204" pitchFamily="34" charset="0"/>
                            <a:cs typeface="Verdana" panose="020B0604030504040204" pitchFamily="34" charset="0"/>
                          </a:rPr>
                          <m:t>𝑆𝑃</m:t>
                        </m:r>
                      </m:e>
                    </m:acc>
                  </m:oMath>
                </a14:m>
                <a:r>
                  <a:rPr lang="en-US" sz="2400" dirty="0">
                    <a:latin typeface="Verdana" panose="020B0604030504040204" pitchFamily="34" charset="0"/>
                    <a:ea typeface="Verdana" panose="020B0604030504040204" pitchFamily="34" charset="0"/>
                    <a:cs typeface="Verdana" panose="020B0604030504040204" pitchFamily="34" charset="0"/>
                  </a:rPr>
                  <a:t> is partitioned into a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2:3</m:t>
                    </m:r>
                  </m:oMath>
                </a14:m>
                <a:r>
                  <a:rPr lang="en-US" sz="2400" dirty="0">
                    <a:latin typeface="Verdana" panose="020B0604030504040204" pitchFamily="34" charset="0"/>
                    <a:ea typeface="Verdana" panose="020B0604030504040204" pitchFamily="34" charset="0"/>
                    <a:cs typeface="Verdana" panose="020B0604030504040204" pitchFamily="34" charset="0"/>
                  </a:rPr>
                  <a:t> ratio. Call this point 𝑅. </a:t>
                </a:r>
              </a:p>
            </p:txBody>
          </p:sp>
        </mc:Choice>
        <mc:Fallback xmlns="">
          <p:sp>
            <p:nvSpPr>
              <p:cNvPr id="12" name="TextBox 11">
                <a:extLst>
                  <a:ext uri="{FF2B5EF4-FFF2-40B4-BE49-F238E27FC236}">
                    <a16:creationId xmlns:a16="http://schemas.microsoft.com/office/drawing/2014/main" id="{4D38A43D-A174-8F4C-B298-89A2B70B0856}"/>
                  </a:ext>
                </a:extLst>
              </p:cNvPr>
              <p:cNvSpPr txBox="1">
                <a:spLocks noRot="1" noChangeAspect="1" noMove="1" noResize="1" noEditPoints="1" noAdjustHandles="1" noChangeArrowheads="1" noChangeShapeType="1" noTextEdit="1"/>
              </p:cNvSpPr>
              <p:nvPr/>
            </p:nvSpPr>
            <p:spPr>
              <a:xfrm>
                <a:off x="596873" y="3400909"/>
                <a:ext cx="9668003" cy="1940531"/>
              </a:xfrm>
              <a:prstGeom prst="rect">
                <a:avLst/>
              </a:prstGeom>
              <a:blipFill>
                <a:blip r:embed="rId7"/>
                <a:stretch>
                  <a:fillRect t="-2830" b="-6289"/>
                </a:stretch>
              </a:blipFill>
            </p:spPr>
            <p:txBody>
              <a:bodyPr/>
              <a:lstStyle/>
              <a:p>
                <a:r>
                  <a:rPr lang="en-US">
                    <a:noFill/>
                  </a:rPr>
                  <a:t> </a:t>
                </a:r>
              </a:p>
            </p:txBody>
          </p:sp>
        </mc:Fallback>
      </mc:AlternateContent>
      <p:sp>
        <p:nvSpPr>
          <p:cNvPr id="14"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300</a:t>
            </a:r>
            <a:endParaRPr i="1" dirty="0">
              <a:latin typeface="Calibri"/>
              <a:ea typeface="Calibri"/>
              <a:cs typeface="Calibri"/>
              <a:sym typeface="Calibri"/>
            </a:endParaRPr>
          </a:p>
        </p:txBody>
      </p:sp>
      <p:pic>
        <p:nvPicPr>
          <p:cNvPr id="15"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378726"/>
                <a:ext cx="11520000" cy="5263749"/>
              </a:xfrm>
              <a:prstGeom prst="rect">
                <a:avLst/>
              </a:prstGeom>
              <a:noFill/>
            </p:spPr>
            <p:txBody>
              <a:bodyPr wrap="square" rtlCol="0">
                <a:spAutoFit/>
              </a:bodyPr>
              <a:lstStyle/>
              <a:p>
                <a:pPr marL="89376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0850" indent="444500"/>
                <a:r>
                  <a:rPr lang="en-US" sz="2400" dirty="0">
                    <a:latin typeface="Verdana" panose="020B0604030504040204" pitchFamily="34" charset="0"/>
                    <a:ea typeface="Times New Roman" panose="02020603050405020304" pitchFamily="18" charset="0"/>
                    <a:cs typeface="Times New Roman" panose="02020603050405020304" pitchFamily="18" charset="0"/>
                  </a:rPr>
                  <a:t>Point 𝑅 is                of the distance from 𝑆 to 𝑃.</a:t>
                </a:r>
              </a:p>
              <a:p>
                <a:pPr indent="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indent="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indent="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indent="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equation that can be used to find the 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𝑆𝑅</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indent="4445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indent="4445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indent="444500"/>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𝑆𝑅</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=_______</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𝑆𝑃</m:t>
                      </m:r>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indent="4445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40565" y="378726"/>
                <a:ext cx="11520000" cy="5263749"/>
              </a:xfrm>
              <a:prstGeom prst="rect">
                <a:avLst/>
              </a:prstGeom>
              <a:blipFill rotWithShape="1">
                <a:blip r:embed="rId3"/>
                <a:stretch>
                  <a:fillRect t="-926" r="-53"/>
                </a:stretch>
              </a:blipFill>
            </p:spPr>
            <p:txBody>
              <a:bodyPr/>
              <a:lstStyle/>
              <a:p>
                <a:r>
                  <a:rPr lang="en-PH">
                    <a:noFill/>
                  </a:rPr>
                  <a:t> </a:t>
                </a:r>
              </a:p>
            </p:txBody>
          </p:sp>
        </mc:Fallback>
      </mc:AlternateContent>
      <p:pic>
        <p:nvPicPr>
          <p:cNvPr id="3" name="Picture 2" descr="Table&#10;&#10;Description automatically generated with medium confidence">
            <a:extLst>
              <a:ext uri="{FF2B5EF4-FFF2-40B4-BE49-F238E27FC236}">
                <a16:creationId xmlns:a16="http://schemas.microsoft.com/office/drawing/2014/main" id="{112DA5EF-3013-6640-8F09-C25F3EB0856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65067" y="902706"/>
            <a:ext cx="1430386" cy="2091359"/>
          </a:xfrm>
          <a:prstGeom prst="rect">
            <a:avLst/>
          </a:prstGeom>
        </p:spPr>
      </p:pic>
      <p:sp>
        <p:nvSpPr>
          <p:cNvPr id="8"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300</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731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6" y="378725"/>
                <a:ext cx="11087584" cy="1200329"/>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Point 𝑋 partitions directed line segment 𝐾𝑅 in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 Points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𝐾</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(−9,1)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𝐹</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(−6,1)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𝑋</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(−6,4)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𝑅</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𝑊</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are shown on the coordinate grid.</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6" y="378725"/>
                <a:ext cx="11087584" cy="1200329"/>
              </a:xfrm>
              <a:prstGeom prst="rect">
                <a:avLst/>
              </a:prstGeom>
              <a:blipFill>
                <a:blip r:embed="rId4"/>
                <a:stretch>
                  <a:fillRect l="-880" t="-4569" b="-10660"/>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47BD14A1-D23D-E645-87E4-9459165C2E42}"/>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342274" y="1733125"/>
            <a:ext cx="5484167" cy="4724674"/>
          </a:xfrm>
          <a:prstGeom prst="rect">
            <a:avLst/>
          </a:prstGeom>
        </p:spPr>
      </p:pic>
      <p:sp>
        <p:nvSpPr>
          <p:cNvPr id="7"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27575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6" y="378726"/>
            <a:ext cx="11087584" cy="1200329"/>
          </a:xfrm>
          <a:prstGeom prst="rect">
            <a:avLst/>
          </a:prstGeom>
          <a:noFill/>
        </p:spPr>
        <p:txBody>
          <a:bodyPr wrap="square" rtlCol="0">
            <a:spAutoFit/>
          </a:bodyPr>
          <a:lstStyle/>
          <a:p>
            <a:pPr marL="8937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distances to write the numeric ratio for each segment ratio. Then, choose the type of ratio the segment ratio represents.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7BA46BA-E802-A745-9B14-D881DD04CEFC}"/>
                  </a:ext>
                </a:extLst>
              </p:cNvPr>
              <p:cNvGraphicFramePr>
                <a:graphicFrameLocks noGrp="1"/>
              </p:cNvGraphicFramePr>
              <p:nvPr>
                <p:extLst>
                  <p:ext uri="{D42A27DB-BD31-4B8C-83A1-F6EECF244321}">
                    <p14:modId xmlns:p14="http://schemas.microsoft.com/office/powerpoint/2010/main" val="4110415144"/>
                  </p:ext>
                </p:extLst>
              </p:nvPr>
            </p:nvGraphicFramePr>
            <p:xfrm>
              <a:off x="1581943" y="1786825"/>
              <a:ext cx="9676296" cy="3276000"/>
            </p:xfrm>
            <a:graphic>
              <a:graphicData uri="http://schemas.openxmlformats.org/drawingml/2006/table">
                <a:tbl>
                  <a:tblPr firstRow="1" firstCol="1" bandRow="1"/>
                  <a:tblGrid>
                    <a:gridCol w="2880000">
                      <a:extLst>
                        <a:ext uri="{9D8B030D-6E8A-4147-A177-3AD203B41FA5}">
                          <a16:colId xmlns:a16="http://schemas.microsoft.com/office/drawing/2014/main" val="822815839"/>
                        </a:ext>
                      </a:extLst>
                    </a:gridCol>
                    <a:gridCol w="3240000">
                      <a:extLst>
                        <a:ext uri="{9D8B030D-6E8A-4147-A177-3AD203B41FA5}">
                          <a16:colId xmlns:a16="http://schemas.microsoft.com/office/drawing/2014/main" val="1413286332"/>
                        </a:ext>
                      </a:extLst>
                    </a:gridCol>
                    <a:gridCol w="3556296">
                      <a:extLst>
                        <a:ext uri="{9D8B030D-6E8A-4147-A177-3AD203B41FA5}">
                          <a16:colId xmlns:a16="http://schemas.microsoft.com/office/drawing/2014/main" val="2270067957"/>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Segment Ratio</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Numeric Ratio</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Type of Ratio</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51810817"/>
                      </a:ext>
                    </a:extLst>
                  </a:tr>
                  <a:tr h="68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𝐾𝐹</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𝐹𝑊</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722154"/>
                      </a:ext>
                    </a:extLst>
                  </a:tr>
                  <a:tr h="68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𝐾𝐹</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𝐾𝑊</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2849797"/>
                      </a:ext>
                    </a:extLst>
                  </a:tr>
                  <a:tr h="68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𝑋𝐹</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𝑅𝑊</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597822"/>
                      </a:ext>
                    </a:extLst>
                  </a:tr>
                  <a:tr h="6840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𝐾𝑋</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m:t>
                                </m:r>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𝐾𝑅</m:t>
                                </m:r>
                              </m:oMath>
                            </m:oMathPara>
                          </a14:m>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98810068"/>
                      </a:ext>
                    </a:extLst>
                  </a:tr>
                </a:tbl>
              </a:graphicData>
            </a:graphic>
          </p:graphicFrame>
        </mc:Choice>
        <mc:Fallback xmlns="">
          <p:graphicFrame>
            <p:nvGraphicFramePr>
              <p:cNvPr id="4" name="Table 3">
                <a:extLst>
                  <a:ext uri="{FF2B5EF4-FFF2-40B4-BE49-F238E27FC236}">
                    <a16:creationId xmlns:a16="http://schemas.microsoft.com/office/drawing/2014/main" xmlns:a14="http://schemas.microsoft.com/office/drawing/2010/main" xmlns="" id="{A7BA46BA-E802-A745-9B14-D881DD04CEFC}"/>
                  </a:ext>
                </a:extLst>
              </p:cNvPr>
              <p:cNvGraphicFramePr>
                <a:graphicFrameLocks noGrp="1"/>
              </p:cNvGraphicFramePr>
              <p:nvPr>
                <p:extLst>
                  <p:ext uri="{D42A27DB-BD31-4B8C-83A1-F6EECF244321}">
                    <p14:modId xmlns:p14="http://schemas.microsoft.com/office/powerpoint/2010/main" val="4110415144"/>
                  </p:ext>
                </p:extLst>
              </p:nvPr>
            </p:nvGraphicFramePr>
            <p:xfrm>
              <a:off x="1581943" y="1786825"/>
              <a:ext cx="9676296" cy="3276000"/>
            </p:xfrm>
            <a:graphic>
              <a:graphicData uri="http://schemas.openxmlformats.org/drawingml/2006/table">
                <a:tbl>
                  <a:tblPr firstRow="1" firstCol="1" bandRow="1"/>
                  <a:tblGrid>
                    <a:gridCol w="2880000">
                      <a:extLst>
                        <a:ext uri="{9D8B030D-6E8A-4147-A177-3AD203B41FA5}">
                          <a16:colId xmlns:a16="http://schemas.microsoft.com/office/drawing/2014/main" xmlns:a14="http://schemas.microsoft.com/office/drawing/2010/main" xmlns="" val="822815839"/>
                        </a:ext>
                      </a:extLst>
                    </a:gridCol>
                    <a:gridCol w="3240000">
                      <a:extLst>
                        <a:ext uri="{9D8B030D-6E8A-4147-A177-3AD203B41FA5}">
                          <a16:colId xmlns:a16="http://schemas.microsoft.com/office/drawing/2014/main" xmlns:a14="http://schemas.microsoft.com/office/drawing/2010/main" xmlns="" val="1413286332"/>
                        </a:ext>
                      </a:extLst>
                    </a:gridCol>
                    <a:gridCol w="3556296">
                      <a:extLst>
                        <a:ext uri="{9D8B030D-6E8A-4147-A177-3AD203B41FA5}">
                          <a16:colId xmlns:a16="http://schemas.microsoft.com/office/drawing/2014/main" xmlns:a14="http://schemas.microsoft.com/office/drawing/2010/main" xmlns="" val="2270067957"/>
                        </a:ext>
                      </a:extLst>
                    </a:gridCol>
                  </a:tblGrid>
                  <a:tr h="540000">
                    <a:tc>
                      <a:txBody>
                        <a:bodyPr/>
                        <a:lstStyle/>
                        <a:p>
                          <a:pPr marL="0" marR="0" algn="ctr">
                            <a:spcBef>
                              <a:spcPts val="0"/>
                            </a:spcBef>
                            <a:spcAft>
                              <a:spcPts val="0"/>
                            </a:spcAft>
                          </a:pPr>
                          <a:r>
                            <a:rPr lang="en-US" sz="2000" b="1" dirty="0">
                              <a:effectLst/>
                              <a:latin typeface="Verdana" panose="020B0604030504040204" pitchFamily="34" charset="0"/>
                              <a:ea typeface="Helvetica Neue" panose="02000503000000020004" pitchFamily="2" charset="0"/>
                              <a:cs typeface="Helvetica Neue" panose="02000503000000020004" pitchFamily="2" charset="0"/>
                            </a:rPr>
                            <a:t>Segment Ratio</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Numeric Ratio</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Type of Ratio</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451810817"/>
                      </a:ext>
                    </a:extLst>
                  </a:tr>
                  <a:tr h="684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l="-212" t="-79464" r="-236229" b="-320536"/>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421722154"/>
                      </a:ext>
                    </a:extLst>
                  </a:tr>
                  <a:tr h="684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l="-212" t="-179464" r="-236229" b="-220536"/>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612849797"/>
                      </a:ext>
                    </a:extLst>
                  </a:tr>
                  <a:tr h="684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l="-212" t="-276991" r="-236229" b="-118584"/>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4597822"/>
                      </a:ext>
                    </a:extLst>
                  </a:tr>
                  <a:tr h="68400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l="-212" t="-380357" r="-236229" b="-19643"/>
                          </a:stretch>
                        </a:blipFill>
                      </a:tcPr>
                    </a:tc>
                    <a:tc>
                      <a:txBody>
                        <a:bodyPr/>
                        <a:lstStyle/>
                        <a:p>
                          <a:pPr marL="0" marR="0" algn="ctr">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part:part</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Char char="o"/>
                          </a:pPr>
                          <a:r>
                            <a:rPr lang="en-US" sz="2000" dirty="0" err="1">
                              <a:effectLst/>
                              <a:latin typeface="Verdana" panose="020B0604030504040204" pitchFamily="34" charset="0"/>
                              <a:ea typeface="Helvetica Neue" panose="02000503000000020004" pitchFamily="2" charset="0"/>
                              <a:cs typeface="Helvetica Neue" panose="02000503000000020004" pitchFamily="2" charset="0"/>
                            </a:rPr>
                            <a:t>part:whole</a:t>
                          </a:r>
                          <a:endParaRPr lang="x-none" sz="2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298810068"/>
                      </a:ext>
                    </a:extLst>
                  </a:tr>
                </a:tbl>
              </a:graphicData>
            </a:graphic>
          </p:graphicFrame>
        </mc:Fallback>
      </mc:AlternateContent>
      <p:sp>
        <p:nvSpPr>
          <p:cNvPr id="10" name="TextBox 9">
            <a:extLst>
              <a:ext uri="{FF2B5EF4-FFF2-40B4-BE49-F238E27FC236}">
                <a16:creationId xmlns:a16="http://schemas.microsoft.com/office/drawing/2014/main" id="{8D948A95-A702-7B40-B0BD-CC45EAD08FE0}"/>
              </a:ext>
            </a:extLst>
          </p:cNvPr>
          <p:cNvSpPr txBox="1"/>
          <p:nvPr/>
        </p:nvSpPr>
        <p:spPr>
          <a:xfrm>
            <a:off x="540566" y="5419119"/>
            <a:ext cx="10800000" cy="461665"/>
          </a:xfrm>
          <a:prstGeom prst="rect">
            <a:avLst/>
          </a:prstGeom>
          <a:noFill/>
        </p:spPr>
        <p:txBody>
          <a:bodyPr wrap="square" rtlCol="0">
            <a:spAutoFit/>
          </a:bodyPr>
          <a:lstStyle/>
          <a:p>
            <a:pPr marL="893763"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 about the numeric ratios?</a:t>
            </a:r>
          </a:p>
        </p:txBody>
      </p:sp>
      <p:sp>
        <p:nvSpPr>
          <p:cNvPr id="8"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17905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6" y="378726"/>
            <a:ext cx="11087584" cy="461665"/>
          </a:xfrm>
          <a:prstGeom prst="rect">
            <a:avLst/>
          </a:prstGeom>
          <a:noFill/>
        </p:spPr>
        <p:txBody>
          <a:bodyPr wrap="square" rtlCol="0">
            <a:spAutoFit/>
          </a:bodyPr>
          <a:lstStyle/>
          <a:p>
            <a:pPr marL="89376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Two students were discussing the directed line segment 𝐾𝑅.</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F3EA25D-BF6A-EC4A-89D0-AFE674DA8871}"/>
                  </a:ext>
                </a:extLst>
              </p:cNvPr>
              <p:cNvGraphicFramePr>
                <a:graphicFrameLocks noGrp="1"/>
              </p:cNvGraphicFramePr>
              <p:nvPr>
                <p:extLst>
                  <p:ext uri="{D42A27DB-BD31-4B8C-83A1-F6EECF244321}">
                    <p14:modId xmlns:p14="http://schemas.microsoft.com/office/powerpoint/2010/main" val="1727787432"/>
                  </p:ext>
                </p:extLst>
              </p:nvPr>
            </p:nvGraphicFramePr>
            <p:xfrm>
              <a:off x="1609351" y="1001788"/>
              <a:ext cx="9387954" cy="1782237"/>
            </p:xfrm>
            <a:graphic>
              <a:graphicData uri="http://schemas.openxmlformats.org/drawingml/2006/table">
                <a:tbl>
                  <a:tblPr firstRow="1" firstCol="1" bandRow="1"/>
                  <a:tblGrid>
                    <a:gridCol w="4752679">
                      <a:extLst>
                        <a:ext uri="{9D8B030D-6E8A-4147-A177-3AD203B41FA5}">
                          <a16:colId xmlns:a16="http://schemas.microsoft.com/office/drawing/2014/main" val="1083455560"/>
                        </a:ext>
                      </a:extLst>
                    </a:gridCol>
                    <a:gridCol w="4635275">
                      <a:extLst>
                        <a:ext uri="{9D8B030D-6E8A-4147-A177-3AD203B41FA5}">
                          <a16:colId xmlns:a16="http://schemas.microsoft.com/office/drawing/2014/main" val="2506426858"/>
                        </a:ext>
                      </a:extLst>
                    </a:gridCol>
                  </a:tblGrid>
                  <a:tr h="540000">
                    <a:tc>
                      <a:txBody>
                        <a:bodyPr/>
                        <a:lstStyle/>
                        <a:p>
                          <a:pPr marL="0" marR="0" algn="ctr">
                            <a:spcBef>
                              <a:spcPts val="0"/>
                            </a:spcBef>
                            <a:spcAft>
                              <a:spcPts val="0"/>
                            </a:spcAft>
                          </a:pPr>
                          <a:r>
                            <a:rPr lang="en-US" sz="2000" b="1" dirty="0" err="1">
                              <a:effectLst/>
                              <a:latin typeface="Verdana" panose="020B0604030504040204" pitchFamily="34" charset="0"/>
                              <a:ea typeface="Helvetica Neue" panose="02000503000000020004" pitchFamily="2" charset="0"/>
                              <a:cs typeface="Helvetica Neue" panose="02000503000000020004" pitchFamily="2" charset="0"/>
                            </a:rPr>
                            <a:t>Nevaeh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Isabella</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16693133"/>
                      </a:ext>
                    </a:extLst>
                  </a:tr>
                  <a:tr h="1242237">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Point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𝑅</m:t>
                              </m:r>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is a dilation of point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𝑋</m:t>
                              </m:r>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centered at point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m:t>
                              </m:r>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using a scale factor of </a:t>
                          </a:r>
                          <a14:m>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4</m:t>
                                  </m:r>
                                </m:den>
                              </m:f>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Helvetica Neue" panose="02000503000000020004" pitchFamily="2" charset="0"/>
                              <a:cs typeface="Helvetica Neue" panose="02000503000000020004" pitchFamily="2" charset="0"/>
                            </a:rPr>
                            <a:t>Point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𝑅</m:t>
                              </m:r>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is a dilation of point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𝑋</m:t>
                              </m:r>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centered at point </a:t>
                          </a:r>
                          <a14:m>
                            <m:oMath xmlns:m="http://schemas.openxmlformats.org/officeDocument/2006/math">
                              <m:r>
                                <a:rPr lang="en-US" sz="2000" i="1">
                                  <a:effectLst/>
                                  <a:latin typeface="Cambria Math" panose="02040503050406030204" pitchFamily="18" charset="0"/>
                                  <a:ea typeface="Helvetica Neue" panose="02000503000000020004" pitchFamily="2" charset="0"/>
                                  <a:cs typeface="Helvetica Neue" panose="02000503000000020004" pitchFamily="2" charset="0"/>
                                </a:rPr>
                                <m:t>𝐾</m:t>
                              </m:r>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using a scale factor of </a:t>
                          </a:r>
                          <a14:m>
                            <m:oMath xmlns:m="http://schemas.openxmlformats.org/officeDocument/2006/math">
                              <m:f>
                                <m:fPr>
                                  <m:ctrlPr>
                                    <a:rPr lang="x-none" sz="2000" i="1">
                                      <a:effectLst/>
                                      <a:latin typeface="Cambria Math" panose="02040503050406030204" pitchFamily="18" charset="0"/>
                                      <a:ea typeface="Helvetica Neue" panose="02000503000000020004" pitchFamily="2" charset="0"/>
                                      <a:cs typeface="Helvetica Neue" panose="02000503000000020004" pitchFamily="2" charset="0"/>
                                    </a:rPr>
                                  </m:ctrlPr>
                                </m:fPr>
                                <m:num>
                                  <m:r>
                                    <a:rPr lang="en-US" sz="2000" i="1">
                                      <a:effectLst/>
                                      <a:latin typeface="Cambria Math" panose="02040503050406030204" pitchFamily="18" charset="0"/>
                                      <a:ea typeface="Helvetica Neue" panose="02000503000000020004" pitchFamily="2" charset="0"/>
                                      <a:cs typeface="Helvetica Neue" panose="02000503000000020004" pitchFamily="2" charset="0"/>
                                    </a:rPr>
                                    <m:t>3</m:t>
                                  </m:r>
                                </m:num>
                                <m:den>
                                  <m:r>
                                    <a:rPr lang="en-US" sz="2000" i="1">
                                      <a:effectLst/>
                                      <a:latin typeface="Cambria Math" panose="02040503050406030204" pitchFamily="18" charset="0"/>
                                      <a:ea typeface="Helvetica Neue" panose="02000503000000020004" pitchFamily="2" charset="0"/>
                                      <a:cs typeface="Helvetica Neue" panose="02000503000000020004" pitchFamily="2" charset="0"/>
                                    </a:rPr>
                                    <m:t>7</m:t>
                                  </m:r>
                                </m:den>
                              </m:f>
                            </m:oMath>
                          </a14:m>
                          <a:r>
                            <a:rPr lang="en-US" sz="2000" dirty="0">
                              <a:effectLst/>
                              <a:latin typeface="Verdana" panose="020B0604030504040204" pitchFamily="34" charset="0"/>
                              <a:ea typeface="Helvetica Neue" panose="02000503000000020004" pitchFamily="2" charset="0"/>
                              <a:cs typeface="Helvetica Neue" panose="02000503000000020004" pitchFamily="2"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7480160"/>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CF3EA25D-BF6A-EC4A-89D0-AFE674DA8871}"/>
                  </a:ext>
                </a:extLst>
              </p:cNvPr>
              <p:cNvGraphicFramePr>
                <a:graphicFrameLocks noGrp="1"/>
              </p:cNvGraphicFramePr>
              <p:nvPr>
                <p:extLst>
                  <p:ext uri="{D42A27DB-BD31-4B8C-83A1-F6EECF244321}">
                    <p14:modId xmlns:p14="http://schemas.microsoft.com/office/powerpoint/2010/main" val="1727787432"/>
                  </p:ext>
                </p:extLst>
              </p:nvPr>
            </p:nvGraphicFramePr>
            <p:xfrm>
              <a:off x="1609351" y="1001788"/>
              <a:ext cx="9387954" cy="1782237"/>
            </p:xfrm>
            <a:graphic>
              <a:graphicData uri="http://schemas.openxmlformats.org/drawingml/2006/table">
                <a:tbl>
                  <a:tblPr firstRow="1" firstCol="1" bandRow="1"/>
                  <a:tblGrid>
                    <a:gridCol w="4752679">
                      <a:extLst>
                        <a:ext uri="{9D8B030D-6E8A-4147-A177-3AD203B41FA5}">
                          <a16:colId xmlns:a16="http://schemas.microsoft.com/office/drawing/2014/main" xmlns:a14="http://schemas.microsoft.com/office/drawing/2010/main" xmlns="" val="1083455560"/>
                        </a:ext>
                      </a:extLst>
                    </a:gridCol>
                    <a:gridCol w="4635275">
                      <a:extLst>
                        <a:ext uri="{9D8B030D-6E8A-4147-A177-3AD203B41FA5}">
                          <a16:colId xmlns:a16="http://schemas.microsoft.com/office/drawing/2014/main" xmlns:a14="http://schemas.microsoft.com/office/drawing/2010/main" xmlns="" val="2506426858"/>
                        </a:ext>
                      </a:extLst>
                    </a:gridCol>
                  </a:tblGrid>
                  <a:tr h="540000">
                    <a:tc>
                      <a:txBody>
                        <a:bodyPr/>
                        <a:lstStyle/>
                        <a:p>
                          <a:pPr marL="0" marR="0" algn="ctr">
                            <a:spcBef>
                              <a:spcPts val="0"/>
                            </a:spcBef>
                            <a:spcAft>
                              <a:spcPts val="0"/>
                            </a:spcAft>
                          </a:pPr>
                          <a:r>
                            <a:rPr lang="en-US" sz="2000" b="1" dirty="0" err="1">
                              <a:effectLst/>
                              <a:latin typeface="Verdana" panose="020B0604030504040204" pitchFamily="34" charset="0"/>
                              <a:ea typeface="Helvetica Neue" panose="02000503000000020004" pitchFamily="2" charset="0"/>
                              <a:cs typeface="Helvetica Neue" panose="02000503000000020004" pitchFamily="2" charset="0"/>
                            </a:rPr>
                            <a:t>Nevaeh</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Helvetica Neue" panose="02000503000000020004" pitchFamily="2" charset="0"/>
                              <a:cs typeface="Helvetica Neue" panose="02000503000000020004" pitchFamily="2" charset="0"/>
                            </a:rPr>
                            <a:t>Isabella</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416693133"/>
                      </a:ext>
                    </a:extLst>
                  </a:tr>
                  <a:tr h="1242237">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t="-43627" r="-97564"/>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3"/>
                          <a:stretch>
                            <a:fillRect l="-102632" t="-43627" r="-132"/>
                          </a:stretch>
                        </a:blipFill>
                      </a:tcPr>
                    </a:tc>
                    <a:extLst>
                      <a:ext uri="{0D108BD9-81ED-4DB2-BD59-A6C34878D82A}">
                        <a16:rowId xmlns:a16="http://schemas.microsoft.com/office/drawing/2014/main" xmlns:a14="http://schemas.microsoft.com/office/drawing/2010/main" xmlns="" val="2857480160"/>
                      </a:ext>
                    </a:extLst>
                  </a:tr>
                </a:tbl>
              </a:graphicData>
            </a:graphic>
          </p:graphicFrame>
        </mc:Fallback>
      </mc:AlternateContent>
      <p:sp>
        <p:nvSpPr>
          <p:cNvPr id="9" name="TextBox 8">
            <a:extLst>
              <a:ext uri="{FF2B5EF4-FFF2-40B4-BE49-F238E27FC236}">
                <a16:creationId xmlns:a16="http://schemas.microsoft.com/office/drawing/2014/main" id="{0B3FF313-3FE6-E645-ACB8-01FB3B1357FB}"/>
              </a:ext>
            </a:extLst>
          </p:cNvPr>
          <p:cNvSpPr txBox="1"/>
          <p:nvPr/>
        </p:nvSpPr>
        <p:spPr>
          <a:xfrm>
            <a:off x="540566" y="3135177"/>
            <a:ext cx="10983358" cy="1569660"/>
          </a:xfrm>
          <a:prstGeom prst="rect">
            <a:avLst/>
          </a:prstGeom>
          <a:noFill/>
        </p:spPr>
        <p:txBody>
          <a:bodyPr wrap="square" rtlCol="0">
            <a:spAutoFit/>
          </a:bodyPr>
          <a:lstStyle/>
          <a:p>
            <a:pPr marL="893763"/>
            <a:r>
              <a:rPr lang="en-US" sz="2400" dirty="0">
                <a:latin typeface="Verdana" panose="020B0604030504040204" pitchFamily="34" charset="0"/>
                <a:ea typeface="Times New Roman" panose="02020603050405020304" pitchFamily="18" charset="0"/>
                <a:cs typeface="Times New Roman" panose="02020603050405020304" pitchFamily="18" charset="0"/>
              </a:rPr>
              <a:t>Work with your partner to explain why neither student has the correct scale factor. Include in your explanation what the correct scale factor should be so that the result of dilating at point 𝐾 is point 𝑅.  </a:t>
            </a:r>
          </a:p>
        </p:txBody>
      </p:sp>
      <p:sp>
        <p:nvSpPr>
          <p:cNvPr id="8"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4919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6" y="378726"/>
                <a:ext cx="10983358" cy="3785652"/>
              </a:xfrm>
              <a:prstGeom prst="rect">
                <a:avLst/>
              </a:prstGeom>
              <a:noFill/>
            </p:spPr>
            <p:txBody>
              <a:bodyPr wrap="square" rtlCol="0">
                <a:spAutoFit/>
              </a:bodyPr>
              <a:lstStyle/>
              <a:p>
                <a:pPr marL="893763"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Discuss with your partner which ratios can be used to justify that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𝐾𝑋𝐹</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𝐾𝑅𝑊</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Summarize your discussion. </a:t>
                </a:r>
              </a:p>
              <a:p>
                <a:pPr marL="893763"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With your partner, write a conjecture on how point 𝑋 could be found if only given the endpoints of the directed line segment 𝐾𝑅 and the ratio. </a:t>
                </a: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40566" y="378726"/>
                <a:ext cx="10983358" cy="3785652"/>
              </a:xfrm>
              <a:prstGeom prst="rect">
                <a:avLst/>
              </a:prstGeom>
              <a:blipFill rotWithShape="1">
                <a:blip r:embed="rId3"/>
                <a:stretch>
                  <a:fillRect t="-1288" r="-167" b="-2738"/>
                </a:stretch>
              </a:blipFill>
            </p:spPr>
            <p:txBody>
              <a:bodyPr/>
              <a:lstStyle/>
              <a:p>
                <a:r>
                  <a:rPr lang="en-PH">
                    <a:noFill/>
                  </a:rPr>
                  <a:t> </a:t>
                </a:r>
              </a:p>
            </p:txBody>
          </p:sp>
        </mc:Fallback>
      </mc:AlternateContent>
      <p:sp>
        <p:nvSpPr>
          <p:cNvPr id="6"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301</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01411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6" y="378725"/>
            <a:ext cx="10983358" cy="1323439"/>
          </a:xfrm>
          <a:prstGeom prst="rect">
            <a:avLst/>
          </a:prstGeom>
          <a:noFill/>
        </p:spPr>
        <p:txBody>
          <a:bodyPr wrap="square" rtlCol="0">
            <a:spAutoFit/>
          </a:bodyPr>
          <a:lstStyle/>
          <a:p>
            <a:pPr marL="893763" indent="-457200">
              <a:buFont typeface="+mj-lt"/>
              <a:buAutoNum type="alphaLcPeriod" startAt="6"/>
            </a:pPr>
            <a:r>
              <a:rPr lang="en-US" sz="2000" dirty="0">
                <a:latin typeface="Verdana" panose="020B0604030504040204" pitchFamily="34" charset="0"/>
                <a:ea typeface="Times New Roman" panose="02020603050405020304" pitchFamily="18" charset="0"/>
                <a:cs typeface="Times New Roman" panose="02020603050405020304" pitchFamily="18" charset="0"/>
              </a:rPr>
              <a:t>Ask two other pairs of partners for the conjecture they wrote. Listen to their conjectures and write a summary. </a:t>
            </a:r>
            <a:r>
              <a:rPr lang="en-US" sz="2000" i="1" dirty="0">
                <a:latin typeface="Verdana" panose="020B0604030504040204" pitchFamily="34" charset="0"/>
                <a:ea typeface="Times New Roman" panose="02020603050405020304" pitchFamily="18" charset="0"/>
                <a:cs typeface="Times New Roman" panose="02020603050405020304" pitchFamily="18" charset="0"/>
              </a:rPr>
              <a:t>You are the only person who should write in the first column of the table.</a:t>
            </a:r>
            <a:r>
              <a:rPr lang="en-US" sz="2000" dirty="0">
                <a:latin typeface="Verdana" panose="020B0604030504040204" pitchFamily="34" charset="0"/>
                <a:ea typeface="Times New Roman" panose="02020603050405020304" pitchFamily="18" charset="0"/>
                <a:cs typeface="Times New Roman" panose="02020603050405020304" pitchFamily="18" charset="0"/>
              </a:rPr>
              <a:t> Have the person initial next to your summary stating that your summary was accurate.</a:t>
            </a:r>
          </a:p>
        </p:txBody>
      </p:sp>
      <p:graphicFrame>
        <p:nvGraphicFramePr>
          <p:cNvPr id="4" name="Table 3">
            <a:extLst>
              <a:ext uri="{FF2B5EF4-FFF2-40B4-BE49-F238E27FC236}">
                <a16:creationId xmlns:a16="http://schemas.microsoft.com/office/drawing/2014/main" id="{60586509-04F1-E140-8A82-E3805FDF837B}"/>
              </a:ext>
            </a:extLst>
          </p:cNvPr>
          <p:cNvGraphicFramePr>
            <a:graphicFrameLocks noGrp="1"/>
          </p:cNvGraphicFramePr>
          <p:nvPr>
            <p:extLst>
              <p:ext uri="{D42A27DB-BD31-4B8C-83A1-F6EECF244321}">
                <p14:modId xmlns:p14="http://schemas.microsoft.com/office/powerpoint/2010/main" val="2320819370"/>
              </p:ext>
            </p:extLst>
          </p:nvPr>
        </p:nvGraphicFramePr>
        <p:xfrm>
          <a:off x="1581633" y="1825168"/>
          <a:ext cx="7560000" cy="4599248"/>
        </p:xfrm>
        <a:graphic>
          <a:graphicData uri="http://schemas.openxmlformats.org/drawingml/2006/table">
            <a:tbl>
              <a:tblPr bandRow="1"/>
              <a:tblGrid>
                <a:gridCol w="5400000">
                  <a:extLst>
                    <a:ext uri="{9D8B030D-6E8A-4147-A177-3AD203B41FA5}">
                      <a16:colId xmlns:a16="http://schemas.microsoft.com/office/drawing/2014/main" val="1139336087"/>
                    </a:ext>
                  </a:extLst>
                </a:gridCol>
                <a:gridCol w="2160000">
                  <a:extLst>
                    <a:ext uri="{9D8B030D-6E8A-4147-A177-3AD203B41FA5}">
                      <a16:colId xmlns:a16="http://schemas.microsoft.com/office/drawing/2014/main" val="3621032455"/>
                    </a:ext>
                  </a:extLst>
                </a:gridCol>
              </a:tblGrid>
              <a:tr h="54000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Conj</a:t>
                      </a: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ecture</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55873" marR="558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Initials</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55873" marR="5587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1500964"/>
                  </a:ext>
                </a:extLst>
              </a:tr>
              <a:tr h="2029624">
                <a:tc>
                  <a:txBody>
                    <a:bodyPr/>
                    <a:lstStyle/>
                    <a:p>
                      <a:pPr marL="0" marR="0">
                        <a:spcBef>
                          <a:spcPts val="0"/>
                        </a:spcBef>
                        <a:spcAft>
                          <a:spcPts val="100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100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100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5873" marR="558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400">
                          <a:effectLst/>
                          <a:latin typeface="Verdana" panose="020B0604030504040204" pitchFamily="34" charset="0"/>
                          <a:ea typeface="Verdana" panose="020B0604030504040204" pitchFamily="34" charset="0"/>
                          <a:cs typeface="Verdana" panose="020B0604030504040204" pitchFamily="34" charset="0"/>
                        </a:rPr>
                        <a:t> </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55873" marR="558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2212558"/>
                  </a:ext>
                </a:extLst>
              </a:tr>
              <a:tr h="2029624">
                <a:tc>
                  <a:txBody>
                    <a:bodyPr/>
                    <a:lstStyle/>
                    <a:p>
                      <a:pPr marL="0" marR="0">
                        <a:spcBef>
                          <a:spcPts val="0"/>
                        </a:spcBef>
                        <a:spcAft>
                          <a:spcPts val="1000"/>
                        </a:spcAft>
                      </a:pPr>
                      <a:r>
                        <a:rPr lang="en-US" sz="2400">
                          <a:effectLst/>
                          <a:latin typeface="Verdana" panose="020B0604030504040204" pitchFamily="34" charset="0"/>
                          <a:ea typeface="Verdana" panose="020B0604030504040204" pitchFamily="34" charset="0"/>
                          <a:cs typeface="Verdana" panose="020B0604030504040204" pitchFamily="34" charset="0"/>
                        </a:rPr>
                        <a:t> </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1000"/>
                        </a:spcAft>
                      </a:pPr>
                      <a:r>
                        <a:rPr lang="en-US" sz="2400">
                          <a:effectLst/>
                          <a:latin typeface="Verdana" panose="020B0604030504040204" pitchFamily="34" charset="0"/>
                          <a:ea typeface="Verdana" panose="020B0604030504040204" pitchFamily="34" charset="0"/>
                          <a:cs typeface="Verdana" panose="020B0604030504040204" pitchFamily="34" charset="0"/>
                        </a:rPr>
                        <a:t> </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p>
                      <a:pPr marL="0" marR="0">
                        <a:spcBef>
                          <a:spcPts val="0"/>
                        </a:spcBef>
                        <a:spcAft>
                          <a:spcPts val="1000"/>
                        </a:spcAft>
                      </a:pPr>
                      <a:r>
                        <a:rPr lang="en-US" sz="2400">
                          <a:effectLst/>
                          <a:latin typeface="Verdana" panose="020B0604030504040204" pitchFamily="34" charset="0"/>
                          <a:ea typeface="Verdana" panose="020B0604030504040204" pitchFamily="34" charset="0"/>
                          <a:cs typeface="Verdana" panose="020B0604030504040204" pitchFamily="34" charset="0"/>
                        </a:rPr>
                        <a:t> </a:t>
                      </a:r>
                      <a:endParaRPr lang="x-none"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55873" marR="558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x-none"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5873" marR="558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1541318"/>
                  </a:ext>
                </a:extLst>
              </a:tr>
            </a:tbl>
          </a:graphicData>
        </a:graphic>
      </p:graphicFrame>
      <p:sp>
        <p:nvSpPr>
          <p:cNvPr id="7"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302</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4071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05571"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pic>
        <p:nvPicPr>
          <p:cNvPr id="7" name="image6.png" descr="Icon&#10;&#10;Description automatically generated">
            <a:extLst>
              <a:ext uri="{FF2B5EF4-FFF2-40B4-BE49-F238E27FC236}">
                <a16:creationId xmlns:a16="http://schemas.microsoft.com/office/drawing/2014/main" id="{B079AFA8-B9EA-EB4C-B6ED-66C4D839C0CE}"/>
              </a:ext>
            </a:extLst>
          </p:cNvPr>
          <p:cNvPicPr/>
          <p:nvPr/>
        </p:nvPicPr>
        <p:blipFill>
          <a:blip r:embed="rId3"/>
          <a:srcRect/>
          <a:stretch>
            <a:fillRect/>
          </a:stretch>
        </p:blipFill>
        <p:spPr>
          <a:xfrm>
            <a:off x="4628259" y="2852923"/>
            <a:ext cx="1152144" cy="1152144"/>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56065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995"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1455" y="22239"/>
            <a:ext cx="714290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13.4.3 Guided Instruction: Partitioning a Line Segment</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TextBox 7">
            <a:extLst>
              <a:ext uri="{FF2B5EF4-FFF2-40B4-BE49-F238E27FC236}">
                <a16:creationId xmlns:a16="http://schemas.microsoft.com/office/drawing/2014/main" id="{669E00F9-F39F-5043-888E-B0A2D8C9AE0F}"/>
              </a:ext>
            </a:extLst>
          </p:cNvPr>
          <p:cNvSpPr txBox="1"/>
          <p:nvPr/>
        </p:nvSpPr>
        <p:spPr>
          <a:xfrm>
            <a:off x="539226" y="1447361"/>
            <a:ext cx="10180043"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Generalize the conjecture in the Exploration if the given ratio is </a:t>
            </a:r>
            <a:r>
              <a:rPr lang="en-US" sz="2400" dirty="0" err="1">
                <a:latin typeface="Verdana" panose="020B0604030504040204" pitchFamily="34" charset="0"/>
                <a:ea typeface="Times New Roman" panose="02020603050405020304" pitchFamily="18" charset="0"/>
                <a:cs typeface="Times New Roman" panose="02020603050405020304" pitchFamily="18" charset="0"/>
              </a:rPr>
              <a:t>part:whole</a:t>
            </a:r>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p:pic>
        <p:nvPicPr>
          <p:cNvPr id="14" name="image6.png" descr="Icon&#10;&#10;Description automatically generated">
            <a:extLst>
              <a:ext uri="{FF2B5EF4-FFF2-40B4-BE49-F238E27FC236}">
                <a16:creationId xmlns:a16="http://schemas.microsoft.com/office/drawing/2014/main" id="{8A434195-83BC-AD47-961E-98BFF6E69192}"/>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455298" y="310185"/>
            <a:ext cx="749808" cy="749808"/>
          </a:xfrm>
          <a:prstGeom prst="rect">
            <a:avLst/>
          </a:prstGeom>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20AAAC3D-3F26-DD48-89E9-7AB01A305F97}"/>
              </a:ext>
            </a:extLst>
          </p:cNvPr>
          <p:cNvPicPr>
            <a:picLocks noChangeAspect="1"/>
          </p:cNvPicPr>
          <p:nvPr/>
        </p:nvPicPr>
        <p:blipFill>
          <a:blip r:embed="rId4"/>
          <a:stretch>
            <a:fillRect/>
          </a:stretch>
        </p:blipFill>
        <p:spPr>
          <a:xfrm>
            <a:off x="2673100" y="2278358"/>
            <a:ext cx="5912294" cy="4379541"/>
          </a:xfrm>
          <a:prstGeom prst="rect">
            <a:avLst/>
          </a:prstGeom>
        </p:spPr>
      </p:pic>
      <p:sp>
        <p:nvSpPr>
          <p:cNvPr id="10"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9856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670775" y="379188"/>
                <a:ext cx="9343380"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𝑀𝐾 is shown with endpoints at point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𝑀</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(−8,3)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point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𝐾</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(7,13)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670775" y="379188"/>
                <a:ext cx="9343380" cy="830997"/>
              </a:xfrm>
              <a:prstGeom prst="rect">
                <a:avLst/>
              </a:prstGeom>
              <a:blipFill>
                <a:blip r:embed="rId4"/>
                <a:stretch>
                  <a:fillRect l="-978" t="-6569" b="-14599"/>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592B1C61-1D87-6746-BAFE-EDE60B50B88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51744" y="1385277"/>
            <a:ext cx="7498732" cy="3974513"/>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2E77B9D-64A0-8F44-8981-166B09ABE6D1}"/>
                  </a:ext>
                </a:extLst>
              </p:cNvPr>
              <p:cNvSpPr txBox="1"/>
              <p:nvPr/>
            </p:nvSpPr>
            <p:spPr>
              <a:xfrm>
                <a:off x="670775" y="5473568"/>
                <a:ext cx="11260670" cy="461665"/>
              </a:xfrm>
              <a:prstGeom prst="rect">
                <a:avLst/>
              </a:prstGeom>
              <a:noFill/>
            </p:spPr>
            <p:txBody>
              <a:bodyPr wrap="square" rtlCol="0">
                <a:spAutoFit/>
              </a:bodyPr>
              <a:lstStyle/>
              <a:p>
                <a:pPr marL="496888"/>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𝑀𝐾 is partitioned by point 𝐵 in a ratio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10" name="TextBox 9">
                <a:extLst>
                  <a:ext uri="{FF2B5EF4-FFF2-40B4-BE49-F238E27FC236}">
                    <a16:creationId xmlns:a16="http://schemas.microsoft.com/office/drawing/2014/main" xmlns:a14="http://schemas.microsoft.com/office/drawing/2010/main" xmlns="" id="{82E77B9D-64A0-8F44-8981-166B09ABE6D1}"/>
                  </a:ext>
                </a:extLst>
              </p:cNvPr>
              <p:cNvSpPr txBox="1">
                <a:spLocks noRot="1" noChangeAspect="1" noMove="1" noResize="1" noEditPoints="1" noAdjustHandles="1" noChangeArrowheads="1" noChangeShapeType="1" noTextEdit="1"/>
              </p:cNvSpPr>
              <p:nvPr/>
            </p:nvSpPr>
            <p:spPr>
              <a:xfrm>
                <a:off x="670775" y="5473568"/>
                <a:ext cx="11260670" cy="461665"/>
              </a:xfrm>
              <a:prstGeom prst="rect">
                <a:avLst/>
              </a:prstGeom>
              <a:blipFill rotWithShape="1">
                <a:blip r:embed="rId6"/>
                <a:stretch>
                  <a:fillRect t="-11842" b="-28947"/>
                </a:stretch>
              </a:blipFill>
            </p:spPr>
            <p:txBody>
              <a:bodyPr/>
              <a:lstStyle/>
              <a:p>
                <a:r>
                  <a:rPr lang="en-PH">
                    <a:noFill/>
                  </a:rPr>
                  <a:t> </a:t>
                </a:r>
              </a:p>
            </p:txBody>
          </p:sp>
        </mc:Fallback>
      </mc:AlternateContent>
      <p:sp>
        <p:nvSpPr>
          <p:cNvPr id="11"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97323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594393" y="4150225"/>
                <a:ext cx="10800000" cy="2308324"/>
              </a:xfrm>
              <a:prstGeom prst="rect">
                <a:avLst/>
              </a:prstGeom>
              <a:noFill/>
            </p:spPr>
            <p:txBody>
              <a:bodyPr wrap="square" rtlCol="0">
                <a:spAutoFit/>
              </a:bodyPr>
              <a:lstStyle/>
              <a:p>
                <a:pPr marL="8937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an equation that can be used to find the 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𝑀𝐵</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your equation to find the horizontal 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𝑀𝐵</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594393" y="4150225"/>
                <a:ext cx="10800000" cy="2308324"/>
              </a:xfrm>
              <a:prstGeom prst="rect">
                <a:avLst/>
              </a:prstGeom>
              <a:blipFill rotWithShape="1">
                <a:blip r:embed="rId3"/>
                <a:stretch>
                  <a:fillRect t="-2381" r="-678"/>
                </a:stretch>
              </a:blipFill>
            </p:spPr>
            <p:txBody>
              <a:bodyPr/>
              <a:lstStyle/>
              <a:p>
                <a:r>
                  <a:rPr lang="en-PH">
                    <a:noFill/>
                  </a:rPr>
                  <a:t> </a:t>
                </a:r>
              </a:p>
            </p:txBody>
          </p:sp>
        </mc:Fallback>
      </mc:AlternateContent>
      <p:pic>
        <p:nvPicPr>
          <p:cNvPr id="6" name="Picture 5">
            <a:extLst>
              <a:ext uri="{FF2B5EF4-FFF2-40B4-BE49-F238E27FC236}">
                <a16:creationId xmlns:a16="http://schemas.microsoft.com/office/drawing/2014/main" id="{2458A23D-8689-4529-9B1F-E56865D7BBD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8903" y="164577"/>
            <a:ext cx="7153544" cy="3791555"/>
          </a:xfrm>
          <a:prstGeom prst="rect">
            <a:avLst/>
          </a:prstGeom>
        </p:spPr>
      </p:pic>
      <p:sp>
        <p:nvSpPr>
          <p:cNvPr id="7"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6667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657521" y="417051"/>
                <a:ext cx="10800000" cy="4524315"/>
              </a:xfrm>
              <a:prstGeom prst="rect">
                <a:avLst/>
              </a:prstGeom>
              <a:noFill/>
            </p:spPr>
            <p:txBody>
              <a:bodyPr wrap="square" rtlCol="0">
                <a:spAutoFit/>
              </a:bodyPr>
              <a:lstStyle/>
              <a:p>
                <a:pPr marL="89376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Use your equation to find the vertical 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𝑀𝐵</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horizontal distance and the vertical distance to plot point 𝐵 on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𝑀</m:t>
                        </m:r>
                        <m:r>
                          <a:rPr lang="en-US" sz="2400" b="0" i="1" dirty="0" smtClean="0">
                            <a:latin typeface="Cambria Math"/>
                            <a:cs typeface="Times New Roman" panose="02020603050405020304" pitchFamily="18" charset="0"/>
                          </a:rPr>
                          <m:t>𝐾</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What are the coordinates of point 𝐵?</a:t>
                </a: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657521" y="417051"/>
                <a:ext cx="10800000" cy="4524315"/>
              </a:xfrm>
              <a:prstGeom prst="rect">
                <a:avLst/>
              </a:prstGeom>
              <a:blipFill rotWithShape="1">
                <a:blip r:embed="rId3"/>
                <a:stretch>
                  <a:fillRect t="-1211" b="-2019"/>
                </a:stretch>
              </a:blipFill>
            </p:spPr>
            <p:txBody>
              <a:bodyPr/>
              <a:lstStyle/>
              <a:p>
                <a:r>
                  <a:rPr lang="en-PH">
                    <a:noFill/>
                  </a:rPr>
                  <a:t> </a:t>
                </a:r>
              </a:p>
            </p:txBody>
          </p:sp>
        </mc:Fallback>
      </mc:AlternateContent>
      <p:sp>
        <p:nvSpPr>
          <p:cNvPr id="6"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303</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360497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670775" y="417051"/>
                <a:ext cx="4745288" cy="3199209"/>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𝑋𝑌 has endpoints at point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𝑋</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(−6, 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point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𝑌</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(4, 4)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𝑋𝑌 is partitioned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the distance from 𝑋 to 𝑌 at point 𝑊.  </a:t>
                </a: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670775" y="417051"/>
                <a:ext cx="4745288" cy="3199209"/>
              </a:xfrm>
              <a:prstGeom prst="rect">
                <a:avLst/>
              </a:prstGeom>
              <a:blipFill rotWithShape="1">
                <a:blip r:embed="rId3"/>
                <a:stretch>
                  <a:fillRect l="-1928" t="-1714" b="-3429"/>
                </a:stretch>
              </a:blipFill>
            </p:spPr>
            <p:txBody>
              <a:bodyPr/>
              <a:lstStyle/>
              <a:p>
                <a:r>
                  <a:rPr lang="en-PH">
                    <a:noFill/>
                  </a:rPr>
                  <a:t> </a:t>
                </a:r>
              </a:p>
            </p:txBody>
          </p:sp>
        </mc:Fallback>
      </mc:AlternateContent>
      <p:pic>
        <p:nvPicPr>
          <p:cNvPr id="6" name="Picture 5">
            <a:extLst>
              <a:ext uri="{FF2B5EF4-FFF2-40B4-BE49-F238E27FC236}">
                <a16:creationId xmlns:a16="http://schemas.microsoft.com/office/drawing/2014/main" id="{89D7C87E-0269-0C40-BD92-EC2A817BE43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550921" y="417051"/>
            <a:ext cx="6077229" cy="4048795"/>
          </a:xfrm>
          <a:prstGeom prst="rect">
            <a:avLst/>
          </a:prstGeom>
        </p:spPr>
      </p:pic>
      <p:sp>
        <p:nvSpPr>
          <p:cNvPr id="9"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304</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918120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670774" y="417050"/>
                <a:ext cx="9387625" cy="4893647"/>
              </a:xfrm>
              <a:prstGeom prst="rect">
                <a:avLst/>
              </a:prstGeom>
              <a:noFill/>
            </p:spPr>
            <p:txBody>
              <a:bodyPr wrap="square" rtlCol="0">
                <a:spAutoFit/>
              </a:bodyPr>
              <a:lstStyle/>
              <a:p>
                <a:pPr marL="8937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horizontal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𝑋𝑊</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vertical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𝑋𝑊</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93763"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are the coordinates of point 𝑊?</a:t>
                </a: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670774" y="417050"/>
                <a:ext cx="9387625" cy="4893647"/>
              </a:xfrm>
              <a:prstGeom prst="rect">
                <a:avLst/>
              </a:prstGeom>
              <a:blipFill rotWithShape="1">
                <a:blip r:embed="rId3"/>
                <a:stretch>
                  <a:fillRect t="-996" b="-1868"/>
                </a:stretch>
              </a:blipFill>
            </p:spPr>
            <p:txBody>
              <a:bodyPr/>
              <a:lstStyle/>
              <a:p>
                <a:r>
                  <a:rPr lang="en-PH">
                    <a:noFill/>
                  </a:rPr>
                  <a:t> </a:t>
                </a:r>
              </a:p>
            </p:txBody>
          </p:sp>
        </mc:Fallback>
      </mc:AlternateContent>
      <p:pic>
        <p:nvPicPr>
          <p:cNvPr id="7" name="Picture 6">
            <a:extLst>
              <a:ext uri="{FF2B5EF4-FFF2-40B4-BE49-F238E27FC236}">
                <a16:creationId xmlns:a16="http://schemas.microsoft.com/office/drawing/2014/main" id="{89D7C87E-0269-0C40-BD92-EC2A817BE43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550921" y="417051"/>
            <a:ext cx="6077229" cy="4048795"/>
          </a:xfrm>
          <a:prstGeom prst="rect">
            <a:avLst/>
          </a:prstGeom>
        </p:spPr>
      </p:pic>
      <p:sp>
        <p:nvSpPr>
          <p:cNvPr id="10"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18901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81502" y="2819159"/>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 name="image13.png" descr="Icon&#10;&#10;Description automatically generated">
            <a:extLst>
              <a:ext uri="{FF2B5EF4-FFF2-40B4-BE49-F238E27FC236}">
                <a16:creationId xmlns:a16="http://schemas.microsoft.com/office/drawing/2014/main" id="{A8631306-B5AC-B343-881B-A6B22ADC7347}"/>
              </a:ext>
            </a:extLst>
          </p:cNvPr>
          <p:cNvPicPr/>
          <p:nvPr/>
        </p:nvPicPr>
        <p:blipFill>
          <a:blip r:embed="rId3"/>
          <a:srcRect/>
          <a:stretch>
            <a:fillRect/>
          </a:stretch>
        </p:blipFill>
        <p:spPr>
          <a:xfrm>
            <a:off x="4943857" y="2905937"/>
            <a:ext cx="1152144" cy="1152144"/>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85703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3569"/>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67508" y="22240"/>
            <a:ext cx="1007894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13.4.4 Try It: Partitioning a Line Segment</a:t>
            </a:r>
            <a:endParaRPr lang="en-US" sz="3200" b="1" dirty="0">
              <a:solidFill>
                <a:srgbClr val="33BEA6"/>
              </a:solidFill>
              <a:latin typeface="Verdana" panose="020B0604030504040204" pitchFamily="34" charset="0"/>
              <a:ea typeface="Verdana" panose="020B0604030504040204" pitchFamily="34" charset="0"/>
              <a:cs typeface="Verdana" panose="020B0604030504040204" pitchFamily="34" charset="0"/>
              <a:sym typeface="Verdana"/>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670775" y="1460484"/>
                <a:ext cx="5636207" cy="320183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𝑊𝐺 has endpoints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𝑊</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(−3,3)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𝐺</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(6,−3)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br>
                  <a:rPr lang="en-US" sz="2400" dirty="0">
                    <a:latin typeface="Verdana" panose="020B0604030504040204" pitchFamily="34" charset="0"/>
                    <a:ea typeface="Times New Roman" panose="02020603050405020304" pitchFamily="18" charset="0"/>
                    <a:cs typeface="Times New Roman" panose="02020603050405020304" pitchFamily="18" charset="0"/>
                  </a:rPr>
                </a:b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𝑊𝐺 is partitioned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the distance from 𝑊 to 𝐺 at point 𝐷.  </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670775" y="1460484"/>
                <a:ext cx="5636207" cy="3201839"/>
              </a:xfrm>
              <a:prstGeom prst="rect">
                <a:avLst/>
              </a:prstGeom>
              <a:blipFill rotWithShape="1">
                <a:blip r:embed="rId3"/>
                <a:stretch>
                  <a:fillRect l="-1622" t="-1714"/>
                </a:stretch>
              </a:blipFill>
            </p:spPr>
            <p:txBody>
              <a:bodyPr/>
              <a:lstStyle/>
              <a:p>
                <a:r>
                  <a:rPr lang="en-PH">
                    <a:noFill/>
                  </a:rPr>
                  <a:t> </a:t>
                </a:r>
              </a:p>
            </p:txBody>
          </p:sp>
        </mc:Fallback>
      </mc:AlternateContent>
      <p:pic>
        <p:nvPicPr>
          <p:cNvPr id="10" name="image13.png" descr="Icon&#10;&#10;Description automatically generated">
            <a:extLst>
              <a:ext uri="{FF2B5EF4-FFF2-40B4-BE49-F238E27FC236}">
                <a16:creationId xmlns:a16="http://schemas.microsoft.com/office/drawing/2014/main" id="{C9663DE4-1438-2E40-840B-C9ECA6D7C6EC}"/>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455296" y="310185"/>
            <a:ext cx="749810" cy="749810"/>
          </a:xfrm>
          <a:prstGeom prst="rect">
            <a:avLst/>
          </a:prstGeom>
          <a:ln/>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0B8A64E0-C987-8042-AC1D-D28C201E18B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249958" y="1347940"/>
            <a:ext cx="5273966" cy="4773448"/>
          </a:xfrm>
          <a:prstGeom prst="rect">
            <a:avLst/>
          </a:prstGeom>
        </p:spPr>
      </p:pic>
      <p:sp>
        <p:nvSpPr>
          <p:cNvPr id="15"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304</a:t>
            </a:r>
            <a:endParaRPr i="1" dirty="0">
              <a:latin typeface="Calibri"/>
              <a:ea typeface="Calibri"/>
              <a:cs typeface="Calibri"/>
              <a:sym typeface="Calibri"/>
            </a:endParaRPr>
          </a:p>
        </p:txBody>
      </p:sp>
      <p:pic>
        <p:nvPicPr>
          <p:cNvPr id="16"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011464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670775" y="1889049"/>
                <a:ext cx="7871308" cy="3785652"/>
              </a:xfrm>
              <a:prstGeom prst="rect">
                <a:avLst/>
              </a:prstGeom>
              <a:noFill/>
            </p:spPr>
            <p:txBody>
              <a:bodyPr wrap="square" rtlCol="0">
                <a:spAutoFit/>
              </a:bodyPr>
              <a:lstStyle/>
              <a:p>
                <a:pPr marL="903288" indent="-53816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horizontal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𝑊𝐷</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903288" indent="-53816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3288" indent="-53816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3288" indent="-53816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3288" indent="-53816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vertical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distance of </a:t>
                </a:r>
                <a14:m>
                  <m:oMath xmlns:m="http://schemas.openxmlformats.org/officeDocument/2006/math">
                    <m:acc>
                      <m:accPr>
                        <m:chr m:val="̅"/>
                        <m:ctrlPr>
                          <a:rPr lang="en-US" sz="2400" i="1" dirty="0">
                            <a:latin typeface="Cambria Math" panose="02040503050406030204" pitchFamily="18" charset="0"/>
                            <a:cs typeface="Times New Roman" panose="02020603050405020304" pitchFamily="18" charset="0"/>
                          </a:rPr>
                        </m:ctrlPr>
                      </m:accPr>
                      <m:e>
                        <m:r>
                          <a:rPr lang="es-ES" sz="2400" i="1" dirty="0">
                            <a:latin typeface="Cambria Math" panose="02040503050406030204" pitchFamily="18" charset="0"/>
                            <a:cs typeface="Times New Roman" panose="02020603050405020304" pitchFamily="18" charset="0"/>
                          </a:rPr>
                          <m:t>𝑊𝐷</m:t>
                        </m:r>
                      </m:e>
                    </m:acc>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903288" indent="-53816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3288" indent="-538163">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03288" indent="-53816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are the coordinates of point 𝐷?</a:t>
                </a:r>
              </a:p>
            </p:txBody>
          </p:sp>
        </mc:Choice>
        <mc:Fallback xmlns="">
          <p:sp>
            <p:nvSpPr>
              <p:cNvPr id="8" name="TextBox 7">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670775" y="1889049"/>
                <a:ext cx="7871308" cy="3785652"/>
              </a:xfrm>
              <a:prstGeom prst="rect">
                <a:avLst/>
              </a:prstGeom>
              <a:blipFill rotWithShape="1">
                <a:blip r:embed="rId3"/>
                <a:stretch>
                  <a:fillRect t="-1288" b="-2738"/>
                </a:stretch>
              </a:blipFill>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69E00F9-F39F-5043-888E-B0A2D8C9AE0F}"/>
                  </a:ext>
                </a:extLst>
              </p:cNvPr>
              <p:cNvSpPr txBox="1"/>
              <p:nvPr/>
            </p:nvSpPr>
            <p:spPr>
              <a:xfrm>
                <a:off x="670775" y="391340"/>
                <a:ext cx="5636207" cy="1724511"/>
              </a:xfrm>
              <a:prstGeom prst="rect">
                <a:avLst/>
              </a:prstGeom>
              <a:noFill/>
            </p:spPr>
            <p:txBody>
              <a:bodyPr wrap="square" rtlCol="0">
                <a:spAutoFit/>
              </a:bodyPr>
              <a:lstStyle/>
              <a:p>
                <a:pPr marL="365125"/>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𝑊𝐺 is partitioned </a:t>
                </a:r>
                <a14:m>
                  <m:oMath xmlns:m="http://schemas.openxmlformats.org/officeDocument/2006/math">
                    <m:f>
                      <m:fPr>
                        <m:ctrlPr>
                          <a:rPr lang="en-US" sz="2400" i="1" dirty="0">
                            <a:latin typeface="Cambria Math" panose="02040503050406030204" pitchFamily="18" charset="0"/>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the distance from 𝑊 to 𝐺 at point 𝐷.  </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xmlns:a14="http://schemas.microsoft.com/office/drawing/2010/main" xmlns="" id="{669E00F9-F39F-5043-888E-B0A2D8C9AE0F}"/>
                  </a:ext>
                </a:extLst>
              </p:cNvPr>
              <p:cNvSpPr txBox="1">
                <a:spLocks noRot="1" noChangeAspect="1" noMove="1" noResize="1" noEditPoints="1" noAdjustHandles="1" noChangeArrowheads="1" noChangeShapeType="1" noTextEdit="1"/>
              </p:cNvSpPr>
              <p:nvPr/>
            </p:nvSpPr>
            <p:spPr>
              <a:xfrm>
                <a:off x="670775" y="391340"/>
                <a:ext cx="5636207" cy="1724511"/>
              </a:xfrm>
              <a:prstGeom prst="rect">
                <a:avLst/>
              </a:prstGeom>
              <a:blipFill rotWithShape="1">
                <a:blip r:embed="rId4"/>
                <a:stretch>
                  <a:fillRect t="-3180"/>
                </a:stretch>
              </a:blipFill>
            </p:spPr>
            <p:txBody>
              <a:bodyPr/>
              <a:lstStyle/>
              <a:p>
                <a:r>
                  <a:rPr lang="en-PH">
                    <a:noFill/>
                  </a:rPr>
                  <a:t> </a:t>
                </a:r>
              </a:p>
            </p:txBody>
          </p:sp>
        </mc:Fallback>
      </mc:AlternateContent>
      <p:pic>
        <p:nvPicPr>
          <p:cNvPr id="11" name="Picture 10">
            <a:extLst>
              <a:ext uri="{FF2B5EF4-FFF2-40B4-BE49-F238E27FC236}">
                <a16:creationId xmlns:a16="http://schemas.microsoft.com/office/drawing/2014/main" id="{0B8A64E0-C987-8042-AC1D-D28C201E18BC}"/>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249958" y="278796"/>
            <a:ext cx="5273966" cy="4773448"/>
          </a:xfrm>
          <a:prstGeom prst="rect">
            <a:avLst/>
          </a:prstGeom>
        </p:spPr>
      </p:pic>
      <p:sp>
        <p:nvSpPr>
          <p:cNvPr id="13"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304</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438776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67A6B21-5499-A246-9AD7-1AD57E680FF3}"/>
                  </a:ext>
                </a:extLst>
              </p:cNvPr>
              <p:cNvSpPr txBox="1"/>
              <p:nvPr/>
            </p:nvSpPr>
            <p:spPr>
              <a:xfrm>
                <a:off x="670775" y="290713"/>
                <a:ext cx="5003528" cy="1200329"/>
              </a:xfrm>
              <a:prstGeom prst="rect">
                <a:avLst/>
              </a:prstGeom>
              <a:noFill/>
            </p:spPr>
            <p:txBody>
              <a:bodyPr wrap="square" rtlCol="0">
                <a:spAutoFit/>
              </a:bodyPr>
              <a:lstStyle/>
              <a:p>
                <a:pPr marL="4699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𝐵𝑁 has endpoints at point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𝐵</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(9,−7)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point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𝑁</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p:txBody>
          </p:sp>
        </mc:Choice>
        <mc:Fallback xmlns="">
          <p:sp>
            <p:nvSpPr>
              <p:cNvPr id="7" name="TextBox 6">
                <a:extLst>
                  <a:ext uri="{FF2B5EF4-FFF2-40B4-BE49-F238E27FC236}">
                    <a16:creationId xmlns:a16="http://schemas.microsoft.com/office/drawing/2014/main" xmlns:a14="http://schemas.microsoft.com/office/drawing/2010/main" xmlns="" id="{D67A6B21-5499-A246-9AD7-1AD57E680FF3}"/>
                  </a:ext>
                </a:extLst>
              </p:cNvPr>
              <p:cNvSpPr txBox="1">
                <a:spLocks noRot="1" noChangeAspect="1" noMove="1" noResize="1" noEditPoints="1" noAdjustHandles="1" noChangeArrowheads="1" noChangeShapeType="1" noTextEdit="1"/>
              </p:cNvSpPr>
              <p:nvPr/>
            </p:nvSpPr>
            <p:spPr>
              <a:xfrm>
                <a:off x="670775" y="290713"/>
                <a:ext cx="5003528" cy="1200329"/>
              </a:xfrm>
              <a:prstGeom prst="rect">
                <a:avLst/>
              </a:prstGeom>
              <a:blipFill rotWithShape="1">
                <a:blip r:embed="rId3"/>
                <a:stretch>
                  <a:fillRect l="-1583" t="-4569" r="-3167" b="-10152"/>
                </a:stretch>
              </a:blipFill>
            </p:spPr>
            <p:txBody>
              <a:bodyPr/>
              <a:lstStyle/>
              <a:p>
                <a:r>
                  <a:rPr lang="en-PH">
                    <a:noFill/>
                  </a:rPr>
                  <a:t> </a:t>
                </a:r>
              </a:p>
            </p:txBody>
          </p:sp>
        </mc:Fallback>
      </mc:AlternateContent>
      <p:pic>
        <p:nvPicPr>
          <p:cNvPr id="6" name="Picture 5">
            <a:extLst>
              <a:ext uri="{FF2B5EF4-FFF2-40B4-BE49-F238E27FC236}">
                <a16:creationId xmlns:a16="http://schemas.microsoft.com/office/drawing/2014/main" id="{0BFFE028-8EF5-7041-9839-DD85A22DA4C5}"/>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956753" y="290712"/>
            <a:ext cx="5866342" cy="4112475"/>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AB819E-5D45-E845-A97F-629F0DFF981D}"/>
                  </a:ext>
                </a:extLst>
              </p:cNvPr>
              <p:cNvSpPr txBox="1"/>
              <p:nvPr/>
            </p:nvSpPr>
            <p:spPr>
              <a:xfrm>
                <a:off x="670773" y="1680408"/>
                <a:ext cx="5003529" cy="2308324"/>
              </a:xfrm>
              <a:prstGeom prst="rect">
                <a:avLst/>
              </a:prstGeom>
              <a:noFill/>
            </p:spPr>
            <p:txBody>
              <a:bodyPr wrap="square" rtlCol="0">
                <a:spAutoFit/>
              </a:bodyPr>
              <a:lstStyle/>
              <a:p>
                <a:pPr marL="496888"/>
                <a:r>
                  <a:rPr lang="en-US" sz="2400" dirty="0">
                    <a:latin typeface="Verdana" panose="020B0604030504040204" pitchFamily="34" charset="0"/>
                    <a:ea typeface="Times New Roman" panose="02020603050405020304" pitchFamily="18" charset="0"/>
                    <a:cs typeface="Times New Roman" panose="02020603050405020304" pitchFamily="18" charset="0"/>
                  </a:rPr>
                  <a:t>Directed line segment 𝐵𝑁 is partitioned by point 𝐻 at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ratio. </a:t>
                </a:r>
              </a:p>
              <a:p>
                <a:pPr marL="496888"/>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96888"/>
                <a:r>
                  <a:rPr lang="en-US" sz="2400" dirty="0">
                    <a:latin typeface="Verdana" panose="020B0604030504040204" pitchFamily="34" charset="0"/>
                    <a:ea typeface="Times New Roman" panose="02020603050405020304" pitchFamily="18" charset="0"/>
                    <a:cs typeface="Times New Roman" panose="02020603050405020304" pitchFamily="18" charset="0"/>
                  </a:rPr>
                  <a:t>What are the coordinates of point 𝐻? </a:t>
                </a:r>
              </a:p>
            </p:txBody>
          </p:sp>
        </mc:Choice>
        <mc:Fallback xmlns="">
          <p:sp>
            <p:nvSpPr>
              <p:cNvPr id="8" name="TextBox 7">
                <a:extLst>
                  <a:ext uri="{FF2B5EF4-FFF2-40B4-BE49-F238E27FC236}">
                    <a16:creationId xmlns:a16="http://schemas.microsoft.com/office/drawing/2014/main" xmlns:a14="http://schemas.microsoft.com/office/drawing/2010/main" xmlns="" id="{ABAB819E-5D45-E845-A97F-629F0DFF981D}"/>
                  </a:ext>
                </a:extLst>
              </p:cNvPr>
              <p:cNvSpPr txBox="1">
                <a:spLocks noRot="1" noChangeAspect="1" noMove="1" noResize="1" noEditPoints="1" noAdjustHandles="1" noChangeArrowheads="1" noChangeShapeType="1" noTextEdit="1"/>
              </p:cNvSpPr>
              <p:nvPr/>
            </p:nvSpPr>
            <p:spPr>
              <a:xfrm>
                <a:off x="670773" y="1680408"/>
                <a:ext cx="5003529" cy="2308324"/>
              </a:xfrm>
              <a:prstGeom prst="rect">
                <a:avLst/>
              </a:prstGeom>
              <a:blipFill rotWithShape="1">
                <a:blip r:embed="rId5"/>
                <a:stretch>
                  <a:fillRect t="-2381" r="-3410" b="-5291"/>
                </a:stretch>
              </a:blipFill>
            </p:spPr>
            <p:txBody>
              <a:bodyPr/>
              <a:lstStyle/>
              <a:p>
                <a:r>
                  <a:rPr lang="en-PH">
                    <a:noFill/>
                  </a:rPr>
                  <a:t> </a:t>
                </a:r>
              </a:p>
            </p:txBody>
          </p:sp>
        </mc:Fallback>
      </mc:AlternateContent>
      <p:sp>
        <p:nvSpPr>
          <p:cNvPr id="9"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73929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E45088"/>
          </a:solidFill>
          <a:ln w="9525" cap="flat" cmpd="sng">
            <a:solidFill>
              <a:srgbClr val="E4508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61349" y="2098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13.4.5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463930" y="31018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8" y="1431093"/>
            <a:ext cx="10800000" cy="461665"/>
          </a:xfrm>
          <a:prstGeom prst="rect">
            <a:avLst/>
          </a:prstGeom>
          <a:noFill/>
        </p:spPr>
        <p:txBody>
          <a:bodyPr wrap="square" rtlCol="0">
            <a:spAutoFit/>
          </a:bodyPr>
          <a:lstStyle/>
          <a:p>
            <a:pPr marL="534988" indent="-534988">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 summary of what you learned in this lesson.</a:t>
            </a:r>
          </a:p>
        </p:txBody>
      </p:sp>
      <p:sp>
        <p:nvSpPr>
          <p:cNvPr id="11" name="Google Shape;282;g104476d1465_1_17"/>
          <p:cNvSpPr txBox="1"/>
          <p:nvPr/>
        </p:nvSpPr>
        <p:spPr>
          <a:xfrm>
            <a:off x="881958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305</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7810" y="613038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1554</TotalTime>
  <Words>1107</Words>
  <Application>Microsoft Office PowerPoint</Application>
  <PresentationFormat>Widescreen</PresentationFormat>
  <Paragraphs>196</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Calibri</vt:lpstr>
      <vt:lpstr>Century Gothic</vt:lpstr>
      <vt:lpstr>Verdana</vt:lpstr>
      <vt:lpstr>Arial</vt:lpstr>
      <vt:lpstr>Arial Black</vt:lpstr>
      <vt:lpstr>Cambria Math</vt:lpstr>
      <vt:lpstr>Cambria</vt:lpstr>
      <vt:lpstr>Wingdings</vt:lpstr>
      <vt:lpstr>Courier New</vt:lpstr>
      <vt:lpstr>1_Office Theme</vt:lpstr>
      <vt:lpstr>Geometry  Unit 13, Lesson 4  Partitioning Line Segments  Volume 2, pg. 299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Heather  Rideout</cp:lastModifiedBy>
  <cp:revision>31</cp:revision>
  <dcterms:created xsi:type="dcterms:W3CDTF">2015-03-17T18:51:18Z</dcterms:created>
  <dcterms:modified xsi:type="dcterms:W3CDTF">2023-03-01T19:59:35Z</dcterms:modified>
</cp:coreProperties>
</file>