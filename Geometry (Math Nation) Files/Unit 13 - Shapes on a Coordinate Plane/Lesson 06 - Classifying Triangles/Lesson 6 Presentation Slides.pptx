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285" r:id="rId4"/>
    <p:sldId id="286" r:id="rId5"/>
    <p:sldId id="261" r:id="rId6"/>
    <p:sldId id="287" r:id="rId7"/>
    <p:sldId id="367" r:id="rId8"/>
    <p:sldId id="329" r:id="rId9"/>
    <p:sldId id="330" r:id="rId10"/>
    <p:sldId id="370" r:id="rId11"/>
    <p:sldId id="311" r:id="rId12"/>
    <p:sldId id="312" r:id="rId13"/>
    <p:sldId id="353" r:id="rId14"/>
    <p:sldId id="368" r:id="rId15"/>
    <p:sldId id="387" r:id="rId16"/>
    <p:sldId id="388" r:id="rId17"/>
    <p:sldId id="389" r:id="rId18"/>
    <p:sldId id="390" r:id="rId19"/>
    <p:sldId id="391" r:id="rId20"/>
    <p:sldId id="392" r:id="rId21"/>
    <p:sldId id="385" r:id="rId22"/>
    <p:sldId id="386" r:id="rId23"/>
    <p:sldId id="377" r:id="rId24"/>
    <p:sldId id="378" r:id="rId25"/>
    <p:sldId id="393" r:id="rId26"/>
    <p:sldId id="394" r:id="rId27"/>
    <p:sldId id="306" r:id="rId28"/>
    <p:sldId id="307" r:id="rId29"/>
  </p:sldIdLst>
  <p:sldSz cx="12192000" cy="6858000"/>
  <p:notesSz cx="6858000" cy="9144000"/>
  <p:embeddedFontLst>
    <p:embeddedFont>
      <p:font typeface="Arial Black" panose="020B0A04020102020204" pitchFamily="34" charset="0"/>
      <p:bold r:id="rId31"/>
    </p:embeddedFont>
    <p:embeddedFont>
      <p:font typeface="Calibri" panose="020F0502020204030204" pitchFamily="34" charset="0"/>
      <p:regular r:id="rId32"/>
      <p:bold r:id="rId33"/>
      <p:italic r:id="rId34"/>
      <p:boldItalic r:id="rId35"/>
    </p:embeddedFont>
    <p:embeddedFont>
      <p:font typeface="Cambria" panose="02040503050406030204" pitchFamily="18" charset="0"/>
      <p:regular r:id="rId36"/>
      <p:bold r:id="rId37"/>
      <p:italic r:id="rId38"/>
      <p:boldItalic r:id="rId39"/>
    </p:embeddedFont>
    <p:embeddedFont>
      <p:font typeface="Cambria Math" panose="02040503050406030204" pitchFamily="18" charset="0"/>
      <p:regular r:id="rId40"/>
    </p:embeddedFont>
    <p:embeddedFont>
      <p:font typeface="Century Gothic" panose="020B0502020202020204" pitchFamily="34" charset="0"/>
      <p:regular r:id="rId41"/>
      <p:bold r:id="rId42"/>
      <p:italic r:id="rId43"/>
      <p:boldItalic r:id="rId44"/>
    </p:embeddedFont>
    <p:embeddedFont>
      <p:font typeface="Verdana" panose="020B0604030504040204"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2"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4E5F"/>
    <a:srgbClr val="E45088"/>
    <a:srgbClr val="33BEA6"/>
    <a:srgbClr val="79B0DD"/>
    <a:srgbClr val="DA4487"/>
    <a:srgbClr val="276C46"/>
    <a:srgbClr val="C9DF6F"/>
    <a:srgbClr val="417DBF"/>
    <a:srgbClr val="3F2A67"/>
    <a:srgbClr val="26B7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74" autoAdjust="0"/>
    <p:restoredTop sz="94648"/>
  </p:normalViewPr>
  <p:slideViewPr>
    <p:cSldViewPr snapToGrid="0">
      <p:cViewPr varScale="1">
        <p:scale>
          <a:sx n="82" d="100"/>
          <a:sy n="82" d="100"/>
        </p:scale>
        <p:origin x="686"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66"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64"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font" Target="fonts/font11.fntdata"/><Relationship Id="rId62"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800542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27430264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2481965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1215227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4037198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5610474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4060192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1007193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3873738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1685236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3204070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1241090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2812943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28714935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26921035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31550041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31539314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5811265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8169688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4.tiff"/><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28.png"/><Relationship Id="rId5" Type="http://schemas.openxmlformats.org/officeDocument/2006/relationships/image" Target="../media/image10.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9.tiff"/><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34.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7.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34.tiff"/><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37.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7.tiff"/><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38.tiff"/><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42.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39.tiff"/><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44.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45.png"/></Relationships>
</file>

<file path=ppt/slides/_rels/slide26.xml.rels><?xml version="1.0" encoding="UTF-8" standalone="yes"?>
<Relationships xmlns="http://schemas.openxmlformats.org/package/2006/relationships"><Relationship Id="rId3" Type="http://schemas.openxmlformats.org/officeDocument/2006/relationships/image" Target="../media/image40.tiff"/><Relationship Id="rId2" Type="http://schemas.openxmlformats.org/officeDocument/2006/relationships/notesSlide" Target="../notesSlides/notesSlide26.xml"/><Relationship Id="rId1" Type="http://schemas.openxmlformats.org/officeDocument/2006/relationships/slideLayout" Target="../slideLayouts/slideLayout8.xml"/><Relationship Id="rId5" Type="http://schemas.openxmlformats.org/officeDocument/2006/relationships/image" Target="../media/image47.png"/><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6" name="Google Shape;261;g104476d1465_0_0"/>
          <p:cNvSpPr txBox="1">
            <a:spLocks/>
          </p:cNvSpPr>
          <p:nvPr/>
        </p:nvSpPr>
        <p:spPr>
          <a:xfrm>
            <a:off x="5590352" y="2054277"/>
            <a:ext cx="5077649"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3600" b="1" dirty="0">
                <a:solidFill>
                  <a:srgbClr val="417DBF"/>
                </a:solidFill>
                <a:latin typeface="Verdana"/>
                <a:ea typeface="Verdana"/>
                <a:cs typeface="Verdana"/>
                <a:sym typeface="Verdana"/>
              </a:rPr>
              <a:t>Geometry</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13, Lesson 6</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Classifying Triangles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Volume 2, pg. 314</a:t>
            </a:r>
          </a:p>
          <a:p>
            <a:pPr algn="ctr">
              <a:lnSpc>
                <a:spcPct val="100000"/>
              </a:lnSpc>
              <a:buClr>
                <a:srgbClr val="000000"/>
              </a:buClr>
            </a:pPr>
            <a:endParaRPr lang="en-US" sz="3400" b="1" dirty="0">
              <a:solidFill>
                <a:srgbClr val="417DBF"/>
              </a:solidFill>
              <a:latin typeface="Verdana"/>
              <a:ea typeface="Verdana"/>
              <a:cs typeface="Verdana"/>
              <a:sym typeface="Verdana"/>
            </a:endParaRPr>
          </a:p>
        </p:txBody>
      </p:sp>
      <p:sp>
        <p:nvSpPr>
          <p:cNvPr id="7"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E45088"/>
          </a:solidFill>
          <a:ln w="9525" cap="flat" cmpd="sng">
            <a:solidFill>
              <a:srgbClr val="E4508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8" name="Picture 7"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4530" y="15144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9" name="Google Shape;279;g104476d1465_1_17"/>
          <p:cNvSpPr txBox="1">
            <a:spLocks/>
          </p:cNvSpPr>
          <p:nvPr/>
        </p:nvSpPr>
        <p:spPr>
          <a:xfrm>
            <a:off x="1143000"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pPr>
            <a:r>
              <a:rPr lang="en-US" sz="4700" b="1" dirty="0">
                <a:solidFill>
                  <a:srgbClr val="54B5D1"/>
                </a:solidFill>
                <a:latin typeface="Verdana"/>
                <a:ea typeface="Verdana"/>
                <a:cs typeface="Verdana"/>
                <a:sym typeface="Verdana"/>
              </a:rPr>
              <a:t>Benchmark</a:t>
            </a:r>
            <a:endParaRPr lang="en-US" sz="3700" b="1" dirty="0">
              <a:solidFill>
                <a:srgbClr val="54B5D1"/>
              </a:solidFill>
              <a:latin typeface="Verdana"/>
              <a:ea typeface="Verdana"/>
              <a:cs typeface="Verdana"/>
              <a:sym typeface="Verdana"/>
            </a:endParaRPr>
          </a:p>
        </p:txBody>
      </p:sp>
      <p:pic>
        <p:nvPicPr>
          <p:cNvPr id="10" name="Google Shape;281;g104476d1465_1_17"/>
          <p:cNvPicPr preferRelativeResize="0"/>
          <p:nvPr/>
        </p:nvPicPr>
        <p:blipFill>
          <a:blip r:embed="rId3">
            <a:alphaModFix/>
          </a:blip>
          <a:stretch>
            <a:fillRect/>
          </a:stretch>
        </p:blipFill>
        <p:spPr>
          <a:xfrm>
            <a:off x="411480" y="372300"/>
            <a:ext cx="747300" cy="747300"/>
          </a:xfrm>
          <a:prstGeom prst="rect">
            <a:avLst/>
          </a:prstGeom>
          <a:noFill/>
          <a:ln>
            <a:noFill/>
          </a:ln>
          <a:effectLst>
            <a:outerShdw blurRad="57150" dist="19050" dir="5400000" algn="bl" rotWithShape="0">
              <a:srgbClr val="000000">
                <a:alpha val="50000"/>
              </a:srgbClr>
            </a:outerShdw>
          </a:effectLst>
        </p:spPr>
      </p:pic>
      <p:sp>
        <p:nvSpPr>
          <p:cNvPr id="11" name="Google Shape;280;g104476d1465_1_17">
            <a:extLst>
              <a:ext uri="{FF2B5EF4-FFF2-40B4-BE49-F238E27FC236}">
                <a16:creationId xmlns:a16="http://schemas.microsoft.com/office/drawing/2014/main" id="{527A9F9F-07B8-ED47-B967-E5507C67DBC5}"/>
              </a:ext>
            </a:extLst>
          </p:cNvPr>
          <p:cNvSpPr txBox="1">
            <a:spLocks/>
          </p:cNvSpPr>
          <p:nvPr/>
        </p:nvSpPr>
        <p:spPr>
          <a:xfrm>
            <a:off x="914400" y="1600200"/>
            <a:ext cx="10515600" cy="223646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600" dirty="0">
                <a:solidFill>
                  <a:schemeClr val="tx1"/>
                </a:solidFill>
                <a:latin typeface="Verdana"/>
                <a:ea typeface="Verdana"/>
                <a:cs typeface="Verdana"/>
                <a:sym typeface="Verdana"/>
              </a:rPr>
              <a:t>MA.912.GR.3.2</a:t>
            </a:r>
          </a:p>
          <a:p>
            <a:pPr indent="0">
              <a:buNone/>
            </a:pPr>
            <a:r>
              <a:rPr lang="en-US" sz="3600" dirty="0">
                <a:solidFill>
                  <a:schemeClr val="tx1"/>
                </a:solidFill>
                <a:latin typeface="Verdana"/>
                <a:ea typeface="Verdana"/>
                <a:cs typeface="Verdana"/>
                <a:sym typeface="Verdana"/>
              </a:rPr>
              <a:t>Given a mathematical context, use coordinate geometry to classify or justify definitions, properties, and theorems involving circles, triangles, or quadrilaterals.</a:t>
            </a:r>
          </a:p>
        </p:txBody>
      </p:sp>
      <p:sp>
        <p:nvSpPr>
          <p:cNvPr id="12" name="Google Shape;282;g104476d1465_1_17"/>
          <p:cNvSpPr txBox="1"/>
          <p:nvPr/>
        </p:nvSpPr>
        <p:spPr>
          <a:xfrm>
            <a:off x="8897112" y="6457675"/>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314</a:t>
            </a: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Google Shape;278;g104476d1465_1_17"/>
          <p:cNvSpPr/>
          <p:nvPr/>
        </p:nvSpPr>
        <p:spPr>
          <a:xfrm>
            <a:off x="0" y="0"/>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495"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a:extLst>
              <a:ext uri="{FF2B5EF4-FFF2-40B4-BE49-F238E27FC236}">
                <a16:creationId xmlns:a16="http://schemas.microsoft.com/office/drawing/2014/main" id="{BCBDA1BA-1A31-F841-8D71-9CA2E864C519}"/>
              </a:ext>
            </a:extLst>
          </p:cNvPr>
          <p:cNvSpPr txBox="1"/>
          <p:nvPr/>
        </p:nvSpPr>
        <p:spPr>
          <a:xfrm>
            <a:off x="8888429"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314</a:t>
            </a:r>
            <a:endParaRPr i="1" dirty="0">
              <a:latin typeface="Calibri"/>
              <a:ea typeface="Calibri"/>
              <a:cs typeface="Calibri"/>
              <a:sym typeface="Calibri"/>
            </a:endParaRPr>
          </a:p>
        </p:txBody>
      </p:sp>
      <p:pic>
        <p:nvPicPr>
          <p:cNvPr id="10"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95;g103996e1364_0_10">
            <a:extLst>
              <a:ext uri="{FF2B5EF4-FFF2-40B4-BE49-F238E27FC236}">
                <a16:creationId xmlns:a16="http://schemas.microsoft.com/office/drawing/2014/main" id="{08B3C7FF-E6D0-2145-9A84-003D15672764}"/>
              </a:ext>
            </a:extLst>
          </p:cNvPr>
          <p:cNvSpPr txBox="1">
            <a:spLocks/>
          </p:cNvSpPr>
          <p:nvPr/>
        </p:nvSpPr>
        <p:spPr>
          <a:xfrm>
            <a:off x="1143000" y="129667"/>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t>
            </a:r>
            <a:br>
              <a:rPr lang="en-US" sz="3000" b="1" dirty="0">
                <a:solidFill>
                  <a:srgbClr val="54B5D1"/>
                </a:solidFill>
                <a:latin typeface="Verdana"/>
                <a:ea typeface="Verdana"/>
                <a:cs typeface="Verdana"/>
                <a:sym typeface="Verdana"/>
              </a:rPr>
            </a:br>
            <a:r>
              <a:rPr lang="en-US" sz="3000" b="1" dirty="0">
                <a:solidFill>
                  <a:srgbClr val="54B5D1"/>
                </a:solidFill>
                <a:latin typeface="Verdana"/>
                <a:ea typeface="Verdana"/>
                <a:cs typeface="Verdana"/>
                <a:sym typeface="Verdana"/>
              </a:rPr>
              <a:t>and Reasoning Standards</a:t>
            </a:r>
          </a:p>
        </p:txBody>
      </p:sp>
      <p:pic>
        <p:nvPicPr>
          <p:cNvPr id="13" name="Google Shape;281;g104476d1465_1_17"/>
          <p:cNvPicPr preferRelativeResize="0"/>
          <p:nvPr/>
        </p:nvPicPr>
        <p:blipFill>
          <a:blip r:embed="rId4">
            <a:alphaModFix/>
          </a:blip>
          <a:stretch>
            <a:fillRect/>
          </a:stretch>
        </p:blipFill>
        <p:spPr>
          <a:xfrm>
            <a:off x="411480" y="418867"/>
            <a:ext cx="747300" cy="747300"/>
          </a:xfrm>
          <a:prstGeom prst="rect">
            <a:avLst/>
          </a:prstGeom>
          <a:noFill/>
          <a:ln>
            <a:noFill/>
          </a:ln>
          <a:effectLst>
            <a:outerShdw blurRad="57150" dist="19050" dir="5400000" algn="bl" rotWithShape="0">
              <a:srgbClr val="000000">
                <a:alpha val="50000"/>
              </a:srgbClr>
            </a:outerShdw>
          </a:effectLst>
        </p:spPr>
      </p:pic>
      <p:sp>
        <p:nvSpPr>
          <p:cNvPr id="15" name="Google Shape;296;g103996e1364_0_10">
            <a:extLst>
              <a:ext uri="{FF2B5EF4-FFF2-40B4-BE49-F238E27FC236}">
                <a16:creationId xmlns:a16="http://schemas.microsoft.com/office/drawing/2014/main" id="{A6E18E39-B007-D647-9935-55A748533A45}"/>
              </a:ext>
            </a:extLst>
          </p:cNvPr>
          <p:cNvSpPr txBox="1">
            <a:spLocks/>
          </p:cNvSpPr>
          <p:nvPr/>
        </p:nvSpPr>
        <p:spPr>
          <a:xfrm>
            <a:off x="914400" y="159639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9" name="Google Shape;282;g104476d1465_1_17"/>
          <p:cNvSpPr txBox="1"/>
          <p:nvPr/>
        </p:nvSpPr>
        <p:spPr>
          <a:xfrm>
            <a:off x="8897112" y="6457675"/>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314</a:t>
            </a:r>
          </a:p>
        </p:txBody>
      </p:sp>
      <p:pic>
        <p:nvPicPr>
          <p:cNvPr id="11"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302;g103996e1364_0_16">
            <a:extLst>
              <a:ext uri="{FF2B5EF4-FFF2-40B4-BE49-F238E27FC236}">
                <a16:creationId xmlns:a16="http://schemas.microsoft.com/office/drawing/2014/main" id="{9B7C98EC-F13C-9146-B728-D7044DB4247D}"/>
              </a:ext>
            </a:extLst>
          </p:cNvPr>
          <p:cNvSpPr txBox="1">
            <a:spLocks/>
          </p:cNvSpPr>
          <p:nvPr/>
        </p:nvSpPr>
        <p:spPr>
          <a:xfrm>
            <a:off x="914400" y="160020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79450">
              <a:buClr>
                <a:srgbClr val="434343"/>
              </a:buClr>
              <a:buSzPct val="100000"/>
              <a:buFont typeface="Wingdings" pitchFamily="2" charset="2"/>
              <a:buChar char="q"/>
            </a:pPr>
            <a:r>
              <a:rPr lang="en-US" sz="3600" dirty="0">
                <a:solidFill>
                  <a:schemeClr val="tx1"/>
                </a:solidFill>
                <a:latin typeface="Verdana"/>
                <a:ea typeface="Verdana"/>
                <a:cs typeface="Verdana"/>
                <a:sym typeface="Verdana"/>
              </a:rPr>
              <a:t>I can use coordinate geometry to classify triangles in a mathematical or real-world context. </a:t>
            </a:r>
          </a:p>
          <a:p>
            <a:pPr marL="685800" indent="-679450">
              <a:buClr>
                <a:srgbClr val="434343"/>
              </a:buClr>
              <a:buSzPct val="100000"/>
              <a:buFont typeface="Wingdings" pitchFamily="2" charset="2"/>
              <a:buChar char="q"/>
            </a:pPr>
            <a:endParaRPr lang="en-US" sz="3600" dirty="0">
              <a:solidFill>
                <a:schemeClr val="tx1"/>
              </a:solidFill>
              <a:latin typeface="Verdana"/>
              <a:ea typeface="Verdana"/>
              <a:cs typeface="Verdana"/>
              <a:sym typeface="Verdana"/>
            </a:endParaRPr>
          </a:p>
          <a:p>
            <a:pPr marL="685800" indent="-679450">
              <a:buClr>
                <a:srgbClr val="434343"/>
              </a:buClr>
              <a:buSzPct val="100000"/>
              <a:buFont typeface="Wingdings" pitchFamily="2" charset="2"/>
              <a:buChar char="q"/>
            </a:pPr>
            <a:r>
              <a:rPr lang="en-US" sz="3600" dirty="0">
                <a:solidFill>
                  <a:schemeClr val="tx1"/>
                </a:solidFill>
                <a:latin typeface="Verdana"/>
                <a:ea typeface="Verdana"/>
                <a:cs typeface="Verdana"/>
                <a:sym typeface="Verdana"/>
              </a:rPr>
              <a:t>I can draw a triangle on a coordinate plane using given definitions, properties, or theorems. </a:t>
            </a:r>
          </a:p>
        </p:txBody>
      </p:sp>
      <p:sp>
        <p:nvSpPr>
          <p:cNvPr id="15" name="Google Shape;301;g103996e1364_0_16">
            <a:extLst>
              <a:ext uri="{FF2B5EF4-FFF2-40B4-BE49-F238E27FC236}">
                <a16:creationId xmlns:a16="http://schemas.microsoft.com/office/drawing/2014/main" id="{5771FBFA-7311-BB45-8AFF-04B380531EE6}"/>
              </a:ext>
            </a:extLst>
          </p:cNvPr>
          <p:cNvSpPr txBox="1">
            <a:spLocks/>
          </p:cNvSpPr>
          <p:nvPr/>
        </p:nvSpPr>
        <p:spPr>
          <a:xfrm>
            <a:off x="1143000"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6"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411480" y="319860"/>
            <a:ext cx="747300" cy="747300"/>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37850"/>
            <a:ext cx="2731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897112" y="6457675"/>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315</a:t>
            </a: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897112" y="6457675"/>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315</a:t>
            </a:r>
          </a:p>
        </p:txBody>
      </p:sp>
      <p:pic>
        <p:nvPicPr>
          <p:cNvPr id="11"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Google Shape;324;g103996e1364_0_25">
            <a:extLst>
              <a:ext uri="{FF2B5EF4-FFF2-40B4-BE49-F238E27FC236}">
                <a16:creationId xmlns:a16="http://schemas.microsoft.com/office/drawing/2014/main" id="{DB5796CA-12EB-BB4C-8338-B127D750A026}"/>
              </a:ext>
            </a:extLst>
          </p:cNvPr>
          <p:cNvSpPr txBox="1">
            <a:spLocks/>
          </p:cNvSpPr>
          <p:nvPr/>
        </p:nvSpPr>
        <p:spPr>
          <a:xfrm>
            <a:off x="1142999" y="26391"/>
            <a:ext cx="10669509" cy="10894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13.6.1 Warm-Up: </a:t>
            </a:r>
            <a:br>
              <a:rPr lang="en-US" sz="3600" b="1" dirty="0">
                <a:solidFill>
                  <a:srgbClr val="3F2A67"/>
                </a:solidFill>
                <a:latin typeface="Verdana"/>
                <a:ea typeface="Verdana"/>
                <a:cs typeface="Verdana"/>
                <a:sym typeface="Verdana"/>
              </a:rPr>
            </a:br>
            <a:r>
              <a:rPr lang="en-US" sz="3600" b="1" dirty="0">
                <a:solidFill>
                  <a:srgbClr val="3F2A67"/>
                </a:solidFill>
                <a:latin typeface="Verdana"/>
                <a:ea typeface="Verdana"/>
                <a:cs typeface="Verdana"/>
                <a:sym typeface="Verdana"/>
              </a:rPr>
              <a:t>Latitude and Longitude</a:t>
            </a:r>
          </a:p>
        </p:txBody>
      </p:sp>
      <p:pic>
        <p:nvPicPr>
          <p:cNvPr id="15"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197485"/>
            <a:ext cx="747300" cy="747300"/>
          </a:xfrm>
          <a:prstGeom prst="rect">
            <a:avLst/>
          </a:prstGeom>
          <a:noFill/>
          <a:ln>
            <a:noFill/>
          </a:ln>
          <a:effectLst>
            <a:outerShdw blurRad="50800" dist="38100" dir="2700000" algn="tl" rotWithShape="0">
              <a:prstClr val="black">
                <a:alpha val="40000"/>
              </a:prstClr>
            </a:outerShdw>
          </a:effectLst>
        </p:spPr>
      </p:pic>
      <p:sp>
        <p:nvSpPr>
          <p:cNvPr id="16" name="TextBox 15">
            <a:extLst>
              <a:ext uri="{FF2B5EF4-FFF2-40B4-BE49-F238E27FC236}">
                <a16:creationId xmlns:a16="http://schemas.microsoft.com/office/drawing/2014/main" id="{E1D7562E-134F-D14B-AF1A-DF40E11EF758}"/>
              </a:ext>
            </a:extLst>
          </p:cNvPr>
          <p:cNvSpPr txBox="1"/>
          <p:nvPr/>
        </p:nvSpPr>
        <p:spPr>
          <a:xfrm>
            <a:off x="914399" y="1386024"/>
            <a:ext cx="10616185" cy="2554545"/>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In ancient times, people used landmarks to identify locations, but travelers were not familiar with local landmarks, making traveling difficult. Hipparchus, a Greek astronomer, was the first to specify location using latitude and longitude as coordinates. Hipparchus applied his knowledge of spherical angles to the problem of denoting locations on the Earth’s surface.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Latitude is the measurement of the globe north to south, and longitude is the measurement of the globe east to west. </a:t>
            </a:r>
          </a:p>
        </p:txBody>
      </p:sp>
      <p:pic>
        <p:nvPicPr>
          <p:cNvPr id="17" name="Picture 16">
            <a:extLst>
              <a:ext uri="{FF2B5EF4-FFF2-40B4-BE49-F238E27FC236}">
                <a16:creationId xmlns:a16="http://schemas.microsoft.com/office/drawing/2014/main" id="{F3789BAA-5050-2D4A-BCDB-996F812F1B14}"/>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727817" y="4075777"/>
            <a:ext cx="4989347" cy="2539186"/>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914400" y="520394"/>
            <a:ext cx="10515600" cy="4154984"/>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 table shows the latitude and longitude of different </a:t>
            </a:r>
            <a:br>
              <a:rPr lang="en-US" sz="2400" dirty="0">
                <a:latin typeface="Verdana" panose="020B0604030504040204" pitchFamily="34" charset="0"/>
                <a:ea typeface="Verdana" panose="020B0604030504040204" pitchFamily="34" charset="0"/>
                <a:cs typeface="Verdana" panose="020B0604030504040204" pitchFamily="34" charset="0"/>
              </a:rPr>
            </a:br>
            <a:r>
              <a:rPr lang="en-US" sz="2400" dirty="0">
                <a:latin typeface="Verdana" panose="020B0604030504040204" pitchFamily="34" charset="0"/>
                <a:ea typeface="Verdana" panose="020B0604030504040204" pitchFamily="34" charset="0"/>
                <a:cs typeface="Verdana" panose="020B0604030504040204" pitchFamily="34" charset="0"/>
              </a:rPr>
              <a:t>Florida cities.</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What do you notice? What do you wonder? </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BE794598-8F27-7549-9CB0-3A2CE5B36BD0}"/>
                  </a:ext>
                </a:extLst>
              </p:cNvPr>
              <p:cNvGraphicFramePr>
                <a:graphicFrameLocks noGrp="1"/>
              </p:cNvGraphicFramePr>
              <p:nvPr>
                <p:extLst>
                  <p:ext uri="{D42A27DB-BD31-4B8C-83A1-F6EECF244321}">
                    <p14:modId xmlns:p14="http://schemas.microsoft.com/office/powerpoint/2010/main" val="1209837922"/>
                  </p:ext>
                </p:extLst>
              </p:nvPr>
            </p:nvGraphicFramePr>
            <p:xfrm>
              <a:off x="1055014" y="1542200"/>
              <a:ext cx="8348421" cy="2286000"/>
            </p:xfrm>
            <a:graphic>
              <a:graphicData uri="http://schemas.openxmlformats.org/drawingml/2006/table">
                <a:tbl>
                  <a:tblPr firstRow="1" firstCol="1" bandRow="1"/>
                  <a:tblGrid>
                    <a:gridCol w="1985847">
                      <a:extLst>
                        <a:ext uri="{9D8B030D-6E8A-4147-A177-3AD203B41FA5}">
                          <a16:colId xmlns:a16="http://schemas.microsoft.com/office/drawing/2014/main" val="2842892368"/>
                        </a:ext>
                      </a:extLst>
                    </a:gridCol>
                    <a:gridCol w="2368073">
                      <a:extLst>
                        <a:ext uri="{9D8B030D-6E8A-4147-A177-3AD203B41FA5}">
                          <a16:colId xmlns:a16="http://schemas.microsoft.com/office/drawing/2014/main" val="2789319594"/>
                        </a:ext>
                      </a:extLst>
                    </a:gridCol>
                    <a:gridCol w="1839135">
                      <a:extLst>
                        <a:ext uri="{9D8B030D-6E8A-4147-A177-3AD203B41FA5}">
                          <a16:colId xmlns:a16="http://schemas.microsoft.com/office/drawing/2014/main" val="270893922"/>
                        </a:ext>
                      </a:extLst>
                    </a:gridCol>
                    <a:gridCol w="2155366">
                      <a:extLst>
                        <a:ext uri="{9D8B030D-6E8A-4147-A177-3AD203B41FA5}">
                          <a16:colId xmlns:a16="http://schemas.microsoft.com/office/drawing/2014/main" val="3145524896"/>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City</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Coordinates</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City</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Coordinates</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712799993"/>
                      </a:ext>
                    </a:extLst>
                  </a:tr>
                  <a:tr h="457200">
                    <a:tc>
                      <a:txBody>
                        <a:bodyPr/>
                        <a:lstStyle/>
                        <a:p>
                          <a:pPr marL="0" marR="0" algn="ctr">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Panama City</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30.2</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𝑁</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85.7</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𝑊</m:t>
                                </m:r>
                              </m:oMath>
                            </m:oMathPara>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Miami</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25.8</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𝑁</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80.2</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𝑊</m:t>
                                </m:r>
                              </m:oMath>
                            </m:oMathPara>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0899162"/>
                      </a:ext>
                    </a:extLst>
                  </a:tr>
                  <a:tr h="457200">
                    <a:tc>
                      <a:txBody>
                        <a:bodyPr/>
                        <a:lstStyle/>
                        <a:p>
                          <a:pPr marL="0" marR="0" algn="ctr">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Tallahassee</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30.46</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𝑁</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84.28</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𝑊</m:t>
                                </m:r>
                              </m:oMath>
                            </m:oMathPara>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Tampa</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28.0</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𝑁</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82.5</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𝑊</m:t>
                                </m:r>
                              </m:oMath>
                            </m:oMathPara>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2131056"/>
                      </a:ext>
                    </a:extLst>
                  </a:tr>
                  <a:tr h="457200">
                    <a:tc>
                      <a:txBody>
                        <a:bodyPr/>
                        <a:lstStyle/>
                        <a:p>
                          <a:pPr marL="0" marR="0" algn="ctr">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Lake Worth</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26.6</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𝑁</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80.1</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𝑊</m:t>
                                </m:r>
                              </m:oMath>
                            </m:oMathPara>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Orlando</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28.5</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𝑁</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81.4</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𝑊</m:t>
                                </m:r>
                              </m:oMath>
                            </m:oMathPara>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4830445"/>
                      </a:ext>
                    </a:extLst>
                  </a:tr>
                  <a:tr h="457200">
                    <a:tc>
                      <a:txBody>
                        <a:bodyPr/>
                        <a:lstStyle/>
                        <a:p>
                          <a:pPr marL="0" marR="0" algn="ctr">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Jacksonville</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30.3</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𝑁</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81.7</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𝑊</m:t>
                                </m:r>
                              </m:oMath>
                            </m:oMathPara>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Gainesville</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90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29.7</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𝑁</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82.3</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𝑊</m:t>
                                </m:r>
                              </m:oMath>
                            </m:oMathPara>
                          </a14:m>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5823297"/>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BE794598-8F27-7549-9CB0-3A2CE5B36BD0}"/>
                  </a:ext>
                </a:extLst>
              </p:cNvPr>
              <p:cNvGraphicFramePr>
                <a:graphicFrameLocks noGrp="1"/>
              </p:cNvGraphicFramePr>
              <p:nvPr>
                <p:extLst>
                  <p:ext uri="{D42A27DB-BD31-4B8C-83A1-F6EECF244321}">
                    <p14:modId xmlns:p14="http://schemas.microsoft.com/office/powerpoint/2010/main" val="1209837922"/>
                  </p:ext>
                </p:extLst>
              </p:nvPr>
            </p:nvGraphicFramePr>
            <p:xfrm>
              <a:off x="1055014" y="1542200"/>
              <a:ext cx="8348421" cy="2286000"/>
            </p:xfrm>
            <a:graphic>
              <a:graphicData uri="http://schemas.openxmlformats.org/drawingml/2006/table">
                <a:tbl>
                  <a:tblPr firstRow="1" firstCol="1" bandRow="1"/>
                  <a:tblGrid>
                    <a:gridCol w="1985847">
                      <a:extLst>
                        <a:ext uri="{9D8B030D-6E8A-4147-A177-3AD203B41FA5}">
                          <a16:colId xmlns:a16="http://schemas.microsoft.com/office/drawing/2014/main" xmlns:a14="http://schemas.microsoft.com/office/drawing/2010/main" xmlns="" val="2842892368"/>
                        </a:ext>
                      </a:extLst>
                    </a:gridCol>
                    <a:gridCol w="2368073">
                      <a:extLst>
                        <a:ext uri="{9D8B030D-6E8A-4147-A177-3AD203B41FA5}">
                          <a16:colId xmlns:a16="http://schemas.microsoft.com/office/drawing/2014/main" xmlns:a14="http://schemas.microsoft.com/office/drawing/2010/main" xmlns="" val="2789319594"/>
                        </a:ext>
                      </a:extLst>
                    </a:gridCol>
                    <a:gridCol w="1839135">
                      <a:extLst>
                        <a:ext uri="{9D8B030D-6E8A-4147-A177-3AD203B41FA5}">
                          <a16:colId xmlns:a16="http://schemas.microsoft.com/office/drawing/2014/main" xmlns:a14="http://schemas.microsoft.com/office/drawing/2010/main" xmlns="" val="270893922"/>
                        </a:ext>
                      </a:extLst>
                    </a:gridCol>
                    <a:gridCol w="2155366">
                      <a:extLst>
                        <a:ext uri="{9D8B030D-6E8A-4147-A177-3AD203B41FA5}">
                          <a16:colId xmlns:a16="http://schemas.microsoft.com/office/drawing/2014/main" xmlns:a14="http://schemas.microsoft.com/office/drawing/2010/main" xmlns="" val="3145524896"/>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Times New Roman" panose="02020603050405020304" pitchFamily="18" charset="0"/>
                            </a:rPr>
                            <a:t>City</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Coordinates</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City</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Coordinates</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2712799993"/>
                      </a:ext>
                    </a:extLst>
                  </a:tr>
                  <a:tr h="457200">
                    <a:tc>
                      <a:txBody>
                        <a:bodyPr/>
                        <a:lstStyle/>
                        <a:p>
                          <a:pPr marL="0" marR="0" algn="ctr">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Panama City</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84021" t="-101333" r="-169072" b="-317333"/>
                          </a:stretch>
                        </a:blipFill>
                      </a:tcPr>
                    </a:tc>
                    <a:tc>
                      <a:txBody>
                        <a:bodyPr/>
                        <a:lstStyle/>
                        <a:p>
                          <a:pPr marL="0" marR="0" algn="ctr">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Miami</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87006" t="-101333" b="-317333"/>
                          </a:stretch>
                        </a:blipFill>
                      </a:tcPr>
                    </a:tc>
                    <a:extLst>
                      <a:ext uri="{0D108BD9-81ED-4DB2-BD59-A6C34878D82A}">
                        <a16:rowId xmlns:a16="http://schemas.microsoft.com/office/drawing/2014/main" xmlns:a14="http://schemas.microsoft.com/office/drawing/2010/main" xmlns="" val="3900899162"/>
                      </a:ext>
                    </a:extLst>
                  </a:tr>
                  <a:tr h="457200">
                    <a:tc>
                      <a:txBody>
                        <a:bodyPr/>
                        <a:lstStyle/>
                        <a:p>
                          <a:pPr marL="0" marR="0" algn="ctr">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Tallahassee</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84021" t="-201333" r="-169072" b="-217333"/>
                          </a:stretch>
                        </a:blipFill>
                      </a:tcPr>
                    </a:tc>
                    <a:tc>
                      <a:txBody>
                        <a:bodyPr/>
                        <a:lstStyle/>
                        <a:p>
                          <a:pPr marL="0" marR="0" algn="ctr">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Tampa</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87006" t="-201333" b="-217333"/>
                          </a:stretch>
                        </a:blipFill>
                      </a:tcPr>
                    </a:tc>
                    <a:extLst>
                      <a:ext uri="{0D108BD9-81ED-4DB2-BD59-A6C34878D82A}">
                        <a16:rowId xmlns:a16="http://schemas.microsoft.com/office/drawing/2014/main" xmlns:a14="http://schemas.microsoft.com/office/drawing/2010/main" xmlns="" val="1922131056"/>
                      </a:ext>
                    </a:extLst>
                  </a:tr>
                  <a:tr h="457200">
                    <a:tc>
                      <a:txBody>
                        <a:bodyPr/>
                        <a:lstStyle/>
                        <a:p>
                          <a:pPr marL="0" marR="0" algn="ctr">
                            <a:spcBef>
                              <a:spcPts val="0"/>
                            </a:spcBef>
                            <a:spcAft>
                              <a:spcPts val="0"/>
                            </a:spcAft>
                          </a:pPr>
                          <a:r>
                            <a:rPr lang="en-US" sz="2000">
                              <a:effectLst/>
                              <a:latin typeface="Verdana" panose="020B0604030504040204" pitchFamily="34" charset="0"/>
                              <a:ea typeface="Times New Roman" panose="02020603050405020304" pitchFamily="18" charset="0"/>
                              <a:cs typeface="Times New Roman" panose="02020603050405020304" pitchFamily="18" charset="0"/>
                            </a:rPr>
                            <a:t>Lake Worth</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84021" t="-301333" r="-169072" b="-117333"/>
                          </a:stretch>
                        </a:blipFill>
                      </a:tcPr>
                    </a:tc>
                    <a:tc>
                      <a:txBody>
                        <a:bodyPr/>
                        <a:lstStyle/>
                        <a:p>
                          <a:pPr marL="0" marR="0" algn="ctr">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Orlando</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87006" t="-301333" b="-117333"/>
                          </a:stretch>
                        </a:blipFill>
                      </a:tcPr>
                    </a:tc>
                    <a:extLst>
                      <a:ext uri="{0D108BD9-81ED-4DB2-BD59-A6C34878D82A}">
                        <a16:rowId xmlns:a16="http://schemas.microsoft.com/office/drawing/2014/main" xmlns:a14="http://schemas.microsoft.com/office/drawing/2010/main" xmlns="" val="3384830445"/>
                      </a:ext>
                    </a:extLst>
                  </a:tr>
                  <a:tr h="457200">
                    <a:tc>
                      <a:txBody>
                        <a:bodyPr/>
                        <a:lstStyle/>
                        <a:p>
                          <a:pPr marL="0" marR="0" algn="ctr">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Jacksonville</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84021" t="-401333" r="-169072" b="-17333"/>
                          </a:stretch>
                        </a:blipFill>
                      </a:tcPr>
                    </a:tc>
                    <a:tc>
                      <a:txBody>
                        <a:bodyPr/>
                        <a:lstStyle/>
                        <a:p>
                          <a:pPr marL="0" marR="0" algn="ctr">
                            <a:spcBef>
                              <a:spcPts val="0"/>
                            </a:spcBef>
                            <a:spcAft>
                              <a:spcPts val="0"/>
                            </a:spcAft>
                          </a:pPr>
                          <a:r>
                            <a:rPr lang="en-US" sz="2000" dirty="0">
                              <a:effectLst/>
                              <a:latin typeface="Verdana" panose="020B0604030504040204" pitchFamily="34" charset="0"/>
                              <a:ea typeface="Times New Roman" panose="02020603050405020304" pitchFamily="18" charset="0"/>
                              <a:cs typeface="Times New Roman" panose="02020603050405020304" pitchFamily="18" charset="0"/>
                            </a:rPr>
                            <a:t>Gainesville</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84939" marR="84939"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87006" t="-401333" b="-17333"/>
                          </a:stretch>
                        </a:blipFill>
                      </a:tcPr>
                    </a:tc>
                    <a:extLst>
                      <a:ext uri="{0D108BD9-81ED-4DB2-BD59-A6C34878D82A}">
                        <a16:rowId xmlns:a16="http://schemas.microsoft.com/office/drawing/2014/main" xmlns:a14="http://schemas.microsoft.com/office/drawing/2010/main" xmlns="" val="1335823297"/>
                      </a:ext>
                    </a:extLst>
                  </a:tr>
                </a:tbl>
              </a:graphicData>
            </a:graphic>
          </p:graphicFrame>
        </mc:Fallback>
      </mc:AlternateContent>
      <p:sp>
        <p:nvSpPr>
          <p:cNvPr id="10" name="Google Shape;282;g104476d1465_1_17"/>
          <p:cNvSpPr txBox="1"/>
          <p:nvPr/>
        </p:nvSpPr>
        <p:spPr>
          <a:xfrm>
            <a:off x="8897112" y="6457675"/>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315</a:t>
            </a: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9978967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3199"/>
            <a:ext cx="2731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705571"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26B7D4"/>
                </a:solidFill>
                <a:latin typeface="Verdana"/>
                <a:ea typeface="Verdana"/>
                <a:cs typeface="Verdana"/>
                <a:sym typeface="Verdana"/>
              </a:rPr>
              <a:t>Refresher</a:t>
            </a:r>
            <a:endParaRPr sz="5100" b="1" dirty="0">
              <a:solidFill>
                <a:srgbClr val="26B7D4"/>
              </a:solidFill>
              <a:latin typeface="Verdana"/>
              <a:ea typeface="Verdana"/>
              <a:cs typeface="Verdana"/>
              <a:sym typeface="Verdana"/>
            </a:endParaRPr>
          </a:p>
        </p:txBody>
      </p:sp>
      <p:pic>
        <p:nvPicPr>
          <p:cNvPr id="9" name="image14.png" descr="Icon&#10;&#10;Description automatically generated">
            <a:extLst>
              <a:ext uri="{FF2B5EF4-FFF2-40B4-BE49-F238E27FC236}">
                <a16:creationId xmlns:a16="http://schemas.microsoft.com/office/drawing/2014/main" id="{771832D3-EAB0-E44C-8A14-FE55CFB59A84}"/>
              </a:ext>
            </a:extLst>
          </p:cNvPr>
          <p:cNvPicPr/>
          <p:nvPr/>
        </p:nvPicPr>
        <p:blipFill>
          <a:blip r:embed="rId3"/>
          <a:srcRect/>
          <a:stretch>
            <a:fillRect/>
          </a:stretch>
        </p:blipFill>
        <p:spPr>
          <a:xfrm>
            <a:off x="4628259" y="2843779"/>
            <a:ext cx="1152144" cy="1152144"/>
          </a:xfrm>
          <a:prstGeom prst="rect">
            <a:avLst/>
          </a:prstGeom>
          <a:ln/>
          <a:effectLst>
            <a:outerShdw blurRad="50800" dist="38100" dir="2700000" algn="tl" rotWithShape="0">
              <a:prstClr val="black">
                <a:alpha val="40000"/>
              </a:prstClr>
            </a:outerShdw>
          </a:effectLst>
        </p:spPr>
      </p:pic>
      <p:sp>
        <p:nvSpPr>
          <p:cNvPr id="7" name="Google Shape;282;g104476d1465_1_17"/>
          <p:cNvSpPr txBox="1"/>
          <p:nvPr/>
        </p:nvSpPr>
        <p:spPr>
          <a:xfrm>
            <a:off x="8897112" y="6457675"/>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315</a:t>
            </a: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456065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6" name="Picture 15">
            <a:extLst>
              <a:ext uri="{FF2B5EF4-FFF2-40B4-BE49-F238E27FC236}">
                <a16:creationId xmlns:a16="http://schemas.microsoft.com/office/drawing/2014/main" id="{CF3E54EC-4BE8-1A42-BAC3-491E7A55946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768051" y="1176474"/>
            <a:ext cx="4762533" cy="4719501"/>
          </a:xfrm>
          <a:prstGeom prst="rect">
            <a:avLst/>
          </a:prstGeom>
        </p:spPr>
      </p:pic>
      <p:sp>
        <p:nvSpPr>
          <p:cNvPr id="9" name="Google Shape;282;g104476d1465_1_17"/>
          <p:cNvSpPr txBox="1"/>
          <p:nvPr/>
        </p:nvSpPr>
        <p:spPr>
          <a:xfrm>
            <a:off x="8897112" y="6457675"/>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315</a:t>
            </a: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Google Shape;324;g103996e1364_0_25">
            <a:extLst>
              <a:ext uri="{FF2B5EF4-FFF2-40B4-BE49-F238E27FC236}">
                <a16:creationId xmlns:a16="http://schemas.microsoft.com/office/drawing/2014/main" id="{DB5796CA-12EB-BB4C-8338-B127D750A026}"/>
              </a:ext>
            </a:extLst>
          </p:cNvPr>
          <p:cNvSpPr txBox="1">
            <a:spLocks/>
          </p:cNvSpPr>
          <p:nvPr/>
        </p:nvSpPr>
        <p:spPr>
          <a:xfrm>
            <a:off x="1142999" y="275690"/>
            <a:ext cx="10669509"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54B5D1"/>
                </a:solidFill>
                <a:latin typeface="Verdana"/>
                <a:ea typeface="Verdana"/>
                <a:cs typeface="Verdana"/>
                <a:sym typeface="Verdana"/>
              </a:rPr>
              <a:t>13.6.2 Refresher: Finding Distance</a:t>
            </a:r>
            <a:endParaRPr lang="en-US" sz="3600" b="1" dirty="0">
              <a:solidFill>
                <a:srgbClr val="54B5D1"/>
              </a:solidFill>
              <a:latin typeface="Verdana" panose="020B0604030504040204" pitchFamily="34" charset="0"/>
              <a:ea typeface="Verdana" panose="020B0604030504040204" pitchFamily="34" charset="0"/>
              <a:cs typeface="Verdana" panose="020B0604030504040204" pitchFamily="34" charset="0"/>
              <a:sym typeface="Verdana"/>
            </a:endParaRPr>
          </a:p>
        </p:txBody>
      </p:sp>
      <p:pic>
        <p:nvPicPr>
          <p:cNvPr id="18" name="image14.png" descr="Icon&#10;&#10;Description automatically generated">
            <a:extLst>
              <a:ext uri="{FF2B5EF4-FFF2-40B4-BE49-F238E27FC236}">
                <a16:creationId xmlns:a16="http://schemas.microsoft.com/office/drawing/2014/main" id="{234A933D-3D85-C94A-91BD-B5425E6981FF}"/>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354107" y="194976"/>
            <a:ext cx="749809" cy="749809"/>
          </a:xfrm>
          <a:prstGeom prst="rect">
            <a:avLst/>
          </a:prstGeom>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1D7562E-134F-D14B-AF1A-DF40E11EF758}"/>
                  </a:ext>
                </a:extLst>
              </p:cNvPr>
              <p:cNvSpPr txBox="1"/>
              <p:nvPr/>
            </p:nvSpPr>
            <p:spPr>
              <a:xfrm>
                <a:off x="914400" y="1176474"/>
                <a:ext cx="5563354" cy="1938992"/>
              </a:xfrm>
              <a:prstGeom prst="rect">
                <a:avLst/>
              </a:prstGeom>
              <a:noFill/>
            </p:spPr>
            <p:txBody>
              <a:bodyPr wrap="square" rtlCol="0">
                <a:spAutoFit/>
              </a:bodyPr>
              <a:lstStyle/>
              <a:p>
                <a:pPr lvl="0"/>
                <a:r>
                  <a:rPr lang="en-US" sz="2000" dirty="0">
                    <a:latin typeface="Verdana" panose="020B0604030504040204" pitchFamily="34" charset="0"/>
                    <a:ea typeface="Times New Roman" panose="02020603050405020304" pitchFamily="18" charset="0"/>
                    <a:cs typeface="Times New Roman" panose="02020603050405020304" pitchFamily="18" charset="0"/>
                  </a:rPr>
                  <a:t>Work with your partner to complete the following.</a:t>
                </a: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Find the length of </a:t>
                </a:r>
                <a14:m>
                  <m:oMath xmlns:m="http://schemas.openxmlformats.org/officeDocument/2006/math">
                    <m:acc>
                      <m:accPr>
                        <m:chr m:val="̅"/>
                        <m:ctrlPr>
                          <a:rPr lang="en-US" sz="2000" i="1" dirty="0">
                            <a:latin typeface="Cambria Math" panose="02040503050406030204" pitchFamily="18" charset="0"/>
                            <a:cs typeface="Times New Roman" panose="02020603050405020304" pitchFamily="18" charset="0"/>
                          </a:rPr>
                        </m:ctrlPr>
                      </m:accPr>
                      <m:e>
                        <m:r>
                          <a:rPr lang="es-ES" sz="2000" i="1" dirty="0">
                            <a:latin typeface="Cambria Math" panose="02040503050406030204" pitchFamily="18" charset="0"/>
                            <a:cs typeface="Times New Roman" panose="02020603050405020304" pitchFamily="18" charset="0"/>
                          </a:rPr>
                          <m:t>𝑊𝐵</m:t>
                        </m:r>
                      </m:e>
                    </m:acc>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using the Pythagorean Theorem. If necessary, round to the nearest thousandth. </a:t>
                </a:r>
              </a:p>
            </p:txBody>
          </p:sp>
        </mc:Choice>
        <mc:Fallback xmlns="">
          <p:sp>
            <p:nvSpPr>
              <p:cNvPr id="19" name="TextBox 18">
                <a:extLst>
                  <a:ext uri="{FF2B5EF4-FFF2-40B4-BE49-F238E27FC236}">
                    <a16:creationId xmlns:a16="http://schemas.microsoft.com/office/drawing/2014/main" xmlns="" xmlns:a14="http://schemas.microsoft.com/office/drawing/2010/main" id="{E1D7562E-134F-D14B-AF1A-DF40E11EF758}"/>
                  </a:ext>
                </a:extLst>
              </p:cNvPr>
              <p:cNvSpPr txBox="1">
                <a:spLocks noRot="1" noChangeAspect="1" noMove="1" noResize="1" noEditPoints="1" noAdjustHandles="1" noChangeArrowheads="1" noChangeShapeType="1" noTextEdit="1"/>
              </p:cNvSpPr>
              <p:nvPr/>
            </p:nvSpPr>
            <p:spPr>
              <a:xfrm>
                <a:off x="914400" y="1176474"/>
                <a:ext cx="5563354" cy="1938992"/>
              </a:xfrm>
              <a:prstGeom prst="rect">
                <a:avLst/>
              </a:prstGeom>
              <a:blipFill rotWithShape="1">
                <a:blip r:embed="rId6"/>
                <a:stretch>
                  <a:fillRect l="-1095" t="-1572" b="-4717"/>
                </a:stretch>
              </a:blipFill>
            </p:spPr>
            <p:txBody>
              <a:bodyPr/>
              <a:lstStyle/>
              <a:p>
                <a:r>
                  <a:rPr lang="en-US">
                    <a:noFill/>
                  </a:rPr>
                  <a:t> </a:t>
                </a:r>
              </a:p>
            </p:txBody>
          </p:sp>
        </mc:Fallback>
      </mc:AlternateContent>
    </p:spTree>
    <p:extLst>
      <p:ext uri="{BB962C8B-B14F-4D97-AF65-F5344CB8AC3E}">
        <p14:creationId xmlns:p14="http://schemas.microsoft.com/office/powerpoint/2010/main" val="3399856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9" name="Picture 8">
            <a:extLst>
              <a:ext uri="{FF2B5EF4-FFF2-40B4-BE49-F238E27FC236}">
                <a16:creationId xmlns:a16="http://schemas.microsoft.com/office/drawing/2014/main" id="{A015CF1C-2478-3040-A91F-A7B50DBF0B32}"/>
              </a:ext>
            </a:extLst>
          </p:cNvPr>
          <p:cNvPicPr>
            <a:picLocks noChangeAspect="1"/>
          </p:cNvPicPr>
          <p:nvPr/>
        </p:nvPicPr>
        <p:blipFill>
          <a:blip r:embed="rId3"/>
          <a:stretch>
            <a:fillRect/>
          </a:stretch>
        </p:blipFill>
        <p:spPr>
          <a:xfrm>
            <a:off x="6569448" y="520394"/>
            <a:ext cx="4961664" cy="4565820"/>
          </a:xfrm>
          <a:prstGeom prst="rect">
            <a:avLst/>
          </a:prstGeom>
        </p:spPr>
      </p:pic>
      <p:sp>
        <p:nvSpPr>
          <p:cNvPr id="7" name="Google Shape;282;g104476d1465_1_17"/>
          <p:cNvSpPr txBox="1"/>
          <p:nvPr/>
        </p:nvSpPr>
        <p:spPr>
          <a:xfrm>
            <a:off x="8897112" y="6457675"/>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316</a:t>
            </a: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FA392D8-3ED3-7940-83A8-1451AA8A08D4}"/>
                  </a:ext>
                </a:extLst>
              </p:cNvPr>
              <p:cNvSpPr txBox="1"/>
              <p:nvPr/>
            </p:nvSpPr>
            <p:spPr>
              <a:xfrm>
                <a:off x="914400" y="520394"/>
                <a:ext cx="5191125" cy="3785652"/>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Use the Pythagorean Theorem to find the length of </a:t>
                </a:r>
                <a14:m>
                  <m:oMath xmlns:m="http://schemas.openxmlformats.org/officeDocument/2006/math">
                    <m:acc>
                      <m:accPr>
                        <m:chr m:val="̅"/>
                        <m:ctrlPr>
                          <a:rPr lang="en-US" sz="2000" i="1" dirty="0">
                            <a:latin typeface="Cambria Math" panose="02040503050406030204" pitchFamily="18" charset="0"/>
                            <a:cs typeface="Times New Roman" panose="02020603050405020304" pitchFamily="18" charset="0"/>
                          </a:rPr>
                        </m:ctrlPr>
                      </m:accPr>
                      <m:e>
                        <m:r>
                          <a:rPr lang="es-ES" sz="2000" i="1" dirty="0">
                            <a:latin typeface="Cambria Math" panose="02040503050406030204" pitchFamily="18" charset="0"/>
                            <a:cs typeface="Times New Roman" panose="02020603050405020304" pitchFamily="18" charset="0"/>
                          </a:rPr>
                          <m:t>𝑇𝐵</m:t>
                        </m:r>
                      </m:e>
                    </m:acc>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If necessary, round to the nearest thousandth. </a:t>
                </a: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Explain how the Pythagorean Theorem can be used to find the distance between two points.</a:t>
                </a:r>
              </a:p>
            </p:txBody>
          </p:sp>
        </mc:Choice>
        <mc:Fallback xmlns="">
          <p:sp>
            <p:nvSpPr>
              <p:cNvPr id="11" name="TextBox 10">
                <a:extLst>
                  <a:ext uri="{FF2B5EF4-FFF2-40B4-BE49-F238E27FC236}">
                    <a16:creationId xmlns:a16="http://schemas.microsoft.com/office/drawing/2014/main" xmlns="" xmlns:a14="http://schemas.microsoft.com/office/drawing/2010/main" id="{2FA392D8-3ED3-7940-83A8-1451AA8A08D4}"/>
                  </a:ext>
                </a:extLst>
              </p:cNvPr>
              <p:cNvSpPr txBox="1">
                <a:spLocks noRot="1" noChangeAspect="1" noMove="1" noResize="1" noEditPoints="1" noAdjustHandles="1" noChangeArrowheads="1" noChangeShapeType="1" noTextEdit="1"/>
              </p:cNvSpPr>
              <p:nvPr/>
            </p:nvSpPr>
            <p:spPr>
              <a:xfrm>
                <a:off x="914400" y="520394"/>
                <a:ext cx="5191125" cy="3785652"/>
              </a:xfrm>
              <a:prstGeom prst="rect">
                <a:avLst/>
              </a:prstGeom>
              <a:blipFill rotWithShape="1">
                <a:blip r:embed="rId5"/>
                <a:stretch>
                  <a:fillRect l="-1174" t="-966" r="-587" b="-1932"/>
                </a:stretch>
              </a:blipFill>
            </p:spPr>
            <p:txBody>
              <a:bodyPr/>
              <a:lstStyle/>
              <a:p>
                <a:r>
                  <a:rPr lang="en-US">
                    <a:noFill/>
                  </a:rPr>
                  <a:t> </a:t>
                </a:r>
              </a:p>
            </p:txBody>
          </p:sp>
        </mc:Fallback>
      </mc:AlternateContent>
    </p:spTree>
    <p:extLst>
      <p:ext uri="{BB962C8B-B14F-4D97-AF65-F5344CB8AC3E}">
        <p14:creationId xmlns:p14="http://schemas.microsoft.com/office/powerpoint/2010/main" val="30973234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784975" y="2766150"/>
            <a:ext cx="4772476"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5000" b="1" dirty="0">
                <a:solidFill>
                  <a:srgbClr val="33BEA6"/>
                </a:solidFill>
                <a:latin typeface="Verdana"/>
                <a:ea typeface="Verdana"/>
                <a:cs typeface="Verdana"/>
                <a:sym typeface="Verdana"/>
              </a:rPr>
              <a:t>Exploration</a:t>
            </a:r>
            <a:endParaRPr sz="5000" b="1" dirty="0">
              <a:solidFill>
                <a:srgbClr val="33BEA6"/>
              </a:solidFill>
              <a:latin typeface="Verdana"/>
              <a:ea typeface="Verdana"/>
              <a:cs typeface="Verdana"/>
              <a:sym typeface="Verdana"/>
            </a:endParaRPr>
          </a:p>
        </p:txBody>
      </p:sp>
      <p:pic>
        <p:nvPicPr>
          <p:cNvPr id="9" name="image10.png" descr="Icon&#10;&#10;Description automatically generated">
            <a:extLst>
              <a:ext uri="{FF2B5EF4-FFF2-40B4-BE49-F238E27FC236}">
                <a16:creationId xmlns:a16="http://schemas.microsoft.com/office/drawing/2014/main" id="{751C723F-70B8-5D43-A9AE-07E8D2783FEB}"/>
              </a:ext>
            </a:extLst>
          </p:cNvPr>
          <p:cNvPicPr/>
          <p:nvPr/>
        </p:nvPicPr>
        <p:blipFill>
          <a:blip r:embed="rId3"/>
          <a:srcRect/>
          <a:stretch>
            <a:fillRect/>
          </a:stretch>
        </p:blipFill>
        <p:spPr>
          <a:xfrm>
            <a:off x="4628747" y="2852791"/>
            <a:ext cx="1156228" cy="1156228"/>
          </a:xfrm>
          <a:prstGeom prst="rect">
            <a:avLst/>
          </a:prstGeom>
          <a:ln/>
          <a:effectLst>
            <a:outerShdw blurRad="50800" dist="38100" dir="2700000" algn="tl" rotWithShape="0">
              <a:prstClr val="black">
                <a:alpha val="40000"/>
              </a:prstClr>
            </a:outerShdw>
          </a:effectLst>
        </p:spPr>
      </p:pic>
      <p:sp>
        <p:nvSpPr>
          <p:cNvPr id="7" name="Google Shape;282;g104476d1465_1_17"/>
          <p:cNvSpPr txBox="1"/>
          <p:nvPr/>
        </p:nvSpPr>
        <p:spPr>
          <a:xfrm>
            <a:off x="8897112" y="6457675"/>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316</a:t>
            </a: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6971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6276" y="52100"/>
            <a:ext cx="1046764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13.6.3 Exploration: </a:t>
            </a:r>
            <a:br>
              <a:rPr lang="en-US" sz="3600" b="1" dirty="0">
                <a:solidFill>
                  <a:srgbClr val="33BEA6"/>
                </a:solidFill>
                <a:latin typeface="Verdana"/>
                <a:ea typeface="Verdana"/>
                <a:cs typeface="Verdana"/>
                <a:sym typeface="Verdana"/>
              </a:rPr>
            </a:br>
            <a:r>
              <a:rPr lang="en-US" sz="3600" b="1" dirty="0">
                <a:solidFill>
                  <a:srgbClr val="33BEA6"/>
                </a:solidFill>
                <a:latin typeface="Verdana"/>
                <a:ea typeface="Verdana"/>
                <a:cs typeface="Verdana"/>
                <a:sym typeface="Verdana"/>
              </a:rPr>
              <a:t>Classifying Triangles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2D1D4D-DCB8-A246-B186-D40316579D77}"/>
                  </a:ext>
                </a:extLst>
              </p:cNvPr>
              <p:cNvSpPr txBox="1"/>
              <p:nvPr/>
            </p:nvSpPr>
            <p:spPr>
              <a:xfrm>
                <a:off x="901674" y="1400200"/>
                <a:ext cx="4899686" cy="1631216"/>
              </a:xfrm>
              <a:prstGeom prst="rect">
                <a:avLst/>
              </a:prstGeom>
              <a:noFill/>
            </p:spPr>
            <p:txBody>
              <a:bodyPr wrap="square" rtlCol="0">
                <a:spAutoFit/>
              </a:bodyPr>
              <a:lstStyle/>
              <a:p>
                <a:pPr marL="346075" indent="-346075">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m:t>
                    </m:r>
                    <m:r>
                      <a:rPr lang="en-US" sz="2000" i="1" dirty="0">
                        <a:latin typeface="Cambria Math" panose="02040503050406030204" pitchFamily="18" charset="0"/>
                        <a:ea typeface="Verdana" panose="020B0604030504040204" pitchFamily="34" charset="0"/>
                        <a:cs typeface="Verdana" panose="020B0604030504040204" pitchFamily="34" charset="0"/>
                      </a:rPr>
                      <m:t>𝑀𝐾𝐶</m:t>
                    </m:r>
                  </m:oMath>
                </a14:m>
                <a:r>
                  <a:rPr lang="en-US" sz="2000" dirty="0">
                    <a:latin typeface="Verdana" panose="020B0604030504040204" pitchFamily="34" charset="0"/>
                    <a:ea typeface="Verdana" panose="020B0604030504040204" pitchFamily="34" charset="0"/>
                    <a:cs typeface="Verdana" panose="020B0604030504040204" pitchFamily="34" charset="0"/>
                  </a:rPr>
                  <a:t> has vertices at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𝑀</m:t>
                    </m:r>
                    <m:r>
                      <a:rPr lang="en-US" sz="2000" i="1" dirty="0">
                        <a:latin typeface="Cambria Math" panose="02040503050406030204" pitchFamily="18" charset="0"/>
                        <a:ea typeface="Verdana" panose="020B0604030504040204" pitchFamily="34" charset="0"/>
                        <a:cs typeface="Verdana" panose="020B0604030504040204" pitchFamily="34" charset="0"/>
                      </a:rPr>
                      <m:t>(−8,8)</m:t>
                    </m:r>
                  </m:oMath>
                </a14:m>
                <a:r>
                  <a:rPr lang="en-US" sz="2000" dirty="0">
                    <a:latin typeface="Verdana" panose="020B0604030504040204" pitchFamily="34" charset="0"/>
                    <a:ea typeface="Verdana" panose="020B0604030504040204" pitchFamily="34" charset="0"/>
                    <a:cs typeface="Verdana" panose="020B0604030504040204" pitchFamily="34" charset="0"/>
                  </a:rPr>
                  <a:t>,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𝐾</m:t>
                    </m:r>
                    <m:r>
                      <a:rPr lang="en-US" sz="2000" i="1" dirty="0">
                        <a:latin typeface="Cambria Math" panose="02040503050406030204" pitchFamily="18" charset="0"/>
                        <a:ea typeface="Verdana" panose="020B0604030504040204" pitchFamily="34" charset="0"/>
                        <a:cs typeface="Verdana" panose="020B0604030504040204" pitchFamily="34" charset="0"/>
                      </a:rPr>
                      <m:t>(−4,2)</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𝐶</m:t>
                    </m:r>
                    <m:r>
                      <a:rPr lang="en-US" sz="2000" i="1" dirty="0">
                        <a:latin typeface="Cambria Math" panose="02040503050406030204" pitchFamily="18" charset="0"/>
                        <a:ea typeface="Verdana" panose="020B0604030504040204" pitchFamily="34" charset="0"/>
                        <a:cs typeface="Verdana" panose="020B0604030504040204" pitchFamily="34" charset="0"/>
                      </a:rPr>
                      <m:t>(−9,3)</m:t>
                    </m:r>
                  </m:oMath>
                </a14:m>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911225" indent="-433388">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Graph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m:t>
                    </m:r>
                    <m:r>
                      <a:rPr lang="en-US" sz="2000" i="1" dirty="0">
                        <a:latin typeface="Cambria Math" panose="02040503050406030204" pitchFamily="18" charset="0"/>
                        <a:ea typeface="Verdana" panose="020B0604030504040204" pitchFamily="34" charset="0"/>
                        <a:cs typeface="Verdana" panose="020B0604030504040204" pitchFamily="34" charset="0"/>
                      </a:rPr>
                      <m:t>𝑀𝐾𝐶</m:t>
                    </m:r>
                  </m:oMath>
                </a14:m>
                <a:r>
                  <a:rPr lang="en-US" sz="2000" dirty="0">
                    <a:latin typeface="Verdana" panose="020B0604030504040204" pitchFamily="34" charset="0"/>
                    <a:ea typeface="Verdana" panose="020B0604030504040204" pitchFamily="34" charset="0"/>
                    <a:cs typeface="Verdana" panose="020B0604030504040204" pitchFamily="34" charset="0"/>
                  </a:rPr>
                  <a:t> on the coordinate plane.</a:t>
                </a:r>
              </a:p>
            </p:txBody>
          </p:sp>
        </mc:Choice>
        <mc:Fallback xmlns="">
          <p:sp>
            <p:nvSpPr>
              <p:cNvPr id="10" name="TextBox 9">
                <a:extLst>
                  <a:ext uri="{FF2B5EF4-FFF2-40B4-BE49-F238E27FC236}">
                    <a16:creationId xmlns:a16="http://schemas.microsoft.com/office/drawing/2014/main" xmlns:a14="http://schemas.microsoft.com/office/drawing/2010/main" xmlns="" id="{152D1D4D-DCB8-A246-B186-D40316579D77}"/>
                  </a:ext>
                </a:extLst>
              </p:cNvPr>
              <p:cNvSpPr txBox="1">
                <a:spLocks noRot="1" noChangeAspect="1" noMove="1" noResize="1" noEditPoints="1" noAdjustHandles="1" noChangeArrowheads="1" noChangeShapeType="1" noTextEdit="1"/>
              </p:cNvSpPr>
              <p:nvPr/>
            </p:nvSpPr>
            <p:spPr>
              <a:xfrm>
                <a:off x="901674" y="1400200"/>
                <a:ext cx="4899686" cy="1631216"/>
              </a:xfrm>
              <a:prstGeom prst="rect">
                <a:avLst/>
              </a:prstGeom>
              <a:blipFill rotWithShape="1">
                <a:blip r:embed="rId3"/>
                <a:stretch>
                  <a:fillRect l="-1368" t="-2247" b="-5993"/>
                </a:stretch>
              </a:blipFill>
            </p:spPr>
            <p:txBody>
              <a:bodyPr/>
              <a:lstStyle/>
              <a:p>
                <a:r>
                  <a:rPr lang="en-US">
                    <a:noFill/>
                  </a:rPr>
                  <a:t> </a:t>
                </a:r>
              </a:p>
            </p:txBody>
          </p:sp>
        </mc:Fallback>
      </mc:AlternateContent>
      <p:pic>
        <p:nvPicPr>
          <p:cNvPr id="9" name="image10.png" descr="Icon&#10;&#10;Description automatically generated">
            <a:extLst>
              <a:ext uri="{FF2B5EF4-FFF2-40B4-BE49-F238E27FC236}">
                <a16:creationId xmlns:a16="http://schemas.microsoft.com/office/drawing/2014/main" id="{0975F2E1-5437-AB48-848D-9DE5B7F5F8E0}"/>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299979" y="336422"/>
            <a:ext cx="757055" cy="757055"/>
          </a:xfrm>
          <a:prstGeom prst="rect">
            <a:avLst/>
          </a:prstGeom>
          <a:ln/>
          <a:effectLst>
            <a:outerShdw blurRad="50800" dist="38100" dir="2700000" algn="tl" rotWithShape="0">
              <a:prstClr val="black">
                <a:alpha val="40000"/>
              </a:prstClr>
            </a:outerShdw>
          </a:effectLst>
        </p:spPr>
      </p:pic>
      <p:pic>
        <p:nvPicPr>
          <p:cNvPr id="11" name="Picture 10" descr="Chart&#10;&#10;Description automatically generated">
            <a:extLst>
              <a:ext uri="{FF2B5EF4-FFF2-40B4-BE49-F238E27FC236}">
                <a16:creationId xmlns:a16="http://schemas.microsoft.com/office/drawing/2014/main" id="{24BF4A10-9687-D94F-B8DB-BDF2A0DCB50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958882" y="1377800"/>
            <a:ext cx="5669268" cy="4748680"/>
          </a:xfrm>
          <a:prstGeom prst="rect">
            <a:avLst/>
          </a:prstGeom>
        </p:spPr>
      </p:pic>
      <p:sp>
        <p:nvSpPr>
          <p:cNvPr id="12" name="Google Shape;282;g104476d1465_1_17"/>
          <p:cNvSpPr txBox="1"/>
          <p:nvPr/>
        </p:nvSpPr>
        <p:spPr>
          <a:xfrm>
            <a:off x="8897112" y="6457675"/>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316</a:t>
            </a: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352480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71E6D30B-5371-784B-834B-13A08E94FFAA}"/>
                  </a:ext>
                </a:extLst>
              </p:cNvPr>
              <p:cNvGraphicFramePr>
                <a:graphicFrameLocks noGrp="1"/>
              </p:cNvGraphicFramePr>
              <p:nvPr>
                <p:extLst>
                  <p:ext uri="{D42A27DB-BD31-4B8C-83A1-F6EECF244321}">
                    <p14:modId xmlns:p14="http://schemas.microsoft.com/office/powerpoint/2010/main" val="794577907"/>
                  </p:ext>
                </p:extLst>
              </p:nvPr>
            </p:nvGraphicFramePr>
            <p:xfrm>
              <a:off x="1963388" y="1141995"/>
              <a:ext cx="9042849" cy="3200400"/>
            </p:xfrm>
            <a:graphic>
              <a:graphicData uri="http://schemas.openxmlformats.org/drawingml/2006/table">
                <a:tbl>
                  <a:tblPr firstRow="1" firstCol="1" bandRow="1"/>
                  <a:tblGrid>
                    <a:gridCol w="3454428">
                      <a:extLst>
                        <a:ext uri="{9D8B030D-6E8A-4147-A177-3AD203B41FA5}">
                          <a16:colId xmlns:a16="http://schemas.microsoft.com/office/drawing/2014/main" val="429763188"/>
                        </a:ext>
                      </a:extLst>
                    </a:gridCol>
                    <a:gridCol w="5588421">
                      <a:extLst>
                        <a:ext uri="{9D8B030D-6E8A-4147-A177-3AD203B41FA5}">
                          <a16:colId xmlns:a16="http://schemas.microsoft.com/office/drawing/2014/main" val="3799266398"/>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Helvetica Neue" panose="02000503000000020004" pitchFamily="2" charset="0"/>
                              <a:cs typeface="Helvetica Neue" panose="02000503000000020004" pitchFamily="2" charset="0"/>
                            </a:rPr>
                            <a:t>Line Segment</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Length of Line Segment</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470307992"/>
                      </a:ext>
                    </a:extLst>
                  </a:tr>
                  <a:tr h="9144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x-none" sz="2000" i="1">
                                        <a:effectLst/>
                                        <a:latin typeface="Cambria Math" panose="02040503050406030204" pitchFamily="18" charset="0"/>
                                        <a:ea typeface="Helvetica Neue" panose="02000503000000020004" pitchFamily="2" charset="0"/>
                                        <a:cs typeface="Helvetica Neue" panose="02000503000000020004" pitchFamily="2" charset="0"/>
                                      </a:rPr>
                                    </m:ctrlPr>
                                  </m:acc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𝐶𝑀</m:t>
                                    </m:r>
                                  </m:e>
                                </m:acc>
                              </m:oMath>
                            </m:oMathPara>
                          </a14:m>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762757"/>
                      </a:ext>
                    </a:extLst>
                  </a:tr>
                  <a:tr h="9144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x-none" sz="2000" i="1">
                                        <a:effectLst/>
                                        <a:latin typeface="Cambria Math" panose="02040503050406030204" pitchFamily="18" charset="0"/>
                                        <a:ea typeface="Helvetica Neue" panose="02000503000000020004" pitchFamily="2" charset="0"/>
                                        <a:cs typeface="Helvetica Neue" panose="02000503000000020004" pitchFamily="2" charset="0"/>
                                      </a:rPr>
                                    </m:ctrlPr>
                                  </m:acc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𝑀𝐾</m:t>
                                    </m:r>
                                  </m:e>
                                </m:acc>
                              </m:oMath>
                            </m:oMathPara>
                          </a14:m>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2038873"/>
                      </a:ext>
                    </a:extLst>
                  </a:tr>
                  <a:tr h="9144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x-none" sz="2000" i="1">
                                        <a:effectLst/>
                                        <a:latin typeface="Cambria Math" panose="02040503050406030204" pitchFamily="18" charset="0"/>
                                        <a:ea typeface="Helvetica Neue" panose="02000503000000020004" pitchFamily="2" charset="0"/>
                                        <a:cs typeface="Helvetica Neue" panose="02000503000000020004" pitchFamily="2" charset="0"/>
                                      </a:rPr>
                                    </m:ctrlPr>
                                  </m:acc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𝐾𝐶</m:t>
                                    </m:r>
                                  </m:e>
                                </m:acc>
                              </m:oMath>
                            </m:oMathPara>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6311307"/>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71E6D30B-5371-784B-834B-13A08E94FFAA}"/>
                  </a:ext>
                </a:extLst>
              </p:cNvPr>
              <p:cNvGraphicFramePr>
                <a:graphicFrameLocks noGrp="1"/>
              </p:cNvGraphicFramePr>
              <p:nvPr>
                <p:extLst>
                  <p:ext uri="{D42A27DB-BD31-4B8C-83A1-F6EECF244321}">
                    <p14:modId xmlns:p14="http://schemas.microsoft.com/office/powerpoint/2010/main" val="794577907"/>
                  </p:ext>
                </p:extLst>
              </p:nvPr>
            </p:nvGraphicFramePr>
            <p:xfrm>
              <a:off x="1963388" y="1141995"/>
              <a:ext cx="9042849" cy="3200400"/>
            </p:xfrm>
            <a:graphic>
              <a:graphicData uri="http://schemas.openxmlformats.org/drawingml/2006/table">
                <a:tbl>
                  <a:tblPr firstRow="1" firstCol="1" bandRow="1"/>
                  <a:tblGrid>
                    <a:gridCol w="3454428">
                      <a:extLst>
                        <a:ext uri="{9D8B030D-6E8A-4147-A177-3AD203B41FA5}">
                          <a16:colId xmlns:a16="http://schemas.microsoft.com/office/drawing/2014/main" xmlns:a14="http://schemas.microsoft.com/office/drawing/2010/main" xmlns="" val="429763188"/>
                        </a:ext>
                      </a:extLst>
                    </a:gridCol>
                    <a:gridCol w="5588421">
                      <a:extLst>
                        <a:ext uri="{9D8B030D-6E8A-4147-A177-3AD203B41FA5}">
                          <a16:colId xmlns:a16="http://schemas.microsoft.com/office/drawing/2014/main" xmlns:a14="http://schemas.microsoft.com/office/drawing/2010/main" xmlns="" val="3799266398"/>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Helvetica Neue" panose="02000503000000020004" pitchFamily="2" charset="0"/>
                              <a:cs typeface="Helvetica Neue" panose="02000503000000020004" pitchFamily="2" charset="0"/>
                            </a:rPr>
                            <a:t>Line Segment</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Length of Line Segment</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470307992"/>
                      </a:ext>
                    </a:extLst>
                  </a:tr>
                  <a:tr h="914400">
                    <a:tc>
                      <a:txBody>
                        <a:bodyPr/>
                        <a:lstStyle/>
                        <a:p>
                          <a:endParaRPr lang="en-US"/>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50000" r="-161728" b="-200667"/>
                          </a:stretch>
                        </a:blipFill>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419762757"/>
                      </a:ext>
                    </a:extLst>
                  </a:tr>
                  <a:tr h="914400">
                    <a:tc>
                      <a:txBody>
                        <a:bodyPr/>
                        <a:lstStyle/>
                        <a:p>
                          <a:endParaRPr lang="en-US"/>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150000" r="-161728" b="-100667"/>
                          </a:stretch>
                        </a:blipFill>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952038873"/>
                      </a:ext>
                    </a:extLst>
                  </a:tr>
                  <a:tr h="914400">
                    <a:tc>
                      <a:txBody>
                        <a:bodyPr/>
                        <a:lstStyle/>
                        <a:p>
                          <a:endParaRPr lang="en-US"/>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250000" r="-161728" b="-667"/>
                          </a:stretch>
                        </a:blipFill>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336311307"/>
                      </a:ext>
                    </a:extLst>
                  </a:tr>
                </a:tbl>
              </a:graphicData>
            </a:graphic>
          </p:graphicFrame>
        </mc:Fallback>
      </mc:AlternateContent>
      <p:sp>
        <p:nvSpPr>
          <p:cNvPr id="8" name="Google Shape;282;g104476d1465_1_17"/>
          <p:cNvSpPr txBox="1"/>
          <p:nvPr/>
        </p:nvSpPr>
        <p:spPr>
          <a:xfrm>
            <a:off x="8897112" y="6457675"/>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316</a:t>
            </a: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TextBox 9">
            <a:extLst>
              <a:ext uri="{FF2B5EF4-FFF2-40B4-BE49-F238E27FC236}">
                <a16:creationId xmlns:a16="http://schemas.microsoft.com/office/drawing/2014/main" id="{2FA392D8-3ED3-7940-83A8-1451AA8A08D4}"/>
              </a:ext>
            </a:extLst>
          </p:cNvPr>
          <p:cNvSpPr txBox="1"/>
          <p:nvPr/>
        </p:nvSpPr>
        <p:spPr>
          <a:xfrm>
            <a:off x="914400" y="520394"/>
            <a:ext cx="10235682" cy="400110"/>
          </a:xfrm>
          <a:prstGeom prst="rect">
            <a:avLst/>
          </a:prstGeom>
          <a:noFill/>
        </p:spPr>
        <p:txBody>
          <a:bodyPr wrap="square" rtlCol="0">
            <a:spAutoFit/>
          </a:bodyPr>
          <a:lstStyle/>
          <a:p>
            <a:pPr marL="914400" indent="-457200">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table. If necessary, round to the nearest thousandth. </a:t>
            </a:r>
          </a:p>
        </p:txBody>
      </p:sp>
    </p:spTree>
    <p:extLst>
      <p:ext uri="{BB962C8B-B14F-4D97-AF65-F5344CB8AC3E}">
        <p14:creationId xmlns:p14="http://schemas.microsoft.com/office/powerpoint/2010/main" val="407311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FA392D8-3ED3-7940-83A8-1451AA8A08D4}"/>
                  </a:ext>
                </a:extLst>
              </p:cNvPr>
              <p:cNvSpPr txBox="1"/>
              <p:nvPr/>
            </p:nvSpPr>
            <p:spPr>
              <a:xfrm>
                <a:off x="914400" y="520394"/>
                <a:ext cx="10616712" cy="4524315"/>
              </a:xfrm>
              <a:prstGeom prst="rect">
                <a:avLst/>
              </a:prstGeom>
              <a:noFill/>
            </p:spPr>
            <p:txBody>
              <a:bodyPr wrap="square" rtlCol="0">
                <a:spAutoFit/>
              </a:bodyPr>
              <a:lstStyle/>
              <a:p>
                <a:pPr marL="914400" indent="-45720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What do you notice about the side lengths of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𝑀𝐾𝐶</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a:p>
                <a:pPr marL="914400"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statement. </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1371600" indent="-460375"/>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𝑀𝐾𝐶</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is classified as a(n)                    triangle </a:t>
                </a:r>
              </a:p>
              <a:p>
                <a:pPr marL="911225"/>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1225"/>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1225"/>
                <a:r>
                  <a:rPr lang="en-US" sz="2400" dirty="0">
                    <a:latin typeface="Verdana" panose="020B0604030504040204" pitchFamily="34" charset="0"/>
                    <a:ea typeface="Times New Roman" panose="02020603050405020304" pitchFamily="18" charset="0"/>
                    <a:cs typeface="Times New Roman" panose="02020603050405020304" pitchFamily="18" charset="0"/>
                  </a:rPr>
                  <a:t>because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𝑀𝐾𝐶</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has              equal side lengths.  </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xmlns="" xmlns:a14="http://schemas.microsoft.com/office/drawing/2010/main" id="{2FA392D8-3ED3-7940-83A8-1451AA8A08D4}"/>
                  </a:ext>
                </a:extLst>
              </p:cNvPr>
              <p:cNvSpPr txBox="1">
                <a:spLocks noRot="1" noChangeAspect="1" noMove="1" noResize="1" noEditPoints="1" noAdjustHandles="1" noChangeArrowheads="1" noChangeShapeType="1" noTextEdit="1"/>
              </p:cNvSpPr>
              <p:nvPr/>
            </p:nvSpPr>
            <p:spPr>
              <a:xfrm>
                <a:off x="914400" y="520394"/>
                <a:ext cx="10616712" cy="4524315"/>
              </a:xfrm>
              <a:prstGeom prst="rect">
                <a:avLst/>
              </a:prstGeom>
              <a:blipFill rotWithShape="1">
                <a:blip r:embed="rId3"/>
                <a:stretch>
                  <a:fillRect t="-1211"/>
                </a:stretch>
              </a:blipFill>
            </p:spPr>
            <p:txBody>
              <a:bodyPr/>
              <a:lstStyle/>
              <a:p>
                <a:r>
                  <a:rPr lang="en-US">
                    <a:noFill/>
                  </a:rPr>
                  <a:t> </a:t>
                </a:r>
              </a:p>
            </p:txBody>
          </p:sp>
        </mc:Fallback>
      </mc:AlternateContent>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5" name="Picture 4" descr="Shape&#10;&#10;Description automatically generated with medium confidence">
            <a:extLst>
              <a:ext uri="{FF2B5EF4-FFF2-40B4-BE49-F238E27FC236}">
                <a16:creationId xmlns:a16="http://schemas.microsoft.com/office/drawing/2014/main" id="{CA539313-8C38-8B4A-A29A-60797D24FE9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950025" y="3873261"/>
            <a:ext cx="1196531" cy="1121513"/>
          </a:xfrm>
          <a:prstGeom prst="rect">
            <a:avLst/>
          </a:prstGeom>
        </p:spPr>
      </p:pic>
      <p:sp>
        <p:nvSpPr>
          <p:cNvPr id="8" name="Google Shape;282;g104476d1465_1_17"/>
          <p:cNvSpPr txBox="1"/>
          <p:nvPr/>
        </p:nvSpPr>
        <p:spPr>
          <a:xfrm>
            <a:off x="8897112" y="6457675"/>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317</a:t>
            </a: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pic>
        <p:nvPicPr>
          <p:cNvPr id="3" name="Picture 2" descr="Text&#10;&#10;Description automatically generated">
            <a:extLst>
              <a:ext uri="{FF2B5EF4-FFF2-40B4-BE49-F238E27FC236}">
                <a16:creationId xmlns:a16="http://schemas.microsoft.com/office/drawing/2014/main" id="{9FAC8870-410D-DB49-9539-5DB9F706B737}"/>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023431" y="2782551"/>
            <a:ext cx="1826678" cy="1114011"/>
          </a:xfrm>
          <a:prstGeom prst="rect">
            <a:avLst/>
          </a:prstGeom>
        </p:spPr>
      </p:pic>
    </p:spTree>
    <p:extLst>
      <p:ext uri="{BB962C8B-B14F-4D97-AF65-F5344CB8AC3E}">
        <p14:creationId xmlns:p14="http://schemas.microsoft.com/office/powerpoint/2010/main" val="5275758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8" name="Picture 7" descr="Chart&#10;&#10;Description automatically generated">
            <a:extLst>
              <a:ext uri="{FF2B5EF4-FFF2-40B4-BE49-F238E27FC236}">
                <a16:creationId xmlns:a16="http://schemas.microsoft.com/office/drawing/2014/main" id="{E31C8AB4-294E-9742-A023-45ABD110084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977862" y="1747207"/>
            <a:ext cx="6449228" cy="4453393"/>
          </a:xfrm>
          <a:prstGeom prst="rect">
            <a:avLst/>
          </a:prstGeom>
        </p:spPr>
      </p:pic>
      <p:sp>
        <p:nvSpPr>
          <p:cNvPr id="7" name="Google Shape;282;g104476d1465_1_17"/>
          <p:cNvSpPr txBox="1"/>
          <p:nvPr/>
        </p:nvSpPr>
        <p:spPr>
          <a:xfrm>
            <a:off x="8897112" y="6457675"/>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317</a:t>
            </a: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FA392D8-3ED3-7940-83A8-1451AA8A08D4}"/>
                  </a:ext>
                </a:extLst>
              </p:cNvPr>
              <p:cNvSpPr txBox="1"/>
              <p:nvPr/>
            </p:nvSpPr>
            <p:spPr>
              <a:xfrm>
                <a:off x="914400" y="520394"/>
                <a:ext cx="10616712" cy="1015663"/>
              </a:xfrm>
              <a:prstGeom prst="rect">
                <a:avLst/>
              </a:prstGeom>
              <a:noFill/>
            </p:spPr>
            <p:txBody>
              <a:bodyPr wrap="square" rtlCol="0">
                <a:spAutoFit/>
              </a:bodyPr>
              <a:lstStyle/>
              <a:p>
                <a:pPr marL="346075" indent="-346075">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𝑁𝑊𝑅</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has vertices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𝑁</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(6,5)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𝑊</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(3,−1)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𝑅</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(10,−1)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t>
                </a: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04875" indent="-4445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Graph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𝑁𝑊𝑅</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on the coordinate plane. </a:t>
                </a:r>
              </a:p>
            </p:txBody>
          </p:sp>
        </mc:Choice>
        <mc:Fallback xmlns="">
          <p:sp>
            <p:nvSpPr>
              <p:cNvPr id="11" name="TextBox 10">
                <a:extLst>
                  <a:ext uri="{FF2B5EF4-FFF2-40B4-BE49-F238E27FC236}">
                    <a16:creationId xmlns:a16="http://schemas.microsoft.com/office/drawing/2014/main" xmlns="" xmlns:a14="http://schemas.microsoft.com/office/drawing/2010/main" id="{2FA392D8-3ED3-7940-83A8-1451AA8A08D4}"/>
                  </a:ext>
                </a:extLst>
              </p:cNvPr>
              <p:cNvSpPr txBox="1">
                <a:spLocks noRot="1" noChangeAspect="1" noMove="1" noResize="1" noEditPoints="1" noAdjustHandles="1" noChangeArrowheads="1" noChangeShapeType="1" noTextEdit="1"/>
              </p:cNvSpPr>
              <p:nvPr/>
            </p:nvSpPr>
            <p:spPr>
              <a:xfrm>
                <a:off x="914400" y="520394"/>
                <a:ext cx="10616712" cy="1015663"/>
              </a:xfrm>
              <a:prstGeom prst="rect">
                <a:avLst/>
              </a:prstGeom>
              <a:blipFill rotWithShape="1">
                <a:blip r:embed="rId5"/>
                <a:stretch>
                  <a:fillRect l="-574" t="-3593" b="-9581"/>
                </a:stretch>
              </a:blipFill>
            </p:spPr>
            <p:txBody>
              <a:bodyPr/>
              <a:lstStyle/>
              <a:p>
                <a:r>
                  <a:rPr lang="en-US">
                    <a:noFill/>
                  </a:rPr>
                  <a:t> </a:t>
                </a:r>
              </a:p>
            </p:txBody>
          </p:sp>
        </mc:Fallback>
      </mc:AlternateContent>
    </p:spTree>
    <p:extLst>
      <p:ext uri="{BB962C8B-B14F-4D97-AF65-F5344CB8AC3E}">
        <p14:creationId xmlns:p14="http://schemas.microsoft.com/office/powerpoint/2010/main" val="16179054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7675"/>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317</a:t>
            </a:r>
          </a:p>
        </p:txBody>
      </p:sp>
      <p:pic>
        <p:nvPicPr>
          <p:cNvPr id="10"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71E6D30B-5371-784B-834B-13A08E94FFAA}"/>
                  </a:ext>
                </a:extLst>
              </p:cNvPr>
              <p:cNvGraphicFramePr>
                <a:graphicFrameLocks noGrp="1"/>
              </p:cNvGraphicFramePr>
              <p:nvPr>
                <p:extLst>
                  <p:ext uri="{D42A27DB-BD31-4B8C-83A1-F6EECF244321}">
                    <p14:modId xmlns:p14="http://schemas.microsoft.com/office/powerpoint/2010/main" val="1999264046"/>
                  </p:ext>
                </p:extLst>
              </p:nvPr>
            </p:nvGraphicFramePr>
            <p:xfrm>
              <a:off x="1973548" y="1141995"/>
              <a:ext cx="9042849" cy="3200400"/>
            </p:xfrm>
            <a:graphic>
              <a:graphicData uri="http://schemas.openxmlformats.org/drawingml/2006/table">
                <a:tbl>
                  <a:tblPr firstRow="1" firstCol="1" bandRow="1"/>
                  <a:tblGrid>
                    <a:gridCol w="3454428">
                      <a:extLst>
                        <a:ext uri="{9D8B030D-6E8A-4147-A177-3AD203B41FA5}">
                          <a16:colId xmlns:a16="http://schemas.microsoft.com/office/drawing/2014/main" val="429763188"/>
                        </a:ext>
                      </a:extLst>
                    </a:gridCol>
                    <a:gridCol w="5588421">
                      <a:extLst>
                        <a:ext uri="{9D8B030D-6E8A-4147-A177-3AD203B41FA5}">
                          <a16:colId xmlns:a16="http://schemas.microsoft.com/office/drawing/2014/main" val="3799266398"/>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Helvetica Neue" panose="02000503000000020004" pitchFamily="2" charset="0"/>
                              <a:cs typeface="Helvetica Neue" panose="02000503000000020004" pitchFamily="2" charset="0"/>
                            </a:rPr>
                            <a:t>Line Segment</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Length of Line Segment</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470307992"/>
                      </a:ext>
                    </a:extLst>
                  </a:tr>
                  <a:tr h="9144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x-none" sz="2000" i="1" smtClean="0">
                                        <a:effectLst/>
                                        <a:latin typeface="Cambria Math" panose="02040503050406030204" pitchFamily="18" charset="0"/>
                                        <a:ea typeface="Helvetica Neue" panose="02000503000000020004" pitchFamily="2" charset="0"/>
                                        <a:cs typeface="Helvetica Neue" panose="02000503000000020004" pitchFamily="2" charset="0"/>
                                      </a:rPr>
                                    </m:ctrlPr>
                                  </m:accPr>
                                  <m:e>
                                    <m:r>
                                      <a:rPr lang="en-US" sz="2000" b="0" i="1" smtClean="0">
                                        <a:effectLst/>
                                        <a:latin typeface="Cambria Math"/>
                                        <a:ea typeface="Helvetica Neue" panose="02000503000000020004" pitchFamily="2" charset="0"/>
                                        <a:cs typeface="Helvetica Neue" panose="02000503000000020004" pitchFamily="2" charset="0"/>
                                      </a:rPr>
                                      <m:t>𝑁𝑅</m:t>
                                    </m:r>
                                  </m:e>
                                </m:acc>
                              </m:oMath>
                            </m:oMathPara>
                          </a14:m>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762757"/>
                      </a:ext>
                    </a:extLst>
                  </a:tr>
                  <a:tr h="9144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x-none" sz="2000" i="1" smtClean="0">
                                        <a:effectLst/>
                                        <a:latin typeface="Cambria Math" panose="02040503050406030204" pitchFamily="18" charset="0"/>
                                        <a:ea typeface="Helvetica Neue" panose="02000503000000020004" pitchFamily="2" charset="0"/>
                                        <a:cs typeface="Helvetica Neue" panose="02000503000000020004" pitchFamily="2" charset="0"/>
                                      </a:rPr>
                                    </m:ctrlPr>
                                  </m:accPr>
                                  <m:e>
                                    <m:r>
                                      <a:rPr lang="en-US" sz="2000" b="0" i="1" smtClean="0">
                                        <a:effectLst/>
                                        <a:latin typeface="Cambria Math"/>
                                        <a:ea typeface="Helvetica Neue" panose="02000503000000020004" pitchFamily="2" charset="0"/>
                                        <a:cs typeface="Helvetica Neue" panose="02000503000000020004" pitchFamily="2" charset="0"/>
                                      </a:rPr>
                                      <m:t>𝑅𝑊</m:t>
                                    </m:r>
                                  </m:e>
                                </m:acc>
                              </m:oMath>
                            </m:oMathPara>
                          </a14:m>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2038873"/>
                      </a:ext>
                    </a:extLst>
                  </a:tr>
                  <a:tr h="9144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x-none" sz="2000" i="1" smtClean="0">
                                        <a:effectLst/>
                                        <a:latin typeface="Cambria Math" panose="02040503050406030204" pitchFamily="18" charset="0"/>
                                        <a:ea typeface="Helvetica Neue" panose="02000503000000020004" pitchFamily="2" charset="0"/>
                                        <a:cs typeface="Helvetica Neue" panose="02000503000000020004" pitchFamily="2" charset="0"/>
                                      </a:rPr>
                                    </m:ctrlPr>
                                  </m:accPr>
                                  <m:e>
                                    <m:r>
                                      <a:rPr lang="en-US" sz="2000" b="0" i="1" smtClean="0">
                                        <a:effectLst/>
                                        <a:latin typeface="Cambria Math"/>
                                        <a:ea typeface="Helvetica Neue" panose="02000503000000020004" pitchFamily="2" charset="0"/>
                                        <a:cs typeface="Helvetica Neue" panose="02000503000000020004" pitchFamily="2" charset="0"/>
                                      </a:rPr>
                                      <m:t>𝑊𝑁</m:t>
                                    </m:r>
                                  </m:e>
                                </m:acc>
                              </m:oMath>
                            </m:oMathPara>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6311307"/>
                      </a:ext>
                    </a:extLst>
                  </a:tr>
                </a:tbl>
              </a:graphicData>
            </a:graphic>
          </p:graphicFrame>
        </mc:Choice>
        <mc:Fallback xmlns="">
          <p:graphicFrame>
            <p:nvGraphicFramePr>
              <p:cNvPr id="11" name="Table 10">
                <a:extLst>
                  <a:ext uri="{FF2B5EF4-FFF2-40B4-BE49-F238E27FC236}">
                    <a16:creationId xmlns:a16="http://schemas.microsoft.com/office/drawing/2014/main" xmlns:a14="http://schemas.microsoft.com/office/drawing/2010/main" xmlns="" id="{71E6D30B-5371-784B-834B-13A08E94FFAA}"/>
                  </a:ext>
                </a:extLst>
              </p:cNvPr>
              <p:cNvGraphicFramePr>
                <a:graphicFrameLocks noGrp="1"/>
              </p:cNvGraphicFramePr>
              <p:nvPr>
                <p:extLst>
                  <p:ext uri="{D42A27DB-BD31-4B8C-83A1-F6EECF244321}">
                    <p14:modId xmlns:p14="http://schemas.microsoft.com/office/powerpoint/2010/main" val="1999264046"/>
                  </p:ext>
                </p:extLst>
              </p:nvPr>
            </p:nvGraphicFramePr>
            <p:xfrm>
              <a:off x="1973548" y="1141995"/>
              <a:ext cx="9042849" cy="3200400"/>
            </p:xfrm>
            <a:graphic>
              <a:graphicData uri="http://schemas.openxmlformats.org/drawingml/2006/table">
                <a:tbl>
                  <a:tblPr firstRow="1" firstCol="1" bandRow="1"/>
                  <a:tblGrid>
                    <a:gridCol w="3454428">
                      <a:extLst>
                        <a:ext uri="{9D8B030D-6E8A-4147-A177-3AD203B41FA5}">
                          <a16:colId xmlns:a16="http://schemas.microsoft.com/office/drawing/2014/main" xmlns:a14="http://schemas.microsoft.com/office/drawing/2010/main" xmlns="" val="429763188"/>
                        </a:ext>
                      </a:extLst>
                    </a:gridCol>
                    <a:gridCol w="5588421">
                      <a:extLst>
                        <a:ext uri="{9D8B030D-6E8A-4147-A177-3AD203B41FA5}">
                          <a16:colId xmlns:a16="http://schemas.microsoft.com/office/drawing/2014/main" xmlns:a14="http://schemas.microsoft.com/office/drawing/2010/main" xmlns="" val="3799266398"/>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Helvetica Neue" panose="02000503000000020004" pitchFamily="2" charset="0"/>
                              <a:cs typeface="Helvetica Neue" panose="02000503000000020004" pitchFamily="2" charset="0"/>
                            </a:rPr>
                            <a:t>Line Segment</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Length of Line Segment</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470307992"/>
                      </a:ext>
                    </a:extLst>
                  </a:tr>
                  <a:tr h="914400">
                    <a:tc>
                      <a:txBody>
                        <a:bodyPr/>
                        <a:lstStyle/>
                        <a:p>
                          <a:endParaRPr lang="en-US"/>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76" t="-50000" r="-161728" b="-200667"/>
                          </a:stretch>
                        </a:blipFill>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419762757"/>
                      </a:ext>
                    </a:extLst>
                  </a:tr>
                  <a:tr h="914400">
                    <a:tc>
                      <a:txBody>
                        <a:bodyPr/>
                        <a:lstStyle/>
                        <a:p>
                          <a:endParaRPr lang="en-US"/>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76" t="-150000" r="-161728" b="-100667"/>
                          </a:stretch>
                        </a:blipFill>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952038873"/>
                      </a:ext>
                    </a:extLst>
                  </a:tr>
                  <a:tr h="914400">
                    <a:tc>
                      <a:txBody>
                        <a:bodyPr/>
                        <a:lstStyle/>
                        <a:p>
                          <a:endParaRPr lang="en-US"/>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76" t="-250000" r="-161728" b="-667"/>
                          </a:stretch>
                        </a:blipFill>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336311307"/>
                      </a:ext>
                    </a:extLst>
                  </a:tr>
                </a:tbl>
              </a:graphicData>
            </a:graphic>
          </p:graphicFrame>
        </mc:Fallback>
      </mc:AlternateContent>
      <p:sp>
        <p:nvSpPr>
          <p:cNvPr id="13" name="TextBox 12">
            <a:extLst>
              <a:ext uri="{FF2B5EF4-FFF2-40B4-BE49-F238E27FC236}">
                <a16:creationId xmlns:a16="http://schemas.microsoft.com/office/drawing/2014/main" id="{2FA392D8-3ED3-7940-83A8-1451AA8A08D4}"/>
              </a:ext>
            </a:extLst>
          </p:cNvPr>
          <p:cNvSpPr txBox="1"/>
          <p:nvPr/>
        </p:nvSpPr>
        <p:spPr>
          <a:xfrm>
            <a:off x="914400" y="520394"/>
            <a:ext cx="10616184" cy="400110"/>
          </a:xfrm>
          <a:prstGeom prst="rect">
            <a:avLst/>
          </a:prstGeom>
          <a:noFill/>
        </p:spPr>
        <p:txBody>
          <a:bodyPr wrap="square" rtlCol="0">
            <a:spAutoFit/>
          </a:bodyPr>
          <a:lstStyle/>
          <a:p>
            <a:pPr marL="914400" indent="-457200">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table. If necessary, round to the nearest thousandth. </a:t>
            </a:r>
          </a:p>
        </p:txBody>
      </p:sp>
    </p:spTree>
    <p:extLst>
      <p:ext uri="{BB962C8B-B14F-4D97-AF65-F5344CB8AC3E}">
        <p14:creationId xmlns:p14="http://schemas.microsoft.com/office/powerpoint/2010/main" val="42049192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897112" y="6457675"/>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317</a:t>
            </a:r>
          </a:p>
        </p:txBody>
      </p:sp>
      <p:pic>
        <p:nvPicPr>
          <p:cNvPr id="11"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FA392D8-3ED3-7940-83A8-1451AA8A08D4}"/>
                  </a:ext>
                </a:extLst>
              </p:cNvPr>
              <p:cNvSpPr txBox="1"/>
              <p:nvPr/>
            </p:nvSpPr>
            <p:spPr>
              <a:xfrm>
                <a:off x="914400" y="520394"/>
                <a:ext cx="10616712" cy="4524315"/>
              </a:xfrm>
              <a:prstGeom prst="rect">
                <a:avLst/>
              </a:prstGeom>
              <a:noFill/>
            </p:spPr>
            <p:txBody>
              <a:bodyPr wrap="square" rtlCol="0">
                <a:spAutoFit/>
              </a:bodyPr>
              <a:lstStyle/>
              <a:p>
                <a:pPr marL="914400" indent="-45720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What do you notice about the side lengths of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400" i="1" dirty="0" smtClean="0">
                        <a:latin typeface="Cambria Math"/>
                        <a:ea typeface="Times New Roman" panose="02020603050405020304" pitchFamily="18" charset="0"/>
                        <a:cs typeface="Times New Roman" panose="02020603050405020304" pitchFamily="18" charset="0"/>
                      </a:rPr>
                      <m:t>𝑁𝑊𝑅</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a:p>
                <a:pPr marL="914400"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statement. </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1371600" indent="-460375"/>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400" b="0" i="1" dirty="0" smtClean="0">
                        <a:latin typeface="Cambria Math"/>
                        <a:ea typeface="Times New Roman" panose="02020603050405020304" pitchFamily="18" charset="0"/>
                        <a:cs typeface="Times New Roman" panose="02020603050405020304" pitchFamily="18" charset="0"/>
                      </a:rPr>
                      <m:t>𝑁𝑊𝑅</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is classified as a(n)                    triangle </a:t>
                </a:r>
              </a:p>
              <a:p>
                <a:pPr marL="911225"/>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1225"/>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1225"/>
                <a:r>
                  <a:rPr lang="en-US" sz="2400" dirty="0">
                    <a:latin typeface="Verdana" panose="020B0604030504040204" pitchFamily="34" charset="0"/>
                    <a:ea typeface="Times New Roman" panose="02020603050405020304" pitchFamily="18" charset="0"/>
                    <a:cs typeface="Times New Roman" panose="02020603050405020304" pitchFamily="18" charset="0"/>
                  </a:rPr>
                  <a:t>because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400" b="0" i="1" dirty="0" smtClean="0">
                        <a:latin typeface="Cambria Math"/>
                        <a:ea typeface="Times New Roman" panose="02020603050405020304" pitchFamily="18" charset="0"/>
                        <a:cs typeface="Times New Roman" panose="02020603050405020304" pitchFamily="18" charset="0"/>
                      </a:rPr>
                      <m:t>𝑁𝑊𝑅</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has              equal side lengths.  </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13" name="TextBox 12">
                <a:extLst>
                  <a:ext uri="{FF2B5EF4-FFF2-40B4-BE49-F238E27FC236}">
                    <a16:creationId xmlns:a16="http://schemas.microsoft.com/office/drawing/2014/main" xmlns="" xmlns:a14="http://schemas.microsoft.com/office/drawing/2010/main" id="{2FA392D8-3ED3-7940-83A8-1451AA8A08D4}"/>
                  </a:ext>
                </a:extLst>
              </p:cNvPr>
              <p:cNvSpPr txBox="1">
                <a:spLocks noRot="1" noChangeAspect="1" noMove="1" noResize="1" noEditPoints="1" noAdjustHandles="1" noChangeArrowheads="1" noChangeShapeType="1" noTextEdit="1"/>
              </p:cNvSpPr>
              <p:nvPr/>
            </p:nvSpPr>
            <p:spPr>
              <a:xfrm>
                <a:off x="914400" y="520394"/>
                <a:ext cx="10616712" cy="4524315"/>
              </a:xfrm>
              <a:prstGeom prst="rect">
                <a:avLst/>
              </a:prstGeom>
              <a:blipFill rotWithShape="1">
                <a:blip r:embed="rId4"/>
                <a:stretch>
                  <a:fillRect t="-1211"/>
                </a:stretch>
              </a:blipFill>
            </p:spPr>
            <p:txBody>
              <a:bodyPr/>
              <a:lstStyle/>
              <a:p>
                <a:r>
                  <a:rPr lang="en-US">
                    <a:noFill/>
                  </a:rPr>
                  <a:t> </a:t>
                </a:r>
              </a:p>
            </p:txBody>
          </p:sp>
        </mc:Fallback>
      </mc:AlternateContent>
      <p:pic>
        <p:nvPicPr>
          <p:cNvPr id="15" name="Picture 14" descr="Shape&#10;&#10;Description automatically generated with medium confidence">
            <a:extLst>
              <a:ext uri="{FF2B5EF4-FFF2-40B4-BE49-F238E27FC236}">
                <a16:creationId xmlns:a16="http://schemas.microsoft.com/office/drawing/2014/main" id="{CA539313-8C38-8B4A-A29A-60797D24FE9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950025" y="3873261"/>
            <a:ext cx="1196531" cy="1121513"/>
          </a:xfrm>
          <a:prstGeom prst="rect">
            <a:avLst/>
          </a:prstGeom>
        </p:spPr>
      </p:pic>
      <p:pic>
        <p:nvPicPr>
          <p:cNvPr id="16" name="Picture 15" descr="Text&#10;&#10;Description automatically generated">
            <a:extLst>
              <a:ext uri="{FF2B5EF4-FFF2-40B4-BE49-F238E27FC236}">
                <a16:creationId xmlns:a16="http://schemas.microsoft.com/office/drawing/2014/main" id="{9FAC8870-410D-DB49-9539-5DB9F706B737}"/>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023431" y="2782551"/>
            <a:ext cx="1826678" cy="1114011"/>
          </a:xfrm>
          <a:prstGeom prst="rect">
            <a:avLst/>
          </a:prstGeom>
        </p:spPr>
      </p:pic>
    </p:spTree>
    <p:extLst>
      <p:ext uri="{BB962C8B-B14F-4D97-AF65-F5344CB8AC3E}">
        <p14:creationId xmlns:p14="http://schemas.microsoft.com/office/powerpoint/2010/main" val="42014114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7675"/>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318</a:t>
            </a: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2FA392D8-3ED3-7940-83A8-1451AA8A08D4}"/>
                  </a:ext>
                </a:extLst>
              </p:cNvPr>
              <p:cNvSpPr txBox="1"/>
              <p:nvPr/>
            </p:nvSpPr>
            <p:spPr>
              <a:xfrm>
                <a:off x="914400" y="520394"/>
                <a:ext cx="10616712" cy="1015663"/>
              </a:xfrm>
              <a:prstGeom prst="rect">
                <a:avLst/>
              </a:prstGeom>
              <a:noFill/>
            </p:spPr>
            <p:txBody>
              <a:bodyPr wrap="square" rtlCol="0">
                <a:spAutoFit/>
              </a:bodyPr>
              <a:lstStyle/>
              <a:p>
                <a:pPr marL="346075" indent="-346075">
                  <a:buFont typeface="+mj-lt"/>
                  <a:buAutoNum type="arabi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𝑀𝑆𝐺</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has vertices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𝑀</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(−3, 4)</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𝑆</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(2.2, 1)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𝐺</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(−3, −2)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t>
                </a: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889000" indent="-4445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table. If necessary, round to the nearest thousandth. </a:t>
                </a:r>
              </a:p>
            </p:txBody>
          </p:sp>
        </mc:Choice>
        <mc:Fallback>
          <p:sp>
            <p:nvSpPr>
              <p:cNvPr id="9" name="TextBox 8">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20394"/>
                <a:ext cx="10616712" cy="1015663"/>
              </a:xfrm>
              <a:prstGeom prst="rect">
                <a:avLst/>
              </a:prstGeom>
              <a:blipFill>
                <a:blip r:embed="rId4"/>
                <a:stretch>
                  <a:fillRect l="-631" t="-3593" b="-101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71E6D30B-5371-784B-834B-13A08E94FFAA}"/>
                  </a:ext>
                </a:extLst>
              </p:cNvPr>
              <p:cNvGraphicFramePr>
                <a:graphicFrameLocks noGrp="1"/>
              </p:cNvGraphicFramePr>
              <p:nvPr>
                <p:extLst>
                  <p:ext uri="{D42A27DB-BD31-4B8C-83A1-F6EECF244321}">
                    <p14:modId xmlns:p14="http://schemas.microsoft.com/office/powerpoint/2010/main" val="844776545"/>
                  </p:ext>
                </p:extLst>
              </p:nvPr>
            </p:nvGraphicFramePr>
            <p:xfrm>
              <a:off x="1973548" y="1741435"/>
              <a:ext cx="9042849" cy="3200400"/>
            </p:xfrm>
            <a:graphic>
              <a:graphicData uri="http://schemas.openxmlformats.org/drawingml/2006/table">
                <a:tbl>
                  <a:tblPr firstRow="1" firstCol="1" bandRow="1"/>
                  <a:tblGrid>
                    <a:gridCol w="3454428">
                      <a:extLst>
                        <a:ext uri="{9D8B030D-6E8A-4147-A177-3AD203B41FA5}">
                          <a16:colId xmlns:a16="http://schemas.microsoft.com/office/drawing/2014/main" val="429763188"/>
                        </a:ext>
                      </a:extLst>
                    </a:gridCol>
                    <a:gridCol w="5588421">
                      <a:extLst>
                        <a:ext uri="{9D8B030D-6E8A-4147-A177-3AD203B41FA5}">
                          <a16:colId xmlns:a16="http://schemas.microsoft.com/office/drawing/2014/main" val="3799266398"/>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Helvetica Neue" panose="02000503000000020004" pitchFamily="2" charset="0"/>
                              <a:cs typeface="Helvetica Neue" panose="02000503000000020004" pitchFamily="2" charset="0"/>
                            </a:rPr>
                            <a:t>Line Segment</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Length of Line Segment</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470307992"/>
                      </a:ext>
                    </a:extLst>
                  </a:tr>
                  <a:tr h="9144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x-none" sz="2000" i="1" smtClean="0">
                                        <a:effectLst/>
                                        <a:latin typeface="Cambria Math" panose="02040503050406030204" pitchFamily="18" charset="0"/>
                                        <a:ea typeface="Helvetica Neue" panose="02000503000000020004" pitchFamily="2" charset="0"/>
                                        <a:cs typeface="Helvetica Neue" panose="02000503000000020004" pitchFamily="2" charset="0"/>
                                      </a:rPr>
                                    </m:ctrlPr>
                                  </m:accPr>
                                  <m:e>
                                    <m:r>
                                      <a:rPr lang="en-US" sz="2000" b="0" i="1" smtClean="0">
                                        <a:effectLst/>
                                        <a:latin typeface="Cambria Math"/>
                                        <a:ea typeface="Helvetica Neue" panose="02000503000000020004" pitchFamily="2" charset="0"/>
                                        <a:cs typeface="Helvetica Neue" panose="02000503000000020004" pitchFamily="2" charset="0"/>
                                      </a:rPr>
                                      <m:t>𝑀𝑆</m:t>
                                    </m:r>
                                  </m:e>
                                </m:acc>
                              </m:oMath>
                            </m:oMathPara>
                          </a14:m>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762757"/>
                      </a:ext>
                    </a:extLst>
                  </a:tr>
                  <a:tr h="9144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x-none" sz="2000" i="1" smtClean="0">
                                        <a:effectLst/>
                                        <a:latin typeface="Cambria Math" panose="02040503050406030204" pitchFamily="18" charset="0"/>
                                        <a:ea typeface="Helvetica Neue" panose="02000503000000020004" pitchFamily="2" charset="0"/>
                                        <a:cs typeface="Helvetica Neue" panose="02000503000000020004" pitchFamily="2" charset="0"/>
                                      </a:rPr>
                                    </m:ctrlPr>
                                  </m:accPr>
                                  <m:e>
                                    <m:r>
                                      <a:rPr lang="en-US" sz="2000" b="0" i="1" smtClean="0">
                                        <a:effectLst/>
                                        <a:latin typeface="Cambria Math"/>
                                        <a:ea typeface="Helvetica Neue" panose="02000503000000020004" pitchFamily="2" charset="0"/>
                                        <a:cs typeface="Helvetica Neue" panose="02000503000000020004" pitchFamily="2" charset="0"/>
                                      </a:rPr>
                                      <m:t>𝑆𝐺</m:t>
                                    </m:r>
                                  </m:e>
                                </m:acc>
                              </m:oMath>
                            </m:oMathPara>
                          </a14:m>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2038873"/>
                      </a:ext>
                    </a:extLst>
                  </a:tr>
                  <a:tr h="9144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x-none" sz="2000" i="1" smtClean="0">
                                        <a:effectLst/>
                                        <a:latin typeface="Cambria Math" panose="02040503050406030204" pitchFamily="18" charset="0"/>
                                        <a:ea typeface="Helvetica Neue" panose="02000503000000020004" pitchFamily="2" charset="0"/>
                                        <a:cs typeface="Helvetica Neue" panose="02000503000000020004" pitchFamily="2" charset="0"/>
                                      </a:rPr>
                                    </m:ctrlPr>
                                  </m:accPr>
                                  <m:e>
                                    <m:r>
                                      <a:rPr lang="en-US" sz="2000" b="0" i="1" smtClean="0">
                                        <a:effectLst/>
                                        <a:latin typeface="Cambria Math"/>
                                        <a:ea typeface="Helvetica Neue" panose="02000503000000020004" pitchFamily="2" charset="0"/>
                                        <a:cs typeface="Helvetica Neue" panose="02000503000000020004" pitchFamily="2" charset="0"/>
                                      </a:rPr>
                                      <m:t>𝐺𝑀</m:t>
                                    </m:r>
                                  </m:e>
                                </m:acc>
                              </m:oMath>
                            </m:oMathPara>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6311307"/>
                      </a:ext>
                    </a:extLst>
                  </a:tr>
                </a:tbl>
              </a:graphicData>
            </a:graphic>
          </p:graphicFrame>
        </mc:Choice>
        <mc:Fallback xmlns="">
          <p:graphicFrame>
            <p:nvGraphicFramePr>
              <p:cNvPr id="10" name="Table 9">
                <a:extLst>
                  <a:ext uri="{FF2B5EF4-FFF2-40B4-BE49-F238E27FC236}">
                    <a16:creationId xmlns:a16="http://schemas.microsoft.com/office/drawing/2014/main" xmlns:a14="http://schemas.microsoft.com/office/drawing/2010/main" xmlns="" id="{71E6D30B-5371-784B-834B-13A08E94FFAA}"/>
                  </a:ext>
                </a:extLst>
              </p:cNvPr>
              <p:cNvGraphicFramePr>
                <a:graphicFrameLocks noGrp="1"/>
              </p:cNvGraphicFramePr>
              <p:nvPr>
                <p:extLst>
                  <p:ext uri="{D42A27DB-BD31-4B8C-83A1-F6EECF244321}">
                    <p14:modId xmlns:p14="http://schemas.microsoft.com/office/powerpoint/2010/main" val="844776545"/>
                  </p:ext>
                </p:extLst>
              </p:nvPr>
            </p:nvGraphicFramePr>
            <p:xfrm>
              <a:off x="1973548" y="1741435"/>
              <a:ext cx="9042849" cy="3200400"/>
            </p:xfrm>
            <a:graphic>
              <a:graphicData uri="http://schemas.openxmlformats.org/drawingml/2006/table">
                <a:tbl>
                  <a:tblPr firstRow="1" firstCol="1" bandRow="1"/>
                  <a:tblGrid>
                    <a:gridCol w="3454428">
                      <a:extLst>
                        <a:ext uri="{9D8B030D-6E8A-4147-A177-3AD203B41FA5}">
                          <a16:colId xmlns:a16="http://schemas.microsoft.com/office/drawing/2014/main" xmlns:a14="http://schemas.microsoft.com/office/drawing/2010/main" xmlns="" val="429763188"/>
                        </a:ext>
                      </a:extLst>
                    </a:gridCol>
                    <a:gridCol w="5588421">
                      <a:extLst>
                        <a:ext uri="{9D8B030D-6E8A-4147-A177-3AD203B41FA5}">
                          <a16:colId xmlns:a16="http://schemas.microsoft.com/office/drawing/2014/main" xmlns:a14="http://schemas.microsoft.com/office/drawing/2010/main" xmlns="" val="3799266398"/>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Helvetica Neue" panose="02000503000000020004" pitchFamily="2" charset="0"/>
                              <a:cs typeface="Helvetica Neue" panose="02000503000000020004" pitchFamily="2" charset="0"/>
                            </a:rPr>
                            <a:t>Line Segment</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Length of Line Segment</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470307992"/>
                      </a:ext>
                    </a:extLst>
                  </a:tr>
                  <a:tr h="914400">
                    <a:tc>
                      <a:txBody>
                        <a:bodyPr/>
                        <a:lstStyle/>
                        <a:p>
                          <a:endParaRPr lang="en-US"/>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76" t="-50667" r="-161728" b="-200000"/>
                          </a:stretch>
                        </a:blipFill>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419762757"/>
                      </a:ext>
                    </a:extLst>
                  </a:tr>
                  <a:tr h="914400">
                    <a:tc>
                      <a:txBody>
                        <a:bodyPr/>
                        <a:lstStyle/>
                        <a:p>
                          <a:endParaRPr lang="en-US"/>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76" t="-150667" r="-161728" b="-100000"/>
                          </a:stretch>
                        </a:blipFill>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952038873"/>
                      </a:ext>
                    </a:extLst>
                  </a:tr>
                  <a:tr h="914400">
                    <a:tc>
                      <a:txBody>
                        <a:bodyPr/>
                        <a:lstStyle/>
                        <a:p>
                          <a:endParaRPr lang="en-US"/>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76" t="-250667" r="-161728"/>
                          </a:stretch>
                        </a:blipFill>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336311307"/>
                      </a:ext>
                    </a:extLst>
                  </a:tr>
                </a:tbl>
              </a:graphicData>
            </a:graphic>
          </p:graphicFrame>
        </mc:Fallback>
      </mc:AlternateContent>
    </p:spTree>
    <p:extLst>
      <p:ext uri="{BB962C8B-B14F-4D97-AF65-F5344CB8AC3E}">
        <p14:creationId xmlns:p14="http://schemas.microsoft.com/office/powerpoint/2010/main" val="3040718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FA392D8-3ED3-7940-83A8-1451AA8A08D4}"/>
                  </a:ext>
                </a:extLst>
              </p:cNvPr>
              <p:cNvSpPr txBox="1"/>
              <p:nvPr/>
            </p:nvSpPr>
            <p:spPr>
              <a:xfrm>
                <a:off x="914400" y="520394"/>
                <a:ext cx="10616712" cy="2677656"/>
              </a:xfrm>
              <a:prstGeom prst="rect">
                <a:avLst/>
              </a:prstGeom>
              <a:noFill/>
            </p:spPr>
            <p:txBody>
              <a:bodyPr wrap="square" rtlCol="0">
                <a:spAutoFit/>
              </a:bodyPr>
              <a:lstStyle/>
              <a:p>
                <a:pPr marL="9144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statement.</a:t>
                </a: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1371600" indent="-457200"/>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𝑀𝑆𝐺</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is classified as a(n)                   triangle </a:t>
                </a:r>
              </a:p>
              <a:p>
                <a:pPr marL="1371600" indent="-45720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1371600" indent="-45720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1371600" indent="-457200"/>
                <a:r>
                  <a:rPr lang="en-US" sz="2400" dirty="0">
                    <a:latin typeface="Verdana" panose="020B0604030504040204" pitchFamily="34" charset="0"/>
                    <a:ea typeface="Times New Roman" panose="02020603050405020304" pitchFamily="18" charset="0"/>
                    <a:cs typeface="Times New Roman" panose="02020603050405020304" pitchFamily="18" charset="0"/>
                  </a:rPr>
                  <a:t>because ∆𝑀𝑆𝐺 has              equal side lengths.</a:t>
                </a:r>
              </a:p>
            </p:txBody>
          </p:sp>
        </mc:Choice>
        <mc:Fallback xmlns="">
          <p:sp>
            <p:nvSpPr>
              <p:cNvPr id="11" name="TextBox 10">
                <a:extLst>
                  <a:ext uri="{FF2B5EF4-FFF2-40B4-BE49-F238E27FC236}">
                    <a16:creationId xmlns:a16="http://schemas.microsoft.com/office/drawing/2014/main" xmlns="" xmlns:a14="http://schemas.microsoft.com/office/drawing/2010/main" id="{2FA392D8-3ED3-7940-83A8-1451AA8A08D4}"/>
                  </a:ext>
                </a:extLst>
              </p:cNvPr>
              <p:cNvSpPr txBox="1">
                <a:spLocks noRot="1" noChangeAspect="1" noMove="1" noResize="1" noEditPoints="1" noAdjustHandles="1" noChangeArrowheads="1" noChangeShapeType="1" noTextEdit="1"/>
              </p:cNvSpPr>
              <p:nvPr/>
            </p:nvSpPr>
            <p:spPr>
              <a:xfrm>
                <a:off x="914400" y="520394"/>
                <a:ext cx="10616712" cy="2677656"/>
              </a:xfrm>
              <a:prstGeom prst="rect">
                <a:avLst/>
              </a:prstGeom>
              <a:blipFill rotWithShape="1">
                <a:blip r:embed="rId3"/>
                <a:stretch>
                  <a:fillRect t="-1818" b="-4091"/>
                </a:stretch>
              </a:blipFill>
            </p:spPr>
            <p:txBody>
              <a:bodyPr/>
              <a:lstStyle/>
              <a:p>
                <a:r>
                  <a:rPr lang="en-US">
                    <a:noFill/>
                  </a:rPr>
                  <a:t> </a:t>
                </a:r>
              </a:p>
            </p:txBody>
          </p:sp>
        </mc:Fallback>
      </mc:AlternateContent>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0" name="Picture 9" descr="Text&#10;&#10;Description automatically generated">
            <a:extLst>
              <a:ext uri="{FF2B5EF4-FFF2-40B4-BE49-F238E27FC236}">
                <a16:creationId xmlns:a16="http://schemas.microsoft.com/office/drawing/2014/main" id="{1DBE8FF6-FC37-4F49-8214-20943F93C50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837566" y="1281437"/>
            <a:ext cx="1826678" cy="1114011"/>
          </a:xfrm>
          <a:prstGeom prst="rect">
            <a:avLst/>
          </a:prstGeom>
        </p:spPr>
      </p:pic>
      <p:pic>
        <p:nvPicPr>
          <p:cNvPr id="15" name="Picture 14" descr="Shape&#10;&#10;Description automatically generated with medium confidence">
            <a:extLst>
              <a:ext uri="{FF2B5EF4-FFF2-40B4-BE49-F238E27FC236}">
                <a16:creationId xmlns:a16="http://schemas.microsoft.com/office/drawing/2014/main" id="{54B4300C-CC90-324F-8287-43CF8B2B96E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910305" y="2403613"/>
            <a:ext cx="1196531" cy="1121513"/>
          </a:xfrm>
          <a:prstGeom prst="rect">
            <a:avLst/>
          </a:prstGeom>
        </p:spPr>
      </p:pic>
      <p:sp>
        <p:nvSpPr>
          <p:cNvPr id="8" name="Google Shape;282;g104476d1465_1_17"/>
          <p:cNvSpPr txBox="1"/>
          <p:nvPr/>
        </p:nvSpPr>
        <p:spPr>
          <a:xfrm>
            <a:off x="8897112" y="6457675"/>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318</a:t>
            </a:r>
          </a:p>
        </p:txBody>
      </p:sp>
      <p:pic>
        <p:nvPicPr>
          <p:cNvPr id="9"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353876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8" name="Picture 7" descr="Chart, line chart&#10;&#10;Description automatically generated">
            <a:extLst>
              <a:ext uri="{FF2B5EF4-FFF2-40B4-BE49-F238E27FC236}">
                <a16:creationId xmlns:a16="http://schemas.microsoft.com/office/drawing/2014/main" id="{57277C08-1B2E-5B43-A198-ECA5FB237B1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590698" y="1498317"/>
            <a:ext cx="7264115" cy="4742923"/>
          </a:xfrm>
          <a:prstGeom prst="rect">
            <a:avLst/>
          </a:prstGeom>
        </p:spPr>
      </p:pic>
      <p:sp>
        <p:nvSpPr>
          <p:cNvPr id="7" name="Google Shape;282;g104476d1465_1_17"/>
          <p:cNvSpPr txBox="1"/>
          <p:nvPr/>
        </p:nvSpPr>
        <p:spPr>
          <a:xfrm>
            <a:off x="8897112" y="6457675"/>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318</a:t>
            </a: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FA392D8-3ED3-7940-83A8-1451AA8A08D4}"/>
                  </a:ext>
                </a:extLst>
              </p:cNvPr>
              <p:cNvSpPr txBox="1"/>
              <p:nvPr/>
            </p:nvSpPr>
            <p:spPr>
              <a:xfrm>
                <a:off x="914400" y="520394"/>
                <a:ext cx="10616712" cy="707886"/>
              </a:xfrm>
              <a:prstGeom prst="rect">
                <a:avLst/>
              </a:prstGeom>
              <a:noFill/>
            </p:spPr>
            <p:txBody>
              <a:bodyPr wrap="square" rtlCol="0">
                <a:spAutoFit/>
              </a:bodyPr>
              <a:lstStyle/>
              <a:p>
                <a:pPr marL="457200" indent="-457200">
                  <a:buFont typeface="+mj-lt"/>
                  <a:buAutoNum type="arabicPeriod" startAt="4"/>
                </a:pPr>
                <a:r>
                  <a:rPr lang="en-US" sz="2000" dirty="0">
                    <a:latin typeface="Verdana" panose="020B0604030504040204" pitchFamily="34" charset="0"/>
                    <a:ea typeface="Times New Roman" panose="02020603050405020304" pitchFamily="18" charset="0"/>
                    <a:cs typeface="Times New Roman" panose="02020603050405020304" pitchFamily="18" charset="0"/>
                  </a:rPr>
                  <a:t>Draw a scalene triangle with one vertex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(−3,6)</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with a base that is twice the length of its height. </a:t>
                </a:r>
              </a:p>
            </p:txBody>
          </p:sp>
        </mc:Choice>
        <mc:Fallback xmlns="">
          <p:sp>
            <p:nvSpPr>
              <p:cNvPr id="10" name="TextBox 9">
                <a:extLst>
                  <a:ext uri="{FF2B5EF4-FFF2-40B4-BE49-F238E27FC236}">
                    <a16:creationId xmlns:a16="http://schemas.microsoft.com/office/drawing/2014/main" xmlns="" xmlns:a14="http://schemas.microsoft.com/office/drawing/2010/main" id="{2FA392D8-3ED3-7940-83A8-1451AA8A08D4}"/>
                  </a:ext>
                </a:extLst>
              </p:cNvPr>
              <p:cNvSpPr txBox="1">
                <a:spLocks noRot="1" noChangeAspect="1" noMove="1" noResize="1" noEditPoints="1" noAdjustHandles="1" noChangeArrowheads="1" noChangeShapeType="1" noTextEdit="1"/>
              </p:cNvSpPr>
              <p:nvPr/>
            </p:nvSpPr>
            <p:spPr>
              <a:xfrm>
                <a:off x="914400" y="520394"/>
                <a:ext cx="10616712" cy="707886"/>
              </a:xfrm>
              <a:prstGeom prst="rect">
                <a:avLst/>
              </a:prstGeom>
              <a:blipFill rotWithShape="1">
                <a:blip r:embed="rId5"/>
                <a:stretch>
                  <a:fillRect l="-574" t="-5172" b="-14655"/>
                </a:stretch>
              </a:blipFill>
            </p:spPr>
            <p:txBody>
              <a:bodyPr/>
              <a:lstStyle/>
              <a:p>
                <a:r>
                  <a:rPr lang="en-US">
                    <a:noFill/>
                  </a:rPr>
                  <a:t> </a:t>
                </a:r>
              </a:p>
            </p:txBody>
          </p:sp>
        </mc:Fallback>
      </mc:AlternateContent>
    </p:spTree>
    <p:extLst>
      <p:ext uri="{BB962C8B-B14F-4D97-AF65-F5344CB8AC3E}">
        <p14:creationId xmlns:p14="http://schemas.microsoft.com/office/powerpoint/2010/main" val="12183416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705571"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7" name="image16.png" descr="Icon&#10;&#10;Description automatically generated">
            <a:extLst>
              <a:ext uri="{FF2B5EF4-FFF2-40B4-BE49-F238E27FC236}">
                <a16:creationId xmlns:a16="http://schemas.microsoft.com/office/drawing/2014/main" id="{8F1718F7-9C84-6547-B894-FB8F1ACB9308}"/>
              </a:ext>
            </a:extLst>
          </p:cNvPr>
          <p:cNvPicPr/>
          <p:nvPr/>
        </p:nvPicPr>
        <p:blipFill>
          <a:blip r:embed="rId3"/>
          <a:srcRect/>
          <a:stretch>
            <a:fillRect/>
          </a:stretch>
        </p:blipFill>
        <p:spPr>
          <a:xfrm>
            <a:off x="4553427" y="2852923"/>
            <a:ext cx="1152144" cy="1152144"/>
          </a:xfrm>
          <a:prstGeom prst="rect">
            <a:avLst/>
          </a:prstGeom>
          <a:ln/>
          <a:effectLst>
            <a:outerShdw blurRad="50800" dist="38100" dir="2700000" algn="tl" rotWithShape="0">
              <a:prstClr val="black">
                <a:alpha val="40000"/>
              </a:prstClr>
            </a:outerShdw>
          </a:effectLst>
        </p:spPr>
      </p:pic>
      <p:sp>
        <p:nvSpPr>
          <p:cNvPr id="9" name="Google Shape;282;g104476d1465_1_17"/>
          <p:cNvSpPr txBox="1"/>
          <p:nvPr/>
        </p:nvSpPr>
        <p:spPr>
          <a:xfrm>
            <a:off x="8897112" y="6457675"/>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319</a:t>
            </a: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0857035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61208" y="-13627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4000" b="1" dirty="0">
                <a:solidFill>
                  <a:srgbClr val="E24E5F"/>
                </a:solidFill>
                <a:latin typeface="Verdana"/>
                <a:ea typeface="Verdana"/>
                <a:cs typeface="Verdana"/>
                <a:sym typeface="Verdana"/>
              </a:rPr>
              <a:t>13.6.4 Your Turn!</a:t>
            </a:r>
            <a:endParaRPr lang="en-US" sz="4000" b="1" dirty="0">
              <a:solidFill>
                <a:srgbClr val="E24E5F"/>
              </a:solidFill>
              <a:latin typeface="Verdana" panose="020B0604030504040204" pitchFamily="34" charset="0"/>
              <a:ea typeface="Verdana" panose="020B0604030504040204" pitchFamily="34" charset="0"/>
              <a:cs typeface="Verdana" panose="020B0604030504040204" pitchFamily="34" charset="0"/>
              <a:sym typeface="Verdana"/>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69E00F9-F39F-5043-888E-B0A2D8C9AE0F}"/>
                  </a:ext>
                </a:extLst>
              </p:cNvPr>
              <p:cNvSpPr txBox="1"/>
              <p:nvPr/>
            </p:nvSpPr>
            <p:spPr>
              <a:xfrm>
                <a:off x="566550" y="1101388"/>
                <a:ext cx="10957374" cy="707886"/>
              </a:xfrm>
              <a:prstGeom prst="rect">
                <a:avLst/>
              </a:prstGeom>
              <a:noFill/>
            </p:spPr>
            <p:txBody>
              <a:bodyPr wrap="square" rtlCol="0">
                <a:spAutoFit/>
              </a:bodyPr>
              <a:lstStyle/>
              <a:p>
                <a:pPr marL="346075" indent="-346075">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𝑃𝑇𝐻</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has vertices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𝑃</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(−2,3)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𝑇</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(3,1)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𝐻</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(0,−2)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Determine if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𝑃𝑇𝐻</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is an </a:t>
                </a:r>
                <a:br>
                  <a:rPr lang="en-US" sz="2000" dirty="0">
                    <a:latin typeface="Verdana" panose="020B0604030504040204" pitchFamily="34" charset="0"/>
                    <a:ea typeface="Times New Roman" panose="02020603050405020304" pitchFamily="18" charset="0"/>
                    <a:cs typeface="Times New Roman" panose="02020603050405020304" pitchFamily="18" charset="0"/>
                  </a:rPr>
                </a:br>
                <a:r>
                  <a:rPr lang="en-US" sz="2000" dirty="0">
                    <a:latin typeface="Verdana" panose="020B0604030504040204" pitchFamily="34" charset="0"/>
                    <a:ea typeface="Times New Roman" panose="02020603050405020304" pitchFamily="18" charset="0"/>
                    <a:cs typeface="Times New Roman" panose="02020603050405020304" pitchFamily="18" charset="0"/>
                  </a:rPr>
                  <a:t> equilateral, isosceles, or scalene triangle. Justify your answer with math. </a:t>
                </a:r>
              </a:p>
            </p:txBody>
          </p:sp>
        </mc:Choice>
        <mc:Fallback xmlns="">
          <p:sp>
            <p:nvSpPr>
              <p:cNvPr id="8" name="TextBox 7">
                <a:extLst>
                  <a:ext uri="{FF2B5EF4-FFF2-40B4-BE49-F238E27FC236}">
                    <a16:creationId xmlns:a16="http://schemas.microsoft.com/office/drawing/2014/main" xmlns:a14="http://schemas.microsoft.com/office/drawing/2010/main" xmlns="" id="{669E00F9-F39F-5043-888E-B0A2D8C9AE0F}"/>
                  </a:ext>
                </a:extLst>
              </p:cNvPr>
              <p:cNvSpPr txBox="1">
                <a:spLocks noRot="1" noChangeAspect="1" noMove="1" noResize="1" noEditPoints="1" noAdjustHandles="1" noChangeArrowheads="1" noChangeShapeType="1" noTextEdit="1"/>
              </p:cNvSpPr>
              <p:nvPr/>
            </p:nvSpPr>
            <p:spPr>
              <a:xfrm>
                <a:off x="566550" y="1101388"/>
                <a:ext cx="10957374" cy="707886"/>
              </a:xfrm>
              <a:prstGeom prst="rect">
                <a:avLst/>
              </a:prstGeom>
              <a:blipFill rotWithShape="1">
                <a:blip r:embed="rId3"/>
                <a:stretch>
                  <a:fillRect l="-612" t="-5172" b="-14655"/>
                </a:stretch>
              </a:blipFill>
            </p:spPr>
            <p:txBody>
              <a:bodyPr/>
              <a:lstStyle/>
              <a:p>
                <a:r>
                  <a:rPr lang="en-US">
                    <a:noFill/>
                  </a:rPr>
                  <a:t> </a:t>
                </a:r>
              </a:p>
            </p:txBody>
          </p:sp>
        </mc:Fallback>
      </mc:AlternateContent>
      <p:pic>
        <p:nvPicPr>
          <p:cNvPr id="10" name="image16.png" descr="Icon&#10;&#10;Description automatically generated">
            <a:extLst>
              <a:ext uri="{FF2B5EF4-FFF2-40B4-BE49-F238E27FC236}">
                <a16:creationId xmlns:a16="http://schemas.microsoft.com/office/drawing/2014/main" id="{B1C51A16-0BBD-D04A-A603-DFE38D90DC0A}"/>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09123" y="151675"/>
            <a:ext cx="749810" cy="749810"/>
          </a:xfrm>
          <a:prstGeom prst="rect">
            <a:avLst/>
          </a:prstGeom>
          <a:ln/>
          <a:effectLst>
            <a:outerShdw blurRad="50800" dist="38100" dir="2700000" algn="tl" rotWithShape="0">
              <a:prstClr val="black">
                <a:alpha val="40000"/>
              </a:prstClr>
            </a:outerShdw>
          </a:effectLst>
        </p:spPr>
      </p:pic>
      <p:pic>
        <p:nvPicPr>
          <p:cNvPr id="11" name="Picture 10" descr="Chart, line chart&#10;&#10;Description automatically generated">
            <a:extLst>
              <a:ext uri="{FF2B5EF4-FFF2-40B4-BE49-F238E27FC236}">
                <a16:creationId xmlns:a16="http://schemas.microsoft.com/office/drawing/2014/main" id="{5FE36BC1-A782-234B-A771-E20E07D41AB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349012" y="2183248"/>
            <a:ext cx="5392450" cy="4114824"/>
          </a:xfrm>
          <a:prstGeom prst="rect">
            <a:avLst/>
          </a:prstGeom>
        </p:spPr>
      </p:pic>
      <p:sp>
        <p:nvSpPr>
          <p:cNvPr id="9" name="Google Shape;282;g104476d1465_1_17"/>
          <p:cNvSpPr txBox="1"/>
          <p:nvPr/>
        </p:nvSpPr>
        <p:spPr>
          <a:xfrm>
            <a:off x="8897112" y="6457675"/>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319</a:t>
            </a: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011464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7" name="Picture 6" descr="Chart, line chart&#10;&#10;Description automatically generated">
            <a:extLst>
              <a:ext uri="{FF2B5EF4-FFF2-40B4-BE49-F238E27FC236}">
                <a16:creationId xmlns:a16="http://schemas.microsoft.com/office/drawing/2014/main" id="{9EF8DD63-69B9-4245-A205-34089CC33EE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422327" y="520394"/>
            <a:ext cx="5108257" cy="3898137"/>
          </a:xfrm>
          <a:prstGeom prst="rect">
            <a:avLst/>
          </a:prstGeom>
        </p:spPr>
      </p:pic>
      <p:sp>
        <p:nvSpPr>
          <p:cNvPr id="10" name="Google Shape;282;g104476d1465_1_17"/>
          <p:cNvSpPr txBox="1"/>
          <p:nvPr/>
        </p:nvSpPr>
        <p:spPr>
          <a:xfrm>
            <a:off x="8897112" y="6457675"/>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319</a:t>
            </a: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FA392D8-3ED3-7940-83A8-1451AA8A08D4}"/>
                  </a:ext>
                </a:extLst>
              </p:cNvPr>
              <p:cNvSpPr txBox="1"/>
              <p:nvPr/>
            </p:nvSpPr>
            <p:spPr>
              <a:xfrm>
                <a:off x="914400" y="520394"/>
                <a:ext cx="5080000" cy="3785652"/>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Given: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𝑆𝐶𝑊</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with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𝑊</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(1,6)</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𝑆</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(7,6)</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𝐶</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(4,0)</m:t>
                    </m:r>
                  </m:oMath>
                </a14:m>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1225" indent="-454025">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Show: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𝑆𝐶𝑊</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is </a:t>
                </a:r>
                <a:r>
                  <a:rPr lang="en-US" sz="2000" b="1" dirty="0">
                    <a:latin typeface="Verdana" panose="020B0604030504040204" pitchFamily="34" charset="0"/>
                    <a:ea typeface="Times New Roman" panose="02020603050405020304" pitchFamily="18" charset="0"/>
                    <a:cs typeface="Times New Roman" panose="02020603050405020304" pitchFamily="18" charset="0"/>
                  </a:rPr>
                  <a:t>NOT</a:t>
                </a:r>
                <a:r>
                  <a:rPr lang="en-US" sz="2000" dirty="0">
                    <a:latin typeface="Verdana" panose="020B0604030504040204" pitchFamily="34" charset="0"/>
                    <a:ea typeface="Times New Roman" panose="02020603050405020304" pitchFamily="18" charset="0"/>
                    <a:cs typeface="Times New Roman" panose="02020603050405020304" pitchFamily="18" charset="0"/>
                  </a:rPr>
                  <a:t> an equilateral triangle</a:t>
                </a:r>
              </a:p>
              <a:p>
                <a:pPr marL="941388" indent="-404813">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41388" indent="-404813">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41388" indent="-404813">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41388" indent="-404813">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41388" indent="-404813">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41388" indent="-404813">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850900" indent="-404813">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What type of triangle is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𝑆𝐶𝑊</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t>
                </a:r>
              </a:p>
            </p:txBody>
          </p:sp>
        </mc:Choice>
        <mc:Fallback xmlns="">
          <p:sp>
            <p:nvSpPr>
              <p:cNvPr id="13" name="TextBox 12">
                <a:extLst>
                  <a:ext uri="{FF2B5EF4-FFF2-40B4-BE49-F238E27FC236}">
                    <a16:creationId xmlns:a16="http://schemas.microsoft.com/office/drawing/2014/main" xmlns="" xmlns:a14="http://schemas.microsoft.com/office/drawing/2010/main" id="{2FA392D8-3ED3-7940-83A8-1451AA8A08D4}"/>
                  </a:ext>
                </a:extLst>
              </p:cNvPr>
              <p:cNvSpPr txBox="1">
                <a:spLocks noRot="1" noChangeAspect="1" noMove="1" noResize="1" noEditPoints="1" noAdjustHandles="1" noChangeArrowheads="1" noChangeShapeType="1" noTextEdit="1"/>
              </p:cNvSpPr>
              <p:nvPr/>
            </p:nvSpPr>
            <p:spPr>
              <a:xfrm>
                <a:off x="914400" y="520394"/>
                <a:ext cx="5080000" cy="3785652"/>
              </a:xfrm>
              <a:prstGeom prst="rect">
                <a:avLst/>
              </a:prstGeom>
              <a:blipFill rotWithShape="1">
                <a:blip r:embed="rId5"/>
                <a:stretch>
                  <a:fillRect l="-1200" t="-966" b="-1932"/>
                </a:stretch>
              </a:blipFill>
            </p:spPr>
            <p:txBody>
              <a:bodyPr/>
              <a:lstStyle/>
              <a:p>
                <a:r>
                  <a:rPr lang="en-US">
                    <a:noFill/>
                  </a:rPr>
                  <a:t> </a:t>
                </a:r>
              </a:p>
            </p:txBody>
          </p:sp>
        </mc:Fallback>
      </mc:AlternateContent>
    </p:spTree>
    <p:extLst>
      <p:ext uri="{BB962C8B-B14F-4D97-AF65-F5344CB8AC3E}">
        <p14:creationId xmlns:p14="http://schemas.microsoft.com/office/powerpoint/2010/main" val="24387769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4051"/>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6" name="Picture 5" descr="Chart, line chart&#10;&#10;Description automatically generated">
            <a:extLst>
              <a:ext uri="{FF2B5EF4-FFF2-40B4-BE49-F238E27FC236}">
                <a16:creationId xmlns:a16="http://schemas.microsoft.com/office/drawing/2014/main" id="{7058EB87-5CB2-E047-8B8F-C42712D1292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494868" y="2042908"/>
            <a:ext cx="5455248" cy="4157692"/>
          </a:xfrm>
          <a:prstGeom prst="rect">
            <a:avLst/>
          </a:prstGeom>
        </p:spPr>
      </p:pic>
      <p:sp>
        <p:nvSpPr>
          <p:cNvPr id="8" name="Google Shape;282;g104476d1465_1_17"/>
          <p:cNvSpPr txBox="1"/>
          <p:nvPr/>
        </p:nvSpPr>
        <p:spPr>
          <a:xfrm>
            <a:off x="8897112" y="6457675"/>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320</a:t>
            </a: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FA392D8-3ED3-7940-83A8-1451AA8A08D4}"/>
                  </a:ext>
                </a:extLst>
              </p:cNvPr>
              <p:cNvSpPr txBox="1"/>
              <p:nvPr/>
            </p:nvSpPr>
            <p:spPr>
              <a:xfrm>
                <a:off x="914400" y="520394"/>
                <a:ext cx="10616184" cy="1323439"/>
              </a:xfrm>
              <a:prstGeom prst="rect">
                <a:avLst/>
              </a:prstGeom>
              <a:noFill/>
            </p:spPr>
            <p:txBody>
              <a:bodyPr wrap="square" rtlCol="0">
                <a:spAutoFit/>
              </a:bodyPr>
              <a:lstStyle/>
              <a:p>
                <a:pPr marL="469900" indent="-457200">
                  <a:buFont typeface="+mj-lt"/>
                  <a:buAutoNum type="arabi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Diego is creating a triangular garden and uses the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𝑌𝑉𝑋</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with vertices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𝑌</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(−8,−2)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𝑉</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(−6,3)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𝑋</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(−2,−2)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to design the garden. </a:t>
                </a:r>
              </a:p>
              <a:p>
                <a:pPr marL="12700"/>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41388"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Graph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𝑌𝑉𝑋</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t>
                </a:r>
              </a:p>
            </p:txBody>
          </p:sp>
        </mc:Choice>
        <mc:Fallback xmlns="">
          <p:sp>
            <p:nvSpPr>
              <p:cNvPr id="10" name="TextBox 9">
                <a:extLst>
                  <a:ext uri="{FF2B5EF4-FFF2-40B4-BE49-F238E27FC236}">
                    <a16:creationId xmlns:a16="http://schemas.microsoft.com/office/drawing/2014/main" xmlns="" xmlns:a14="http://schemas.microsoft.com/office/drawing/2010/main" id="{2FA392D8-3ED3-7940-83A8-1451AA8A08D4}"/>
                  </a:ext>
                </a:extLst>
              </p:cNvPr>
              <p:cNvSpPr txBox="1">
                <a:spLocks noRot="1" noChangeAspect="1" noMove="1" noResize="1" noEditPoints="1" noAdjustHandles="1" noChangeArrowheads="1" noChangeShapeType="1" noTextEdit="1"/>
              </p:cNvSpPr>
              <p:nvPr/>
            </p:nvSpPr>
            <p:spPr>
              <a:xfrm>
                <a:off x="914400" y="520394"/>
                <a:ext cx="10616184" cy="1323439"/>
              </a:xfrm>
              <a:prstGeom prst="rect">
                <a:avLst/>
              </a:prstGeom>
              <a:blipFill rotWithShape="1">
                <a:blip r:embed="rId5"/>
                <a:stretch>
                  <a:fillRect l="-459" t="-2765" b="-7373"/>
                </a:stretch>
              </a:blipFill>
            </p:spPr>
            <p:txBody>
              <a:bodyPr/>
              <a:lstStyle/>
              <a:p>
                <a:r>
                  <a:rPr lang="en-US">
                    <a:noFill/>
                  </a:rPr>
                  <a:t> </a:t>
                </a:r>
              </a:p>
            </p:txBody>
          </p:sp>
        </mc:Fallback>
      </mc:AlternateContent>
    </p:spTree>
    <p:extLst>
      <p:ext uri="{BB962C8B-B14F-4D97-AF65-F5344CB8AC3E}">
        <p14:creationId xmlns:p14="http://schemas.microsoft.com/office/powerpoint/2010/main" val="8739294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3" name="TextBox 12">
            <a:extLst>
              <a:ext uri="{FF2B5EF4-FFF2-40B4-BE49-F238E27FC236}">
                <a16:creationId xmlns:a16="http://schemas.microsoft.com/office/drawing/2014/main" id="{2FA392D8-3ED3-7940-83A8-1451AA8A08D4}"/>
              </a:ext>
            </a:extLst>
          </p:cNvPr>
          <p:cNvSpPr txBox="1"/>
          <p:nvPr/>
        </p:nvSpPr>
        <p:spPr>
          <a:xfrm>
            <a:off x="914400" y="520394"/>
            <a:ext cx="10616184" cy="4708981"/>
          </a:xfrm>
          <a:prstGeom prst="rect">
            <a:avLst/>
          </a:prstGeom>
          <a:noFill/>
        </p:spPr>
        <p:txBody>
          <a:bodyPr wrap="square" rtlCol="0">
            <a:spAutoFit/>
          </a:bodyPr>
          <a:lstStyle/>
          <a:p>
            <a:pPr marL="917575" indent="-457200">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table. If necessary, round to the nearest thousandth. </a:t>
            </a:r>
          </a:p>
          <a:p>
            <a:pPr marL="917575"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7575" indent="-457200">
              <a:buFont typeface="+mj-lt"/>
              <a:buAutoNum type="alphaL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Classify the type of triangular garden Diego is creating.</a:t>
            </a:r>
          </a:p>
        </p:txBody>
      </p:sp>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7675"/>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320</a:t>
            </a:r>
          </a:p>
        </p:txBody>
      </p:sp>
      <p:pic>
        <p:nvPicPr>
          <p:cNvPr id="10"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71E6D30B-5371-784B-834B-13A08E94FFAA}"/>
                  </a:ext>
                </a:extLst>
              </p:cNvPr>
              <p:cNvGraphicFramePr>
                <a:graphicFrameLocks noGrp="1"/>
              </p:cNvGraphicFramePr>
              <p:nvPr>
                <p:extLst>
                  <p:ext uri="{D42A27DB-BD31-4B8C-83A1-F6EECF244321}">
                    <p14:modId xmlns:p14="http://schemas.microsoft.com/office/powerpoint/2010/main" val="2577507834"/>
                  </p:ext>
                </p:extLst>
              </p:nvPr>
            </p:nvGraphicFramePr>
            <p:xfrm>
              <a:off x="1963388" y="1141995"/>
              <a:ext cx="9042849" cy="3200400"/>
            </p:xfrm>
            <a:graphic>
              <a:graphicData uri="http://schemas.openxmlformats.org/drawingml/2006/table">
                <a:tbl>
                  <a:tblPr firstRow="1" firstCol="1" bandRow="1"/>
                  <a:tblGrid>
                    <a:gridCol w="3454428">
                      <a:extLst>
                        <a:ext uri="{9D8B030D-6E8A-4147-A177-3AD203B41FA5}">
                          <a16:colId xmlns:a16="http://schemas.microsoft.com/office/drawing/2014/main" val="429763188"/>
                        </a:ext>
                      </a:extLst>
                    </a:gridCol>
                    <a:gridCol w="5588421">
                      <a:extLst>
                        <a:ext uri="{9D8B030D-6E8A-4147-A177-3AD203B41FA5}">
                          <a16:colId xmlns:a16="http://schemas.microsoft.com/office/drawing/2014/main" val="3799266398"/>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Helvetica Neue" panose="02000503000000020004" pitchFamily="2" charset="0"/>
                              <a:cs typeface="Helvetica Neue" panose="02000503000000020004" pitchFamily="2" charset="0"/>
                            </a:rPr>
                            <a:t>Line Segment</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Length of Line Segment</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470307992"/>
                      </a:ext>
                    </a:extLst>
                  </a:tr>
                  <a:tr h="9144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x-none" sz="2000" i="1" smtClean="0">
                                        <a:effectLst/>
                                        <a:latin typeface="Cambria Math" panose="02040503050406030204" pitchFamily="18" charset="0"/>
                                        <a:ea typeface="Helvetica Neue" panose="02000503000000020004" pitchFamily="2" charset="0"/>
                                        <a:cs typeface="Helvetica Neue" panose="02000503000000020004" pitchFamily="2" charset="0"/>
                                      </a:rPr>
                                    </m:ctrlPr>
                                  </m:accPr>
                                  <m:e>
                                    <m:r>
                                      <a:rPr lang="en-US" sz="2000" b="0" i="1" smtClean="0">
                                        <a:effectLst/>
                                        <a:latin typeface="Cambria Math"/>
                                        <a:ea typeface="Helvetica Neue" panose="02000503000000020004" pitchFamily="2" charset="0"/>
                                        <a:cs typeface="Helvetica Neue" panose="02000503000000020004" pitchFamily="2" charset="0"/>
                                      </a:rPr>
                                      <m:t>𝑌𝑉</m:t>
                                    </m:r>
                                  </m:e>
                                </m:acc>
                              </m:oMath>
                            </m:oMathPara>
                          </a14:m>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762757"/>
                      </a:ext>
                    </a:extLst>
                  </a:tr>
                  <a:tr h="9144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x-none" sz="2000" i="1" smtClean="0">
                                        <a:effectLst/>
                                        <a:latin typeface="Cambria Math" panose="02040503050406030204" pitchFamily="18" charset="0"/>
                                        <a:ea typeface="Helvetica Neue" panose="02000503000000020004" pitchFamily="2" charset="0"/>
                                        <a:cs typeface="Helvetica Neue" panose="02000503000000020004" pitchFamily="2" charset="0"/>
                                      </a:rPr>
                                    </m:ctrlPr>
                                  </m:accPr>
                                  <m:e>
                                    <m:r>
                                      <a:rPr lang="en-US" sz="2000" b="0" i="1" smtClean="0">
                                        <a:effectLst/>
                                        <a:latin typeface="Cambria Math"/>
                                        <a:ea typeface="Helvetica Neue" panose="02000503000000020004" pitchFamily="2" charset="0"/>
                                        <a:cs typeface="Helvetica Neue" panose="02000503000000020004" pitchFamily="2" charset="0"/>
                                      </a:rPr>
                                      <m:t>𝑉𝑋</m:t>
                                    </m:r>
                                  </m:e>
                                </m:acc>
                              </m:oMath>
                            </m:oMathPara>
                          </a14:m>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2038873"/>
                      </a:ext>
                    </a:extLst>
                  </a:tr>
                  <a:tr h="9144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x-none" sz="2000" i="1" smtClean="0">
                                        <a:effectLst/>
                                        <a:latin typeface="Cambria Math" panose="02040503050406030204" pitchFamily="18" charset="0"/>
                                        <a:ea typeface="Helvetica Neue" panose="02000503000000020004" pitchFamily="2" charset="0"/>
                                        <a:cs typeface="Helvetica Neue" panose="02000503000000020004" pitchFamily="2" charset="0"/>
                                      </a:rPr>
                                    </m:ctrlPr>
                                  </m:accPr>
                                  <m:e>
                                    <m:r>
                                      <a:rPr lang="en-US" sz="2000" b="0" i="1" smtClean="0">
                                        <a:effectLst/>
                                        <a:latin typeface="Cambria Math"/>
                                        <a:ea typeface="Helvetica Neue" panose="02000503000000020004" pitchFamily="2" charset="0"/>
                                        <a:cs typeface="Helvetica Neue" panose="02000503000000020004" pitchFamily="2" charset="0"/>
                                      </a:rPr>
                                      <m:t>𝑋𝑌</m:t>
                                    </m:r>
                                  </m:e>
                                </m:acc>
                              </m:oMath>
                            </m:oMathPara>
                          </a14:m>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6311307"/>
                      </a:ext>
                    </a:extLst>
                  </a:tr>
                </a:tbl>
              </a:graphicData>
            </a:graphic>
          </p:graphicFrame>
        </mc:Choice>
        <mc:Fallback xmlns="">
          <p:graphicFrame>
            <p:nvGraphicFramePr>
              <p:cNvPr id="11" name="Table 10">
                <a:extLst>
                  <a:ext uri="{FF2B5EF4-FFF2-40B4-BE49-F238E27FC236}">
                    <a16:creationId xmlns:a16="http://schemas.microsoft.com/office/drawing/2014/main" xmlns:a14="http://schemas.microsoft.com/office/drawing/2010/main" xmlns="" id="{71E6D30B-5371-784B-834B-13A08E94FFAA}"/>
                  </a:ext>
                </a:extLst>
              </p:cNvPr>
              <p:cNvGraphicFramePr>
                <a:graphicFrameLocks noGrp="1"/>
              </p:cNvGraphicFramePr>
              <p:nvPr>
                <p:extLst>
                  <p:ext uri="{D42A27DB-BD31-4B8C-83A1-F6EECF244321}">
                    <p14:modId xmlns:p14="http://schemas.microsoft.com/office/powerpoint/2010/main" val="2577507834"/>
                  </p:ext>
                </p:extLst>
              </p:nvPr>
            </p:nvGraphicFramePr>
            <p:xfrm>
              <a:off x="1963388" y="1141995"/>
              <a:ext cx="9042849" cy="3200400"/>
            </p:xfrm>
            <a:graphic>
              <a:graphicData uri="http://schemas.openxmlformats.org/drawingml/2006/table">
                <a:tbl>
                  <a:tblPr firstRow="1" firstCol="1" bandRow="1"/>
                  <a:tblGrid>
                    <a:gridCol w="3454428">
                      <a:extLst>
                        <a:ext uri="{9D8B030D-6E8A-4147-A177-3AD203B41FA5}">
                          <a16:colId xmlns:a16="http://schemas.microsoft.com/office/drawing/2014/main" xmlns:a14="http://schemas.microsoft.com/office/drawing/2010/main" xmlns="" val="429763188"/>
                        </a:ext>
                      </a:extLst>
                    </a:gridCol>
                    <a:gridCol w="5588421">
                      <a:extLst>
                        <a:ext uri="{9D8B030D-6E8A-4147-A177-3AD203B41FA5}">
                          <a16:colId xmlns:a16="http://schemas.microsoft.com/office/drawing/2014/main" xmlns:a14="http://schemas.microsoft.com/office/drawing/2010/main" xmlns="" val="3799266398"/>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Helvetica Neue" panose="02000503000000020004" pitchFamily="2" charset="0"/>
                              <a:cs typeface="Helvetica Neue" panose="02000503000000020004" pitchFamily="2" charset="0"/>
                            </a:rPr>
                            <a:t>Line Segment</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Length of Line Segment</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470307992"/>
                      </a:ext>
                    </a:extLst>
                  </a:tr>
                  <a:tr h="914400">
                    <a:tc>
                      <a:txBody>
                        <a:bodyPr/>
                        <a:lstStyle/>
                        <a:p>
                          <a:endParaRPr lang="en-US"/>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50000" r="-161728" b="-200667"/>
                          </a:stretch>
                        </a:blipFill>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419762757"/>
                      </a:ext>
                    </a:extLst>
                  </a:tr>
                  <a:tr h="914400">
                    <a:tc>
                      <a:txBody>
                        <a:bodyPr/>
                        <a:lstStyle/>
                        <a:p>
                          <a:endParaRPr lang="en-US"/>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150000" r="-161728" b="-100667"/>
                          </a:stretch>
                        </a:blipFill>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952038873"/>
                      </a:ext>
                    </a:extLst>
                  </a:tr>
                  <a:tr h="914400">
                    <a:tc>
                      <a:txBody>
                        <a:bodyPr/>
                        <a:lstStyle/>
                        <a:p>
                          <a:endParaRPr lang="en-US"/>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250000" r="-161728" b="-667"/>
                          </a:stretch>
                        </a:blipFill>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92004" marR="92004"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336311307"/>
                      </a:ext>
                    </a:extLst>
                  </a:tr>
                </a:tbl>
              </a:graphicData>
            </a:graphic>
          </p:graphicFrame>
        </mc:Fallback>
      </mc:AlternateContent>
    </p:spTree>
    <p:extLst>
      <p:ext uri="{BB962C8B-B14F-4D97-AF65-F5344CB8AC3E}">
        <p14:creationId xmlns:p14="http://schemas.microsoft.com/office/powerpoint/2010/main" val="6400693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8" name="Picture 7" descr="Chart&#10;&#10;Description automatically generated">
            <a:extLst>
              <a:ext uri="{FF2B5EF4-FFF2-40B4-BE49-F238E27FC236}">
                <a16:creationId xmlns:a16="http://schemas.microsoft.com/office/drawing/2014/main" id="{BB8A6FEA-C4CD-F049-A046-0F5512B17D3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375999" y="1552707"/>
            <a:ext cx="7316641" cy="4733077"/>
          </a:xfrm>
          <a:prstGeom prst="rect">
            <a:avLst/>
          </a:prstGeom>
        </p:spPr>
      </p:pic>
      <p:sp>
        <p:nvSpPr>
          <p:cNvPr id="9" name="Google Shape;282;g104476d1465_1_17"/>
          <p:cNvSpPr txBox="1"/>
          <p:nvPr/>
        </p:nvSpPr>
        <p:spPr>
          <a:xfrm>
            <a:off x="8897112" y="6457675"/>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320</a:t>
            </a: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FA392D8-3ED3-7940-83A8-1451AA8A08D4}"/>
                  </a:ext>
                </a:extLst>
              </p:cNvPr>
              <p:cNvSpPr txBox="1"/>
              <p:nvPr/>
            </p:nvSpPr>
            <p:spPr>
              <a:xfrm>
                <a:off x="914400" y="520394"/>
                <a:ext cx="10616184" cy="707886"/>
              </a:xfrm>
              <a:prstGeom prst="rect">
                <a:avLst/>
              </a:prstGeom>
              <a:noFill/>
            </p:spPr>
            <p:txBody>
              <a:bodyPr wrap="square" rtlCol="0">
                <a:spAutoFit/>
              </a:bodyPr>
              <a:lstStyle/>
              <a:p>
                <a:pPr marL="469900" indent="-457200">
                  <a:buFont typeface="+mj-lt"/>
                  <a:buAutoNum type="arabicPeriod" startAt="4"/>
                </a:pPr>
                <a:r>
                  <a:rPr lang="en-US" sz="2000" dirty="0">
                    <a:latin typeface="Verdana" panose="020B0604030504040204" pitchFamily="34" charset="0"/>
                    <a:ea typeface="Times New Roman" panose="02020603050405020304" pitchFamily="18" charset="0"/>
                    <a:cs typeface="Times New Roman" panose="02020603050405020304" pitchFamily="18" charset="0"/>
                  </a:rPr>
                  <a:t>Draw an isosceles triangle whose base is three more than the height of the triangle and has one vertex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(2, 5)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t>
                </a:r>
              </a:p>
            </p:txBody>
          </p:sp>
        </mc:Choice>
        <mc:Fallback xmlns="">
          <p:sp>
            <p:nvSpPr>
              <p:cNvPr id="11" name="TextBox 10">
                <a:extLst>
                  <a:ext uri="{FF2B5EF4-FFF2-40B4-BE49-F238E27FC236}">
                    <a16:creationId xmlns:a16="http://schemas.microsoft.com/office/drawing/2014/main" xmlns="" xmlns:a14="http://schemas.microsoft.com/office/drawing/2010/main" id="{2FA392D8-3ED3-7940-83A8-1451AA8A08D4}"/>
                  </a:ext>
                </a:extLst>
              </p:cNvPr>
              <p:cNvSpPr txBox="1">
                <a:spLocks noRot="1" noChangeAspect="1" noMove="1" noResize="1" noEditPoints="1" noAdjustHandles="1" noChangeArrowheads="1" noChangeShapeType="1" noTextEdit="1"/>
              </p:cNvSpPr>
              <p:nvPr/>
            </p:nvSpPr>
            <p:spPr>
              <a:xfrm>
                <a:off x="914400" y="520394"/>
                <a:ext cx="10616184" cy="707886"/>
              </a:xfrm>
              <a:prstGeom prst="rect">
                <a:avLst/>
              </a:prstGeom>
              <a:blipFill rotWithShape="1">
                <a:blip r:embed="rId5"/>
                <a:stretch>
                  <a:fillRect l="-459" t="-5172" b="-14655"/>
                </a:stretch>
              </a:blipFill>
            </p:spPr>
            <p:txBody>
              <a:bodyPr/>
              <a:lstStyle/>
              <a:p>
                <a:r>
                  <a:rPr lang="en-US">
                    <a:noFill/>
                  </a:rPr>
                  <a:t> </a:t>
                </a:r>
              </a:p>
            </p:txBody>
          </p:sp>
        </mc:Fallback>
      </mc:AlternateContent>
    </p:spTree>
    <p:extLst>
      <p:ext uri="{BB962C8B-B14F-4D97-AF65-F5344CB8AC3E}">
        <p14:creationId xmlns:p14="http://schemas.microsoft.com/office/powerpoint/2010/main" val="11159071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897112" y="6457675"/>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321</a:t>
            </a: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7675"/>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321</a:t>
            </a:r>
          </a:p>
        </p:txBody>
      </p:sp>
      <p:pic>
        <p:nvPicPr>
          <p:cNvPr id="10"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456;g103996e1364_0_463">
            <a:extLst>
              <a:ext uri="{FF2B5EF4-FFF2-40B4-BE49-F238E27FC236}">
                <a16:creationId xmlns:a16="http://schemas.microsoft.com/office/drawing/2014/main" id="{68C03D65-F0BF-3F41-B52A-024F47388982}"/>
              </a:ext>
            </a:extLst>
          </p:cNvPr>
          <p:cNvSpPr txBox="1">
            <a:spLocks/>
          </p:cNvSpPr>
          <p:nvPr/>
        </p:nvSpPr>
        <p:spPr>
          <a:xfrm>
            <a:off x="1052650" y="14168"/>
            <a:ext cx="1057039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13.6.5 Wrap-Up: Cool Down</a:t>
            </a:r>
          </a:p>
        </p:txBody>
      </p:sp>
      <p:pic>
        <p:nvPicPr>
          <p:cNvPr id="13"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05350" y="303368"/>
            <a:ext cx="747300" cy="747300"/>
          </a:xfrm>
          <a:prstGeom prst="rect">
            <a:avLst/>
          </a:prstGeom>
          <a:noFill/>
          <a:ln>
            <a:noFill/>
          </a:ln>
          <a:effectLst>
            <a:outerShdw blurRad="50800" dist="38100" dir="2700000" algn="tl" rotWithShape="0">
              <a:prstClr val="black">
                <a:alpha val="40000"/>
              </a:prstClr>
            </a:outerShdw>
          </a:effectLst>
        </p:spPr>
      </p:pic>
      <p:sp>
        <p:nvSpPr>
          <p:cNvPr id="14" name="TextBox 13">
            <a:extLst>
              <a:ext uri="{FF2B5EF4-FFF2-40B4-BE49-F238E27FC236}">
                <a16:creationId xmlns:a16="http://schemas.microsoft.com/office/drawing/2014/main" id="{0370EDB7-6994-3D43-ABF9-E04CBAFB9CD9}"/>
              </a:ext>
            </a:extLst>
          </p:cNvPr>
          <p:cNvSpPr txBox="1"/>
          <p:nvPr/>
        </p:nvSpPr>
        <p:spPr>
          <a:xfrm>
            <a:off x="593247" y="1304198"/>
            <a:ext cx="10930677" cy="830997"/>
          </a:xfrm>
          <a:prstGeom prst="rect">
            <a:avLst/>
          </a:prstGeom>
          <a:noFill/>
        </p:spPr>
        <p:txBody>
          <a:bodyPr wrap="square" rtlCol="0">
            <a:spAutoFit/>
          </a:bodyPr>
          <a:lstStyle/>
          <a:p>
            <a:pPr marL="457200" indent="-457200">
              <a:buFont typeface="+mj-lt"/>
              <a:buAutoNum type="arabicPeriod"/>
            </a:pPr>
            <a:r>
              <a:rPr lang="en-US" sz="2400" dirty="0">
                <a:latin typeface="Verdana" pitchFamily="34" charset="0"/>
                <a:ea typeface="Verdana" pitchFamily="34" charset="0"/>
              </a:rPr>
              <a:t>Identify </a:t>
            </a:r>
            <a:r>
              <a:rPr lang="en-US" sz="2400" b="1" dirty="0">
                <a:latin typeface="Verdana" pitchFamily="34" charset="0"/>
                <a:ea typeface="Verdana" pitchFamily="34" charset="0"/>
              </a:rPr>
              <a:t>two </a:t>
            </a:r>
            <a:r>
              <a:rPr lang="en-US" sz="2400" dirty="0">
                <a:latin typeface="Verdana" pitchFamily="34" charset="0"/>
                <a:ea typeface="Verdana" pitchFamily="34" charset="0"/>
              </a:rPr>
              <a:t>strategies you can use to classify triangles using coordinate geometry.</a:t>
            </a: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1551</TotalTime>
  <Words>1107</Words>
  <Application>Microsoft Office PowerPoint</Application>
  <PresentationFormat>Widescreen</PresentationFormat>
  <Paragraphs>231</Paragraphs>
  <Slides>28</Slides>
  <Notes>28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Century Gothic</vt:lpstr>
      <vt:lpstr>Cambria</vt:lpstr>
      <vt:lpstr>Wingdings</vt:lpstr>
      <vt:lpstr>Verdana</vt:lpstr>
      <vt:lpstr>Arial Black</vt:lpstr>
      <vt:lpstr>Calibri</vt:lpstr>
      <vt:lpstr>Arial</vt:lpstr>
      <vt:lpstr>Cambria Math</vt:lpstr>
      <vt:lpstr>1_Office Theme</vt:lpstr>
      <vt:lpstr>PowerPoint Presentation</vt:lpstr>
      <vt:lpstr>PowerPoint Presentation</vt:lpstr>
      <vt:lpstr>PowerPoint Presentation</vt:lpstr>
      <vt:lpstr>PowerPoint Presentation</vt:lpstr>
      <vt:lpstr>Warm-Up</vt:lpstr>
      <vt:lpstr>PowerPoint Presentation</vt:lpstr>
      <vt:lpstr>PowerPoint Presentation</vt:lpstr>
      <vt:lpstr>Refresher</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Your Turn</vt:lpstr>
      <vt:lpstr>PowerPoint Presentation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Morgan Palomino</cp:lastModifiedBy>
  <cp:revision>36</cp:revision>
  <dcterms:created xsi:type="dcterms:W3CDTF">2015-03-17T18:51:18Z</dcterms:created>
  <dcterms:modified xsi:type="dcterms:W3CDTF">2023-03-03T14:16:37Z</dcterms:modified>
</cp:coreProperties>
</file>