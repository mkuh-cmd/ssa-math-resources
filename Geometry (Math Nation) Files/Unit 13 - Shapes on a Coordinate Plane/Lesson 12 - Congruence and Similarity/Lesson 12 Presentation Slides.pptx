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367" r:id="rId8"/>
    <p:sldId id="311" r:id="rId9"/>
    <p:sldId id="312" r:id="rId10"/>
    <p:sldId id="353" r:id="rId11"/>
    <p:sldId id="368" r:id="rId12"/>
    <p:sldId id="387" r:id="rId13"/>
    <p:sldId id="400" r:id="rId14"/>
    <p:sldId id="389" r:id="rId15"/>
    <p:sldId id="390" r:id="rId16"/>
    <p:sldId id="391" r:id="rId17"/>
    <p:sldId id="385" r:id="rId18"/>
    <p:sldId id="386" r:id="rId19"/>
    <p:sldId id="378" r:id="rId20"/>
    <p:sldId id="398" r:id="rId21"/>
    <p:sldId id="399" r:id="rId22"/>
    <p:sldId id="393" r:id="rId23"/>
    <p:sldId id="394" r:id="rId24"/>
    <p:sldId id="396" r:id="rId25"/>
    <p:sldId id="306" r:id="rId26"/>
    <p:sldId id="307" r:id="rId27"/>
  </p:sldIdLst>
  <p:sldSz cx="12192000" cy="6858000"/>
  <p:notesSz cx="6858000" cy="9144000"/>
  <p:embeddedFontLst>
    <p:embeddedFont>
      <p:font typeface="Arial Black" panose="020B0604020202020204" pitchFamily="34" charset="0"/>
      <p:bold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ambria" panose="02040503050406030204" pitchFamily="18" charset="0"/>
      <p:regular r:id="rId34"/>
      <p:bold r:id="rId35"/>
      <p:italic r:id="rId36"/>
      <p:boldItalic r:id="rId37"/>
    </p:embeddedFont>
    <p:embeddedFont>
      <p:font typeface="Cambria Math" panose="02040503050406030204" pitchFamily="18" charset="0"/>
      <p:regular r:id="rId38"/>
    </p:embeddedFont>
    <p:embeddedFont>
      <p:font typeface="Century Gothic" panose="020B0502020202020204" pitchFamily="34" charset="0"/>
      <p:regular r:id="rId39"/>
      <p:bold r:id="rId40"/>
      <p:italic r:id="rId41"/>
      <p:boldItalic r:id="rId42"/>
    </p:embeddedFont>
    <p:embeddedFont>
      <p:font typeface="Verdana" panose="020B0604030504040204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2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E45088"/>
    <a:srgbClr val="33BEA6"/>
    <a:srgbClr val="79B0DD"/>
    <a:srgbClr val="DA4487"/>
    <a:srgbClr val="276C46"/>
    <a:srgbClr val="C9DF6F"/>
    <a:srgbClr val="417DBF"/>
    <a:srgbClr val="3F2A67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04" autoAdjust="0"/>
    <p:restoredTop sz="94648"/>
  </p:normalViewPr>
  <p:slideViewPr>
    <p:cSldViewPr snapToGrid="0">
      <p:cViewPr>
        <p:scale>
          <a:sx n="130" d="100"/>
          <a:sy n="130" d="100"/>
        </p:scale>
        <p:origin x="720" y="8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056531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3026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047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0192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0719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061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85236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0407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41090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4935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21035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39314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77701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79478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79017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9684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77933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530" y="15144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61;g104476d1465_0_0"/>
          <p:cNvSpPr txBox="1">
            <a:spLocks/>
          </p:cNvSpPr>
          <p:nvPr/>
        </p:nvSpPr>
        <p:spPr>
          <a:xfrm>
            <a:off x="5590351" y="2054277"/>
            <a:ext cx="5296723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12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Congruence and Similarity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348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430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" y="4257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2236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MA.912.GR.3.3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Use coordinate geometry to solve mathematical and real-world geometric problems involving lines, circles, triangles, and quadrilaterals.</a:t>
            </a: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348</a:t>
            </a: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78;g104476d1465_1_17"/>
          <p:cNvSpPr/>
          <p:nvPr/>
        </p:nvSpPr>
        <p:spPr>
          <a:xfrm>
            <a:off x="-7637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</a:t>
            </a:r>
            <a:b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and Reasoning Standards</a:t>
            </a:r>
          </a:p>
        </p:txBody>
      </p:sp>
      <p:pic>
        <p:nvPicPr>
          <p:cNvPr id="15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6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8" name="Google Shape;282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348</a:t>
            </a:r>
          </a:p>
        </p:txBody>
      </p:sp>
      <p:pic>
        <p:nvPicPr>
          <p:cNvPr id="1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2CE09C99-2A7A-4642-81C4-47A479DC694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3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79450">
              <a:buClr>
                <a:srgbClr val="434343"/>
              </a:buClr>
              <a:buSzPct val="100000"/>
              <a:buFont typeface="Wingdings" pitchFamily="2" charset="2"/>
              <a:buChar char="q"/>
            </a:pPr>
            <a:r>
              <a:rPr lang="en-US" sz="36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use coordinate geometry to justify congruence and similarity in triangles and quadrilaterals.</a:t>
            </a:r>
          </a:p>
        </p:txBody>
      </p:sp>
      <p:sp>
        <p:nvSpPr>
          <p:cNvPr id="15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6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80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17BBDB14-F43F-3F42-9C2D-99752E20A39C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C0B51D-09DC-AA4D-9C14-AE2048199B26}"/>
                  </a:ext>
                </a:extLst>
              </p:cNvPr>
              <p:cNvSpPr txBox="1"/>
              <p:nvPr/>
            </p:nvSpPr>
            <p:spPr>
              <a:xfrm>
                <a:off x="636816" y="1230729"/>
                <a:ext cx="1099133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Brickley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LEGO sea serpent in Lake Buena Vista at Disney Springs near Orlando, Florida, was made in 1997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170,000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LEGO bricks and is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long.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4C0B51D-09DC-AA4D-9C14-AE2048199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16" y="1230729"/>
                <a:ext cx="10991334" cy="707886"/>
              </a:xfrm>
              <a:prstGeom prst="rect">
                <a:avLst/>
              </a:prstGeom>
              <a:blipFill rotWithShape="1">
                <a:blip r:embed="rId3"/>
                <a:stretch>
                  <a:fillRect l="-554" t="-4310" r="-831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D1AE0D26-BB07-DE4B-AFB3-A469C86BF2EB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74C14E-7317-FF49-A918-3F09BD2199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85603" y="2278018"/>
            <a:ext cx="8293759" cy="3922581"/>
          </a:xfrm>
          <a:prstGeom prst="rect">
            <a:avLst/>
          </a:prstGeom>
        </p:spPr>
      </p:pic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2999" y="275690"/>
            <a:ext cx="10669509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13.12.1 Warm-Up: Notice and Wonder</a:t>
            </a:r>
          </a:p>
        </p:txBody>
      </p:sp>
      <p:pic>
        <p:nvPicPr>
          <p:cNvPr id="15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661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3252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FFD6D459-41EA-F54F-A153-BCA566EE3EE9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515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wonder? </a:t>
            </a:r>
          </a:p>
        </p:txBody>
      </p:sp>
    </p:spTree>
    <p:extLst>
      <p:ext uri="{BB962C8B-B14F-4D97-AF65-F5344CB8AC3E}">
        <p14:creationId xmlns:p14="http://schemas.microsoft.com/office/powerpoint/2010/main" val="997896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62425" y="2766145"/>
            <a:ext cx="47724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2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A13319E-DA3B-3E44-8EF7-BEF50B5A8B4C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10.png" descr="Icon&#10;&#10;Description automatically generated">
            <a:extLst>
              <a:ext uri="{FF2B5EF4-FFF2-40B4-BE49-F238E27FC236}">
                <a16:creationId xmlns:a16="http://schemas.microsoft.com/office/drawing/2014/main" id="{43671C45-87BF-ED4A-A180-1390112EDC7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555182" y="2850881"/>
            <a:ext cx="1156228" cy="11562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6276" y="60325"/>
            <a:ext cx="991652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13.12.2 Exploration: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Congruence and 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96874" y="1527693"/>
                <a:ext cx="1037592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Parallelogram 𝐷𝐾𝑇𝑆 has vertices 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𝐷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(−2,4)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𝐾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(−4,1)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𝑇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(−9,3)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𝑆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(−7,6)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indent="5000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74" y="1527693"/>
                <a:ext cx="10375926" cy="1015663"/>
              </a:xfrm>
              <a:prstGeom prst="rect">
                <a:avLst/>
              </a:prstGeom>
              <a:blipFill rotWithShape="1">
                <a:blip r:embed="rId3"/>
                <a:stretch>
                  <a:fillRect l="-646" t="-3614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Google Shape;282;g104476d1465_1_17">
            <a:extLst>
              <a:ext uri="{FF2B5EF4-FFF2-40B4-BE49-F238E27FC236}">
                <a16:creationId xmlns:a16="http://schemas.microsoft.com/office/drawing/2014/main" id="{3413C27D-0588-F545-8DFB-B739BB65964D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10.png" descr="Icon&#10;&#10;Description automatically generated">
            <a:extLst>
              <a:ext uri="{FF2B5EF4-FFF2-40B4-BE49-F238E27FC236}">
                <a16:creationId xmlns:a16="http://schemas.microsoft.com/office/drawing/2014/main" id="{1EA04EA9-724E-6F40-BC67-1DD9A104A539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9979" y="307537"/>
            <a:ext cx="755076" cy="75507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8F9B3C0-37F7-C84F-90AB-E7E5856BCC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935478"/>
                  </p:ext>
                </p:extLst>
              </p:nvPr>
            </p:nvGraphicFramePr>
            <p:xfrm>
              <a:off x="1234674" y="2702016"/>
              <a:ext cx="8686800" cy="3200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val="2643837512"/>
                        </a:ext>
                      </a:extLst>
                    </a:gridCol>
                    <a:gridCol w="6400800">
                      <a:extLst>
                        <a:ext uri="{9D8B030D-6E8A-4147-A177-3AD203B41FA5}">
                          <a16:colId xmlns:a16="http://schemas.microsoft.com/office/drawing/2014/main" val="57277064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063" marR="6106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063" marR="6106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58099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𝐷𝐾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063" marR="6106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063" marR="6106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53384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𝐾𝑇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063" marR="6106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063" marR="6106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35863145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𝑇𝑆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063" marR="6106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063" marR="6106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7266131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𝑆𝐷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063" marR="6106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063" marR="6106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0228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8F9B3C0-37F7-C84F-90AB-E7E5856BCC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935478"/>
                  </p:ext>
                </p:extLst>
              </p:nvPr>
            </p:nvGraphicFramePr>
            <p:xfrm>
              <a:off x="1234674" y="2702016"/>
              <a:ext cx="8686800" cy="3200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643837512"/>
                        </a:ext>
                      </a:extLst>
                    </a:gridCol>
                    <a:gridCol w="64008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57277064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063" marR="6106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063" marR="6106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2358099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063" marR="6106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67" t="-66372" r="-280000" b="-299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063" marR="6106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6553384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063" marR="6106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67" t="-167857" r="-280000" b="-2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063" marR="6106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535863145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063" marR="6106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67" t="-265487" r="-28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063" marR="6106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17266131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063" marR="6106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67" t="-368750" r="-280000" b="-8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063" marR="61063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702284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0A9699B5-6480-D045-8CAF-9E1FEA3A0EE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BAE1886-49C1-304D-B666-68FF0213F8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3831452"/>
                  </p:ext>
                </p:extLst>
              </p:nvPr>
            </p:nvGraphicFramePr>
            <p:xfrm>
              <a:off x="1548699" y="1794750"/>
              <a:ext cx="8686800" cy="3200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val="1728639008"/>
                        </a:ext>
                      </a:extLst>
                    </a:gridCol>
                    <a:gridCol w="6400800">
                      <a:extLst>
                        <a:ext uri="{9D8B030D-6E8A-4147-A177-3AD203B41FA5}">
                          <a16:colId xmlns:a16="http://schemas.microsoft.com/office/drawing/2014/main" val="4266845569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85" marR="8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85" marR="8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409770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𝑊𝑅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85" marR="8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85" marR="8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4441318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𝑅𝐶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85" marR="8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85" marR="8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635868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𝐶𝑁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85" marR="8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85" marR="8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306071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𝑁𝑊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85" marR="8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85" marR="8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874451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BAE1886-49C1-304D-B666-68FF0213F8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3831452"/>
                  </p:ext>
                </p:extLst>
              </p:nvPr>
            </p:nvGraphicFramePr>
            <p:xfrm>
              <a:off x="1548699" y="1794750"/>
              <a:ext cx="8686800" cy="3200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728639008"/>
                        </a:ext>
                      </a:extLst>
                    </a:gridCol>
                    <a:gridCol w="64008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266845569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85" marR="8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85" marR="8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67409770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585" marR="8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66372" r="-280267" b="-299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85" marR="8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64441318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585" marR="8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67857" r="-280267" b="-2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85" marR="8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93635868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585" marR="8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65487" r="-28026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85" marR="8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71306071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585" marR="8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368750" r="-280267" b="-8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4585" marR="8458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48744517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105156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Parallelogram 𝑊𝑅𝐶𝑁 has vertices 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(0,1)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(2,−2)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(7,0)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(5,3)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indent="500063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table.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10515600" cy="1015663"/>
              </a:xfrm>
              <a:prstGeom prst="rect">
                <a:avLst/>
              </a:prstGeom>
              <a:blipFill rotWithShape="1">
                <a:blip r:embed="rId5"/>
                <a:stretch>
                  <a:fillRect l="-580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31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51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do you notice about the lengths of the line segments in parallelograms 𝐷𝐾𝑇𝑆 and 𝑊𝑅𝐶𝑁?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statement.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0063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Parallelogram 𝐷𝐾𝑇𝑆 may be                       to </a:t>
            </a:r>
          </a:p>
          <a:p>
            <a:pPr marL="500063"/>
            <a:br>
              <a:rPr lang="en-PH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0063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parallelogram 𝑊𝑅𝐶𝑁 because all sides are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AC57A7C9-38D0-144E-8111-31A72A4212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19807" y="2719361"/>
            <a:ext cx="1853543" cy="876121"/>
          </a:xfrm>
          <a:prstGeom prst="rect">
            <a:avLst/>
          </a:prstGeom>
        </p:spPr>
      </p:pic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id="{4BE99ADE-5A61-2142-9A4A-8C479892EBE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1512" y="3679302"/>
            <a:ext cx="1971272" cy="802231"/>
          </a:xfrm>
          <a:prstGeom prst="rect">
            <a:avLst/>
          </a:prstGeom>
        </p:spPr>
      </p:pic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7575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515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 with your partner to describe how the parallelograms are congruent </a:t>
            </a: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 similar using transformations. State which image you used as the </a:t>
            </a:r>
            <a:b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preimage.</a:t>
            </a:r>
          </a:p>
          <a:p>
            <a:pPr marL="457200" indent="-457200">
              <a:buFont typeface="+mj-lt"/>
              <a:buAutoNum type="arabicPeriod" startAt="5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79DFCADA-53E6-CA49-8552-5094F459FB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614" y="1975813"/>
            <a:ext cx="6946900" cy="349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905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105156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 startAt="6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Isosceles trapezoid 𝑀𝑃𝐻𝑁 has vertices 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(2,−6)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(3,−3)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(5,−2)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(8,−3)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447675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table. 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10515600" cy="1323439"/>
              </a:xfrm>
              <a:prstGeom prst="rect">
                <a:avLst/>
              </a:prstGeom>
              <a:blipFill>
                <a:blip r:embed="rId4"/>
                <a:stretch>
                  <a:fillRect l="-603" t="-2857" b="-7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6126641-FF4B-A344-BB6F-DB0A64CD8E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8898039"/>
                  </p:ext>
                </p:extLst>
              </p:nvPr>
            </p:nvGraphicFramePr>
            <p:xfrm>
              <a:off x="1371329" y="2098945"/>
              <a:ext cx="8686800" cy="26517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val="674050478"/>
                        </a:ext>
                      </a:extLst>
                    </a:gridCol>
                    <a:gridCol w="6400800">
                      <a:extLst>
                        <a:ext uri="{9D8B030D-6E8A-4147-A177-3AD203B41FA5}">
                          <a16:colId xmlns:a16="http://schemas.microsoft.com/office/drawing/2014/main" val="31547449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228" marR="9622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 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228" marR="9622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952412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𝑀𝑃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228" marR="9622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228" marR="9622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6240861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𝑃𝐻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228" marR="9622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228" marR="9622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827985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𝐻𝑁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228" marR="9622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228" marR="9622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5805698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𝑁𝑀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228" marR="9622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228" marR="9622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5194516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6126641-FF4B-A344-BB6F-DB0A64CD8E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8898039"/>
                  </p:ext>
                </p:extLst>
              </p:nvPr>
            </p:nvGraphicFramePr>
            <p:xfrm>
              <a:off x="1371329" y="2098945"/>
              <a:ext cx="8686800" cy="26517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val="674050478"/>
                        </a:ext>
                      </a:extLst>
                    </a:gridCol>
                    <a:gridCol w="6400800">
                      <a:extLst>
                        <a:ext uri="{9D8B030D-6E8A-4147-A177-3AD203B41FA5}">
                          <a16:colId xmlns:a16="http://schemas.microsoft.com/office/drawing/2014/main" val="31547449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228" marR="9622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 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228" marR="9622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952412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228" marR="9622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84091" r="-281667" b="-297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228" marR="9622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6240861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228" marR="9622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88372" r="-281667" b="-2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228" marR="9622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827985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228" marR="9622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81818" r="-28166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228" marR="9622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5805698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6228" marR="9622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90698" r="-281667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6228" marR="9622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5194516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70159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7992566-4788-C94D-B1E6-77E2E1DFA0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0814709"/>
                  </p:ext>
                </p:extLst>
              </p:nvPr>
            </p:nvGraphicFramePr>
            <p:xfrm>
              <a:off x="1514443" y="1822690"/>
              <a:ext cx="8686800" cy="3200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val="1051382800"/>
                        </a:ext>
                      </a:extLst>
                    </a:gridCol>
                    <a:gridCol w="6400800">
                      <a:extLst>
                        <a:ext uri="{9D8B030D-6E8A-4147-A177-3AD203B41FA5}">
                          <a16:colId xmlns:a16="http://schemas.microsoft.com/office/drawing/2014/main" val="330692063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771" marR="827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771" marR="827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811681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𝑊𝑉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771" marR="827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771" marR="827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8239671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𝑉𝑌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771" marR="827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771" marR="827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5199299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𝑌𝑍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771" marR="827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771" marR="827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099118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Helvetica Neue" panose="02000503000000020004" pitchFamily="2" charset="0"/>
                                        <a:cs typeface="Helvetica Neue" panose="02000503000000020004" pitchFamily="2" charset="0"/>
                                      </a:rPr>
                                      <m:t>𝑍𝑊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771" marR="827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771" marR="827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66958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7992566-4788-C94D-B1E6-77E2E1DFA0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0814709"/>
                  </p:ext>
                </p:extLst>
              </p:nvPr>
            </p:nvGraphicFramePr>
            <p:xfrm>
              <a:off x="1514443" y="1822690"/>
              <a:ext cx="8686800" cy="3200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051382800"/>
                        </a:ext>
                      </a:extLst>
                    </a:gridCol>
                    <a:gridCol w="64008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30692063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Line Segment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771" marR="827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Length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771" marR="827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64811681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771" marR="827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67257" r="-280267" b="-298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771" marR="827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68239671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771" marR="827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68750" r="-280267" b="-2008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771" marR="827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55199299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771" marR="827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66372" r="-280267" b="-99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771" marR="827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11099118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771" marR="827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369643" r="-2802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2771" marR="82771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1669587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105156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Isosceles trapezoid 𝑊𝑉𝑌𝑍 has vertices 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(4,12)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(6,6)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(10,4)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(16,6)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447675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table.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10515600" cy="1015663"/>
              </a:xfrm>
              <a:prstGeom prst="rect">
                <a:avLst/>
              </a:prstGeom>
              <a:blipFill rotWithShape="1">
                <a:blip r:embed="rId5"/>
                <a:stretch>
                  <a:fillRect l="-580" t="-3593" r="-812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1411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51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8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do you notice about the lengths of the line segments in isosceles trapezoids 𝑀𝑃𝐻𝑁 and 𝑊𝑉𝑌𝑍?</a:t>
            </a:r>
          </a:p>
          <a:p>
            <a:pPr marL="457200" indent="-457200">
              <a:buFont typeface="+mj-lt"/>
              <a:buAutoNum type="arabicPeriod" startAt="8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8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8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8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8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statement.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Isosceles trapezoid 𝑀𝑃𝐻𝑁 is                       to </a:t>
            </a:r>
          </a:p>
          <a:p>
            <a:pPr marL="447675"/>
            <a:br>
              <a:rPr lang="en-PH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isosceles trapezoid 𝑊𝑉𝑌𝑍 because all sides are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E5CDC6C0-74AB-9B44-924D-DC3DE131032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1283" y="2717395"/>
            <a:ext cx="1853543" cy="876121"/>
          </a:xfrm>
          <a:prstGeom prst="rect">
            <a:avLst/>
          </a:prstGeom>
        </p:spPr>
      </p:pic>
      <p:pic>
        <p:nvPicPr>
          <p:cNvPr id="8" name="Picture 7" descr="A picture containing shape&#10;&#10;Description automatically generated">
            <a:extLst>
              <a:ext uri="{FF2B5EF4-FFF2-40B4-BE49-F238E27FC236}">
                <a16:creationId xmlns:a16="http://schemas.microsoft.com/office/drawing/2014/main" id="{6050B7FA-CBFE-604D-B0A7-D6DF737D5CF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4119" y="3682332"/>
            <a:ext cx="1971272" cy="802231"/>
          </a:xfrm>
          <a:prstGeom prst="rect">
            <a:avLst/>
          </a:prstGeom>
        </p:spPr>
      </p:pic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071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+mj-lt"/>
              <a:buAutoNum type="arabicPeriod" startAt="10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 with your partner to describe how the trapezoids are congruent or similar using transformations. State which image you used as the preimage.</a:t>
            </a:r>
          </a:p>
        </p:txBody>
      </p:sp>
      <p:pic>
        <p:nvPicPr>
          <p:cNvPr id="2" name="Picture 1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251EDAE7-D6C1-010C-3770-620F1B8F0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614" y="1975813"/>
            <a:ext cx="6946900" cy="349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87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05571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9.png" descr="Icon&#10;&#10;Description automatically generated">
            <a:extLst>
              <a:ext uri="{FF2B5EF4-FFF2-40B4-BE49-F238E27FC236}">
                <a16:creationId xmlns:a16="http://schemas.microsoft.com/office/drawing/2014/main" id="{C2629E52-3A9F-FD44-B9E7-894793CAEE9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943856" y="2843779"/>
            <a:ext cx="1152144" cy="115214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5703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61207" y="3443"/>
            <a:ext cx="994108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13.12.3 Guided Practice: </a:t>
            </a:r>
            <a:b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Congruence and Similarity</a:t>
            </a:r>
            <a:endParaRPr lang="en-US" sz="3200" b="1" dirty="0">
              <a:solidFill>
                <a:srgbClr val="54B5D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670775" y="1447485"/>
                <a:ext cx="10853149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Right triangle 𝐶𝐾𝑅 has vertices 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(−2,5)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(−8,5)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(−8,2)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b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Right triangle 𝐷𝑃𝑀 has vertices 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(−2,−4)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(4,−4)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(4,−1)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5988" indent="-4873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𝐶𝐾𝑅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𝐷𝑃𝑀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congruent, similar, or neither.</a:t>
                </a:r>
              </a:p>
              <a:p>
                <a:pPr marL="987425" indent="-487363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87425" indent="-487363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definition, theorem, or property justifies your conclusions?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Describe the transformations that would show that the figures are congruent or that they are similar. State which image you used as the </a:t>
                </a:r>
                <a:b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pre-image.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75" y="1447485"/>
                <a:ext cx="10853149" cy="3785652"/>
              </a:xfrm>
              <a:prstGeom prst="rect">
                <a:avLst/>
              </a:prstGeom>
              <a:blipFill rotWithShape="1">
                <a:blip r:embed="rId3"/>
                <a:stretch>
                  <a:fillRect l="-562" t="-966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9.png" descr="Icon&#10;&#10;Description automatically generated">
            <a:extLst>
              <a:ext uri="{FF2B5EF4-FFF2-40B4-BE49-F238E27FC236}">
                <a16:creationId xmlns:a16="http://schemas.microsoft.com/office/drawing/2014/main" id="{A7010794-A55A-ED4B-A0FE-97BBD0B6C51C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5872" y="291389"/>
            <a:ext cx="749808" cy="74980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1146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405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6258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A0D10A-6A09-FE42-BE64-6915A5D33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529270"/>
              </p:ext>
            </p:extLst>
          </p:nvPr>
        </p:nvGraphicFramePr>
        <p:xfrm>
          <a:off x="1971747" y="2079623"/>
          <a:ext cx="7808727" cy="3352800"/>
        </p:xfrm>
        <a:graphic>
          <a:graphicData uri="http://schemas.openxmlformats.org/drawingml/2006/table">
            <a:tbl>
              <a:tblPr bandRow="1"/>
              <a:tblGrid>
                <a:gridCol w="3066621">
                  <a:extLst>
                    <a:ext uri="{9D8B030D-6E8A-4147-A177-3AD203B41FA5}">
                      <a16:colId xmlns:a16="http://schemas.microsoft.com/office/drawing/2014/main" val="1688194650"/>
                    </a:ext>
                  </a:extLst>
                </a:gridCol>
                <a:gridCol w="3451588">
                  <a:extLst>
                    <a:ext uri="{9D8B030D-6E8A-4147-A177-3AD203B41FA5}">
                      <a16:colId xmlns:a16="http://schemas.microsoft.com/office/drawing/2014/main" val="1916848284"/>
                    </a:ext>
                  </a:extLst>
                </a:gridCol>
                <a:gridCol w="1290518">
                  <a:extLst>
                    <a:ext uri="{9D8B030D-6E8A-4147-A177-3AD203B41FA5}">
                      <a16:colId xmlns:a16="http://schemas.microsoft.com/office/drawing/2014/main" val="395971957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Description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44" marR="78744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of </a:t>
                      </a:r>
                      <a:b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Their Description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44" marR="78744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44" marR="78744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466623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x-none" sz="200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44" marR="78744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x-none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44" marR="78744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x-none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44" marR="78744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153329"/>
                  </a:ext>
                </a:extLst>
              </a:tr>
            </a:tbl>
          </a:graphicData>
        </a:graphic>
      </p:graphicFrame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515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7575" indent="-457200">
              <a:buFont typeface="+mj-lt"/>
              <a:buAutoNum type="alphaLcPeriod" startAt="4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Ask a classmate for their description. Record their description and write your summary of their description. </a:t>
            </a:r>
            <a:r>
              <a:rPr lang="en-US" sz="2000" i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are the only person who should write in the first two columns of the table.</a:t>
            </a: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Have the person initial next to your summary stating that your summary was correct.</a:t>
            </a:r>
          </a:p>
        </p:txBody>
      </p:sp>
    </p:spTree>
    <p:extLst>
      <p:ext uri="{BB962C8B-B14F-4D97-AF65-F5344CB8AC3E}">
        <p14:creationId xmlns:p14="http://schemas.microsoft.com/office/powerpoint/2010/main" val="873929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ABBD755-FE9F-204D-A7C1-835052DE0A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050913"/>
                  </p:ext>
                </p:extLst>
              </p:nvPr>
            </p:nvGraphicFramePr>
            <p:xfrm>
              <a:off x="1973616" y="2342679"/>
              <a:ext cx="9312958" cy="13716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56479">
                      <a:extLst>
                        <a:ext uri="{9D8B030D-6E8A-4147-A177-3AD203B41FA5}">
                          <a16:colId xmlns:a16="http://schemas.microsoft.com/office/drawing/2014/main" val="3880666703"/>
                        </a:ext>
                      </a:extLst>
                    </a:gridCol>
                    <a:gridCol w="4656479">
                      <a:extLst>
                        <a:ext uri="{9D8B030D-6E8A-4147-A177-3AD203B41FA5}">
                          <a16:colId xmlns:a16="http://schemas.microsoft.com/office/drawing/2014/main" val="9287593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Shin’s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8569" marR="9856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Kendal’s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8569" marR="9856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426864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Parallelograms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𝐻𝐺𝑁𝐶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𝑉𝑌𝑍𝑊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 are similar because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𝑍𝑌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𝑁𝐺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𝑉𝑊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𝐻𝐶</m:t>
                                  </m:r>
                                </m:den>
                              </m:f>
                            </m:oMath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8569" marR="9856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Parallelograms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𝐻𝐺𝑁𝐶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𝑉𝑌𝑍𝑊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 are neither because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𝑍𝑌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𝑁𝐺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≠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𝑌𝑉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Helvetica Neue" panose="02000503000000020004" pitchFamily="2" charset="0"/>
                                      <a:cs typeface="Helvetica Neue" panose="02000503000000020004" pitchFamily="2" charset="0"/>
                                    </a:rPr>
                                    <m:t>𝐺𝐻</m:t>
                                  </m:r>
                                </m:den>
                              </m:f>
                            </m:oMath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8569" marR="9856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232684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ABBD755-FE9F-204D-A7C1-835052DE0A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050913"/>
                  </p:ext>
                </p:extLst>
              </p:nvPr>
            </p:nvGraphicFramePr>
            <p:xfrm>
              <a:off x="1973616" y="2342679"/>
              <a:ext cx="9312958" cy="13716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5647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880666703"/>
                        </a:ext>
                      </a:extLst>
                    </a:gridCol>
                    <a:gridCol w="465647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9287593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Shin’s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8569" marR="9856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Helvetica Neue" panose="02000503000000020004" pitchFamily="2" charset="0"/>
                            </a:rPr>
                            <a:t>Kendal’s 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8569" marR="9856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85426864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8569" marR="9856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31" t="-50000" r="-100000" b="-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8569" marR="9856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262" t="-50000" r="-131" b="-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22326847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1051560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99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Parallelogram 𝐻𝐺𝑁𝐶 has vertices 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(5,−1)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(2,3)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(9,3)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(12,−1)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Parallelogram 𝑉𝑌𝑍𝑊 has vertices 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(−1,1.5)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(0.5,4)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𝑍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(−3,4)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(−4.5,1.5)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1270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35038" indent="-434975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Shin and Kendal are determining if parallelograms 𝐻𝐺𝑁𝐶 and 𝑉𝑌𝑍𝑊 are congruent, similar, or neither. Their work is shown.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10515600" cy="1631216"/>
              </a:xfrm>
              <a:prstGeom prst="rect">
                <a:avLst/>
              </a:prstGeom>
              <a:blipFill rotWithShape="1">
                <a:blip r:embed="rId5"/>
                <a:stretch>
                  <a:fillRect l="-464" t="-2239" r="-696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0089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7B20823-E20B-DE4F-8D3C-759D50845ECE}"/>
              </a:ext>
            </a:extLst>
          </p:cNvPr>
          <p:cNvSpPr/>
          <p:nvPr/>
        </p:nvSpPr>
        <p:spPr>
          <a:xfrm>
            <a:off x="4263336" y="2784856"/>
            <a:ext cx="4172741" cy="3539311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x-none" sz="1200" i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5B93F98-57EC-6644-931B-6E4AEB82F006}"/>
              </a:ext>
            </a:extLst>
          </p:cNvPr>
          <p:cNvSpPr/>
          <p:nvPr/>
        </p:nvSpPr>
        <p:spPr>
          <a:xfrm>
            <a:off x="1918018" y="2774188"/>
            <a:ext cx="2119630" cy="2552329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DB2B2A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eans</a:t>
            </a:r>
            <a:endParaRPr lang="x-none" sz="11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F2575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endParaRPr lang="x-none" sz="11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E9923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tart</a:t>
            </a:r>
            <a:endParaRPr lang="x-none" sz="11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FACD1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endParaRPr lang="x-none" sz="11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7BA43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cquire</a:t>
            </a:r>
            <a:endParaRPr lang="x-none" sz="11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24B7D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nowledge</a:t>
            </a:r>
            <a:endParaRPr lang="x-none" sz="11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1B74B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xperience </a:t>
            </a:r>
            <a:endParaRPr lang="x-none" sz="11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4A2B7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kills</a:t>
            </a:r>
            <a:endParaRPr lang="x-none" sz="11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515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7575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Whose work do you agree with?</a:t>
            </a:r>
          </a:p>
          <a:p>
            <a:pPr marL="917575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7575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7575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7575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7575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note to the person who is incorrect explaining their mistake. </a:t>
            </a:r>
          </a:p>
        </p:txBody>
      </p:sp>
    </p:spTree>
    <p:extLst>
      <p:ext uri="{BB962C8B-B14F-4D97-AF65-F5344CB8AC3E}">
        <p14:creationId xmlns:p14="http://schemas.microsoft.com/office/powerpoint/2010/main" val="1737170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05571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16.png" descr="Icon&#10;&#10;Description automatically generated">
            <a:extLst>
              <a:ext uri="{FF2B5EF4-FFF2-40B4-BE49-F238E27FC236}">
                <a16:creationId xmlns:a16="http://schemas.microsoft.com/office/drawing/2014/main" id="{EF541BE7-D3F9-7C4A-AEED-3DF2F9ABADCA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553427" y="2852923"/>
            <a:ext cx="1152144" cy="115214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3962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97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39979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0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13.12.4 Your Turn!</a:t>
            </a:r>
            <a:endParaRPr lang="en-US" sz="4000" b="1" dirty="0">
              <a:solidFill>
                <a:srgbClr val="E24E5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842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image16.png" descr="Icon&#10;&#10;Description automatically generated">
            <a:extLst>
              <a:ext uri="{FF2B5EF4-FFF2-40B4-BE49-F238E27FC236}">
                <a16:creationId xmlns:a16="http://schemas.microsoft.com/office/drawing/2014/main" id="{71ACB54F-8AD5-2943-84CB-AC19D492D5A6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6005" y="287945"/>
            <a:ext cx="749810" cy="74981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670775" y="1447485"/>
                <a:ext cx="10853149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table by determining if the given polygons are congruent, similar, or neither. 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𝑆𝑇𝐾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(−6,8)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(−10,5)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(−6,1)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538163">
                  <a:tabLst>
                    <a:tab pos="217488" algn="l"/>
                  </a:tabLst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𝑁𝑅𝐶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(3,7.5)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(−3,3)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3,−3</m:t>
                        </m:r>
                      </m:e>
                    </m:d>
                  </m:oMath>
                </a14:m>
                <a:endParaRPr lang="es-E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538163">
                  <a:tabLst>
                    <a:tab pos="217488" algn="l"/>
                  </a:tabLst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35038" indent="-396875">
                  <a:buFont typeface="Wingdings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Congruent</a:t>
                </a:r>
              </a:p>
              <a:p>
                <a:pPr marL="935038" indent="-396875">
                  <a:buFont typeface="Wingdings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Similar</a:t>
                </a:r>
              </a:p>
              <a:p>
                <a:pPr marL="935038" indent="-396875">
                  <a:buFont typeface="Wingdings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Neither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75" y="1447485"/>
                <a:ext cx="10853149" cy="2862322"/>
              </a:xfrm>
              <a:prstGeom prst="rect">
                <a:avLst/>
              </a:prstGeom>
              <a:blipFill rotWithShape="1">
                <a:blip r:embed="rId5"/>
                <a:stretch>
                  <a:fillRect l="-562" t="-1064" r="-393" b="-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690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78;g104476d1465_1_17"/>
          <p:cNvSpPr/>
          <p:nvPr/>
        </p:nvSpPr>
        <p:spPr>
          <a:xfrm>
            <a:off x="1497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4"/>
                <a:ext cx="10515600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Trapezoid </a:t>
                </a:r>
                <a14:m>
                  <m:oMath xmlns:m="http://schemas.openxmlformats.org/officeDocument/2006/math"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𝑀𝑃𝑊𝑌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2000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2000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W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2000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Y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4,2</m:t>
                        </m:r>
                      </m:e>
                    </m:d>
                  </m:oMath>
                </a14:m>
                <a:r>
                  <a:rPr lang="es-E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es-E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s-E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7675" indent="52388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Trapezoid </a:t>
                </a:r>
                <a14:m>
                  <m:oMath xmlns:m="http://schemas.openxmlformats.org/officeDocument/2006/math"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𝐿𝐾𝐺𝐻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−2,6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2000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G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14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−4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s-E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538163">
                  <a:tabLst>
                    <a:tab pos="217488" algn="l"/>
                  </a:tabLst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35038" indent="-396875">
                  <a:buFont typeface="Wingdings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Congruent</a:t>
                </a:r>
              </a:p>
              <a:p>
                <a:pPr marL="935038" indent="-396875">
                  <a:buFont typeface="Wingdings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Similar</a:t>
                </a:r>
              </a:p>
              <a:p>
                <a:pPr marL="935038" indent="-396875">
                  <a:buFont typeface="Wingdings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Neither</a:t>
                </a:r>
              </a:p>
              <a:p>
                <a:pPr marL="538163"/>
                <a:endParaRPr lang="en-PH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Kite </a:t>
                </a:r>
                <a14:m>
                  <m:oMath xmlns:m="http://schemas.openxmlformats.org/officeDocument/2006/math"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𝑋𝑍𝑊𝑌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−7,6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2000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Z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−6,9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2000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W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−3,10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2000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Y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−1,4</m:t>
                        </m:r>
                      </m:e>
                    </m:d>
                  </m:oMath>
                </a14:m>
                <a:r>
                  <a:rPr lang="es-E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es-E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s-E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7675" indent="52388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Kite </a:t>
                </a:r>
                <a14:m>
                  <m:oMath xmlns:m="http://schemas.openxmlformats.org/officeDocument/2006/math"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𝐹𝐺𝐷𝐾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2,3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1,6)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2000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D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2000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K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−4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s-E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538163">
                  <a:tabLst>
                    <a:tab pos="217488" algn="l"/>
                  </a:tabLst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35038" indent="-396875">
                  <a:buFont typeface="Wingdings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Congruent</a:t>
                </a:r>
              </a:p>
              <a:p>
                <a:pPr marL="935038" indent="-396875">
                  <a:buFont typeface="Wingdings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Similar</a:t>
                </a:r>
              </a:p>
              <a:p>
                <a:pPr marL="935038" indent="-396875">
                  <a:buFont typeface="Wingdings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Neither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4"/>
                <a:ext cx="10515600" cy="4708981"/>
              </a:xfrm>
              <a:prstGeom prst="rect">
                <a:avLst/>
              </a:prstGeom>
              <a:blipFill rotWithShape="1">
                <a:blip r:embed="rId4"/>
                <a:stretch>
                  <a:fillRect l="-580" t="-776" b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8814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825385" y="2565080"/>
            <a:ext cx="8466400" cy="3790007"/>
            <a:chOff x="1134800" y="2612705"/>
            <a:chExt cx="8466400" cy="3790007"/>
          </a:xfrm>
        </p:grpSpPr>
        <p:sp>
          <p:nvSpPr>
            <p:cNvPr id="16" name="Rectangle: Rounded Corners 12">
              <a:extLst>
                <a:ext uri="{FF2B5EF4-FFF2-40B4-BE49-F238E27FC236}">
                  <a16:creationId xmlns:a16="http://schemas.microsoft.com/office/drawing/2014/main" id="{E6D9592C-0514-1340-AA41-2196DCABD95D}"/>
                </a:ext>
              </a:extLst>
            </p:cNvPr>
            <p:cNvSpPr/>
            <p:nvPr/>
          </p:nvSpPr>
          <p:spPr>
            <a:xfrm>
              <a:off x="1134800" y="2612705"/>
              <a:ext cx="8466400" cy="3790007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F1EE9B2-C3AE-CA49-A1E3-93424B0661C5}"/>
                </a:ext>
              </a:extLst>
            </p:cNvPr>
            <p:cNvCxnSpPr>
              <a:cxnSpLocks/>
            </p:cNvCxnSpPr>
            <p:nvPr/>
          </p:nvCxnSpPr>
          <p:spPr>
            <a:xfrm>
              <a:off x="1322443" y="3066195"/>
              <a:ext cx="7974980" cy="1"/>
            </a:xfrm>
            <a:prstGeom prst="lin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E168092-B4C2-7549-8B85-8D9DB0E7A7A9}"/>
                </a:ext>
              </a:extLst>
            </p:cNvPr>
            <p:cNvCxnSpPr>
              <a:cxnSpLocks/>
            </p:cNvCxnSpPr>
            <p:nvPr/>
          </p:nvCxnSpPr>
          <p:spPr>
            <a:xfrm>
              <a:off x="1322443" y="3529834"/>
              <a:ext cx="7974980" cy="1"/>
            </a:xfrm>
            <a:prstGeom prst="lin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C883824-2FEE-BB48-B40E-A784ECB3CA9E}"/>
                </a:ext>
              </a:extLst>
            </p:cNvPr>
            <p:cNvCxnSpPr>
              <a:cxnSpLocks/>
            </p:cNvCxnSpPr>
            <p:nvPr/>
          </p:nvCxnSpPr>
          <p:spPr>
            <a:xfrm>
              <a:off x="1322443" y="4019231"/>
              <a:ext cx="7974980" cy="1"/>
            </a:xfrm>
            <a:prstGeom prst="lin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E06DE26-755D-6C4E-BABE-428C776357EE}"/>
                </a:ext>
              </a:extLst>
            </p:cNvPr>
            <p:cNvCxnSpPr>
              <a:cxnSpLocks/>
            </p:cNvCxnSpPr>
            <p:nvPr/>
          </p:nvCxnSpPr>
          <p:spPr>
            <a:xfrm>
              <a:off x="1322443" y="4482871"/>
              <a:ext cx="7974980" cy="1"/>
            </a:xfrm>
            <a:prstGeom prst="lin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1BD00B7-BDBC-574E-9B7E-F130DED48604}"/>
                </a:ext>
              </a:extLst>
            </p:cNvPr>
            <p:cNvCxnSpPr>
              <a:cxnSpLocks/>
            </p:cNvCxnSpPr>
            <p:nvPr/>
          </p:nvCxnSpPr>
          <p:spPr>
            <a:xfrm>
              <a:off x="1322443" y="4946510"/>
              <a:ext cx="7974980" cy="1"/>
            </a:xfrm>
            <a:prstGeom prst="lin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659B030-01CA-4A4A-AA39-1618B42E939D}"/>
                </a:ext>
              </a:extLst>
            </p:cNvPr>
            <p:cNvCxnSpPr>
              <a:cxnSpLocks/>
            </p:cNvCxnSpPr>
            <p:nvPr/>
          </p:nvCxnSpPr>
          <p:spPr>
            <a:xfrm>
              <a:off x="1322443" y="5410148"/>
              <a:ext cx="7974980" cy="1"/>
            </a:xfrm>
            <a:prstGeom prst="lin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FF3BBE6-1E4D-490F-85C9-0BFA8D31BBC5}"/>
                </a:ext>
              </a:extLst>
            </p:cNvPr>
            <p:cNvCxnSpPr>
              <a:cxnSpLocks/>
            </p:cNvCxnSpPr>
            <p:nvPr/>
          </p:nvCxnSpPr>
          <p:spPr>
            <a:xfrm>
              <a:off x="1322443" y="5872556"/>
              <a:ext cx="7974980" cy="1"/>
            </a:xfrm>
            <a:prstGeom prst="line">
              <a:avLst/>
            </a:prstGeom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4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5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52650" y="14168"/>
            <a:ext cx="1057039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13.12.5 Wrap-Up: Cool Down</a:t>
            </a:r>
          </a:p>
        </p:txBody>
      </p:sp>
      <p:pic>
        <p:nvPicPr>
          <p:cNvPr id="26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3033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7" y="1304198"/>
            <a:ext cx="109306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 friend is absent today and will need the notes from class. Write a quick note to teach them how to use coordinate geometry to justify congruence and similarity in polygons.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1527</TotalTime>
  <Words>1152</Words>
  <Application>Microsoft Macintosh PowerPoint</Application>
  <PresentationFormat>Widescreen</PresentationFormat>
  <Paragraphs>215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Calibri</vt:lpstr>
      <vt:lpstr>Arial Black</vt:lpstr>
      <vt:lpstr>Cambria Math</vt:lpstr>
      <vt:lpstr>Wingdings</vt:lpstr>
      <vt:lpstr>Verdana</vt:lpstr>
      <vt:lpstr>Arial</vt:lpstr>
      <vt:lpstr>Cambria</vt:lpstr>
      <vt:lpstr>Century Gothic</vt:lpstr>
      <vt:lpstr>1_Office Theme</vt:lpstr>
      <vt:lpstr>PowerPoint Presentation</vt:lpstr>
      <vt:lpstr>PowerPoint Presentation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31</cp:revision>
  <dcterms:created xsi:type="dcterms:W3CDTF">2015-03-17T18:51:18Z</dcterms:created>
  <dcterms:modified xsi:type="dcterms:W3CDTF">2023-03-03T17:35:22Z</dcterms:modified>
</cp:coreProperties>
</file>