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85" r:id="rId4"/>
    <p:sldId id="286" r:id="rId5"/>
    <p:sldId id="261" r:id="rId6"/>
    <p:sldId id="287" r:id="rId7"/>
    <p:sldId id="367" r:id="rId8"/>
    <p:sldId id="311" r:id="rId9"/>
    <p:sldId id="312" r:id="rId10"/>
    <p:sldId id="353" r:id="rId11"/>
    <p:sldId id="368" r:id="rId12"/>
    <p:sldId id="387" r:id="rId13"/>
    <p:sldId id="388" r:id="rId14"/>
    <p:sldId id="389" r:id="rId15"/>
    <p:sldId id="391" r:id="rId16"/>
    <p:sldId id="392" r:id="rId17"/>
    <p:sldId id="329" r:id="rId18"/>
    <p:sldId id="330" r:id="rId19"/>
    <p:sldId id="370" r:id="rId20"/>
    <p:sldId id="371" r:id="rId21"/>
    <p:sldId id="372" r:id="rId22"/>
    <p:sldId id="306" r:id="rId23"/>
    <p:sldId id="307" r:id="rId24"/>
  </p:sldIdLst>
  <p:sldSz cx="12192000" cy="6858000"/>
  <p:notesSz cx="6858000" cy="9144000"/>
  <p:embeddedFontLst>
    <p:embeddedFont>
      <p:font typeface="Arial Black" panose="020B0A04020102020204" pitchFamily="34" charset="0"/>
      <p:bold r:id="rId26"/>
    </p:embeddedFon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Cambria" panose="02040503050406030204" pitchFamily="18" charset="0"/>
      <p:regular r:id="rId31"/>
      <p:bold r:id="rId32"/>
      <p:italic r:id="rId33"/>
      <p:boldItalic r:id="rId34"/>
    </p:embeddedFont>
    <p:embeddedFont>
      <p:font typeface="Cambria Math" panose="02040503050406030204" pitchFamily="18" charset="0"/>
      <p:regular r:id="rId35"/>
    </p:embeddedFont>
    <p:embeddedFont>
      <p:font typeface="Century Gothic" panose="020B0502020202020204" pitchFamily="34" charset="0"/>
      <p:regular r:id="rId36"/>
      <p:bold r:id="rId37"/>
      <p:italic r:id="rId38"/>
      <p:boldItalic r:id="rId39"/>
    </p:embeddedFont>
    <p:embeddedFont>
      <p:font typeface="Verdana" panose="020B0604030504040204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2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BEA6"/>
    <a:srgbClr val="E45088"/>
    <a:srgbClr val="E24E5F"/>
    <a:srgbClr val="79B0DD"/>
    <a:srgbClr val="DA4487"/>
    <a:srgbClr val="276C46"/>
    <a:srgbClr val="C9DF6F"/>
    <a:srgbClr val="417DBF"/>
    <a:srgbClr val="3F2A67"/>
    <a:srgbClr val="26B7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9214" autoAdjust="0"/>
    <p:restoredTop sz="94643"/>
  </p:normalViewPr>
  <p:slideViewPr>
    <p:cSldViewPr snapToGrid="0">
      <p:cViewPr varScale="1">
        <p:scale>
          <a:sx n="82" d="100"/>
          <a:sy n="82" d="100"/>
        </p:scale>
        <p:origin x="1142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font" Target="fonts/font14.fntdata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42" Type="http://schemas.openxmlformats.org/officeDocument/2006/relationships/font" Target="fonts/font17.fntdata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font" Target="fonts/font12.fntdata"/><Relationship Id="rId40" Type="http://schemas.openxmlformats.org/officeDocument/2006/relationships/font" Target="fonts/font15.fntdata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Relationship Id="rId43" Type="http://schemas.openxmlformats.org/officeDocument/2006/relationships/font" Target="fonts/font18.fntdata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16.fntdata"/><Relationship Id="rId62" Type="http://customschemas.google.com/relationships/presentationmetadata" Target="meta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3132452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4302646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6104746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01920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007193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8737389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6852366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410905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5757573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4819657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2152278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371987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960737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3435404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microsoft.com/office/2007/relationships/hdphoto" Target="../media/hdphoto1.wdp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17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486401" y="2132869"/>
            <a:ext cx="5815782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13, Lesson 3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Determining Points on a Circle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294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4530" y="1514477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5668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272938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Benchmarks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461877"/>
            <a:ext cx="11114150" cy="47105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MA.912.GR.3.2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context, use coordinate geometry to classify or justify definitions, properties, and theorems involving circles, triangles, or quadrilaterals. 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MA.912.GR.3.3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Use coordinate geometry to solve mathematical and real-world geometric problems involving lines, circles, triangles, and quadrilaterals. </a:t>
            </a:r>
          </a:p>
          <a:p>
            <a:pPr indent="0">
              <a:buNone/>
            </a:pPr>
            <a:endParaRPr lang="en-US" sz="24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indent="0">
              <a:buSzPts val="1100"/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MA.912.GR.7.2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Given a mathematical or real-world context, derive and create the equation of a circle using key features. </a:t>
            </a:r>
          </a:p>
          <a:p>
            <a:pPr indent="0">
              <a:buNone/>
            </a:pPr>
            <a:r>
              <a:rPr lang="en-US" sz="24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495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272938" y="26653"/>
            <a:ext cx="963962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538660" y="1468809"/>
            <a:ext cx="10681224" cy="47400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 Demonstrate understanding by representing problems in multiple ways.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4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4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3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268692" y="-822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Targets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47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536683" y="1459520"/>
            <a:ext cx="11096391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determine whether a point is on a circle, in a circle, or outside a circle.  </a:t>
            </a:r>
          </a:p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find the center of a circle when given two points.</a:t>
            </a:r>
          </a:p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endParaRPr lang="en-US" sz="35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534988" indent="-528638">
              <a:buClr>
                <a:srgbClr val="434343"/>
              </a:buClr>
              <a:buSzPct val="100000"/>
              <a:buFont typeface="Wingdings" pitchFamily="2" charset="2"/>
              <a:buChar char="q"/>
            </a:pPr>
            <a:r>
              <a:rPr lang="en-US" sz="35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write the equation of a circle given the endpoints of a diameter.</a:t>
            </a:r>
          </a:p>
        </p:txBody>
      </p:sp>
      <p:sp>
        <p:nvSpPr>
          <p:cNvPr id="11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3785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80076" y="26653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13.3.1 Warm-Up: Notice and Wonder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5298" y="31585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A4C0B51D-09DC-AA4D-9C14-AE2048199B26}"/>
                  </a:ext>
                </a:extLst>
              </p:cNvPr>
              <p:cNvSpPr txBox="1"/>
              <p:nvPr/>
            </p:nvSpPr>
            <p:spPr>
              <a:xfrm>
                <a:off x="540666" y="1457697"/>
                <a:ext cx="11045279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 err="1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Castlerigg</a:t>
                </a: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Stone Circle is one of the earliest stone circles to be found in Britain and is important in terms of megalithic astronomy and geometry. It is composed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38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free standing stones, some measuring up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feet high and dating back to the Neolithic period,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4000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5000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years ago.</a:t>
                </a: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A4C0B51D-09DC-AA4D-9C14-AE2048199B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666" y="1457697"/>
                <a:ext cx="11045279" cy="1938992"/>
              </a:xfrm>
              <a:prstGeom prst="rect">
                <a:avLst/>
              </a:prstGeom>
              <a:blipFill rotWithShape="1">
                <a:blip r:embed="rId4"/>
                <a:stretch>
                  <a:fillRect l="-883" t="-2516" r="-1104" b="-597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C4B2AE6F-1398-D144-9F3B-60709C42782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15670" y="3568112"/>
            <a:ext cx="6295269" cy="2964579"/>
          </a:xfrm>
          <a:prstGeom prst="rect">
            <a:avLst/>
          </a:prstGeom>
        </p:spPr>
      </p:pic>
      <p:sp>
        <p:nvSpPr>
          <p:cNvPr id="14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283;g104476d1465_1_17"/>
          <p:cNvPicPr preferRelativeResize="0"/>
          <p:nvPr/>
        </p:nvPicPr>
        <p:blipFill>
          <a:blip r:embed="rId7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2135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C0B51D-09DC-AA4D-9C14-AE2048199B26}"/>
              </a:ext>
            </a:extLst>
          </p:cNvPr>
          <p:cNvSpPr txBox="1"/>
          <p:nvPr/>
        </p:nvSpPr>
        <p:spPr>
          <a:xfrm>
            <a:off x="539156" y="377837"/>
            <a:ext cx="7906776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notice?</a:t>
            </a: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wonder? </a:t>
            </a:r>
          </a:p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</p:txBody>
      </p:sp>
      <p:sp>
        <p:nvSpPr>
          <p:cNvPr id="7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978967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711409" y="2771719"/>
            <a:ext cx="477247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4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48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78624388-09CB-744E-9101-46220EA2EFF1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555181" y="2850886"/>
            <a:ext cx="1156228" cy="1156228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270956" y="32696"/>
            <a:ext cx="108000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13.3.2 Exploration: Points on a Circle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596874" y="1473905"/>
                <a:ext cx="10927050" cy="44781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spcAft>
                    <a:spcPts val="600"/>
                  </a:spcAft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The equation of circle 𝐻 is</a:t>
                </a:r>
                <a:r>
                  <a:rPr lang="en-US" sz="2000" dirty="0">
                    <a:ea typeface="Verdana" panose="020B0604030504040204" pitchFamily="34" charset="0"/>
                    <a:cs typeface="Verdana" panose="020B0604030504040204" pitchFamily="34" charset="0"/>
                  </a:rPr>
                  <a:t>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en-U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  <m:r>
                              <a:rPr lang="es-ES" sz="20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0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0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  <a:p>
                <a:pPr marL="935038" indent="-48101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Complete the table by substituting the given coordinates for 𝑥 and 𝑦 in the equation of circle 𝐻. Then, determine the value of the left side of the equation to complete the simplified equation in the last column. </a:t>
                </a: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935038" indent="-481013">
                  <a:buFont typeface="+mj-lt"/>
                  <a:buAutoNum type="alphaL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do you notice about the simplified equations?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74" y="1473905"/>
                <a:ext cx="10927050" cy="4478149"/>
              </a:xfrm>
              <a:prstGeom prst="rect">
                <a:avLst/>
              </a:prstGeom>
              <a:blipFill rotWithShape="1">
                <a:blip r:embed="rId3"/>
                <a:stretch>
                  <a:fillRect l="-614" t="-817" b="-1635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image10.png" descr="Icon&#10;&#10;Description automatically generated">
            <a:extLst>
              <a:ext uri="{FF2B5EF4-FFF2-40B4-BE49-F238E27FC236}">
                <a16:creationId xmlns:a16="http://schemas.microsoft.com/office/drawing/2014/main" id="{6526A3FA-721D-574F-AF52-CFDE49DF5DDB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55298" y="315853"/>
            <a:ext cx="759386" cy="759386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D18B138B-9810-634A-967C-781901F791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2172954"/>
                  </p:ext>
                </p:extLst>
              </p:nvPr>
            </p:nvGraphicFramePr>
            <p:xfrm>
              <a:off x="1706363" y="3035536"/>
              <a:ext cx="9239889" cy="216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5670">
                      <a:extLst>
                        <a:ext uri="{9D8B030D-6E8A-4147-A177-3AD203B41FA5}">
                          <a16:colId xmlns:a16="http://schemas.microsoft.com/office/drawing/2014/main" val="1346582808"/>
                        </a:ext>
                      </a:extLst>
                    </a:gridCol>
                    <a:gridCol w="3865469">
                      <a:extLst>
                        <a:ext uri="{9D8B030D-6E8A-4147-A177-3AD203B41FA5}">
                          <a16:colId xmlns:a16="http://schemas.microsoft.com/office/drawing/2014/main" val="3945237318"/>
                        </a:ext>
                      </a:extLst>
                    </a:gridCol>
                    <a:gridCol w="3028750">
                      <a:extLst>
                        <a:ext uri="{9D8B030D-6E8A-4147-A177-3AD203B41FA5}">
                          <a16:colId xmlns:a16="http://schemas.microsoft.com/office/drawing/2014/main" val="992885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Coordinate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Substitution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Simplified Equation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6888409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𝑀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(−8,−2)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_____=36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54940584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𝐵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(−3,−1)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_____=36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20834067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𝑅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(−4,−3)</m:t>
                                </m:r>
                              </m:oMath>
                            </m:oMathPara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Helvetica Neue" panose="02000503000000020004" pitchFamily="2" charset="0"/>
                                    <a:cs typeface="Helvetica Neue" panose="02000503000000020004" pitchFamily="2" charset="0"/>
                                  </a:rPr>
                                  <m:t>_____=36</m:t>
                                </m:r>
                              </m:oMath>
                            </m:oMathPara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00793426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D18B138B-9810-634A-967C-781901F7916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2172954"/>
                  </p:ext>
                </p:extLst>
              </p:nvPr>
            </p:nvGraphicFramePr>
            <p:xfrm>
              <a:off x="1706363" y="3035536"/>
              <a:ext cx="9239889" cy="216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567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346582808"/>
                        </a:ext>
                      </a:extLst>
                    </a:gridCol>
                    <a:gridCol w="386546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945237318"/>
                        </a:ext>
                      </a:extLst>
                    </a:gridCol>
                    <a:gridCol w="302875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992885624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Coordinate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Substitution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Simplified Equation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688840900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0" t="-102273" r="-293766" b="-20227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 smtClean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5231" t="-102273" b="-20227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549405843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0" t="-200000" r="-293766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5231" t="-200000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208340676"/>
                      </a:ext>
                    </a:extLst>
                  </a:tr>
                  <a:tr h="54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60" t="-303409" r="-293766" b="-11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Helvetica Neue" panose="02000503000000020004" pitchFamily="2" charset="0"/>
                              <a:cs typeface="Helvetica Neue" panose="02000503000000020004" pitchFamily="2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5"/>
                          <a:stretch>
                            <a:fillRect l="-205231" t="-303409" b="-1136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0793426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2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" name="Google Shape;283;g104476d1465_1_17"/>
          <p:cNvPicPr preferRelativeResize="0"/>
          <p:nvPr/>
        </p:nvPicPr>
        <p:blipFill>
          <a:blip r:embed="rId6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400504"/>
                <a:ext cx="8327136" cy="60016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893763" indent="-457200">
                  <a:buFont typeface="+mj-lt"/>
                  <a:buAutoNum type="alphaL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Graph circle 𝐻,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𝑥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+4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</m:ctrlPr>
                          </m:d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𝑦</m:t>
                            </m:r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Verdana" panose="020B0604030504040204" pitchFamily="34" charset="0"/>
                                <a:cs typeface="Verdana" panose="020B0604030504040204" pitchFamily="34" charset="0"/>
                              </a:rPr>
                              <m:t>−3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ea typeface="Verdana" panose="020B0604030504040204" pitchFamily="34" charset="0"/>
                            <a:cs typeface="Verdana" panose="020B0604030504040204" pitchFamily="34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Verdana" panose="020B0604030504040204" pitchFamily="34" charset="0"/>
                        <a:cs typeface="Verdana" panose="020B0604030504040204" pitchFamily="34" charset="0"/>
                      </a:rPr>
                      <m:t>=36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lphaLcPeriod" startAt="3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3763" marR="0" lvl="0" indent="-45720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+mj-lt"/>
                  <a:buAutoNum type="alphaLcPeriod" startAt="4"/>
                  <a:tabLst/>
                  <a:defRPr/>
                </a:pPr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Plot points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m:t>𝑀</m:t>
                    </m:r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m:t>(−8,−2)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,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m:t>𝐵</m:t>
                    </m:r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m:t>(−3,−1)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m:t>𝑅</m:t>
                    </m:r>
                    <m:r>
                      <a:rPr kumimoji="0" lang="en-US" sz="2400" b="0" i="1" u="none" strike="noStrike" kern="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  <a:sym typeface="Arial"/>
                      </a:rPr>
                      <m:t>(−4,−3)</m:t>
                    </m:r>
                  </m:oMath>
                </a14:m>
                <a:r>
                  <a:rPr kumimoji="0" lang="en-US" sz="2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  <a:sym typeface="Arial"/>
                  </a:rPr>
                  <a:t>.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400504"/>
                <a:ext cx="8327136" cy="6001643"/>
              </a:xfrm>
              <a:prstGeom prst="rect">
                <a:avLst/>
              </a:prstGeom>
              <a:blipFill rotWithShape="1">
                <a:blip r:embed="rId3"/>
                <a:stretch>
                  <a:fillRect t="-915" r="-586" b="-132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0F8B27C0-1C19-684B-B59E-96F7A88792B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93429" y="922129"/>
            <a:ext cx="9195773" cy="4873987"/>
          </a:xfrm>
          <a:prstGeom prst="rect">
            <a:avLst/>
          </a:prstGeom>
        </p:spPr>
      </p:pic>
      <p:sp>
        <p:nvSpPr>
          <p:cNvPr id="8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311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92793"/>
            <a:ext cx="10983358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relationship between the location of the points and their simplified equations?</a:t>
            </a:r>
          </a:p>
          <a:p>
            <a:pPr marL="893763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5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5"/>
            </a:pPr>
            <a:r>
              <a:rPr lang="en-US" sz="24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Write a conjecture about the location of a point and the equation of the circle. </a:t>
            </a:r>
          </a:p>
        </p:txBody>
      </p:sp>
      <p:sp>
        <p:nvSpPr>
          <p:cNvPr id="6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275758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483068" y="378725"/>
            <a:ext cx="1104085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93763" indent="-457200">
              <a:buFont typeface="+mj-lt"/>
              <a:buAutoNum type="alphaLcPeriod" startAt="7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Ask two classmates for their conjectures. Record their conjectures and write your summary of their conjecture. </a:t>
            </a:r>
            <a:r>
              <a:rPr lang="en-US" sz="2000" i="1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Have the person initial next to your summary stating that your summary was correct.</a:t>
            </a: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93763" indent="-457200">
              <a:buFont typeface="+mj-lt"/>
              <a:buAutoNum type="alphaLcPeriod" startAt="7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Review your conjecture with your partner. If necessary, make any changes.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0D17092-C785-1946-914A-C958C0E2CD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7764187"/>
              </p:ext>
            </p:extLst>
          </p:nvPr>
        </p:nvGraphicFramePr>
        <p:xfrm>
          <a:off x="1502485" y="1885242"/>
          <a:ext cx="9874218" cy="2876800"/>
        </p:xfrm>
        <a:graphic>
          <a:graphicData uri="http://schemas.openxmlformats.org/drawingml/2006/table">
            <a:tbl>
              <a:tblPr bandRow="1"/>
              <a:tblGrid>
                <a:gridCol w="2880000">
                  <a:extLst>
                    <a:ext uri="{9D8B030D-6E8A-4147-A177-3AD203B41FA5}">
                      <a16:colId xmlns:a16="http://schemas.microsoft.com/office/drawing/2014/main" val="2588582528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1917007616"/>
                    </a:ext>
                  </a:extLst>
                </a:gridCol>
                <a:gridCol w="1594218">
                  <a:extLst>
                    <a:ext uri="{9D8B030D-6E8A-4147-A177-3AD203B41FA5}">
                      <a16:colId xmlns:a16="http://schemas.microsoft.com/office/drawing/2014/main" val="3849308923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Conjecture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My Summary of Their Conjecture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Initials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301767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6708349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 </a:t>
                      </a:r>
                      <a:endParaRPr lang="x-none" sz="2000" dirty="0">
                        <a:effectLst/>
                        <a:latin typeface="Cambria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5432" marR="45432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34425247"/>
                  </a:ext>
                </a:extLst>
              </a:tr>
            </a:tbl>
          </a:graphicData>
        </a:graphic>
      </p:graphicFrame>
      <p:sp>
        <p:nvSpPr>
          <p:cNvPr id="7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9054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5"/>
                <a:ext cx="11087584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of circle 𝐾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+6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+</m:t>
                            </m:r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5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with points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(−6,0)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(−3,−1)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(−1,−5)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(−9,−9)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circle.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 </a:t>
                </a:r>
              </a:p>
              <a:p>
                <a:pPr marL="989013" indent="-5080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length of the diameter of circle 𝐾?</a:t>
                </a:r>
              </a:p>
              <a:p>
                <a:pPr lvl="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5"/>
                <a:ext cx="11087584" cy="1938992"/>
              </a:xfrm>
              <a:prstGeom prst="rect">
                <a:avLst/>
              </a:prstGeom>
              <a:blipFill>
                <a:blip r:embed="rId4"/>
                <a:stretch>
                  <a:fillRect l="-880" t="-28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49192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6" y="386950"/>
            <a:ext cx="1111086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22338" indent="-461963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Complete the table by finding the distance between the given points.</a:t>
            </a:r>
          </a:p>
          <a:p>
            <a:pPr marL="457200" indent="-457200">
              <a:buFont typeface="+mj-lt"/>
              <a:buAutoNum type="alphaL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Font typeface="+mj-lt"/>
              <a:buAutoNum type="alphaLcPeriod" startAt="2"/>
            </a:pPr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US" sz="24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2338" indent="-461963">
              <a:buFont typeface="+mj-lt"/>
              <a:buAutoNum type="alphaLcPeriod" startAt="3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do you notice about the distances between the points?</a:t>
            </a:r>
          </a:p>
          <a:p>
            <a:pPr marL="4603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0375"/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22338" indent="-461963">
              <a:buFont typeface="+mj-lt"/>
              <a:buAutoNum type="alphaLcPeriod" startAt="4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What can you conclude about points 𝑉 and 𝑅?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958E5AC8-D287-124D-83BC-B1278FBF7D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743761"/>
                  </p:ext>
                </p:extLst>
              </p:nvPr>
            </p:nvGraphicFramePr>
            <p:xfrm>
              <a:off x="1622864" y="972723"/>
              <a:ext cx="9508979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06160">
                      <a:extLst>
                        <a:ext uri="{9D8B030D-6E8A-4147-A177-3AD203B41FA5}">
                          <a16:colId xmlns:a16="http://schemas.microsoft.com/office/drawing/2014/main" val="1839407975"/>
                        </a:ext>
                      </a:extLst>
                    </a:gridCol>
                    <a:gridCol w="3669989">
                      <a:extLst>
                        <a:ext uri="{9D8B030D-6E8A-4147-A177-3AD203B41FA5}">
                          <a16:colId xmlns:a16="http://schemas.microsoft.com/office/drawing/2014/main" val="1765882922"/>
                        </a:ext>
                      </a:extLst>
                    </a:gridCol>
                    <a:gridCol w="2132830">
                      <a:extLst>
                        <a:ext uri="{9D8B030D-6E8A-4147-A177-3AD203B41FA5}">
                          <a16:colId xmlns:a16="http://schemas.microsoft.com/office/drawing/2014/main" val="152818888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Points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Distance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381133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𝑁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(−6,0)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(−9,−9)</m:t>
                              </m:r>
                            </m:oMath>
                          </a14:m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84066593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𝑉</m:t>
                              </m:r>
                              <m:d>
                                <m:dPr>
                                  <m:ctrlPr>
                                    <a:rPr lang="x-none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2000" i="1">
                                      <a:effectLst/>
                                      <a:latin typeface="Cambria Math" panose="02040503050406030204" pitchFamily="18" charset="0"/>
                                      <a:ea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−3,−1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(−9,−9)</m:t>
                              </m:r>
                            </m:oMath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1549260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𝑇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(−1,−5)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(−9,−9)</m:t>
                              </m:r>
                            </m:oMath>
                          </a14:m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3516907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958E5AC8-D287-124D-83BC-B1278FBF7D0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0743761"/>
                  </p:ext>
                </p:extLst>
              </p:nvPr>
            </p:nvGraphicFramePr>
            <p:xfrm>
              <a:off x="1622864" y="972723"/>
              <a:ext cx="9508979" cy="2700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70616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839407975"/>
                        </a:ext>
                      </a:extLst>
                    </a:gridCol>
                    <a:gridCol w="3669989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765882922"/>
                        </a:ext>
                      </a:extLst>
                    </a:gridCol>
                    <a:gridCol w="213283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528188882"/>
                        </a:ext>
                      </a:extLst>
                    </a:gridCol>
                  </a:tblGrid>
                  <a:tr h="540000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 smtClean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Points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Distance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43811330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75424" r="-156743" b="-2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840665938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75424" r="-156743" b="-100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154926062"/>
                      </a:ext>
                    </a:extLst>
                  </a:tr>
                  <a:tr h="7200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75424" r="-156743" b="-84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14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8580" marR="68580" marT="0" marB="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3516907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014114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6"/>
                <a:ext cx="10983358" cy="56671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𝑊 has a radius of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radPr>
                      <m:deg/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29</m:t>
                        </m:r>
                      </m:e>
                    </m:rad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points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𝑆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(2,−2)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𝐷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(5,1)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(12,−6)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495300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which two points are the endpoints of a diameter of circle 𝑊. Show your work. </a:t>
                </a:r>
              </a:p>
              <a:p>
                <a:pPr marL="989013" indent="-4953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495300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4953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Describe how to find the center of the circle using the two endpoints of the diameter.</a:t>
                </a:r>
              </a:p>
              <a:p>
                <a:pPr marL="989013" indent="-4953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4953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4953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What is the center of the circle?</a:t>
                </a:r>
              </a:p>
              <a:p>
                <a:pPr marL="989013" indent="-4953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495300">
                  <a:buFont typeface="+mj-lt"/>
                  <a:buAutoNum type="alphaLcPeriod" startAt="2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89013" indent="-495300">
                  <a:buFont typeface="+mj-lt"/>
                  <a:buAutoNum type="alphaL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for circle 𝑊.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6"/>
                <a:ext cx="10983358" cy="5667129"/>
              </a:xfrm>
              <a:prstGeom prst="rect">
                <a:avLst/>
              </a:prstGeom>
              <a:blipFill>
                <a:blip r:embed="rId4"/>
                <a:stretch>
                  <a:fillRect l="-888" t="-430" r="-611" b="-13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5387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378725"/>
                <a:ext cx="11087584" cy="120032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4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points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𝐺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(3, −1)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(3, 3)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the endpoints of a diameter of circle 𝑀. Write the equation of circle 𝑀.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378725"/>
                <a:ext cx="11087584" cy="1200329"/>
              </a:xfrm>
              <a:prstGeom prst="rect">
                <a:avLst/>
              </a:prstGeom>
              <a:blipFill>
                <a:blip r:embed="rId4"/>
                <a:stretch>
                  <a:fillRect l="-880" t="-45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506106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13199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07437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" name="image13.png" descr="Icon&#10;&#10;Description automatically generated">
            <a:extLst>
              <a:ext uri="{FF2B5EF4-FFF2-40B4-BE49-F238E27FC236}">
                <a16:creationId xmlns:a16="http://schemas.microsoft.com/office/drawing/2014/main" id="{B9EA0DAF-59F8-964A-BAE9-72341232A3AB}"/>
              </a:ext>
            </a:extLst>
          </p:cNvPr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28259" y="2843779"/>
            <a:ext cx="1152144" cy="1152144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5606589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10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267038" y="-1667"/>
            <a:ext cx="9607870" cy="140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13.3.3 Try It: Points on a Circle</a:t>
            </a:r>
            <a:endParaRPr lang="en-US" sz="3600" b="1" dirty="0">
              <a:solidFill>
                <a:srgbClr val="33BEA6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32442" y="1468997"/>
                <a:ext cx="8357482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of circle 𝑃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−8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2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=13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2442" y="1468997"/>
                <a:ext cx="8357482" cy="461665"/>
              </a:xfrm>
              <a:prstGeom prst="rect">
                <a:avLst/>
              </a:prstGeom>
              <a:blipFill rotWithShape="1">
                <a:blip r:embed="rId3"/>
                <a:stretch>
                  <a:fillRect l="-1094" t="-11842" b="-28947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image13.png" descr="Icon&#10;&#10;Description automatically generated">
            <a:extLst>
              <a:ext uri="{FF2B5EF4-FFF2-40B4-BE49-F238E27FC236}">
                <a16:creationId xmlns:a16="http://schemas.microsoft.com/office/drawing/2014/main" id="{C013199C-CD22-ED4A-9ADE-0ED7D1D5059C}"/>
              </a:ext>
            </a:extLst>
          </p:cNvPr>
          <p:cNvPicPr/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4875" y="325430"/>
            <a:ext cx="749809" cy="749809"/>
          </a:xfrm>
          <a:prstGeom prst="rect">
            <a:avLst/>
          </a:prstGeom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0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3998569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072B931-6E26-CA4F-96C2-AE05819E73D6}"/>
              </a:ext>
            </a:extLst>
          </p:cNvPr>
          <p:cNvSpPr txBox="1"/>
          <p:nvPr/>
        </p:nvSpPr>
        <p:spPr>
          <a:xfrm>
            <a:off x="534904" y="277140"/>
            <a:ext cx="10800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73075"/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Determine whether the following points lie inside, outside, or on circle 𝑃.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id="{B5878DE1-2E0F-1243-BB47-BE2C60F35A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8018414"/>
                  </p:ext>
                </p:extLst>
              </p:nvPr>
            </p:nvGraphicFramePr>
            <p:xfrm>
              <a:off x="1238433" y="849354"/>
              <a:ext cx="9392942" cy="5423538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89815">
                      <a:extLst>
                        <a:ext uri="{9D8B030D-6E8A-4147-A177-3AD203B41FA5}">
                          <a16:colId xmlns:a16="http://schemas.microsoft.com/office/drawing/2014/main" val="2508964245"/>
                        </a:ext>
                      </a:extLst>
                    </a:gridCol>
                    <a:gridCol w="3710416">
                      <a:extLst>
                        <a:ext uri="{9D8B030D-6E8A-4147-A177-3AD203B41FA5}">
                          <a16:colId xmlns:a16="http://schemas.microsoft.com/office/drawing/2014/main" val="1198091198"/>
                        </a:ext>
                      </a:extLst>
                    </a:gridCol>
                    <a:gridCol w="3792711">
                      <a:extLst>
                        <a:ext uri="{9D8B030D-6E8A-4147-A177-3AD203B41FA5}">
                          <a16:colId xmlns:a16="http://schemas.microsoft.com/office/drawing/2014/main" val="3503534863"/>
                        </a:ext>
                      </a:extLst>
                    </a:gridCol>
                  </a:tblGrid>
                  <a:tr h="312611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Point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Location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083806360"/>
                      </a:ext>
                    </a:extLst>
                  </a:tr>
                  <a:tr h="99813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 smtClean="0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(5,−1)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4025514979"/>
                      </a:ext>
                    </a:extLst>
                  </a:tr>
                  <a:tr h="9981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(6,5)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63853517"/>
                      </a:ext>
                    </a:extLst>
                  </a:tr>
                  <a:tr h="9981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(12,2)</m:t>
                                </m:r>
                              </m:oMath>
                            </m:oMathPara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303226062"/>
                      </a:ext>
                    </a:extLst>
                  </a:tr>
                  <a:tr h="9981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(11,0)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387306087"/>
                      </a:ext>
                    </a:extLst>
                  </a:tr>
                  <a:tr h="998132">
                    <a:tc>
                      <a:txBody>
                        <a:bodyPr/>
                        <a:lstStyle/>
                        <a:p>
                          <a:pPr marL="0" marR="0" algn="ctr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(9,4)</m:t>
                                </m:r>
                              </m:oMath>
                            </m:oMathPara>
                          </a14:m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Inside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Outside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marL="342900" marR="0" lvl="0" indent="-34290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Font typeface="Courier New" panose="02070309020205020404" pitchFamily="49" charset="0"/>
                            <a:buChar char="o"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On circle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𝑃</m:t>
                              </m:r>
                            </m:oMath>
                          </a14:m>
                          <a:endParaRPr lang="x-none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2035765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4" name="Table 13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B5878DE1-2E0F-1243-BB47-BE2C60F35AC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8018414"/>
                  </p:ext>
                </p:extLst>
              </p:nvPr>
            </p:nvGraphicFramePr>
            <p:xfrm>
              <a:off x="1238433" y="849354"/>
              <a:ext cx="9392942" cy="560832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889815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508964245"/>
                        </a:ext>
                      </a:extLst>
                    </a:gridCol>
                    <a:gridCol w="3710416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1198091198"/>
                        </a:ext>
                      </a:extLst>
                    </a:gridCol>
                    <a:gridCol w="3792711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3503534863"/>
                        </a:ext>
                      </a:extLst>
                    </a:gridCol>
                  </a:tblGrid>
                  <a:tr h="350520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Point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Work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Location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083806360"/>
                      </a:ext>
                    </a:extLst>
                  </a:tr>
                  <a:tr h="1051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9535" r="-397097" b="-41453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7749" t="-39535" b="-41453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4025514979"/>
                      </a:ext>
                    </a:extLst>
                  </a:tr>
                  <a:tr h="1051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138728" r="-397097" b="-3121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7749" t="-138728" b="-3121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863853517"/>
                      </a:ext>
                    </a:extLst>
                  </a:tr>
                  <a:tr h="1051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240116" r="-397097" b="-2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7749" t="-240116" b="-2139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303226062"/>
                      </a:ext>
                    </a:extLst>
                  </a:tr>
                  <a:tr h="1051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338150" r="-397097" b="-11271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7749" t="-338150" b="-11271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2387306087"/>
                      </a:ext>
                    </a:extLst>
                  </a:tr>
                  <a:tr h="10515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t="-440698" r="-397097" b="-133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 </a:t>
                          </a:r>
                          <a:endParaRPr lang="x-none" sz="200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1121" marR="61121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7749" t="-440698" b="-1337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32035765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0973234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30096" y="425275"/>
                <a:ext cx="1049375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𝑇 and circle 𝑅 intersect at point 𝐻.</a:t>
                </a:r>
              </a:p>
              <a:p>
                <a:pPr indent="7620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Equation of circle 𝑇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−7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=20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indent="762000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Equation of circle 𝑅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𝑥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−7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dPr>
                          <m:e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𝑦</m:t>
                            </m:r>
                            <m:r>
                              <a:rPr lang="en-U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−</m:t>
                            </m:r>
                            <m:r>
                              <a:rPr lang="es-ES" sz="2400" i="1" dirty="0">
                                <a:latin typeface="Cambria Math" panose="02040503050406030204" pitchFamily="18" charset="0"/>
                                <a:ea typeface="Times New Roman" panose="02020603050405020304" pitchFamily="18" charset="0"/>
                                <a:cs typeface="Times New Roman" panose="02020603050405020304" pitchFamily="18" charset="0"/>
                              </a:rPr>
                              <m:t>3</m:t>
                            </m:r>
                          </m:e>
                        </m:d>
                      </m:e>
                      <m:sup>
                        <m:r>
                          <a:rPr lang="es-ES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=25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928688" indent="-455613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Which coordinate pair is the location of point 𝐻?</a:t>
                </a:r>
              </a:p>
              <a:p>
                <a:pPr marL="1382713" indent="-45402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(−4,</m:t>
                    </m:r>
                    <m:r>
                      <a:rPr lang="en-US" sz="2400" b="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5)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82713" indent="-45402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(7,</m:t>
                    </m:r>
                    <m:r>
                      <a:rPr lang="en-US" sz="2400" b="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8)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82713" indent="-45402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(2,</m:t>
                    </m:r>
                    <m:r>
                      <a:rPr lang="en-US" sz="2400" b="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3)</m:t>
                    </m:r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382713" indent="-454025">
                  <a:buFont typeface="Courier New" panose="02070309020205020404" pitchFamily="49" charset="0"/>
                  <a:buChar char="o"/>
                </a:pP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(4,</m:t>
                    </m:r>
                    <m:r>
                      <a:rPr lang="en-US" sz="2400" b="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9)</m:t>
                    </m:r>
                  </m:oMath>
                </a14:m>
                <a:endParaRPr lang="en-US" sz="28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96" y="425275"/>
                <a:ext cx="10493755" cy="3416320"/>
              </a:xfrm>
              <a:prstGeom prst="rect">
                <a:avLst/>
              </a:prstGeom>
              <a:blipFill rotWithShape="1">
                <a:blip r:embed="rId3"/>
                <a:stretch>
                  <a:fillRect l="-930" t="-1607" b="-3571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66679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669E00F9-F39F-5043-888E-B0A2D8C9AE0F}"/>
                  </a:ext>
                </a:extLst>
              </p:cNvPr>
              <p:cNvSpPr txBox="1"/>
              <p:nvPr/>
            </p:nvSpPr>
            <p:spPr>
              <a:xfrm>
                <a:off x="547998" y="411208"/>
                <a:ext cx="11009811" cy="52629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Circle 𝑆 has a radius of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and points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𝐹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(−6,−6)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(8,8)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(10,2)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  <m:r>
                      <a:rPr lang="en-US" sz="2400" i="1" dirty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(−8,−4)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on the circle.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4132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Determine which two of the given points are endpoints of a diameter of circle 𝑆.</a:t>
                </a:r>
              </a:p>
              <a:p>
                <a:pPr marL="895350" indent="-4413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413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413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4132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Find the center of circle 𝑆.</a:t>
                </a:r>
              </a:p>
              <a:p>
                <a:pPr marL="895350" indent="-4413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413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41325">
                  <a:buFont typeface="+mj-lt"/>
                  <a:buAutoNum type="alphaLcPeriod"/>
                </a:pPr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895350" indent="-441325">
                  <a:buFont typeface="+mj-lt"/>
                  <a:buAutoNum type="alphaL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the equation of circle 𝑆. 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669E00F9-F39F-5043-888E-B0A2D8C9AE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998" y="411208"/>
                <a:ext cx="11009811" cy="5262979"/>
              </a:xfrm>
              <a:prstGeom prst="rect">
                <a:avLst/>
              </a:prstGeom>
              <a:blipFill rotWithShape="1">
                <a:blip r:embed="rId3"/>
                <a:stretch>
                  <a:fillRect l="-886" t="-1042" r="-1329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360497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E45088"/>
          </a:solidFill>
          <a:ln w="9525" cap="flat" cmpd="sng">
            <a:solidFill>
              <a:srgbClr val="E45088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266273" y="36230"/>
            <a:ext cx="1051228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13.3.4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7384" y="32543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93247" y="1397035"/>
                <a:ext cx="10512287" cy="35055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The equation of circle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  <a:cs typeface="Times New Roman" panose="02020603050405020304" pitchFamily="18" charset="0"/>
                      </a:rPr>
                      <m:t>+</m:t>
                    </m:r>
                    <m:sSup>
                      <m:sSupPr>
                        <m:ctrlPr>
                          <a:rPr lang="en-US" sz="24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(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+4)</m:t>
                        </m:r>
                      </m:e>
                      <m:sup>
                        <m:r>
                          <a:rPr lang="en-US" sz="2400" b="0" i="1" dirty="0" smtClean="0">
                            <a:latin typeface="Cambria Math"/>
                            <a:cs typeface="Times New Roman" panose="020206030504050203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dirty="0" smtClean="0">
                        <a:latin typeface="Cambria Math"/>
                        <a:cs typeface="Times New Roman" panose="02020603050405020304" pitchFamily="18" charset="0"/>
                      </a:rPr>
                      <m:t>=26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lvl="0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33400" indent="-4763"/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Select all the points that lie on circle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pPr indent="360363"/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82675" indent="-500063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3,0</m:t>
                        </m:r>
                      </m:e>
                    </m:d>
                  </m:oMath>
                </a14:m>
                <a:endParaRPr lang="es-ES" sz="2400" dirty="0">
                  <a:latin typeface="Verdana" panose="020B0604030504040204" pitchFamily="34" charset="0"/>
                  <a:cs typeface="Times New Roman" panose="02020603050405020304" pitchFamily="18" charset="0"/>
                </a:endParaRPr>
              </a:p>
              <a:p>
                <a:pPr marL="1082675" indent="-500063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5,−3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82675" indent="-500063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1,</m:t>
                        </m:r>
                        <m:r>
                          <a:rPr lang="en-US" sz="2400" b="0" i="1" smtClean="0">
                            <a:latin typeface="Cambria Math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82675" indent="-500063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−3,−2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1082675" indent="-500063">
                  <a:buFont typeface="Wingdings" pitchFamily="2" charset="2"/>
                  <a:buChar char="q"/>
                </a:pP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s-ES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−5,−5</m:t>
                        </m:r>
                      </m:e>
                    </m:d>
                  </m:oMath>
                </a14:m>
                <a:endParaRPr lang="en-US" sz="2400" dirty="0">
                  <a:latin typeface="Verdana" panose="020B0604030504040204" pitchFamily="34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:a14="http://schemas.microsoft.com/office/drawing/2010/main" xmlns="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247" y="1397035"/>
                <a:ext cx="10512287" cy="3505511"/>
              </a:xfrm>
              <a:prstGeom prst="rect">
                <a:avLst/>
              </a:prstGeom>
              <a:blipFill rotWithShape="1">
                <a:blip r:embed="rId4"/>
                <a:stretch>
                  <a:fillRect l="-870" t="-1565" b="-174"/>
                </a:stretch>
              </a:blipFill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Google Shape;282;g104476d1465_1_17"/>
          <p:cNvSpPr txBox="1"/>
          <p:nvPr/>
        </p:nvSpPr>
        <p:spPr>
          <a:xfrm>
            <a:off x="8819584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299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283;g104476d1465_1_17"/>
          <p:cNvPicPr preferRelativeResize="0"/>
          <p:nvPr/>
        </p:nvPicPr>
        <p:blipFill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57810" y="613026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1589</TotalTime>
  <Words>1265</Words>
  <Application>Microsoft Office PowerPoint</Application>
  <PresentationFormat>Widescreen</PresentationFormat>
  <Paragraphs>269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3" baseType="lpstr">
      <vt:lpstr>Calibri</vt:lpstr>
      <vt:lpstr>Arial</vt:lpstr>
      <vt:lpstr>Cambria Math</vt:lpstr>
      <vt:lpstr>Century Gothic</vt:lpstr>
      <vt:lpstr>Cambria</vt:lpstr>
      <vt:lpstr>Wingdings</vt:lpstr>
      <vt:lpstr>Verdana</vt:lpstr>
      <vt:lpstr>Courier New</vt:lpstr>
      <vt:lpstr>Arial Black</vt:lpstr>
      <vt:lpstr>1_Office Theme</vt:lpstr>
      <vt:lpstr>Geometry  Unit 13, Lesson 3  Determining Points on a Circle  Volume 2, pg. 294  </vt:lpstr>
      <vt:lpstr>Benchmarks</vt:lpstr>
      <vt:lpstr>PowerPoint Presentation</vt:lpstr>
      <vt:lpstr>PowerPoint Presentation</vt:lpstr>
      <vt:lpstr>Warm-Up</vt:lpstr>
      <vt:lpstr>PowerPoint Presentation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32</cp:revision>
  <dcterms:created xsi:type="dcterms:W3CDTF">2015-03-17T18:51:18Z</dcterms:created>
  <dcterms:modified xsi:type="dcterms:W3CDTF">2023-03-02T21:58:44Z</dcterms:modified>
</cp:coreProperties>
</file>