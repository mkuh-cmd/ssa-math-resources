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85" r:id="rId4"/>
    <p:sldId id="286" r:id="rId5"/>
    <p:sldId id="261" r:id="rId6"/>
    <p:sldId id="287" r:id="rId7"/>
    <p:sldId id="367" r:id="rId8"/>
    <p:sldId id="311" r:id="rId9"/>
    <p:sldId id="312" r:id="rId10"/>
    <p:sldId id="353" r:id="rId11"/>
    <p:sldId id="368" r:id="rId12"/>
    <p:sldId id="387" r:id="rId13"/>
    <p:sldId id="388" r:id="rId14"/>
    <p:sldId id="389" r:id="rId15"/>
    <p:sldId id="390" r:id="rId16"/>
    <p:sldId id="391" r:id="rId17"/>
    <p:sldId id="329" r:id="rId18"/>
    <p:sldId id="330" r:id="rId19"/>
    <p:sldId id="370" r:id="rId20"/>
    <p:sldId id="371" r:id="rId21"/>
    <p:sldId id="372" r:id="rId22"/>
    <p:sldId id="373" r:id="rId23"/>
    <p:sldId id="374" r:id="rId24"/>
    <p:sldId id="398" r:id="rId25"/>
    <p:sldId id="399" r:id="rId26"/>
    <p:sldId id="400" r:id="rId27"/>
    <p:sldId id="403" r:id="rId28"/>
    <p:sldId id="401" r:id="rId29"/>
    <p:sldId id="393" r:id="rId30"/>
    <p:sldId id="394" r:id="rId31"/>
    <p:sldId id="397" r:id="rId32"/>
    <p:sldId id="385" r:id="rId33"/>
    <p:sldId id="386" r:id="rId34"/>
    <p:sldId id="306" r:id="rId35"/>
    <p:sldId id="307" r:id="rId36"/>
  </p:sldIdLst>
  <p:sldSz cx="12192000" cy="6858000"/>
  <p:notesSz cx="6858000" cy="9144000"/>
  <p:embeddedFontLst>
    <p:embeddedFont>
      <p:font typeface="Arial Black" panose="020B0A04020102020204" pitchFamily="34" charset="0"/>
      <p:bold r:id="rId38"/>
    </p:embeddedFont>
    <p:embeddedFont>
      <p:font typeface="Calibri" panose="020F0502020204030204" pitchFamily="34" charset="0"/>
      <p:regular r:id="rId39"/>
      <p:bold r:id="rId40"/>
      <p:italic r:id="rId41"/>
      <p:boldItalic r:id="rId42"/>
    </p:embeddedFont>
    <p:embeddedFont>
      <p:font typeface="Cambria" panose="02040503050406030204" pitchFamily="18" charset="0"/>
      <p:regular r:id="rId43"/>
      <p:bold r:id="rId44"/>
      <p:italic r:id="rId45"/>
      <p:boldItalic r:id="rId46"/>
    </p:embeddedFont>
    <p:embeddedFont>
      <p:font typeface="Cambria Math" panose="02040503050406030204" pitchFamily="18" charset="0"/>
      <p:regular r:id="rId47"/>
    </p:embeddedFont>
    <p:embeddedFont>
      <p:font typeface="Century Gothic" panose="020B0502020202020204" pitchFamily="34"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E45088"/>
    <a:srgbClr val="33BEA6"/>
    <a:srgbClr val="79B0DD"/>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4648"/>
  </p:normalViewPr>
  <p:slideViewPr>
    <p:cSldViewPr snapToGrid="0">
      <p:cViewPr varScale="1">
        <p:scale>
          <a:sx n="82" d="100"/>
          <a:sy n="82" d="100"/>
        </p:scale>
        <p:origin x="691"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66"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978800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743026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06019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00719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87373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68523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320407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124109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4960737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034354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154368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018124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501052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362369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340689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340689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4231807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3768319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2461226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385935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871493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26921035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0.png"/><Relationship Id="rId4" Type="http://schemas.openxmlformats.org/officeDocument/2006/relationships/hyperlink" Target="https://freesvg.org/vbue-justice-scale-image" TargetMode="External"/><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jpe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2.jpe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9.tiff"/><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50.tiff"/></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8.xml"/><Relationship Id="rId5" Type="http://schemas.openxmlformats.org/officeDocument/2006/relationships/image" Target="../media/image53.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54.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Weighted Averages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306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9;g104476d1465_1_17"/>
          <p:cNvSpPr txBox="1">
            <a:spLocks/>
          </p:cNvSpPr>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223646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MA.912.GR.3.1</a:t>
            </a:r>
          </a:p>
          <a:p>
            <a:pPr indent="0">
              <a:buNone/>
            </a:pPr>
            <a:r>
              <a:rPr lang="en-US" sz="3500" dirty="0">
                <a:solidFill>
                  <a:schemeClr val="tx1"/>
                </a:solidFill>
                <a:latin typeface="Verdana"/>
                <a:ea typeface="Verdana"/>
                <a:cs typeface="Verdana"/>
                <a:sym typeface="Verdana"/>
              </a:rPr>
              <a:t>Determine the weighted average of two or more points on a line. </a:t>
            </a:r>
          </a:p>
          <a:p>
            <a:pPr indent="0">
              <a:buNone/>
            </a:pPr>
            <a:r>
              <a:rPr lang="en-US" sz="3500" dirty="0">
                <a:solidFill>
                  <a:schemeClr val="tx1"/>
                </a:solidFill>
                <a:latin typeface="Verdana"/>
                <a:ea typeface="Verdana"/>
                <a:cs typeface="Verdana"/>
                <a:sym typeface="Verdana"/>
              </a:rPr>
              <a:t> </a:t>
            </a:r>
          </a:p>
        </p:txBody>
      </p:sp>
      <p:sp>
        <p:nvSpPr>
          <p:cNvPr id="12"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BCBDA1BA-1A31-F841-8D71-9CA2E864C519}"/>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sp>
        <p:nvSpPr>
          <p:cNvPr id="10"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t>
            </a:r>
            <a:br>
              <a:rPr lang="en-US" sz="3000" b="1" dirty="0">
                <a:solidFill>
                  <a:srgbClr val="54B5D1"/>
                </a:solidFill>
                <a:latin typeface="Verdana"/>
                <a:ea typeface="Verdana"/>
                <a:cs typeface="Verdana"/>
                <a:sym typeface="Verdana"/>
              </a:rPr>
            </a:br>
            <a:r>
              <a:rPr lang="en-US" sz="3000" b="1" dirty="0">
                <a:solidFill>
                  <a:srgbClr val="54B5D1"/>
                </a:solidFill>
                <a:latin typeface="Verdana"/>
                <a:ea typeface="Verdana"/>
                <a:cs typeface="Verdana"/>
                <a:sym typeface="Verdana"/>
              </a:rPr>
              <a:t>and Reasoning Standards</a:t>
            </a:r>
          </a:p>
        </p:txBody>
      </p:sp>
      <p:pic>
        <p:nvPicPr>
          <p:cNvPr id="12" name="Google Shape;281;g104476d1465_1_17"/>
          <p:cNvPicPr preferRelativeResize="0"/>
          <p:nvPr/>
        </p:nvPicPr>
        <p:blipFill>
          <a:blip r:embed="rId3">
            <a:alphaModFix/>
          </a:blip>
          <a:stretch>
            <a:fillRect/>
          </a:stretch>
        </p:blipFill>
        <p:spPr>
          <a:xfrm>
            <a:off x="411480" y="418867"/>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51"/>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a:extLst>
              <a:ext uri="{FF2B5EF4-FFF2-40B4-BE49-F238E27FC236}">
                <a16:creationId xmlns:a16="http://schemas.microsoft.com/office/drawing/2014/main" id="{2CE09C99-2A7A-4642-81C4-47A479DC694E}"/>
              </a:ext>
            </a:extLst>
          </p:cNvPr>
          <p:cNvSpPr txBox="1"/>
          <p:nvPr/>
        </p:nvSpPr>
        <p:spPr>
          <a:xfrm>
            <a:off x="8889924" y="64650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Clr>
                <a:srgbClr val="434343"/>
              </a:buClr>
              <a:buSzPct val="100000"/>
              <a:buFont typeface="Wingdings" pitchFamily="2" charset="2"/>
              <a:buChar char="q"/>
            </a:pPr>
            <a:r>
              <a:rPr lang="en-US" sz="3600" dirty="0">
                <a:solidFill>
                  <a:schemeClr val="tx1"/>
                </a:solidFill>
                <a:latin typeface="Verdana"/>
                <a:ea typeface="Verdana"/>
                <a:cs typeface="Verdana"/>
                <a:sym typeface="Verdana"/>
              </a:rPr>
              <a:t>I can determine the weighted average of two or more points on a line.  </a:t>
            </a:r>
          </a:p>
          <a:p>
            <a:pPr marL="685800" indent="-685800">
              <a:buClr>
                <a:srgbClr val="434343"/>
              </a:buClr>
              <a:buSzPct val="100000"/>
              <a:buFont typeface="Wingdings" pitchFamily="2" charset="2"/>
              <a:buChar char="q"/>
            </a:pPr>
            <a:endParaRPr lang="en-US" sz="3600" dirty="0">
              <a:solidFill>
                <a:schemeClr val="tx1"/>
              </a:solidFill>
              <a:latin typeface="Verdana"/>
              <a:ea typeface="Verdana"/>
              <a:cs typeface="Verdana"/>
              <a:sym typeface="Verdana"/>
            </a:endParaRPr>
          </a:p>
          <a:p>
            <a:pPr marL="685800" indent="-685800">
              <a:buClr>
                <a:srgbClr val="434343"/>
              </a:buClr>
              <a:buSzPct val="100000"/>
              <a:buFont typeface="Wingdings" pitchFamily="2" charset="2"/>
              <a:buChar char="q"/>
            </a:pPr>
            <a:r>
              <a:rPr lang="en-US" sz="3600" dirty="0">
                <a:solidFill>
                  <a:schemeClr val="tx1"/>
                </a:solidFill>
                <a:latin typeface="Verdana"/>
                <a:ea typeface="Verdana"/>
                <a:cs typeface="Verdana"/>
                <a:sym typeface="Verdana"/>
              </a:rPr>
              <a:t>I can explain how changing the weight moves the weighted average of points.</a:t>
            </a:r>
          </a:p>
        </p:txBody>
      </p:sp>
      <p:sp>
        <p:nvSpPr>
          <p:cNvPr id="13"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5"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11480" y="319860"/>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17BBDB14-F43F-3F42-9C2D-99752E20A39C}"/>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D1AE0D26-BB07-DE4B-AFB3-A469C86BF2EB}"/>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24;g103996e1364_0_25">
            <a:extLst>
              <a:ext uri="{FF2B5EF4-FFF2-40B4-BE49-F238E27FC236}">
                <a16:creationId xmlns:a16="http://schemas.microsoft.com/office/drawing/2014/main" id="{DB5796CA-12EB-BB4C-8338-B127D750A026}"/>
              </a:ext>
            </a:extLst>
          </p:cNvPr>
          <p:cNvSpPr txBox="1">
            <a:spLocks/>
          </p:cNvSpPr>
          <p:nvPr/>
        </p:nvSpPr>
        <p:spPr>
          <a:xfrm>
            <a:off x="1142999" y="26391"/>
            <a:ext cx="10669509"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13.5.1 Warm-Up: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Between Two Numbers</a:t>
            </a:r>
          </a:p>
        </p:txBody>
      </p:sp>
      <p:pic>
        <p:nvPicPr>
          <p:cNvPr id="14"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1D7562E-134F-D14B-AF1A-DF40E11EF758}"/>
                  </a:ext>
                </a:extLst>
              </p:cNvPr>
              <p:cNvSpPr txBox="1"/>
              <p:nvPr/>
            </p:nvSpPr>
            <p:spPr>
              <a:xfrm>
                <a:off x="914399" y="1386024"/>
                <a:ext cx="10616185"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stock exchange, or stock market, is a system for buying and selling bonds, securities, or stocks. A stock is a share in the ownership of a company. NASDAQ is short for National Association of Securities Dealers Automated Quotations, which is the world's largest electronic stock exchange. Each company that is traded has an abbreviation of one to four letters.</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Jaxon’s grandmother bought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 shares of Netflix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 shares of Apple for him when he was born on March 29, 2003. She paid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$1.37</m:t>
                    </m:r>
                  </m:oMath>
                </a14:m>
                <a:r>
                  <a:rPr lang="en-US" sz="2000" dirty="0">
                    <a:latin typeface="Verdana" panose="020B0604030504040204" pitchFamily="34" charset="0"/>
                    <a:ea typeface="Verdana" panose="020B0604030504040204" pitchFamily="34" charset="0"/>
                    <a:cs typeface="Verdana" panose="020B0604030504040204" pitchFamily="34" charset="0"/>
                  </a:rPr>
                  <a:t> per share for Netflix (NASDAQ: NFLX) and paid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$0.21</m:t>
                    </m:r>
                  </m:oMath>
                </a14:m>
                <a:r>
                  <a:rPr lang="en-US" sz="2000" dirty="0">
                    <a:latin typeface="Verdana" panose="020B0604030504040204" pitchFamily="34" charset="0"/>
                    <a:ea typeface="Verdana" panose="020B0604030504040204" pitchFamily="34" charset="0"/>
                    <a:cs typeface="Verdana" panose="020B0604030504040204" pitchFamily="34" charset="0"/>
                  </a:rPr>
                  <a:t> per share for Apple (NASDAQ: AAPL).</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On Jaxon’s 18</a:t>
                </a:r>
                <a:r>
                  <a:rPr lang="en-US" sz="2000" baseline="30000" dirty="0">
                    <a:latin typeface="Verdana" panose="020B0604030504040204" pitchFamily="34" charset="0"/>
                    <a:ea typeface="Verdana" panose="020B0604030504040204" pitchFamily="34" charset="0"/>
                    <a:cs typeface="Verdana" panose="020B0604030504040204" pitchFamily="34" charset="0"/>
                  </a:rPr>
                  <a:t>th</a:t>
                </a:r>
                <a:r>
                  <a:rPr lang="en-US" sz="2000" dirty="0">
                    <a:latin typeface="Verdana" panose="020B0604030504040204" pitchFamily="34" charset="0"/>
                    <a:ea typeface="Verdana" panose="020B0604030504040204" pitchFamily="34" charset="0"/>
                    <a:cs typeface="Verdana" panose="020B0604030504040204" pitchFamily="34" charset="0"/>
                  </a:rPr>
                  <a:t> birthday, Netflix’s stock price was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$513.95</m:t>
                    </m:r>
                  </m:oMath>
                </a14:m>
                <a:r>
                  <a:rPr lang="en-US" sz="2000" dirty="0">
                    <a:latin typeface="Verdana" panose="020B0604030504040204" pitchFamily="34" charset="0"/>
                    <a:ea typeface="Verdana" panose="020B0604030504040204" pitchFamily="34" charset="0"/>
                    <a:cs typeface="Verdana" panose="020B0604030504040204" pitchFamily="34" charset="0"/>
                  </a:rPr>
                  <a:t> and Apple’s stock price was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$121.39</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5" name="TextBox 14">
                <a:extLst>
                  <a:ext uri="{FF2B5EF4-FFF2-40B4-BE49-F238E27FC236}">
                    <a16:creationId xmlns="" xmlns:a16="http://schemas.microsoft.com/office/drawing/2014/main" xmlns:a14="http://schemas.microsoft.com/office/drawing/2010/main" id="{E1D7562E-134F-D14B-AF1A-DF40E11EF758}"/>
                  </a:ext>
                </a:extLst>
              </p:cNvPr>
              <p:cNvSpPr txBox="1">
                <a:spLocks noRot="1" noChangeAspect="1" noMove="1" noResize="1" noEditPoints="1" noAdjustHandles="1" noChangeArrowheads="1" noChangeShapeType="1" noTextEdit="1"/>
              </p:cNvSpPr>
              <p:nvPr/>
            </p:nvSpPr>
            <p:spPr>
              <a:xfrm>
                <a:off x="914399" y="1386024"/>
                <a:ext cx="10616185" cy="3785652"/>
              </a:xfrm>
              <a:prstGeom prst="rect">
                <a:avLst/>
              </a:prstGeom>
              <a:blipFill rotWithShape="1">
                <a:blip r:embed="rId5"/>
                <a:stretch>
                  <a:fillRect l="-574" t="-805" b="-1932"/>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2802"/>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FFD6D459-41EA-F54F-A153-BCA566EE3EE9}"/>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AC160AC5-3014-894B-9440-6D63BEA81342}"/>
              </a:ext>
            </a:extLst>
          </p:cNvPr>
          <p:cNvGraphicFramePr>
            <a:graphicFrameLocks noGrp="1"/>
          </p:cNvGraphicFramePr>
          <p:nvPr>
            <p:extLst>
              <p:ext uri="{D42A27DB-BD31-4B8C-83A1-F6EECF244321}">
                <p14:modId xmlns:p14="http://schemas.microsoft.com/office/powerpoint/2010/main" val="337970813"/>
              </p:ext>
            </p:extLst>
          </p:nvPr>
        </p:nvGraphicFramePr>
        <p:xfrm>
          <a:off x="1488348" y="3555920"/>
          <a:ext cx="8391536" cy="1371600"/>
        </p:xfrm>
        <a:graphic>
          <a:graphicData uri="http://schemas.openxmlformats.org/drawingml/2006/table">
            <a:tbl>
              <a:tblPr firstRow="1" firstCol="1" bandRow="1"/>
              <a:tblGrid>
                <a:gridCol w="1878911">
                  <a:extLst>
                    <a:ext uri="{9D8B030D-6E8A-4147-A177-3AD203B41FA5}">
                      <a16:colId xmlns:a16="http://schemas.microsoft.com/office/drawing/2014/main" val="995562770"/>
                    </a:ext>
                  </a:extLst>
                </a:gridCol>
                <a:gridCol w="6512625">
                  <a:extLst>
                    <a:ext uri="{9D8B030D-6E8A-4147-A177-3AD203B41FA5}">
                      <a16:colId xmlns:a16="http://schemas.microsoft.com/office/drawing/2014/main" val="126684649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Stock</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Decimal Equivalent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4090940112"/>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Apple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9525220"/>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Netflix</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626206"/>
                  </a:ext>
                </a:extLst>
              </a:tr>
            </a:tbl>
          </a:graphicData>
        </a:graphic>
      </p:graphicFrame>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A392D8-3ED3-7940-83A8-1451AA8A08D4}"/>
                  </a:ext>
                </a:extLst>
              </p:cNvPr>
              <p:cNvSpPr txBox="1"/>
              <p:nvPr/>
            </p:nvSpPr>
            <p:spPr>
              <a:xfrm>
                <a:off x="914400" y="520394"/>
                <a:ext cx="10515600" cy="28623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much were the stocks worth on Jaxon’s 18th birthday?</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stock price history of Netflix shows that at one point the stock had increased in worth by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45,000%</m:t>
                    </m:r>
                  </m:oMath>
                </a14:m>
                <a:r>
                  <a:rPr lang="en-US" sz="2000" dirty="0">
                    <a:latin typeface="Verdana" panose="020B0604030504040204" pitchFamily="34" charset="0"/>
                    <a:ea typeface="Verdana" panose="020B0604030504040204" pitchFamily="34" charset="0"/>
                    <a:cs typeface="Verdana" panose="020B0604030504040204" pitchFamily="34" charset="0"/>
                  </a:rPr>
                  <a:t>, and Apple stock had increased in worth by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140,000%</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decimal equivalent of each percentage increase.</a:t>
                </a:r>
              </a:p>
            </p:txBody>
          </p:sp>
        </mc:Choice>
        <mc:Fallback xmlns="">
          <p:sp>
            <p:nvSpPr>
              <p:cNvPr id="8" name="TextBox 7">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2862322"/>
              </a:xfrm>
              <a:prstGeom prst="rect">
                <a:avLst/>
              </a:prstGeom>
              <a:blipFill rotWithShape="1">
                <a:blip r:embed="rId4"/>
                <a:stretch>
                  <a:fillRect l="-580" t="-1277" b="-2766"/>
                </a:stretch>
              </a:blipFill>
            </p:spPr>
            <p:txBody>
              <a:bodyPr/>
              <a:lstStyle/>
              <a:p>
                <a:r>
                  <a:rPr lang="en-US">
                    <a:noFill/>
                  </a:rPr>
                  <a:t> </a:t>
                </a:r>
              </a:p>
            </p:txBody>
          </p:sp>
        </mc:Fallback>
      </mc:AlternateContent>
    </p:spTree>
    <p:extLst>
      <p:ext uri="{BB962C8B-B14F-4D97-AF65-F5344CB8AC3E}">
        <p14:creationId xmlns:p14="http://schemas.microsoft.com/office/powerpoint/2010/main" val="99789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711409" y="2766145"/>
            <a:ext cx="4772476"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5400" b="1" dirty="0">
                <a:solidFill>
                  <a:srgbClr val="33BEA6"/>
                </a:solidFill>
                <a:latin typeface="Verdana"/>
                <a:ea typeface="Verdana"/>
                <a:cs typeface="Verdana"/>
                <a:sym typeface="Verdana"/>
              </a:rPr>
              <a:t>Exploration</a:t>
            </a:r>
            <a:endParaRPr sz="48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FA13319E-DA3B-3E44-8EF7-BEF50B5A8B4C}"/>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9" name="image29.png" descr="Icon&#10;&#10;Description automatically generated">
            <a:extLst>
              <a:ext uri="{FF2B5EF4-FFF2-40B4-BE49-F238E27FC236}">
                <a16:creationId xmlns:a16="http://schemas.microsoft.com/office/drawing/2014/main" id="{EB2BD422-48E6-474C-9B4D-0C3E27728131}"/>
              </a:ext>
            </a:extLst>
          </p:cNvPr>
          <p:cNvPicPr/>
          <p:nvPr/>
        </p:nvPicPr>
        <p:blipFill>
          <a:blip r:embed="rId3"/>
          <a:srcRect/>
          <a:stretch>
            <a:fillRect/>
          </a:stretch>
        </p:blipFill>
        <p:spPr>
          <a:xfrm>
            <a:off x="4555181" y="2850881"/>
            <a:ext cx="1156229" cy="1156229"/>
          </a:xfrm>
          <a:prstGeom prst="rect">
            <a:avLst/>
          </a:prstGeom>
          <a:ln/>
          <a:effectLst>
            <a:outerShdw blurRad="50800" dist="38100" dir="2700000" algn="tl" rotWithShape="0">
              <a:prstClr val="black">
                <a:alpha val="40000"/>
              </a:prstClr>
            </a:outerShdw>
          </a:effec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19688" y="5210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13.5.2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Exploring Weighted Averages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6874" y="1519469"/>
                <a:ext cx="9520520"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number line is shown. Each grid space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unit.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midpoint of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𝐻𝑀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label it 𝐵.</a:t>
                </a:r>
              </a:p>
            </p:txBody>
          </p:sp>
        </mc:Choice>
        <mc:Fallback xmlns="">
          <p:sp>
            <p:nvSpPr>
              <p:cNvPr id="10" name="TextBox 9">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596874" y="1519469"/>
                <a:ext cx="9520520" cy="2677656"/>
              </a:xfrm>
              <a:prstGeom prst="rect">
                <a:avLst/>
              </a:prstGeom>
              <a:blipFill rotWithShape="1">
                <a:blip r:embed="rId3"/>
                <a:stretch>
                  <a:fillRect l="-1024" t="-2045" b="-4091"/>
                </a:stretch>
              </a:blipFill>
            </p:spPr>
            <p:txBody>
              <a:bodyPr/>
              <a:lstStyle/>
              <a:p>
                <a:r>
                  <a:rPr lang="en-US">
                    <a:noFill/>
                  </a:rPr>
                  <a:t> </a:t>
                </a:r>
              </a:p>
            </p:txBody>
          </p:sp>
        </mc:Fallback>
      </mc:AlternateContent>
      <p:sp>
        <p:nvSpPr>
          <p:cNvPr id="24" name="Google Shape;282;g104476d1465_1_17">
            <a:extLst>
              <a:ext uri="{FF2B5EF4-FFF2-40B4-BE49-F238E27FC236}">
                <a16:creationId xmlns:a16="http://schemas.microsoft.com/office/drawing/2014/main" id="{3413C27D-0588-F545-8DFB-B739BB65964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9" name="image29.png" descr="Icon&#10;&#10;Description automatically generated">
            <a:extLst>
              <a:ext uri="{FF2B5EF4-FFF2-40B4-BE49-F238E27FC236}">
                <a16:creationId xmlns:a16="http://schemas.microsoft.com/office/drawing/2014/main" id="{CA0588F3-DAD2-674A-94B6-87236F63C865}"/>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26483" y="335868"/>
            <a:ext cx="758164" cy="758164"/>
          </a:xfrm>
          <a:prstGeom prst="rect">
            <a:avLst/>
          </a:prstGeom>
          <a:ln/>
          <a:effectLst>
            <a:outerShdw blurRad="50800" dist="38100" dir="2700000" algn="tl" rotWithShape="0">
              <a:prstClr val="black">
                <a:alpha val="40000"/>
              </a:prstClr>
            </a:outerShdw>
          </a:effectLst>
        </p:spPr>
      </p:pic>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2" name="Picture 1">
            <a:extLst>
              <a:ext uri="{FF2B5EF4-FFF2-40B4-BE49-F238E27FC236}">
                <a16:creationId xmlns:a16="http://schemas.microsoft.com/office/drawing/2014/main" id="{F37F4479-43DE-8A95-13BA-9CB993B4DC0C}"/>
              </a:ext>
            </a:extLst>
          </p:cNvPr>
          <p:cNvPicPr>
            <a:picLocks noChangeAspect="1"/>
          </p:cNvPicPr>
          <p:nvPr/>
        </p:nvPicPr>
        <p:blipFill>
          <a:blip r:embed="rId6"/>
          <a:stretch>
            <a:fillRect/>
          </a:stretch>
        </p:blipFill>
        <p:spPr>
          <a:xfrm>
            <a:off x="1669079" y="2348588"/>
            <a:ext cx="9085485" cy="959208"/>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6" name="TextBox 15">
            <a:extLst>
              <a:ext uri="{FF2B5EF4-FFF2-40B4-BE49-F238E27FC236}">
                <a16:creationId xmlns:a16="http://schemas.microsoft.com/office/drawing/2014/main" id="{2FA392D8-3ED3-7940-83A8-1451AA8A08D4}"/>
              </a:ext>
            </a:extLst>
          </p:cNvPr>
          <p:cNvSpPr txBox="1"/>
          <p:nvPr/>
        </p:nvSpPr>
        <p:spPr>
          <a:xfrm>
            <a:off x="914400" y="520394"/>
            <a:ext cx="8486775" cy="4093428"/>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Assuming that points 𝐻 and 𝑀 have the same weight, the diagram represents how points 𝐻, 𝐵, and 𝑀 are in balance.</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why point 𝐵 acts as a point of balance. Summarize your discussion. </a:t>
            </a: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Keyshawn told his partner that if the scale is drawn where the scale is centered on point 𝐾, then point 𝐻 would be higher than point 𝑀. Describe or draw what would have to be done to balance the scale when it is centered at point 𝐾. </a:t>
            </a:r>
          </a:p>
        </p:txBody>
      </p:sp>
      <p:sp>
        <p:nvSpPr>
          <p:cNvPr id="278" name="Google Shape;278;g104476d1465_1_17"/>
          <p:cNvSpPr/>
          <p:nvPr/>
        </p:nvSpPr>
        <p:spPr>
          <a:xfrm>
            <a:off x="-3338"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0A9699B5-6480-D045-8CAF-9E1FEA3A0EE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grpSp>
        <p:nvGrpSpPr>
          <p:cNvPr id="2" name="Group 1"/>
          <p:cNvGrpSpPr/>
          <p:nvPr/>
        </p:nvGrpSpPr>
        <p:grpSpPr>
          <a:xfrm>
            <a:off x="9911334" y="415168"/>
            <a:ext cx="1619250" cy="1619250"/>
            <a:chOff x="6858962" y="415168"/>
            <a:chExt cx="1619250" cy="1619250"/>
          </a:xfrm>
        </p:grpSpPr>
        <p:pic>
          <p:nvPicPr>
            <p:cNvPr id="6" name="Picture 5">
              <a:extLst>
                <a:ext uri="{FF2B5EF4-FFF2-40B4-BE49-F238E27FC236}">
                  <a16:creationId xmlns:a16="http://schemas.microsoft.com/office/drawing/2014/main" id="{E1B2AC36-5AD4-8748-8AAF-AFFE2C5D2A1E}"/>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6858962" y="415168"/>
              <a:ext cx="1619250" cy="1619250"/>
            </a:xfrm>
            <a:prstGeom prst="rect">
              <a:avLst/>
            </a:prstGeom>
          </p:spPr>
        </p:pic>
        <p:grpSp>
          <p:nvGrpSpPr>
            <p:cNvPr id="8" name="Group 7">
              <a:extLst>
                <a:ext uri="{FF2B5EF4-FFF2-40B4-BE49-F238E27FC236}">
                  <a16:creationId xmlns:a16="http://schemas.microsoft.com/office/drawing/2014/main" id="{8B851AD5-CCD8-DC42-BAE6-2DED0FE2B4D3}"/>
                </a:ext>
              </a:extLst>
            </p:cNvPr>
            <p:cNvGrpSpPr/>
            <p:nvPr/>
          </p:nvGrpSpPr>
          <p:grpSpPr>
            <a:xfrm>
              <a:off x="7030412" y="824744"/>
              <a:ext cx="1276350" cy="400050"/>
              <a:chOff x="0" y="47625"/>
              <a:chExt cx="1276350" cy="400050"/>
            </a:xfrm>
          </p:grpSpPr>
          <mc:AlternateContent xmlns:mc="http://schemas.openxmlformats.org/markup-compatibility/2006" xmlns:a14="http://schemas.microsoft.com/office/drawing/2010/main">
            <mc:Choice Requires="a14">
              <p:sp>
                <p:nvSpPr>
                  <p:cNvPr id="9" name="Text Box 2">
                    <a:extLst>
                      <a:ext uri="{FF2B5EF4-FFF2-40B4-BE49-F238E27FC236}">
                        <a16:creationId xmlns:a16="http://schemas.microsoft.com/office/drawing/2014/main" id="{E8AFEBFF-47A0-4D4C-BF59-40993CF3FAD3}"/>
                      </a:ext>
                    </a:extLst>
                  </p:cNvPr>
                  <p:cNvSpPr txBox="1">
                    <a:spLocks noChangeArrowheads="1"/>
                  </p:cNvSpPr>
                  <p:nvPr/>
                </p:nvSpPr>
                <p:spPr bwMode="auto">
                  <a:xfrm>
                    <a:off x="0" y="47625"/>
                    <a:ext cx="438150" cy="400050"/>
                  </a:xfrm>
                  <a:prstGeom prst="rect">
                    <a:avLst/>
                  </a:prstGeom>
                  <a:noFill/>
                  <a:ln w="9525">
                    <a:noFill/>
                    <a:miter lim="800000"/>
                    <a:headEnd/>
                    <a:tailEnd/>
                  </a:ln>
                </p:spPr>
                <p:txBody>
                  <a:bodyPr rot="0" vert="horz" wrap="square" lIns="91440" tIns="45720" rIns="91440" bIns="45720" anchor="t" anchorCtr="0">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ea typeface="Times New Roman" panose="02020603050405020304" pitchFamily="18" charset="0"/>
                              <a:cs typeface="Times New Roman" panose="02020603050405020304" pitchFamily="18" charset="0"/>
                            </a:rPr>
                            <m:t>𝑯</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2">
                    <a:extLst>
                      <a:ext uri="{FF2B5EF4-FFF2-40B4-BE49-F238E27FC236}">
                        <a16:creationId xmlns:a16="http://schemas.microsoft.com/office/drawing/2014/main" id="{E8AFEBFF-47A0-4D4C-BF59-40993CF3FAD3}"/>
                      </a:ext>
                    </a:extLst>
                  </p:cNvPr>
                  <p:cNvSpPr txBox="1">
                    <a:spLocks noRot="1" noChangeAspect="1" noMove="1" noResize="1" noEditPoints="1" noAdjustHandles="1" noChangeArrowheads="1" noChangeShapeType="1" noTextEdit="1"/>
                  </p:cNvSpPr>
                  <p:nvPr/>
                </p:nvSpPr>
                <p:spPr bwMode="auto">
                  <a:xfrm>
                    <a:off x="0" y="47625"/>
                    <a:ext cx="438150" cy="400050"/>
                  </a:xfrm>
                  <a:prstGeom prst="rect">
                    <a:avLst/>
                  </a:prstGeom>
                  <a:blipFill>
                    <a:blip r:embed="rId6"/>
                    <a:stretch>
                      <a:fillRect/>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0" name="Text Box 2">
                    <a:extLst>
                      <a:ext uri="{FF2B5EF4-FFF2-40B4-BE49-F238E27FC236}">
                        <a16:creationId xmlns:a16="http://schemas.microsoft.com/office/drawing/2014/main" id="{D552AD8F-1724-7140-B698-B48C0DEABB8B}"/>
                      </a:ext>
                    </a:extLst>
                  </p:cNvPr>
                  <p:cNvSpPr txBox="1">
                    <a:spLocks noChangeArrowheads="1"/>
                  </p:cNvSpPr>
                  <p:nvPr/>
                </p:nvSpPr>
                <p:spPr bwMode="auto">
                  <a:xfrm>
                    <a:off x="895350" y="47625"/>
                    <a:ext cx="381000" cy="352425"/>
                  </a:xfrm>
                  <a:prstGeom prst="rect">
                    <a:avLst/>
                  </a:prstGeom>
                  <a:noFill/>
                  <a:ln w="9525">
                    <a:noFill/>
                    <a:miter lim="800000"/>
                    <a:headEnd/>
                    <a:tailEnd/>
                  </a:ln>
                </p:spPr>
                <p:txBody>
                  <a:bodyPr rot="0" vert="horz" wrap="square" lIns="91440" tIns="45720" rIns="91440" bIns="45720" anchor="t" anchorCtr="0">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ea typeface="Times New Roman" panose="02020603050405020304" pitchFamily="18" charset="0"/>
                              <a:cs typeface="Times New Roman" panose="02020603050405020304" pitchFamily="18" charset="0"/>
                            </a:rPr>
                            <m:t>𝑴</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2">
                    <a:extLst>
                      <a:ext uri="{FF2B5EF4-FFF2-40B4-BE49-F238E27FC236}">
                        <a16:creationId xmlns:a16="http://schemas.microsoft.com/office/drawing/2014/main" id="{D552AD8F-1724-7140-B698-B48C0DEABB8B}"/>
                      </a:ext>
                    </a:extLst>
                  </p:cNvPr>
                  <p:cNvSpPr txBox="1">
                    <a:spLocks noRot="1" noChangeAspect="1" noMove="1" noResize="1" noEditPoints="1" noAdjustHandles="1" noChangeArrowheads="1" noChangeShapeType="1" noTextEdit="1"/>
                  </p:cNvSpPr>
                  <p:nvPr/>
                </p:nvSpPr>
                <p:spPr bwMode="auto">
                  <a:xfrm>
                    <a:off x="895350" y="47625"/>
                    <a:ext cx="381000" cy="352425"/>
                  </a:xfrm>
                  <a:prstGeom prst="rect">
                    <a:avLst/>
                  </a:prstGeom>
                  <a:blipFill>
                    <a:blip r:embed="rId7"/>
                    <a:stretch>
                      <a:fillRect/>
                    </a:stretch>
                  </a:blipFill>
                  <a:ln w="9525">
                    <a:noFill/>
                    <a:miter lim="800000"/>
                    <a:headEnd/>
                    <a:tailEnd/>
                  </a:ln>
                </p:spPr>
                <p:txBody>
                  <a:bodyPr/>
                  <a:lstStyle/>
                  <a:p>
                    <a:r>
                      <a:rPr lang="en-CO">
                        <a:noFill/>
                      </a:rPr>
                      <a:t> </a:t>
                    </a:r>
                  </a:p>
                </p:txBody>
              </p:sp>
            </mc:Fallback>
          </mc:AlternateContent>
        </p:grpSp>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A1ABAFA0-7982-0E47-9B2E-9A74249C6326}"/>
                    </a:ext>
                  </a:extLst>
                </p:cNvPr>
                <p:cNvSpPr txBox="1">
                  <a:spLocks noChangeArrowheads="1"/>
                </p:cNvSpPr>
                <p:nvPr/>
              </p:nvSpPr>
              <p:spPr bwMode="auto">
                <a:xfrm>
                  <a:off x="7453322" y="645674"/>
                  <a:ext cx="438150" cy="400050"/>
                </a:xfrm>
                <a:prstGeom prst="rect">
                  <a:avLst/>
                </a:prstGeom>
                <a:solidFill>
                  <a:schemeClr val="bg1"/>
                </a:solidFill>
                <a:ln w="9525">
                  <a:noFill/>
                  <a:miter lim="800000"/>
                  <a:headEnd/>
                  <a:tailEnd/>
                </a:ln>
              </p:spPr>
              <p:txBody>
                <a:bodyPr rot="0" vert="horz" wrap="square" lIns="91440" tIns="45720" rIns="91440" bIns="45720" anchor="t" anchorCtr="0">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ea typeface="Times New Roman" panose="02020603050405020304" pitchFamily="18" charset="0"/>
                            <a:cs typeface="Times New Roman" panose="02020603050405020304" pitchFamily="18" charset="0"/>
                          </a:rPr>
                          <m:t>𝑩</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2">
                  <a:extLst>
                    <a:ext uri="{FF2B5EF4-FFF2-40B4-BE49-F238E27FC236}">
                      <a16:creationId xmlns:a16="http://schemas.microsoft.com/office/drawing/2014/main" xmlns:a14="http://schemas.microsoft.com/office/drawing/2010/main" xmlns="" id="{A1ABAFA0-7982-0E47-9B2E-9A74249C6326}"/>
                    </a:ext>
                  </a:extLst>
                </p:cNvPr>
                <p:cNvSpPr txBox="1">
                  <a:spLocks noRot="1" noChangeAspect="1" noMove="1" noResize="1" noEditPoints="1" noAdjustHandles="1" noChangeArrowheads="1" noChangeShapeType="1" noTextEdit="1"/>
                </p:cNvSpPr>
                <p:nvPr/>
              </p:nvSpPr>
              <p:spPr bwMode="auto">
                <a:xfrm>
                  <a:off x="7453322" y="645674"/>
                  <a:ext cx="438150" cy="400050"/>
                </a:xfrm>
                <a:prstGeom prst="rect">
                  <a:avLst/>
                </a:prstGeom>
                <a:blipFill rotWithShape="1">
                  <a:blip r:embed="rId8"/>
                  <a:stretch>
                    <a:fillRect/>
                  </a:stretch>
                </a:blipFill>
                <a:ln w="9525">
                  <a:noFill/>
                  <a:miter lim="800000"/>
                  <a:headEnd/>
                  <a:tailEnd/>
                </a:ln>
              </p:spPr>
              <p:txBody>
                <a:bodyPr/>
                <a:lstStyle/>
                <a:p>
                  <a:r>
                    <a:rPr lang="en-US">
                      <a:noFill/>
                    </a:rPr>
                    <a:t> </a:t>
                  </a:r>
                </a:p>
              </p:txBody>
            </p:sp>
          </mc:Fallback>
        </mc:AlternateContent>
      </p:grpSp>
      <p:pic>
        <p:nvPicPr>
          <p:cNvPr id="15"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731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A392D8-3ED3-7940-83A8-1451AA8A08D4}"/>
                  </a:ext>
                </a:extLst>
              </p:cNvPr>
              <p:cNvSpPr txBox="1"/>
              <p:nvPr/>
            </p:nvSpPr>
            <p:spPr>
              <a:xfrm>
                <a:off x="914400" y="520394"/>
                <a:ext cx="10515600" cy="3765903"/>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The ratio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𝐻𝐾</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𝐾𝑀</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which can be written as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3</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ratio,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3</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used to</a:t>
                </a:r>
              </a:p>
              <a:p>
                <a:pPr lvl="0">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the location of point 𝐾 using the steps shown.</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point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𝐻</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point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𝑀</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9</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15</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24</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The ratio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3</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was used to find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4</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4</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by noting that the ratio indicates there are a total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parts. To balance at point 𝐾, point 𝐻 would be “heavier” than point 𝑀, so it is weighted 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the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parts with point 𝑀 weighted 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the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parts. </a:t>
                </a:r>
              </a:p>
            </p:txBody>
          </p:sp>
        </mc:Choice>
        <mc:Fallback xmlns="">
          <p:sp>
            <p:nvSpPr>
              <p:cNvPr id="7" name="TextBox 6">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3765903"/>
              </a:xfrm>
              <a:prstGeom prst="rect">
                <a:avLst/>
              </a:prstGeom>
              <a:blipFill rotWithShape="1">
                <a:blip r:embed="rId4"/>
                <a:stretch>
                  <a:fillRect l="-580" r="-696" b="-324"/>
                </a:stretch>
              </a:blipFill>
            </p:spPr>
            <p:txBody>
              <a:bodyPr/>
              <a:lstStyle/>
              <a:p>
                <a:r>
                  <a:rPr lang="en-US">
                    <a:noFill/>
                  </a:rPr>
                  <a:t> </a:t>
                </a:r>
              </a:p>
            </p:txBody>
          </p:sp>
        </mc:Fallback>
      </mc:AlternateContent>
    </p:spTree>
    <p:extLst>
      <p:ext uri="{BB962C8B-B14F-4D97-AF65-F5344CB8AC3E}">
        <p14:creationId xmlns:p14="http://schemas.microsoft.com/office/powerpoint/2010/main" val="5275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914400" y="520394"/>
                <a:ext cx="10515600" cy="526297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Point 𝑇 has coordinates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(2, 4)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𝑀 has coordinates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midpoint of line segment 𝑇𝑀?</a:t>
                </a:r>
              </a:p>
            </p:txBody>
          </p:sp>
        </mc:Choice>
        <mc:Fallback xmlns="">
          <p:sp>
            <p:nvSpPr>
              <p:cNvPr id="11" name="TextBox 10">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5262979"/>
              </a:xfrm>
              <a:prstGeom prst="rect">
                <a:avLst/>
              </a:prstGeom>
              <a:blipFill rotWithShape="1">
                <a:blip r:embed="rId3"/>
                <a:stretch>
                  <a:fillRect l="-870" t="-1042" r="-754" b="-1620"/>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id="{D8F343FB-54DE-8645-AF92-769CE83CD9C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621661" y="1311559"/>
            <a:ext cx="5101078" cy="3680648"/>
          </a:xfrm>
          <a:prstGeom prst="rect">
            <a:avLst/>
          </a:prstGeom>
        </p:spPr>
      </p:pic>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905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515600" cy="4524315"/>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how the table shows the process of finding the midpoint.</a:t>
            </a:r>
          </a:p>
        </p:txBody>
      </p:sp>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658FB0C-333A-2748-BE40-6355E88C06E9}"/>
                  </a:ext>
                </a:extLst>
              </p:cNvPr>
              <p:cNvGraphicFramePr>
                <a:graphicFrameLocks noGrp="1"/>
              </p:cNvGraphicFramePr>
              <p:nvPr>
                <p:extLst>
                  <p:ext uri="{D42A27DB-BD31-4B8C-83A1-F6EECF244321}">
                    <p14:modId xmlns:p14="http://schemas.microsoft.com/office/powerpoint/2010/main" val="2144194155"/>
                  </p:ext>
                </p:extLst>
              </p:nvPr>
            </p:nvGraphicFramePr>
            <p:xfrm>
              <a:off x="2005016" y="1169468"/>
              <a:ext cx="7931652" cy="2743200"/>
            </p:xfrm>
            <a:graphic>
              <a:graphicData uri="http://schemas.openxmlformats.org/drawingml/2006/table">
                <a:tbl>
                  <a:tblPr firstRow="1" firstCol="1" bandRow="1"/>
                  <a:tblGrid>
                    <a:gridCol w="2602203">
                      <a:extLst>
                        <a:ext uri="{9D8B030D-6E8A-4147-A177-3AD203B41FA5}">
                          <a16:colId xmlns:a16="http://schemas.microsoft.com/office/drawing/2014/main" val="1033404250"/>
                        </a:ext>
                      </a:extLst>
                    </a:gridCol>
                    <a:gridCol w="2664354">
                      <a:extLst>
                        <a:ext uri="{9D8B030D-6E8A-4147-A177-3AD203B41FA5}">
                          <a16:colId xmlns:a16="http://schemas.microsoft.com/office/drawing/2014/main" val="1335569778"/>
                        </a:ext>
                      </a:extLst>
                    </a:gridCol>
                    <a:gridCol w="2665095">
                      <a:extLst>
                        <a:ext uri="{9D8B030D-6E8A-4147-A177-3AD203B41FA5}">
                          <a16:colId xmlns:a16="http://schemas.microsoft.com/office/drawing/2014/main" val="286183226"/>
                        </a:ext>
                      </a:extLst>
                    </a:gridCol>
                  </a:tblGrid>
                  <a:tr h="6858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𝒙</m:t>
                              </m:r>
                            </m:oMath>
                          </a14:m>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-value</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𝒚</m:t>
                              </m:r>
                            </m:oMath>
                          </a14:m>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-value</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45643558"/>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𝑻</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𝟐</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 </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𝟒</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462009"/>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𝑴</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𝟖</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 </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𝟏</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338080"/>
                      </a:ext>
                    </a:extLst>
                  </a:tr>
                  <a:tr h="6858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Total</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6159155"/>
                      </a:ext>
                    </a:extLst>
                  </a:tr>
                </a:tbl>
              </a:graphicData>
            </a:graphic>
          </p:graphicFrame>
        </mc:Choice>
        <mc:Fallback xmlns="">
          <p:graphicFrame>
            <p:nvGraphicFramePr>
              <p:cNvPr id="3" name="Table 2">
                <a:extLst>
                  <a:ext uri="{FF2B5EF4-FFF2-40B4-BE49-F238E27FC236}">
                    <a16:creationId xmlns="" xmlns:a16="http://schemas.microsoft.com/office/drawing/2014/main" xmlns:a14="http://schemas.microsoft.com/office/drawing/2010/main" id="{9658FB0C-333A-2748-BE40-6355E88C06E9}"/>
                  </a:ext>
                </a:extLst>
              </p:cNvPr>
              <p:cNvGraphicFramePr>
                <a:graphicFrameLocks noGrp="1"/>
              </p:cNvGraphicFramePr>
              <p:nvPr>
                <p:extLst>
                  <p:ext uri="{D42A27DB-BD31-4B8C-83A1-F6EECF244321}">
                    <p14:modId xmlns:p14="http://schemas.microsoft.com/office/powerpoint/2010/main" val="2144194155"/>
                  </p:ext>
                </p:extLst>
              </p:nvPr>
            </p:nvGraphicFramePr>
            <p:xfrm>
              <a:off x="2005016" y="1169468"/>
              <a:ext cx="7931652" cy="2743200"/>
            </p:xfrm>
            <a:graphic>
              <a:graphicData uri="http://schemas.openxmlformats.org/drawingml/2006/table">
                <a:tbl>
                  <a:tblPr firstRow="1" firstCol="1" bandRow="1"/>
                  <a:tblGrid>
                    <a:gridCol w="2602203">
                      <a:extLst>
                        <a:ext uri="{9D8B030D-6E8A-4147-A177-3AD203B41FA5}">
                          <a16:colId xmlns="" xmlns:a16="http://schemas.microsoft.com/office/drawing/2014/main" xmlns:a14="http://schemas.microsoft.com/office/drawing/2010/main" val="1033404250"/>
                        </a:ext>
                      </a:extLst>
                    </a:gridCol>
                    <a:gridCol w="2664354">
                      <a:extLst>
                        <a:ext uri="{9D8B030D-6E8A-4147-A177-3AD203B41FA5}">
                          <a16:colId xmlns="" xmlns:a16="http://schemas.microsoft.com/office/drawing/2014/main" xmlns:a14="http://schemas.microsoft.com/office/drawing/2010/main" val="1335569778"/>
                        </a:ext>
                      </a:extLst>
                    </a:gridCol>
                    <a:gridCol w="2665095">
                      <a:extLst>
                        <a:ext uri="{9D8B030D-6E8A-4147-A177-3AD203B41FA5}">
                          <a16:colId xmlns="" xmlns:a16="http://schemas.microsoft.com/office/drawing/2014/main" xmlns:a14="http://schemas.microsoft.com/office/drawing/2010/main" val="286183226"/>
                        </a:ext>
                      </a:extLst>
                    </a:gridCol>
                  </a:tblGrid>
                  <a:tr h="6858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7941" t="-885" r="-100229" b="-298230"/>
                          </a:stretch>
                        </a:blip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941" t="-885" r="-229" b="-298230"/>
                          </a:stretch>
                        </a:blipFill>
                      </a:tcPr>
                    </a:tc>
                    <a:extLst>
                      <a:ext uri="{0D108BD9-81ED-4DB2-BD59-A6C34878D82A}">
                        <a16:rowId xmlns="" xmlns:a16="http://schemas.microsoft.com/office/drawing/2014/main" xmlns:a14="http://schemas.microsoft.com/office/drawing/2010/main" val="3045643558"/>
                      </a:ext>
                    </a:extLst>
                  </a:tr>
                  <a:tr h="685800">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4" t="-101786" r="-204918" b="-200893"/>
                          </a:stretch>
                        </a:blip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7941" t="-101786" r="-100229" b="-200893"/>
                          </a:stretch>
                        </a:blip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941" t="-101786" r="-229" b="-200893"/>
                          </a:stretch>
                        </a:blipFill>
                      </a:tcPr>
                    </a:tc>
                    <a:extLst>
                      <a:ext uri="{0D108BD9-81ED-4DB2-BD59-A6C34878D82A}">
                        <a16:rowId xmlns="" xmlns:a16="http://schemas.microsoft.com/office/drawing/2014/main" xmlns:a14="http://schemas.microsoft.com/office/drawing/2010/main" val="4087462009"/>
                      </a:ext>
                    </a:extLst>
                  </a:tr>
                  <a:tr h="685800">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4" t="-200000" r="-204918" b="-99115"/>
                          </a:stretch>
                        </a:blip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7941" t="-200000" r="-100229" b="-99115"/>
                          </a:stretch>
                        </a:blipFill>
                      </a:tcPr>
                    </a:tc>
                    <a:tc>
                      <a:txBody>
                        <a:bodyPr/>
                        <a:lstStyle/>
                        <a:p>
                          <a:endParaRPr lang="en-US"/>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7941" t="-200000" r="-229" b="-99115"/>
                          </a:stretch>
                        </a:blipFill>
                      </a:tcPr>
                    </a:tc>
                    <a:extLst>
                      <a:ext uri="{0D108BD9-81ED-4DB2-BD59-A6C34878D82A}">
                        <a16:rowId xmlns="" xmlns:a16="http://schemas.microsoft.com/office/drawing/2014/main" xmlns:a14="http://schemas.microsoft.com/office/drawing/2010/main" val="3785338080"/>
                      </a:ext>
                    </a:extLst>
                  </a:tr>
                  <a:tr h="6858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Total</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657" marR="596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986159155"/>
                      </a:ext>
                    </a:extLst>
                  </a:tr>
                </a:tbl>
              </a:graphicData>
            </a:graphic>
          </p:graphicFrame>
        </mc:Fallback>
      </mc:AlternateContent>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491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A392D8-3ED3-7940-83A8-1451AA8A08D4}"/>
                  </a:ext>
                </a:extLst>
              </p:cNvPr>
              <p:cNvSpPr txBox="1"/>
              <p:nvPr/>
            </p:nvSpPr>
            <p:spPr>
              <a:xfrm>
                <a:off x="914400" y="520394"/>
                <a:ext cx="10515600" cy="4524315"/>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expression that can be used to find the point that partitions the line segment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 𝑇 represents the coordinates of point 𝑇, and 𝑀 represents the coordinates of point 𝑀.</a:t>
                </a:r>
              </a:p>
              <a:p>
                <a:pPr marL="914400" lvl="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lvl="0" indent="-457200"/>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           </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𝑇</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           </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lvl="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lvl="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lvl="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Find the point that partitions directed line segment 𝑇𝑀 in a </a:t>
                </a:r>
                <a14:m>
                  <m:oMath xmlns:m="http://schemas.openxmlformats.org/officeDocument/2006/math">
                    <m:r>
                      <a:rPr lang="en-US" sz="2400" i="1" dirty="0" smtClean="0">
                        <a:latin typeface="Cambria Math" panose="02040503050406030204" pitchFamily="18" charset="0"/>
                        <a:ea typeface="Times New Roman" panose="02020603050405020304" pitchFamily="18" charset="0"/>
                        <a:cs typeface="Times New Roman" panose="02020603050405020304" pitchFamily="18" charset="0"/>
                      </a:rPr>
                      <m:t>2:1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 </a:t>
                </a:r>
              </a:p>
            </p:txBody>
          </p:sp>
        </mc:Choice>
        <mc:Fallback xmlns="">
          <p:sp>
            <p:nvSpPr>
              <p:cNvPr id="7" name="TextBox 6">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4524315"/>
              </a:xfrm>
              <a:prstGeom prst="rect">
                <a:avLst/>
              </a:prstGeom>
              <a:blipFill>
                <a:blip r:embed="rId4"/>
                <a:stretch>
                  <a:fillRect t="-1117" r="-965" b="-1117"/>
                </a:stretch>
              </a:blipFill>
            </p:spPr>
            <p:txBody>
              <a:bodyPr/>
              <a:lstStyle/>
              <a:p>
                <a:r>
                  <a:rPr lang="en-US">
                    <a:noFill/>
                  </a:rPr>
                  <a:t> </a:t>
                </a:r>
              </a:p>
            </p:txBody>
          </p:sp>
        </mc:Fallback>
      </mc:AlternateContent>
    </p:spTree>
    <p:extLst>
      <p:ext uri="{BB962C8B-B14F-4D97-AF65-F5344CB8AC3E}">
        <p14:creationId xmlns:p14="http://schemas.microsoft.com/office/powerpoint/2010/main" val="420141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515600" cy="5048498"/>
              </a:xfrm>
              <a:prstGeom prst="rect">
                <a:avLst/>
              </a:prstGeom>
              <a:noFill/>
            </p:spPr>
            <p:txBody>
              <a:bodyPr wrap="square" rtlCol="0">
                <a:spAutoFit/>
              </a:bodyPr>
              <a:lstStyle/>
              <a:p>
                <a:pPr marL="914400" indent="-457200">
                  <a:buFont typeface="+mj-lt"/>
                  <a:buAutoNum type="alphaL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to calculate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3</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𝑇</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3</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total in the table and the point found in part e that partitions the directed line segment in a </a:t>
                </a:r>
                <a14:m>
                  <m:oMath xmlns:m="http://schemas.openxmlformats.org/officeDocument/2006/math">
                    <m:r>
                      <a:rPr lang="en-US" sz="2400" i="1" dirty="0" smtClean="0">
                        <a:latin typeface="Cambria Math" panose="02040503050406030204" pitchFamily="18" charset="0"/>
                        <a:ea typeface="Times New Roman" panose="02020603050405020304" pitchFamily="18" charset="0"/>
                        <a:cs typeface="Times New Roman" panose="02020603050405020304" pitchFamily="18" charset="0"/>
                      </a:rPr>
                      <m:t>2:1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a:t>
                </a:r>
              </a:p>
            </p:txBody>
          </p:sp>
        </mc:Choice>
        <mc:Fallback xmlns="">
          <p:sp>
            <p:nvSpPr>
              <p:cNvPr id="10" name="TextBox 9">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5048498"/>
              </a:xfrm>
              <a:prstGeom prst="rect">
                <a:avLst/>
              </a:prstGeom>
              <a:blipFill>
                <a:blip r:embed="rId3"/>
                <a:stretch>
                  <a:fillRect r="-1568" b="-1754"/>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18851F8-606D-0A4F-9F08-C09B154F86CA}"/>
                  </a:ext>
                </a:extLst>
              </p:cNvPr>
              <p:cNvGraphicFramePr>
                <a:graphicFrameLocks noGrp="1"/>
              </p:cNvGraphicFramePr>
              <p:nvPr>
                <p:extLst>
                  <p:ext uri="{D42A27DB-BD31-4B8C-83A1-F6EECF244321}">
                    <p14:modId xmlns:p14="http://schemas.microsoft.com/office/powerpoint/2010/main" val="3965770654"/>
                  </p:ext>
                </p:extLst>
              </p:nvPr>
            </p:nvGraphicFramePr>
            <p:xfrm>
              <a:off x="2006232" y="1250848"/>
              <a:ext cx="7670553" cy="2743200"/>
            </p:xfrm>
            <a:graphic>
              <a:graphicData uri="http://schemas.openxmlformats.org/drawingml/2006/table">
                <a:tbl>
                  <a:tblPr firstRow="1" firstCol="1" bandRow="1"/>
                  <a:tblGrid>
                    <a:gridCol w="2516610">
                      <a:extLst>
                        <a:ext uri="{9D8B030D-6E8A-4147-A177-3AD203B41FA5}">
                          <a16:colId xmlns:a16="http://schemas.microsoft.com/office/drawing/2014/main" val="1071164517"/>
                        </a:ext>
                      </a:extLst>
                    </a:gridCol>
                    <a:gridCol w="2576614">
                      <a:extLst>
                        <a:ext uri="{9D8B030D-6E8A-4147-A177-3AD203B41FA5}">
                          <a16:colId xmlns:a16="http://schemas.microsoft.com/office/drawing/2014/main" val="165883066"/>
                        </a:ext>
                      </a:extLst>
                    </a:gridCol>
                    <a:gridCol w="2577329">
                      <a:extLst>
                        <a:ext uri="{9D8B030D-6E8A-4147-A177-3AD203B41FA5}">
                          <a16:colId xmlns:a16="http://schemas.microsoft.com/office/drawing/2014/main" val="1237677675"/>
                        </a:ext>
                      </a:extLst>
                    </a:gridCol>
                  </a:tblGrid>
                  <a:tr h="6858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𝒙</m:t>
                              </m:r>
                            </m:oMath>
                          </a14:m>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-value</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𝒚</m:t>
                              </m:r>
                            </m:oMath>
                          </a14:m>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-value</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49700543"/>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𝑻</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𝟐</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 </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𝟒</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6272623"/>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𝑴</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𝟖</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 </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𝟏</m:t>
                                </m:r>
                                <m:r>
                                  <a:rPr lang="en-US" sz="2000" b="1" i="1">
                                    <a:solidFill>
                                      <a:srgbClr val="000000"/>
                                    </a:solidFill>
                                    <a:effectLst/>
                                    <a:latin typeface="Cambria Math" panose="02040503050406030204" pitchFamily="18" charset="0"/>
                                    <a:ea typeface="Helvetica Neue" panose="02000503000000020004" pitchFamily="2" charset="0"/>
                                    <a:cs typeface="Helvetica Neue" panose="02000503000000020004" pitchFamily="2" charset="0"/>
                                  </a:rPr>
                                  <m:t>)</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(______)</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7390125"/>
                      </a:ext>
                    </a:extLst>
                  </a:tr>
                  <a:tr h="6858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Total</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6174142"/>
                      </a:ext>
                    </a:extLst>
                  </a:tr>
                </a:tbl>
              </a:graphicData>
            </a:graphic>
          </p:graphicFrame>
        </mc:Choice>
        <mc:Fallback xmlns="">
          <p:graphicFrame>
            <p:nvGraphicFramePr>
              <p:cNvPr id="4" name="Table 3">
                <a:extLst>
                  <a:ext uri="{FF2B5EF4-FFF2-40B4-BE49-F238E27FC236}">
                    <a16:creationId xmlns="" xmlns:a16="http://schemas.microsoft.com/office/drawing/2014/main" xmlns:a14="http://schemas.microsoft.com/office/drawing/2010/main" id="{218851F8-606D-0A4F-9F08-C09B154F86CA}"/>
                  </a:ext>
                </a:extLst>
              </p:cNvPr>
              <p:cNvGraphicFramePr>
                <a:graphicFrameLocks noGrp="1"/>
              </p:cNvGraphicFramePr>
              <p:nvPr>
                <p:extLst>
                  <p:ext uri="{D42A27DB-BD31-4B8C-83A1-F6EECF244321}">
                    <p14:modId xmlns:p14="http://schemas.microsoft.com/office/powerpoint/2010/main" val="3965770654"/>
                  </p:ext>
                </p:extLst>
              </p:nvPr>
            </p:nvGraphicFramePr>
            <p:xfrm>
              <a:off x="2006232" y="1250848"/>
              <a:ext cx="7670553" cy="2743200"/>
            </p:xfrm>
            <a:graphic>
              <a:graphicData uri="http://schemas.openxmlformats.org/drawingml/2006/table">
                <a:tbl>
                  <a:tblPr firstRow="1" firstCol="1" bandRow="1"/>
                  <a:tblGrid>
                    <a:gridCol w="2516610">
                      <a:extLst>
                        <a:ext uri="{9D8B030D-6E8A-4147-A177-3AD203B41FA5}">
                          <a16:colId xmlns="" xmlns:a16="http://schemas.microsoft.com/office/drawing/2014/main" xmlns:a14="http://schemas.microsoft.com/office/drawing/2010/main" val="1071164517"/>
                        </a:ext>
                      </a:extLst>
                    </a:gridCol>
                    <a:gridCol w="2576614">
                      <a:extLst>
                        <a:ext uri="{9D8B030D-6E8A-4147-A177-3AD203B41FA5}">
                          <a16:colId xmlns="" xmlns:a16="http://schemas.microsoft.com/office/drawing/2014/main" xmlns:a14="http://schemas.microsoft.com/office/drawing/2010/main" val="165883066"/>
                        </a:ext>
                      </a:extLst>
                    </a:gridCol>
                    <a:gridCol w="2577329">
                      <a:extLst>
                        <a:ext uri="{9D8B030D-6E8A-4147-A177-3AD203B41FA5}">
                          <a16:colId xmlns="" xmlns:a16="http://schemas.microsoft.com/office/drawing/2014/main" xmlns:a14="http://schemas.microsoft.com/office/drawing/2010/main" val="1237677675"/>
                        </a:ext>
                      </a:extLst>
                    </a:gridCol>
                  </a:tblGrid>
                  <a:tr h="6858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7867" r="-100474" b="-299115"/>
                          </a:stretch>
                        </a:blip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7400" r="-236" b="-299115"/>
                          </a:stretch>
                        </a:blipFill>
                      </a:tcPr>
                    </a:tc>
                    <a:extLst>
                      <a:ext uri="{0D108BD9-81ED-4DB2-BD59-A6C34878D82A}">
                        <a16:rowId xmlns="" xmlns:a16="http://schemas.microsoft.com/office/drawing/2014/main" xmlns:a14="http://schemas.microsoft.com/office/drawing/2010/main" val="1849700543"/>
                      </a:ext>
                    </a:extLst>
                  </a:tr>
                  <a:tr h="685800">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0893" r="-204843" b="-201786"/>
                          </a:stretch>
                        </a:blip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7867" t="-100893" r="-100474" b="-201786"/>
                          </a:stretch>
                        </a:blip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7400" t="-100893" r="-236" b="-201786"/>
                          </a:stretch>
                        </a:blipFill>
                      </a:tcPr>
                    </a:tc>
                    <a:extLst>
                      <a:ext uri="{0D108BD9-81ED-4DB2-BD59-A6C34878D82A}">
                        <a16:rowId xmlns="" xmlns:a16="http://schemas.microsoft.com/office/drawing/2014/main" xmlns:a14="http://schemas.microsoft.com/office/drawing/2010/main" val="3916272623"/>
                      </a:ext>
                    </a:extLst>
                  </a:tr>
                  <a:tr h="685800">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99115" r="-204843" b="-100000"/>
                          </a:stretch>
                        </a:blip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7867" t="-199115" r="-100474" b="-100000"/>
                          </a:stretch>
                        </a:blipFill>
                      </a:tcPr>
                    </a:tc>
                    <a:tc>
                      <a:txBody>
                        <a:bodyPr/>
                        <a:lstStyle/>
                        <a:p>
                          <a:endParaRPr lang="en-US"/>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7400" t="-199115" r="-236" b="-100000"/>
                          </a:stretch>
                        </a:blipFill>
                      </a:tcPr>
                    </a:tc>
                    <a:extLst>
                      <a:ext uri="{0D108BD9-81ED-4DB2-BD59-A6C34878D82A}">
                        <a16:rowId xmlns="" xmlns:a16="http://schemas.microsoft.com/office/drawing/2014/main" xmlns:a14="http://schemas.microsoft.com/office/drawing/2010/main" val="3547390125"/>
                      </a:ext>
                    </a:extLst>
                  </a:tr>
                  <a:tr h="6858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Total</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9481" marR="5948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126174142"/>
                      </a:ext>
                    </a:extLst>
                  </a:tr>
                </a:tbl>
              </a:graphicData>
            </a:graphic>
          </p:graphicFrame>
        </mc:Fallback>
      </mc:AlternateContent>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4071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A392D8-3ED3-7940-83A8-1451AA8A08D4}"/>
                  </a:ext>
                </a:extLst>
              </p:cNvPr>
              <p:cNvSpPr txBox="1"/>
              <p:nvPr/>
            </p:nvSpPr>
            <p:spPr>
              <a:xfrm>
                <a:off x="914400" y="520394"/>
                <a:ext cx="10515600" cy="3914661"/>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Line segment 𝐾𝑅 has endpoints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(−6,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𝑅</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(2, 5)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expression for the point that partitions directed line segment 𝐾𝑅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a:t>
                </a:r>
              </a:p>
              <a:p>
                <a:pPr marL="889000" indent="-39211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           </m:t>
                          </m:r>
                        </m:num>
                        <m:den>
                          <m:r>
                            <a:rPr lang="es-ES" sz="2400" i="1" dirty="0">
                              <a:latin typeface="Cambria Math" panose="02040503050406030204" pitchFamily="18" charset="0"/>
                              <a:cs typeface="Times New Roman" panose="02020603050405020304" pitchFamily="18" charset="0"/>
                            </a:rPr>
                            <m:t>4</m:t>
                          </m:r>
                        </m:den>
                      </m:f>
                      <m:r>
                        <a:rPr lang="es-ES" sz="2400" i="1" dirty="0">
                          <a:latin typeface="Cambria Math" panose="02040503050406030204" pitchFamily="18" charset="0"/>
                          <a:cs typeface="Times New Roman" panose="02020603050405020304" pitchFamily="18" charset="0"/>
                        </a:rPr>
                        <m:t>𝐾</m:t>
                      </m:r>
                      <m:r>
                        <a:rPr lang="es-ES" sz="2400" i="1" dirty="0">
                          <a:latin typeface="Cambria Math" panose="020405030504060302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           </m:t>
                          </m:r>
                        </m:num>
                        <m:den>
                          <m:r>
                            <a:rPr lang="es-ES" sz="2400" i="1" dirty="0">
                              <a:latin typeface="Cambria Math" panose="02040503050406030204" pitchFamily="18" charset="0"/>
                              <a:cs typeface="Times New Roman" panose="02020603050405020304" pitchFamily="18" charset="0"/>
                            </a:rPr>
                            <m:t>4</m:t>
                          </m:r>
                        </m:den>
                      </m:f>
                      <m:r>
                        <a:rPr lang="es-ES" sz="2400" i="1" dirty="0">
                          <a:latin typeface="Cambria Math" panose="02040503050406030204" pitchFamily="18" charset="0"/>
                          <a:cs typeface="Times New Roman" panose="02020603050405020304" pitchFamily="18" charset="0"/>
                        </a:rPr>
                        <m:t>𝑅</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expression to find the point that partitions directed line segment 𝐾𝑅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a:t>
                </a:r>
              </a:p>
            </p:txBody>
          </p:sp>
        </mc:Choice>
        <mc:Fallback xmlns="">
          <p:sp>
            <p:nvSpPr>
              <p:cNvPr id="7" name="TextBox 6">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3914661"/>
              </a:xfrm>
              <a:prstGeom prst="rect">
                <a:avLst/>
              </a:prstGeom>
              <a:blipFill rotWithShape="1">
                <a:blip r:embed="rId4"/>
                <a:stretch>
                  <a:fillRect l="-870" t="-1400" b="-2488"/>
                </a:stretch>
              </a:blipFill>
            </p:spPr>
            <p:txBody>
              <a:bodyPr/>
              <a:lstStyle/>
              <a:p>
                <a:r>
                  <a:rPr lang="en-US">
                    <a:noFill/>
                  </a:rPr>
                  <a:t> </a:t>
                </a:r>
              </a:p>
            </p:txBody>
          </p:sp>
        </mc:Fallback>
      </mc:AlternateContent>
    </p:spTree>
    <p:extLst>
      <p:ext uri="{BB962C8B-B14F-4D97-AF65-F5344CB8AC3E}">
        <p14:creationId xmlns:p14="http://schemas.microsoft.com/office/powerpoint/2010/main" val="3135387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05571"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7" name="image6.png" descr="Icon&#10;&#10;Description automatically generated">
            <a:extLst>
              <a:ext uri="{FF2B5EF4-FFF2-40B4-BE49-F238E27FC236}">
                <a16:creationId xmlns:a16="http://schemas.microsoft.com/office/drawing/2014/main" id="{B079AFA8-B9EA-EB4C-B6ED-66C4D839C0CE}"/>
              </a:ext>
            </a:extLst>
          </p:cNvPr>
          <p:cNvPicPr/>
          <p:nvPr/>
        </p:nvPicPr>
        <p:blipFill>
          <a:blip r:embed="rId3"/>
          <a:srcRect/>
          <a:stretch>
            <a:fillRect/>
          </a:stretch>
        </p:blipFill>
        <p:spPr>
          <a:xfrm>
            <a:off x="4628259" y="2852923"/>
            <a:ext cx="1152144" cy="1152144"/>
          </a:xfrm>
          <a:prstGeom prst="rect">
            <a:avLst/>
          </a:prstGeom>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251"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32428" y="-1700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13.5.3 Guided Instruction: Determining Weighted Averages</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34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669E00F9-F39F-5043-888E-B0A2D8C9AE0F}"/>
              </a:ext>
            </a:extLst>
          </p:cNvPr>
          <p:cNvSpPr txBox="1"/>
          <p:nvPr/>
        </p:nvSpPr>
        <p:spPr>
          <a:xfrm>
            <a:off x="657524" y="1305739"/>
            <a:ext cx="10866400" cy="4093428"/>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Weight is a measure of force pushing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or pulling on an object due to gravity.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This means that finding a weighted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average puts more “weight” on one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point than another. </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If 𝐵 is weighted twice as heavily as 𝐴,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then during the calculation, 𝐵 is to measure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two times the value of 𝐴. In other words,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𝐵 has two times the “gravitational pull” of 𝐴. </a:t>
            </a: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Think of it in terms of a seesaw. In the picture, point 𝐵 is weighted more heavily than point 𝐴.</a:t>
            </a:r>
          </a:p>
        </p:txBody>
      </p:sp>
      <p:pic>
        <p:nvPicPr>
          <p:cNvPr id="14" name="image6.png" descr="Icon&#10;&#10;Description automatically generated">
            <a:extLst>
              <a:ext uri="{FF2B5EF4-FFF2-40B4-BE49-F238E27FC236}">
                <a16:creationId xmlns:a16="http://schemas.microsoft.com/office/drawing/2014/main" id="{8A434195-83BC-AD47-961E-98BFF6E69192}"/>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82620" y="270944"/>
            <a:ext cx="749808" cy="749808"/>
          </a:xfrm>
          <a:prstGeom prst="rect">
            <a:avLst/>
          </a:prstGeom>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E1EB3D1D-3855-9C48-9F78-1CBFC3734B3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1454" b="7351"/>
          <a:stretch/>
        </p:blipFill>
        <p:spPr>
          <a:xfrm>
            <a:off x="6786670" y="1308698"/>
            <a:ext cx="4743914" cy="2528249"/>
          </a:xfrm>
          <a:prstGeom prst="rect">
            <a:avLst/>
          </a:prstGeom>
        </p:spPr>
      </p:pic>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252"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id="{2FA392D8-3ED3-7940-83A8-1451AA8A08D4}"/>
              </a:ext>
            </a:extLst>
          </p:cNvPr>
          <p:cNvSpPr txBox="1"/>
          <p:nvPr/>
        </p:nvSpPr>
        <p:spPr>
          <a:xfrm>
            <a:off x="914400" y="520394"/>
            <a:ext cx="5524500"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what the girls close to point B would have to do so that the seesaw would balance. Summarize your discussion. </a:t>
            </a:r>
          </a:p>
        </p:txBody>
      </p:sp>
      <p:pic>
        <p:nvPicPr>
          <p:cNvPr id="10" name="Picture 9">
            <a:extLst>
              <a:ext uri="{FF2B5EF4-FFF2-40B4-BE49-F238E27FC236}">
                <a16:creationId xmlns:a16="http://schemas.microsoft.com/office/drawing/2014/main" id="{E1EB3D1D-3855-9C48-9F78-1CBFC3734B3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1454" b="7351"/>
          <a:stretch/>
        </p:blipFill>
        <p:spPr>
          <a:xfrm>
            <a:off x="6686086" y="520394"/>
            <a:ext cx="4743914" cy="2528249"/>
          </a:xfrm>
          <a:prstGeom prst="rect">
            <a:avLst/>
          </a:prstGeom>
        </p:spPr>
      </p:pic>
    </p:spTree>
    <p:extLst>
      <p:ext uri="{BB962C8B-B14F-4D97-AF65-F5344CB8AC3E}">
        <p14:creationId xmlns:p14="http://schemas.microsoft.com/office/powerpoint/2010/main" val="3097323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7" name="Picture 6">
            <a:extLst>
              <a:ext uri="{FF2B5EF4-FFF2-40B4-BE49-F238E27FC236}">
                <a16:creationId xmlns:a16="http://schemas.microsoft.com/office/drawing/2014/main" id="{976E0B79-7B7C-654A-BF7A-CB7B53B2565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35952" y="1965271"/>
            <a:ext cx="6522794" cy="4330678"/>
          </a:xfrm>
          <a:prstGeom prst="rect">
            <a:avLst/>
          </a:prstGeom>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609524" cy="1200329"/>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𝑀𝑃 is shown, where point 𝑀 is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 −11)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𝑃 is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(5, 7)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Point 𝐻 is the midpoint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𝑀𝑃</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point 𝑊 is the midpoint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𝐻𝑃</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𝑅 is the midpoint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𝑀𝐻</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0" name="TextBox 9">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609524" cy="1200329"/>
              </a:xfrm>
              <a:prstGeom prst="rect">
                <a:avLst/>
              </a:prstGeom>
              <a:blipFill rotWithShape="1">
                <a:blip r:embed="rId5"/>
                <a:stretch>
                  <a:fillRect l="-862" t="-4569" r="-1667" b="-10660"/>
                </a:stretch>
              </a:blipFill>
            </p:spPr>
            <p:txBody>
              <a:bodyPr/>
              <a:lstStyle/>
              <a:p>
                <a:r>
                  <a:rPr lang="en-US">
                    <a:noFill/>
                  </a:rPr>
                  <a:t> </a:t>
                </a:r>
              </a:p>
            </p:txBody>
          </p:sp>
        </mc:Fallback>
      </mc:AlternateContent>
    </p:spTree>
    <p:extLst>
      <p:ext uri="{BB962C8B-B14F-4D97-AF65-F5344CB8AC3E}">
        <p14:creationId xmlns:p14="http://schemas.microsoft.com/office/powerpoint/2010/main" val="286667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252"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6"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A392D8-3ED3-7940-83A8-1451AA8A08D4}"/>
                  </a:ext>
                </a:extLst>
              </p:cNvPr>
              <p:cNvSpPr txBox="1"/>
              <p:nvPr/>
            </p:nvSpPr>
            <p:spPr>
              <a:xfrm>
                <a:off x="914400" y="520394"/>
                <a:ext cx="10609524" cy="5163721"/>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Since point 𝐻 is the midpoint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𝑀𝑃</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 coordinates of point 𝐻 can be determined by finding the average of points 𝑀 and 𝑃.</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𝑀</m:t>
                          </m:r>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𝑃</m:t>
                          </m:r>
                        </m:num>
                        <m:den>
                          <m:r>
                            <a:rPr lang="es-ES" sz="2400" i="1" dirty="0">
                              <a:latin typeface="Cambria Math" panose="02040503050406030204" pitchFamily="18" charset="0"/>
                              <a:cs typeface="Times New Roman" panose="02020603050405020304" pitchFamily="18" charset="0"/>
                            </a:rPr>
                            <m:t>2</m:t>
                          </m:r>
                        </m:den>
                      </m:f>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Point 𝑊 partitions the line segment 𝑀𝑃 so that point 𝑃 weighs three times as much as point 𝑀. This means that point 𝑊 is closer to point 𝑃 because point 𝑃 is “heavier” than point 𝑀. The given expression can be used to calculate this weighted average when point 𝑃 weighs three times as much as point 𝑀.</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𝑀</m:t>
                          </m:r>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𝑃</m:t>
                          </m:r>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𝑃</m:t>
                          </m:r>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𝑃</m:t>
                          </m:r>
                        </m:num>
                        <m:den>
                          <m:r>
                            <a:rPr lang="es-ES" sz="2400" i="1" dirty="0">
                              <a:latin typeface="Cambria Math" panose="02040503050406030204" pitchFamily="18" charset="0"/>
                              <a:cs typeface="Times New Roman" panose="02020603050405020304" pitchFamily="18" charset="0"/>
                            </a:rPr>
                            <m:t>4</m:t>
                          </m:r>
                        </m:den>
                      </m:f>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609524" cy="5163721"/>
              </a:xfrm>
              <a:prstGeom prst="rect">
                <a:avLst/>
              </a:prstGeom>
              <a:blipFill rotWithShape="1">
                <a:blip r:embed="rId4"/>
                <a:stretch>
                  <a:fillRect l="-862" t="-1063" r="-1667"/>
                </a:stretch>
              </a:blipFill>
            </p:spPr>
            <p:txBody>
              <a:bodyPr/>
              <a:lstStyle/>
              <a:p>
                <a:r>
                  <a:rPr lang="en-US">
                    <a:noFill/>
                  </a:rPr>
                  <a:t> </a:t>
                </a:r>
              </a:p>
            </p:txBody>
          </p:sp>
        </mc:Fallback>
      </mc:AlternateContent>
    </p:spTree>
    <p:extLst>
      <p:ext uri="{BB962C8B-B14F-4D97-AF65-F5344CB8AC3E}">
        <p14:creationId xmlns:p14="http://schemas.microsoft.com/office/powerpoint/2010/main" val="1136049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6" name="Picture 5">
            <a:extLst>
              <a:ext uri="{FF2B5EF4-FFF2-40B4-BE49-F238E27FC236}">
                <a16:creationId xmlns:a16="http://schemas.microsoft.com/office/drawing/2014/main" id="{7E495702-6551-B44E-8F1E-3220699418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43483" y="520394"/>
            <a:ext cx="5787101" cy="3842056"/>
          </a:xfrm>
          <a:prstGeom prst="rect">
            <a:avLst/>
          </a:prstGeom>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914400" y="520393"/>
            <a:ext cx="4867275" cy="2554545"/>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The graph shows the weighted averages.</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why the distance from point 𝑊 to point 𝑃 is shorter if point 𝑃 is “heavier” than point 𝑀. Summarize your discussion.</a:t>
            </a:r>
          </a:p>
        </p:txBody>
      </p:sp>
    </p:spTree>
    <p:extLst>
      <p:ext uri="{BB962C8B-B14F-4D97-AF65-F5344CB8AC3E}">
        <p14:creationId xmlns:p14="http://schemas.microsoft.com/office/powerpoint/2010/main" val="4091812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BCE68D8B-E0C4-7342-912C-110A9F62D53D}"/>
              </a:ext>
            </a:extLst>
          </p:cNvPr>
          <p:cNvGrpSpPr/>
          <p:nvPr/>
        </p:nvGrpSpPr>
        <p:grpSpPr>
          <a:xfrm>
            <a:off x="2461062" y="4530934"/>
            <a:ext cx="6629400" cy="1379855"/>
            <a:chOff x="0" y="-431331"/>
            <a:chExt cx="6629400" cy="1380315"/>
          </a:xfrm>
        </p:grpSpPr>
        <p:grpSp>
          <p:nvGrpSpPr>
            <p:cNvPr id="7" name="Group 6">
              <a:extLst>
                <a:ext uri="{FF2B5EF4-FFF2-40B4-BE49-F238E27FC236}">
                  <a16:creationId xmlns:a16="http://schemas.microsoft.com/office/drawing/2014/main" id="{98D408EA-B893-434B-952E-9EA5B79D0B12}"/>
                </a:ext>
              </a:extLst>
            </p:cNvPr>
            <p:cNvGrpSpPr/>
            <p:nvPr/>
          </p:nvGrpSpPr>
          <p:grpSpPr>
            <a:xfrm>
              <a:off x="0" y="-431331"/>
              <a:ext cx="6629400" cy="1380315"/>
              <a:chOff x="2031300" y="2955477"/>
              <a:chExt cx="6629400" cy="138031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2955477"/>
                <a:ext cx="6629400" cy="1380315"/>
                <a:chOff x="0" y="-431331"/>
                <a:chExt cx="6629400" cy="138031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Rounded Rectangle 13">
                  <a:extLst>
                    <a:ext uri="{FF2B5EF4-FFF2-40B4-BE49-F238E27FC236}">
                      <a16:creationId xmlns:a16="http://schemas.microsoft.com/office/drawing/2014/main" id="{3DD2D602-FDA5-B341-81E5-3726C8EAF19C}"/>
                    </a:ext>
                  </a:extLst>
                </p:cNvPr>
                <p:cNvSpPr/>
                <p:nvPr/>
              </p:nvSpPr>
              <p:spPr>
                <a:xfrm>
                  <a:off x="0" y="-431331"/>
                  <a:ext cx="6629400" cy="138031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midpoint calculation weighs points on a line segment equally. In a</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 weighted average </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calculation, points on a line segment can be weighted differently. </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9" name="image15.png" descr="Icon&#10;&#10;Description automatically generated">
              <a:extLst>
                <a:ext uri="{FF2B5EF4-FFF2-40B4-BE49-F238E27FC236}">
                  <a16:creationId xmlns:a16="http://schemas.microsoft.com/office/drawing/2014/main" id="{2E55C48F-8A0B-824C-BF1E-3CBCCDABC88D}"/>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147918" y="-318706"/>
              <a:ext cx="539750" cy="539750"/>
            </a:xfrm>
            <a:prstGeom prst="rect">
              <a:avLst/>
            </a:prstGeom>
            <a:ln/>
            <a:effectLst>
              <a:outerShdw blurRad="50800" dist="38100" dir="2700000" algn="tl" rotWithShape="0">
                <a:prstClr val="black">
                  <a:alpha val="40000"/>
                </a:prstClr>
              </a:outerShdw>
            </a:effectLst>
          </p:spPr>
        </p:pic>
      </p:gr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TextBox 15">
            <a:extLst>
              <a:ext uri="{FF2B5EF4-FFF2-40B4-BE49-F238E27FC236}">
                <a16:creationId xmlns:a16="http://schemas.microsoft.com/office/drawing/2014/main" id="{2FA392D8-3ED3-7940-83A8-1451AA8A08D4}"/>
              </a:ext>
            </a:extLst>
          </p:cNvPr>
          <p:cNvSpPr txBox="1"/>
          <p:nvPr/>
        </p:nvSpPr>
        <p:spPr>
          <a:xfrm>
            <a:off x="914400" y="520394"/>
            <a:ext cx="10609524" cy="120032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Point 𝑅 partitions the line segment 𝑀𝑃 so that point 𝑀 weighs three times as much as point 𝑃. Write an expression that shows this weighted average.</a:t>
            </a:r>
          </a:p>
        </p:txBody>
      </p:sp>
    </p:spTree>
    <p:extLst>
      <p:ext uri="{BB962C8B-B14F-4D97-AF65-F5344CB8AC3E}">
        <p14:creationId xmlns:p14="http://schemas.microsoft.com/office/powerpoint/2010/main" val="321890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98D408EA-B893-434B-952E-9EA5B79D0B12}"/>
              </a:ext>
            </a:extLst>
          </p:cNvPr>
          <p:cNvGrpSpPr/>
          <p:nvPr/>
        </p:nvGrpSpPr>
        <p:grpSpPr>
          <a:xfrm>
            <a:off x="2781300" y="3170261"/>
            <a:ext cx="6629400" cy="786113"/>
            <a:chOff x="2031300" y="3386808"/>
            <a:chExt cx="6629400" cy="78637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3386808"/>
              <a:ext cx="6629400" cy="786375"/>
              <a:chOff x="0" y="0"/>
              <a:chExt cx="6629400" cy="78637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E44EBC2-9CD3-4E4E-ABD9-28812ECDF9AF}"/>
                  </a:ext>
                </a:extLst>
              </p:cNvPr>
              <p:cNvGraphicFramePr>
                <a:graphicFrameLocks noGrp="1"/>
              </p:cNvGraphicFramePr>
              <p:nvPr>
                <p:extLst>
                  <p:ext uri="{D42A27DB-BD31-4B8C-83A1-F6EECF244321}">
                    <p14:modId xmlns:p14="http://schemas.microsoft.com/office/powerpoint/2010/main" val="2805036047"/>
                  </p:ext>
                </p:extLst>
              </p:nvPr>
            </p:nvGraphicFramePr>
            <p:xfrm>
              <a:off x="1489387" y="1890930"/>
              <a:ext cx="8736587" cy="3352800"/>
            </p:xfrm>
            <a:graphic>
              <a:graphicData uri="http://schemas.openxmlformats.org/drawingml/2006/table">
                <a:tbl>
                  <a:tblPr firstRow="1" firstCol="1" bandRow="1"/>
                  <a:tblGrid>
                    <a:gridCol w="2151110">
                      <a:extLst>
                        <a:ext uri="{9D8B030D-6E8A-4147-A177-3AD203B41FA5}">
                          <a16:colId xmlns:a16="http://schemas.microsoft.com/office/drawing/2014/main" val="2662299604"/>
                        </a:ext>
                      </a:extLst>
                    </a:gridCol>
                    <a:gridCol w="2220447">
                      <a:extLst>
                        <a:ext uri="{9D8B030D-6E8A-4147-A177-3AD203B41FA5}">
                          <a16:colId xmlns:a16="http://schemas.microsoft.com/office/drawing/2014/main" val="471791636"/>
                        </a:ext>
                      </a:extLst>
                    </a:gridCol>
                    <a:gridCol w="2456197">
                      <a:extLst>
                        <a:ext uri="{9D8B030D-6E8A-4147-A177-3AD203B41FA5}">
                          <a16:colId xmlns:a16="http://schemas.microsoft.com/office/drawing/2014/main" val="1730443901"/>
                        </a:ext>
                      </a:extLst>
                    </a:gridCol>
                    <a:gridCol w="1908833">
                      <a:extLst>
                        <a:ext uri="{9D8B030D-6E8A-4147-A177-3AD203B41FA5}">
                          <a16:colId xmlns:a16="http://schemas.microsoft.com/office/drawing/2014/main" val="67685212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Ratio</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Point</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Weighted Point</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79012964"/>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1:1</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49754"/>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1:3</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2938977"/>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3:1</m:t>
                                </m:r>
                              </m:oMath>
                            </m:oMathPara>
                          </a14:m>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378338"/>
                      </a:ext>
                    </a:extLst>
                  </a:tr>
                </a:tbl>
              </a:graphicData>
            </a:graphic>
          </p:graphicFrame>
        </mc:Choice>
        <mc:Fallback xmlns="">
          <p:graphicFrame>
            <p:nvGraphicFramePr>
              <p:cNvPr id="3" name="Table 2">
                <a:extLst>
                  <a:ext uri="{FF2B5EF4-FFF2-40B4-BE49-F238E27FC236}">
                    <a16:creationId xmlns="" xmlns:a16="http://schemas.microsoft.com/office/drawing/2014/main" xmlns:a14="http://schemas.microsoft.com/office/drawing/2010/main" id="{2E44EBC2-9CD3-4E4E-ABD9-28812ECDF9AF}"/>
                  </a:ext>
                </a:extLst>
              </p:cNvPr>
              <p:cNvGraphicFramePr>
                <a:graphicFrameLocks noGrp="1"/>
              </p:cNvGraphicFramePr>
              <p:nvPr>
                <p:extLst>
                  <p:ext uri="{D42A27DB-BD31-4B8C-83A1-F6EECF244321}">
                    <p14:modId xmlns:p14="http://schemas.microsoft.com/office/powerpoint/2010/main" val="2805036047"/>
                  </p:ext>
                </p:extLst>
              </p:nvPr>
            </p:nvGraphicFramePr>
            <p:xfrm>
              <a:off x="1489387" y="1890930"/>
              <a:ext cx="8736587" cy="3352800"/>
            </p:xfrm>
            <a:graphic>
              <a:graphicData uri="http://schemas.openxmlformats.org/drawingml/2006/table">
                <a:tbl>
                  <a:tblPr firstRow="1" firstCol="1" bandRow="1"/>
                  <a:tblGrid>
                    <a:gridCol w="2151110">
                      <a:extLst>
                        <a:ext uri="{9D8B030D-6E8A-4147-A177-3AD203B41FA5}">
                          <a16:colId xmlns="" xmlns:a16="http://schemas.microsoft.com/office/drawing/2014/main" xmlns:a14="http://schemas.microsoft.com/office/drawing/2010/main" val="2662299604"/>
                        </a:ext>
                      </a:extLst>
                    </a:gridCol>
                    <a:gridCol w="2220447">
                      <a:extLst>
                        <a:ext uri="{9D8B030D-6E8A-4147-A177-3AD203B41FA5}">
                          <a16:colId xmlns="" xmlns:a16="http://schemas.microsoft.com/office/drawing/2014/main" xmlns:a14="http://schemas.microsoft.com/office/drawing/2010/main" val="471791636"/>
                        </a:ext>
                      </a:extLst>
                    </a:gridCol>
                    <a:gridCol w="2456197">
                      <a:extLst>
                        <a:ext uri="{9D8B030D-6E8A-4147-A177-3AD203B41FA5}">
                          <a16:colId xmlns="" xmlns:a16="http://schemas.microsoft.com/office/drawing/2014/main" xmlns:a14="http://schemas.microsoft.com/office/drawing/2010/main" val="1730443901"/>
                        </a:ext>
                      </a:extLst>
                    </a:gridCol>
                    <a:gridCol w="1908833">
                      <a:extLst>
                        <a:ext uri="{9D8B030D-6E8A-4147-A177-3AD203B41FA5}">
                          <a16:colId xmlns="" xmlns:a16="http://schemas.microsoft.com/office/drawing/2014/main" xmlns:a14="http://schemas.microsoft.com/office/drawing/2010/main" val="676852128"/>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Ratio</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Point</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Weighted Point</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2579012964"/>
                      </a:ext>
                    </a:extLst>
                  </a:tr>
                  <a:tr h="914400">
                    <a:tc>
                      <a:txBody>
                        <a:bodyPr/>
                        <a:lstStyle/>
                        <a:p>
                          <a:endParaRPr lang="en-US"/>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74667" r="-306232" b="-2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90049754"/>
                      </a:ext>
                    </a:extLst>
                  </a:tr>
                  <a:tr h="914400">
                    <a:tc>
                      <a:txBody>
                        <a:bodyPr/>
                        <a:lstStyle/>
                        <a:p>
                          <a:endParaRPr lang="en-US"/>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74667" r="-306232" b="-1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012938977"/>
                      </a:ext>
                    </a:extLst>
                  </a:tr>
                  <a:tr h="914400">
                    <a:tc>
                      <a:txBody>
                        <a:bodyPr/>
                        <a:lstStyle/>
                        <a:p>
                          <a:endParaRPr lang="en-US"/>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74667" r="-306232" b="-667"/>
                          </a:stretch>
                        </a:blipFill>
                      </a:tcPr>
                    </a:tc>
                    <a:tc>
                      <a:txBody>
                        <a:bodyPr/>
                        <a:lstStyle/>
                        <a:p>
                          <a:pPr marL="0" marR="0" algn="ctr">
                            <a:spcBef>
                              <a:spcPts val="0"/>
                            </a:spcBef>
                            <a:spcAft>
                              <a:spcPts val="0"/>
                            </a:spcAft>
                          </a:pPr>
                          <a:r>
                            <a:rPr lang="en-US" sz="200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4898" marR="4489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516378338"/>
                      </a:ext>
                    </a:extLst>
                  </a:tr>
                </a:tbl>
              </a:graphicData>
            </a:graphic>
          </p:graphicFrame>
        </mc:Fallback>
      </mc:AlternateContent>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FA392D8-3ED3-7940-83A8-1451AA8A08D4}"/>
                  </a:ext>
                </a:extLst>
              </p:cNvPr>
              <p:cNvSpPr txBox="1"/>
              <p:nvPr/>
            </p:nvSpPr>
            <p:spPr>
              <a:xfrm>
                <a:off x="914400" y="520394"/>
                <a:ext cx="10609524" cy="1200329"/>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Write the expression that can be used to find the point that partitions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𝑀𝑃</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the given ratio, and find the endpoint that is the weighted point.</a:t>
                </a:r>
              </a:p>
            </p:txBody>
          </p:sp>
        </mc:Choice>
        <mc:Fallback xmlns="">
          <p:sp>
            <p:nvSpPr>
              <p:cNvPr id="15" name="TextBox 14">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609524" cy="1200329"/>
              </a:xfrm>
              <a:prstGeom prst="rect">
                <a:avLst/>
              </a:prstGeom>
              <a:blipFill rotWithShape="1">
                <a:blip r:embed="rId5"/>
                <a:stretch>
                  <a:fillRect l="-862" t="-4061" r="-1782" b="-10660"/>
                </a:stretch>
              </a:blipFill>
            </p:spPr>
            <p:txBody>
              <a:bodyPr/>
              <a:lstStyle/>
              <a:p>
                <a:r>
                  <a:rPr lang="en-US">
                    <a:noFill/>
                  </a:rPr>
                  <a:t> </a:t>
                </a:r>
              </a:p>
            </p:txBody>
          </p:sp>
        </mc:Fallback>
      </mc:AlternateContent>
    </p:spTree>
    <p:extLst>
      <p:ext uri="{BB962C8B-B14F-4D97-AF65-F5344CB8AC3E}">
        <p14:creationId xmlns:p14="http://schemas.microsoft.com/office/powerpoint/2010/main" val="3036327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98D408EA-B893-434B-952E-9EA5B79D0B12}"/>
              </a:ext>
            </a:extLst>
          </p:cNvPr>
          <p:cNvGrpSpPr/>
          <p:nvPr/>
        </p:nvGrpSpPr>
        <p:grpSpPr>
          <a:xfrm>
            <a:off x="2781300" y="3170261"/>
            <a:ext cx="6629400" cy="786113"/>
            <a:chOff x="2031300" y="3386808"/>
            <a:chExt cx="6629400" cy="78637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3386808"/>
              <a:ext cx="6629400" cy="786375"/>
              <a:chOff x="0" y="0"/>
              <a:chExt cx="6629400" cy="78637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1742E1E-2364-4844-A754-079D06415E58}"/>
                  </a:ext>
                </a:extLst>
              </p:cNvPr>
              <p:cNvGraphicFramePr>
                <a:graphicFrameLocks noGrp="1"/>
              </p:cNvGraphicFramePr>
              <p:nvPr>
                <p:extLst>
                  <p:ext uri="{D42A27DB-BD31-4B8C-83A1-F6EECF244321}">
                    <p14:modId xmlns:p14="http://schemas.microsoft.com/office/powerpoint/2010/main" val="670224147"/>
                  </p:ext>
                </p:extLst>
              </p:nvPr>
            </p:nvGraphicFramePr>
            <p:xfrm>
              <a:off x="1491099" y="1459935"/>
              <a:ext cx="8520095" cy="4502540"/>
            </p:xfrm>
            <a:graphic>
              <a:graphicData uri="http://schemas.openxmlformats.org/drawingml/2006/table">
                <a:tbl>
                  <a:tblPr firstRow="1" firstCol="1" bandRow="1"/>
                  <a:tblGrid>
                    <a:gridCol w="1697162">
                      <a:extLst>
                        <a:ext uri="{9D8B030D-6E8A-4147-A177-3AD203B41FA5}">
                          <a16:colId xmlns:a16="http://schemas.microsoft.com/office/drawing/2014/main" val="2644001025"/>
                        </a:ext>
                      </a:extLst>
                    </a:gridCol>
                    <a:gridCol w="4580338">
                      <a:extLst>
                        <a:ext uri="{9D8B030D-6E8A-4147-A177-3AD203B41FA5}">
                          <a16:colId xmlns:a16="http://schemas.microsoft.com/office/drawing/2014/main" val="2061158395"/>
                        </a:ext>
                      </a:extLst>
                    </a:gridCol>
                    <a:gridCol w="2242595">
                      <a:extLst>
                        <a:ext uri="{9D8B030D-6E8A-4147-A177-3AD203B41FA5}">
                          <a16:colId xmlns:a16="http://schemas.microsoft.com/office/drawing/2014/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127780301"/>
                      </a:ext>
                    </a:extLst>
                  </a:tr>
                  <a:tr h="40453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4:1</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303360"/>
                      </a:ext>
                    </a:extLst>
                  </a:tr>
                </a:tbl>
              </a:graphicData>
            </a:graphic>
          </p:graphicFrame>
        </mc:Choice>
        <mc:Fallback xmlns="">
          <p:graphicFrame>
            <p:nvGraphicFramePr>
              <p:cNvPr id="4" name="Table 3">
                <a:extLst>
                  <a:ext uri="{FF2B5EF4-FFF2-40B4-BE49-F238E27FC236}">
                    <a16:creationId xmlns="" xmlns:a16="http://schemas.microsoft.com/office/drawing/2014/main" xmlns:a14="http://schemas.microsoft.com/office/drawing/2010/main" id="{71742E1E-2364-4844-A754-079D06415E58}"/>
                  </a:ext>
                </a:extLst>
              </p:cNvPr>
              <p:cNvGraphicFramePr>
                <a:graphicFrameLocks noGrp="1"/>
              </p:cNvGraphicFramePr>
              <p:nvPr>
                <p:extLst>
                  <p:ext uri="{D42A27DB-BD31-4B8C-83A1-F6EECF244321}">
                    <p14:modId xmlns:p14="http://schemas.microsoft.com/office/powerpoint/2010/main" val="670224147"/>
                  </p:ext>
                </p:extLst>
              </p:nvPr>
            </p:nvGraphicFramePr>
            <p:xfrm>
              <a:off x="1491099" y="1459935"/>
              <a:ext cx="8520095" cy="4502540"/>
            </p:xfrm>
            <a:graphic>
              <a:graphicData uri="http://schemas.openxmlformats.org/drawingml/2006/table">
                <a:tbl>
                  <a:tblPr firstRow="1" firstCol="1" bandRow="1"/>
                  <a:tblGrid>
                    <a:gridCol w="1697162">
                      <a:extLst>
                        <a:ext uri="{9D8B030D-6E8A-4147-A177-3AD203B41FA5}">
                          <a16:colId xmlns="" xmlns:a16="http://schemas.microsoft.com/office/drawing/2014/main" xmlns:a14="http://schemas.microsoft.com/office/drawing/2010/main" val="2644001025"/>
                        </a:ext>
                      </a:extLst>
                    </a:gridCol>
                    <a:gridCol w="4580338">
                      <a:extLst>
                        <a:ext uri="{9D8B030D-6E8A-4147-A177-3AD203B41FA5}">
                          <a16:colId xmlns="" xmlns:a16="http://schemas.microsoft.com/office/drawing/2014/main" xmlns:a14="http://schemas.microsoft.com/office/drawing/2010/main" val="2061158395"/>
                        </a:ext>
                      </a:extLst>
                    </a:gridCol>
                    <a:gridCol w="2242595">
                      <a:extLst>
                        <a:ext uri="{9D8B030D-6E8A-4147-A177-3AD203B41FA5}">
                          <a16:colId xmlns="" xmlns:a16="http://schemas.microsoft.com/office/drawing/2014/main" xmlns:a14="http://schemas.microsoft.com/office/drawing/2010/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xmlns:a14="http://schemas.microsoft.com/office/drawing/2010/main" val="2127780301"/>
                      </a:ext>
                    </a:extLst>
                  </a:tr>
                  <a:tr h="4045340">
                    <a:tc>
                      <a:txBody>
                        <a:bodyPr/>
                        <a:lstStyle/>
                        <a:p>
                          <a:endParaRPr lang="en-US"/>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60" t="-11295" r="-402878" b="-151"/>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308303360"/>
                      </a:ext>
                    </a:extLst>
                  </a:tr>
                </a:tbl>
              </a:graphicData>
            </a:graphic>
          </p:graphicFrame>
        </mc:Fallback>
      </mc:AlternateContent>
      <p:pic>
        <p:nvPicPr>
          <p:cNvPr id="14" name="Picture 13">
            <a:extLst>
              <a:ext uri="{FF2B5EF4-FFF2-40B4-BE49-F238E27FC236}">
                <a16:creationId xmlns:a16="http://schemas.microsoft.com/office/drawing/2014/main" id="{B2B31934-28E0-064C-9C53-C428DAEC8A7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95432" y="2003918"/>
            <a:ext cx="3867152" cy="3867152"/>
          </a:xfrm>
          <a:prstGeom prst="rect">
            <a:avLst/>
          </a:prstGeom>
        </p:spPr>
      </p:pic>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TextBox 15">
            <a:extLst>
              <a:ext uri="{FF2B5EF4-FFF2-40B4-BE49-F238E27FC236}">
                <a16:creationId xmlns:a16="http://schemas.microsoft.com/office/drawing/2014/main" id="{2FA392D8-3ED3-7940-83A8-1451AA8A08D4}"/>
              </a:ext>
            </a:extLst>
          </p:cNvPr>
          <p:cNvSpPr txBox="1"/>
          <p:nvPr/>
        </p:nvSpPr>
        <p:spPr>
          <a:xfrm>
            <a:off x="914400" y="520394"/>
            <a:ext cx="10609524" cy="707886"/>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A line segment is shown in the table with three different weighted averages. Write the expression that can be used to find each weighted average.</a:t>
            </a:r>
          </a:p>
        </p:txBody>
      </p:sp>
    </p:spTree>
    <p:extLst>
      <p:ext uri="{BB962C8B-B14F-4D97-AF65-F5344CB8AC3E}">
        <p14:creationId xmlns:p14="http://schemas.microsoft.com/office/powerpoint/2010/main" val="3442677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71742E1E-2364-4844-A754-079D06415E58}"/>
                  </a:ext>
                </a:extLst>
              </p:cNvPr>
              <p:cNvGraphicFramePr>
                <a:graphicFrameLocks noGrp="1"/>
              </p:cNvGraphicFramePr>
              <p:nvPr>
                <p:extLst>
                  <p:ext uri="{D42A27DB-BD31-4B8C-83A1-F6EECF244321}">
                    <p14:modId xmlns:p14="http://schemas.microsoft.com/office/powerpoint/2010/main" val="3531072903"/>
                  </p:ext>
                </p:extLst>
              </p:nvPr>
            </p:nvGraphicFramePr>
            <p:xfrm>
              <a:off x="1491099" y="556531"/>
              <a:ext cx="8520095" cy="4502540"/>
            </p:xfrm>
            <a:graphic>
              <a:graphicData uri="http://schemas.openxmlformats.org/drawingml/2006/table">
                <a:tbl>
                  <a:tblPr firstRow="1" firstCol="1" bandRow="1"/>
                  <a:tblGrid>
                    <a:gridCol w="1697162">
                      <a:extLst>
                        <a:ext uri="{9D8B030D-6E8A-4147-A177-3AD203B41FA5}">
                          <a16:colId xmlns:a16="http://schemas.microsoft.com/office/drawing/2014/main" val="2644001025"/>
                        </a:ext>
                      </a:extLst>
                    </a:gridCol>
                    <a:gridCol w="4580338">
                      <a:extLst>
                        <a:ext uri="{9D8B030D-6E8A-4147-A177-3AD203B41FA5}">
                          <a16:colId xmlns:a16="http://schemas.microsoft.com/office/drawing/2014/main" val="2061158395"/>
                        </a:ext>
                      </a:extLst>
                    </a:gridCol>
                    <a:gridCol w="2242595">
                      <a:extLst>
                        <a:ext uri="{9D8B030D-6E8A-4147-A177-3AD203B41FA5}">
                          <a16:colId xmlns:a16="http://schemas.microsoft.com/office/drawing/2014/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127780301"/>
                      </a:ext>
                    </a:extLst>
                  </a:tr>
                  <a:tr h="40453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Helvetica Neue" panose="02000503000000020004" pitchFamily="2" charset="0"/>
                                    <a:cs typeface="Helvetica Neue" panose="02000503000000020004" pitchFamily="2" charset="0"/>
                                  </a:rPr>
                                  <m:t>2</m:t>
                                </m:r>
                                <m:r>
                                  <a:rPr lang="en-US" sz="2000" b="0" i="1" smtClean="0">
                                    <a:effectLst/>
                                    <a:latin typeface="Cambria Math"/>
                                    <a:ea typeface="Helvetica Neue" panose="02000503000000020004" pitchFamily="2" charset="0"/>
                                    <a:cs typeface="Helvetica Neue" panose="02000503000000020004" pitchFamily="2" charset="0"/>
                                  </a:rPr>
                                  <m:t>:3</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303360"/>
                      </a:ext>
                    </a:extLst>
                  </a:tr>
                </a:tbl>
              </a:graphicData>
            </a:graphic>
          </p:graphicFrame>
        </mc:Choice>
        <mc:Fallback xmlns="">
          <p:graphicFrame>
            <p:nvGraphicFramePr>
              <p:cNvPr id="20" name="Table 19">
                <a:extLst>
                  <a:ext uri="{FF2B5EF4-FFF2-40B4-BE49-F238E27FC236}">
                    <a16:creationId xmlns="" xmlns:a16="http://schemas.microsoft.com/office/drawing/2014/main" xmlns:a14="http://schemas.microsoft.com/office/drawing/2010/main" id="{71742E1E-2364-4844-A754-079D06415E58}"/>
                  </a:ext>
                </a:extLst>
              </p:cNvPr>
              <p:cNvGraphicFramePr>
                <a:graphicFrameLocks noGrp="1"/>
              </p:cNvGraphicFramePr>
              <p:nvPr>
                <p:extLst>
                  <p:ext uri="{D42A27DB-BD31-4B8C-83A1-F6EECF244321}">
                    <p14:modId xmlns:p14="http://schemas.microsoft.com/office/powerpoint/2010/main" val="3531072903"/>
                  </p:ext>
                </p:extLst>
              </p:nvPr>
            </p:nvGraphicFramePr>
            <p:xfrm>
              <a:off x="1491099" y="556531"/>
              <a:ext cx="8520095" cy="4502540"/>
            </p:xfrm>
            <a:graphic>
              <a:graphicData uri="http://schemas.openxmlformats.org/drawingml/2006/table">
                <a:tbl>
                  <a:tblPr firstRow="1" firstCol="1" bandRow="1"/>
                  <a:tblGrid>
                    <a:gridCol w="1697162">
                      <a:extLst>
                        <a:ext uri="{9D8B030D-6E8A-4147-A177-3AD203B41FA5}">
                          <a16:colId xmlns="" xmlns:a16="http://schemas.microsoft.com/office/drawing/2014/main" xmlns:a14="http://schemas.microsoft.com/office/drawing/2010/main" val="2644001025"/>
                        </a:ext>
                      </a:extLst>
                    </a:gridCol>
                    <a:gridCol w="4580338">
                      <a:extLst>
                        <a:ext uri="{9D8B030D-6E8A-4147-A177-3AD203B41FA5}">
                          <a16:colId xmlns="" xmlns:a16="http://schemas.microsoft.com/office/drawing/2014/main" xmlns:a14="http://schemas.microsoft.com/office/drawing/2010/main" val="2061158395"/>
                        </a:ext>
                      </a:extLst>
                    </a:gridCol>
                    <a:gridCol w="2242595">
                      <a:extLst>
                        <a:ext uri="{9D8B030D-6E8A-4147-A177-3AD203B41FA5}">
                          <a16:colId xmlns="" xmlns:a16="http://schemas.microsoft.com/office/drawing/2014/main" xmlns:a14="http://schemas.microsoft.com/office/drawing/2010/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xmlns:a14="http://schemas.microsoft.com/office/drawing/2010/main" val="2127780301"/>
                      </a:ext>
                    </a:extLst>
                  </a:tr>
                  <a:tr h="4045340">
                    <a:tc>
                      <a:txBody>
                        <a:bodyPr/>
                        <a:lstStyle/>
                        <a:p>
                          <a:endParaRPr lang="en-US"/>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60" t="-11295" r="-402878"/>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308303360"/>
                      </a:ext>
                    </a:extLst>
                  </a:tr>
                </a:tbl>
              </a:graphicData>
            </a:graphic>
          </p:graphicFrame>
        </mc:Fallback>
      </mc:AlternateContent>
      <p:grpSp>
        <p:nvGrpSpPr>
          <p:cNvPr id="7" name="Group 6">
            <a:extLst>
              <a:ext uri="{FF2B5EF4-FFF2-40B4-BE49-F238E27FC236}">
                <a16:creationId xmlns:a16="http://schemas.microsoft.com/office/drawing/2014/main" id="{98D408EA-B893-434B-952E-9EA5B79D0B12}"/>
              </a:ext>
            </a:extLst>
          </p:cNvPr>
          <p:cNvGrpSpPr/>
          <p:nvPr/>
        </p:nvGrpSpPr>
        <p:grpSpPr>
          <a:xfrm>
            <a:off x="2781300" y="3170261"/>
            <a:ext cx="6629400" cy="786113"/>
            <a:chOff x="2031300" y="3386808"/>
            <a:chExt cx="6629400" cy="78637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3386808"/>
              <a:ext cx="6629400" cy="786375"/>
              <a:chOff x="0" y="0"/>
              <a:chExt cx="6629400" cy="78637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5" name="Picture 14">
            <a:extLst>
              <a:ext uri="{FF2B5EF4-FFF2-40B4-BE49-F238E27FC236}">
                <a16:creationId xmlns:a16="http://schemas.microsoft.com/office/drawing/2014/main" id="{B9AF42D6-5B4A-8C46-9E88-E4E31732F95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25759" y="1096661"/>
            <a:ext cx="3867912" cy="3867912"/>
          </a:xfrm>
          <a:prstGeom prst="rect">
            <a:avLst/>
          </a:prstGeom>
        </p:spPr>
      </p:pic>
      <p:sp>
        <p:nvSpPr>
          <p:cNvPr id="17"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9"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736603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71742E1E-2364-4844-A754-079D06415E58}"/>
                  </a:ext>
                </a:extLst>
              </p:cNvPr>
              <p:cNvGraphicFramePr>
                <a:graphicFrameLocks noGrp="1"/>
              </p:cNvGraphicFramePr>
              <p:nvPr>
                <p:extLst>
                  <p:ext uri="{D42A27DB-BD31-4B8C-83A1-F6EECF244321}">
                    <p14:modId xmlns:p14="http://schemas.microsoft.com/office/powerpoint/2010/main" val="3842658790"/>
                  </p:ext>
                </p:extLst>
              </p:nvPr>
            </p:nvGraphicFramePr>
            <p:xfrm>
              <a:off x="1491099" y="556531"/>
              <a:ext cx="8520095" cy="4502540"/>
            </p:xfrm>
            <a:graphic>
              <a:graphicData uri="http://schemas.openxmlformats.org/drawingml/2006/table">
                <a:tbl>
                  <a:tblPr firstRow="1" firstCol="1" bandRow="1"/>
                  <a:tblGrid>
                    <a:gridCol w="1697162">
                      <a:extLst>
                        <a:ext uri="{9D8B030D-6E8A-4147-A177-3AD203B41FA5}">
                          <a16:colId xmlns:a16="http://schemas.microsoft.com/office/drawing/2014/main" val="2644001025"/>
                        </a:ext>
                      </a:extLst>
                    </a:gridCol>
                    <a:gridCol w="4580338">
                      <a:extLst>
                        <a:ext uri="{9D8B030D-6E8A-4147-A177-3AD203B41FA5}">
                          <a16:colId xmlns:a16="http://schemas.microsoft.com/office/drawing/2014/main" val="2061158395"/>
                        </a:ext>
                      </a:extLst>
                    </a:gridCol>
                    <a:gridCol w="2242595">
                      <a:extLst>
                        <a:ext uri="{9D8B030D-6E8A-4147-A177-3AD203B41FA5}">
                          <a16:colId xmlns:a16="http://schemas.microsoft.com/office/drawing/2014/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127780301"/>
                      </a:ext>
                    </a:extLst>
                  </a:tr>
                  <a:tr h="40453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0" i="1" smtClean="0">
                                    <a:effectLst/>
                                    <a:latin typeface="Cambria Math"/>
                                    <a:ea typeface="Helvetica Neue" panose="02000503000000020004" pitchFamily="2" charset="0"/>
                                    <a:cs typeface="Helvetica Neue" panose="02000503000000020004" pitchFamily="2" charset="0"/>
                                  </a:rPr>
                                  <m:t>1:5</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303360"/>
                      </a:ext>
                    </a:extLst>
                  </a:tr>
                </a:tbl>
              </a:graphicData>
            </a:graphic>
          </p:graphicFrame>
        </mc:Choice>
        <mc:Fallback xmlns="">
          <p:graphicFrame>
            <p:nvGraphicFramePr>
              <p:cNvPr id="20" name="Table 19">
                <a:extLst>
                  <a:ext uri="{FF2B5EF4-FFF2-40B4-BE49-F238E27FC236}">
                    <a16:creationId xmlns="" xmlns:a16="http://schemas.microsoft.com/office/drawing/2014/main" xmlns:a14="http://schemas.microsoft.com/office/drawing/2010/main" id="{71742E1E-2364-4844-A754-079D06415E58}"/>
                  </a:ext>
                </a:extLst>
              </p:cNvPr>
              <p:cNvGraphicFramePr>
                <a:graphicFrameLocks noGrp="1"/>
              </p:cNvGraphicFramePr>
              <p:nvPr>
                <p:extLst>
                  <p:ext uri="{D42A27DB-BD31-4B8C-83A1-F6EECF244321}">
                    <p14:modId xmlns:p14="http://schemas.microsoft.com/office/powerpoint/2010/main" val="3842658790"/>
                  </p:ext>
                </p:extLst>
              </p:nvPr>
            </p:nvGraphicFramePr>
            <p:xfrm>
              <a:off x="1491099" y="556531"/>
              <a:ext cx="8520095" cy="4502540"/>
            </p:xfrm>
            <a:graphic>
              <a:graphicData uri="http://schemas.openxmlformats.org/drawingml/2006/table">
                <a:tbl>
                  <a:tblPr firstRow="1" firstCol="1" bandRow="1"/>
                  <a:tblGrid>
                    <a:gridCol w="1697162">
                      <a:extLst>
                        <a:ext uri="{9D8B030D-6E8A-4147-A177-3AD203B41FA5}">
                          <a16:colId xmlns="" xmlns:a16="http://schemas.microsoft.com/office/drawing/2014/main" xmlns:a14="http://schemas.microsoft.com/office/drawing/2010/main" val="2644001025"/>
                        </a:ext>
                      </a:extLst>
                    </a:gridCol>
                    <a:gridCol w="4580338">
                      <a:extLst>
                        <a:ext uri="{9D8B030D-6E8A-4147-A177-3AD203B41FA5}">
                          <a16:colId xmlns="" xmlns:a16="http://schemas.microsoft.com/office/drawing/2014/main" xmlns:a14="http://schemas.microsoft.com/office/drawing/2010/main" val="2061158395"/>
                        </a:ext>
                      </a:extLst>
                    </a:gridCol>
                    <a:gridCol w="2242595">
                      <a:extLst>
                        <a:ext uri="{9D8B030D-6E8A-4147-A177-3AD203B41FA5}">
                          <a16:colId xmlns="" xmlns:a16="http://schemas.microsoft.com/office/drawing/2014/main" xmlns:a14="http://schemas.microsoft.com/office/drawing/2010/main" val="9015235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Partition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Graph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Expression</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xmlns:a14="http://schemas.microsoft.com/office/drawing/2010/main" val="2127780301"/>
                      </a:ext>
                    </a:extLst>
                  </a:tr>
                  <a:tr h="4045340">
                    <a:tc>
                      <a:txBody>
                        <a:bodyPr/>
                        <a:lstStyle/>
                        <a:p>
                          <a:endParaRPr lang="en-US"/>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60" t="-11295" r="-402878"/>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6686" marR="8668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308303360"/>
                      </a:ext>
                    </a:extLst>
                  </a:tr>
                </a:tbl>
              </a:graphicData>
            </a:graphic>
          </p:graphicFrame>
        </mc:Fallback>
      </mc:AlternateContent>
      <p:grpSp>
        <p:nvGrpSpPr>
          <p:cNvPr id="7" name="Group 6">
            <a:extLst>
              <a:ext uri="{FF2B5EF4-FFF2-40B4-BE49-F238E27FC236}">
                <a16:creationId xmlns:a16="http://schemas.microsoft.com/office/drawing/2014/main" id="{98D408EA-B893-434B-952E-9EA5B79D0B12}"/>
              </a:ext>
            </a:extLst>
          </p:cNvPr>
          <p:cNvGrpSpPr/>
          <p:nvPr/>
        </p:nvGrpSpPr>
        <p:grpSpPr>
          <a:xfrm>
            <a:off x="2781300" y="3170261"/>
            <a:ext cx="6629400" cy="786113"/>
            <a:chOff x="2031300" y="3386808"/>
            <a:chExt cx="6629400" cy="78637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3386808"/>
              <a:ext cx="6629400" cy="786375"/>
              <a:chOff x="0" y="0"/>
              <a:chExt cx="6629400" cy="78637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6" name="Picture 15">
            <a:extLst>
              <a:ext uri="{FF2B5EF4-FFF2-40B4-BE49-F238E27FC236}">
                <a16:creationId xmlns:a16="http://schemas.microsoft.com/office/drawing/2014/main" id="{C4961CCC-0309-114B-A598-7C8B3CDC349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13373" y="1103336"/>
            <a:ext cx="3867912" cy="3867912"/>
          </a:xfrm>
          <a:prstGeom prst="rect">
            <a:avLst/>
          </a:prstGeom>
        </p:spPr>
      </p:pic>
      <p:sp>
        <p:nvSpPr>
          <p:cNvPr id="17"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9"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373611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98D408EA-B893-434B-952E-9EA5B79D0B12}"/>
              </a:ext>
            </a:extLst>
          </p:cNvPr>
          <p:cNvGrpSpPr/>
          <p:nvPr/>
        </p:nvGrpSpPr>
        <p:grpSpPr>
          <a:xfrm>
            <a:off x="2781300" y="3170261"/>
            <a:ext cx="6629400" cy="786113"/>
            <a:chOff x="2031300" y="3386808"/>
            <a:chExt cx="6629400" cy="786375"/>
          </a:xfrm>
        </p:grpSpPr>
        <p:grpSp>
          <p:nvGrpSpPr>
            <p:cNvPr id="10" name="Group 9">
              <a:extLst>
                <a:ext uri="{FF2B5EF4-FFF2-40B4-BE49-F238E27FC236}">
                  <a16:creationId xmlns:a16="http://schemas.microsoft.com/office/drawing/2014/main" id="{E1E84296-5A43-054F-AABB-89731FDAD853}"/>
                </a:ext>
              </a:extLst>
            </p:cNvPr>
            <p:cNvGrpSpPr/>
            <p:nvPr/>
          </p:nvGrpSpPr>
          <p:grpSpPr>
            <a:xfrm>
              <a:off x="2031300" y="3386808"/>
              <a:ext cx="6629400" cy="786375"/>
              <a:chOff x="0" y="0"/>
              <a:chExt cx="6629400" cy="786375"/>
            </a:xfrm>
          </p:grpSpPr>
          <p:sp>
            <p:nvSpPr>
              <p:cNvPr id="11" name="Rectangle 10">
                <a:extLst>
                  <a:ext uri="{FF2B5EF4-FFF2-40B4-BE49-F238E27FC236}">
                    <a16:creationId xmlns:a16="http://schemas.microsoft.com/office/drawing/2014/main" id="{2F25B562-855B-5A4E-915D-AFEFC50EF41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55F3F2A-3C8F-1D4E-83E6-71A1770951B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grpSp>
      <p:sp>
        <p:nvSpPr>
          <p:cNvPr id="14"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5"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TextBox 15">
            <a:extLst>
              <a:ext uri="{FF2B5EF4-FFF2-40B4-BE49-F238E27FC236}">
                <a16:creationId xmlns:a16="http://schemas.microsoft.com/office/drawing/2014/main" id="{2FA392D8-3ED3-7940-83A8-1451AA8A08D4}"/>
              </a:ext>
            </a:extLst>
          </p:cNvPr>
          <p:cNvSpPr txBox="1"/>
          <p:nvPr/>
        </p:nvSpPr>
        <p:spPr>
          <a:xfrm>
            <a:off x="914400" y="520394"/>
            <a:ext cx="10229850" cy="1200329"/>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how changing the weights moves the weighted average on the number line. Summarize your discussion.</a:t>
            </a:r>
          </a:p>
        </p:txBody>
      </p:sp>
    </p:spTree>
    <p:extLst>
      <p:ext uri="{BB962C8B-B14F-4D97-AF65-F5344CB8AC3E}">
        <p14:creationId xmlns:p14="http://schemas.microsoft.com/office/powerpoint/2010/main" val="647753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11409" y="2766145"/>
            <a:ext cx="4772476"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800" b="1" dirty="0">
                <a:solidFill>
                  <a:srgbClr val="33BEA6"/>
                </a:solidFill>
                <a:latin typeface="Verdana"/>
                <a:ea typeface="Verdana"/>
                <a:cs typeface="Verdana"/>
                <a:sym typeface="Verdana"/>
              </a:rPr>
              <a:t>Collaboration</a:t>
            </a:r>
            <a:endParaRPr sz="4400" b="1" dirty="0">
              <a:solidFill>
                <a:srgbClr val="33BEA6"/>
              </a:solidFill>
              <a:latin typeface="Verdana"/>
              <a:ea typeface="Verdana"/>
              <a:cs typeface="Verdana"/>
              <a:sym typeface="Verdana"/>
            </a:endParaRPr>
          </a:p>
        </p:txBody>
      </p:sp>
      <p:pic>
        <p:nvPicPr>
          <p:cNvPr id="7" name="image6.png" descr="A picture containing shape&#10;&#10;Description automatically generated">
            <a:extLst>
              <a:ext uri="{FF2B5EF4-FFF2-40B4-BE49-F238E27FC236}">
                <a16:creationId xmlns:a16="http://schemas.microsoft.com/office/drawing/2014/main" id="{8302D50E-B969-E645-8E2B-A0DC498C63F0}"/>
              </a:ext>
            </a:extLst>
          </p:cNvPr>
          <p:cNvPicPr/>
          <p:nvPr/>
        </p:nvPicPr>
        <p:blipFill>
          <a:blip r:embed="rId3"/>
          <a:srcRect/>
          <a:stretch>
            <a:fillRect/>
          </a:stretch>
        </p:blipFill>
        <p:spPr>
          <a:xfrm>
            <a:off x="4555181" y="2850886"/>
            <a:ext cx="1156228" cy="1156228"/>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64819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5" y="12344"/>
            <a:ext cx="103442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3BEA6"/>
                </a:solidFill>
                <a:latin typeface="Verdana"/>
                <a:ea typeface="Verdana"/>
                <a:cs typeface="Verdana"/>
                <a:sym typeface="Verdana"/>
              </a:rPr>
              <a:t>13.5.4 Collaboration: </a:t>
            </a:r>
            <a:br>
              <a:rPr lang="en-US" sz="3400" b="1" dirty="0">
                <a:solidFill>
                  <a:srgbClr val="33BEA6"/>
                </a:solidFill>
                <a:latin typeface="Verdana"/>
                <a:ea typeface="Verdana"/>
                <a:cs typeface="Verdana"/>
                <a:sym typeface="Verdana"/>
              </a:rPr>
            </a:br>
            <a:r>
              <a:rPr lang="en-US" sz="3400" b="1" dirty="0">
                <a:solidFill>
                  <a:srgbClr val="33BEA6"/>
                </a:solidFill>
                <a:latin typeface="Verdana"/>
                <a:ea typeface="Verdana"/>
                <a:cs typeface="Verdana"/>
                <a:sym typeface="Verdana"/>
              </a:rPr>
              <a:t>Weighted Averages and Dilations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6874" y="1519469"/>
                <a:ext cx="5337201"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𝑉𝑋𝑊𝑌 has vertices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𝑉</m:t>
                    </m:r>
                    <m:r>
                      <a:rPr lang="en-US" sz="2000" i="1" dirty="0">
                        <a:latin typeface="Cambria Math" panose="02040503050406030204" pitchFamily="18" charset="0"/>
                        <a:ea typeface="Verdana" panose="020B0604030504040204" pitchFamily="34" charset="0"/>
                        <a:cs typeface="Verdana" panose="020B0604030504040204" pitchFamily="34" charset="0"/>
                      </a:rPr>
                      <m:t>(8,9)</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𝑋</m:t>
                    </m:r>
                    <m:r>
                      <a:rPr lang="en-US" sz="2000" i="1" dirty="0">
                        <a:latin typeface="Cambria Math" panose="02040503050406030204" pitchFamily="18" charset="0"/>
                        <a:ea typeface="Verdana" panose="020B0604030504040204" pitchFamily="34" charset="0"/>
                        <a:cs typeface="Verdana" panose="020B0604030504040204" pitchFamily="34" charset="0"/>
                      </a:rPr>
                      <m:t>(6,3)</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𝑊</m:t>
                    </m:r>
                    <m:r>
                      <a:rPr lang="en-US" sz="2000" i="1" dirty="0">
                        <a:latin typeface="Cambria Math" panose="02040503050406030204" pitchFamily="18" charset="0"/>
                        <a:ea typeface="Verdana" panose="020B0604030504040204" pitchFamily="34" charset="0"/>
                        <a:cs typeface="Verdana" panose="020B0604030504040204" pitchFamily="34" charset="0"/>
                      </a:rPr>
                      <m:t>(2,3)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𝑌</m:t>
                    </m:r>
                    <m:r>
                      <a:rPr lang="en-US" sz="2000" i="1" dirty="0">
                        <a:latin typeface="Cambria Math" panose="02040503050406030204" pitchFamily="18" charset="0"/>
                        <a:ea typeface="Verdana" panose="020B0604030504040204" pitchFamily="34" charset="0"/>
                        <a:cs typeface="Verdana" panose="020B0604030504040204" pitchFamily="34" charset="0"/>
                      </a:rPr>
                      <m:t>(4,9)</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Find the point that partitions </a:t>
                </a:r>
                <a14:m>
                  <m:oMath xmlns:m="http://schemas.openxmlformats.org/officeDocument/2006/math">
                    <m:acc>
                      <m:accPr>
                        <m:chr m:val="̅"/>
                        <m:ctrlPr>
                          <a:rPr lang="en-US" sz="2000" i="1" dirty="0">
                            <a:latin typeface="Cambria Math" panose="02040503050406030204" pitchFamily="18" charset="0"/>
                            <a:cs typeface="Times New Roman" panose="02020603050405020304" pitchFamily="18" charset="0"/>
                          </a:rPr>
                        </m:ctrlPr>
                      </m:accPr>
                      <m:e>
                        <m:r>
                          <a:rPr lang="es-ES" sz="2000" i="1" dirty="0">
                            <a:latin typeface="Cambria Math" panose="02040503050406030204" pitchFamily="18" charset="0"/>
                            <a:cs typeface="Times New Roman" panose="02020603050405020304" pitchFamily="18" charset="0"/>
                          </a:rPr>
                          <m:t>𝑊𝑋</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a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ratio. Label it 𝑅. </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Find the point that partitions </a:t>
                </a:r>
                <a14:m>
                  <m:oMath xmlns:m="http://schemas.openxmlformats.org/officeDocument/2006/math">
                    <m:acc>
                      <m:accPr>
                        <m:chr m:val="̅"/>
                        <m:ctrlPr>
                          <a:rPr lang="en-US" sz="2000" i="1" dirty="0">
                            <a:latin typeface="Cambria Math" panose="02040503050406030204" pitchFamily="18" charset="0"/>
                            <a:cs typeface="Times New Roman" panose="02020603050405020304" pitchFamily="18" charset="0"/>
                          </a:rPr>
                        </m:ctrlPr>
                      </m:accPr>
                      <m:e>
                        <m:r>
                          <a:rPr lang="es-ES" sz="2000" i="1" dirty="0">
                            <a:latin typeface="Cambria Math" panose="02040503050406030204" pitchFamily="18" charset="0"/>
                            <a:cs typeface="Times New Roman" panose="02020603050405020304" pitchFamily="18" charset="0"/>
                          </a:rPr>
                          <m:t>𝑊𝑌</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a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ratio. Label it 𝑇.</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Find the point that partitions </a:t>
                </a:r>
                <a14:m>
                  <m:oMath xmlns:m="http://schemas.openxmlformats.org/officeDocument/2006/math">
                    <m:acc>
                      <m:accPr>
                        <m:chr m:val="̅"/>
                        <m:ctrlPr>
                          <a:rPr lang="en-US" sz="2000" i="1" dirty="0">
                            <a:latin typeface="Cambria Math" panose="02040503050406030204" pitchFamily="18" charset="0"/>
                            <a:cs typeface="Times New Roman" panose="02020603050405020304" pitchFamily="18" charset="0"/>
                          </a:rPr>
                        </m:ctrlPr>
                      </m:accPr>
                      <m:e>
                        <m:r>
                          <a:rPr lang="es-ES" sz="2000" i="1" dirty="0">
                            <a:latin typeface="Cambria Math" panose="02040503050406030204" pitchFamily="18" charset="0"/>
                            <a:cs typeface="Times New Roman" panose="02020603050405020304" pitchFamily="18" charset="0"/>
                          </a:rPr>
                          <m:t>𝑊𝑉</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a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ratio. Label it 𝑆. </a:t>
                </a: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Is 𝑊𝑇𝑆𝑅 a dilation of 𝑊𝑌𝑉𝑋? Justify your answer.</a:t>
                </a:r>
              </a:p>
            </p:txBody>
          </p:sp>
        </mc:Choice>
        <mc:Fallback xmlns="">
          <p:sp>
            <p:nvSpPr>
              <p:cNvPr id="10" name="TextBox 9">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596874" y="1519469"/>
                <a:ext cx="5337201" cy="4401205"/>
              </a:xfrm>
              <a:prstGeom prst="rect">
                <a:avLst/>
              </a:prstGeom>
              <a:blipFill rotWithShape="1">
                <a:blip r:embed="rId3"/>
                <a:stretch>
                  <a:fillRect l="-1257" t="-831" b="-1524"/>
                </a:stretch>
              </a:blipFill>
            </p:spPr>
            <p:txBody>
              <a:bodyPr/>
              <a:lstStyle/>
              <a:p>
                <a:r>
                  <a:rPr lang="en-US">
                    <a:noFill/>
                  </a:rPr>
                  <a:t> </a:t>
                </a:r>
              </a:p>
            </p:txBody>
          </p:sp>
        </mc:Fallback>
      </mc:AlternateContent>
      <p:pic>
        <p:nvPicPr>
          <p:cNvPr id="25" name="image6.png" descr="A picture containing shape&#10;&#10;Description automatically generated">
            <a:extLst>
              <a:ext uri="{FF2B5EF4-FFF2-40B4-BE49-F238E27FC236}">
                <a16:creationId xmlns:a16="http://schemas.microsoft.com/office/drawing/2014/main" id="{72D330F2-4D25-5241-BE20-53E92DDDEC8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99978" y="297656"/>
            <a:ext cx="755076" cy="755076"/>
          </a:xfrm>
          <a:prstGeom prst="rect">
            <a:avLst/>
          </a:prstGeom>
          <a:ln/>
          <a:effectLst>
            <a:outerShdw blurRad="50800" dist="38100" dir="2700000" algn="tl" rotWithShape="0">
              <a:prstClr val="black">
                <a:alpha val="40000"/>
              </a:prstClr>
            </a:outerShdw>
          </a:effectLst>
        </p:spPr>
      </p:pic>
      <p:pic>
        <p:nvPicPr>
          <p:cNvPr id="9" name="Picture 8" descr="Chart, line chart&#10;&#10;Description automatically generated">
            <a:extLst>
              <a:ext uri="{FF2B5EF4-FFF2-40B4-BE49-F238E27FC236}">
                <a16:creationId xmlns:a16="http://schemas.microsoft.com/office/drawing/2014/main" id="{3D155483-DFAB-F94D-A772-E05DAA1F6EA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42336" y="1519469"/>
            <a:ext cx="4981588" cy="4506341"/>
          </a:xfrm>
          <a:prstGeom prst="rect">
            <a:avLst/>
          </a:prstGeom>
        </p:spPr>
      </p:pic>
      <p:sp>
        <p:nvSpPr>
          <p:cNvPr id="11"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91248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FA392D8-3ED3-7940-83A8-1451AA8A08D4}"/>
                  </a:ext>
                </a:extLst>
              </p:cNvPr>
              <p:cNvSpPr txBox="1"/>
              <p:nvPr/>
            </p:nvSpPr>
            <p:spPr>
              <a:xfrm>
                <a:off x="914400" y="520394"/>
                <a:ext cx="10229850" cy="2461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Triangle 𝑁𝐶𝐻 has vertices at </a:t>
                </a:r>
                <a:br>
                  <a:rPr lang="en-US" sz="2400" dirty="0">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𝑁</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𝐶</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𝐻</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a:r>
                  <a:rPr lang="en-US" sz="2400" dirty="0">
                    <a:latin typeface="Verdana" panose="020B0604030504040204" pitchFamily="34" charset="0"/>
                    <a:ea typeface="Times New Roman" panose="02020603050405020304" pitchFamily="18" charset="0"/>
                    <a:cs typeface="Times New Roman" panose="02020603050405020304" pitchFamily="18" charset="0"/>
                  </a:rPr>
                  <a:t>Use segment partitioning to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dilate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𝑁𝐶𝐻</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using center 𝐶 and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scale factor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3" name="TextBox 12">
                <a:extLst>
                  <a:ext uri="{FF2B5EF4-FFF2-40B4-BE49-F238E27FC236}">
                    <a16:creationId xmlns:a14="http://schemas.microsoft.com/office/drawing/2010/main" xmlns=""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229850" cy="2461315"/>
              </a:xfrm>
              <a:prstGeom prst="rect">
                <a:avLst/>
              </a:prstGeom>
              <a:blipFill rotWithShape="1">
                <a:blip r:embed="rId3"/>
                <a:stretch>
                  <a:fillRect l="-894" t="-2228" b="-990"/>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Chart, line chart&#10;&#10;Description automatically generated">
            <a:extLst>
              <a:ext uri="{FF2B5EF4-FFF2-40B4-BE49-F238E27FC236}">
                <a16:creationId xmlns:a16="http://schemas.microsoft.com/office/drawing/2014/main" id="{5061D5A6-D5DF-8240-B049-863847646D0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84052" y="520393"/>
            <a:ext cx="4260198" cy="4387627"/>
          </a:xfrm>
          <a:prstGeom prst="rect">
            <a:avLst/>
          </a:prstGeom>
        </p:spPr>
      </p:pic>
      <p:sp>
        <p:nvSpPr>
          <p:cNvPr id="10"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5552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05571"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7" name="image16.png" descr="Icon&#10;&#10;Description automatically generated">
            <a:extLst>
              <a:ext uri="{FF2B5EF4-FFF2-40B4-BE49-F238E27FC236}">
                <a16:creationId xmlns:a16="http://schemas.microsoft.com/office/drawing/2014/main" id="{012B9B9A-9084-2349-BD1D-83822B225B34}"/>
              </a:ext>
            </a:extLst>
          </p:cNvPr>
          <p:cNvPicPr/>
          <p:nvPr/>
        </p:nvPicPr>
        <p:blipFill>
          <a:blip r:embed="rId3"/>
          <a:srcRect/>
          <a:stretch>
            <a:fillRect/>
          </a:stretch>
        </p:blipFill>
        <p:spPr>
          <a:xfrm>
            <a:off x="4553427" y="2852929"/>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85703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096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13.5.5 Your Turn!</a:t>
            </a:r>
            <a:endParaRPr lang="en-US" sz="4000" b="1" dirty="0">
              <a:solidFill>
                <a:srgbClr val="E24E5F"/>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10" name="image16.png" descr="Icon&#10;&#10;Description automatically generated">
            <a:extLst>
              <a:ext uri="{FF2B5EF4-FFF2-40B4-BE49-F238E27FC236}">
                <a16:creationId xmlns:a16="http://schemas.microsoft.com/office/drawing/2014/main" id="{76B6628A-8A4E-C040-BE16-F48C27DCC74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322375" y="287945"/>
            <a:ext cx="749810" cy="749810"/>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2D1D4D-DCB8-A246-B186-D40316579D77}"/>
                  </a:ext>
                </a:extLst>
              </p:cNvPr>
              <p:cNvSpPr txBox="1"/>
              <p:nvPr/>
            </p:nvSpPr>
            <p:spPr>
              <a:xfrm>
                <a:off x="596874" y="1325700"/>
                <a:ext cx="10927050"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Line segment 𝑀𝐾 has endpoints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(8, 7)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expression for the point that partitions directed line segment 𝑀𝐾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a:t>
                </a:r>
              </a:p>
              <a:p>
                <a:pPr marL="889000" indent="-39211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89000" indent="-39211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expression to find the point that partitions directed line segment 𝑀𝐾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a:t>
                </a:r>
              </a:p>
            </p:txBody>
          </p:sp>
        </mc:Choice>
        <mc:Fallback xmlns="">
          <p:sp>
            <p:nvSpPr>
              <p:cNvPr id="13" name="TextBox 12">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596874" y="1325700"/>
                <a:ext cx="10927050" cy="3416320"/>
              </a:xfrm>
              <a:prstGeom prst="rect">
                <a:avLst/>
              </a:prstGeom>
              <a:blipFill rotWithShape="1">
                <a:blip r:embed="rId5"/>
                <a:stretch>
                  <a:fillRect l="-893" t="-1604" r="-1228" b="-3030"/>
                </a:stretch>
              </a:blipFill>
            </p:spPr>
            <p:txBody>
              <a:bodyPr/>
              <a:lstStyle/>
              <a:p>
                <a:r>
                  <a:rPr lang="en-US">
                    <a:noFill/>
                  </a:rPr>
                  <a:t> </a:t>
                </a:r>
              </a:p>
            </p:txBody>
          </p:sp>
        </mc:Fallback>
      </mc:AlternateContent>
    </p:spTree>
    <p:extLst>
      <p:ext uri="{BB962C8B-B14F-4D97-AF65-F5344CB8AC3E}">
        <p14:creationId xmlns:p14="http://schemas.microsoft.com/office/powerpoint/2010/main" val="1101146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52650" y="14168"/>
            <a:ext cx="102067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13.5.6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305350" y="3033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93247" y="1304198"/>
                <a:ext cx="10930677" cy="436382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number line is shown. Each grid space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unit.</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the point on the number line that satisfies the expression shown. Label the point 𝑀.</a:t>
                </a:r>
              </a:p>
              <a:p>
                <a:pPr marL="365125" indent="523875"/>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65125" indent="523875"/>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2</m:t>
                          </m:r>
                        </m:num>
                        <m:den>
                          <m:r>
                            <a:rPr lang="es-ES" sz="2000" i="1" dirty="0">
                              <a:latin typeface="Cambria Math" panose="02040503050406030204" pitchFamily="18" charset="0"/>
                              <a:cs typeface="Times New Roman" panose="02020603050405020304" pitchFamily="18" charset="0"/>
                            </a:rPr>
                            <m:t>5</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point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𝑊</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5</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point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𝑇</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65125" indent="523875"/>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ratio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𝑊𝑀</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𝑀𝑇</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2" name="TextBox 11">
                <a:extLst>
                  <a:ext uri="{FF2B5EF4-FFF2-40B4-BE49-F238E27FC236}">
                    <a16:creationId xmlns="" xmlns:a16="http://schemas.microsoft.com/office/drawing/2014/main" xmlns:a14="http://schemas.microsoft.com/office/drawing/2010/main" id="{0370EDB7-6994-3D43-ABF9-E04CBAFB9CD9}"/>
                  </a:ext>
                </a:extLst>
              </p:cNvPr>
              <p:cNvSpPr txBox="1">
                <a:spLocks noRot="1" noChangeAspect="1" noMove="1" noResize="1" noEditPoints="1" noAdjustHandles="1" noChangeArrowheads="1" noChangeShapeType="1" noTextEdit="1"/>
              </p:cNvSpPr>
              <p:nvPr/>
            </p:nvSpPr>
            <p:spPr>
              <a:xfrm>
                <a:off x="593247" y="1304198"/>
                <a:ext cx="10930677" cy="4363823"/>
              </a:xfrm>
              <a:prstGeom prst="rect">
                <a:avLst/>
              </a:prstGeom>
              <a:blipFill rotWithShape="1">
                <a:blip r:embed="rId4"/>
                <a:stretch>
                  <a:fillRect l="-558" t="-838" r="-669" b="-1536"/>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E2F06073-3F2D-8D41-BC51-CB1F6005B751}"/>
              </a:ext>
            </a:extLst>
          </p:cNvPr>
          <p:cNvPicPr>
            <a:picLocks noChangeAspect="1"/>
          </p:cNvPicPr>
          <p:nvPr/>
        </p:nvPicPr>
        <p:blipFill>
          <a:blip r:embed="rId5"/>
          <a:stretch>
            <a:fillRect/>
          </a:stretch>
        </p:blipFill>
        <p:spPr>
          <a:xfrm>
            <a:off x="1174400" y="1925054"/>
            <a:ext cx="6946900" cy="644525"/>
          </a:xfrm>
          <a:prstGeom prst="rect">
            <a:avLst/>
          </a:prstGeom>
        </p:spPr>
      </p:pic>
      <p:sp>
        <p:nvSpPr>
          <p:cNvPr id="10"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1602</TotalTime>
  <Words>1867</Words>
  <Application>Microsoft Office PowerPoint</Application>
  <PresentationFormat>Widescreen</PresentationFormat>
  <Paragraphs>314</Paragraphs>
  <Slides>35</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Century Gothic</vt:lpstr>
      <vt:lpstr>Cambria</vt:lpstr>
      <vt:lpstr>Wingdings</vt:lpstr>
      <vt:lpstr>Verdana</vt:lpstr>
      <vt:lpstr>Arial Black</vt:lpstr>
      <vt:lpstr>Calibri</vt:lpstr>
      <vt:lpstr>Arial</vt:lpstr>
      <vt:lpstr>Cambria Math</vt:lpstr>
      <vt:lpstr>1_Office Theme</vt:lpstr>
      <vt:lpstr>Geometry  Unit 13, Lesson 5  Weighted Averages  Volume 2, pg. 306  </vt:lpstr>
      <vt:lpstr>PowerPoint Presentation</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51</cp:revision>
  <dcterms:created xsi:type="dcterms:W3CDTF">2015-03-17T18:51:18Z</dcterms:created>
  <dcterms:modified xsi:type="dcterms:W3CDTF">2023-03-03T13:59:51Z</dcterms:modified>
</cp:coreProperties>
</file>