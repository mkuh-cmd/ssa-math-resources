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85" r:id="rId4"/>
    <p:sldId id="286" r:id="rId5"/>
    <p:sldId id="261" r:id="rId6"/>
    <p:sldId id="287" r:id="rId7"/>
    <p:sldId id="311" r:id="rId8"/>
    <p:sldId id="312" r:id="rId9"/>
    <p:sldId id="353" r:id="rId10"/>
    <p:sldId id="368" r:id="rId11"/>
    <p:sldId id="387" r:id="rId12"/>
    <p:sldId id="388" r:id="rId13"/>
    <p:sldId id="389" r:id="rId14"/>
    <p:sldId id="306" r:id="rId15"/>
    <p:sldId id="307" r:id="rId16"/>
  </p:sldIdLst>
  <p:sldSz cx="12192000" cy="6858000"/>
  <p:notesSz cx="6858000" cy="9144000"/>
  <p:embeddedFontLst>
    <p:embeddedFont>
      <p:font typeface="Arial Black" panose="020B0A04020102020204" pitchFamily="34" charset="0"/>
      <p:bold r:id="rId18"/>
    </p:embeddedFont>
    <p:embeddedFont>
      <p:font typeface="Calibri" panose="020F0502020204030204" pitchFamily="34"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Cambria Math" panose="02040503050406030204" pitchFamily="18" charset="0"/>
      <p:regular r:id="rId27"/>
    </p:embeddedFont>
    <p:embeddedFont>
      <p:font typeface="Century Gothic" panose="020B0502020202020204" pitchFamily="34" charset="0"/>
      <p:regular r:id="rId28"/>
      <p:bold r:id="rId29"/>
      <p:italic r:id="rId30"/>
      <p:boldItalic r:id="rId31"/>
    </p:embeddedFont>
    <p:embeddedFont>
      <p:font typeface="Verdana" panose="020B060403050404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5088"/>
    <a:srgbClr val="E24E5F"/>
    <a:srgbClr val="33BEA6"/>
    <a:srgbClr val="79B0DD"/>
    <a:srgbClr val="DA4487"/>
    <a:srgbClr val="276C46"/>
    <a:srgbClr val="C9DF6F"/>
    <a:srgbClr val="417DBF"/>
    <a:srgbClr val="3F2A67"/>
    <a:srgbClr val="26B7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8277" autoAdjust="0"/>
    <p:restoredTop sz="94591" autoAdjust="0"/>
  </p:normalViewPr>
  <p:slideViewPr>
    <p:cSldViewPr snapToGrid="0">
      <p:cViewPr varScale="1">
        <p:scale>
          <a:sx n="114" d="100"/>
          <a:sy n="114" d="100"/>
        </p:scale>
        <p:origin x="1116"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font" Target="fonts/font17.fntdata"/><Relationship Id="rId63"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64"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03528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06019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00719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387373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168523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77809" y="2054277"/>
            <a:ext cx="54000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13, Lesson 11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What is the Figure?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345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530"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72938"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55298" y="31018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28068" y="1448943"/>
            <a:ext cx="111141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MA.912.GR.3.2</a:t>
            </a:r>
          </a:p>
          <a:p>
            <a:pPr indent="0">
              <a:buNone/>
            </a:pPr>
            <a:r>
              <a:rPr lang="en-US" sz="2800" dirty="0">
                <a:solidFill>
                  <a:schemeClr val="tx1"/>
                </a:solidFill>
                <a:latin typeface="Verdana"/>
                <a:ea typeface="Verdana"/>
                <a:cs typeface="Verdana"/>
                <a:sym typeface="Verdana"/>
              </a:rPr>
              <a:t>Given a mathematical context, use coordinate geometry to classify or justify definitions, properties, and theorems involving circles, triangles, or quadrilaterals. </a:t>
            </a:r>
          </a:p>
          <a:p>
            <a:pPr indent="0">
              <a:buNone/>
            </a:pPr>
            <a:endParaRPr lang="en-US" sz="2800" dirty="0">
              <a:solidFill>
                <a:schemeClr val="tx1"/>
              </a:solidFill>
              <a:latin typeface="Verdana"/>
              <a:ea typeface="Verdana"/>
              <a:cs typeface="Verdana"/>
              <a:sym typeface="Verdana"/>
            </a:endParaRPr>
          </a:p>
          <a:p>
            <a:pPr marL="0" indent="0">
              <a:buSzPts val="1100"/>
              <a:buNone/>
            </a:pPr>
            <a:r>
              <a:rPr lang="en-US" sz="2800" dirty="0">
                <a:solidFill>
                  <a:schemeClr val="tx1"/>
                </a:solidFill>
                <a:latin typeface="Verdana"/>
                <a:ea typeface="Verdana"/>
                <a:cs typeface="Verdana"/>
                <a:sym typeface="Verdana"/>
              </a:rPr>
              <a:t>MA.912.GR.3.3</a:t>
            </a:r>
          </a:p>
          <a:p>
            <a:pPr indent="0">
              <a:buNone/>
            </a:pPr>
            <a:r>
              <a:rPr lang="en-US" sz="2800" dirty="0">
                <a:solidFill>
                  <a:schemeClr val="tx1"/>
                </a:solidFill>
                <a:latin typeface="Verdana"/>
                <a:ea typeface="Verdana"/>
                <a:cs typeface="Verdana"/>
                <a:sym typeface="Verdana"/>
              </a:rPr>
              <a:t>Use coordinate geometry to solve mathematical and </a:t>
            </a:r>
            <a:br>
              <a:rPr lang="en-US" sz="2800" dirty="0">
                <a:solidFill>
                  <a:schemeClr val="tx1"/>
                </a:solidFill>
                <a:latin typeface="Verdana"/>
                <a:ea typeface="Verdana"/>
                <a:cs typeface="Verdana"/>
                <a:sym typeface="Verdana"/>
              </a:rPr>
            </a:br>
            <a:r>
              <a:rPr lang="en-US" sz="2800" dirty="0">
                <a:solidFill>
                  <a:schemeClr val="tx1"/>
                </a:solidFill>
                <a:latin typeface="Verdana"/>
                <a:ea typeface="Verdana"/>
                <a:cs typeface="Verdana"/>
                <a:sym typeface="Verdana"/>
              </a:rPr>
              <a:t>real-world geometric problems involving lines, circles, triangles, and quadrilaterals.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72938" y="20985"/>
            <a:ext cx="91824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534806" y="1460584"/>
            <a:ext cx="10726964" cy="47400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pic>
        <p:nvPicPr>
          <p:cNvPr id="10" name="Google Shape;281;g104476d1465_1_17"/>
          <p:cNvPicPr preferRelativeResize="0"/>
          <p:nvPr/>
        </p:nvPicPr>
        <p:blipFill>
          <a:blip r:embed="rId3">
            <a:alphaModFix/>
          </a:blip>
          <a:stretch>
            <a:fillRect/>
          </a:stretch>
        </p:blipFill>
        <p:spPr>
          <a:xfrm>
            <a:off x="455298" y="310185"/>
            <a:ext cx="747300" cy="747300"/>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345</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58870" y="44349"/>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455298"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6344" y="1600200"/>
            <a:ext cx="1116180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57200">
              <a:buClr>
                <a:srgbClr val="434343"/>
              </a:buClr>
              <a:buSzPct val="100000"/>
              <a:buFont typeface="Wingdings" pitchFamily="2" charset="2"/>
              <a:buChar char="q"/>
            </a:pPr>
            <a:r>
              <a:rPr lang="en-US" sz="2800" dirty="0">
                <a:solidFill>
                  <a:schemeClr val="tx1"/>
                </a:solidFill>
                <a:latin typeface="Verdana"/>
                <a:ea typeface="Verdana"/>
                <a:cs typeface="Verdana"/>
                <a:sym typeface="Verdana"/>
              </a:rPr>
              <a:t>I can use coordinate geometry to classify triangles and quadrilaterals. </a:t>
            </a:r>
          </a:p>
          <a:p>
            <a:pPr marL="463550" indent="-457200">
              <a:buClr>
                <a:srgbClr val="434343"/>
              </a:buClr>
              <a:buSzPct val="100000"/>
              <a:buFont typeface="Wingdings" pitchFamily="2" charset="2"/>
              <a:buChar char="q"/>
            </a:pPr>
            <a:endParaRPr lang="en-US" sz="2800" dirty="0">
              <a:solidFill>
                <a:schemeClr val="tx1"/>
              </a:solidFill>
              <a:latin typeface="Verdana"/>
              <a:ea typeface="Verdana"/>
              <a:cs typeface="Verdana"/>
              <a:sym typeface="Verdana"/>
            </a:endParaRPr>
          </a:p>
          <a:p>
            <a:pPr marL="463550" indent="-457200">
              <a:buClr>
                <a:srgbClr val="434343"/>
              </a:buClr>
              <a:buSzPct val="100000"/>
              <a:buFont typeface="Wingdings" pitchFamily="2" charset="2"/>
              <a:buChar char="q"/>
            </a:pPr>
            <a:r>
              <a:rPr lang="en-US" sz="2800" dirty="0">
                <a:solidFill>
                  <a:schemeClr val="tx1"/>
                </a:solidFill>
                <a:latin typeface="Verdana"/>
                <a:ea typeface="Verdana"/>
                <a:cs typeface="Verdana"/>
                <a:sym typeface="Verdana"/>
              </a:rPr>
              <a:t>I can use coordinate geometry to justify definitions, properties, or theorems of triangles and quadrilaterals. </a:t>
            </a:r>
          </a:p>
          <a:p>
            <a:pPr marL="463550" indent="-457200">
              <a:buClr>
                <a:srgbClr val="434343"/>
              </a:buClr>
              <a:buSzPct val="100000"/>
              <a:buFont typeface="Wingdings" pitchFamily="2" charset="2"/>
              <a:buChar char="q"/>
            </a:pPr>
            <a:endParaRPr lang="en-US" sz="2800" dirty="0">
              <a:solidFill>
                <a:schemeClr val="tx1"/>
              </a:solidFill>
              <a:latin typeface="Verdana"/>
              <a:ea typeface="Verdana"/>
              <a:cs typeface="Verdana"/>
              <a:sym typeface="Verdana"/>
            </a:endParaRPr>
          </a:p>
          <a:p>
            <a:pPr marL="463550" indent="-457200">
              <a:buClr>
                <a:srgbClr val="434343"/>
              </a:buClr>
              <a:buSzPct val="100000"/>
              <a:buFont typeface="Wingdings" pitchFamily="2" charset="2"/>
              <a:buChar char="q"/>
            </a:pPr>
            <a:r>
              <a:rPr lang="en-US" sz="2800" dirty="0">
                <a:solidFill>
                  <a:schemeClr val="tx1"/>
                </a:solidFill>
                <a:latin typeface="Verdana"/>
                <a:ea typeface="Verdana"/>
                <a:cs typeface="Verdana"/>
                <a:sym typeface="Verdana"/>
              </a:rPr>
              <a:t>I can use coordinate geometry to solve mathematical problems involving triangles and quadrilaterals. </a:t>
            </a:r>
          </a:p>
        </p:txBody>
      </p:sp>
      <p:sp>
        <p:nvSpPr>
          <p:cNvPr id="11"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345</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4449"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72938" y="2152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13.11.1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455298" y="310722"/>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A4C0B51D-09DC-AA4D-9C14-AE2048199B26}"/>
              </a:ext>
            </a:extLst>
          </p:cNvPr>
          <p:cNvSpPr txBox="1"/>
          <p:nvPr/>
        </p:nvSpPr>
        <p:spPr>
          <a:xfrm>
            <a:off x="539706" y="1455509"/>
            <a:ext cx="10593616"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Jonah is designing a stage in the shape of a trapezoid. Jonah has created two designs.</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2851D863-E7E6-8548-B7BD-2436D9582AAB}"/>
                  </a:ext>
                </a:extLst>
              </p:cNvPr>
              <p:cNvGraphicFramePr>
                <a:graphicFrameLocks noGrp="1"/>
              </p:cNvGraphicFramePr>
              <p:nvPr>
                <p:extLst>
                  <p:ext uri="{D42A27DB-BD31-4B8C-83A1-F6EECF244321}">
                    <p14:modId xmlns:p14="http://schemas.microsoft.com/office/powerpoint/2010/main" val="3867304631"/>
                  </p:ext>
                </p:extLst>
              </p:nvPr>
            </p:nvGraphicFramePr>
            <p:xfrm>
              <a:off x="1117605" y="2469385"/>
              <a:ext cx="9639170" cy="1182541"/>
            </p:xfrm>
            <a:graphic>
              <a:graphicData uri="http://schemas.openxmlformats.org/drawingml/2006/table">
                <a:tbl>
                  <a:tblPr firstRow="1" firstCol="1" bandRow="1"/>
                  <a:tblGrid>
                    <a:gridCol w="4819585">
                      <a:extLst>
                        <a:ext uri="{9D8B030D-6E8A-4147-A177-3AD203B41FA5}">
                          <a16:colId xmlns:a16="http://schemas.microsoft.com/office/drawing/2014/main" val="4257881692"/>
                        </a:ext>
                      </a:extLst>
                    </a:gridCol>
                    <a:gridCol w="4819585">
                      <a:extLst>
                        <a:ext uri="{9D8B030D-6E8A-4147-A177-3AD203B41FA5}">
                          <a16:colId xmlns:a16="http://schemas.microsoft.com/office/drawing/2014/main" val="4277782578"/>
                        </a:ext>
                      </a:extLst>
                    </a:gridCol>
                  </a:tblGrid>
                  <a:tr h="39418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𝑽𝑺𝒁𝒀</m:t>
                                </m:r>
                              </m:oMath>
                            </m:oMathPara>
                          </a14:m>
                          <a:endParaRPr lang="x-none"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8545" marR="985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𝑩𝑮𝑲𝑹</m:t>
                                </m:r>
                              </m:oMath>
                            </m:oMathPara>
                          </a14:m>
                          <a:endParaRPr lang="x-none"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98545" marR="985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961860053"/>
                      </a:ext>
                    </a:extLst>
                  </a:tr>
                  <a:tr h="788361">
                    <a:tc>
                      <a:txBody>
                        <a:bodyPr/>
                        <a:lstStyle/>
                        <a:p>
                          <a:pPr marL="0" marR="0" algn="ctr">
                            <a:spcBef>
                              <a:spcPts val="0"/>
                            </a:spcBef>
                            <a:spcAft>
                              <a:spcPts val="0"/>
                            </a:spcAft>
                          </a:pP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𝑉</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(2,−5)</m:t>
                              </m:r>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(4,−7)</m:t>
                              </m:r>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𝑍</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(−2,−7)</m:t>
                              </m:r>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𝑌</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(−1,−5)</m:t>
                              </m:r>
                            </m:oMath>
                          </a14:m>
                          <a:endParaRPr lang="x-none"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98545" marR="985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𝐵</m:t>
                              </m:r>
                              <m:d>
                                <m:d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−4,−2</m:t>
                                  </m:r>
                                </m:e>
                              </m:d>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𝐺</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(−2,−2)</m:t>
                              </m:r>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𝐾</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(−7,−7)</m:t>
                              </m:r>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(−7,−5)</m:t>
                              </m:r>
                            </m:oMath>
                          </a14:m>
                          <a:endParaRPr lang="x-none"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98545" marR="985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3107192"/>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2851D863-E7E6-8548-B7BD-2436D9582AAB}"/>
                  </a:ext>
                </a:extLst>
              </p:cNvPr>
              <p:cNvGraphicFramePr>
                <a:graphicFrameLocks noGrp="1"/>
              </p:cNvGraphicFramePr>
              <p:nvPr>
                <p:extLst>
                  <p:ext uri="{D42A27DB-BD31-4B8C-83A1-F6EECF244321}">
                    <p14:modId xmlns:p14="http://schemas.microsoft.com/office/powerpoint/2010/main" val="3867304631"/>
                  </p:ext>
                </p:extLst>
              </p:nvPr>
            </p:nvGraphicFramePr>
            <p:xfrm>
              <a:off x="1117605" y="2469385"/>
              <a:ext cx="9639170" cy="1182541"/>
            </p:xfrm>
            <a:graphic>
              <a:graphicData uri="http://schemas.openxmlformats.org/drawingml/2006/table">
                <a:tbl>
                  <a:tblPr firstRow="1" firstCol="1" bandRow="1"/>
                  <a:tblGrid>
                    <a:gridCol w="4819585">
                      <a:extLst>
                        <a:ext uri="{9D8B030D-6E8A-4147-A177-3AD203B41FA5}">
                          <a16:colId xmlns:a16="http://schemas.microsoft.com/office/drawing/2014/main" xmlns:a14="http://schemas.microsoft.com/office/drawing/2010/main" xmlns="" val="4257881692"/>
                        </a:ext>
                      </a:extLst>
                    </a:gridCol>
                    <a:gridCol w="4819585">
                      <a:extLst>
                        <a:ext uri="{9D8B030D-6E8A-4147-A177-3AD203B41FA5}">
                          <a16:colId xmlns:a16="http://schemas.microsoft.com/office/drawing/2014/main" xmlns:a14="http://schemas.microsoft.com/office/drawing/2010/main" xmlns="" val="4277782578"/>
                        </a:ext>
                      </a:extLst>
                    </a:gridCol>
                  </a:tblGrid>
                  <a:tr h="394180">
                    <a:tc>
                      <a:txBody>
                        <a:bodyPr/>
                        <a:lstStyle/>
                        <a:p>
                          <a:endParaRPr lang="en-US"/>
                        </a:p>
                      </a:txBody>
                      <a:tcPr marL="98545" marR="985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r="-100000" b="-229231"/>
                          </a:stretch>
                        </a:blipFill>
                      </a:tcPr>
                    </a:tc>
                    <a:tc>
                      <a:txBody>
                        <a:bodyPr/>
                        <a:lstStyle/>
                        <a:p>
                          <a:endParaRPr lang="en-US"/>
                        </a:p>
                      </a:txBody>
                      <a:tcPr marL="98545" marR="985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00000" b="-229231"/>
                          </a:stretch>
                        </a:blipFill>
                      </a:tcPr>
                    </a:tc>
                    <a:extLst>
                      <a:ext uri="{0D108BD9-81ED-4DB2-BD59-A6C34878D82A}">
                        <a16:rowId xmlns:a16="http://schemas.microsoft.com/office/drawing/2014/main" xmlns:a14="http://schemas.microsoft.com/office/drawing/2010/main" xmlns="" val="2961860053"/>
                      </a:ext>
                    </a:extLst>
                  </a:tr>
                  <a:tr h="788361">
                    <a:tc>
                      <a:txBody>
                        <a:bodyPr/>
                        <a:lstStyle/>
                        <a:p>
                          <a:endParaRPr lang="en-US"/>
                        </a:p>
                      </a:txBody>
                      <a:tcPr marL="98545" marR="985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t="-50388" r="-100000" b="-15504"/>
                          </a:stretch>
                        </a:blipFill>
                      </a:tcPr>
                    </a:tc>
                    <a:tc>
                      <a:txBody>
                        <a:bodyPr/>
                        <a:lstStyle/>
                        <a:p>
                          <a:endParaRPr lang="en-US"/>
                        </a:p>
                      </a:txBody>
                      <a:tcPr marL="98545" marR="985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4"/>
                          <a:stretch>
                            <a:fillRect l="-100000" t="-50388" b="-15504"/>
                          </a:stretch>
                        </a:blipFill>
                      </a:tcPr>
                    </a:tc>
                    <a:extLst>
                      <a:ext uri="{0D108BD9-81ED-4DB2-BD59-A6C34878D82A}">
                        <a16:rowId xmlns:a16="http://schemas.microsoft.com/office/drawing/2014/main" xmlns:a14="http://schemas.microsoft.com/office/drawing/2010/main" xmlns="" val="823107192"/>
                      </a:ext>
                    </a:extLst>
                  </a:tr>
                </a:tbl>
              </a:graphicData>
            </a:graphic>
          </p:graphicFrame>
        </mc:Fallback>
      </mc:AlternateContent>
      <p:sp>
        <p:nvSpPr>
          <p:cNvPr id="11" name="TextBox 10">
            <a:extLst>
              <a:ext uri="{FF2B5EF4-FFF2-40B4-BE49-F238E27FC236}">
                <a16:creationId xmlns:a16="http://schemas.microsoft.com/office/drawing/2014/main" id="{2F32E567-0E7F-E54C-BD93-2ED37BCF11D6}"/>
              </a:ext>
            </a:extLst>
          </p:cNvPr>
          <p:cNvSpPr txBox="1"/>
          <p:nvPr/>
        </p:nvSpPr>
        <p:spPr>
          <a:xfrm>
            <a:off x="539705" y="3892275"/>
            <a:ext cx="10911557" cy="230832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Determine whether Jonah can use either or both designs for the trapezoidal stage.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846138" indent="-357188">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Show your work in an organized way.</a:t>
            </a:r>
          </a:p>
          <a:p>
            <a:pPr marL="846138" indent="-357188">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Write your conclusion explaining the properties used to determine your answer. </a:t>
            </a:r>
          </a:p>
        </p:txBody>
      </p:sp>
      <p:sp>
        <p:nvSpPr>
          <p:cNvPr id="15"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345</a:t>
            </a:r>
            <a:endParaRPr i="1" dirty="0">
              <a:latin typeface="Calibri"/>
              <a:ea typeface="Calibri"/>
              <a:cs typeface="Calibri"/>
              <a:sym typeface="Calibri"/>
            </a:endParaRPr>
          </a:p>
        </p:txBody>
      </p:sp>
      <p:pic>
        <p:nvPicPr>
          <p:cNvPr id="16"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318827" y="2766145"/>
            <a:ext cx="4772476"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5400" b="1" dirty="0">
                <a:solidFill>
                  <a:srgbClr val="33BEA6"/>
                </a:solidFill>
                <a:latin typeface="Verdana"/>
                <a:ea typeface="Verdana"/>
                <a:cs typeface="Verdana"/>
                <a:sym typeface="Verdana"/>
              </a:rPr>
              <a:t>Activity</a:t>
            </a:r>
            <a:endParaRPr sz="5400" b="1" dirty="0">
              <a:solidFill>
                <a:srgbClr val="33BEA6"/>
              </a:solidFill>
              <a:latin typeface="Verdana"/>
              <a:ea typeface="Verdana"/>
              <a:cs typeface="Verdana"/>
              <a:sym typeface="Verdana"/>
            </a:endParaRPr>
          </a:p>
        </p:txBody>
      </p:sp>
      <p:pic>
        <p:nvPicPr>
          <p:cNvPr id="9" name="image17.png" descr="Icon&#10;&#10;Description automatically generated">
            <a:extLst>
              <a:ext uri="{FF2B5EF4-FFF2-40B4-BE49-F238E27FC236}">
                <a16:creationId xmlns:a16="http://schemas.microsoft.com/office/drawing/2014/main" id="{DEC2E785-AB64-5C41-868A-E90FA2C9AD18}"/>
              </a:ext>
            </a:extLst>
          </p:cNvPr>
          <p:cNvPicPr/>
          <p:nvPr/>
        </p:nvPicPr>
        <p:blipFill>
          <a:blip r:embed="rId3"/>
          <a:srcRect/>
          <a:stretch>
            <a:fillRect/>
          </a:stretch>
        </p:blipFill>
        <p:spPr>
          <a:xfrm>
            <a:off x="4740713" y="2850881"/>
            <a:ext cx="1156228" cy="1156228"/>
          </a:xfrm>
          <a:prstGeom prst="rect">
            <a:avLst/>
          </a:prstGeom>
          <a:ln/>
          <a:effectLst>
            <a:outerShdw blurRad="50800" dist="38100" dir="2700000" algn="tl" rotWithShape="0">
              <a:prstClr val="black">
                <a:alpha val="40000"/>
              </a:prstClr>
            </a:outerShdw>
          </a:effectLst>
        </p:spPr>
      </p:pic>
      <p:sp>
        <p:nvSpPr>
          <p:cNvPr id="7"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67198" y="-82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3BEA6"/>
                </a:solidFill>
                <a:latin typeface="Verdana"/>
                <a:ea typeface="Verdana"/>
                <a:cs typeface="Verdana"/>
                <a:sym typeface="Verdana"/>
              </a:rPr>
              <a:t>13.11.2 Activity: Card Sort</a:t>
            </a:r>
          </a:p>
        </p:txBody>
      </p:sp>
      <p:sp>
        <p:nvSpPr>
          <p:cNvPr id="10" name="TextBox 9">
            <a:extLst>
              <a:ext uri="{FF2B5EF4-FFF2-40B4-BE49-F238E27FC236}">
                <a16:creationId xmlns:a16="http://schemas.microsoft.com/office/drawing/2014/main" id="{152D1D4D-DCB8-A246-B186-D40316579D77}"/>
              </a:ext>
            </a:extLst>
          </p:cNvPr>
          <p:cNvSpPr txBox="1"/>
          <p:nvPr/>
        </p:nvSpPr>
        <p:spPr>
          <a:xfrm>
            <a:off x="540602" y="1481783"/>
            <a:ext cx="11142842"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Match each image, classification, coordinates, and property that represent the same polygon. Record your matches in the table by writing the letter or number of each card and showing your justifications.</a:t>
            </a:r>
          </a:p>
        </p:txBody>
      </p:sp>
      <p:pic>
        <p:nvPicPr>
          <p:cNvPr id="9" name="image17.png" descr="Icon&#10;&#10;Description automatically generated">
            <a:extLst>
              <a:ext uri="{FF2B5EF4-FFF2-40B4-BE49-F238E27FC236}">
                <a16:creationId xmlns:a16="http://schemas.microsoft.com/office/drawing/2014/main" id="{EB54B90B-3B12-A74E-9859-F5FD43AB4827}"/>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455298" y="310722"/>
            <a:ext cx="755076" cy="755076"/>
          </a:xfrm>
          <a:prstGeom prst="rect">
            <a:avLst/>
          </a:prstGeom>
          <a:ln/>
          <a:effectLst>
            <a:outerShdw blurRad="50800" dist="38100" dir="2700000" algn="tl" rotWithShape="0">
              <a:prstClr val="black">
                <a:alpha val="40000"/>
              </a:prstClr>
            </a:outerShdw>
          </a:effectLst>
        </p:spPr>
      </p:pic>
      <p:sp>
        <p:nvSpPr>
          <p:cNvPr id="12"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346</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3" name="Table 2">
            <a:extLst>
              <a:ext uri="{FF2B5EF4-FFF2-40B4-BE49-F238E27FC236}">
                <a16:creationId xmlns:a16="http://schemas.microsoft.com/office/drawing/2014/main" id="{1C4B0D42-C44B-5149-824E-906EC44F4BF6}"/>
              </a:ext>
            </a:extLst>
          </p:cNvPr>
          <p:cNvGraphicFramePr>
            <a:graphicFrameLocks noGrp="1"/>
          </p:cNvGraphicFramePr>
          <p:nvPr>
            <p:extLst>
              <p:ext uri="{D42A27DB-BD31-4B8C-83A1-F6EECF244321}">
                <p14:modId xmlns:p14="http://schemas.microsoft.com/office/powerpoint/2010/main" val="6231873"/>
              </p:ext>
            </p:extLst>
          </p:nvPr>
        </p:nvGraphicFramePr>
        <p:xfrm>
          <a:off x="1495296" y="233370"/>
          <a:ext cx="8253388" cy="6418153"/>
        </p:xfrm>
        <a:graphic>
          <a:graphicData uri="http://schemas.openxmlformats.org/drawingml/2006/table">
            <a:tbl>
              <a:tblPr firstRow="1" firstCol="1" bandRow="1"/>
              <a:tblGrid>
                <a:gridCol w="4061495">
                  <a:extLst>
                    <a:ext uri="{9D8B030D-6E8A-4147-A177-3AD203B41FA5}">
                      <a16:colId xmlns:a16="http://schemas.microsoft.com/office/drawing/2014/main" val="333346483"/>
                    </a:ext>
                  </a:extLst>
                </a:gridCol>
                <a:gridCol w="4191893">
                  <a:extLst>
                    <a:ext uri="{9D8B030D-6E8A-4147-A177-3AD203B41FA5}">
                      <a16:colId xmlns:a16="http://schemas.microsoft.com/office/drawing/2014/main" val="2756159504"/>
                    </a:ext>
                  </a:extLst>
                </a:gridCol>
              </a:tblGrid>
              <a:tr h="484633">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Match 1</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Match 2</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223973389"/>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Image:</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Image:</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656115"/>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Coordinates:</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Coordinates:</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8173396"/>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Classification: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Classification: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8397086"/>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Property:</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Property:</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9813834"/>
                  </a:ext>
                </a:extLst>
              </a:tr>
              <a:tr h="438269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Justification: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Justification:</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9907262"/>
                  </a:ext>
                </a:extLst>
              </a:tr>
            </a:tbl>
          </a:graphicData>
        </a:graphic>
      </p:graphicFrame>
      <p:sp>
        <p:nvSpPr>
          <p:cNvPr id="6"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346</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731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7" name="Table 6">
            <a:extLst>
              <a:ext uri="{FF2B5EF4-FFF2-40B4-BE49-F238E27FC236}">
                <a16:creationId xmlns:a16="http://schemas.microsoft.com/office/drawing/2014/main" id="{1C4B0D42-C44B-5149-824E-906EC44F4BF6}"/>
              </a:ext>
            </a:extLst>
          </p:cNvPr>
          <p:cNvGraphicFramePr>
            <a:graphicFrameLocks noGrp="1"/>
          </p:cNvGraphicFramePr>
          <p:nvPr>
            <p:extLst>
              <p:ext uri="{D42A27DB-BD31-4B8C-83A1-F6EECF244321}">
                <p14:modId xmlns:p14="http://schemas.microsoft.com/office/powerpoint/2010/main" val="3013389822"/>
              </p:ext>
            </p:extLst>
          </p:nvPr>
        </p:nvGraphicFramePr>
        <p:xfrm>
          <a:off x="1495296" y="233370"/>
          <a:ext cx="8253388" cy="6418153"/>
        </p:xfrm>
        <a:graphic>
          <a:graphicData uri="http://schemas.openxmlformats.org/drawingml/2006/table">
            <a:tbl>
              <a:tblPr firstRow="1" firstCol="1" bandRow="1"/>
              <a:tblGrid>
                <a:gridCol w="4061495">
                  <a:extLst>
                    <a:ext uri="{9D8B030D-6E8A-4147-A177-3AD203B41FA5}">
                      <a16:colId xmlns:a16="http://schemas.microsoft.com/office/drawing/2014/main" val="333346483"/>
                    </a:ext>
                  </a:extLst>
                </a:gridCol>
                <a:gridCol w="4191893">
                  <a:extLst>
                    <a:ext uri="{9D8B030D-6E8A-4147-A177-3AD203B41FA5}">
                      <a16:colId xmlns:a16="http://schemas.microsoft.com/office/drawing/2014/main" val="2756159504"/>
                    </a:ext>
                  </a:extLst>
                </a:gridCol>
              </a:tblGrid>
              <a:tr h="484633">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Match 3</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Match 4</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223973389"/>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Image:</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Image:</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656115"/>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Coordinates:</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Coordinates:</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8173396"/>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Classification: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Classification: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8397086"/>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Property:</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Property:</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9813834"/>
                  </a:ext>
                </a:extLst>
              </a:tr>
              <a:tr h="438269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Justification: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Justification:</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9907262"/>
                  </a:ext>
                </a:extLst>
              </a:tr>
            </a:tbl>
          </a:graphicData>
        </a:graphic>
      </p:graphicFrame>
      <p:sp>
        <p:nvSpPr>
          <p:cNvPr id="8"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346</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27575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6" name="Table 5">
            <a:extLst>
              <a:ext uri="{FF2B5EF4-FFF2-40B4-BE49-F238E27FC236}">
                <a16:creationId xmlns:a16="http://schemas.microsoft.com/office/drawing/2014/main" id="{1C4B0D42-C44B-5149-824E-906EC44F4BF6}"/>
              </a:ext>
            </a:extLst>
          </p:cNvPr>
          <p:cNvGraphicFramePr>
            <a:graphicFrameLocks noGrp="1"/>
          </p:cNvGraphicFramePr>
          <p:nvPr>
            <p:extLst>
              <p:ext uri="{D42A27DB-BD31-4B8C-83A1-F6EECF244321}">
                <p14:modId xmlns:p14="http://schemas.microsoft.com/office/powerpoint/2010/main" val="3635616839"/>
              </p:ext>
            </p:extLst>
          </p:nvPr>
        </p:nvGraphicFramePr>
        <p:xfrm>
          <a:off x="1495296" y="233370"/>
          <a:ext cx="8253388" cy="6418153"/>
        </p:xfrm>
        <a:graphic>
          <a:graphicData uri="http://schemas.openxmlformats.org/drawingml/2006/table">
            <a:tbl>
              <a:tblPr firstRow="1" firstCol="1" bandRow="1"/>
              <a:tblGrid>
                <a:gridCol w="4061495">
                  <a:extLst>
                    <a:ext uri="{9D8B030D-6E8A-4147-A177-3AD203B41FA5}">
                      <a16:colId xmlns:a16="http://schemas.microsoft.com/office/drawing/2014/main" val="333346483"/>
                    </a:ext>
                  </a:extLst>
                </a:gridCol>
                <a:gridCol w="4191893">
                  <a:extLst>
                    <a:ext uri="{9D8B030D-6E8A-4147-A177-3AD203B41FA5}">
                      <a16:colId xmlns:a16="http://schemas.microsoft.com/office/drawing/2014/main" val="2756159504"/>
                    </a:ext>
                  </a:extLst>
                </a:gridCol>
              </a:tblGrid>
              <a:tr h="484633">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Match 5</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Match 6</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223973389"/>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Image:</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Image:</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656115"/>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Coordinates:</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Coordinates:</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8173396"/>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Classification: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Classification: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8397086"/>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Property:</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Property:</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9813834"/>
                  </a:ext>
                </a:extLst>
              </a:tr>
              <a:tr h="438269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Justification: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Justification:</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9907262"/>
                  </a:ext>
                </a:extLst>
              </a:tr>
            </a:tbl>
          </a:graphicData>
        </a:graphic>
      </p:graphicFrame>
      <p:sp>
        <p:nvSpPr>
          <p:cNvPr id="7"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346</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905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6" name="Table 5">
            <a:extLst>
              <a:ext uri="{FF2B5EF4-FFF2-40B4-BE49-F238E27FC236}">
                <a16:creationId xmlns:a16="http://schemas.microsoft.com/office/drawing/2014/main" id="{1C4B0D42-C44B-5149-824E-906EC44F4BF6}"/>
              </a:ext>
            </a:extLst>
          </p:cNvPr>
          <p:cNvGraphicFramePr>
            <a:graphicFrameLocks noGrp="1"/>
          </p:cNvGraphicFramePr>
          <p:nvPr>
            <p:extLst>
              <p:ext uri="{D42A27DB-BD31-4B8C-83A1-F6EECF244321}">
                <p14:modId xmlns:p14="http://schemas.microsoft.com/office/powerpoint/2010/main" val="577417387"/>
              </p:ext>
            </p:extLst>
          </p:nvPr>
        </p:nvGraphicFramePr>
        <p:xfrm>
          <a:off x="1495296" y="233370"/>
          <a:ext cx="8253388" cy="6418153"/>
        </p:xfrm>
        <a:graphic>
          <a:graphicData uri="http://schemas.openxmlformats.org/drawingml/2006/table">
            <a:tbl>
              <a:tblPr firstRow="1" firstCol="1" bandRow="1"/>
              <a:tblGrid>
                <a:gridCol w="4061495">
                  <a:extLst>
                    <a:ext uri="{9D8B030D-6E8A-4147-A177-3AD203B41FA5}">
                      <a16:colId xmlns:a16="http://schemas.microsoft.com/office/drawing/2014/main" val="333346483"/>
                    </a:ext>
                  </a:extLst>
                </a:gridCol>
                <a:gridCol w="4191893">
                  <a:extLst>
                    <a:ext uri="{9D8B030D-6E8A-4147-A177-3AD203B41FA5}">
                      <a16:colId xmlns:a16="http://schemas.microsoft.com/office/drawing/2014/main" val="2756159504"/>
                    </a:ext>
                  </a:extLst>
                </a:gridCol>
              </a:tblGrid>
              <a:tr h="484633">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Match 7</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Match 8</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223973389"/>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Image:</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Image:</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656115"/>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Coordinates:</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Coordinates:</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8173396"/>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Classification: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Classification: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8397086"/>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Property:</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Property:</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9813834"/>
                  </a:ext>
                </a:extLst>
              </a:tr>
              <a:tr h="438269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Justification: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Justification:</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9907262"/>
                  </a:ext>
                </a:extLst>
              </a:tr>
            </a:tbl>
          </a:graphicData>
        </a:graphic>
      </p:graphicFrame>
      <p:sp>
        <p:nvSpPr>
          <p:cNvPr id="8"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04919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6" name="Table 5">
            <a:extLst>
              <a:ext uri="{FF2B5EF4-FFF2-40B4-BE49-F238E27FC236}">
                <a16:creationId xmlns:a16="http://schemas.microsoft.com/office/drawing/2014/main" id="{1C4B0D42-C44B-5149-824E-906EC44F4BF6}"/>
              </a:ext>
            </a:extLst>
          </p:cNvPr>
          <p:cNvGraphicFramePr>
            <a:graphicFrameLocks noGrp="1"/>
          </p:cNvGraphicFramePr>
          <p:nvPr>
            <p:extLst>
              <p:ext uri="{D42A27DB-BD31-4B8C-83A1-F6EECF244321}">
                <p14:modId xmlns:p14="http://schemas.microsoft.com/office/powerpoint/2010/main" val="1615495332"/>
              </p:ext>
            </p:extLst>
          </p:nvPr>
        </p:nvGraphicFramePr>
        <p:xfrm>
          <a:off x="1495296" y="233370"/>
          <a:ext cx="8253388" cy="6418153"/>
        </p:xfrm>
        <a:graphic>
          <a:graphicData uri="http://schemas.openxmlformats.org/drawingml/2006/table">
            <a:tbl>
              <a:tblPr firstRow="1" firstCol="1" bandRow="1"/>
              <a:tblGrid>
                <a:gridCol w="4061495">
                  <a:extLst>
                    <a:ext uri="{9D8B030D-6E8A-4147-A177-3AD203B41FA5}">
                      <a16:colId xmlns:a16="http://schemas.microsoft.com/office/drawing/2014/main" val="333346483"/>
                    </a:ext>
                  </a:extLst>
                </a:gridCol>
                <a:gridCol w="4191893">
                  <a:extLst>
                    <a:ext uri="{9D8B030D-6E8A-4147-A177-3AD203B41FA5}">
                      <a16:colId xmlns:a16="http://schemas.microsoft.com/office/drawing/2014/main" val="2756159504"/>
                    </a:ext>
                  </a:extLst>
                </a:gridCol>
              </a:tblGrid>
              <a:tr h="484633">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Match 9</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Match 10</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223973389"/>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Image:</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Image:</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656115"/>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Coordinates:</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Coordinates:</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8173396"/>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Classification: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Classification: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8397086"/>
                  </a:ext>
                </a:extLst>
              </a:tr>
              <a:tr h="38770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Property:</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Property:</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9813834"/>
                  </a:ext>
                </a:extLst>
              </a:tr>
              <a:tr h="4382696">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Justification:</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Justification:</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3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72695" marR="726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9907262"/>
                  </a:ext>
                </a:extLst>
              </a:tr>
            </a:tbl>
          </a:graphicData>
        </a:graphic>
      </p:graphicFrame>
      <p:sp>
        <p:nvSpPr>
          <p:cNvPr id="7"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01411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5168"/>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61412" y="2152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13.11.3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455298" y="310722"/>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36975" y="1459766"/>
            <a:ext cx="10712661" cy="904415"/>
          </a:xfrm>
          <a:prstGeom prst="rect">
            <a:avLst/>
          </a:prstGeom>
          <a:noFill/>
        </p:spPr>
        <p:txBody>
          <a:bodyPr wrap="square" rtlCol="0">
            <a:spAutoFit/>
          </a:bodyPr>
          <a:lstStyle/>
          <a:p>
            <a:pPr marL="342900" marR="0" lvl="0" indent="-342900">
              <a:lnSpc>
                <a:spcPct val="115000"/>
              </a:lnSpc>
              <a:spcBef>
                <a:spcPts val="0"/>
              </a:spcBef>
              <a:spcAft>
                <a:spcPts val="0"/>
              </a:spcAft>
              <a:buFont typeface="+mj-lt"/>
              <a:buAutoNum type="arabicPeriod"/>
            </a:pPr>
            <a:r>
              <a:rPr lang="en-US" sz="2400" dirty="0">
                <a:effectLst/>
                <a:latin typeface="Verdana" panose="020B0604030504040204" pitchFamily="34" charset="0"/>
                <a:ea typeface="Times New Roman" panose="02020603050405020304" pitchFamily="18" charset="0"/>
                <a:cs typeface="Times New Roman" panose="02020603050405020304" pitchFamily="18" charset="0"/>
              </a:rPr>
              <a:t>Explain how you can use coordinate geometry to classify triangles and quadrilaterals.</a:t>
            </a:r>
            <a:endParaRPr lang="en-US" sz="2400" dirty="0">
              <a:effectLst/>
              <a:latin typeface="Cambria" panose="02040503050406030204" pitchFamily="18" charset="0"/>
              <a:ea typeface="Times New Roman" panose="02020603050405020304" pitchFamily="18" charset="0"/>
              <a:cs typeface="Times New Roman" panose="02020603050405020304" pitchFamily="18" charset="0"/>
            </a:endParaRPr>
          </a:p>
        </p:txBody>
      </p:sp>
      <p:sp>
        <p:nvSpPr>
          <p:cNvPr id="19" name="Google Shape;282;g104476d1465_1_17"/>
          <p:cNvSpPr txBox="1"/>
          <p:nvPr/>
        </p:nvSpPr>
        <p:spPr>
          <a:xfrm>
            <a:off x="881958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347</a:t>
            </a:r>
            <a:endParaRPr i="1" dirty="0">
              <a:latin typeface="Calibri"/>
              <a:ea typeface="Calibri"/>
              <a:cs typeface="Calibri"/>
              <a:sym typeface="Calibri"/>
            </a:endParaRPr>
          </a:p>
        </p:txBody>
      </p:sp>
      <p:pic>
        <p:nvPicPr>
          <p:cNvPr id="2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84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1499</TotalTime>
  <Words>661</Words>
  <Application>Microsoft Office PowerPoint</Application>
  <PresentationFormat>Widescreen</PresentationFormat>
  <Paragraphs>182</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Calibri</vt:lpstr>
      <vt:lpstr>Century Gothic</vt:lpstr>
      <vt:lpstr>Verdana</vt:lpstr>
      <vt:lpstr>Arial</vt:lpstr>
      <vt:lpstr>Arial Black</vt:lpstr>
      <vt:lpstr>Cambria Math</vt:lpstr>
      <vt:lpstr>Cambria</vt:lpstr>
      <vt:lpstr>Wingdings</vt:lpstr>
      <vt:lpstr>1_Office Theme</vt:lpstr>
      <vt:lpstr>Geometry  Unit 13, Lesson 11  What is the Figure?  Volume 2, pg. 345  </vt:lpstr>
      <vt:lpstr>Benchmarks</vt:lpstr>
      <vt:lpstr>PowerPoint Presentation</vt:lpstr>
      <vt:lpstr>PowerPoint Presentation</vt:lpstr>
      <vt:lpstr>Warm-Up</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Heather  Rideout</cp:lastModifiedBy>
  <cp:revision>29</cp:revision>
  <dcterms:created xsi:type="dcterms:W3CDTF">2015-03-17T18:51:18Z</dcterms:created>
  <dcterms:modified xsi:type="dcterms:W3CDTF">2023-03-01T20:32:57Z</dcterms:modified>
</cp:coreProperties>
</file>