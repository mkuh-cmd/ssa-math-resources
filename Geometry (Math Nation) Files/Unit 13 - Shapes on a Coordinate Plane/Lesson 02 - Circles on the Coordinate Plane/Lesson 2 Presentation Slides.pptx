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53" r:id="rId10"/>
    <p:sldId id="368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29" r:id="rId20"/>
    <p:sldId id="330" r:id="rId21"/>
    <p:sldId id="370" r:id="rId22"/>
    <p:sldId id="371" r:id="rId23"/>
    <p:sldId id="372" r:id="rId24"/>
    <p:sldId id="373" r:id="rId25"/>
    <p:sldId id="374" r:id="rId26"/>
    <p:sldId id="306" r:id="rId27"/>
    <p:sldId id="307" r:id="rId28"/>
  </p:sldIdLst>
  <p:sldSz cx="12192000" cy="6858000"/>
  <p:notesSz cx="6858000" cy="9144000"/>
  <p:embeddedFontLs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Century Gothic" pitchFamily="34" charset="0"/>
      <p:regular r:id="rId34"/>
      <p:bold r:id="rId35"/>
      <p:italic r:id="rId36"/>
      <p:boldItalic r:id="rId37"/>
    </p:embeddedFont>
    <p:embeddedFont>
      <p:font typeface="Cambria Math" pitchFamily="18" charset="0"/>
      <p:regular r:id="rId38"/>
    </p:embeddedFont>
    <p:embeddedFont>
      <p:font typeface="Cambria" pitchFamily="18" charset="0"/>
      <p:regular r:id="rId39"/>
      <p:bold r:id="rId40"/>
      <p:italic r:id="rId41"/>
      <p:boldItalic r:id="rId42"/>
    </p:embeddedFont>
    <p:embeddedFont>
      <p:font typeface="Arial Black" pitchFamily="34" charset="0"/>
      <p:bold r:id="rId43"/>
    </p:embeddedFont>
    <p:embeddedFont>
      <p:font typeface="Verdana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E45088"/>
    <a:srgbClr val="E24E5F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752"/>
    <p:restoredTop sz="94648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64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39709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07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4109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9154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0745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0421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3719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60737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43540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43685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81240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2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66886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325419" y="2092293"/>
            <a:ext cx="5991224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Circles on the Coordinate Plane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288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223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MA.912.GR.3.2</a:t>
            </a:r>
          </a:p>
          <a:p>
            <a:pPr indent="0"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context, use coordinate geometry to classify or justify definitions, properties, and theorems involving circles, triangles, or quadrilaterals. </a:t>
            </a:r>
          </a:p>
          <a:p>
            <a:pPr indent="0">
              <a:buNone/>
            </a:pP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MA.912.GR.3.3</a:t>
            </a:r>
          </a:p>
          <a:p>
            <a:pPr indent="0"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coordinate geometry to solve mathematical and real-world geometric problems involving lines, circles, triangles, and quadrilaterals.</a:t>
            </a:r>
          </a:p>
          <a:p>
            <a:pPr indent="0">
              <a:buNone/>
            </a:pP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MA.912.GR.3.4</a:t>
            </a:r>
          </a:p>
          <a:p>
            <a:pPr indent="0"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coordinate geometry to solve mathematical and real-world problems on the coordinate plane involving perimeter or area of polygons. 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288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288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</a:t>
            </a:r>
            <a:b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and Reasoning Standards</a:t>
            </a:r>
            <a:endParaRPr lang="en-US" sz="30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288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90563" indent="-684213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determine parts of a circle in a mathematical context. </a:t>
            </a:r>
          </a:p>
          <a:p>
            <a:pPr marL="690563" indent="-684213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endParaRPr lang="en-US" sz="28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90563" indent="-684213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draw a circle using given definitions, properties, or theorems in a mathematical context. </a:t>
            </a:r>
          </a:p>
          <a:p>
            <a:pPr marL="690563" indent="-684213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endParaRPr lang="en-US" sz="28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90563" indent="-684213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solve mathematical problems involving perimeter and area of polygons.</a:t>
            </a:r>
          </a:p>
        </p:txBody>
      </p:sp>
      <p:sp>
        <p:nvSpPr>
          <p:cNvPr id="15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17BBDB14-F43F-3F42-9C2D-99752E20A39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2999" y="275690"/>
            <a:ext cx="1066950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13.2.1 Warm-Up: Bell Work</a:t>
            </a:r>
          </a:p>
        </p:txBody>
      </p:sp>
      <p:pic>
        <p:nvPicPr>
          <p:cNvPr id="14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399" y="1386024"/>
                <a:ext cx="10616185" cy="2831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equation represents a line that is perpendicular to the line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</m:t>
                    </m:r>
                    <m:f>
                      <m:f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89000" indent="-444500">
                  <a:buFont typeface="+mj-lt"/>
                  <a:buAutoNum type="alphaU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44500">
                  <a:buFont typeface="+mj-lt"/>
                  <a:buAutoNum type="alphaU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=24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44500">
                  <a:buFont typeface="+mj-lt"/>
                  <a:buAutoNum type="alphaU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44500">
                  <a:buFont typeface="+mj-lt"/>
                  <a:buAutoNum type="alphaU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386024"/>
                <a:ext cx="10616185" cy="2831737"/>
              </a:xfrm>
              <a:prstGeom prst="rect">
                <a:avLst/>
              </a:prstGeom>
              <a:blipFill rotWithShape="1">
                <a:blip r:embed="rId4"/>
                <a:stretch>
                  <a:fillRect l="-861" t="-1720" b="-3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418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FA13319E-DA3B-3E44-8EF7-BEF50B5A8B4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="" xmlns:a16="http://schemas.microsoft.com/office/drawing/2014/main" id="{F399066B-084A-374B-8F72-D2AADC2D00C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28746" y="2850881"/>
            <a:ext cx="1156229" cy="11562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75" y="25596"/>
            <a:ext cx="101082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13.2.2 Exploration: Circles on the Coordinate Plane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96874" y="1519469"/>
            <a:ext cx="10344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𝐻 is shown, where point 𝐶 is on the circle and line 𝑃𝐶 is tangent to circle 𝐻. </a:t>
            </a:r>
          </a:p>
        </p:txBody>
      </p:sp>
      <p:sp>
        <p:nvSpPr>
          <p:cNvPr id="24" name="Google Shape;282;g104476d1465_1_17">
            <a:extLst>
              <a:ext uri="{FF2B5EF4-FFF2-40B4-BE49-F238E27FC236}">
                <a16:creationId xmlns="" xmlns:a16="http://schemas.microsoft.com/office/drawing/2014/main" id="{3413C27D-0588-F545-8DFB-B739BB65964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="" xmlns:a16="http://schemas.microsoft.com/office/drawing/2014/main" id="{082A95B8-2810-624B-82D5-BC709D14F1BC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8513" y="310297"/>
            <a:ext cx="756298" cy="75629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DAA0F31-DFDC-A740-8CFD-CD2D9D135D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54"/>
          <a:stretch/>
        </p:blipFill>
        <p:spPr bwMode="auto">
          <a:xfrm>
            <a:off x="3994194" y="2448073"/>
            <a:ext cx="4232413" cy="41097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0A9699B5-6480-D045-8CAF-9E1FEA3A0EE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a straightedge to draw a line that goes through points 𝐶 and 𝐻.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the slope of tangent line 𝑃𝐶 and the slope of the radius 𝐶𝐻 are related. 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property of circles explains this relationship?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line 𝑃𝐶.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line 𝐶𝐻. 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 𝑃𝐶 and line 𝐶𝐻 intersect at point 𝐶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(7,−1)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Use the equations of lines 𝑃𝐶 and 𝐶𝐻 to confirm this point.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524315"/>
              </a:xfrm>
              <a:prstGeom prst="rect">
                <a:avLst/>
              </a:prstGeom>
              <a:blipFill rotWithShape="1">
                <a:blip r:embed="rId3"/>
                <a:stretch>
                  <a:fillRect t="-1211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𝑀 has a center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a tangent line with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89000" indent="-4445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the line perpendicular to the tangent line. </a:t>
                </a:r>
              </a:p>
              <a:p>
                <a:pPr marL="889000" indent="-4445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89000" indent="-4445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89000" indent="-4445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89000" indent="-4445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89000" indent="-4445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point where the tangent line touches circle 𝑀. 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Call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point 𝑅.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154984"/>
              </a:xfrm>
              <a:prstGeom prst="rect">
                <a:avLst/>
              </a:prstGeom>
              <a:blipFill rotWithShape="1">
                <a:blip r:embed="rId3"/>
                <a:stretch>
                  <a:fillRect l="-870" t="-1320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radius of circle 𝑀?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the equation of circle 𝑀. </a:t>
            </a:r>
          </a:p>
        </p:txBody>
      </p:sp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24F54FD2-FA6C-3947-8DB2-FB3FCC72B89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8750" y="1552575"/>
            <a:ext cx="6946900" cy="3752850"/>
          </a:xfrm>
          <a:prstGeom prst="rect">
            <a:avLst/>
          </a:prstGeom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𝑊 is shown, with secant lines 𝑅𝐻 and 𝑁𝐵, tangent line </a:t>
            </a:r>
            <a:r>
              <a:rPr lang="en-US" sz="24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𝑁𝑅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chord 𝑅𝐵.  </a:t>
            </a:r>
          </a:p>
        </p:txBody>
      </p:sp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𝑁𝐹</m:t>
                        </m:r>
                      </m:e>
                    </m:acc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154984"/>
              </a:xfrm>
              <a:prstGeom prst="rect">
                <a:avLst/>
              </a:prstGeom>
              <a:blipFill rotWithShape="1">
                <a:blip r:embed="rId3"/>
                <a:stretch>
                  <a:fillRect l="-870" t="-1173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="" xmlns:a16="http://schemas.microsoft.com/office/drawing/2014/main" id="{786DF199-A05B-0A48-BFCE-531AD3F156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8750119"/>
                  </p:ext>
                </p:extLst>
              </p:nvPr>
            </p:nvGraphicFramePr>
            <p:xfrm>
              <a:off x="1514760" y="1178026"/>
              <a:ext cx="7929452" cy="27990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78836">
                      <a:extLst>
                        <a:ext uri="{9D8B030D-6E8A-4147-A177-3AD203B41FA5}">
                          <a16:colId xmlns="" xmlns:a16="http://schemas.microsoft.com/office/drawing/2014/main" val="3421417398"/>
                        </a:ext>
                      </a:extLst>
                    </a:gridCol>
                    <a:gridCol w="5550616">
                      <a:extLst>
                        <a:ext uri="{9D8B030D-6E8A-4147-A177-3AD203B41FA5}">
                          <a16:colId xmlns="" xmlns:a16="http://schemas.microsoft.com/office/drawing/2014/main" val="1033079767"/>
                        </a:ext>
                      </a:extLst>
                    </a:gridCol>
                  </a:tblGrid>
                  <a:tr h="322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515530876"/>
                      </a:ext>
                    </a:extLst>
                  </a:tr>
                  <a:tr h="10337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𝑁𝐵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153767605"/>
                      </a:ext>
                    </a:extLst>
                  </a:tr>
                  <a:tr h="10337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𝑁𝑅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705390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86DF199-A05B-0A48-BFCE-531AD3F156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8750119"/>
                  </p:ext>
                </p:extLst>
              </p:nvPr>
            </p:nvGraphicFramePr>
            <p:xfrm>
              <a:off x="1514760" y="1178026"/>
              <a:ext cx="7929452" cy="27990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7883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21417398"/>
                        </a:ext>
                      </a:extLst>
                    </a:gridCol>
                    <a:gridCol w="55506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33079767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15530876"/>
                      </a:ext>
                    </a:extLst>
                  </a:tr>
                  <a:tr h="10337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79882" r="-233846" b="-101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53767605"/>
                      </a:ext>
                    </a:extLst>
                  </a:tr>
                  <a:tr h="10337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178824" r="-233846" b="-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7053902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071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199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Rewrite the equation of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slope-intercept form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199739"/>
              </a:xfrm>
              <a:prstGeom prst="rect">
                <a:avLst/>
              </a:prstGeom>
              <a:blipFill rotWithShape="1">
                <a:blip r:embed="rId3"/>
                <a:stretch>
                  <a:fillRect l="-870" t="-1161" b="-2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id="{6A82ED1C-E4C0-A941-98BD-9AFCAEFB4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382477"/>
                  </p:ext>
                </p:extLst>
              </p:nvPr>
            </p:nvGraphicFramePr>
            <p:xfrm>
              <a:off x="1561749" y="1159851"/>
              <a:ext cx="9833837" cy="2743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50090">
                      <a:extLst>
                        <a:ext uri="{9D8B030D-6E8A-4147-A177-3AD203B41FA5}">
                          <a16:colId xmlns="" xmlns:a16="http://schemas.microsoft.com/office/drawing/2014/main" val="1009535389"/>
                        </a:ext>
                      </a:extLst>
                    </a:gridCol>
                    <a:gridCol w="2416791">
                      <a:extLst>
                        <a:ext uri="{9D8B030D-6E8A-4147-A177-3AD203B41FA5}">
                          <a16:colId xmlns="" xmlns:a16="http://schemas.microsoft.com/office/drawing/2014/main" val="2289267881"/>
                        </a:ext>
                      </a:extLst>
                    </a:gridCol>
                    <a:gridCol w="5666956">
                      <a:extLst>
                        <a:ext uri="{9D8B030D-6E8A-4147-A177-3AD203B41FA5}">
                          <a16:colId xmlns="" xmlns:a16="http://schemas.microsoft.com/office/drawing/2014/main" val="549723220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Equation in Point-Slope Form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9238886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⃡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𝑁𝑅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720382335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⃡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𝑅𝐻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537331565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⃡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𝑁𝐵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812794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A82ED1C-E4C0-A941-98BD-9AFCAEFB4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382477"/>
                  </p:ext>
                </p:extLst>
              </p:nvPr>
            </p:nvGraphicFramePr>
            <p:xfrm>
              <a:off x="1561749" y="1159851"/>
              <a:ext cx="9833837" cy="2743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500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09535389"/>
                        </a:ext>
                      </a:extLst>
                    </a:gridCol>
                    <a:gridCol w="241679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89267881"/>
                        </a:ext>
                      </a:extLst>
                    </a:gridCol>
                    <a:gridCol w="566695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49723220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Equation in Point-Slope Form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9238886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893" r="-462369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20382335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99115" r="-46236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37331565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1786" r="-462369" b="-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127949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387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3136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Rewrite the equation of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slope-intercept form.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slope-intercept forms of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find point 𝐹.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3136500"/>
              </a:xfrm>
              <a:prstGeom prst="rect">
                <a:avLst/>
              </a:prstGeom>
              <a:blipFill rotWithShape="1">
                <a:blip r:embed="rId4"/>
                <a:stretch>
                  <a:fillRect l="-870" t="-388" b="-3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4542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7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with your partner to determine 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𝐵𝑅𝑁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isosceles. 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Show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your work as justification.</a:t>
                </a: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7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could be used to justify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𝑅𝐹𝐵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right triangle?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3416320"/>
              </a:xfrm>
              <a:prstGeom prst="rect">
                <a:avLst/>
              </a:prstGeom>
              <a:blipFill rotWithShape="1">
                <a:blip r:embed="rId4"/>
                <a:stretch>
                  <a:fillRect l="-870" t="-1604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934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9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𝑅𝐹𝐵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9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perimeter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𝑅𝐹𝑁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3416320"/>
              </a:xfrm>
              <a:prstGeom prst="rect">
                <a:avLst/>
              </a:prstGeom>
              <a:blipFill rotWithShape="1">
                <a:blip r:embed="rId4"/>
                <a:stretch>
                  <a:fillRect l="-870" t="-1604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355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410426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3.png" descr="Icon&#10;&#10;Description automatically generated">
            <a:extLst>
              <a:ext uri="{FF2B5EF4-FFF2-40B4-BE49-F238E27FC236}">
                <a16:creationId xmlns="" xmlns:a16="http://schemas.microsoft.com/office/drawing/2014/main" id="{B4768E40-65B5-544A-BFF8-CC7892D1AFB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43856" y="2852923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7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98122" y="6090"/>
            <a:ext cx="1043246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13.2.3 Try It: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Circles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on the Coordinate Plane</a:t>
            </a:r>
            <a:endParaRPr lang="en-US" sz="3200" b="1" dirty="0">
              <a:solidFill>
                <a:srgbClr val="33BEA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842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72272" y="1411789"/>
                <a:ext cx="10595496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𝐺 has a center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(9,−2)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a tangent line with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1075" indent="-5365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 what point does the tangent line touch circle 𝐺?</a:t>
                </a:r>
              </a:p>
              <a:p>
                <a:pPr marL="981075" indent="-53657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1075" indent="-53657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1075" indent="-53657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1075" indent="-5365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circle 𝐺.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72" y="1411789"/>
                <a:ext cx="10595496" cy="3046988"/>
              </a:xfrm>
              <a:prstGeom prst="rect">
                <a:avLst/>
              </a:prstGeom>
              <a:blipFill>
                <a:blip r:embed="rId4"/>
                <a:stretch>
                  <a:fillRect l="-863" t="-1804" b="-3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image13.png" descr="Icon&#10;&#10;Description automatically generated">
            <a:extLst>
              <a:ext uri="{FF2B5EF4-FFF2-40B4-BE49-F238E27FC236}">
                <a16:creationId xmlns:a16="http://schemas.microsoft.com/office/drawing/2014/main" xmlns="" id="{F8AE3A4F-6A0D-B846-A798-20F6854014D0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0620" y="294036"/>
            <a:ext cx="749808" cy="74980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FCEC787-F4F1-834D-B63E-8162712D7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841" y="1477139"/>
            <a:ext cx="5014718" cy="5083484"/>
          </a:xfrm>
          <a:prstGeom prst="rect">
            <a:avLst/>
          </a:prstGeom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𝑆 is shown with secant lines 𝐶𝑀 and 𝐺𝑊, tangent line 𝑉𝑀, and chord 𝐶𝑉. </a:t>
            </a:r>
          </a:p>
        </p:txBody>
      </p:sp>
    </p:spTree>
    <p:extLst>
      <p:ext uri="{BB962C8B-B14F-4D97-AF65-F5344CB8AC3E}">
        <p14:creationId xmlns:p14="http://schemas.microsoft.com/office/powerpoint/2010/main" val="3097323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table. </a:t>
                </a: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the perimeter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𝐶𝑀𝑉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893647"/>
              </a:xfrm>
              <a:prstGeom prst="rect">
                <a:avLst/>
              </a:prstGeom>
              <a:blipFill rotWithShape="1">
                <a:blip r:embed="rId3"/>
                <a:stretch>
                  <a:fillRect l="-870" t="-996" b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="" xmlns:a16="http://schemas.microsoft.com/office/drawing/2014/main" id="{EA5561E1-E836-0944-B3E4-9B46F56CEA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4591258"/>
                  </p:ext>
                </p:extLst>
              </p:nvPr>
            </p:nvGraphicFramePr>
            <p:xfrm>
              <a:off x="1540280" y="1225957"/>
              <a:ext cx="7871307" cy="3429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14950">
                      <a:extLst>
                        <a:ext uri="{9D8B030D-6E8A-4147-A177-3AD203B41FA5}">
                          <a16:colId xmlns="" xmlns:a16="http://schemas.microsoft.com/office/drawing/2014/main" val="1991449241"/>
                        </a:ext>
                      </a:extLst>
                    </a:gridCol>
                    <a:gridCol w="5256357">
                      <a:extLst>
                        <a:ext uri="{9D8B030D-6E8A-4147-A177-3AD203B41FA5}">
                          <a16:colId xmlns="" xmlns:a16="http://schemas.microsoft.com/office/drawing/2014/main" val="117312813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735335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𝑉𝑀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8845046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𝐶𝑉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15198959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𝐶𝑀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67523820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𝑀𝑇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9636531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A5561E1-E836-0944-B3E4-9B46F56CEA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4591258"/>
                  </p:ext>
                </p:extLst>
              </p:nvPr>
            </p:nvGraphicFramePr>
            <p:xfrm>
              <a:off x="1540280" y="1225957"/>
              <a:ext cx="7871307" cy="3429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149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91449241"/>
                        </a:ext>
                      </a:extLst>
                    </a:gridCol>
                    <a:gridCol w="525635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7312813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735335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3" t="-100893" r="-200932" b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8845046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3" t="-199115" r="-200932" b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5198959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3" t="-301786" r="-200932" b="-1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67523820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3" t="-398230" r="-200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6365317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67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</a:t>
            </a: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slope-intercept form of both lines to find point 𝑇</a:t>
            </a: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id="{287F5868-5FC2-EF4B-8D92-BEDE65A755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2627356"/>
                  </p:ext>
                </p:extLst>
              </p:nvPr>
            </p:nvGraphicFramePr>
            <p:xfrm>
              <a:off x="1519983" y="1066049"/>
              <a:ext cx="9481306" cy="410510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34640">
                      <a:extLst>
                        <a:ext uri="{9D8B030D-6E8A-4147-A177-3AD203B41FA5}">
                          <a16:colId xmlns="" xmlns:a16="http://schemas.microsoft.com/office/drawing/2014/main" val="1589599302"/>
                        </a:ext>
                      </a:extLst>
                    </a:gridCol>
                    <a:gridCol w="3362431">
                      <a:extLst>
                        <a:ext uri="{9D8B030D-6E8A-4147-A177-3AD203B41FA5}">
                          <a16:colId xmlns="" xmlns:a16="http://schemas.microsoft.com/office/drawing/2014/main" val="2690247986"/>
                        </a:ext>
                      </a:extLst>
                    </a:gridCol>
                    <a:gridCol w="3284235">
                      <a:extLst>
                        <a:ext uri="{9D8B030D-6E8A-4147-A177-3AD203B41FA5}">
                          <a16:colId xmlns="" xmlns:a16="http://schemas.microsoft.com/office/drawing/2014/main" val="3713203440"/>
                        </a:ext>
                      </a:extLst>
                    </a:gridCol>
                  </a:tblGrid>
                  <a:tr h="4124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⃡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𝐺𝑊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⃡"/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𝐶𝑀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491541750"/>
                      </a:ext>
                    </a:extLst>
                  </a:tr>
                  <a:tr h="73852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957673827"/>
                      </a:ext>
                    </a:extLst>
                  </a:tr>
                  <a:tr h="14770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Equation in Point-Slope Form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623501877"/>
                      </a:ext>
                    </a:extLst>
                  </a:tr>
                  <a:tr h="14770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Equation in Slope-Intercept Form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46489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87F5868-5FC2-EF4B-8D92-BEDE65A755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2627356"/>
                  </p:ext>
                </p:extLst>
              </p:nvPr>
            </p:nvGraphicFramePr>
            <p:xfrm>
              <a:off x="1519983" y="1066049"/>
              <a:ext cx="9481306" cy="410510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346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89599302"/>
                        </a:ext>
                      </a:extLst>
                    </a:gridCol>
                    <a:gridCol w="336243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90247986"/>
                        </a:ext>
                      </a:extLst>
                    </a:gridCol>
                    <a:gridCol w="328423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713203440"/>
                        </a:ext>
                      </a:extLst>
                    </a:gridCol>
                  </a:tblGrid>
                  <a:tr h="4124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4239" t="-19118" r="-97645" b="-89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8683" t="-19118" b="-89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91541750"/>
                      </a:ext>
                    </a:extLst>
                  </a:tr>
                  <a:tr h="73852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Slope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57673827"/>
                      </a:ext>
                    </a:extLst>
                  </a:tr>
                  <a:tr h="14770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Equation in Point-Slope Form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23501877"/>
                      </a:ext>
                    </a:extLst>
                  </a:tr>
                  <a:tr h="14770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Equation in Slope-Intercept Form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50" marR="6155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464899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6049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889CB3A-2A97-1049-A6BE-3E587BEC57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0704" y="1459865"/>
            <a:ext cx="6946900" cy="3938270"/>
          </a:xfrm>
          <a:prstGeom prst="rect">
            <a:avLst/>
          </a:prstGeom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𝑀 is shown with tangents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870" t="-118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812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253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center of the circle is located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(−6, 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Write the equation of circle 𝑀.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type of quadrilateral is 𝐾𝑀𝐵𝑅? Justify your choice.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distance between point 𝑅 and point 𝑀?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5262979"/>
              </a:xfrm>
              <a:prstGeom prst="rect">
                <a:avLst/>
              </a:prstGeom>
              <a:blipFill rotWithShape="1">
                <a:blip r:embed="rId4"/>
                <a:stretch>
                  <a:fillRect t="-1042" b="-1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901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657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4932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799" y="916"/>
            <a:ext cx="1008872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13.2.4 Wrap-Up: 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619" y="29011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582493"/>
            <a:ext cx="11034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Verdana" pitchFamily="34" charset="0"/>
                <a:ea typeface="Verdana" pitchFamily="34" charset="0"/>
              </a:rPr>
              <a:t>Write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a note to a classmate who might have missed today's lesson, in your own words, about circles on the coordinate plane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874</Words>
  <Application>Microsoft Office PowerPoint</Application>
  <PresentationFormat>Custom</PresentationFormat>
  <Paragraphs>273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Calibri</vt:lpstr>
      <vt:lpstr>Times New Roman</vt:lpstr>
      <vt:lpstr>Century Gothic</vt:lpstr>
      <vt:lpstr>Wingdings</vt:lpstr>
      <vt:lpstr>Helvetica Neue</vt:lpstr>
      <vt:lpstr>Cambria Math</vt:lpstr>
      <vt:lpstr>Cambria</vt:lpstr>
      <vt:lpstr>Arial Black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41</cp:revision>
  <dcterms:created xsi:type="dcterms:W3CDTF">2015-03-17T18:51:18Z</dcterms:created>
  <dcterms:modified xsi:type="dcterms:W3CDTF">2022-09-29T13:40:56Z</dcterms:modified>
</cp:coreProperties>
</file>