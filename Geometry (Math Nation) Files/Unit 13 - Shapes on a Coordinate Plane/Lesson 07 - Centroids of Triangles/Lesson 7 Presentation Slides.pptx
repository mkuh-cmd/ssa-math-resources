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0" r:id="rId16"/>
    <p:sldId id="393" r:id="rId17"/>
    <p:sldId id="394" r:id="rId18"/>
    <p:sldId id="370" r:id="rId19"/>
    <p:sldId id="385" r:id="rId20"/>
    <p:sldId id="386" r:id="rId21"/>
    <p:sldId id="377" r:id="rId22"/>
    <p:sldId id="378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E45088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48"/>
  </p:normalViewPr>
  <p:slideViewPr>
    <p:cSldViewPr snapToGrid="0">
      <p:cViewPr varScale="1">
        <p:scale>
          <a:sx n="82" d="100"/>
          <a:sy n="82" d="100"/>
        </p:scale>
        <p:origin x="59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4773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642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6973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493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03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004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31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tiff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tiff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4.tiff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26.tiff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Centroids of Triangles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64730" y="4089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482921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geometric problems involving lines, circles, triangles, and quadrilaterals. 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38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2938" y="40896"/>
            <a:ext cx="85426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8659" y="1460584"/>
            <a:ext cx="10691852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8693" y="4089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79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identify the centroid of a triangle.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0528" y="40896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13.7.1 Warm-Up: Human Hamster Wheel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543476" y="1479754"/>
            <a:ext cx="790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human hamster wheel is shown.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7E72E3-04A6-DA4D-B953-1A3FC6E61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660" y="2093816"/>
            <a:ext cx="6578214" cy="4363857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612366" y="386062"/>
            <a:ext cx="109115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first question that comes to your mind?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two things you notice about the human hamster wheel?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DB11C44C-AFFF-9342-967A-2D3FB561440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747" y="2850881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0066" y="36397"/>
            <a:ext cx="110278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13.7.2 Exploration: Centroids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0602" y="1463356"/>
                <a:ext cx="94762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5125" indent="-365125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𝐻𝐾𝑅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(−7,3)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(2,8)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(5,1)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02" y="1463356"/>
                <a:ext cx="9476274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030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02E612AD-ED98-EE4B-A9F4-5A37B69085D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6300" y="321098"/>
            <a:ext cx="756298" cy="75629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B335DB15-92B5-F64B-977C-030D8A2D610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1204" y="2074240"/>
            <a:ext cx="7054247" cy="4383434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378726"/>
            <a:ext cx="1120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by finding the midpoint of each line segment.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B22B62-CE19-6A49-BDFD-9E908A8D4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3785601"/>
                  </p:ext>
                </p:extLst>
              </p:nvPr>
            </p:nvGraphicFramePr>
            <p:xfrm>
              <a:off x="1606303" y="1033921"/>
              <a:ext cx="9360000" cy="37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310072456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79097797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864278840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Midpoint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1176816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𝐻𝐾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486518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𝐾𝑅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92188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𝑅𝐻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2032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B22B62-CE19-6A49-BDFD-9E908A8D4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3785601"/>
                  </p:ext>
                </p:extLst>
              </p:nvPr>
            </p:nvGraphicFramePr>
            <p:xfrm>
              <a:off x="1606303" y="1033921"/>
              <a:ext cx="9360000" cy="37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10072456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9097797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64278840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Midpoint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61176816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2" t="-51977" r="-22521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486518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2" t="-151977" r="-22521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092188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2" t="-251977" r="-225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082" marR="96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712032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78726"/>
            <a:ext cx="106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steps to find the centroid of triangle 𝐻𝐾𝑅.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DD0E301-7232-824A-89A8-5D12E41499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787976"/>
                  </p:ext>
                </p:extLst>
              </p:nvPr>
            </p:nvGraphicFramePr>
            <p:xfrm>
              <a:off x="1568321" y="954051"/>
              <a:ext cx="9060634" cy="326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37538">
                      <a:extLst>
                        <a:ext uri="{9D8B030D-6E8A-4147-A177-3AD203B41FA5}">
                          <a16:colId xmlns:a16="http://schemas.microsoft.com/office/drawing/2014/main" val="1343633068"/>
                        </a:ext>
                      </a:extLst>
                    </a:gridCol>
                    <a:gridCol w="8223096">
                      <a:extLst>
                        <a:ext uri="{9D8B030D-6E8A-4147-A177-3AD203B41FA5}">
                          <a16:colId xmlns:a16="http://schemas.microsoft.com/office/drawing/2014/main" val="254150395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Graph the midpoint of line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𝐻𝐾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and label it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31031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2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Using a straightedge, draw the median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𝐻𝑅𝐾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05637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3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Graph the midpoint of line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𝐾𝑅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and label it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83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4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Using a straightedge, draw the median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𝐾𝐻𝑅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 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899424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5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Graph the midpoint of line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𝑅𝐻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and label it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32981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6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Using a straightedge, draw the median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𝐻𝐾𝑅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987973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7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Label the centroid of triangle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𝐻𝐾𝑅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.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5936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DD0E301-7232-824A-89A8-5D12E41499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787976"/>
                  </p:ext>
                </p:extLst>
              </p:nvPr>
            </p:nvGraphicFramePr>
            <p:xfrm>
              <a:off x="1568321" y="954051"/>
              <a:ext cx="9060634" cy="326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375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43633068"/>
                        </a:ext>
                      </a:extLst>
                    </a:gridCol>
                    <a:gridCol w="82230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4150395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13559" b="-8440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23103127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2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67000" b="-3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40563766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3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283051" b="-574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4898369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4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226000" b="-23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7899424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5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552542" b="-305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93298188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6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385000" b="-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987973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7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8" t="-822034" b="-35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59367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EE6BD1A-31C4-624F-A898-50625E4F1CDF}"/>
              </a:ext>
            </a:extLst>
          </p:cNvPr>
          <p:cNvSpPr txBox="1"/>
          <p:nvPr/>
        </p:nvSpPr>
        <p:spPr>
          <a:xfrm>
            <a:off x="540566" y="4526657"/>
            <a:ext cx="906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coordinates of the centroid of ∆𝐻𝐾𝑅?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108758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façade of a house is shown on the coordinate grid. The façade is represented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𝑊𝐻𝐾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 2.5)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(4.5, 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(−6.5, 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1087584" cy="1200329"/>
              </a:xfrm>
              <a:prstGeom prst="rect">
                <a:avLst/>
              </a:prstGeom>
              <a:blipFill>
                <a:blip r:embed="rId4"/>
                <a:stretch>
                  <a:fillRect l="-880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6F61469-1E98-C04C-82A1-B7FA3F97BBB1}"/>
              </a:ext>
            </a:extLst>
          </p:cNvPr>
          <p:cNvSpPr txBox="1"/>
          <p:nvPr/>
        </p:nvSpPr>
        <p:spPr>
          <a:xfrm>
            <a:off x="540566" y="5304954"/>
            <a:ext cx="10983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estimate the location of the centroid of the triangular façade.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72168D-41D2-C99F-DAC7-DE258C522B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812" y="1452698"/>
            <a:ext cx="5861386" cy="353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05502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centroids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𝐻𝐾𝑅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𝑊𝐻𝐾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0550221" cy="461665"/>
              </a:xfrm>
              <a:prstGeom prst="rect">
                <a:avLst/>
              </a:prstGeom>
              <a:blipFill>
                <a:blip r:embed="rId4"/>
                <a:stretch>
                  <a:fillRect l="-92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5096675-61B3-5D40-BB8E-56831F974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7056050"/>
                  </p:ext>
                </p:extLst>
              </p:nvPr>
            </p:nvGraphicFramePr>
            <p:xfrm>
              <a:off x="1132282" y="948180"/>
              <a:ext cx="9586786" cy="34117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81806">
                      <a:extLst>
                        <a:ext uri="{9D8B030D-6E8A-4147-A177-3AD203B41FA5}">
                          <a16:colId xmlns:a16="http://schemas.microsoft.com/office/drawing/2014/main" val="325145874"/>
                        </a:ext>
                      </a:extLst>
                    </a:gridCol>
                    <a:gridCol w="1965694">
                      <a:extLst>
                        <a:ext uri="{9D8B030D-6E8A-4147-A177-3AD203B41FA5}">
                          <a16:colId xmlns:a16="http://schemas.microsoft.com/office/drawing/2014/main" val="2101871443"/>
                        </a:ext>
                      </a:extLst>
                    </a:gridCol>
                    <a:gridCol w="2819643">
                      <a:extLst>
                        <a:ext uri="{9D8B030D-6E8A-4147-A177-3AD203B41FA5}">
                          <a16:colId xmlns:a16="http://schemas.microsoft.com/office/drawing/2014/main" val="2906819017"/>
                        </a:ext>
                      </a:extLst>
                    </a:gridCol>
                    <a:gridCol w="2819643">
                      <a:extLst>
                        <a:ext uri="{9D8B030D-6E8A-4147-A177-3AD203B41FA5}">
                          <a16:colId xmlns:a16="http://schemas.microsoft.com/office/drawing/2014/main" val="2549696867"/>
                        </a:ext>
                      </a:extLst>
                    </a:gridCol>
                  </a:tblGrid>
                  <a:tr h="9747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Triangle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Centroid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Average of the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𝒙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coordinates of the Vertices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Average of the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coordinates of the Vertices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7095408"/>
                      </a:ext>
                    </a:extLst>
                  </a:tr>
                  <a:tr h="121848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𝐻𝐾𝑅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2302"/>
                      </a:ext>
                    </a:extLst>
                  </a:tr>
                  <a:tr h="121848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𝑊𝐻𝐾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5604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5096675-61B3-5D40-BB8E-56831F9740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7056050"/>
                  </p:ext>
                </p:extLst>
              </p:nvPr>
            </p:nvGraphicFramePr>
            <p:xfrm>
              <a:off x="1132282" y="948180"/>
              <a:ext cx="9586786" cy="34117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8180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5145874"/>
                        </a:ext>
                      </a:extLst>
                    </a:gridCol>
                    <a:gridCol w="196569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01871443"/>
                        </a:ext>
                      </a:extLst>
                    </a:gridCol>
                    <a:gridCol w="28196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06819017"/>
                        </a:ext>
                      </a:extLst>
                    </a:gridCol>
                    <a:gridCol w="28196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49696867"/>
                        </a:ext>
                      </a:extLst>
                    </a:gridCol>
                  </a:tblGrid>
                  <a:tr h="9747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Triangle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Centroid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9957" t="-8125" r="-100000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40476" t="-8125" r="-216" b="-2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67095408"/>
                      </a:ext>
                    </a:extLst>
                  </a:tr>
                  <a:tr h="12184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8" t="-86935" r="-384000" b="-101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43582302"/>
                      </a:ext>
                    </a:extLst>
                  </a:tr>
                  <a:tr h="12184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673" marR="966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8" t="-186000" r="-384000" b="-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673" marR="966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25604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AE2E67E-94DD-7F49-9CAE-1D352AD696C9}"/>
              </a:ext>
            </a:extLst>
          </p:cNvPr>
          <p:cNvSpPr txBox="1"/>
          <p:nvPr/>
        </p:nvSpPr>
        <p:spPr>
          <a:xfrm>
            <a:off x="540565" y="4473648"/>
            <a:ext cx="11369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make a conjecture about the relationships of the centroid and the average of the 𝑥 and 𝑦 coordinates.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5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86099"/>
            <a:ext cx="109833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 two classmates for their conjectures. Record their conjectures and write your summary of their conjectures. </a:t>
            </a:r>
            <a:r>
              <a:rPr lang="en-US" sz="24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the person initial next to your summary stating that your summary was correct.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BAD587-F6FD-A041-88B1-A871D344B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798594"/>
              </p:ext>
            </p:extLst>
          </p:nvPr>
        </p:nvGraphicFramePr>
        <p:xfrm>
          <a:off x="1127562" y="2469225"/>
          <a:ext cx="9832595" cy="3583084"/>
        </p:xfrm>
        <a:graphic>
          <a:graphicData uri="http://schemas.openxmlformats.org/drawingml/2006/table">
            <a:tbl>
              <a:tblPr bandRow="1"/>
              <a:tblGrid>
                <a:gridCol w="3646382">
                  <a:extLst>
                    <a:ext uri="{9D8B030D-6E8A-4147-A177-3AD203B41FA5}">
                      <a16:colId xmlns:a16="http://schemas.microsoft.com/office/drawing/2014/main" val="1144174113"/>
                    </a:ext>
                  </a:extLst>
                </a:gridCol>
                <a:gridCol w="4026213">
                  <a:extLst>
                    <a:ext uri="{9D8B030D-6E8A-4147-A177-3AD203B41FA5}">
                      <a16:colId xmlns:a16="http://schemas.microsoft.com/office/drawing/2014/main" val="164252967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409432203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Conjecture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87871"/>
                  </a:ext>
                </a:extLst>
              </a:tr>
              <a:tr h="14315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132287"/>
                  </a:ext>
                </a:extLst>
              </a:tr>
              <a:tr h="14315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160" marR="911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649649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78726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your conjecture with your partner. If necessary, make any changes.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8302D50E-B969-E645-8E2B-A0DC498C63F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5181" y="285088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551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0068" y="37008"/>
            <a:ext cx="98722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13.7.3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Centroids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6873" y="1463196"/>
                <a:ext cx="106413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5125" indent="-365125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𝑀𝐵𝐺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(0,−3)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(8, 0)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(13,−7)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3" y="1463196"/>
                <a:ext cx="1064139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916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72D330F2-4D25-5241-BE20-53E92DDDEC8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522" y="322320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1F901BF0-F7B5-4C41-A896-CC199E70516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0068" y="2122331"/>
            <a:ext cx="7084780" cy="4406906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762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1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657524" y="339430"/>
            <a:ext cx="10866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average of the 𝑥−coordinates?</a:t>
            </a: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average of the 𝑦−coordinates?</a:t>
            </a: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coordinates of the centroid?</a:t>
            </a: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the coordinates of the centroid by drawing the median of each side.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16.png" descr="Icon&#10;&#10;Description automatically generated">
            <a:extLst>
              <a:ext uri="{FF2B5EF4-FFF2-40B4-BE49-F238E27FC236}">
                <a16:creationId xmlns:a16="http://schemas.microsoft.com/office/drawing/2014/main" id="{D8AF1F7B-377D-B548-8BF4-59F311BEBD5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3427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0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3368" y="4215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13.7.4 Your Turn!</a:t>
            </a:r>
            <a:endParaRPr lang="en-US" sz="4000" b="1" dirty="0">
              <a:solidFill>
                <a:srgbClr val="E24E5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0775" y="1468731"/>
                <a:ext cx="99038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5125" indent="-365125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𝑃𝐾𝑅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(−5,2)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5" y="1468731"/>
                <a:ext cx="9903819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923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6.png" descr="Icon&#10;&#10;Description automatically generated">
            <a:extLst>
              <a:ext uri="{FF2B5EF4-FFF2-40B4-BE49-F238E27FC236}">
                <a16:creationId xmlns:a16="http://schemas.microsoft.com/office/drawing/2014/main" id="{AE67F5FE-7E24-1F49-A201-E9AF5713659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2788" y="330096"/>
            <a:ext cx="749810" cy="7498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4C4B4021-1FE1-004F-A71F-88BC07E23F5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1202" y="2073346"/>
            <a:ext cx="5255004" cy="3863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B2CCCF-9B41-794A-8084-31D84032FBFE}"/>
                  </a:ext>
                </a:extLst>
              </p:cNvPr>
              <p:cNvSpPr txBox="1"/>
              <p:nvPr/>
            </p:nvSpPr>
            <p:spPr>
              <a:xfrm>
                <a:off x="670775" y="6067697"/>
                <a:ext cx="88714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are the coordinates of the centroid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𝑃𝐾𝑅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B2CCCF-9B41-794A-8084-31D84032F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5" y="6067697"/>
                <a:ext cx="8871431" cy="461665"/>
              </a:xfrm>
              <a:prstGeom prst="rect">
                <a:avLst/>
              </a:prstGeom>
              <a:blipFill rotWithShape="1">
                <a:blip r:embed="rId6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14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5291" y="370386"/>
                <a:ext cx="10800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5125" indent="-365125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𝑁𝐻𝑇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(−8,−3)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a centroid at 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413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are the coordinates of vertex 𝑇?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91" y="370386"/>
                <a:ext cx="108000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903" t="-3502" b="-817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8776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7A6B21-5499-A246-9AD7-1AD57E680FF3}"/>
                  </a:ext>
                </a:extLst>
              </p:cNvPr>
              <p:cNvSpPr txBox="1"/>
              <p:nvPr/>
            </p:nvSpPr>
            <p:spPr>
              <a:xfrm>
                <a:off x="531519" y="391404"/>
                <a:ext cx="521652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99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Artemio is finding the centroid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𝑊𝑌𝑉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(−8,5)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27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" indent="4365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 work is shown.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7A6B21-5499-A246-9AD7-1AD57E680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19" y="391404"/>
                <a:ext cx="5216526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1519" t="-2111" b="-5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5A7CB36-E632-DB41-9177-48EA20189D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4373707"/>
                  </p:ext>
                </p:extLst>
              </p:nvPr>
            </p:nvGraphicFramePr>
            <p:xfrm>
              <a:off x="5931519" y="501189"/>
              <a:ext cx="5760000" cy="30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696238253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744344907"/>
                        </a:ext>
                      </a:extLst>
                    </a:gridCol>
                  </a:tblGrid>
                  <a:tr h="540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Artemio’s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063803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8+7+2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5+8+3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5064897"/>
                      </a:ext>
                    </a:extLst>
                  </a:tr>
                  <a:tr h="720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Centroid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  <m:t>17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  <m:t>16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Helvetica Neue" panose="02000503000000020004" pitchFamily="2" charset="0"/>
                                          <a:cs typeface="Helvetica Neue" panose="02000503000000020004" pitchFamily="2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4201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A7CB36-E632-DB41-9177-48EA20189D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4373707"/>
                  </p:ext>
                </p:extLst>
              </p:nvPr>
            </p:nvGraphicFramePr>
            <p:xfrm>
              <a:off x="5931519" y="501189"/>
              <a:ext cx="5760000" cy="30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96238253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44344907"/>
                        </a:ext>
                      </a:extLst>
                    </a:gridCol>
                  </a:tblGrid>
                  <a:tr h="540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Artemio’s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5063803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169" r="-99789" b="-40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212" t="-30169" b="-40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05064897"/>
                      </a:ext>
                    </a:extLst>
                  </a:tr>
                  <a:tr h="72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25424" b="-84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642019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94FB81-9DF9-4918-9A2E-7AEE4E42358B}"/>
                  </a:ext>
                </a:extLst>
              </p:cNvPr>
              <p:cNvSpPr txBox="1"/>
              <p:nvPr/>
            </p:nvSpPr>
            <p:spPr>
              <a:xfrm>
                <a:off x="670774" y="2948989"/>
                <a:ext cx="101545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 note to 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Artemio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explaining his mistake. </a:t>
                </a:r>
              </a:p>
              <a:p>
                <a:pPr marL="89376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376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376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376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are the coordinates of the centroid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𝑊𝑌𝑉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794FB81-9DF9-4918-9A2E-7AEE4E423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4" y="2948989"/>
                <a:ext cx="10154542" cy="2308324"/>
              </a:xfrm>
              <a:prstGeom prst="rect">
                <a:avLst/>
              </a:prstGeom>
              <a:blipFill rotWithShape="1">
                <a:blip r:embed="rId5"/>
                <a:stretch>
                  <a:fillRect t="-2116" b="-502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3929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72938" y="40896"/>
            <a:ext cx="100739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13.7.5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298" y="3300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51043" y="1343957"/>
                <a:ext cx="9361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5125" indent="-365125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𝑇𝐶𝐻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(10,−2)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(−4,2)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43" y="1343957"/>
                <a:ext cx="9361913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977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11622FC0-38FD-9448-8329-8E9B8BADC7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8509" y="1905878"/>
            <a:ext cx="5696188" cy="3874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7A0AA-3257-204A-A551-988D4E700D71}"/>
                  </a:ext>
                </a:extLst>
              </p:cNvPr>
              <p:cNvSpPr txBox="1"/>
              <p:nvPr/>
            </p:nvSpPr>
            <p:spPr>
              <a:xfrm>
                <a:off x="536976" y="5772630"/>
                <a:ext cx="89342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are the coordinates of the centroid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𝑇𝐶𝐻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307A0AA-3257-204A-A551-988D4E700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6" y="5772630"/>
                <a:ext cx="8934210" cy="461665"/>
              </a:xfrm>
              <a:prstGeom prst="rect">
                <a:avLst/>
              </a:prstGeom>
              <a:blipFill rotWithShape="1">
                <a:blip r:embed="rId6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195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38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1008</Words>
  <Application>Microsoft Office PowerPoint</Application>
  <PresentationFormat>Widescreen</PresentationFormat>
  <Paragraphs>180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 Black</vt:lpstr>
      <vt:lpstr>Calibri</vt:lpstr>
      <vt:lpstr>Arial</vt:lpstr>
      <vt:lpstr>Cambria Math</vt:lpstr>
      <vt:lpstr>Century Gothic</vt:lpstr>
      <vt:lpstr>Cambria</vt:lpstr>
      <vt:lpstr>Wingdings</vt:lpstr>
      <vt:lpstr>Verdana</vt:lpstr>
      <vt:lpstr>1_Office Theme</vt:lpstr>
      <vt:lpstr>Geometry  Unit 13, Lesson 7  Centroids of Triangles  Volume 2, pg. 321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32</cp:revision>
  <dcterms:created xsi:type="dcterms:W3CDTF">2015-03-17T18:51:18Z</dcterms:created>
  <dcterms:modified xsi:type="dcterms:W3CDTF">2023-03-03T14:51:26Z</dcterms:modified>
</cp:coreProperties>
</file>