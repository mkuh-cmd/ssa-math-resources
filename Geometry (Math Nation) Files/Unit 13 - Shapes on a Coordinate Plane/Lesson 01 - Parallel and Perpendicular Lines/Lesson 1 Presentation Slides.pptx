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5" r:id="rId4"/>
    <p:sldId id="286" r:id="rId5"/>
    <p:sldId id="261" r:id="rId6"/>
    <p:sldId id="287" r:id="rId7"/>
    <p:sldId id="367" r:id="rId8"/>
    <p:sldId id="311" r:id="rId9"/>
    <p:sldId id="312" r:id="rId10"/>
    <p:sldId id="353" r:id="rId11"/>
    <p:sldId id="368" r:id="rId12"/>
    <p:sldId id="387" r:id="rId13"/>
    <p:sldId id="388" r:id="rId14"/>
    <p:sldId id="389" r:id="rId15"/>
    <p:sldId id="390" r:id="rId16"/>
    <p:sldId id="391" r:id="rId17"/>
    <p:sldId id="378" r:id="rId18"/>
    <p:sldId id="329" r:id="rId19"/>
    <p:sldId id="330" r:id="rId20"/>
    <p:sldId id="370" r:id="rId21"/>
    <p:sldId id="371" r:id="rId22"/>
    <p:sldId id="372" r:id="rId23"/>
    <p:sldId id="373" r:id="rId24"/>
    <p:sldId id="385" r:id="rId25"/>
    <p:sldId id="386" r:id="rId26"/>
    <p:sldId id="377" r:id="rId27"/>
    <p:sldId id="306" r:id="rId28"/>
    <p:sldId id="307" r:id="rId29"/>
  </p:sldIdLst>
  <p:sldSz cx="12192000" cy="6858000"/>
  <p:notesSz cx="6858000" cy="9144000"/>
  <p:embeddedFontLst>
    <p:embeddedFont>
      <p:font typeface="Cambria" pitchFamily="18" charset="0"/>
      <p:regular r:id="rId31"/>
      <p:bold r:id="rId32"/>
      <p:italic r:id="rId33"/>
      <p:boldItalic r:id="rId34"/>
    </p:embeddedFont>
    <p:embeddedFont>
      <p:font typeface="Verdana" pitchFamily="34" charset="0"/>
      <p:regular r:id="rId35"/>
      <p:bold r:id="rId36"/>
      <p:italic r:id="rId37"/>
      <p:boldItalic r:id="rId38"/>
    </p:embeddedFont>
    <p:embeddedFont>
      <p:font typeface="Century Gothic" pitchFamily="34" charset="0"/>
      <p:regular r:id="rId39"/>
      <p:bold r:id="rId40"/>
      <p:italic r:id="rId41"/>
      <p:boldItalic r:id="rId42"/>
    </p:embeddedFont>
    <p:embeddedFont>
      <p:font typeface="Calibri" pitchFamily="34" charset="0"/>
      <p:regular r:id="rId43"/>
      <p:bold r:id="rId44"/>
      <p:italic r:id="rId45"/>
      <p:boldItalic r:id="rId46"/>
    </p:embeddedFont>
    <p:embeddedFont>
      <p:font typeface="Arial Black" pitchFamily="34" charset="0"/>
      <p:bold r:id="rId47"/>
    </p:embeddedFont>
    <p:embeddedFont>
      <p:font typeface="Cambria Math" pitchFamily="18" charset="0"/>
      <p:regular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2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5088"/>
    <a:srgbClr val="E24E5F"/>
    <a:srgbClr val="33BEA6"/>
    <a:srgbClr val="79B0DD"/>
    <a:srgbClr val="DA4487"/>
    <a:srgbClr val="276C46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3836"/>
    <p:restoredTop sz="94626"/>
  </p:normalViewPr>
  <p:slideViewPr>
    <p:cSldViewPr snapToGrid="0">
      <p:cViewPr>
        <p:scale>
          <a:sx n="75" d="100"/>
          <a:sy n="75" d="100"/>
        </p:scale>
        <p:origin x="-1589" y="-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1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64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46374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3026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019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719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7373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85236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0407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4109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39314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37198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60737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43540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43685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4935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21035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50041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1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 rtl="0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 rtl="0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377" lvl="1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566" lvl="2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1">
                <a:solidFill>
                  <a:srgbClr val="888888"/>
                </a:solidFill>
              </a:defRPr>
            </a:lvl3pPr>
            <a:lvl4pPr marL="1828754" lvl="3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5943" lvl="4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131" lvl="5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320" lvl="6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509" lvl="7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697" lvl="8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 rtl="0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 rtl="0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 rtl="0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377" lvl="1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566" lvl="2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1" b="1"/>
            </a:lvl3pPr>
            <a:lvl4pPr marL="1828754" lvl="3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5943" lvl="4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131" lvl="5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320" lvl="6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509" lvl="7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697" lvl="8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 rtl="0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 rtl="0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377" lvl="1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566" lvl="2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1" b="1"/>
            </a:lvl3pPr>
            <a:lvl4pPr marL="1828754" lvl="3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5943" lvl="4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131" lvl="5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320" lvl="6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509" lvl="7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697" lvl="8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 rtl="0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80990" algn="l" rtl="0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377" lvl="1" indent="-36194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566" lvl="2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754" lvl="3" indent="-32384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5943" lvl="4" indent="-32384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131" lvl="5" indent="-32384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320" lvl="6" indent="-32384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509" lvl="7" indent="-32384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697" lvl="8" indent="-32384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 rtl="0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377" lvl="1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1"/>
            </a:lvl2pPr>
            <a:lvl3pPr marL="1371566" lvl="2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754" lvl="3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1"/>
            </a:lvl4pPr>
            <a:lvl5pPr marL="2285943" lvl="4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1"/>
            </a:lvl5pPr>
            <a:lvl6pPr marL="2743131" lvl="5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1"/>
            </a:lvl6pPr>
            <a:lvl7pPr marL="3200320" lvl="6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1"/>
            </a:lvl7pPr>
            <a:lvl8pPr marL="3657509" lvl="7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1"/>
            </a:lvl8pPr>
            <a:lvl9pPr marL="4114697" lvl="8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1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 rtl="0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377" lvl="1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1"/>
            </a:lvl2pPr>
            <a:lvl3pPr marL="1371566" lvl="2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754" lvl="3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1"/>
            </a:lvl4pPr>
            <a:lvl5pPr marL="2285943" lvl="4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1"/>
            </a:lvl5pPr>
            <a:lvl6pPr marL="2743131" lvl="5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1"/>
            </a:lvl6pPr>
            <a:lvl7pPr marL="3200320" lvl="6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1"/>
            </a:lvl7pPr>
            <a:lvl8pPr marL="3657509" lvl="7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1"/>
            </a:lvl8pPr>
            <a:lvl9pPr marL="4114697" lvl="8" indent="-22859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1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 rtl="0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 rtl="0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2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2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2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2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7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66886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325419" y="2092293"/>
            <a:ext cx="5991224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Parallel and Perpendicular Lines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281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223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MA.912.GR.3.2</a:t>
            </a:r>
          </a:p>
          <a:p>
            <a:pPr indent="0">
              <a:buNone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mathematical context, use coordinate geometry to classify or justify definitions, properties, and theorems involving circles, triangles, or quadrilaterals. </a:t>
            </a:r>
          </a:p>
          <a:p>
            <a:pPr indent="0">
              <a:buNone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 lang="en-US" sz="36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281</a:t>
            </a: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281</a:t>
            </a: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</a:t>
            </a:r>
            <a:br>
              <a:rPr lang="en-US" sz="30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0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and Reasoning Standards</a:t>
            </a:r>
            <a:endParaRPr lang="en-US" sz="30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281</a:t>
            </a: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90563" lvl="1" indent="-684213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coordinate geometry to classify parallel and perpendicular lines.  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344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2" y="2879328"/>
            <a:ext cx="1031751" cy="103175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1" y="2766146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281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281</a:t>
            </a: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2999" y="26391"/>
            <a:ext cx="10669509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13.1.1 Warm-Up: Artificial Intelligence and Machine Learning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E1D7562E-134F-D14B-AF1A-DF40E11EF758}"/>
              </a:ext>
            </a:extLst>
          </p:cNvPr>
          <p:cNvSpPr txBox="1"/>
          <p:nvPr/>
        </p:nvSpPr>
        <p:spPr>
          <a:xfrm>
            <a:off x="914399" y="1386024"/>
            <a:ext cx="106161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Artificial intelligence enables a machine to simulate human behavior and decisions. Machine learning is when a machine uses artificial intelligence to learn from past data without a programmer having to re-program the machine.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189" indent="-457189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one task you would like a machine to be programmed to do.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344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281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Both artificial intelligence and machine learning rely on mistakes to help improve the programming.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189" indent="-457189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a mistake you have made that helped you improve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896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344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11410" y="2766146"/>
            <a:ext cx="47724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6.png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8302D50E-B969-E645-8E2B-A0DC498C63F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555182" y="2850887"/>
            <a:ext cx="1156228" cy="11562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282</a:t>
            </a: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6275" y="16080"/>
            <a:ext cx="1065394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13.1.2 Collaboration: Parallel and Perpendicular Lines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1055055" y="1527697"/>
                <a:ext cx="94841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189" indent="-457189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equation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=−2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coordinate plane.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055" y="1527697"/>
                <a:ext cx="9484100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643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image6.png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72D330F2-4D25-5241-BE20-53E92DDDEC8E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9978" y="301392"/>
            <a:ext cx="755076" cy="75507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 descr="Chart&#10;&#10;Description automatically generated">
            <a:extLst>
              <a:ext uri="{FF2B5EF4-FFF2-40B4-BE49-F238E27FC236}">
                <a16:creationId xmlns:a16="http://schemas.microsoft.com/office/drawing/2014/main" xmlns="" id="{05172D27-EB6B-4C45-B91A-C1E91CBA9E3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2145" y="2036501"/>
            <a:ext cx="4947709" cy="4492737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282</a:t>
            </a: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78;g104476d1465_1_17"/>
          <p:cNvSpPr/>
          <p:nvPr/>
        </p:nvSpPr>
        <p:spPr>
          <a:xfrm>
            <a:off x="0" y="-8344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344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282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189" indent="-457189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Rewrite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slope-intercept form.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______________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189" indent="-457189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Graph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using slope-intercept form.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3046988"/>
              </a:xfrm>
              <a:prstGeom prst="rect">
                <a:avLst/>
              </a:prstGeom>
              <a:blipFill rotWithShape="1">
                <a:blip r:embed="rId4"/>
                <a:stretch>
                  <a:fillRect l="-870" t="-1800" b="-3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344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282</a:t>
            </a: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similarities do the two equations have?</a:t>
            </a:r>
          </a:p>
          <a:p>
            <a:pPr marL="457189" indent="-457189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differences do the two equations have?</a:t>
            </a: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575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189" indent="-457189">
                  <a:buFont typeface="+mj-lt"/>
                  <a:buAutoNum type="arabicPeriod" startAt="6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statement.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equations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=−3</m:t>
                    </m:r>
                  </m:oMath>
                </a14:m>
                <a:endParaRPr lang="es-E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resulted                     in lines. The slopes of the </a:t>
                </a: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equations are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189" indent="-457189">
                  <a:buFont typeface="+mj-lt"/>
                  <a:buAutoNum type="arabicPeriod" startAt="7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Rewrite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slope-intercept form.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______________	 	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5262979"/>
              </a:xfrm>
              <a:prstGeom prst="rect">
                <a:avLst/>
              </a:prstGeom>
              <a:blipFill rotWithShape="1">
                <a:blip r:embed="rId3"/>
                <a:stretch>
                  <a:fillRect l="-870" t="-926" b="-1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344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ACE1D5EB-D6A6-9345-99FC-D629E830BCC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6059" y="2053447"/>
            <a:ext cx="2051529" cy="1084760"/>
          </a:xfrm>
          <a:prstGeom prst="rect">
            <a:avLst/>
          </a:prstGeom>
        </p:spPr>
      </p:pic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xmlns="" id="{E0EE798E-B1F0-C944-87A1-37BF3ADE5DB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0541" y="3190624"/>
            <a:ext cx="2657615" cy="1006455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282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905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915" y="-8344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804662C-933C-2841-8B6D-9B3B1B23E87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9939" y="1203801"/>
            <a:ext cx="5704522" cy="5179956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283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189" indent="-457189">
                  <a:buFont typeface="+mj-lt"/>
                  <a:buAutoNum type="arabicPeriod" startAt="8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Graph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using slope-intercept form.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87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919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5572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90563" indent="-457200">
                  <a:buFont typeface="+mj-lt"/>
                  <a:buAutoNum type="arabicPeriod" startAt="9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Graph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189" indent="-457189">
                  <a:buFont typeface="+mj-lt"/>
                  <a:buAutoNum type="arabicPeriod" startAt="9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90563" indent="-690563">
                  <a:buFont typeface="+mj-lt"/>
                  <a:buAutoNum type="arabicPeriod" startAt="9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do you notice about the slopes in the two equations? </a:t>
                </a:r>
              </a:p>
              <a:p>
                <a:pPr marL="457189" indent="-457189">
                  <a:buFont typeface="+mj-lt"/>
                  <a:buAutoNum type="arabicPeriod" startAt="9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189" indent="-457189">
                  <a:buFont typeface="+mj-lt"/>
                  <a:buAutoNum type="arabicPeriod" startAt="9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189" indent="-457189">
                  <a:buFont typeface="+mj-lt"/>
                  <a:buAutoNum type="arabicPeriod" startAt="9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90563" indent="-690563">
                  <a:buFont typeface="+mj-lt"/>
                  <a:buAutoNum type="arabicPeriod" startAt="9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statement.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90563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</a:t>
                </a:r>
                <a:b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90563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lines; therefore, the slopes of the </a:t>
                </a: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equations 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are  	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5572679"/>
              </a:xfrm>
              <a:prstGeom prst="rect">
                <a:avLst/>
              </a:prstGeom>
              <a:blipFill rotWithShape="1">
                <a:blip r:embed="rId3"/>
                <a:stretch>
                  <a:fillRect l="-870" b="-1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344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101C452B-9A33-EF4F-AEFA-0E152EC21DF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6164" y="4264622"/>
            <a:ext cx="2051529" cy="1084760"/>
          </a:xfrm>
          <a:prstGeom prst="rect">
            <a:avLst/>
          </a:prstGeom>
        </p:spPr>
      </p:pic>
      <p:pic>
        <p:nvPicPr>
          <p:cNvPr id="9" name="Picture 8" descr="Graphical user interface, text&#10;&#10;Description automatically generated">
            <a:extLst>
              <a:ext uri="{FF2B5EF4-FFF2-40B4-BE49-F238E27FC236}">
                <a16:creationId xmlns:a16="http://schemas.microsoft.com/office/drawing/2014/main" xmlns="" id="{CD1A6F2C-76D8-0B4B-BE6E-B57244A4716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5787" y="5339222"/>
            <a:ext cx="2657615" cy="1006455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283</a:t>
            </a: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1411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344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592751CB-B524-AB4E-AC5B-26D1C9E08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737596"/>
              </p:ext>
            </p:extLst>
          </p:nvPr>
        </p:nvGraphicFramePr>
        <p:xfrm>
          <a:off x="1792561" y="1250692"/>
          <a:ext cx="9515031" cy="4114800"/>
        </p:xfrm>
        <a:graphic>
          <a:graphicData uri="http://schemas.openxmlformats.org/drawingml/2006/table">
            <a:tbl>
              <a:tblPr firstRow="1" firstCol="1" bandRow="1"/>
              <a:tblGrid>
                <a:gridCol w="2599849">
                  <a:extLst>
                    <a:ext uri="{9D8B030D-6E8A-4147-A177-3AD203B41FA5}">
                      <a16:colId xmlns:a16="http://schemas.microsoft.com/office/drawing/2014/main" xmlns="" val="978594533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xmlns="" val="2278172133"/>
                    </a:ext>
                  </a:extLst>
                </a:gridCol>
                <a:gridCol w="1977422">
                  <a:extLst>
                    <a:ext uri="{9D8B030D-6E8A-4147-A177-3AD203B41FA5}">
                      <a16:colId xmlns:a16="http://schemas.microsoft.com/office/drawing/2014/main" xmlns="" val="1376816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x-none" sz="2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671" marR="5967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Sketch</a:t>
                      </a:r>
                      <a:endParaRPr lang="x-none" sz="2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671" marR="5967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Slope</a:t>
                      </a:r>
                      <a:endParaRPr lang="x-none" sz="2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671" marR="5967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2422085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Parallel lines</a:t>
                      </a:r>
                      <a:endParaRPr lang="x-none" sz="2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671" marR="5967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671" marR="5967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671" marR="5967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85574638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Perpendicular lines</a:t>
                      </a:r>
                      <a:endParaRPr lang="x-none" sz="2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671" marR="5967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671" marR="5967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671" marR="5967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5967871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283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90563" indent="-690563">
              <a:buFont typeface="+mj-lt"/>
              <a:buAutoNum type="arabicPeriod" startAt="1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table.</a:t>
            </a: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71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344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8DF40732-CB3C-624E-BDB6-0212FD600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979741"/>
              </p:ext>
            </p:extLst>
          </p:nvPr>
        </p:nvGraphicFramePr>
        <p:xfrm>
          <a:off x="1714259" y="1674420"/>
          <a:ext cx="9816853" cy="3509160"/>
        </p:xfrm>
        <a:graphic>
          <a:graphicData uri="http://schemas.openxmlformats.org/drawingml/2006/table">
            <a:tbl>
              <a:tblPr firstRow="1" firstCol="1" bandRow="1"/>
              <a:tblGrid>
                <a:gridCol w="3739972">
                  <a:extLst>
                    <a:ext uri="{9D8B030D-6E8A-4147-A177-3AD203B41FA5}">
                      <a16:colId xmlns:a16="http://schemas.microsoft.com/office/drawing/2014/main" xmlns="" val="2023566618"/>
                    </a:ext>
                  </a:extLst>
                </a:gridCol>
                <a:gridCol w="2744077">
                  <a:extLst>
                    <a:ext uri="{9D8B030D-6E8A-4147-A177-3AD203B41FA5}">
                      <a16:colId xmlns:a16="http://schemas.microsoft.com/office/drawing/2014/main" xmlns="" val="219458016"/>
                    </a:ext>
                  </a:extLst>
                </a:gridCol>
                <a:gridCol w="3332804">
                  <a:extLst>
                    <a:ext uri="{9D8B030D-6E8A-4147-A177-3AD203B41FA5}">
                      <a16:colId xmlns:a16="http://schemas.microsoft.com/office/drawing/2014/main" xmlns="" val="2604609311"/>
                    </a:ext>
                  </a:extLst>
                </a:gridCol>
              </a:tblGrid>
              <a:tr h="84744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47" marR="58547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Lines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47" marR="58547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Equations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47" marR="58547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26160723"/>
                  </a:ext>
                </a:extLst>
              </a:tr>
              <a:tr h="133085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Parallel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47" marR="58547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47" marR="58547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47" marR="58547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684376798"/>
                  </a:ext>
                </a:extLst>
              </a:tr>
              <a:tr h="133085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Perpendicular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47" marR="58547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47" marR="58547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47" marR="58547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379164918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284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90563" indent="-690563">
              <a:buFont typeface="+mj-lt"/>
              <a:buAutoNum type="arabicPeriod" startAt="1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Match the two lines that are parallel and the two lines that are perpendicular. Then, match the equations.</a:t>
            </a: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387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405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xmlns="" id="{A82E57BC-A329-8540-84D5-05E6749C8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730580"/>
              </p:ext>
            </p:extLst>
          </p:nvPr>
        </p:nvGraphicFramePr>
        <p:xfrm>
          <a:off x="668078" y="300096"/>
          <a:ext cx="6149317" cy="3235531"/>
        </p:xfrm>
        <a:graphic>
          <a:graphicData uri="http://schemas.openxmlformats.org/drawingml/2006/table">
            <a:tbl>
              <a:tblPr firstRow="1" firstCol="1" bandRow="1"/>
              <a:tblGrid>
                <a:gridCol w="3074276">
                  <a:extLst>
                    <a:ext uri="{9D8B030D-6E8A-4147-A177-3AD203B41FA5}">
                      <a16:colId xmlns:a16="http://schemas.microsoft.com/office/drawing/2014/main" xmlns="" val="2363663733"/>
                    </a:ext>
                  </a:extLst>
                </a:gridCol>
                <a:gridCol w="3075041">
                  <a:extLst>
                    <a:ext uri="{9D8B030D-6E8A-4147-A177-3AD203B41FA5}">
                      <a16:colId xmlns:a16="http://schemas.microsoft.com/office/drawing/2014/main" xmlns="" val="247580719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Line A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716" marR="82716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Line B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716" marR="82716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13148942"/>
                  </a:ext>
                </a:extLst>
              </a:tr>
              <a:tr h="29307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716" marR="82716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716" marR="82716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0286429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xmlns="" id="{FE7A6713-0940-AD48-A50A-2A0464463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979778"/>
              </p:ext>
            </p:extLst>
          </p:nvPr>
        </p:nvGraphicFramePr>
        <p:xfrm>
          <a:off x="668078" y="3535626"/>
          <a:ext cx="6149317" cy="2922051"/>
        </p:xfrm>
        <a:graphic>
          <a:graphicData uri="http://schemas.openxmlformats.org/drawingml/2006/table">
            <a:tbl>
              <a:tblPr firstRow="1" firstCol="1" bandRow="1"/>
              <a:tblGrid>
                <a:gridCol w="3074276">
                  <a:extLst>
                    <a:ext uri="{9D8B030D-6E8A-4147-A177-3AD203B41FA5}">
                      <a16:colId xmlns:a16="http://schemas.microsoft.com/office/drawing/2014/main" xmlns="" val="2363663733"/>
                    </a:ext>
                  </a:extLst>
                </a:gridCol>
                <a:gridCol w="3075041">
                  <a:extLst>
                    <a:ext uri="{9D8B030D-6E8A-4147-A177-3AD203B41FA5}">
                      <a16:colId xmlns:a16="http://schemas.microsoft.com/office/drawing/2014/main" xmlns="" val="247580719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Line C</a:t>
                      </a:r>
                      <a:endParaRPr lang="x-none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716" marR="82716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Line D</a:t>
                      </a:r>
                      <a:endParaRPr lang="x-none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716" marR="82716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13148942"/>
                  </a:ext>
                </a:extLst>
              </a:tr>
              <a:tr h="261725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716" marR="82716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716" marR="82716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02864296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3D468E5B-92C1-D64F-AD4C-0185346662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731" y="3963400"/>
            <a:ext cx="2534920" cy="22936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FC8DF47-5E32-FF46-B9C1-1D16B4A833D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6406" y="3963399"/>
            <a:ext cx="2503805" cy="2336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36077D0C-E753-BA47-BB71-8C22B5E93F8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422" y="727872"/>
            <a:ext cx="2742565" cy="27425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70C4B736-D6B0-C147-8908-98E725A0AAD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4487" y="727868"/>
            <a:ext cx="2707640" cy="27076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xmlns="" id="{B1281D24-23CE-47E0-AF1D-B26859C2C3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9049751"/>
                  </p:ext>
                </p:extLst>
              </p:nvPr>
            </p:nvGraphicFramePr>
            <p:xfrm>
              <a:off x="7059966" y="300096"/>
              <a:ext cx="4077110" cy="6157583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4077110">
                      <a:extLst>
                        <a:ext uri="{9D8B030D-6E8A-4147-A177-3AD203B41FA5}">
                          <a16:colId xmlns:a16="http://schemas.microsoft.com/office/drawing/2014/main" xmlns="" val="2521417733"/>
                        </a:ext>
                      </a:extLst>
                    </a:gridCol>
                  </a:tblGrid>
                  <a:tr h="63483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Equation E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769445902"/>
                      </a:ext>
                    </a:extLst>
                  </a:tr>
                  <a:tr h="11762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+2=</m:t>
                                </m:r>
                                <m:f>
                                  <m:fPr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+9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646955951"/>
                      </a:ext>
                    </a:extLst>
                  </a:tr>
                  <a:tr h="63483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Equation F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424137943"/>
                      </a:ext>
                    </a:extLst>
                  </a:tr>
                  <a:tr h="63483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+3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=−21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91550685"/>
                      </a:ext>
                    </a:extLst>
                  </a:tr>
                  <a:tr h="63483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Equation G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906034171"/>
                      </a:ext>
                    </a:extLst>
                  </a:tr>
                  <a:tr h="63483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+3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=−6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608604234"/>
                      </a:ext>
                    </a:extLst>
                  </a:tr>
                  <a:tr h="63483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Equation H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455026604"/>
                      </a:ext>
                    </a:extLst>
                  </a:tr>
                  <a:tr h="117227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4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4335371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1281D24-23CE-47E0-AF1D-B26859C2C3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9049751"/>
                  </p:ext>
                </p:extLst>
              </p:nvPr>
            </p:nvGraphicFramePr>
            <p:xfrm>
              <a:off x="7059966" y="300096"/>
              <a:ext cx="4077110" cy="6157583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407711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521417733"/>
                        </a:ext>
                      </a:extLst>
                    </a:gridCol>
                  </a:tblGrid>
                  <a:tr h="63483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Equation E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769445902"/>
                      </a:ext>
                    </a:extLst>
                  </a:tr>
                  <a:tr h="11762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7"/>
                          <a:stretch>
                            <a:fillRect t="-53886" b="-3699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646955951"/>
                      </a:ext>
                    </a:extLst>
                  </a:tr>
                  <a:tr h="63483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Equation F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424137943"/>
                      </a:ext>
                    </a:extLst>
                  </a:tr>
                  <a:tr h="6348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7"/>
                          <a:stretch>
                            <a:fillRect t="-385577" b="-486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1550685"/>
                      </a:ext>
                    </a:extLst>
                  </a:tr>
                  <a:tr h="63483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Equation G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906034171"/>
                      </a:ext>
                    </a:extLst>
                  </a:tr>
                  <a:tr h="6348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7"/>
                          <a:stretch>
                            <a:fillRect t="-580000" b="-28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08604234"/>
                      </a:ext>
                    </a:extLst>
                  </a:tr>
                  <a:tr h="63483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Equation H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455026604"/>
                      </a:ext>
                    </a:extLst>
                  </a:tr>
                  <a:tr h="11722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7"/>
                          <a:stretch>
                            <a:fillRect t="-426042" b="-5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433537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284</a:t>
            </a:r>
          </a:p>
        </p:txBody>
      </p:sp>
      <p:pic>
        <p:nvPicPr>
          <p:cNvPr id="20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3929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344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05573" y="2766146"/>
            <a:ext cx="448075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6.png" descr="Icon&#10;&#10;Description automatically generated">
            <a:extLst>
              <a:ext uri="{FF2B5EF4-FFF2-40B4-BE49-F238E27FC236}">
                <a16:creationId xmlns:a16="http://schemas.microsoft.com/office/drawing/2014/main" xmlns="" id="{B079AFA8-B9EA-EB4C-B6ED-66C4D839C0CE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28259" y="2852923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284</a:t>
            </a: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405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69915" y="-12828"/>
            <a:ext cx="1000809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13.1.3 Guided Instruction: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Parallel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and Perpendicular Lines</a:t>
            </a:r>
            <a:endParaRPr lang="en-US" sz="3600" b="1" dirty="0">
              <a:solidFill>
                <a:srgbClr val="54B5D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pic>
        <p:nvPicPr>
          <p:cNvPr id="14" name="image6.png" descr="Icon&#10;&#10;Description automatically generated">
            <a:extLst>
              <a:ext uri="{FF2B5EF4-FFF2-40B4-BE49-F238E27FC236}">
                <a16:creationId xmlns:a16="http://schemas.microsoft.com/office/drawing/2014/main" xmlns="" id="{8A434195-83BC-AD47-961E-98BFF6E69192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5870" y="275118"/>
            <a:ext cx="749808" cy="74980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C6F84987-9E75-6B4D-9398-C073CEF48749}"/>
              </a:ext>
            </a:extLst>
          </p:cNvPr>
          <p:cNvGrpSpPr/>
          <p:nvPr/>
        </p:nvGrpSpPr>
        <p:grpSpPr>
          <a:xfrm>
            <a:off x="1045677" y="2113955"/>
            <a:ext cx="9263445" cy="1157480"/>
            <a:chOff x="-1897622" y="-344326"/>
            <a:chExt cx="9263445" cy="1157854"/>
          </a:xfrm>
        </p:grpSpPr>
        <p:sp>
          <p:nvSpPr>
            <p:cNvPr id="10" name="Text Box 18">
              <a:extLst>
                <a:ext uri="{FF2B5EF4-FFF2-40B4-BE49-F238E27FC236}">
                  <a16:creationId xmlns:a16="http://schemas.microsoft.com/office/drawing/2014/main" xmlns="" id="{2AA8948B-DFE0-D240-825D-D889771D20CB}"/>
                </a:ext>
              </a:extLst>
            </p:cNvPr>
            <p:cNvSpPr txBox="1"/>
            <p:nvPr/>
          </p:nvSpPr>
          <p:spPr>
            <a:xfrm>
              <a:off x="-1897622" y="-344326"/>
              <a:ext cx="9263445" cy="1157854"/>
            </a:xfrm>
            <a:prstGeom prst="roundRect">
              <a:avLst/>
            </a:prstGeom>
            <a:solidFill>
              <a:srgbClr val="B8E6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742932">
                <a:spcAft>
                  <a:spcPts val="1000"/>
                </a:spcAft>
              </a:pPr>
              <a:r>
                <a:rPr lang="en-US" sz="2400" dirty="0">
                  <a:solidFill>
                    <a:srgbClr val="0075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Lines are</a:t>
              </a:r>
              <a:r>
                <a:rPr lang="en-US" sz="2400" b="1" dirty="0">
                  <a:solidFill>
                    <a:srgbClr val="0075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parallel </a:t>
              </a:r>
              <a:r>
                <a:rPr lang="en-US" sz="2400" dirty="0">
                  <a:solidFill>
                    <a:srgbClr val="0075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if the slopes of the lines are the same. </a:t>
              </a:r>
              <a:endParaRPr lang="x-none" sz="1600" dirty="0"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Picture 10" descr="Icon&#10;&#10;Description automatically generated">
              <a:extLst>
                <a:ext uri="{FF2B5EF4-FFF2-40B4-BE49-F238E27FC236}">
                  <a16:creationId xmlns:a16="http://schemas.microsoft.com/office/drawing/2014/main" xmlns="" id="{9516863C-2577-2845-932A-87F8C25B9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756944" y="-40668"/>
              <a:ext cx="539750" cy="5397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0453C84E-E665-964D-A421-6D8880C9C465}"/>
              </a:ext>
            </a:extLst>
          </p:cNvPr>
          <p:cNvGrpSpPr/>
          <p:nvPr/>
        </p:nvGrpSpPr>
        <p:grpSpPr>
          <a:xfrm>
            <a:off x="1008955" y="4021946"/>
            <a:ext cx="9300168" cy="1216427"/>
            <a:chOff x="0" y="-192912"/>
            <a:chExt cx="9300168" cy="1216819"/>
          </a:xfrm>
        </p:grpSpPr>
        <p:sp>
          <p:nvSpPr>
            <p:cNvPr id="19" name="Text Box 40">
              <a:extLst>
                <a:ext uri="{FF2B5EF4-FFF2-40B4-BE49-F238E27FC236}">
                  <a16:creationId xmlns:a16="http://schemas.microsoft.com/office/drawing/2014/main" xmlns="" id="{EFF3D55C-50BD-7B40-8E33-5FC27B97DC26}"/>
                </a:ext>
              </a:extLst>
            </p:cNvPr>
            <p:cNvSpPr txBox="1"/>
            <p:nvPr/>
          </p:nvSpPr>
          <p:spPr>
            <a:xfrm>
              <a:off x="0" y="-192912"/>
              <a:ext cx="9300168" cy="1216819"/>
            </a:xfrm>
            <a:prstGeom prst="roundRect">
              <a:avLst/>
            </a:prstGeom>
            <a:solidFill>
              <a:srgbClr val="B8E6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742932">
                <a:spcAft>
                  <a:spcPts val="1000"/>
                </a:spcAft>
              </a:pPr>
              <a:r>
                <a:rPr lang="en-US" sz="2400" dirty="0">
                  <a:solidFill>
                    <a:srgbClr val="0075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Lines are</a:t>
              </a:r>
              <a:r>
                <a:rPr lang="en-US" sz="2400" b="1" dirty="0">
                  <a:solidFill>
                    <a:srgbClr val="0075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perpendicular </a:t>
              </a:r>
              <a:r>
                <a:rPr lang="en-US" sz="2400" dirty="0">
                  <a:solidFill>
                    <a:srgbClr val="0075BF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if the slopes are opposites and reciprocals. </a:t>
              </a:r>
              <a:endParaRPr lang="x-none" sz="1600" dirty="0"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Picture 19" descr="Icon&#10;&#10;Description automatically generated">
              <a:extLst>
                <a:ext uri="{FF2B5EF4-FFF2-40B4-BE49-F238E27FC236}">
                  <a16:creationId xmlns:a16="http://schemas.microsoft.com/office/drawing/2014/main" xmlns="" id="{E6152463-50C2-0D43-BB67-4F22C7067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0677" y="105507"/>
              <a:ext cx="539750" cy="5397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284</a:t>
            </a: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03FDC87-DAF7-0245-875F-6534B4C42DC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6712" y="1252494"/>
            <a:ext cx="3990975" cy="3990975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284</a:t>
            </a: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Four lines are shown on the coordinate plane</a:t>
            </a:r>
            <a:r>
              <a:rPr lang="en-US" sz="20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189" indent="-457189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/>
            </a:pPr>
            <a:endParaRPr lang="en-PH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buFont typeface="+mj-lt"/>
              <a:buAutoNum type="arabicPeriod"/>
            </a:pPr>
            <a:endParaRPr lang="en-US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 you notice about the four lines</a:t>
            </a:r>
            <a:r>
              <a:rPr lang="en-US" sz="20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323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2488" indent="-45561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graph of the four lines, the four lines create a rectangle. </a:t>
            </a:r>
            <a:r>
              <a:rPr lang="en-US" sz="20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each of the properties of a rectangle could be shown.</a:t>
            </a: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344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BDD1E869-34E7-1B47-B11A-8CA6F4A27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313380"/>
              </p:ext>
            </p:extLst>
          </p:nvPr>
        </p:nvGraphicFramePr>
        <p:xfrm>
          <a:off x="1912900" y="1545839"/>
          <a:ext cx="8372332" cy="4114800"/>
        </p:xfrm>
        <a:graphic>
          <a:graphicData uri="http://schemas.openxmlformats.org/drawingml/2006/table">
            <a:tbl>
              <a:tblPr firstRow="1" firstCol="1" bandRow="1"/>
              <a:tblGrid>
                <a:gridCol w="4010276">
                  <a:extLst>
                    <a:ext uri="{9D8B030D-6E8A-4147-A177-3AD203B41FA5}">
                      <a16:colId xmlns:a16="http://schemas.microsoft.com/office/drawing/2014/main" xmlns="" val="607282303"/>
                    </a:ext>
                  </a:extLst>
                </a:gridCol>
                <a:gridCol w="4362056">
                  <a:extLst>
                    <a:ext uri="{9D8B030D-6E8A-4147-A177-3AD203B41FA5}">
                      <a16:colId xmlns:a16="http://schemas.microsoft.com/office/drawing/2014/main" xmlns="" val="361106865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Property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695" marR="4069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Explanation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695" marR="4069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93190237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Opposite sides are parallel.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695" marR="4069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695" marR="4069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3829815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All angles are right angles.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695" marR="4069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695" marR="4069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80294633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285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667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3D54168B-44EC-2F49-AEFD-277B857907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3973" y="520394"/>
            <a:ext cx="5256027" cy="5138726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285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5181600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189" indent="-457189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Line 𝑊 has points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(−1,6)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(1,2)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 it. Line 𝑇 has points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(−4,3)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(−2,−2)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 it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189" indent="-457189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28665" indent="-465127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Graph line 𝑊 and line 𝑇.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5181600" cy="1692771"/>
              </a:xfrm>
              <a:prstGeom prst="rect">
                <a:avLst/>
              </a:prstGeom>
              <a:blipFill rotWithShape="1">
                <a:blip r:embed="rId5"/>
                <a:stretch>
                  <a:fillRect l="-1176" t="-2158" b="-5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6049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285</a:t>
            </a: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3606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7552" indent="-450839">
                  <a:buFont typeface="+mj-lt"/>
                  <a:buAutoNum type="alphaLcPeriod" startAt="2"/>
                </a:pP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if line 𝑊 and line 𝑇 are parallel lines, perpendicular lines, or neither. Justify your answer with math. </a:t>
                </a:r>
              </a:p>
              <a:p>
                <a:pPr marL="917552" indent="-450839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7552" indent="-450839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7552" indent="-450839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7552" indent="-450839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7552" indent="-450839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189" indent="-457189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Line 𝑁 is written as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Line 𝑉 is written as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2427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if line 𝑁 and line 𝑉 are parallel lines, perpendicular lines, or neither. 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Justify your answer with math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3606308"/>
              </a:xfrm>
              <a:prstGeom prst="rect">
                <a:avLst/>
              </a:prstGeom>
              <a:blipFill rotWithShape="1">
                <a:blip r:embed="rId4"/>
                <a:stretch>
                  <a:fillRect l="-580" t="-1014" b="-2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812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05573" y="2766146"/>
            <a:ext cx="448075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9.png" descr="Icon&#10;&#10;Description automatically generated">
            <a:extLst>
              <a:ext uri="{FF2B5EF4-FFF2-40B4-BE49-F238E27FC236}">
                <a16:creationId xmlns:a16="http://schemas.microsoft.com/office/drawing/2014/main" xmlns="" id="{C2629E52-3A9F-FD44-B9E7-894793CAEE9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943856" y="2843779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286</a:t>
            </a: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5703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344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61206" y="-17122"/>
            <a:ext cx="1066376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13.1.4 Guided Practice: Parallel and Perpendicular Lines</a:t>
            </a:r>
            <a:endParaRPr lang="en-US" sz="3200" b="1" dirty="0">
              <a:solidFill>
                <a:srgbClr val="54B5D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670776" y="1249632"/>
                <a:ext cx="1055274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189" indent="-457189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Given that line 𝑀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determine if the following lines are parallel to line 𝑀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b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table.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76" y="1249632"/>
                <a:ext cx="10552747" cy="1323439"/>
              </a:xfrm>
              <a:prstGeom prst="rect">
                <a:avLst/>
              </a:prstGeom>
              <a:blipFill rotWithShape="1">
                <a:blip r:embed="rId3"/>
                <a:stretch>
                  <a:fillRect l="-578" t="-2765" r="-1213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9.png" descr="Icon&#10;&#10;Description automatically generated">
            <a:extLst>
              <a:ext uri="{FF2B5EF4-FFF2-40B4-BE49-F238E27FC236}">
                <a16:creationId xmlns:a16="http://schemas.microsoft.com/office/drawing/2014/main" xmlns="" id="{A7010794-A55A-ED4B-A0FE-97BBD0B6C51C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5872" y="270824"/>
            <a:ext cx="749808" cy="74980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xmlns="" id="{A8099B78-36B9-4238-8AB5-2EA35BB38E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5001634"/>
                  </p:ext>
                </p:extLst>
              </p:nvPr>
            </p:nvGraphicFramePr>
            <p:xfrm>
              <a:off x="1270655" y="2746200"/>
              <a:ext cx="8258976" cy="3657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15683">
                      <a:extLst>
                        <a:ext uri="{9D8B030D-6E8A-4147-A177-3AD203B41FA5}">
                          <a16:colId xmlns:a16="http://schemas.microsoft.com/office/drawing/2014/main" xmlns="" val="4200750266"/>
                        </a:ext>
                      </a:extLst>
                    </a:gridCol>
                    <a:gridCol w="1900093">
                      <a:extLst>
                        <a:ext uri="{9D8B030D-6E8A-4147-A177-3AD203B41FA5}">
                          <a16:colId xmlns:a16="http://schemas.microsoft.com/office/drawing/2014/main" xmlns="" val="4180782666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="" val="384832687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Equation of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Work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Is the line parallel to line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𝑴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?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15851018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𝑦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=3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𝑥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+8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85410772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=−3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 smtClean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 smtClean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81821437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3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=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 smtClean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 smtClean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9817401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3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 smtClean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 smtClean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2159415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8099B78-36B9-4238-8AB5-2EA35BB38E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5001634"/>
                  </p:ext>
                </p:extLst>
              </p:nvPr>
            </p:nvGraphicFramePr>
            <p:xfrm>
              <a:off x="1270655" y="2746200"/>
              <a:ext cx="8258976" cy="3657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1568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200750266"/>
                        </a:ext>
                      </a:extLst>
                    </a:gridCol>
                    <a:gridCol w="190009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180782666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84832687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Equation of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Work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1111" r="-222" b="-31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115851018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32743" r="-128668" b="-3185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854107726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34821" r="-128668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 smtClean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 smtClean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81821437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331858" r="-128668" b="-119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 smtClean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 smtClean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19817401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435714" r="-128668" b="-205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Yes</a:t>
                          </a:r>
                          <a:endParaRPr lang="x-none" sz="2000" smtClean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102235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No</a:t>
                          </a:r>
                          <a:endParaRPr lang="x-none" sz="2000" smtClean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871" marR="638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2159415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286</a:t>
            </a: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1146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98B51352-D36D-7F46-81EE-695F656858A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0761" y="520394"/>
            <a:ext cx="4840352" cy="4732326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287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0" y="-8344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6014720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73063" indent="-473063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Line 𝑅 is written as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line 𝐾 is written as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line 𝐶 is written as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−12=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73063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30251" indent="-457189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Graph lines 𝑅, 𝐾, and 𝐶.</a:t>
                </a:r>
              </a:p>
              <a:p>
                <a:pPr marL="127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7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30251" indent="-457189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which two lines are perpendicular lines. 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Justify your answer with math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6014720" cy="3170099"/>
              </a:xfrm>
              <a:prstGeom prst="rect">
                <a:avLst/>
              </a:prstGeom>
              <a:blipFill rotWithShape="1">
                <a:blip r:embed="rId5"/>
                <a:stretch>
                  <a:fillRect l="-1013" t="-1154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8776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54077" y="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287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E44DF7DE-9172-3E4E-B74A-7A51585FB6EA}"/>
              </a:ext>
            </a:extLst>
          </p:cNvPr>
          <p:cNvSpPr txBox="1"/>
          <p:nvPr/>
        </p:nvSpPr>
        <p:spPr>
          <a:xfrm>
            <a:off x="914399" y="1386024"/>
            <a:ext cx="106161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Write a short note to a friend who missed today's class summarizing </a:t>
            </a:r>
            <a:r>
              <a:rPr lang="en-US" sz="2400" dirty="0">
                <a:solidFill>
                  <a:srgbClr val="221E1F"/>
                </a:solidFill>
                <a:latin typeface="Verdana"/>
              </a:rPr>
              <a:t>what you </a:t>
            </a:r>
            <a:r>
              <a:rPr lang="en-US" sz="2400" dirty="0" smtClean="0">
                <a:solidFill>
                  <a:srgbClr val="221E1F"/>
                </a:solidFill>
                <a:latin typeface="Verdana"/>
              </a:rPr>
              <a:t>learned.</a:t>
            </a:r>
            <a:endParaRPr lang="en-US" sz="2400" dirty="0">
              <a:latin typeface="Verdana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344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6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287</a:t>
            </a: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0"/>
            <a:ext cx="103875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13.1.5 Wrap-Up: Cool Down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" name="Google Shape;458;g103996e1364_0_463">
            <a:extLst>
              <a:ext uri="{FF2B5EF4-FFF2-40B4-BE49-F238E27FC236}">
                <a16:creationId xmlns=""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89" y="31331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2228</TotalTime>
  <Words>930</Words>
  <Application>Microsoft Office PowerPoint</Application>
  <PresentationFormat>Custom</PresentationFormat>
  <Paragraphs>229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Arial</vt:lpstr>
      <vt:lpstr>Courier New</vt:lpstr>
      <vt:lpstr>Times New Roman</vt:lpstr>
      <vt:lpstr>Cambria</vt:lpstr>
      <vt:lpstr>Verdana</vt:lpstr>
      <vt:lpstr>Century Gothic</vt:lpstr>
      <vt:lpstr>Calibri</vt:lpstr>
      <vt:lpstr>Wingdings</vt:lpstr>
      <vt:lpstr>Helvetica Neue</vt:lpstr>
      <vt:lpstr>Arial Black</vt:lpstr>
      <vt:lpstr>Cambria Math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John Patrick</cp:lastModifiedBy>
  <cp:revision>34</cp:revision>
  <dcterms:created xsi:type="dcterms:W3CDTF">2015-03-17T18:51:18Z</dcterms:created>
  <dcterms:modified xsi:type="dcterms:W3CDTF">2022-09-29T12:29:33Z</dcterms:modified>
</cp:coreProperties>
</file>