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367" r:id="rId8"/>
    <p:sldId id="311" r:id="rId9"/>
    <p:sldId id="312" r:id="rId10"/>
    <p:sldId id="353" r:id="rId11"/>
    <p:sldId id="368" r:id="rId12"/>
    <p:sldId id="387" r:id="rId13"/>
    <p:sldId id="388" r:id="rId14"/>
    <p:sldId id="389" r:id="rId15"/>
    <p:sldId id="390" r:id="rId16"/>
    <p:sldId id="391" r:id="rId17"/>
    <p:sldId id="392" r:id="rId18"/>
    <p:sldId id="329" r:id="rId19"/>
    <p:sldId id="330" r:id="rId20"/>
    <p:sldId id="370" r:id="rId21"/>
    <p:sldId id="371" r:id="rId22"/>
    <p:sldId id="372" r:id="rId23"/>
    <p:sldId id="373" r:id="rId24"/>
    <p:sldId id="306" r:id="rId25"/>
    <p:sldId id="307" r:id="rId26"/>
    <p:sldId id="393" r:id="rId27"/>
  </p:sldIdLst>
  <p:sldSz cx="12192000" cy="6858000"/>
  <p:notesSz cx="6858000" cy="9144000"/>
  <p:embeddedFontLst>
    <p:embeddedFont>
      <p:font typeface="Arial Black" panose="020B0A04020102020204" pitchFamily="34" charset="0"/>
      <p:regular r:id="rId29"/>
      <p:bold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Cambria" panose="02040503050406030204" pitchFamily="18" charset="0"/>
      <p:regular r:id="rId35"/>
      <p:bold r:id="rId36"/>
      <p:italic r:id="rId37"/>
      <p:boldItalic r:id="rId38"/>
    </p:embeddedFont>
    <p:embeddedFont>
      <p:font typeface="Cambria Math" panose="02040503050406030204" pitchFamily="18" charset="0"/>
      <p:regular r:id="rId39"/>
    </p:embeddedFont>
    <p:embeddedFont>
      <p:font typeface="Century Gothic" panose="020B0502020202020204" pitchFamily="34" charset="0"/>
      <p:regular r:id="rId40"/>
      <p:bold r:id="rId41"/>
      <p:italic r:id="rId42"/>
      <p:boldItalic r:id="rId43"/>
    </p:embeddedFont>
    <p:embeddedFont>
      <p:font typeface="Verdana" panose="020B0604030504040204" pitchFamily="3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2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BEA6"/>
    <a:srgbClr val="E45088"/>
    <a:srgbClr val="E24E5F"/>
    <a:srgbClr val="79B0DD"/>
    <a:srgbClr val="DA4487"/>
    <a:srgbClr val="276C46"/>
    <a:srgbClr val="C9DF6F"/>
    <a:srgbClr val="417DBF"/>
    <a:srgbClr val="3F2A67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8"/>
    <p:restoredTop sz="94648"/>
  </p:normalViewPr>
  <p:slideViewPr>
    <p:cSldViewPr snapToGrid="0">
      <p:cViewPr varScale="1">
        <p:scale>
          <a:sx n="109" d="100"/>
          <a:sy n="109" d="100"/>
        </p:scale>
        <p:origin x="60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font" Target="fonts/font19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font" Target="fonts/font13.fntdata"/><Relationship Id="rId62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64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3026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1047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0192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0719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73738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85236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0407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41090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00816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37198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60737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43540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43685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2936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13, Lesson 13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Finding Perimeter and Area on the Coordinate Plane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354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530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9531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MA.912.GR.3.4</a:t>
            </a:r>
          </a:p>
          <a:p>
            <a:pPr indent="0"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Use coordinate geometry to solve mathematical and real-world problems on the coordinate plane involving the perimeter or area of polygons. </a:t>
            </a:r>
          </a:p>
          <a:p>
            <a:pPr indent="0"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</a:p>
          <a:p>
            <a:pPr indent="0"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3252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298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11947" y="129667"/>
            <a:ext cx="907918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826458" y="1460584"/>
            <a:ext cx="10697466" cy="4740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BCBDA1BA-1A31-F841-8D71-9CA2E864C519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65719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557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66344" y="1600200"/>
            <a:ext cx="8229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ct val="100000"/>
              <a:buFont typeface="Verdana"/>
              <a:buChar char="❏"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find the perimeter and area of polygons and composite figures drawn on the coordinate plane. 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2CE09C99-2A7A-4642-81C4-47A479DC694E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17BBDB14-F43F-3F42-9C2D-99752E20A39C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3742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15515" y="190955"/>
            <a:ext cx="1038498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13.13.1 Warm-Up: The Dancing House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21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C0B51D-09DC-AA4D-9C14-AE2048199B26}"/>
              </a:ext>
            </a:extLst>
          </p:cNvPr>
          <p:cNvSpPr txBox="1"/>
          <p:nvPr/>
        </p:nvSpPr>
        <p:spPr>
          <a:xfrm>
            <a:off x="641866" y="1504137"/>
            <a:ext cx="108820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Dancing House is located in Prague, Czech Republic, and was designed in 1992. The style of this building is known as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deconstructivist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architecture due to its unusual shape. 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D1AE0D26-BB07-DE4B-AFB3-A469C86BF2EB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4C4C48-AD10-0048-82B0-1F1892F66C3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3407" y="2829836"/>
            <a:ext cx="5253805" cy="389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3251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C0B51D-09DC-AA4D-9C14-AE2048199B26}"/>
              </a:ext>
            </a:extLst>
          </p:cNvPr>
          <p:cNvSpPr txBox="1"/>
          <p:nvPr/>
        </p:nvSpPr>
        <p:spPr>
          <a:xfrm>
            <a:off x="623564" y="377837"/>
            <a:ext cx="1079168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first question that comes to your mind?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question that a 5</a:t>
            </a:r>
            <a:r>
              <a:rPr lang="en-US" sz="2400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grader could answer using the photo.</a:t>
            </a: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FFD6D459-41EA-F54F-A153-BCA566EE3EE9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7896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11409" y="2766145"/>
            <a:ext cx="47724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2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A13319E-DA3B-3E44-8EF7-BEF50B5A8B4C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10.png" descr="Icon&#10;&#10;Description automatically generated">
            <a:extLst>
              <a:ext uri="{FF2B5EF4-FFF2-40B4-BE49-F238E27FC236}">
                <a16:creationId xmlns:a16="http://schemas.microsoft.com/office/drawing/2014/main" id="{64CE9FF8-E009-B44E-B0BF-D55EDDECCC9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555182" y="2850881"/>
            <a:ext cx="1156229" cy="115622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633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5642" y="52100"/>
            <a:ext cx="1083701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13.13.2 Exploration: Perimeter and Area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635528" y="1183746"/>
                <a:ext cx="109926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Trapezoid 𝐵𝐺𝑀𝐻 has vertices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𝐵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(1,9)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𝐺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(5,9)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𝑀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(2,5)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(−4,5)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528" y="1183746"/>
                <a:ext cx="10992622" cy="461665"/>
              </a:xfrm>
              <a:prstGeom prst="rect">
                <a:avLst/>
              </a:prstGeom>
              <a:blipFill>
                <a:blip r:embed="rId4"/>
                <a:stretch>
                  <a:fillRect l="-831" t="-11842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Google Shape;282;g104476d1465_1_17">
            <a:extLst>
              <a:ext uri="{FF2B5EF4-FFF2-40B4-BE49-F238E27FC236}">
                <a16:creationId xmlns:a16="http://schemas.microsoft.com/office/drawing/2014/main" id="{3413C27D-0588-F545-8DFB-B739BB65964D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10.png" descr="Icon&#10;&#10;Description automatically generated">
            <a:extLst>
              <a:ext uri="{FF2B5EF4-FFF2-40B4-BE49-F238E27FC236}">
                <a16:creationId xmlns:a16="http://schemas.microsoft.com/office/drawing/2014/main" id="{1B159A7E-D78F-1C4E-A80F-619B273D8405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9346" y="176749"/>
            <a:ext cx="758164" cy="75816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Chart, line chart&#10;&#10;Description automatically generated">
            <a:extLst>
              <a:ext uri="{FF2B5EF4-FFF2-40B4-BE49-F238E27FC236}">
                <a16:creationId xmlns:a16="http://schemas.microsoft.com/office/drawing/2014/main" id="{DF6AB855-0572-D541-AC21-E11F7C11A4F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2759" y="1645411"/>
            <a:ext cx="5225679" cy="43645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66E764-55DF-4168-BC61-88D868BF267F}"/>
              </a:ext>
            </a:extLst>
          </p:cNvPr>
          <p:cNvSpPr txBox="1"/>
          <p:nvPr/>
        </p:nvSpPr>
        <p:spPr>
          <a:xfrm>
            <a:off x="1141855" y="6038487"/>
            <a:ext cx="4642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Graph 𝐵𝐺𝑀𝐻.</a:t>
            </a: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258537" y="388153"/>
            <a:ext cx="8327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table. </a:t>
            </a: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0A9699B5-6480-D045-8CAF-9E1FEA3A0EE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D8C2699-3BA5-E347-8D3A-2E783D8DFF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2387503"/>
                  </p:ext>
                </p:extLst>
              </p:nvPr>
            </p:nvGraphicFramePr>
            <p:xfrm>
              <a:off x="960484" y="1691640"/>
              <a:ext cx="8747063" cy="450908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03649">
                      <a:extLst>
                        <a:ext uri="{9D8B030D-6E8A-4147-A177-3AD203B41FA5}">
                          <a16:colId xmlns:a16="http://schemas.microsoft.com/office/drawing/2014/main" val="2319230047"/>
                        </a:ext>
                      </a:extLst>
                    </a:gridCol>
                    <a:gridCol w="6443414">
                      <a:extLst>
                        <a:ext uri="{9D8B030D-6E8A-4147-A177-3AD203B41FA5}">
                          <a16:colId xmlns:a16="http://schemas.microsoft.com/office/drawing/2014/main" val="3363478174"/>
                        </a:ext>
                      </a:extLst>
                    </a:gridCol>
                  </a:tblGrid>
                  <a:tr h="711961">
                    <a:tc>
                      <a:txBody>
                        <a:bodyPr/>
                        <a:lstStyle/>
                        <a:p>
                          <a:pPr marL="30480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   Line Segment</a:t>
                          </a:r>
                          <a:endParaRPr lang="en-CO" sz="23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8995" marR="88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 </a:t>
                          </a:r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8995" marR="88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4547037"/>
                      </a:ext>
                    </a:extLst>
                  </a:tr>
                  <a:tr h="94928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CO" sz="23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3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𝐵𝐺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8995" marR="88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8995" marR="88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88758791"/>
                      </a:ext>
                    </a:extLst>
                  </a:tr>
                  <a:tr h="94928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CO" sz="23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3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𝐺𝑀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8995" marR="88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8995" marR="88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13752173"/>
                      </a:ext>
                    </a:extLst>
                  </a:tr>
                  <a:tr h="94928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CO" sz="23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3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𝑀𝐻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8995" marR="88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8995" marR="88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57746868"/>
                      </a:ext>
                    </a:extLst>
                  </a:tr>
                  <a:tr h="94928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CO" sz="23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3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𝐻𝐵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8995" marR="88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8995" marR="88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394780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D8C2699-3BA5-E347-8D3A-2E783D8DFF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2387503"/>
                  </p:ext>
                </p:extLst>
              </p:nvPr>
            </p:nvGraphicFramePr>
            <p:xfrm>
              <a:off x="960484" y="1691640"/>
              <a:ext cx="8747063" cy="450908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03649">
                      <a:extLst>
                        <a:ext uri="{9D8B030D-6E8A-4147-A177-3AD203B41FA5}">
                          <a16:colId xmlns:a16="http://schemas.microsoft.com/office/drawing/2014/main" val="2319230047"/>
                        </a:ext>
                      </a:extLst>
                    </a:gridCol>
                    <a:gridCol w="6443414">
                      <a:extLst>
                        <a:ext uri="{9D8B030D-6E8A-4147-A177-3AD203B41FA5}">
                          <a16:colId xmlns:a16="http://schemas.microsoft.com/office/drawing/2014/main" val="3363478174"/>
                        </a:ext>
                      </a:extLst>
                    </a:gridCol>
                  </a:tblGrid>
                  <a:tr h="711961">
                    <a:tc>
                      <a:txBody>
                        <a:bodyPr/>
                        <a:lstStyle/>
                        <a:p>
                          <a:pPr marL="30480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   Line Segment</a:t>
                          </a:r>
                          <a:endParaRPr lang="en-CO" sz="23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8995" marR="88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 </a:t>
                          </a:r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8995" marR="88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4547037"/>
                      </a:ext>
                    </a:extLst>
                  </a:tr>
                  <a:tr h="9492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8995" marR="88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5" t="-83974" r="-280423" b="-30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8995" marR="88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88758791"/>
                      </a:ext>
                    </a:extLst>
                  </a:tr>
                  <a:tr h="9492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8995" marR="88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5" t="-183974" r="-280423" b="-20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8995" marR="88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13752173"/>
                      </a:ext>
                    </a:extLst>
                  </a:tr>
                  <a:tr h="9492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8995" marR="88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5" t="-283974" r="-280423" b="-10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8995" marR="88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57746868"/>
                      </a:ext>
                    </a:extLst>
                  </a:tr>
                  <a:tr h="9492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8995" marR="88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5" t="-383974" r="-280423" b="-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8995" marR="8899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3947803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731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6" y="378726"/>
                <a:ext cx="11087584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perimeter of 𝐵𝐺𝑀𝐻?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Draw a diagonal line from 𝐵 to 𝑀 to make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𝐵𝑀𝐻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𝐵𝐺𝑀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the area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𝐵𝑀𝐻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𝐵𝐺𝑀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𝐵𝑀𝐻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__________     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𝐵𝐺𝑀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__________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6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area of 𝐵𝐺𝑀𝐻?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378726"/>
                <a:ext cx="11087584" cy="4893647"/>
              </a:xfrm>
              <a:prstGeom prst="rect">
                <a:avLst/>
              </a:prstGeom>
              <a:blipFill>
                <a:blip r:embed="rId4"/>
                <a:stretch>
                  <a:fillRect l="-880" t="-1121" b="-1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7575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60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7966" y="378726"/>
                <a:ext cx="1130498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Parallelogram 𝐺𝑃𝐾𝑀 has vertices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(5,9)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(5,6)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(2,2)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(2,5)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66" y="378726"/>
                <a:ext cx="11304989" cy="461665"/>
              </a:xfrm>
              <a:prstGeom prst="rect">
                <a:avLst/>
              </a:prstGeom>
              <a:blipFill>
                <a:blip r:embed="rId4"/>
                <a:stretch>
                  <a:fillRect l="-809" t="-11842" r="-5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C26F5BD4-FCAE-8D4A-8AA9-9421002A22C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01673" y="1228547"/>
            <a:ext cx="6321449" cy="527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905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6" y="378726"/>
            <a:ext cx="80452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Graph 𝐺𝑃𝐾𝑀. </a:t>
            </a: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27DDEA9-5A3D-1440-81C9-9A1E05975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2204749"/>
                  </p:ext>
                </p:extLst>
              </p:nvPr>
            </p:nvGraphicFramePr>
            <p:xfrm>
              <a:off x="1258538" y="1924300"/>
              <a:ext cx="8794182" cy="453337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087738">
                      <a:extLst>
                        <a:ext uri="{9D8B030D-6E8A-4147-A177-3AD203B41FA5}">
                          <a16:colId xmlns:a16="http://schemas.microsoft.com/office/drawing/2014/main" val="3632966421"/>
                        </a:ext>
                      </a:extLst>
                    </a:gridCol>
                    <a:gridCol w="6706444">
                      <a:extLst>
                        <a:ext uri="{9D8B030D-6E8A-4147-A177-3AD203B41FA5}">
                          <a16:colId xmlns:a16="http://schemas.microsoft.com/office/drawing/2014/main" val="1047053991"/>
                        </a:ext>
                      </a:extLst>
                    </a:gridCol>
                  </a:tblGrid>
                  <a:tr h="715796">
                    <a:tc>
                      <a:txBody>
                        <a:bodyPr/>
                        <a:lstStyle/>
                        <a:p>
                          <a:pPr marL="304800" marR="0" indent="-3810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-254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Segment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9474" marR="89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9474" marR="89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992797"/>
                      </a:ext>
                    </a:extLst>
                  </a:tr>
                  <a:tr h="9543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CO" sz="23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3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𝐺𝑃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9474" marR="89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9474" marR="89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3731736"/>
                      </a:ext>
                    </a:extLst>
                  </a:tr>
                  <a:tr h="9543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CO" sz="23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3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𝑃𝐾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9474" marR="89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9474" marR="89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9337804"/>
                      </a:ext>
                    </a:extLst>
                  </a:tr>
                  <a:tr h="9543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CO" sz="23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3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𝐾𝑀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9474" marR="89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9474" marR="89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84551778"/>
                      </a:ext>
                    </a:extLst>
                  </a:tr>
                  <a:tr h="9543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CO" sz="23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3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𝑀𝐺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9474" marR="89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9474" marR="89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623347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27DDEA9-5A3D-1440-81C9-9A1E05975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2204749"/>
                  </p:ext>
                </p:extLst>
              </p:nvPr>
            </p:nvGraphicFramePr>
            <p:xfrm>
              <a:off x="1258538" y="1924300"/>
              <a:ext cx="8794182" cy="453337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087738">
                      <a:extLst>
                        <a:ext uri="{9D8B030D-6E8A-4147-A177-3AD203B41FA5}">
                          <a16:colId xmlns:a16="http://schemas.microsoft.com/office/drawing/2014/main" val="3632966421"/>
                        </a:ext>
                      </a:extLst>
                    </a:gridCol>
                    <a:gridCol w="6706444">
                      <a:extLst>
                        <a:ext uri="{9D8B030D-6E8A-4147-A177-3AD203B41FA5}">
                          <a16:colId xmlns:a16="http://schemas.microsoft.com/office/drawing/2014/main" val="1047053991"/>
                        </a:ext>
                      </a:extLst>
                    </a:gridCol>
                  </a:tblGrid>
                  <a:tr h="715796">
                    <a:tc>
                      <a:txBody>
                        <a:bodyPr/>
                        <a:lstStyle/>
                        <a:p>
                          <a:pPr marL="304800" marR="0" indent="-3810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-254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Segment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9474" marR="89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9474" marR="89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992797"/>
                      </a:ext>
                    </a:extLst>
                  </a:tr>
                  <a:tr h="9543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9474" marR="89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2" t="-84615" r="-321574" b="-303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9474" marR="89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3731736"/>
                      </a:ext>
                    </a:extLst>
                  </a:tr>
                  <a:tr h="9543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9474" marR="89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2" t="-183439" r="-321574" b="-2012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9474" marR="89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9337804"/>
                      </a:ext>
                    </a:extLst>
                  </a:tr>
                  <a:tr h="9543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9474" marR="89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2" t="-283439" r="-321574" b="-1012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9474" marR="89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84551778"/>
                      </a:ext>
                    </a:extLst>
                  </a:tr>
                  <a:tr h="9543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9474" marR="89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2" t="-383439" r="-321574" b="-12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9474" marR="8947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623347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04919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6" y="378725"/>
            <a:ext cx="804521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perimeter of 𝐺𝑃𝐾𝑀?</a:t>
            </a: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area of 𝐺𝑃𝐾𝑀? </a:t>
            </a:r>
          </a:p>
        </p:txBody>
      </p:sp>
    </p:spTree>
    <p:extLst>
      <p:ext uri="{BB962C8B-B14F-4D97-AF65-F5344CB8AC3E}">
        <p14:creationId xmlns:p14="http://schemas.microsoft.com/office/powerpoint/2010/main" val="4201411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6" y="378726"/>
            <a:ext cx="9252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figure shown is created by trapezoid 𝐵𝐺𝑀𝐻 and parallelogram 𝐺𝑃𝐾𝑀.</a:t>
            </a:r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9D63B7BE-E819-324B-B7A3-6933F241AB5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7358" y="1369967"/>
            <a:ext cx="4831624" cy="36660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F025F5-A437-4743-8983-3690FB735294}"/>
              </a:ext>
            </a:extLst>
          </p:cNvPr>
          <p:cNvSpPr txBox="1"/>
          <p:nvPr/>
        </p:nvSpPr>
        <p:spPr>
          <a:xfrm>
            <a:off x="540566" y="5196231"/>
            <a:ext cx="8045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44563" indent="-492125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do you notice about this figure?</a:t>
            </a:r>
          </a:p>
        </p:txBody>
      </p:sp>
    </p:spTree>
    <p:extLst>
      <p:ext uri="{BB962C8B-B14F-4D97-AF65-F5344CB8AC3E}">
        <p14:creationId xmlns:p14="http://schemas.microsoft.com/office/powerpoint/2010/main" val="304071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8002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12564" y="1910089"/>
            <a:ext cx="110113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why this figure is considered a composite figure.</a:t>
            </a: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could you find the perimeter of a composite figure?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303D184-D7B8-A04C-A191-15E489AC1DC7}"/>
              </a:ext>
            </a:extLst>
          </p:cNvPr>
          <p:cNvGrpSpPr/>
          <p:nvPr/>
        </p:nvGrpSpPr>
        <p:grpSpPr>
          <a:xfrm>
            <a:off x="1286097" y="442592"/>
            <a:ext cx="8122847" cy="1268221"/>
            <a:chOff x="2031300" y="3373600"/>
            <a:chExt cx="6629400" cy="103542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2A83F75-A428-E54B-8682-E6C84337360C}"/>
                </a:ext>
              </a:extLst>
            </p:cNvPr>
            <p:cNvGrpSpPr/>
            <p:nvPr/>
          </p:nvGrpSpPr>
          <p:grpSpPr>
            <a:xfrm>
              <a:off x="2031300" y="3373600"/>
              <a:ext cx="6629400" cy="1035424"/>
              <a:chOff x="2031300" y="3373600"/>
              <a:chExt cx="6629400" cy="1035424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62B36FF-19CC-7747-A436-B98943505C21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CO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9B66ADAB-4108-544C-87B3-882B9B55E926}"/>
                  </a:ext>
                </a:extLst>
              </p:cNvPr>
              <p:cNvGrpSpPr/>
              <p:nvPr/>
            </p:nvGrpSpPr>
            <p:grpSpPr>
              <a:xfrm>
                <a:off x="2031300" y="3373600"/>
                <a:ext cx="6629400" cy="1035424"/>
                <a:chOff x="0" y="0"/>
                <a:chExt cx="6629400" cy="1035424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30E58810-DEFF-9D48-82AB-D39241D0A31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  <a:endParaRPr lang="en-CO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Rounded Rectangle 18">
                  <a:extLst>
                    <a:ext uri="{FF2B5EF4-FFF2-40B4-BE49-F238E27FC236}">
                      <a16:creationId xmlns:a16="http://schemas.microsoft.com/office/drawing/2014/main" id="{BDBF5345-BF3C-4842-ADD0-7F5CEF097BA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103542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742950">
                    <a:spcAft>
                      <a:spcPts val="1000"/>
                    </a:spcAft>
                  </a:pPr>
                  <a:r>
                    <a:rPr lang="en-US" sz="18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 </a:t>
                  </a:r>
                  <a:r>
                    <a:rPr lang="en-US" sz="18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composite figure</a:t>
                  </a:r>
                  <a:r>
                    <a:rPr lang="en-US" sz="18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is a two- or three-dimensional figure that can be decomposed into smaller figures. </a:t>
                  </a:r>
                  <a:endParaRPr lang="en-CO" sz="12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20" name="Shape 7" descr="Icon&#10;&#10;Description automatically generated">
                  <a:extLst>
                    <a:ext uri="{FF2B5EF4-FFF2-40B4-BE49-F238E27FC236}">
                      <a16:creationId xmlns:a16="http://schemas.microsoft.com/office/drawing/2014/main" id="{082EEE38-F092-9B44-99C8-3786378BA15C}"/>
                    </a:ext>
                  </a:extLst>
                </p:cNvPr>
                <p:cNvPicPr preferRelativeResize="0"/>
                <p:nvPr/>
              </p:nvPicPr>
              <p:blipFill rotWithShape="1">
                <a:blip r:embed="rId4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138545" y="92367"/>
                  <a:ext cx="539750" cy="53975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3135387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6" y="377838"/>
            <a:ext cx="110875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4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perimeter of composite figure 𝐵𝐺𝑃𝐾𝑀𝐻?</a:t>
            </a:r>
          </a:p>
          <a:p>
            <a:pPr marL="457200" indent="-457200">
              <a:buFont typeface="+mj-lt"/>
              <a:buAutoNum type="alphaLcPeriod" startAt="4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4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4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4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4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why the perimeter of the composite figure is not the sum of the perimeters of the parallelogram and the trapezoid. </a:t>
            </a:r>
          </a:p>
          <a:p>
            <a:pPr marL="457200" indent="-457200">
              <a:buFont typeface="+mj-lt"/>
              <a:buAutoNum type="alphaLcPeriod" startAt="4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4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4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4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4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area of 𝐵𝐺𝑃𝐾𝑀𝐻?</a:t>
            </a:r>
          </a:p>
        </p:txBody>
      </p:sp>
    </p:spTree>
    <p:extLst>
      <p:ext uri="{BB962C8B-B14F-4D97-AF65-F5344CB8AC3E}">
        <p14:creationId xmlns:p14="http://schemas.microsoft.com/office/powerpoint/2010/main" val="285001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7437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60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4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13.png" descr="Icon&#10;&#10;Description automatically generated">
            <a:extLst>
              <a:ext uri="{FF2B5EF4-FFF2-40B4-BE49-F238E27FC236}">
                <a16:creationId xmlns:a16="http://schemas.microsoft.com/office/drawing/2014/main" id="{0D2A0F50-7BA8-3549-9AED-007281EA0477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627560" y="2852574"/>
            <a:ext cx="1152843" cy="1152843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08955" y="-16877"/>
            <a:ext cx="968362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13.13.3 Try It: Perimeter and Area</a:t>
            </a:r>
            <a:endParaRPr lang="en-US" sz="3600" b="1" dirty="0">
              <a:solidFill>
                <a:srgbClr val="33BEA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670775" y="1396857"/>
                <a:ext cx="1046425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Kite 𝑌𝑉𝑊𝑋 is shown with vertices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(3,6)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(5,3)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(3,−2)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(1,3)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75" y="1396857"/>
                <a:ext cx="10464257" cy="830997"/>
              </a:xfrm>
              <a:prstGeom prst="rect">
                <a:avLst/>
              </a:prstGeom>
              <a:blipFill>
                <a:blip r:embed="rId4"/>
                <a:stretch>
                  <a:fillRect l="-874" t="-6618" r="-104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13.png" descr="Icon&#10;&#10;Description automatically generated">
            <a:extLst>
              <a:ext uri="{FF2B5EF4-FFF2-40B4-BE49-F238E27FC236}">
                <a16:creationId xmlns:a16="http://schemas.microsoft.com/office/drawing/2014/main" id="{8240DD39-4512-E84A-9046-A50BF3B0F533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5871" y="147912"/>
            <a:ext cx="749808" cy="74980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 descr="Chart, line chart&#10;&#10;Description automatically generated">
            <a:extLst>
              <a:ext uri="{FF2B5EF4-FFF2-40B4-BE49-F238E27FC236}">
                <a16:creationId xmlns:a16="http://schemas.microsoft.com/office/drawing/2014/main" id="{3844ADAA-17CB-044C-9214-8C36E5FEF07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9513" y="1931900"/>
            <a:ext cx="5073363" cy="464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E00F9-F39F-5043-888E-B0A2D8C9AE0F}"/>
              </a:ext>
            </a:extLst>
          </p:cNvPr>
          <p:cNvSpPr txBox="1"/>
          <p:nvPr/>
        </p:nvSpPr>
        <p:spPr>
          <a:xfrm>
            <a:off x="670775" y="325611"/>
            <a:ext cx="7871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E289321-23D0-8F4B-9A98-5C8B4C2BC3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5313806"/>
                  </p:ext>
                </p:extLst>
              </p:nvPr>
            </p:nvGraphicFramePr>
            <p:xfrm>
              <a:off x="1214844" y="979599"/>
              <a:ext cx="6740525" cy="34747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600200">
                      <a:extLst>
                        <a:ext uri="{9D8B030D-6E8A-4147-A177-3AD203B41FA5}">
                          <a16:colId xmlns:a16="http://schemas.microsoft.com/office/drawing/2014/main" val="3976300535"/>
                        </a:ext>
                      </a:extLst>
                    </a:gridCol>
                    <a:gridCol w="5140325">
                      <a:extLst>
                        <a:ext uri="{9D8B030D-6E8A-4147-A177-3AD203B41FA5}">
                          <a16:colId xmlns:a16="http://schemas.microsoft.com/office/drawing/2014/main" val="336791835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indent="1905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3228864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CO" sz="18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𝑌𝑉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28090720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CO" sz="18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𝑉𝑊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54719274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CO" sz="18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𝑊𝑋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12727015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CO" sz="18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𝑋𝑌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9636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E289321-23D0-8F4B-9A98-5C8B4C2BC3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5313806"/>
                  </p:ext>
                </p:extLst>
              </p:nvPr>
            </p:nvGraphicFramePr>
            <p:xfrm>
              <a:off x="1214844" y="979599"/>
              <a:ext cx="6740525" cy="34747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600200">
                      <a:extLst>
                        <a:ext uri="{9D8B030D-6E8A-4147-A177-3AD203B41FA5}">
                          <a16:colId xmlns:a16="http://schemas.microsoft.com/office/drawing/2014/main" val="3976300535"/>
                        </a:ext>
                      </a:extLst>
                    </a:gridCol>
                    <a:gridCol w="5140325">
                      <a:extLst>
                        <a:ext uri="{9D8B030D-6E8A-4147-A177-3AD203B41FA5}">
                          <a16:colId xmlns:a16="http://schemas.microsoft.com/office/drawing/2014/main" val="336791835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marL="0" marR="0" indent="1905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3228864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0" t="-85000" r="-321673" b="-3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28090720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0" t="-183471" r="-32167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54719274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0" t="-285833" r="-321673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12727015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0" t="-385833" r="-321673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96362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FAF84FE-D37A-6C4D-A6E3-33D411C5972E}"/>
              </a:ext>
            </a:extLst>
          </p:cNvPr>
          <p:cNvSpPr txBox="1"/>
          <p:nvPr/>
        </p:nvSpPr>
        <p:spPr>
          <a:xfrm>
            <a:off x="670775" y="4701669"/>
            <a:ext cx="7871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perimeter of 𝑌𝑉𝑊𝑋? </a:t>
            </a:r>
          </a:p>
        </p:txBody>
      </p:sp>
    </p:spTree>
    <p:extLst>
      <p:ext uri="{BB962C8B-B14F-4D97-AF65-F5344CB8AC3E}">
        <p14:creationId xmlns:p14="http://schemas.microsoft.com/office/powerpoint/2010/main" val="3097323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497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6653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8427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672271" y="417050"/>
                <a:ext cx="7871308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Draw line 𝑋𝑉 to create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𝑌𝑉𝑋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𝑉𝑊𝑋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the area of each triangle. 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𝑌𝑉𝑋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__________     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𝑉𝑊𝑋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__________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area of 𝑌𝑉𝑊𝑋?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271" y="417050"/>
                <a:ext cx="7871308" cy="4154984"/>
              </a:xfrm>
              <a:prstGeom prst="rect">
                <a:avLst/>
              </a:prstGeom>
              <a:blipFill>
                <a:blip r:embed="rId4"/>
                <a:stretch>
                  <a:fillRect l="-1161" t="-1320" b="-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667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335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657424" y="417051"/>
                <a:ext cx="108665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composite figure shown is created by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𝑁𝐶𝑅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parallelogram 𝑅𝐶𝐺𝑆.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(3,6)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(11,6)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(11,3)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(6,0)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(6,3)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424" y="417051"/>
                <a:ext cx="10866500" cy="830997"/>
              </a:xfrm>
              <a:prstGeom prst="rect">
                <a:avLst/>
              </a:prstGeom>
              <a:blipFill>
                <a:blip r:embed="rId4"/>
                <a:stretch>
                  <a:fillRect l="-898" t="-6569" r="-1515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551A2D46-0B53-2945-976F-BEFFBB5ADFC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3793" y="1430925"/>
            <a:ext cx="6902284" cy="509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049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4051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E00F9-F39F-5043-888E-B0A2D8C9AE0F}"/>
              </a:ext>
            </a:extLst>
          </p:cNvPr>
          <p:cNvSpPr txBox="1"/>
          <p:nvPr/>
        </p:nvSpPr>
        <p:spPr>
          <a:xfrm>
            <a:off x="670773" y="421225"/>
            <a:ext cx="97120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table. Round your answer to the nearest thousandth.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80CE763-D4F8-2448-97EF-CB5D7DA88A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184809"/>
                  </p:ext>
                </p:extLst>
              </p:nvPr>
            </p:nvGraphicFramePr>
            <p:xfrm>
              <a:off x="1363232" y="1252222"/>
              <a:ext cx="8166847" cy="18599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22508">
                      <a:extLst>
                        <a:ext uri="{9D8B030D-6E8A-4147-A177-3AD203B41FA5}">
                          <a16:colId xmlns:a16="http://schemas.microsoft.com/office/drawing/2014/main" val="1929216508"/>
                        </a:ext>
                      </a:extLst>
                    </a:gridCol>
                    <a:gridCol w="3295729">
                      <a:extLst>
                        <a:ext uri="{9D8B030D-6E8A-4147-A177-3AD203B41FA5}">
                          <a16:colId xmlns:a16="http://schemas.microsoft.com/office/drawing/2014/main" val="3708409949"/>
                        </a:ext>
                      </a:extLst>
                    </a:gridCol>
                    <a:gridCol w="2948610">
                      <a:extLst>
                        <a:ext uri="{9D8B030D-6E8A-4147-A177-3AD203B41FA5}">
                          <a16:colId xmlns:a16="http://schemas.microsoft.com/office/drawing/2014/main" val="1969079988"/>
                        </a:ext>
                      </a:extLst>
                    </a:gridCol>
                  </a:tblGrid>
                  <a:tr h="43943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Figure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393" marR="823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Perimeter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393" marR="823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Area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393" marR="823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1697783"/>
                      </a:ext>
                    </a:extLst>
                  </a:tr>
                  <a:tr h="6591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r>
                                  <a:rPr lang="en-US" sz="21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𝑁𝐶𝑅</m:t>
                                </m:r>
                              </m:oMath>
                            </m:oMathPara>
                          </a14:m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393" marR="823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393" marR="823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393" marR="823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67439495"/>
                      </a:ext>
                    </a:extLst>
                  </a:tr>
                  <a:tr h="76137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𝑅𝐶𝐺𝑆</m:t>
                                </m:r>
                              </m:oMath>
                            </m:oMathPara>
                          </a14:m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393" marR="823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393" marR="823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393" marR="823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016240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80CE763-D4F8-2448-97EF-CB5D7DA88A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184809"/>
                  </p:ext>
                </p:extLst>
              </p:nvPr>
            </p:nvGraphicFramePr>
            <p:xfrm>
              <a:off x="1363232" y="1252222"/>
              <a:ext cx="8166847" cy="18599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22508">
                      <a:extLst>
                        <a:ext uri="{9D8B030D-6E8A-4147-A177-3AD203B41FA5}">
                          <a16:colId xmlns:a16="http://schemas.microsoft.com/office/drawing/2014/main" val="1929216508"/>
                        </a:ext>
                      </a:extLst>
                    </a:gridCol>
                    <a:gridCol w="3295729">
                      <a:extLst>
                        <a:ext uri="{9D8B030D-6E8A-4147-A177-3AD203B41FA5}">
                          <a16:colId xmlns:a16="http://schemas.microsoft.com/office/drawing/2014/main" val="3708409949"/>
                        </a:ext>
                      </a:extLst>
                    </a:gridCol>
                    <a:gridCol w="2948610">
                      <a:extLst>
                        <a:ext uri="{9D8B030D-6E8A-4147-A177-3AD203B41FA5}">
                          <a16:colId xmlns:a16="http://schemas.microsoft.com/office/drawing/2014/main" val="1969079988"/>
                        </a:ext>
                      </a:extLst>
                    </a:gridCol>
                  </a:tblGrid>
                  <a:tr h="43943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Figure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393" marR="823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Perimeter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393" marR="823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Area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393" marR="823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1697783"/>
                      </a:ext>
                    </a:extLst>
                  </a:tr>
                  <a:tr h="6591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393" marR="823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16" t="-70642" r="-325000" b="-116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393" marR="823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393" marR="823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67439495"/>
                      </a:ext>
                    </a:extLst>
                  </a:tr>
                  <a:tr h="76137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393" marR="823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16" t="-148800" r="-325000" b="-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393" marR="823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5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393" marR="823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016240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5EF4784-2E1C-3447-BC93-F257EBE372D1}"/>
              </a:ext>
            </a:extLst>
          </p:cNvPr>
          <p:cNvSpPr txBox="1"/>
          <p:nvPr/>
        </p:nvSpPr>
        <p:spPr>
          <a:xfrm>
            <a:off x="670774" y="3112172"/>
            <a:ext cx="78713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perimeter of the composite figure?</a:t>
            </a: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area of the composite figure?</a:t>
            </a:r>
          </a:p>
        </p:txBody>
      </p:sp>
    </p:spTree>
    <p:extLst>
      <p:ext uri="{BB962C8B-B14F-4D97-AF65-F5344CB8AC3E}">
        <p14:creationId xmlns:p14="http://schemas.microsoft.com/office/powerpoint/2010/main" val="4091812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18461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13.13.4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8" y="1442356"/>
            <a:ext cx="79925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something that is now “squared away” in your mind about finding the perimeter and area of polygons and composite figures drawn on a coordinate plane?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A14767-7894-484D-A004-9E01E17DD46E}"/>
              </a:ext>
            </a:extLst>
          </p:cNvPr>
          <p:cNvSpPr/>
          <p:nvPr/>
        </p:nvSpPr>
        <p:spPr>
          <a:xfrm>
            <a:off x="1052651" y="3178951"/>
            <a:ext cx="2280484" cy="2280484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8" y="284611"/>
            <a:ext cx="109306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are three “points” that are important about finding the perimeter and area of polygons and composite figures drawn on a coordinate plane?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93641C-61B3-424C-9CB8-97F2DDDED548}"/>
              </a:ext>
            </a:extLst>
          </p:cNvPr>
          <p:cNvSpPr txBox="1"/>
          <p:nvPr/>
        </p:nvSpPr>
        <p:spPr>
          <a:xfrm>
            <a:off x="632536" y="3543467"/>
            <a:ext cx="108913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something that is still “circling” your brain about finding the perimeter and area of polygons and composite figures drawn on a coordinate plane?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5D0F43DD-37F0-7E48-8015-84C6081789DC}"/>
              </a:ext>
            </a:extLst>
          </p:cNvPr>
          <p:cNvSpPr/>
          <p:nvPr/>
        </p:nvSpPr>
        <p:spPr>
          <a:xfrm>
            <a:off x="1091939" y="1484940"/>
            <a:ext cx="2376738" cy="1829593"/>
          </a:xfrm>
          <a:prstGeom prst="triangle">
            <a:avLst/>
          </a:prstGeom>
          <a:noFill/>
          <a:ln w="285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07D1DEF-7210-394C-BB10-E3EEDE833033}"/>
              </a:ext>
            </a:extLst>
          </p:cNvPr>
          <p:cNvSpPr/>
          <p:nvPr/>
        </p:nvSpPr>
        <p:spPr>
          <a:xfrm>
            <a:off x="1336690" y="4776498"/>
            <a:ext cx="1887235" cy="1881276"/>
          </a:xfrm>
          <a:prstGeom prst="ellipse">
            <a:avLst/>
          </a:prstGeom>
          <a:noFill/>
          <a:ln w="285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618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1509</TotalTime>
  <Words>894</Words>
  <Application>Microsoft Office PowerPoint</Application>
  <PresentationFormat>Widescreen</PresentationFormat>
  <Paragraphs>200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Cambria</vt:lpstr>
      <vt:lpstr>Verdana</vt:lpstr>
      <vt:lpstr>Century Gothic</vt:lpstr>
      <vt:lpstr>Calibri</vt:lpstr>
      <vt:lpstr>Arial Black</vt:lpstr>
      <vt:lpstr>Cambria Math</vt:lpstr>
      <vt:lpstr>1_Office Theme</vt:lpstr>
      <vt:lpstr>Geometry  Unit 13, Lesson 13  Finding Perimeter and Area on the Coordinate Plane  Volume 2, pg. 354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vaanmx</cp:lastModifiedBy>
  <cp:revision>28</cp:revision>
  <dcterms:created xsi:type="dcterms:W3CDTF">2015-03-17T18:51:18Z</dcterms:created>
  <dcterms:modified xsi:type="dcterms:W3CDTF">2022-06-12T11:23:11Z</dcterms:modified>
</cp:coreProperties>
</file>