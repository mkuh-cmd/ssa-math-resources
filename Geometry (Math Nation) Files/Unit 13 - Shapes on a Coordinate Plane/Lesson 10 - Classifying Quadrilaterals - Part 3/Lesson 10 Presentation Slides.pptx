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53" r:id="rId10"/>
    <p:sldId id="368" r:id="rId11"/>
    <p:sldId id="387" r:id="rId12"/>
    <p:sldId id="388" r:id="rId13"/>
    <p:sldId id="389" r:id="rId14"/>
    <p:sldId id="390" r:id="rId15"/>
    <p:sldId id="391" r:id="rId16"/>
    <p:sldId id="306" r:id="rId17"/>
    <p:sldId id="307" r:id="rId18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Century Gothic" panose="020B0502020202020204" pitchFamily="34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5088"/>
    <a:srgbClr val="E24E5F"/>
    <a:srgbClr val="33BEA6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72" autoAdjust="0"/>
    <p:restoredTop sz="94616"/>
  </p:normalViewPr>
  <p:slideViewPr>
    <p:cSldViewPr snapToGrid="0">
      <p:cViewPr varScale="1">
        <p:scale>
          <a:sx n="82" d="100"/>
          <a:sy n="82" d="100"/>
        </p:scale>
        <p:origin x="74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3770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19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373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23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407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4109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63742" y="2054277"/>
            <a:ext cx="54000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10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Classifying Quadrilaterals – Part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339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"/>
            <a:ext cx="4094106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72938" y="-82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60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46885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MA.912.GR.3.2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context, use coordinate geometry to classify or justify definitions, properties, and theorems involving circles, triangles, or quadrilaterals.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8586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72938" y="26828"/>
            <a:ext cx="981194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38659" y="1460584"/>
            <a:ext cx="10797026" cy="474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60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69511" y="25178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437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42434" y="1453680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4988" indent="-52863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classify quadrilaterals based on their properties in a mathematical or real-world context. 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72938" y="27365"/>
            <a:ext cx="103015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13.10.1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656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0B51D-09DC-AA4D-9C14-AE2048199B26}"/>
              </a:ext>
            </a:extLst>
          </p:cNvPr>
          <p:cNvSpPr txBox="1"/>
          <p:nvPr/>
        </p:nvSpPr>
        <p:spPr>
          <a:xfrm>
            <a:off x="552408" y="1738723"/>
            <a:ext cx="7906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Would you rather …</a:t>
            </a:r>
          </a:p>
        </p:txBody>
      </p:sp>
      <p:sp>
        <p:nvSpPr>
          <p:cNvPr id="9" name="Text Box 29">
            <a:extLst>
              <a:ext uri="{FF2B5EF4-FFF2-40B4-BE49-F238E27FC236}">
                <a16:creationId xmlns:a16="http://schemas.microsoft.com/office/drawing/2014/main" id="{7BCC6A3D-9574-0F46-8686-56F1CC204177}"/>
              </a:ext>
            </a:extLst>
          </p:cNvPr>
          <p:cNvSpPr txBox="1"/>
          <p:nvPr/>
        </p:nvSpPr>
        <p:spPr>
          <a:xfrm>
            <a:off x="1938078" y="2503252"/>
            <a:ext cx="2880000" cy="8640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 up watching movies?</a:t>
            </a:r>
            <a:endParaRPr lang="x-none" sz="24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B6E27C43-3207-D543-9238-A96D97FC7939}"/>
              </a:ext>
            </a:extLst>
          </p:cNvPr>
          <p:cNvSpPr txBox="1"/>
          <p:nvPr/>
        </p:nvSpPr>
        <p:spPr>
          <a:xfrm>
            <a:off x="5696026" y="2511506"/>
            <a:ext cx="2880000" cy="8640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 up watching TV shows?</a:t>
            </a:r>
            <a:endParaRPr lang="x-none" sz="24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F2BA4-A01D-DB4A-82DB-649210BD553E}"/>
              </a:ext>
            </a:extLst>
          </p:cNvPr>
          <p:cNvSpPr txBox="1"/>
          <p:nvPr/>
        </p:nvSpPr>
        <p:spPr>
          <a:xfrm>
            <a:off x="1938078" y="2653848"/>
            <a:ext cx="6637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x-none" sz="2400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00555F-CC3A-8E48-9AAA-9C08731799BC}"/>
              </a:ext>
            </a:extLst>
          </p:cNvPr>
          <p:cNvSpPr txBox="1"/>
          <p:nvPr/>
        </p:nvSpPr>
        <p:spPr>
          <a:xfrm>
            <a:off x="552408" y="3753054"/>
            <a:ext cx="7906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choice. </a:t>
            </a:r>
          </a:p>
        </p:txBody>
      </p:sp>
      <p:sp>
        <p:nvSpPr>
          <p:cNvPr id="17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76274" y="2766145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7.png" descr="Icon&#10;&#10;Description automatically generated">
            <a:extLst>
              <a:ext uri="{FF2B5EF4-FFF2-40B4-BE49-F238E27FC236}">
                <a16:creationId xmlns:a16="http://schemas.microsoft.com/office/drawing/2014/main" id="{43C137B0-23F1-8040-9730-BF34CFE5C5C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55181" y="2850881"/>
            <a:ext cx="1156229" cy="11562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67670" y="2682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13.10.2 Activity: Stations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26534" y="1469129"/>
            <a:ext cx="799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for each question card. </a:t>
            </a:r>
          </a:p>
        </p:txBody>
      </p:sp>
      <p:pic>
        <p:nvPicPr>
          <p:cNvPr id="9" name="image17.png" descr="Icon&#10;&#10;Description automatically generated">
            <a:extLst>
              <a:ext uri="{FF2B5EF4-FFF2-40B4-BE49-F238E27FC236}">
                <a16:creationId xmlns:a16="http://schemas.microsoft.com/office/drawing/2014/main" id="{3C8F4BC9-1222-9E4A-9320-E96B5A0A65DE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5298" y="310596"/>
            <a:ext cx="758164" cy="75816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29E8BD-B407-4A4E-A0D7-10ADFD71A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667062"/>
              </p:ext>
            </p:extLst>
          </p:nvPr>
        </p:nvGraphicFramePr>
        <p:xfrm>
          <a:off x="1109261" y="2001285"/>
          <a:ext cx="7588800" cy="4629609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1853983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714674806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52863582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52703595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Question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Work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Answer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871784"/>
                  </a:ext>
                </a:extLst>
              </a:tr>
              <a:tr h="360000">
                <a:tc rowSpan="5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Slopes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Properties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650113"/>
                  </a:ext>
                </a:extLst>
              </a:tr>
              <a:tr h="1072827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477540"/>
                  </a:ext>
                </a:extLst>
              </a:tr>
              <a:tr h="1440000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Side Lengths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97916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Diagonal Lengths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Quadrilateral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22097"/>
                  </a:ext>
                </a:extLst>
              </a:tr>
              <a:tr h="990414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958696"/>
                  </a:ext>
                </a:extLst>
              </a:tr>
            </a:tbl>
          </a:graphicData>
        </a:graphic>
      </p:graphicFrame>
      <p:sp>
        <p:nvSpPr>
          <p:cNvPr id="12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984" y="-8101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29E8BD-B407-4A4E-A0D7-10ADFD71A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356475"/>
              </p:ext>
            </p:extLst>
          </p:nvPr>
        </p:nvGraphicFramePr>
        <p:xfrm>
          <a:off x="1109261" y="411636"/>
          <a:ext cx="7588800" cy="5974026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1853983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714674806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52863582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52703595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Question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Work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Answer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871784"/>
                  </a:ext>
                </a:extLst>
              </a:tr>
              <a:tr h="360000">
                <a:tc rowSpan="5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Slopes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Properties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650113"/>
                  </a:ext>
                </a:extLst>
              </a:tr>
              <a:tr h="1382316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477540"/>
                  </a:ext>
                </a:extLst>
              </a:tr>
              <a:tr h="1927274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Side Lengths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97916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Diagonal Lengths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PH" dirty="0"/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Quadrilateral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8068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958696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19584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341</a:t>
            </a: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029E8BD-B407-4A4E-A0D7-10ADFD71AE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2958587"/>
                  </p:ext>
                </p:extLst>
              </p:nvPr>
            </p:nvGraphicFramePr>
            <p:xfrm>
              <a:off x="1104841" y="416297"/>
              <a:ext cx="7588800" cy="578875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853983369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714674806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528635824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527035958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Question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Answer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4871784"/>
                      </a:ext>
                    </a:extLst>
                  </a:tr>
                  <a:tr h="1501865">
                    <a:tc rowSpan="5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x-none" sz="2000" b="1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𝑾𝑯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x-none" sz="2000" b="1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𝑯𝑪</m:t>
                                  </m:r>
                                </m:e>
                              </m:acc>
                            </m:oMath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650113"/>
                      </a:ext>
                    </a:extLst>
                  </a:tr>
                  <a:tr h="24045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Verification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98521"/>
                      </a:ext>
                    </a:extLst>
                  </a:tr>
                  <a:tr h="330481"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Slopes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x-none" sz="2000" b="1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𝑾𝑯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x-none" sz="2000" b="1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𝑯𝑪</m:t>
                                  </m:r>
                                </m:e>
                              </m:acc>
                            </m:oMath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3597916"/>
                      </a:ext>
                    </a:extLst>
                  </a:tr>
                  <a:tr h="159679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4826618"/>
                      </a:ext>
                    </a:extLst>
                  </a:tr>
                  <a:tr h="1712797">
                    <a:tc v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x-none" sz="2000" b="1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𝑪𝑺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Using Each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𝑺</m:t>
                              </m:r>
                            </m:oMath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dirty="0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029E8BD-B407-4A4E-A0D7-10ADFD71AE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2958587"/>
                  </p:ext>
                </p:extLst>
              </p:nvPr>
            </p:nvGraphicFramePr>
            <p:xfrm>
              <a:off x="1104841" y="416297"/>
              <a:ext cx="7588800" cy="578875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853983369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714674806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528635824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527035958"/>
                        </a:ext>
                      </a:extLst>
                    </a:gridCol>
                  </a:tblGrid>
                  <a:tr h="4063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Question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Answer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4871784"/>
                      </a:ext>
                    </a:extLst>
                  </a:tr>
                  <a:tr h="1501865">
                    <a:tc rowSpan="5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00" t="-24825" r="-217333" b="-20944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650113"/>
                      </a:ext>
                    </a:extLst>
                  </a:tr>
                  <a:tr h="24045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Verification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98521"/>
                      </a:ext>
                    </a:extLst>
                  </a:tr>
                  <a:tr h="330481"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00" t="-112975" r="-217333" b="-8955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3597916"/>
                      </a:ext>
                    </a:extLst>
                  </a:tr>
                  <a:tr h="159679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4826618"/>
                      </a:ext>
                    </a:extLst>
                  </a:tr>
                  <a:tr h="1712797">
                    <a:tc v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00" t="-239502" r="-217333" b="-7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dirty="0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19584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341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29E8BD-B407-4A4E-A0D7-10ADFD71A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19962"/>
              </p:ext>
            </p:extLst>
          </p:nvPr>
        </p:nvGraphicFramePr>
        <p:xfrm>
          <a:off x="1109261" y="411636"/>
          <a:ext cx="7588800" cy="5989164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1853983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714674806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52863582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52703595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Question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Work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Answer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871784"/>
                  </a:ext>
                </a:extLst>
              </a:tr>
              <a:tr h="360000">
                <a:tc rowSpan="5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Slopes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Properties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650113"/>
                  </a:ext>
                </a:extLst>
              </a:tr>
              <a:tr h="1382316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477540"/>
                  </a:ext>
                </a:extLst>
              </a:tr>
              <a:tr h="1927274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Side Lengths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979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Diagonal Lengths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PH" dirty="0"/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Who is correct?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3606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958696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342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905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29E8BD-B407-4A4E-A0D7-10ADFD71A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494149"/>
              </p:ext>
            </p:extLst>
          </p:nvPr>
        </p:nvGraphicFramePr>
        <p:xfrm>
          <a:off x="1109261" y="411636"/>
          <a:ext cx="7588800" cy="5974026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1853983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714674806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52863582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52703595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Question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Work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Answer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871784"/>
                  </a:ext>
                </a:extLst>
              </a:tr>
              <a:tr h="360000">
                <a:tc rowSpan="5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Slopes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Properties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650113"/>
                  </a:ext>
                </a:extLst>
              </a:tr>
              <a:tr h="1382316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477540"/>
                  </a:ext>
                </a:extLst>
              </a:tr>
              <a:tr h="1927274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Side Lengths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97916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Diagonal Lengths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PH" dirty="0"/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Quadrilateral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8068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958696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342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491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29E8BD-B407-4A4E-A0D7-10ADFD71A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28431"/>
              </p:ext>
            </p:extLst>
          </p:nvPr>
        </p:nvGraphicFramePr>
        <p:xfrm>
          <a:off x="1109261" y="411636"/>
          <a:ext cx="7588800" cy="5974026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1853983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714674806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52863582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52703595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Question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Work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Answer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871784"/>
                  </a:ext>
                </a:extLst>
              </a:tr>
              <a:tr h="360000">
                <a:tc rowSpan="5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Slopes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Which quadrilateral</a:t>
                      </a:r>
                      <a:r>
                        <a:rPr lang="en-US" sz="2000" b="1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is a rectangle?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650113"/>
                  </a:ext>
                </a:extLst>
              </a:tr>
              <a:tr h="799781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47754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Side Lengths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Properties</a:t>
                      </a:r>
                      <a:endParaRPr lang="x-none" sz="2000"/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597916"/>
                  </a:ext>
                </a:extLst>
              </a:tr>
              <a:tr h="1549041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8068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Diagonal Lengths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marL="101569" marR="101569" marT="50784" marB="507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59" marR="369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343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1411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029E8BD-B407-4A4E-A0D7-10ADFD71AE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2738616"/>
                  </p:ext>
                </p:extLst>
              </p:nvPr>
            </p:nvGraphicFramePr>
            <p:xfrm>
              <a:off x="1109261" y="411636"/>
              <a:ext cx="7588800" cy="60021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853983369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714674806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528635824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527035958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Question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Answer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4871784"/>
                      </a:ext>
                    </a:extLst>
                  </a:tr>
                  <a:tr h="360000">
                    <a:tc row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7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Why is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𝑽𝑾𝑿𝒀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not a square?</a:t>
                          </a:r>
                          <a:endParaRPr lang="x-none" sz="8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650113"/>
                      </a:ext>
                    </a:extLst>
                  </a:tr>
                  <a:tr h="1090513"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x-none" sz="2000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19477540"/>
                      </a:ext>
                    </a:extLst>
                  </a:tr>
                  <a:tr h="1997612"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Side Lengths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x-none" sz="2000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3597916"/>
                      </a:ext>
                    </a:extLst>
                  </a:tr>
                  <a:tr h="1898068">
                    <a:tc v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Diagonal Lengths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dirty="0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="" id="{7029E8BD-B407-4A4E-A0D7-10ADFD71AE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2738616"/>
                  </p:ext>
                </p:extLst>
              </p:nvPr>
            </p:nvGraphicFramePr>
            <p:xfrm>
              <a:off x="1109261" y="411636"/>
              <a:ext cx="7588800" cy="60021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xmlns="" val="1853983369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xmlns="" val="3714674806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528635824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2527035958"/>
                        </a:ext>
                      </a:extLst>
                    </a:gridCol>
                  </a:tblGrid>
                  <a:tr h="4063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Question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Answer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604871784"/>
                      </a:ext>
                    </a:extLst>
                  </a:tr>
                  <a:tr h="609600">
                    <a:tc row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7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51977" t="-72000" b="-8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40650113"/>
                      </a:ext>
                    </a:extLst>
                  </a:tr>
                  <a:tr h="1090513"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x-none" sz="2000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19477540"/>
                      </a:ext>
                    </a:extLst>
                  </a:tr>
                  <a:tr h="1997612"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Side Lengths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x-none" sz="2000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803597916"/>
                      </a:ext>
                    </a:extLst>
                  </a:tr>
                  <a:tr h="1898068">
                    <a:tc v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Diagonal Lengths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dirty="0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071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029E8BD-B407-4A4E-A0D7-10ADFD71AE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9035626"/>
                  </p:ext>
                </p:extLst>
              </p:nvPr>
            </p:nvGraphicFramePr>
            <p:xfrm>
              <a:off x="1109261" y="411636"/>
              <a:ext cx="7588800" cy="585032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853983369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714674806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528635824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527035958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Question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Answer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4871784"/>
                      </a:ext>
                    </a:extLst>
                  </a:tr>
                  <a:tr h="1749468">
                    <a:tc row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8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 and Length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x-none" sz="2000" b="1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𝑲𝑫</m:t>
                                  </m:r>
                                </m:e>
                              </m:acc>
                            </m:oMath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x-none" sz="2000" dirty="0"/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650113"/>
                      </a:ext>
                    </a:extLst>
                  </a:tr>
                  <a:tr h="58315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Verification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8395191"/>
                      </a:ext>
                    </a:extLst>
                  </a:tr>
                  <a:tr h="50697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x-none" sz="2000" dirty="0"/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78125"/>
                      </a:ext>
                    </a:extLst>
                  </a:tr>
                  <a:tr h="2604364">
                    <a:tc v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x-none" sz="2000" b="1" i="1" smtClean="0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PH" sz="20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𝑴𝑺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Using Each</a:t>
                          </a:r>
                          <a:r>
                            <a:rPr lang="en-US" sz="2000" b="1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</a:t>
                          </a:r>
                          <a:br>
                            <a:rPr lang="en-US" sz="2000" b="1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a:br>
                          <a:r>
                            <a:rPr lang="en-US" sz="2000" b="1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Point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𝑺</m:t>
                              </m:r>
                            </m:oMath>
                          </a14:m>
                          <a:endParaRPr lang="x-none" sz="2000" b="1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029E8BD-B407-4A4E-A0D7-10ADFD71AE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9035626"/>
                  </p:ext>
                </p:extLst>
              </p:nvPr>
            </p:nvGraphicFramePr>
            <p:xfrm>
              <a:off x="1109261" y="411636"/>
              <a:ext cx="7588800" cy="585032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853983369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714674806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528635824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527035958"/>
                        </a:ext>
                      </a:extLst>
                    </a:gridCol>
                  </a:tblGrid>
                  <a:tr h="4063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Question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Answer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4871784"/>
                      </a:ext>
                    </a:extLst>
                  </a:tr>
                  <a:tr h="1749468">
                    <a:tc row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8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00" t="-15236" r="-217333" b="-92275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x-none" sz="2000" dirty="0"/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650113"/>
                      </a:ext>
                    </a:extLst>
                  </a:tr>
                  <a:tr h="58315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Verification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8395191"/>
                      </a:ext>
                    </a:extLst>
                  </a:tr>
                  <a:tr h="50697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x-none" sz="2000" dirty="0"/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78125"/>
                      </a:ext>
                    </a:extLst>
                  </a:tr>
                  <a:tr h="2604364">
                    <a:tc v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69" marR="101569" marT="50784" marB="50784" anchor="ctr"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00" t="-125467" r="-217333" b="-4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/>
                        </a:p>
                      </a:txBody>
                      <a:tcPr marL="101569" marR="101569" marT="50784" marB="50784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6959" marR="3695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344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387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19584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344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9619" y="2682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13.10.3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730" y="3160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33473" y="1469130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short note to a friend who missed today’s class summarizing what you learned.</a:t>
            </a:r>
          </a:p>
        </p:txBody>
      </p:sp>
      <p:sp>
        <p:nvSpPr>
          <p:cNvPr id="22" name="Google Shape;282;g104476d1465_1_17"/>
          <p:cNvSpPr txBox="1"/>
          <p:nvPr/>
        </p:nvSpPr>
        <p:spPr>
          <a:xfrm>
            <a:off x="8819584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344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468</Words>
  <Application>Microsoft Office PowerPoint</Application>
  <PresentationFormat>Widescreen</PresentationFormat>
  <Paragraphs>147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Century Gothic</vt:lpstr>
      <vt:lpstr>Cambria</vt:lpstr>
      <vt:lpstr>Wingdings</vt:lpstr>
      <vt:lpstr>Verdana</vt:lpstr>
      <vt:lpstr>Arial Black</vt:lpstr>
      <vt:lpstr>Calibri</vt:lpstr>
      <vt:lpstr>Arial</vt:lpstr>
      <vt:lpstr>Cambria Math</vt:lpstr>
      <vt:lpstr>1_Office Theme</vt:lpstr>
      <vt:lpstr>Geometry  Unit 13, Lesson 10  Classifying Quadrilaterals – Part 3  Volume 2, pg. 339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35</cp:revision>
  <dcterms:created xsi:type="dcterms:W3CDTF">2015-03-17T18:51:18Z</dcterms:created>
  <dcterms:modified xsi:type="dcterms:W3CDTF">2023-03-03T15:41:40Z</dcterms:modified>
</cp:coreProperties>
</file>