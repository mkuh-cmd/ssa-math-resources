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67" r:id="rId8"/>
    <p:sldId id="311" r:id="rId9"/>
    <p:sldId id="312" r:id="rId10"/>
    <p:sldId id="353" r:id="rId11"/>
    <p:sldId id="368" r:id="rId12"/>
    <p:sldId id="387" r:id="rId13"/>
    <p:sldId id="388" r:id="rId14"/>
    <p:sldId id="389" r:id="rId15"/>
    <p:sldId id="390" r:id="rId16"/>
    <p:sldId id="391" r:id="rId17"/>
    <p:sldId id="393" r:id="rId18"/>
    <p:sldId id="394" r:id="rId19"/>
    <p:sldId id="395" r:id="rId20"/>
    <p:sldId id="396" r:id="rId21"/>
    <p:sldId id="397" r:id="rId22"/>
    <p:sldId id="398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A04020102020204" pitchFamily="34" charset="0"/>
      <p:regular r:id="rId27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5088"/>
    <a:srgbClr val="E24E5F"/>
    <a:srgbClr val="33BEA6"/>
    <a:srgbClr val="79B0DD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6"/>
    <p:restoredTop sz="94648"/>
  </p:normalViewPr>
  <p:slideViewPr>
    <p:cSldViewPr snapToGrid="0">
      <p:cViewPr varScale="1">
        <p:scale>
          <a:sx n="62" d="100"/>
          <a:sy n="62" d="100"/>
        </p:scale>
        <p:origin x="156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64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302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19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19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373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523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407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4109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7019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227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8511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92195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3428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24141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14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Using Coordinate Geometry to Solve Real-World Problems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360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17756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MA.912.GR.3.2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context, use coordinate geometry to classify or justify definitions, properties, and theorems involving circles, triangles, or quadrilaterals. 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MA.912.GR.3.3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Use coordinate geometry to solve mathematical and real-world geometric problems involving lines, circles, triangles, and quadrilaterals.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MA.912.GR.3.4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Use coordinate geometry to solve mathematical and real-world problems on the coordinate plane involving perimeter or area of polygons.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8002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48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097198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811708" y="1460584"/>
            <a:ext cx="10712216" cy="474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CBDA1BA-1A31-F841-8D71-9CA2E864C519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600200"/>
            <a:ext cx="1116180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classify triangles and quadrilaterals. </a:t>
            </a:r>
          </a:p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solve real-world problems on the coordinate plane involving perimeter or area of polygons.</a:t>
            </a:r>
          </a:p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solve real-world geometric problems involving circles, triangles, and quadrilaterals. 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CE09C99-2A7A-4642-81C4-47A479DC694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7BBDB14-F43F-3F42-9C2D-99752E20A39C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19095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13.14.1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636816" y="1516656"/>
                <a:ext cx="108871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composite figure shown is created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𝑀𝐾𝑅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trapezoid 𝐷𝑀𝑅𝐻.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(4,−2)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(8.5,−2)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(4,−7)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(1,−9)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(1,−1)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6" y="1516656"/>
                <a:ext cx="10887108" cy="830997"/>
              </a:xfrm>
              <a:prstGeom prst="rect">
                <a:avLst/>
              </a:prstGeom>
              <a:blipFill>
                <a:blip r:embed="rId5"/>
                <a:stretch>
                  <a:fillRect l="-84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27087E5C-2601-9C4C-9030-510A2D8F8AF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2078" y="2394058"/>
            <a:ext cx="5931832" cy="418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4001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48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0B51D-09DC-AA4D-9C14-AE2048199B26}"/>
              </a:ext>
            </a:extLst>
          </p:cNvPr>
          <p:cNvSpPr txBox="1"/>
          <p:nvPr/>
        </p:nvSpPr>
        <p:spPr>
          <a:xfrm>
            <a:off x="528550" y="3081512"/>
            <a:ext cx="8578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 If necessary, round to the nearest thousandth.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FD6D459-41EA-F54F-A153-BCA566EE3EE9}"/>
              </a:ext>
            </a:extLst>
          </p:cNvPr>
          <p:cNvSpPr txBox="1"/>
          <p:nvPr/>
        </p:nvSpPr>
        <p:spPr>
          <a:xfrm>
            <a:off x="8889924" y="64418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436218E-7304-C54A-A26B-5A1B40E12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727312"/>
                  </p:ext>
                </p:extLst>
              </p:nvPr>
            </p:nvGraphicFramePr>
            <p:xfrm>
              <a:off x="1227466" y="3606833"/>
              <a:ext cx="6718300" cy="15938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31925">
                      <a:extLst>
                        <a:ext uri="{9D8B030D-6E8A-4147-A177-3AD203B41FA5}">
                          <a16:colId xmlns:a16="http://schemas.microsoft.com/office/drawing/2014/main" val="3042136694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669855041"/>
                        </a:ext>
                      </a:extLst>
                    </a:gridCol>
                    <a:gridCol w="2543175">
                      <a:extLst>
                        <a:ext uri="{9D8B030D-6E8A-4147-A177-3AD203B41FA5}">
                          <a16:colId xmlns:a16="http://schemas.microsoft.com/office/drawing/2014/main" val="371653439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Figure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Perimeter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Area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208056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𝑀𝐾𝑅</m:t>
                                </m:r>
                              </m:oMath>
                            </m:oMathPara>
                          </a14:m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62084413"/>
                      </a:ext>
                    </a:extLst>
                  </a:tr>
                  <a:tr h="6794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𝐷𝑀𝑅𝐻</m:t>
                                </m:r>
                              </m:oMath>
                            </m:oMathPara>
                          </a14:m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9289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436218E-7304-C54A-A26B-5A1B40E12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727312"/>
                  </p:ext>
                </p:extLst>
              </p:nvPr>
            </p:nvGraphicFramePr>
            <p:xfrm>
              <a:off x="1227466" y="3606833"/>
              <a:ext cx="6718300" cy="15938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31925">
                      <a:extLst>
                        <a:ext uri="{9D8B030D-6E8A-4147-A177-3AD203B41FA5}">
                          <a16:colId xmlns:a16="http://schemas.microsoft.com/office/drawing/2014/main" val="3042136694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669855041"/>
                        </a:ext>
                      </a:extLst>
                    </a:gridCol>
                    <a:gridCol w="2543175">
                      <a:extLst>
                        <a:ext uri="{9D8B030D-6E8A-4147-A177-3AD203B41FA5}">
                          <a16:colId xmlns:a16="http://schemas.microsoft.com/office/drawing/2014/main" val="371653439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Figure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Perimeter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Area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208056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6" t="-71429" r="-370213" b="-1252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62084413"/>
                      </a:ext>
                    </a:extLst>
                  </a:tr>
                  <a:tr h="679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6" t="-139286" r="-370213" b="-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9289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0FE0EE4-5F64-874C-896F-CECE89B06F6E}"/>
              </a:ext>
            </a:extLst>
          </p:cNvPr>
          <p:cNvSpPr txBox="1"/>
          <p:nvPr/>
        </p:nvSpPr>
        <p:spPr>
          <a:xfrm>
            <a:off x="528548" y="5263119"/>
            <a:ext cx="93086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perimeter of the composite figure? If necessary, round to the nearest thousandth.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 of the composite figure? If necessary, round to the nearest thousandth.</a:t>
            </a:r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953926EC-0982-4721-900A-9F408B20CE9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4622" y="23566"/>
            <a:ext cx="4243988" cy="299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9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11409" y="2766145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A13319E-DA3B-3E44-8EF7-BEF50B5A8B4C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6.png" descr="A picture containing shape&#10;&#10;Description automatically generated">
            <a:extLst>
              <a:ext uri="{FF2B5EF4-FFF2-40B4-BE49-F238E27FC236}">
                <a16:creationId xmlns:a16="http://schemas.microsoft.com/office/drawing/2014/main" id="{8302D50E-B969-E645-8E2B-A0DC498C63F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55181" y="2850886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8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6275" y="60709"/>
            <a:ext cx="1034422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13.14.2 Collaboration: Real-World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6874" y="1528077"/>
                <a:ext cx="1103127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Lana is designing the front of a doghouse. The computer software generated coordinate points where each unit equals a foot. The roof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(7,9)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(11,5)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(3,5)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front wall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(11,5)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(11,1)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(3,1)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(3,5)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door entrance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𝑍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(9,1)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𝑌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(5,1)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𝑊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(6,4)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𝑉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(8,4)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74" y="1528077"/>
                <a:ext cx="11031276" cy="1938992"/>
              </a:xfrm>
              <a:prstGeom prst="rect">
                <a:avLst/>
              </a:prstGeom>
              <a:blipFill>
                <a:blip r:embed="rId4"/>
                <a:stretch>
                  <a:fillRect l="-884" t="-2516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Google Shape;282;g104476d1465_1_17">
            <a:extLst>
              <a:ext uri="{FF2B5EF4-FFF2-40B4-BE49-F238E27FC236}">
                <a16:creationId xmlns:a16="http://schemas.microsoft.com/office/drawing/2014/main" id="{3413C27D-0588-F545-8DFB-B739BB65964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image6.png" descr="A picture containing shape&#10;&#10;Description automatically generated">
            <a:extLst>
              <a:ext uri="{FF2B5EF4-FFF2-40B4-BE49-F238E27FC236}">
                <a16:creationId xmlns:a16="http://schemas.microsoft.com/office/drawing/2014/main" id="{72D330F2-4D25-5241-BE20-53E92DDDEC8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9978" y="149256"/>
            <a:ext cx="755076" cy="75507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4155594"/>
                <a:ext cx="1016676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type of triangle is the roof,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𝑀𝑃𝑅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 Justify your answer. 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area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𝑀𝑃𝑅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55594"/>
                <a:ext cx="10166764" cy="1569660"/>
              </a:xfrm>
              <a:prstGeom prst="rect">
                <a:avLst/>
              </a:prstGeom>
              <a:blipFill>
                <a:blip r:embed="rId4"/>
                <a:stretch>
                  <a:fillRect l="-960" t="-3502" r="-1320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A9699B5-6480-D045-8CAF-9E1FEA3A0EE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3951C952-260C-9F42-A20C-671327AEE90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8720" y="378726"/>
            <a:ext cx="4600161" cy="35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86950"/>
                <a:ext cx="11087584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Clay tiles cost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per square foot. How much will it cost Lana to put clay tiles on the roof of the doghouse? 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type of quadrilateral is the door, 𝑊𝑉𝑍𝑌? Justify your answer.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86950"/>
                <a:ext cx="11087584" cy="3046988"/>
              </a:xfrm>
              <a:prstGeom prst="rect">
                <a:avLst/>
              </a:prstGeom>
              <a:blipFill>
                <a:blip r:embed="rId4"/>
                <a:stretch>
                  <a:fillRect l="-880" t="-1800" r="-11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575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5"/>
            <a:ext cx="110875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Lana is placing a frame around the door, 𝑊𝑉𝑍𝑌. How many feet of wood will she need? If necessary, round to the nearest thousandth.</a:t>
            </a:r>
          </a:p>
          <a:p>
            <a:pPr marL="45720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type of quadrilateral is the front wall, 𝑅𝑃𝐾𝐷? Justify your answer. </a:t>
            </a:r>
          </a:p>
        </p:txBody>
      </p:sp>
    </p:spTree>
    <p:extLst>
      <p:ext uri="{BB962C8B-B14F-4D97-AF65-F5344CB8AC3E}">
        <p14:creationId xmlns:p14="http://schemas.microsoft.com/office/powerpoint/2010/main" val="161790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86950"/>
                <a:ext cx="1108758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7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Lana is painting the front wall, 𝑅𝑃𝐾𝐷, excluding the door, 𝑊𝑉𝑍𝑌. What is the area of the front wall Lana is painting?</a:t>
                </a: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Paint costs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$0.55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per square foot. Excluding the door, how much will it cost to paint the front wall?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86950"/>
                <a:ext cx="11087584" cy="3416320"/>
              </a:xfrm>
              <a:prstGeom prst="rect">
                <a:avLst/>
              </a:prstGeom>
              <a:blipFill>
                <a:blip r:embed="rId4"/>
                <a:stretch>
                  <a:fillRect l="-880" t="-1604" r="-1649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919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6"/>
                <a:ext cx="11087584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Justin is creating a layout for his garden in the shape of a quadrilateral, 𝐺𝑊𝐷𝑃, with vertices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(1,8)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(11,8)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(11,0)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(1,0)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41388" indent="-49688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Classify 𝐺𝑊𝐷𝑃. Justify your answer.</a:t>
                </a:r>
              </a:p>
              <a:p>
                <a:pPr marL="44450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700" indent="-127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Justin created three sections in the garden: 𝑇𝐻𝐿𝑀, 𝐿𝐾𝑆𝑀,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𝐾𝑁𝑅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445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017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𝑇𝐻𝐿𝑀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(10,7)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(8,3)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Classify 𝑇𝐻𝐿𝑀. Justify your answer. </a:t>
                </a:r>
              </a:p>
              <a:p>
                <a:pPr marL="44450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6"/>
                <a:ext cx="11087584" cy="5262979"/>
              </a:xfrm>
              <a:prstGeom prst="rect">
                <a:avLst/>
              </a:prstGeom>
              <a:blipFill>
                <a:blip r:embed="rId4"/>
                <a:stretch>
                  <a:fillRect l="-880" t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4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86950"/>
                <a:ext cx="1108758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𝐿𝐾𝑆𝑀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(8,3)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(7,1)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Classify 𝐿𝐾𝑆𝑀. Justify your answer.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𝐾𝑁𝑅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(7,1)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(9,1)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(9,5)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Classify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𝐾𝑁𝑅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Justify your answer.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86950"/>
                <a:ext cx="11087584" cy="3785652"/>
              </a:xfrm>
              <a:prstGeom prst="rect">
                <a:avLst/>
              </a:prstGeom>
              <a:blipFill>
                <a:blip r:embed="rId4"/>
                <a:stretch>
                  <a:fillRect l="-880" t="-1449" r="-1649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071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6"/>
            <a:ext cx="8045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layout of the garden is shown.  </a:t>
            </a:r>
          </a:p>
        </p:txBody>
      </p:sp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9F763A-D3C6-0344-8899-F76559E8C2C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3017" y="1003767"/>
            <a:ext cx="4631566" cy="37937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F831EA-E9A8-9D42-8D7F-B2B050A915CA}"/>
              </a:ext>
            </a:extLst>
          </p:cNvPr>
          <p:cNvSpPr txBox="1"/>
          <p:nvPr/>
        </p:nvSpPr>
        <p:spPr>
          <a:xfrm>
            <a:off x="540566" y="4950726"/>
            <a:ext cx="10983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indent="-392113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one square on the grid represents one square foot, how many feet of fencing will Justin need to go around 𝐺𝑊𝐷𝑃?</a:t>
            </a:r>
          </a:p>
        </p:txBody>
      </p:sp>
    </p:spTree>
    <p:extLst>
      <p:ext uri="{BB962C8B-B14F-4D97-AF65-F5344CB8AC3E}">
        <p14:creationId xmlns:p14="http://schemas.microsoft.com/office/powerpoint/2010/main" val="3135387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6"/>
            <a:ext cx="11258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6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 If necessary, round to the nearest thousandth.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2D23F27-2068-7B40-B623-5A159762CE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5885605"/>
                  </p:ext>
                </p:extLst>
              </p:nvPr>
            </p:nvGraphicFramePr>
            <p:xfrm>
              <a:off x="1317345" y="942987"/>
              <a:ext cx="6860377" cy="33487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40281">
                      <a:extLst>
                        <a:ext uri="{9D8B030D-6E8A-4147-A177-3AD203B41FA5}">
                          <a16:colId xmlns:a16="http://schemas.microsoft.com/office/drawing/2014/main" val="1961136857"/>
                        </a:ext>
                      </a:extLst>
                    </a:gridCol>
                    <a:gridCol w="2353329">
                      <a:extLst>
                        <a:ext uri="{9D8B030D-6E8A-4147-A177-3AD203B41FA5}">
                          <a16:colId xmlns:a16="http://schemas.microsoft.com/office/drawing/2014/main" val="1339860946"/>
                        </a:ext>
                      </a:extLst>
                    </a:gridCol>
                    <a:gridCol w="2266767">
                      <a:extLst>
                        <a:ext uri="{9D8B030D-6E8A-4147-A177-3AD203B41FA5}">
                          <a16:colId xmlns:a16="http://schemas.microsoft.com/office/drawing/2014/main" val="1625523124"/>
                        </a:ext>
                      </a:extLst>
                    </a:gridCol>
                  </a:tblGrid>
                  <a:tr h="27906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Section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Perimeter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Area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5659566"/>
                      </a:ext>
                    </a:extLst>
                  </a:tr>
                  <a:tr h="102324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𝑇𝐻𝐿𝑀</m:t>
                                </m:r>
                              </m:oMath>
                            </m:oMathPara>
                          </a14:m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89812491"/>
                      </a:ext>
                    </a:extLst>
                  </a:tr>
                  <a:tr h="102324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𝐿𝐾𝑆𝑀</m:t>
                                </m:r>
                              </m:oMath>
                            </m:oMathPara>
                          </a14:m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4459968"/>
                      </a:ext>
                    </a:extLst>
                  </a:tr>
                  <a:tr h="102324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∆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𝐾𝑁𝑅</m:t>
                                </m:r>
                              </m:oMath>
                            </m:oMathPara>
                          </a14:m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455116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2D23F27-2068-7B40-B623-5A159762CE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5885605"/>
                  </p:ext>
                </p:extLst>
              </p:nvPr>
            </p:nvGraphicFramePr>
            <p:xfrm>
              <a:off x="1317345" y="942987"/>
              <a:ext cx="6860377" cy="33487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40281">
                      <a:extLst>
                        <a:ext uri="{9D8B030D-6E8A-4147-A177-3AD203B41FA5}">
                          <a16:colId xmlns:a16="http://schemas.microsoft.com/office/drawing/2014/main" val="1961136857"/>
                        </a:ext>
                      </a:extLst>
                    </a:gridCol>
                    <a:gridCol w="2353329">
                      <a:extLst>
                        <a:ext uri="{9D8B030D-6E8A-4147-A177-3AD203B41FA5}">
                          <a16:colId xmlns:a16="http://schemas.microsoft.com/office/drawing/2014/main" val="1339860946"/>
                        </a:ext>
                      </a:extLst>
                    </a:gridCol>
                    <a:gridCol w="2266767">
                      <a:extLst>
                        <a:ext uri="{9D8B030D-6E8A-4147-A177-3AD203B41FA5}">
                          <a16:colId xmlns:a16="http://schemas.microsoft.com/office/drawing/2014/main" val="1625523124"/>
                        </a:ext>
                      </a:extLst>
                    </a:gridCol>
                  </a:tblGrid>
                  <a:tr h="27906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Section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Perimeter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Area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5659566"/>
                      </a:ext>
                    </a:extLst>
                  </a:tr>
                  <a:tr h="10232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34524" r="-206522" b="-2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89812491"/>
                      </a:ext>
                    </a:extLst>
                  </a:tr>
                  <a:tr h="10232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133728" r="-206522" b="-1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4459968"/>
                      </a:ext>
                    </a:extLst>
                  </a:tr>
                  <a:tr h="10232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235119" r="-206522" b="-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767" marR="6976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455116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3F131E8-4EC7-0C4A-AF9A-19DF4749A46C}"/>
              </a:ext>
            </a:extLst>
          </p:cNvPr>
          <p:cNvSpPr txBox="1"/>
          <p:nvPr/>
        </p:nvSpPr>
        <p:spPr>
          <a:xfrm>
            <a:off x="540566" y="4500152"/>
            <a:ext cx="10983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7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perimeter of the composite figure made by the three sections of the garden? If necessary, round to the nearest thousandth.</a:t>
            </a:r>
          </a:p>
        </p:txBody>
      </p:sp>
    </p:spTree>
    <p:extLst>
      <p:ext uri="{BB962C8B-B14F-4D97-AF65-F5344CB8AC3E}">
        <p14:creationId xmlns:p14="http://schemas.microsoft.com/office/powerpoint/2010/main" val="177052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5"/>
                <a:ext cx="1108758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8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area of the three sections of the garden? If necessary, round to the nearest thousandth.</a:t>
                </a:r>
              </a:p>
              <a:p>
                <a:pPr marL="457200" indent="-457200">
                  <a:buFont typeface="+mj-lt"/>
                  <a:buAutoNum type="alphaLcPeriod" startAt="8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8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8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8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8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8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a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pound (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lb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bag of soil covers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square feet, how many bags of soil will Justin need to cover the three sections of the garden?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5"/>
                <a:ext cx="11087584" cy="3416320"/>
              </a:xfrm>
              <a:prstGeom prst="rect">
                <a:avLst/>
              </a:prstGeom>
              <a:blipFill>
                <a:blip r:embed="rId4"/>
                <a:stretch>
                  <a:fillRect l="-880" t="-1426" r="-1484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130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4398" y="-2878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26167" y="358166"/>
            <a:ext cx="38052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Edwin started creating a new logo design for the company office using the images shown.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67132D-7356-C348-AA8B-97AA82B94A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710" t="6869"/>
          <a:stretch/>
        </p:blipFill>
        <p:spPr bwMode="auto">
          <a:xfrm>
            <a:off x="4435624" y="66974"/>
            <a:ext cx="4135755" cy="29076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F61E89-A2AF-434E-B216-BCFF4683EF11}"/>
              </a:ext>
            </a:extLst>
          </p:cNvPr>
          <p:cNvSpPr txBox="1"/>
          <p:nvPr/>
        </p:nvSpPr>
        <p:spPr>
          <a:xfrm>
            <a:off x="526167" y="2982099"/>
            <a:ext cx="10997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6888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­To determine how to place the logo on the wall in the company’s office, he uploaded his design to a computer program and got the following coordinates.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DC20F68-BDC1-7048-8093-9C43D5477C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024204"/>
                  </p:ext>
                </p:extLst>
              </p:nvPr>
            </p:nvGraphicFramePr>
            <p:xfrm>
              <a:off x="1143784" y="4342022"/>
              <a:ext cx="9589180" cy="142459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97295">
                      <a:extLst>
                        <a:ext uri="{9D8B030D-6E8A-4147-A177-3AD203B41FA5}">
                          <a16:colId xmlns:a16="http://schemas.microsoft.com/office/drawing/2014/main" val="3034117897"/>
                        </a:ext>
                      </a:extLst>
                    </a:gridCol>
                    <a:gridCol w="2397295">
                      <a:extLst>
                        <a:ext uri="{9D8B030D-6E8A-4147-A177-3AD203B41FA5}">
                          <a16:colId xmlns:a16="http://schemas.microsoft.com/office/drawing/2014/main" val="3848001296"/>
                        </a:ext>
                      </a:extLst>
                    </a:gridCol>
                    <a:gridCol w="2397295">
                      <a:extLst>
                        <a:ext uri="{9D8B030D-6E8A-4147-A177-3AD203B41FA5}">
                          <a16:colId xmlns:a16="http://schemas.microsoft.com/office/drawing/2014/main" val="907683536"/>
                        </a:ext>
                      </a:extLst>
                    </a:gridCol>
                    <a:gridCol w="2397295">
                      <a:extLst>
                        <a:ext uri="{9D8B030D-6E8A-4147-A177-3AD203B41FA5}">
                          <a16:colId xmlns:a16="http://schemas.microsoft.com/office/drawing/2014/main" val="565290112"/>
                        </a:ext>
                      </a:extLst>
                    </a:gridCol>
                  </a:tblGrid>
                  <a:tr h="6659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𝑀</m:t>
                                </m:r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(−3,2)</m:t>
                                </m:r>
                              </m:oMath>
                            </m:oMathPara>
                          </a14:m>
                          <a:endParaRPr lang="en-CO" sz="17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𝑅</m:t>
                                </m:r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(−9,6)</m:t>
                                </m:r>
                              </m:oMath>
                            </m:oMathPara>
                          </a14:m>
                          <a:endParaRPr lang="en-CO" sz="17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𝑃</m:t>
                                </m:r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(−3.8,4)</m:t>
                                </m:r>
                              </m:oMath>
                            </m:oMathPara>
                          </a14:m>
                          <a:endParaRPr lang="en-CO" sz="17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𝑇</m:t>
                                </m:r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(3,11)</m:t>
                                </m:r>
                              </m:oMath>
                            </m:oMathPara>
                          </a14:m>
                          <a:endParaRPr lang="en-CO" sz="17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80292458"/>
                      </a:ext>
                    </a:extLst>
                  </a:tr>
                  <a:tr h="7586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𝐺</m:t>
                                </m:r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(−</m:t>
                                </m:r>
                                <m:f>
                                  <m:fPr>
                                    <m:ctrlPr>
                                      <a:rPr lang="en-CO" sz="26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6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6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,4)</m:t>
                                </m:r>
                              </m:oMath>
                            </m:oMathPara>
                          </a14:m>
                          <a:endParaRPr lang="en-CO" sz="17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𝐻</m:t>
                                </m:r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(−</m:t>
                                </m:r>
                                <m:f>
                                  <m:fPr>
                                    <m:ctrlPr>
                                      <a:rPr lang="en-CO" sz="26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6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lang="en-US" sz="26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,4)</m:t>
                                </m:r>
                              </m:oMath>
                            </m:oMathPara>
                          </a14:m>
                          <a:endParaRPr lang="en-CO" sz="17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𝐾</m:t>
                                </m:r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(−5.3,7.5)</m:t>
                                </m:r>
                              </m:oMath>
                            </m:oMathPara>
                          </a14:m>
                          <a:endParaRPr lang="en-CO" sz="17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(−6,4)</m:t>
                                </m:r>
                              </m:oMath>
                            </m:oMathPara>
                          </a14:m>
                          <a:endParaRPr lang="en-CO" sz="17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211558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DC20F68-BDC1-7048-8093-9C43D5477C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024204"/>
                  </p:ext>
                </p:extLst>
              </p:nvPr>
            </p:nvGraphicFramePr>
            <p:xfrm>
              <a:off x="1143784" y="4342022"/>
              <a:ext cx="9589180" cy="142459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97295">
                      <a:extLst>
                        <a:ext uri="{9D8B030D-6E8A-4147-A177-3AD203B41FA5}">
                          <a16:colId xmlns:a16="http://schemas.microsoft.com/office/drawing/2014/main" val="3034117897"/>
                        </a:ext>
                      </a:extLst>
                    </a:gridCol>
                    <a:gridCol w="2397295">
                      <a:extLst>
                        <a:ext uri="{9D8B030D-6E8A-4147-A177-3AD203B41FA5}">
                          <a16:colId xmlns:a16="http://schemas.microsoft.com/office/drawing/2014/main" val="3848001296"/>
                        </a:ext>
                      </a:extLst>
                    </a:gridCol>
                    <a:gridCol w="2397295">
                      <a:extLst>
                        <a:ext uri="{9D8B030D-6E8A-4147-A177-3AD203B41FA5}">
                          <a16:colId xmlns:a16="http://schemas.microsoft.com/office/drawing/2014/main" val="907683536"/>
                        </a:ext>
                      </a:extLst>
                    </a:gridCol>
                    <a:gridCol w="2397295">
                      <a:extLst>
                        <a:ext uri="{9D8B030D-6E8A-4147-A177-3AD203B41FA5}">
                          <a16:colId xmlns:a16="http://schemas.microsoft.com/office/drawing/2014/main" val="565290112"/>
                        </a:ext>
                      </a:extLst>
                    </a:gridCol>
                  </a:tblGrid>
                  <a:tr h="6659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4" t="-917" r="-300000" b="-1174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09" t="-917" r="-200763" b="-1174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917" r="-100254" b="-1174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63" t="-917" r="-509" b="-1174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292458"/>
                      </a:ext>
                    </a:extLst>
                  </a:tr>
                  <a:tr h="7586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4" t="-88000" r="-300000" b="-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09" t="-88000" r="-200763" b="-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88000" r="-100254" b="-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87" marR="9988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63" t="-88000" r="-509" b="-2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11558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48292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378726"/>
            <a:ext cx="10983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 𝐴 has points 𝑅, 𝑀, and 𝐾 on the circle. Lines 𝑇𝑀 and 𝐻𝑅 are tangent to circle 𝐴. Lines 𝑅𝑀 and 𝐻𝐺 are secant to circle 𝐴. </a:t>
            </a:r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EAB26B6E-7F99-204A-B54D-DE31B9996C9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0356" y="1352921"/>
            <a:ext cx="6433269" cy="527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68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3" y="378726"/>
            <a:ext cx="9473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by finding the area of each triangle.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A8189CA-043B-5741-8E2B-11250C3423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1346852"/>
                  </p:ext>
                </p:extLst>
              </p:nvPr>
            </p:nvGraphicFramePr>
            <p:xfrm>
              <a:off x="1330691" y="1069912"/>
              <a:ext cx="8599939" cy="513080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95985">
                      <a:extLst>
                        <a:ext uri="{9D8B030D-6E8A-4147-A177-3AD203B41FA5}">
                          <a16:colId xmlns:a16="http://schemas.microsoft.com/office/drawing/2014/main" val="47235376"/>
                        </a:ext>
                      </a:extLst>
                    </a:gridCol>
                    <a:gridCol w="5254814">
                      <a:extLst>
                        <a:ext uri="{9D8B030D-6E8A-4147-A177-3AD203B41FA5}">
                          <a16:colId xmlns:a16="http://schemas.microsoft.com/office/drawing/2014/main" val="1457657851"/>
                        </a:ext>
                      </a:extLst>
                    </a:gridCol>
                    <a:gridCol w="1749140">
                      <a:extLst>
                        <a:ext uri="{9D8B030D-6E8A-4147-A177-3AD203B41FA5}">
                          <a16:colId xmlns:a16="http://schemas.microsoft.com/office/drawing/2014/main" val="2029039078"/>
                        </a:ext>
                      </a:extLst>
                    </a:gridCol>
                  </a:tblGrid>
                  <a:tr h="46643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Triangle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Area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800196"/>
                      </a:ext>
                    </a:extLst>
                  </a:tr>
                  <a:tr h="11660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∆</m:t>
                                </m:r>
                                <m:r>
                                  <a:rPr lang="en-US" sz="23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𝐴𝐻𝑅</m:t>
                                </m:r>
                              </m:oMath>
                            </m:oMathPara>
                          </a14:m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790549"/>
                      </a:ext>
                    </a:extLst>
                  </a:tr>
                  <a:tr h="11660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∆</m:t>
                                </m:r>
                                <m:r>
                                  <a:rPr lang="en-US" sz="23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𝐴𝑀𝐺</m:t>
                                </m:r>
                              </m:oMath>
                            </m:oMathPara>
                          </a14:m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4563685"/>
                      </a:ext>
                    </a:extLst>
                  </a:tr>
                  <a:tr h="11660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∆</m:t>
                                </m:r>
                                <m:r>
                                  <a:rPr lang="en-US" sz="23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𝑃𝐺𝑀</m:t>
                                </m:r>
                              </m:oMath>
                            </m:oMathPara>
                          </a14:m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7770824"/>
                      </a:ext>
                    </a:extLst>
                  </a:tr>
                  <a:tr h="11660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∆</m:t>
                                </m:r>
                                <m:r>
                                  <a:rPr lang="en-US" sz="23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𝑇𝐾𝑀</m:t>
                                </m:r>
                              </m:oMath>
                            </m:oMathPara>
                          </a14:m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8469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A8189CA-043B-5741-8E2B-11250C3423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1346852"/>
                  </p:ext>
                </p:extLst>
              </p:nvPr>
            </p:nvGraphicFramePr>
            <p:xfrm>
              <a:off x="1330691" y="1069912"/>
              <a:ext cx="8599939" cy="513080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95985">
                      <a:extLst>
                        <a:ext uri="{9D8B030D-6E8A-4147-A177-3AD203B41FA5}">
                          <a16:colId xmlns:a16="http://schemas.microsoft.com/office/drawing/2014/main" val="47235376"/>
                        </a:ext>
                      </a:extLst>
                    </a:gridCol>
                    <a:gridCol w="5254814">
                      <a:extLst>
                        <a:ext uri="{9D8B030D-6E8A-4147-A177-3AD203B41FA5}">
                          <a16:colId xmlns:a16="http://schemas.microsoft.com/office/drawing/2014/main" val="1457657851"/>
                        </a:ext>
                      </a:extLst>
                    </a:gridCol>
                    <a:gridCol w="1749140">
                      <a:extLst>
                        <a:ext uri="{9D8B030D-6E8A-4147-A177-3AD203B41FA5}">
                          <a16:colId xmlns:a16="http://schemas.microsoft.com/office/drawing/2014/main" val="2029039078"/>
                        </a:ext>
                      </a:extLst>
                    </a:gridCol>
                  </a:tblGrid>
                  <a:tr h="46643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Triangle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Area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800196"/>
                      </a:ext>
                    </a:extLst>
                  </a:tr>
                  <a:tr h="1166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2" t="-43455" r="-439695" b="-302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790549"/>
                      </a:ext>
                    </a:extLst>
                  </a:tr>
                  <a:tr h="1166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2" t="-142708" r="-439695" b="-200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4563685"/>
                      </a:ext>
                    </a:extLst>
                  </a:tr>
                  <a:tr h="1166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2" t="-243979" r="-439695" b="-101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7770824"/>
                      </a:ext>
                    </a:extLst>
                  </a:tr>
                  <a:tr h="1166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2" t="-342188" r="-439695" b="-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457" marR="874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84692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33807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378726"/>
                <a:ext cx="11087586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Explain how to use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𝑃𝐺𝑀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𝑇𝐾𝑀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find the area of 𝑇𝐾𝑃𝐺.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area of 𝑇𝐾𝑃𝐺? If necessary, round to the nearest thousandth.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total area of Edwin’s design? If necessary, round to the nearest thousandth.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78726"/>
                <a:ext cx="11087586" cy="4893647"/>
              </a:xfrm>
              <a:prstGeom prst="rect">
                <a:avLst/>
              </a:prstGeom>
              <a:blipFill>
                <a:blip r:embed="rId4"/>
                <a:stretch>
                  <a:fillRect l="-880" t="-1121" r="-1209" b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5306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6601" y="-17741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4815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108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8199" y="-19412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13.14.3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749" y="508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56646" y="1188666"/>
            <a:ext cx="1048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 the icon that best describes your understanding of each.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C96DFD-1293-8F4B-9743-F73125A08A5D}"/>
              </a:ext>
            </a:extLst>
          </p:cNvPr>
          <p:cNvSpPr txBox="1"/>
          <p:nvPr/>
        </p:nvSpPr>
        <p:spPr>
          <a:xfrm>
            <a:off x="1331346" y="1949603"/>
            <a:ext cx="6533322" cy="35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need help.	  I got it.	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could help someone</a:t>
            </a:r>
            <a:r>
              <a:rPr lang="en-CO" sz="1600" dirty="0"/>
              <a:t> </a:t>
            </a:r>
          </a:p>
        </p:txBody>
      </p:sp>
      <p:pic>
        <p:nvPicPr>
          <p:cNvPr id="17" name="image29.png" descr="Marketing">
            <a:extLst>
              <a:ext uri="{FF2B5EF4-FFF2-40B4-BE49-F238E27FC236}">
                <a16:creationId xmlns:a16="http://schemas.microsoft.com/office/drawing/2014/main" id="{B13E80F5-80C6-644B-BE97-325F05D85248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5191" y="1867901"/>
            <a:ext cx="432311" cy="432311"/>
          </a:xfrm>
          <a:prstGeom prst="rect">
            <a:avLst/>
          </a:prstGeom>
          <a:ln/>
        </p:spPr>
      </p:pic>
      <p:pic>
        <p:nvPicPr>
          <p:cNvPr id="18" name="image28.png" descr="Thumbs up sign">
            <a:extLst>
              <a:ext uri="{FF2B5EF4-FFF2-40B4-BE49-F238E27FC236}">
                <a16:creationId xmlns:a16="http://schemas.microsoft.com/office/drawing/2014/main" id="{07DEF575-FC93-2F4E-937D-FC33806FD80C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95669" y="1949602"/>
            <a:ext cx="350610" cy="350610"/>
          </a:xfrm>
          <a:prstGeom prst="rect">
            <a:avLst/>
          </a:prstGeom>
          <a:ln/>
        </p:spPr>
      </p:pic>
      <p:pic>
        <p:nvPicPr>
          <p:cNvPr id="19" name="image30.png" descr="Shooting star">
            <a:extLst>
              <a:ext uri="{FF2B5EF4-FFF2-40B4-BE49-F238E27FC236}">
                <a16:creationId xmlns:a16="http://schemas.microsoft.com/office/drawing/2014/main" id="{56B38DB3-0FDF-D54E-94AF-82D60C20ED4A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49498" y="1940259"/>
            <a:ext cx="369294" cy="369294"/>
          </a:xfrm>
          <a:prstGeom prst="rect">
            <a:avLst/>
          </a:prstGeom>
          <a:ln/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A775F6-E53A-7E47-93C9-845E72DB8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130651"/>
              </p:ext>
            </p:extLst>
          </p:nvPr>
        </p:nvGraphicFramePr>
        <p:xfrm>
          <a:off x="1626020" y="2431696"/>
          <a:ext cx="5865399" cy="3635488"/>
        </p:xfrm>
        <a:graphic>
          <a:graphicData uri="http://schemas.openxmlformats.org/drawingml/2006/table">
            <a:tbl>
              <a:tblPr bandRow="1"/>
              <a:tblGrid>
                <a:gridCol w="3591749">
                  <a:extLst>
                    <a:ext uri="{9D8B030D-6E8A-4147-A177-3AD203B41FA5}">
                      <a16:colId xmlns:a16="http://schemas.microsoft.com/office/drawing/2014/main" val="1787106863"/>
                    </a:ext>
                  </a:extLst>
                </a:gridCol>
                <a:gridCol w="2273650">
                  <a:extLst>
                    <a:ext uri="{9D8B030D-6E8A-4147-A177-3AD203B41FA5}">
                      <a16:colId xmlns:a16="http://schemas.microsoft.com/office/drawing/2014/main" val="4142978935"/>
                    </a:ext>
                  </a:extLst>
                </a:gridCol>
              </a:tblGrid>
              <a:tr h="430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Using coordinate geometry to determine if lines are parallel or perpendicular.</a:t>
                      </a:r>
                      <a:endParaRPr lang="en-CO" sz="9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</a:t>
                      </a:r>
                      <a:endParaRPr lang="en-CO" sz="9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63941"/>
                  </a:ext>
                </a:extLst>
              </a:tr>
              <a:tr h="430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Using coordinate geometry to partition a line segment or find the weighted average.</a:t>
                      </a:r>
                      <a:endParaRPr lang="en-CO" sz="9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</a:t>
                      </a:r>
                      <a:endParaRPr lang="en-CO" sz="9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870220"/>
                  </a:ext>
                </a:extLst>
              </a:tr>
              <a:tr h="430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Using coordinate geometry to classify triangles or quadrilaterals.</a:t>
                      </a:r>
                      <a:endParaRPr lang="en-CO" sz="9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</a:t>
                      </a:r>
                      <a:endParaRPr lang="en-CO" sz="9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682354"/>
                  </a:ext>
                </a:extLst>
              </a:tr>
              <a:tr h="5745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Using coordinate geometry to justify definitions, properties, and theorems involving circles, triangles or quadrilaterals.</a:t>
                      </a:r>
                      <a:endParaRPr lang="en-CO" sz="9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</a:t>
                      </a:r>
                      <a:endParaRPr lang="en-CO" sz="9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250736"/>
                  </a:ext>
                </a:extLst>
              </a:tr>
              <a:tr h="71817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Using coordinate geometry to solve mathematical and real-world geometric problems involving lines, circles, triangles, and quadrilaterals.</a:t>
                      </a:r>
                      <a:endParaRPr lang="en-CO" sz="9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</a:t>
                      </a:r>
                      <a:endParaRPr lang="en-CO" sz="9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982021"/>
                  </a:ext>
                </a:extLst>
              </a:tr>
              <a:tr h="5745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Using coordinate geometry to solve mathematical and real-world involving perimeter or area of polygons.</a:t>
                      </a:r>
                      <a:endParaRPr lang="en-CO" sz="9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</a:t>
                      </a:r>
                      <a:endParaRPr lang="en-CO" sz="9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570432"/>
                  </a:ext>
                </a:extLst>
              </a:tr>
            </a:tbl>
          </a:graphicData>
        </a:graphic>
      </p:graphicFrame>
      <p:pic>
        <p:nvPicPr>
          <p:cNvPr id="20" name="image30.png" descr="Shooting star">
            <a:extLst>
              <a:ext uri="{FF2B5EF4-FFF2-40B4-BE49-F238E27FC236}">
                <a16:creationId xmlns:a16="http://schemas.microsoft.com/office/drawing/2014/main" id="{90750387-7C23-064C-899D-B83EC5EDF100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78298" y="2457094"/>
            <a:ext cx="369294" cy="369294"/>
          </a:xfrm>
          <a:prstGeom prst="rect">
            <a:avLst/>
          </a:prstGeom>
          <a:ln/>
        </p:spPr>
      </p:pic>
      <p:pic>
        <p:nvPicPr>
          <p:cNvPr id="21" name="image28.png" descr="Thumbs up sign">
            <a:extLst>
              <a:ext uri="{FF2B5EF4-FFF2-40B4-BE49-F238E27FC236}">
                <a16:creationId xmlns:a16="http://schemas.microsoft.com/office/drawing/2014/main" id="{8BEAFF44-F147-DC44-8F33-815772CF3043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7428" y="2439933"/>
            <a:ext cx="350610" cy="350610"/>
          </a:xfrm>
          <a:prstGeom prst="rect">
            <a:avLst/>
          </a:prstGeom>
          <a:ln/>
        </p:spPr>
      </p:pic>
      <p:pic>
        <p:nvPicPr>
          <p:cNvPr id="22" name="image29.png" descr="Marketing">
            <a:extLst>
              <a:ext uri="{FF2B5EF4-FFF2-40B4-BE49-F238E27FC236}">
                <a16:creationId xmlns:a16="http://schemas.microsoft.com/office/drawing/2014/main" id="{853E19F5-8998-C240-B5F5-36C103CCFBA8}"/>
              </a:ext>
            </a:extLst>
          </p:cNvPr>
          <p:cNvPicPr/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7435" y="2467276"/>
            <a:ext cx="369295" cy="369295"/>
          </a:xfrm>
          <a:prstGeom prst="rect">
            <a:avLst/>
          </a:prstGeom>
          <a:ln/>
        </p:spPr>
      </p:pic>
      <p:pic>
        <p:nvPicPr>
          <p:cNvPr id="23" name="image30.png" descr="Shooting star">
            <a:extLst>
              <a:ext uri="{FF2B5EF4-FFF2-40B4-BE49-F238E27FC236}">
                <a16:creationId xmlns:a16="http://schemas.microsoft.com/office/drawing/2014/main" id="{E581C698-1E42-2B41-8F1E-2D36C0EA254F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78298" y="2996740"/>
            <a:ext cx="369294" cy="369294"/>
          </a:xfrm>
          <a:prstGeom prst="rect">
            <a:avLst/>
          </a:prstGeom>
          <a:ln/>
        </p:spPr>
      </p:pic>
      <p:pic>
        <p:nvPicPr>
          <p:cNvPr id="24" name="image28.png" descr="Thumbs up sign">
            <a:extLst>
              <a:ext uri="{FF2B5EF4-FFF2-40B4-BE49-F238E27FC236}">
                <a16:creationId xmlns:a16="http://schemas.microsoft.com/office/drawing/2014/main" id="{77A508B1-2828-3B44-B809-D5773F8B163F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7428" y="2979579"/>
            <a:ext cx="350610" cy="350610"/>
          </a:xfrm>
          <a:prstGeom prst="rect">
            <a:avLst/>
          </a:prstGeom>
          <a:ln/>
        </p:spPr>
      </p:pic>
      <p:pic>
        <p:nvPicPr>
          <p:cNvPr id="25" name="image29.png" descr="Marketing">
            <a:extLst>
              <a:ext uri="{FF2B5EF4-FFF2-40B4-BE49-F238E27FC236}">
                <a16:creationId xmlns:a16="http://schemas.microsoft.com/office/drawing/2014/main" id="{4D7B6886-86A5-EE42-B2B4-871EE45DA916}"/>
              </a:ext>
            </a:extLst>
          </p:cNvPr>
          <p:cNvPicPr/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7435" y="3006922"/>
            <a:ext cx="369295" cy="369295"/>
          </a:xfrm>
          <a:prstGeom prst="rect">
            <a:avLst/>
          </a:prstGeom>
          <a:ln/>
        </p:spPr>
      </p:pic>
      <p:pic>
        <p:nvPicPr>
          <p:cNvPr id="26" name="image30.png" descr="Shooting star">
            <a:extLst>
              <a:ext uri="{FF2B5EF4-FFF2-40B4-BE49-F238E27FC236}">
                <a16:creationId xmlns:a16="http://schemas.microsoft.com/office/drawing/2014/main" id="{BF804B12-F8B4-7C48-8CCA-BEC666D08CE9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78298" y="3491416"/>
            <a:ext cx="369294" cy="369294"/>
          </a:xfrm>
          <a:prstGeom prst="rect">
            <a:avLst/>
          </a:prstGeom>
          <a:ln/>
        </p:spPr>
      </p:pic>
      <p:pic>
        <p:nvPicPr>
          <p:cNvPr id="27" name="image28.png" descr="Thumbs up sign">
            <a:extLst>
              <a:ext uri="{FF2B5EF4-FFF2-40B4-BE49-F238E27FC236}">
                <a16:creationId xmlns:a16="http://schemas.microsoft.com/office/drawing/2014/main" id="{F6653001-5662-C24D-8C93-50A13BD074CF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7428" y="3474255"/>
            <a:ext cx="350610" cy="350610"/>
          </a:xfrm>
          <a:prstGeom prst="rect">
            <a:avLst/>
          </a:prstGeom>
          <a:ln/>
        </p:spPr>
      </p:pic>
      <p:pic>
        <p:nvPicPr>
          <p:cNvPr id="28" name="image29.png" descr="Marketing">
            <a:extLst>
              <a:ext uri="{FF2B5EF4-FFF2-40B4-BE49-F238E27FC236}">
                <a16:creationId xmlns:a16="http://schemas.microsoft.com/office/drawing/2014/main" id="{13903519-5D6D-744E-9C63-747461B8DC15}"/>
              </a:ext>
            </a:extLst>
          </p:cNvPr>
          <p:cNvPicPr/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7435" y="3501598"/>
            <a:ext cx="369295" cy="369295"/>
          </a:xfrm>
          <a:prstGeom prst="rect">
            <a:avLst/>
          </a:prstGeom>
          <a:ln/>
        </p:spPr>
      </p:pic>
      <p:pic>
        <p:nvPicPr>
          <p:cNvPr id="29" name="image30.png" descr="Shooting star">
            <a:extLst>
              <a:ext uri="{FF2B5EF4-FFF2-40B4-BE49-F238E27FC236}">
                <a16:creationId xmlns:a16="http://schemas.microsoft.com/office/drawing/2014/main" id="{E488AC09-BCEF-384D-B4F3-9C17C7D7105E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78298" y="4106013"/>
            <a:ext cx="369294" cy="369294"/>
          </a:xfrm>
          <a:prstGeom prst="rect">
            <a:avLst/>
          </a:prstGeom>
          <a:ln/>
        </p:spPr>
      </p:pic>
      <p:pic>
        <p:nvPicPr>
          <p:cNvPr id="30" name="image28.png" descr="Thumbs up sign">
            <a:extLst>
              <a:ext uri="{FF2B5EF4-FFF2-40B4-BE49-F238E27FC236}">
                <a16:creationId xmlns:a16="http://schemas.microsoft.com/office/drawing/2014/main" id="{920DBB9C-BCF6-E347-9E16-67C9CCECE047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7428" y="4088852"/>
            <a:ext cx="350610" cy="350610"/>
          </a:xfrm>
          <a:prstGeom prst="rect">
            <a:avLst/>
          </a:prstGeom>
          <a:ln/>
        </p:spPr>
      </p:pic>
      <p:pic>
        <p:nvPicPr>
          <p:cNvPr id="31" name="image29.png" descr="Marketing">
            <a:extLst>
              <a:ext uri="{FF2B5EF4-FFF2-40B4-BE49-F238E27FC236}">
                <a16:creationId xmlns:a16="http://schemas.microsoft.com/office/drawing/2014/main" id="{9BE51CB2-88F4-9E44-AB5C-0F7095644330}"/>
              </a:ext>
            </a:extLst>
          </p:cNvPr>
          <p:cNvPicPr/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7435" y="4116195"/>
            <a:ext cx="369295" cy="369295"/>
          </a:xfrm>
          <a:prstGeom prst="rect">
            <a:avLst/>
          </a:prstGeom>
          <a:ln/>
        </p:spPr>
      </p:pic>
      <p:pic>
        <p:nvPicPr>
          <p:cNvPr id="32" name="image30.png" descr="Shooting star">
            <a:extLst>
              <a:ext uri="{FF2B5EF4-FFF2-40B4-BE49-F238E27FC236}">
                <a16:creationId xmlns:a16="http://schemas.microsoft.com/office/drawing/2014/main" id="{46A22402-9C37-2B45-B007-A7587F97C30A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78298" y="4870512"/>
            <a:ext cx="369294" cy="369294"/>
          </a:xfrm>
          <a:prstGeom prst="rect">
            <a:avLst/>
          </a:prstGeom>
          <a:ln/>
        </p:spPr>
      </p:pic>
      <p:pic>
        <p:nvPicPr>
          <p:cNvPr id="33" name="image28.png" descr="Thumbs up sign">
            <a:extLst>
              <a:ext uri="{FF2B5EF4-FFF2-40B4-BE49-F238E27FC236}">
                <a16:creationId xmlns:a16="http://schemas.microsoft.com/office/drawing/2014/main" id="{5FF04FCF-D9D9-9944-B0A2-7D4DB23E6A10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7428" y="4853351"/>
            <a:ext cx="350610" cy="350610"/>
          </a:xfrm>
          <a:prstGeom prst="rect">
            <a:avLst/>
          </a:prstGeom>
          <a:ln/>
        </p:spPr>
      </p:pic>
      <p:pic>
        <p:nvPicPr>
          <p:cNvPr id="34" name="image29.png" descr="Marketing">
            <a:extLst>
              <a:ext uri="{FF2B5EF4-FFF2-40B4-BE49-F238E27FC236}">
                <a16:creationId xmlns:a16="http://schemas.microsoft.com/office/drawing/2014/main" id="{07A14974-E28F-E146-B774-0CC6325C985E}"/>
              </a:ext>
            </a:extLst>
          </p:cNvPr>
          <p:cNvPicPr/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7435" y="4880694"/>
            <a:ext cx="369295" cy="369295"/>
          </a:xfrm>
          <a:prstGeom prst="rect">
            <a:avLst/>
          </a:prstGeom>
          <a:ln/>
        </p:spPr>
      </p:pic>
      <p:pic>
        <p:nvPicPr>
          <p:cNvPr id="35" name="image30.png" descr="Shooting star">
            <a:extLst>
              <a:ext uri="{FF2B5EF4-FFF2-40B4-BE49-F238E27FC236}">
                <a16:creationId xmlns:a16="http://schemas.microsoft.com/office/drawing/2014/main" id="{27DF788C-EEF3-DC4F-828C-A1C4BFDDBC79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78298" y="5590039"/>
            <a:ext cx="369294" cy="369294"/>
          </a:xfrm>
          <a:prstGeom prst="rect">
            <a:avLst/>
          </a:prstGeom>
          <a:ln/>
        </p:spPr>
      </p:pic>
      <p:pic>
        <p:nvPicPr>
          <p:cNvPr id="36" name="image28.png" descr="Thumbs up sign">
            <a:extLst>
              <a:ext uri="{FF2B5EF4-FFF2-40B4-BE49-F238E27FC236}">
                <a16:creationId xmlns:a16="http://schemas.microsoft.com/office/drawing/2014/main" id="{24DF06E0-A6FC-E14F-AA3B-D90B8051C2D8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7428" y="5572878"/>
            <a:ext cx="350610" cy="350610"/>
          </a:xfrm>
          <a:prstGeom prst="rect">
            <a:avLst/>
          </a:prstGeom>
          <a:ln/>
        </p:spPr>
      </p:pic>
      <p:pic>
        <p:nvPicPr>
          <p:cNvPr id="37" name="image29.png" descr="Marketing">
            <a:extLst>
              <a:ext uri="{FF2B5EF4-FFF2-40B4-BE49-F238E27FC236}">
                <a16:creationId xmlns:a16="http://schemas.microsoft.com/office/drawing/2014/main" id="{D13112CA-3611-9A4B-8D04-4BBD96DFC38D}"/>
              </a:ext>
            </a:extLst>
          </p:cNvPr>
          <p:cNvPicPr/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7435" y="5600221"/>
            <a:ext cx="369295" cy="36929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1415</Words>
  <Application>Microsoft Office PowerPoint</Application>
  <PresentationFormat>Widescreen</PresentationFormat>
  <Paragraphs>217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Calibri</vt:lpstr>
      <vt:lpstr>Arial Black</vt:lpstr>
      <vt:lpstr>Cambria Math</vt:lpstr>
      <vt:lpstr>Arial</vt:lpstr>
      <vt:lpstr>Cambria</vt:lpstr>
      <vt:lpstr>Verdana</vt:lpstr>
      <vt:lpstr>Century Gothic</vt:lpstr>
      <vt:lpstr>1_Office Theme</vt:lpstr>
      <vt:lpstr>Geometry  Unit 13, Lesson 14  Using Coordinate Geometry to Solve Real-World Problems  Volume 2, pg. 360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26</cp:revision>
  <dcterms:created xsi:type="dcterms:W3CDTF">2015-03-17T18:51:18Z</dcterms:created>
  <dcterms:modified xsi:type="dcterms:W3CDTF">2022-06-12T01:11:24Z</dcterms:modified>
</cp:coreProperties>
</file>