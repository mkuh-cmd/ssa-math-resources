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53" r:id="rId10"/>
    <p:sldId id="368" r:id="rId11"/>
    <p:sldId id="387" r:id="rId12"/>
    <p:sldId id="388" r:id="rId13"/>
    <p:sldId id="403" r:id="rId14"/>
    <p:sldId id="394" r:id="rId15"/>
    <p:sldId id="395" r:id="rId16"/>
    <p:sldId id="396" r:id="rId17"/>
    <p:sldId id="404" r:id="rId18"/>
    <p:sldId id="405" r:id="rId19"/>
    <p:sldId id="406" r:id="rId20"/>
    <p:sldId id="407" r:id="rId21"/>
    <p:sldId id="385" r:id="rId22"/>
    <p:sldId id="386" r:id="rId23"/>
    <p:sldId id="377" r:id="rId24"/>
    <p:sldId id="378" r:id="rId25"/>
    <p:sldId id="398" r:id="rId26"/>
    <p:sldId id="399" r:id="rId27"/>
    <p:sldId id="401" r:id="rId28"/>
    <p:sldId id="306" r:id="rId29"/>
    <p:sldId id="307" r:id="rId30"/>
    <p:sldId id="408" r:id="rId31"/>
  </p:sldIdLst>
  <p:sldSz cx="12192000" cy="6858000"/>
  <p:notesSz cx="6858000" cy="9144000"/>
  <p:embeddedFontLst>
    <p:embeddedFont>
      <p:font typeface="Arial Black" panose="020B0A040201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E45088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48"/>
  </p:normalViewPr>
  <p:slideViewPr>
    <p:cSldViewPr snapToGrid="0">
      <p:cViewPr varScale="1">
        <p:scale>
          <a:sx n="82" d="100"/>
          <a:sy n="82" d="100"/>
        </p:scale>
        <p:origin x="75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78294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4343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8391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926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5884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507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614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0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8460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493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1035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0041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9314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5919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548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56173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834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tiff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tiff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1.tiff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Classifying Quadrilaterals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327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02598" y="4089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28068" y="1468853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65714" y="40896"/>
            <a:ext cx="91381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96960" y="1460584"/>
            <a:ext cx="10726964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9512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161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classify quadrilaterals based on their properties in a mathematical or real-world context. </a:t>
            </a:r>
          </a:p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draw a quadrilateral on a coordinate plane using given definitions, properties, or theorems. 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2938" y="30660"/>
            <a:ext cx="95493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13.8.1 Warm-Up: Growth Mindset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600333" y="1281536"/>
                <a:ext cx="10991334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57150" algn="l"/>
                  </a:tabLst>
                </a:pPr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Gold is worth a significant amount of money. Its value changes with the market. For example, on January 28, 2021 the value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 of gold was nearly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$2000</m:t>
                    </m:r>
                  </m:oMath>
                </a14:m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57150" algn="l"/>
                  </a:tabLst>
                </a:pPr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20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Would you rather have one cube made of solid gold measuring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</m:t>
                    </m:r>
                  </m:oMath>
                </a14:m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(m) on each side, or two cubes made of solid gold, one measuring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 on each side and one measuring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en-US" sz="2000" dirty="0"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 on each side? </a:t>
                </a: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endParaRPr lang="en-US" sz="20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571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Explain your choice.</a:t>
                </a:r>
                <a:endParaRPr lang="en-US" sz="20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33" y="1281536"/>
                <a:ext cx="10991334" cy="4708981"/>
              </a:xfrm>
              <a:prstGeom prst="rect">
                <a:avLst/>
              </a:prstGeom>
              <a:blipFill>
                <a:blip r:embed="rId4"/>
                <a:stretch>
                  <a:fillRect l="-610" t="-647" r="-1330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E6938B-D20B-DF3A-A4C7-4110E484B0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149" y="3424825"/>
            <a:ext cx="5772956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0970369A-EB23-3342-9962-B0FCD4A354C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28746" y="2850881"/>
            <a:ext cx="1156229" cy="11562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0068" y="26772"/>
            <a:ext cx="105718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13.8.2 Exploration: Classifying Quadrilaterals Using Properties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6874" y="1477264"/>
            <a:ext cx="10927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filling in the blanks using the word bank. Words may be used more than once, or they may not be used.</a:t>
            </a: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1BEDA42C-86D4-0B49-8C9E-8CF4BB86A8DD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522" y="312084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E7DFC2-7017-4843-9C5C-07536F712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96762"/>
              </p:ext>
            </p:extLst>
          </p:nvPr>
        </p:nvGraphicFramePr>
        <p:xfrm>
          <a:off x="914400" y="1558222"/>
          <a:ext cx="8862646" cy="5040000"/>
        </p:xfrm>
        <a:graphic>
          <a:graphicData uri="http://schemas.openxmlformats.org/drawingml/2006/table">
            <a:tbl>
              <a:tblPr firstRow="1" firstCol="1" bandRow="1"/>
              <a:tblGrid>
                <a:gridCol w="2673314">
                  <a:extLst>
                    <a:ext uri="{9D8B030D-6E8A-4147-A177-3AD203B41FA5}">
                      <a16:colId xmlns:a16="http://schemas.microsoft.com/office/drawing/2014/main" val="2046968141"/>
                    </a:ext>
                  </a:extLst>
                </a:gridCol>
                <a:gridCol w="6189332">
                  <a:extLst>
                    <a:ext uri="{9D8B030D-6E8A-4147-A177-3AD203B41FA5}">
                      <a16:colId xmlns:a16="http://schemas.microsoft.com/office/drawing/2014/main" val="132923886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Classification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Property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36611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Parallelogram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Opposite sides are _____________ and _______________.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42915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Parallelogram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Diagonals ____________ each other.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46504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Rectangle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Diagonals are __________________.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94369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Rhombus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Diagonals are __________________.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89172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Square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Diagonals are ________________ and ___________________.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803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Kite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Exactly one diagonal _____________ the other, and diagonals are _________________.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169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Isosceles Trapezoid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Diagonals are ________________ and </a:t>
                      </a: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at least one </a:t>
                      </a: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pair of sides are ______________.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408" marR="654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2674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AF6946-C91A-4C29-B5F4-D743B4C1D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823551"/>
              </p:ext>
            </p:extLst>
          </p:nvPr>
        </p:nvGraphicFramePr>
        <p:xfrm>
          <a:off x="2821742" y="307685"/>
          <a:ext cx="3962516" cy="1080000"/>
        </p:xfrm>
        <a:graphic>
          <a:graphicData uri="http://schemas.openxmlformats.org/drawingml/2006/table">
            <a:tbl>
              <a:tblPr firstRow="1" firstCol="1" bandRow="1"/>
              <a:tblGrid>
                <a:gridCol w="1981258">
                  <a:extLst>
                    <a:ext uri="{9D8B030D-6E8A-4147-A177-3AD203B41FA5}">
                      <a16:colId xmlns:a16="http://schemas.microsoft.com/office/drawing/2014/main" val="2776406894"/>
                    </a:ext>
                  </a:extLst>
                </a:gridCol>
                <a:gridCol w="1981258">
                  <a:extLst>
                    <a:ext uri="{9D8B030D-6E8A-4147-A177-3AD203B41FA5}">
                      <a16:colId xmlns:a16="http://schemas.microsoft.com/office/drawing/2014/main" val="138855077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Word Bank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502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bisect(s)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congruent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0531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parallel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perpendicular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79127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110875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if knowing two consecutive sides are congruent is sufficient to classify a quadrilateral. Summarize your discussion and justify your decision.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if knowing a pair of opposite sides are congruent is sufficient to classify the quadrilateral. Summarize your discussion and justify your decision.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5"/>
            <a:ext cx="11087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diagram using the different types of quadrilaterals. Each blue box is a subcategory of quadrilaterals. Each green box is a subcategory of the blue box that it is connected to.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08996F-68E5-D74F-A9D3-A094BFE62D6F}"/>
              </a:ext>
            </a:extLst>
          </p:cNvPr>
          <p:cNvGrpSpPr/>
          <p:nvPr/>
        </p:nvGrpSpPr>
        <p:grpSpPr>
          <a:xfrm>
            <a:off x="1617780" y="2097702"/>
            <a:ext cx="7821187" cy="4131978"/>
            <a:chOff x="0" y="0"/>
            <a:chExt cx="5877589" cy="3105150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BA8118F5-5F6C-F648-93F8-8EAA9D76F73D}"/>
                </a:ext>
              </a:extLst>
            </p:cNvPr>
            <p:cNvSpPr txBox="1"/>
            <p:nvPr/>
          </p:nvSpPr>
          <p:spPr>
            <a:xfrm>
              <a:off x="0" y="2540977"/>
              <a:ext cx="1710104" cy="4191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4135901-CF22-6845-949F-2DBA2871E544}"/>
                </a:ext>
              </a:extLst>
            </p:cNvPr>
            <p:cNvCxnSpPr/>
            <p:nvPr/>
          </p:nvCxnSpPr>
          <p:spPr>
            <a:xfrm>
              <a:off x="3033346" y="616927"/>
              <a:ext cx="1037444" cy="505557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7B8019-6C54-0442-8331-515C5409B17F}"/>
                </a:ext>
              </a:extLst>
            </p:cNvPr>
            <p:cNvCxnSpPr/>
            <p:nvPr/>
          </p:nvCxnSpPr>
          <p:spPr>
            <a:xfrm flipH="1">
              <a:off x="2066192" y="616927"/>
              <a:ext cx="960609" cy="1115157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88858D8-C321-2247-AFA3-58ED7508908F}"/>
                </a:ext>
              </a:extLst>
            </p:cNvPr>
            <p:cNvCxnSpPr/>
            <p:nvPr/>
          </p:nvCxnSpPr>
          <p:spPr>
            <a:xfrm>
              <a:off x="3034811" y="616927"/>
              <a:ext cx="1036027" cy="119428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E6C4202E-4B26-4A4A-B93B-196979800A3B}"/>
                </a:ext>
              </a:extLst>
            </p:cNvPr>
            <p:cNvSpPr txBox="1"/>
            <p:nvPr/>
          </p:nvSpPr>
          <p:spPr>
            <a:xfrm>
              <a:off x="1450731" y="0"/>
              <a:ext cx="3072081" cy="61253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800" b="1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Quadrilaterals</a:t>
              </a:r>
              <a:endParaRPr lang="x-none" sz="1200" dirty="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2E57278-90C9-3140-8041-C4410CC6EDFE}"/>
                </a:ext>
              </a:extLst>
            </p:cNvPr>
            <p:cNvCxnSpPr/>
            <p:nvPr/>
          </p:nvCxnSpPr>
          <p:spPr>
            <a:xfrm flipH="1">
              <a:off x="1510811" y="2154116"/>
              <a:ext cx="285652" cy="3839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4CC055-CA2C-E044-A8BE-2D48305C8D20}"/>
                </a:ext>
              </a:extLst>
            </p:cNvPr>
            <p:cNvCxnSpPr/>
            <p:nvPr/>
          </p:nvCxnSpPr>
          <p:spPr>
            <a:xfrm>
              <a:off x="1793631" y="2154116"/>
              <a:ext cx="378069" cy="38686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1EB25E10-3028-DC45-99C5-B54F22E8C910}"/>
                </a:ext>
              </a:extLst>
            </p:cNvPr>
            <p:cNvSpPr txBox="1"/>
            <p:nvPr/>
          </p:nvSpPr>
          <p:spPr>
            <a:xfrm>
              <a:off x="1011115" y="1723293"/>
              <a:ext cx="1789234" cy="419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BA1B3158-43E0-5C4C-84D9-3542F0C52317}"/>
                </a:ext>
              </a:extLst>
            </p:cNvPr>
            <p:cNvSpPr txBox="1"/>
            <p:nvPr/>
          </p:nvSpPr>
          <p:spPr>
            <a:xfrm>
              <a:off x="4070838" y="826477"/>
              <a:ext cx="1789234" cy="419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DA48BCF5-D03D-BB4B-AA3C-F9369F748726}"/>
                </a:ext>
              </a:extLst>
            </p:cNvPr>
            <p:cNvSpPr txBox="1"/>
            <p:nvPr/>
          </p:nvSpPr>
          <p:spPr>
            <a:xfrm>
              <a:off x="1899138" y="2549770"/>
              <a:ext cx="1710104" cy="4191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33">
              <a:extLst>
                <a:ext uri="{FF2B5EF4-FFF2-40B4-BE49-F238E27FC236}">
                  <a16:creationId xmlns:a16="http://schemas.microsoft.com/office/drawing/2014/main" id="{F9FA723F-E919-BA45-888C-2C33874B9077}"/>
                </a:ext>
              </a:extLst>
            </p:cNvPr>
            <p:cNvSpPr txBox="1"/>
            <p:nvPr/>
          </p:nvSpPr>
          <p:spPr>
            <a:xfrm>
              <a:off x="4167485" y="2461644"/>
              <a:ext cx="1710104" cy="643506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Isosceles Trapezoid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863B138-3275-F24F-BBE7-AF34B4DC1CBB}"/>
                </a:ext>
              </a:extLst>
            </p:cNvPr>
            <p:cNvCxnSpPr/>
            <p:nvPr/>
          </p:nvCxnSpPr>
          <p:spPr>
            <a:xfrm flipH="1">
              <a:off x="5087815" y="2029558"/>
              <a:ext cx="0" cy="43891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7380583D-3395-634E-AD70-9E68EAE1322B}"/>
                </a:ext>
              </a:extLst>
            </p:cNvPr>
            <p:cNvSpPr txBox="1"/>
            <p:nvPr/>
          </p:nvSpPr>
          <p:spPr>
            <a:xfrm>
              <a:off x="4088423" y="1608993"/>
              <a:ext cx="1788795" cy="419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5"/>
            <a:ext cx="110875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quadrilateral was not included in the diagram?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a box and any necessary arrows to include the missing quadrilateral in the diagram.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0970369A-EB23-3342-9962-B0FCD4A354C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28746" y="2850881"/>
            <a:ext cx="1156229" cy="11562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2450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264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8803" y="60325"/>
            <a:ext cx="106612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13.8.3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Classifying Quadrilaterals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85610" y="1527693"/>
                <a:ext cx="525248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𝑅𝑀𝑊𝐵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(−6, 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(−4, 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(−1, 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(−3, 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98525" indent="-4095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𝑅𝑀𝑊𝐵 on the coordinate plane.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10" y="1527693"/>
                <a:ext cx="5252482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1740" t="-2381" b="-52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1C95B6F2-6B6D-7C45-93D9-6A15C90B4F21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522" y="345637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5A2573B1-F771-8440-97C9-5CDCE95E72D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6356" y="1527693"/>
            <a:ext cx="5678576" cy="4563618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5942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378726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582BF3E-8A05-0C4E-B238-DEBAC6928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6241148"/>
                  </p:ext>
                </p:extLst>
              </p:nvPr>
            </p:nvGraphicFramePr>
            <p:xfrm>
              <a:off x="1534157" y="996629"/>
              <a:ext cx="8101146" cy="3099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17467">
                      <a:extLst>
                        <a:ext uri="{9D8B030D-6E8A-4147-A177-3AD203B41FA5}">
                          <a16:colId xmlns:a16="http://schemas.microsoft.com/office/drawing/2014/main" val="3049878021"/>
                        </a:ext>
                      </a:extLst>
                    </a:gridCol>
                    <a:gridCol w="5183679">
                      <a:extLst>
                        <a:ext uri="{9D8B030D-6E8A-4147-A177-3AD203B41FA5}">
                          <a16:colId xmlns:a16="http://schemas.microsoft.com/office/drawing/2014/main" val="18104159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855891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𝑅𝑀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8479301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81397178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𝑊𝐵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231942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𝐵𝑅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56911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582BF3E-8A05-0C4E-B238-DEBAC6928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6241148"/>
                  </p:ext>
                </p:extLst>
              </p:nvPr>
            </p:nvGraphicFramePr>
            <p:xfrm>
              <a:off x="1534157" y="996629"/>
              <a:ext cx="8101146" cy="3099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1746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049878021"/>
                        </a:ext>
                      </a:extLst>
                    </a:gridCol>
                    <a:gridCol w="51836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104159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24855891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9" t="-84762" r="-17745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98479301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9" t="-184762" r="-17745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81397178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9" t="-284762" r="-1774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9231942"/>
                      </a:ext>
                    </a:extLst>
                  </a:tr>
                  <a:tr h="639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9" t="-384762" r="-177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313" marR="813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356911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4BCCCAA-2C92-0344-B05A-01666FD1720F}"/>
              </a:ext>
            </a:extLst>
          </p:cNvPr>
          <p:cNvSpPr txBox="1"/>
          <p:nvPr/>
        </p:nvSpPr>
        <p:spPr>
          <a:xfrm>
            <a:off x="540565" y="4268953"/>
            <a:ext cx="925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side lengths of 𝑅𝑀𝑊𝐵?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9223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997503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spcAft>
                <a:spcPts val="1200"/>
              </a:spcAft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all of the classifications that apply to 𝑅𝑀𝑊𝐵.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Isosceles trapezoid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Kite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Parallelogram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Rhombus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</a:p>
          <a:p>
            <a:pPr marL="1346200" indent="-4492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Trapezoid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3BFE9A-BA59-9A4C-993F-43898D2DE1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519745"/>
                  </p:ext>
                </p:extLst>
              </p:nvPr>
            </p:nvGraphicFramePr>
            <p:xfrm>
              <a:off x="1550125" y="4341603"/>
              <a:ext cx="8216876" cy="20182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59144">
                      <a:extLst>
                        <a:ext uri="{9D8B030D-6E8A-4147-A177-3AD203B41FA5}">
                          <a16:colId xmlns:a16="http://schemas.microsoft.com/office/drawing/2014/main" val="1554412673"/>
                        </a:ext>
                      </a:extLst>
                    </a:gridCol>
                    <a:gridCol w="5257732">
                      <a:extLst>
                        <a:ext uri="{9D8B030D-6E8A-4147-A177-3AD203B41FA5}">
                          <a16:colId xmlns:a16="http://schemas.microsoft.com/office/drawing/2014/main" val="156165067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Diagonal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7225653"/>
                      </a:ext>
                    </a:extLst>
                  </a:tr>
                  <a:tr h="6491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𝑅𝑊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2674567"/>
                      </a:ext>
                    </a:extLst>
                  </a:tr>
                  <a:tr h="6491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0811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63BFE9A-BA59-9A4C-993F-43898D2DE1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519745"/>
                  </p:ext>
                </p:extLst>
              </p:nvPr>
            </p:nvGraphicFramePr>
            <p:xfrm>
              <a:off x="1550125" y="4341603"/>
              <a:ext cx="8216876" cy="20182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5914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54412673"/>
                        </a:ext>
                      </a:extLst>
                    </a:gridCol>
                    <a:gridCol w="525773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6165067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Diagonal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07225653"/>
                      </a:ext>
                    </a:extLst>
                  </a:tr>
                  <a:tr h="6491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18692" r="-1781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82674567"/>
                      </a:ext>
                    </a:extLst>
                  </a:tr>
                  <a:tr h="6491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20755" r="-178144" b="-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474" marR="82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50811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52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109833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6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diagonal lengths of 𝑅𝑀𝑊𝐵?</a:t>
            </a:r>
          </a:p>
          <a:p>
            <a:pPr marL="893763" indent="-457200">
              <a:buFont typeface="+mj-lt"/>
              <a:buAutoNum type="alphaLcPeriod" startAt="6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6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6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6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6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6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statement.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85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𝑅𝑀𝑊𝐵                         congruent diagonals, 𝑅𝑀𝑊𝐵 is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classified as a(n) __________________.</a:t>
            </a:r>
          </a:p>
          <a:p>
            <a:pPr marL="449263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62CE3829-614F-7940-87FA-EA0499266B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2465" y="3040096"/>
            <a:ext cx="2439780" cy="894749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5506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5"/>
                <a:ext cx="109833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𝑁𝑇𝐶𝑉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(2, 3)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(6, 6)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(4, 2)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8213" indent="-4889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5"/>
                <a:ext cx="10983358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888" t="-4569" b="-106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F2934EF-2FEE-B049-8928-DB598B81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3040668"/>
                  </p:ext>
                </p:extLst>
              </p:nvPr>
            </p:nvGraphicFramePr>
            <p:xfrm>
              <a:off x="1549422" y="1737211"/>
              <a:ext cx="8965646" cy="24325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72904">
                      <a:extLst>
                        <a:ext uri="{9D8B030D-6E8A-4147-A177-3AD203B41FA5}">
                          <a16:colId xmlns:a16="http://schemas.microsoft.com/office/drawing/2014/main" val="2071833291"/>
                        </a:ext>
                      </a:extLst>
                    </a:gridCol>
                    <a:gridCol w="5692742">
                      <a:extLst>
                        <a:ext uri="{9D8B030D-6E8A-4147-A177-3AD203B41FA5}">
                          <a16:colId xmlns:a16="http://schemas.microsoft.com/office/drawing/2014/main" val="259359128"/>
                        </a:ext>
                      </a:extLst>
                    </a:gridCol>
                  </a:tblGrid>
                  <a:tr h="4865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90474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4592555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𝑇𝐶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7815417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𝐶𝑉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5584735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𝑉𝑁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7209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F2934EF-2FEE-B049-8928-DB598B81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3040668"/>
                  </p:ext>
                </p:extLst>
              </p:nvPr>
            </p:nvGraphicFramePr>
            <p:xfrm>
              <a:off x="1549422" y="1737211"/>
              <a:ext cx="8965646" cy="24325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7290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71833291"/>
                        </a:ext>
                      </a:extLst>
                    </a:gridCol>
                    <a:gridCol w="569274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9359128"/>
                        </a:ext>
                      </a:extLst>
                    </a:gridCol>
                  </a:tblGrid>
                  <a:tr h="4865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590474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8750" r="-17392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94592555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11392" r="-173929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77815417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7500" r="-173929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45584735"/>
                      </a:ext>
                    </a:extLst>
                  </a:tr>
                  <a:tr h="4865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7500" r="-173929" b="-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1219" marR="912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372099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46AA90-3CB9-3B44-867B-4B974F0ACD88}"/>
              </a:ext>
            </a:extLst>
          </p:cNvPr>
          <p:cNvSpPr txBox="1"/>
          <p:nvPr/>
        </p:nvSpPr>
        <p:spPr>
          <a:xfrm>
            <a:off x="540566" y="4327874"/>
            <a:ext cx="959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8213" indent="-48895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side lengths of 𝑁𝑇𝐶𝑉?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2581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82900"/>
            <a:ext cx="8045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8213" indent="-436563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F2934EF-2FEE-B049-8928-DB598B81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847843"/>
                  </p:ext>
                </p:extLst>
              </p:nvPr>
            </p:nvGraphicFramePr>
            <p:xfrm>
              <a:off x="1671209" y="976491"/>
              <a:ext cx="8305519" cy="22534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31925">
                      <a:extLst>
                        <a:ext uri="{9D8B030D-6E8A-4147-A177-3AD203B41FA5}">
                          <a16:colId xmlns:a16="http://schemas.microsoft.com/office/drawing/2014/main" val="2071833291"/>
                        </a:ext>
                      </a:extLst>
                    </a:gridCol>
                    <a:gridCol w="5273594">
                      <a:extLst>
                        <a:ext uri="{9D8B030D-6E8A-4147-A177-3AD203B41FA5}">
                          <a16:colId xmlns:a16="http://schemas.microsoft.com/office/drawing/2014/main" val="259359128"/>
                        </a:ext>
                      </a:extLst>
                    </a:gridCol>
                  </a:tblGrid>
                  <a:tr h="4506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 </a:t>
                          </a:r>
                          <a:endParaRPr lang="x-none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90474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4592555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𝑇𝐶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7815417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𝐶𝑉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5584735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𝑉𝑁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7209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F2934EF-2FEE-B049-8928-DB598B81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847843"/>
                  </p:ext>
                </p:extLst>
              </p:nvPr>
            </p:nvGraphicFramePr>
            <p:xfrm>
              <a:off x="1671209" y="976491"/>
              <a:ext cx="8305519" cy="22534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319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71833291"/>
                        </a:ext>
                      </a:extLst>
                    </a:gridCol>
                    <a:gridCol w="527359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9359128"/>
                        </a:ext>
                      </a:extLst>
                    </a:gridCol>
                  </a:tblGrid>
                  <a:tr h="4506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 </a:t>
                          </a:r>
                          <a:endParaRPr lang="x-none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590474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5405" r="-17369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94592555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5405" r="-17369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77815417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05405" r="-17369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45584735"/>
                      </a:ext>
                    </a:extLst>
                  </a:tr>
                  <a:tr h="4506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405405" r="-173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03" marR="845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372099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46AA90-3CB9-3B44-867B-4B974F0ACD88}"/>
              </a:ext>
            </a:extLst>
          </p:cNvPr>
          <p:cNvSpPr txBox="1"/>
          <p:nvPr/>
        </p:nvSpPr>
        <p:spPr>
          <a:xfrm>
            <a:off x="540566" y="3429000"/>
            <a:ext cx="928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8213" indent="-48895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side slopes of 𝑁𝑇𝐶𝑉?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3084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5"/>
            <a:ext cx="95915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885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all of the classifications that apply to 𝑁𝑇𝐶𝑉.</a:t>
            </a:r>
          </a:p>
          <a:p>
            <a:pPr marL="50165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Isosceles trapezoid</a:t>
            </a: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Kite</a:t>
            </a: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Parallelogram</a:t>
            </a: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Rhombus</a:t>
            </a: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</a:p>
          <a:p>
            <a:pPr marL="1346200" indent="-43656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Trapezoid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9679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6694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9.png" descr="Icon&#10;&#10;Description automatically generated">
            <a:extLst>
              <a:ext uri="{FF2B5EF4-FFF2-40B4-BE49-F238E27FC236}">
                <a16:creationId xmlns:a16="http://schemas.microsoft.com/office/drawing/2014/main" id="{C2629E52-3A9F-FD44-B9E7-894793CAEE9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43856" y="284377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703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9421" y="29406"/>
            <a:ext cx="98363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13.8.4 Guided Practice: Classifying Quadrilaterals</a:t>
            </a:r>
            <a:endParaRPr lang="en-US" sz="3200" b="1" dirty="0">
              <a:solidFill>
                <a:srgbClr val="54B5D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9911" y="1447361"/>
                <a:ext cx="1079865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𝐺𝑆𝑃𝐷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(5,−4)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(0,−5)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Justify that 𝐺𝑆𝑃𝐷 is a parallelogram but not a rectangle. Show your work.</a:t>
                </a:r>
              </a:p>
              <a:p>
                <a:pPr marL="449263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indent="-436563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𝐻𝑀𝑇𝐾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 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Classify 𝐻𝑀𝑇𝐾 and justify your classification using mathematics.</a:t>
                </a:r>
              </a:p>
              <a:p>
                <a:pPr marL="449263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11" y="1447361"/>
                <a:ext cx="10798650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903" t="-14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9.png" descr="Icon&#10;&#10;Description automatically generated">
            <a:extLst>
              <a:ext uri="{FF2B5EF4-FFF2-40B4-BE49-F238E27FC236}">
                <a16:creationId xmlns:a16="http://schemas.microsoft.com/office/drawing/2014/main" id="{A7010794-A55A-ED4B-A0FE-97BBD0B6C51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5298" y="317352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1146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530097" y="378611"/>
            <a:ext cx="468901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indent="-538163">
              <a:spcAft>
                <a:spcPts val="1200"/>
              </a:spcAft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coordinate grid to complete the following.</a:t>
            </a:r>
          </a:p>
          <a:p>
            <a:pPr marL="898525" indent="-357188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a quadrilateral for which the side lengths are all equal, but the diagonals are not congruent. 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3740F22A-9E1B-3B43-B9BF-D001713130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9792" y="520392"/>
            <a:ext cx="6550284" cy="5256992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8776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A6B21-5499-A246-9AD7-1AD57E680FF3}"/>
              </a:ext>
            </a:extLst>
          </p:cNvPr>
          <p:cNvSpPr txBox="1"/>
          <p:nvPr/>
        </p:nvSpPr>
        <p:spPr>
          <a:xfrm>
            <a:off x="535290" y="462988"/>
            <a:ext cx="108760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8950" indent="409575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statement.</a:t>
            </a:r>
          </a:p>
          <a:p>
            <a:pPr marL="48895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quadrilateral is classified as a _______________. </a:t>
            </a:r>
          </a:p>
          <a:p>
            <a:pPr marL="12700"/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699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another classmate could use the coordinates of your quadrilateral to verify that your classification is correct. Summarize your discussion.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331/332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3929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9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16.png" descr="Icon&#10;&#10;Description automatically generated">
            <a:extLst>
              <a:ext uri="{FF2B5EF4-FFF2-40B4-BE49-F238E27FC236}">
                <a16:creationId xmlns:a16="http://schemas.microsoft.com/office/drawing/2014/main" id="{EE8AABB4-43C3-7749-89B0-E4F272FF3B5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3427" y="284377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4003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2553" y="2940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13.8.5 Your Turn!</a:t>
            </a:r>
            <a:endParaRPr lang="en-US" sz="4000" b="1" dirty="0">
              <a:solidFill>
                <a:srgbClr val="E24E5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44165" y="1483671"/>
                <a:ext cx="51673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𝐾𝐻𝐶𝑌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(1,  6)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(1,  1)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 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65" y="1483671"/>
                <a:ext cx="5167317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769" t="-6569" r="-3066" b="-1459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16.png" descr="Icon&#10;&#10;Description automatically generated">
            <a:extLst>
              <a:ext uri="{FF2B5EF4-FFF2-40B4-BE49-F238E27FC236}">
                <a16:creationId xmlns:a16="http://schemas.microsoft.com/office/drawing/2014/main" id="{40EE0353-BFB8-B246-A998-5A5EF7BF3706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2788" y="317350"/>
            <a:ext cx="749810" cy="74981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8FAADD0B-513B-1A4D-ACD0-BDBCD1EB41F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1008" y="1355105"/>
            <a:ext cx="5857831" cy="47012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D7459B-249F-D544-969C-EAD934308636}"/>
              </a:ext>
            </a:extLst>
          </p:cNvPr>
          <p:cNvSpPr txBox="1"/>
          <p:nvPr/>
        </p:nvSpPr>
        <p:spPr>
          <a:xfrm>
            <a:off x="544165" y="2450738"/>
            <a:ext cx="4970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895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𝐾𝐻𝐶𝑌 is classified as a __________ because … </a:t>
            </a: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8230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0096" y="359884"/>
                <a:ext cx="51532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38163" indent="-538163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quadrilateral with one set of parallel sides and vertices at 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(−4,</m:t>
                    </m:r>
                    <m:r>
                      <a:rPr lang="en-US" sz="2400" b="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</m:t>
                    </m:r>
                    <m:r>
                      <a:rPr lang="en-US" sz="2400" b="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96" y="359884"/>
                <a:ext cx="5153251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1893" t="-3101" r="-1538" b="-736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6A554CE-CC32-6441-959F-5537C87B10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4025" y="359883"/>
            <a:ext cx="5699899" cy="45746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660EA7-E967-E746-A003-6EB50E894EA7}"/>
              </a:ext>
            </a:extLst>
          </p:cNvPr>
          <p:cNvSpPr txBox="1"/>
          <p:nvPr/>
        </p:nvSpPr>
        <p:spPr>
          <a:xfrm>
            <a:off x="530096" y="2047029"/>
            <a:ext cx="5040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133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quadrilateral is classified as a ____________ because … 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0621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100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68254" y="30660"/>
            <a:ext cx="93218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13.8.6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298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36976" y="1469453"/>
                <a:ext cx="539218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34988" indent="-534988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𝑌𝑉𝑍𝑊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286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Aryana graphed 𝑌𝑉𝑍𝑊 and classified the quadrilateral as a rhombus.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6" y="1469453"/>
                <a:ext cx="5392181" cy="2308324"/>
              </a:xfrm>
              <a:prstGeom prst="rect">
                <a:avLst/>
              </a:prstGeom>
              <a:blipFill rotWithShape="1">
                <a:blip r:embed="rId4"/>
                <a:stretch>
                  <a:fillRect l="-1695" t="-2375" r="-1356" b="-50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6410236C-859E-504F-9C8A-A080509E74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6893" y="1469453"/>
            <a:ext cx="5126909" cy="4537452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1042" y="382012"/>
            <a:ext cx="102615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you agree with Aryana?</a:t>
            </a:r>
          </a:p>
          <a:p>
            <a:pPr marL="449263" indent="-449263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449263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449263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449263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449263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263" indent="-449263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Justify your answer using properties and showing your work. 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76677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1239</Words>
  <Application>Microsoft Office PowerPoint</Application>
  <PresentationFormat>Widescreen</PresentationFormat>
  <Paragraphs>250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Century Gothic</vt:lpstr>
      <vt:lpstr>Cambria</vt:lpstr>
      <vt:lpstr>Wingdings</vt:lpstr>
      <vt:lpstr>Verdana</vt:lpstr>
      <vt:lpstr>Arial Black</vt:lpstr>
      <vt:lpstr>Calibri</vt:lpstr>
      <vt:lpstr>Arial</vt:lpstr>
      <vt:lpstr>Cambria Math</vt:lpstr>
      <vt:lpstr>1_Office Theme</vt:lpstr>
      <vt:lpstr>Geometry  Unit 13, Lesson 8  Classifying Quadrilaterals – Part 1  Volume 2, pg. 327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35</cp:revision>
  <dcterms:created xsi:type="dcterms:W3CDTF">2015-03-17T18:51:18Z</dcterms:created>
  <dcterms:modified xsi:type="dcterms:W3CDTF">2023-03-03T15:10:45Z</dcterms:modified>
</cp:coreProperties>
</file>