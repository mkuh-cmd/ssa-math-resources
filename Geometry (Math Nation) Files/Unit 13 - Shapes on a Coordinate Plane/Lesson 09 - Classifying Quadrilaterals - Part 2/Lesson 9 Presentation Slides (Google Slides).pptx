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0" r:id="rId16"/>
    <p:sldId id="392" r:id="rId17"/>
    <p:sldId id="393" r:id="rId18"/>
    <p:sldId id="385" r:id="rId19"/>
    <p:sldId id="386" r:id="rId20"/>
    <p:sldId id="377" r:id="rId21"/>
    <p:sldId id="378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E45088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9"/>
    <p:restoredTop sz="94648"/>
  </p:normalViewPr>
  <p:slideViewPr>
    <p:cSldViewPr snapToGrid="0">
      <p:cViewPr varScale="1">
        <p:scale>
          <a:sx n="78" d="100"/>
          <a:sy n="78" d="100"/>
        </p:scale>
        <p:origin x="816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6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6684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1392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493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03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004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31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Classifying Quadrilaterals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599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3999" y="1609531"/>
            <a:ext cx="110059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 Use coordinate geometry to solve mathematical and real-world geometric problems involving lines, circles, triangles, and quadrilaterals.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63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13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17562" y="129667"/>
            <a:ext cx="97077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832072" y="1460584"/>
            <a:ext cx="10796077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CBDA1BA-1A31-F841-8D71-9CA2E864C51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600200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classify quadrilaterals based on their properties in a mathematical or real-world context. </a:t>
            </a: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50850">
              <a:buClr>
                <a:srgbClr val="434343"/>
              </a:buClr>
              <a:buSzPct val="100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solve geometric problems involving quadrilaterals in a mathematical or real-world context.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CE09C99-2A7A-4642-81C4-47A479DC694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7BBDB14-F43F-3F42-9C2D-99752E20A39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6" y="190955"/>
            <a:ext cx="109183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13.9.1 Warm-Up: Between Two Numbers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A0B3125-2C96-0F4C-84FA-75B6B2C6FB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514774"/>
                  </p:ext>
                </p:extLst>
              </p:nvPr>
            </p:nvGraphicFramePr>
            <p:xfrm>
              <a:off x="1140261" y="1367424"/>
              <a:ext cx="8416693" cy="5068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75903">
                      <a:extLst>
                        <a:ext uri="{9D8B030D-6E8A-4147-A177-3AD203B41FA5}">
                          <a16:colId xmlns:a16="http://schemas.microsoft.com/office/drawing/2014/main" val="997904442"/>
                        </a:ext>
                      </a:extLst>
                    </a:gridCol>
                    <a:gridCol w="2085400">
                      <a:extLst>
                        <a:ext uri="{9D8B030D-6E8A-4147-A177-3AD203B41FA5}">
                          <a16:colId xmlns:a16="http://schemas.microsoft.com/office/drawing/2014/main" val="2951384620"/>
                        </a:ext>
                      </a:extLst>
                    </a:gridCol>
                    <a:gridCol w="2455390">
                      <a:extLst>
                        <a:ext uri="{9D8B030D-6E8A-4147-A177-3AD203B41FA5}">
                          <a16:colId xmlns:a16="http://schemas.microsoft.com/office/drawing/2014/main" val="865032744"/>
                        </a:ext>
                      </a:extLst>
                    </a:gridCol>
                  </a:tblGrid>
                  <a:tr h="6758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Sigsbee Deep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Britton Hill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Panorama Tower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39095"/>
                      </a:ext>
                    </a:extLst>
                  </a:tr>
                  <a:tr h="439295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Dwight Sigsbee led the first expedition to chart the floor of the Gulf of America. The Sigsbee Deep, the deepest region of the Gulf </a:t>
                          </a: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of America, </a:t>
                          </a: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was named after him. The exact maximum depth is not known, but is estimated to be 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3,750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meters (m)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4,384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m.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Britton Hill, located in Walton County, is the highest point in the state of Florida. Britton Hill’s elevation is 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105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m.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Panorama Tower in Miami is the tallest building in Florida. It is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265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 tall. </a:t>
                          </a:r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60612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A0B3125-2C96-0F4C-84FA-75B6B2C6FB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514774"/>
                  </p:ext>
                </p:extLst>
              </p:nvPr>
            </p:nvGraphicFramePr>
            <p:xfrm>
              <a:off x="1140261" y="1367424"/>
              <a:ext cx="8416693" cy="5068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75903">
                      <a:extLst>
                        <a:ext uri="{9D8B030D-6E8A-4147-A177-3AD203B41FA5}">
                          <a16:colId xmlns:a16="http://schemas.microsoft.com/office/drawing/2014/main" val="997904442"/>
                        </a:ext>
                      </a:extLst>
                    </a:gridCol>
                    <a:gridCol w="2085400">
                      <a:extLst>
                        <a:ext uri="{9D8B030D-6E8A-4147-A177-3AD203B41FA5}">
                          <a16:colId xmlns:a16="http://schemas.microsoft.com/office/drawing/2014/main" val="2951384620"/>
                        </a:ext>
                      </a:extLst>
                    </a:gridCol>
                    <a:gridCol w="2455390">
                      <a:extLst>
                        <a:ext uri="{9D8B030D-6E8A-4147-A177-3AD203B41FA5}">
                          <a16:colId xmlns:a16="http://schemas.microsoft.com/office/drawing/2014/main" val="865032744"/>
                        </a:ext>
                      </a:extLst>
                    </a:gridCol>
                  </a:tblGrid>
                  <a:tr h="6758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Sigsbee Deep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Britton Hill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Panorama Tower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480" marR="844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39095"/>
                      </a:ext>
                    </a:extLst>
                  </a:tr>
                  <a:tr h="43929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7" t="-17198" r="-117453" b="-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6257" t="-17198" r="-118421" b="-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80" marR="844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2928" t="-17198" r="-496" b="-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60612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65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638313" y="377837"/>
                <a:ext cx="1098834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inequality using the digits 0 – 9, without repeating,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number of Britton Hills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number of Panorama Towers.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3750&lt;     </m:t>
                      </m:r>
                      <m:r>
                        <a:rPr lang="es-E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    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𝐵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+               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&lt;4384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different set of digits, without repeating.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3750&lt;    </m:t>
                      </m:r>
                      <m:r>
                        <a:rPr lang="es-E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      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𝐵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+                  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&lt;4384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13" y="377837"/>
                <a:ext cx="10988340" cy="3785652"/>
              </a:xfrm>
              <a:prstGeom prst="rect">
                <a:avLst/>
              </a:prstGeom>
              <a:blipFill>
                <a:blip r:embed="rId4"/>
                <a:stretch>
                  <a:fillRect l="-888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FD6D459-41EA-F54F-A153-BCA566EE3EE9}"/>
              </a:ext>
            </a:extLst>
          </p:cNvPr>
          <p:cNvSpPr txBox="1"/>
          <p:nvPr/>
        </p:nvSpPr>
        <p:spPr>
          <a:xfrm>
            <a:off x="888842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A5381D-4D8B-3D40-8253-B5A4DB0E3F0F}"/>
              </a:ext>
            </a:extLst>
          </p:cNvPr>
          <p:cNvGrpSpPr/>
          <p:nvPr/>
        </p:nvGrpSpPr>
        <p:grpSpPr>
          <a:xfrm>
            <a:off x="4591183" y="2320083"/>
            <a:ext cx="887095" cy="380365"/>
            <a:chOff x="0" y="0"/>
            <a:chExt cx="1256500" cy="5188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BDC207-2904-2445-AD99-C611E3F183ED}"/>
                </a:ext>
              </a:extLst>
            </p:cNvPr>
            <p:cNvSpPr/>
            <p:nvPr/>
          </p:nvSpPr>
          <p:spPr>
            <a:xfrm>
              <a:off x="0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DD48D4-70C9-7A45-9BCD-9EE18ECDD55D}"/>
                </a:ext>
              </a:extLst>
            </p:cNvPr>
            <p:cNvSpPr/>
            <p:nvPr/>
          </p:nvSpPr>
          <p:spPr>
            <a:xfrm>
              <a:off x="676195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709D7A-16C6-A540-A445-FAC10D68110B}"/>
              </a:ext>
            </a:extLst>
          </p:cNvPr>
          <p:cNvGrpSpPr/>
          <p:nvPr/>
        </p:nvGrpSpPr>
        <p:grpSpPr>
          <a:xfrm>
            <a:off x="6406921" y="2320083"/>
            <a:ext cx="887095" cy="380365"/>
            <a:chOff x="0" y="0"/>
            <a:chExt cx="1256500" cy="5188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3BCF39-9580-1149-AD13-DEAB0852890B}"/>
                </a:ext>
              </a:extLst>
            </p:cNvPr>
            <p:cNvSpPr/>
            <p:nvPr/>
          </p:nvSpPr>
          <p:spPr>
            <a:xfrm>
              <a:off x="0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1671C0-370C-0C48-A790-44EC6E87A6B0}"/>
                </a:ext>
              </a:extLst>
            </p:cNvPr>
            <p:cNvSpPr/>
            <p:nvPr/>
          </p:nvSpPr>
          <p:spPr>
            <a:xfrm>
              <a:off x="676195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4790EA-7781-A644-924F-0E2007C8E5FB}"/>
              </a:ext>
            </a:extLst>
          </p:cNvPr>
          <p:cNvGrpSpPr/>
          <p:nvPr/>
        </p:nvGrpSpPr>
        <p:grpSpPr>
          <a:xfrm>
            <a:off x="4557333" y="3783124"/>
            <a:ext cx="887095" cy="380365"/>
            <a:chOff x="0" y="0"/>
            <a:chExt cx="1256500" cy="51883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92253D-E3AA-3B4B-872C-23B92E3E1A35}"/>
                </a:ext>
              </a:extLst>
            </p:cNvPr>
            <p:cNvSpPr/>
            <p:nvPr/>
          </p:nvSpPr>
          <p:spPr>
            <a:xfrm>
              <a:off x="0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0BF579-E026-A547-896E-F618877F343E}"/>
                </a:ext>
              </a:extLst>
            </p:cNvPr>
            <p:cNvSpPr/>
            <p:nvPr/>
          </p:nvSpPr>
          <p:spPr>
            <a:xfrm>
              <a:off x="676195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A7CED3-F6F4-504A-84C2-D5A02C6E1176}"/>
              </a:ext>
            </a:extLst>
          </p:cNvPr>
          <p:cNvGrpSpPr/>
          <p:nvPr/>
        </p:nvGrpSpPr>
        <p:grpSpPr>
          <a:xfrm>
            <a:off x="6399195" y="3783124"/>
            <a:ext cx="887095" cy="380365"/>
            <a:chOff x="0" y="0"/>
            <a:chExt cx="1256500" cy="518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E26687-4280-4642-B688-68D7E5EDC7F8}"/>
                </a:ext>
              </a:extLst>
            </p:cNvPr>
            <p:cNvSpPr/>
            <p:nvPr/>
          </p:nvSpPr>
          <p:spPr>
            <a:xfrm>
              <a:off x="0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7A0B48D-ECB5-DE44-8674-2F9FA7650ADC}"/>
                </a:ext>
              </a:extLst>
            </p:cNvPr>
            <p:cNvSpPr/>
            <p:nvPr/>
          </p:nvSpPr>
          <p:spPr>
            <a:xfrm>
              <a:off x="676195" y="0"/>
              <a:ext cx="580305" cy="5188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93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4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A13319E-DA3B-3E44-8EF7-BEF50B5A8B4C}"/>
              </a:ext>
            </a:extLst>
          </p:cNvPr>
          <p:cNvSpPr txBox="1"/>
          <p:nvPr/>
        </p:nvSpPr>
        <p:spPr>
          <a:xfrm>
            <a:off x="888770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8302D50E-B969-E645-8E2B-A0DC498C63F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55181" y="285088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5" y="52100"/>
            <a:ext cx="959205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13.9.2 Collaboration: Real-World Quadrilaterals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6874" y="1519468"/>
                <a:ext cx="110312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Francesco is using computer software to design the layout of a house. The base of the house creates 𝐷𝑀𝐻𝑇 with coordinates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(−4, 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(6, 1)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(−2,−3)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93763" indent="-4413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 Show your work in the table. Leave answers in exact form.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519468"/>
                <a:ext cx="11031276" cy="2308324"/>
              </a:xfrm>
              <a:prstGeom prst="rect">
                <a:avLst/>
              </a:prstGeom>
              <a:blipFill>
                <a:blip r:embed="rId4"/>
                <a:stretch>
                  <a:fillRect l="-884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3413C27D-0588-F545-8DFB-B739BB6596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image6.png" descr="A picture containing shape&#10;&#10;Description automatically generated">
            <a:extLst>
              <a:ext uri="{FF2B5EF4-FFF2-40B4-BE49-F238E27FC236}">
                <a16:creationId xmlns:a16="http://schemas.microsoft.com/office/drawing/2014/main" id="{72D330F2-4D25-5241-BE20-53E92DDDEC8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978" y="140647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A9699B5-6480-D045-8CAF-9E1FEA3A0EE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A392FEE-7966-DC48-B51B-855116DAA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1844889"/>
                  </p:ext>
                </p:extLst>
              </p:nvPr>
            </p:nvGraphicFramePr>
            <p:xfrm>
              <a:off x="1209369" y="141895"/>
              <a:ext cx="8126360" cy="63159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6926">
                      <a:extLst>
                        <a:ext uri="{9D8B030D-6E8A-4147-A177-3AD203B41FA5}">
                          <a16:colId xmlns:a16="http://schemas.microsoft.com/office/drawing/2014/main" val="2123843726"/>
                        </a:ext>
                      </a:extLst>
                    </a:gridCol>
                    <a:gridCol w="6239434">
                      <a:extLst>
                        <a:ext uri="{9D8B030D-6E8A-4147-A177-3AD203B41FA5}">
                          <a16:colId xmlns:a16="http://schemas.microsoft.com/office/drawing/2014/main" val="4131040801"/>
                        </a:ext>
                      </a:extLst>
                    </a:gridCol>
                  </a:tblGrid>
                  <a:tr h="57982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819920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𝐷𝑀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865343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6292267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𝐻𝑇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19321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𝑇𝐷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9158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A392FEE-7966-DC48-B51B-855116DAA8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1844889"/>
                  </p:ext>
                </p:extLst>
              </p:nvPr>
            </p:nvGraphicFramePr>
            <p:xfrm>
              <a:off x="1209369" y="141895"/>
              <a:ext cx="8126360" cy="63159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6926">
                      <a:extLst>
                        <a:ext uri="{9D8B030D-6E8A-4147-A177-3AD203B41FA5}">
                          <a16:colId xmlns:a16="http://schemas.microsoft.com/office/drawing/2014/main" val="2123843726"/>
                        </a:ext>
                      </a:extLst>
                    </a:gridCol>
                    <a:gridCol w="6239434">
                      <a:extLst>
                        <a:ext uri="{9D8B030D-6E8A-4147-A177-3AD203B41FA5}">
                          <a16:colId xmlns:a16="http://schemas.microsoft.com/office/drawing/2014/main" val="4131040801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819920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48291" r="-330968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8865343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147660" r="-33096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6292267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248718" r="-330968" b="-100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193211"/>
                      </a:ext>
                    </a:extLst>
                  </a:tr>
                  <a:tr h="1426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800" marR="5280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348718" r="-330968" b="-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2800" marR="5280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9158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6"/>
            <a:ext cx="11087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 Show your work in the table. Leave answers in exact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F7F25D5-5E16-5547-8B5C-B2216FF109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392418"/>
                  </p:ext>
                </p:extLst>
              </p:nvPr>
            </p:nvGraphicFramePr>
            <p:xfrm>
              <a:off x="1534410" y="1249156"/>
              <a:ext cx="7355514" cy="529528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13913">
                      <a:extLst>
                        <a:ext uri="{9D8B030D-6E8A-4147-A177-3AD203B41FA5}">
                          <a16:colId xmlns:a16="http://schemas.microsoft.com/office/drawing/2014/main" val="579524247"/>
                        </a:ext>
                      </a:extLst>
                    </a:gridCol>
                    <a:gridCol w="5341601">
                      <a:extLst>
                        <a:ext uri="{9D8B030D-6E8A-4147-A177-3AD203B41FA5}">
                          <a16:colId xmlns:a16="http://schemas.microsoft.com/office/drawing/2014/main" val="1933665860"/>
                        </a:ext>
                      </a:extLst>
                    </a:gridCol>
                  </a:tblGrid>
                  <a:tr h="8942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1385559"/>
                      </a:ext>
                    </a:extLst>
                  </a:tr>
                  <a:tr h="22005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9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𝐷𝐻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7098025"/>
                      </a:ext>
                    </a:extLst>
                  </a:tr>
                  <a:tr h="22005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CO" sz="19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3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03006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F7F25D5-5E16-5547-8B5C-B2216FF109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392418"/>
                  </p:ext>
                </p:extLst>
              </p:nvPr>
            </p:nvGraphicFramePr>
            <p:xfrm>
              <a:off x="1534410" y="1249156"/>
              <a:ext cx="7355514" cy="529528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13913">
                      <a:extLst>
                        <a:ext uri="{9D8B030D-6E8A-4147-A177-3AD203B41FA5}">
                          <a16:colId xmlns:a16="http://schemas.microsoft.com/office/drawing/2014/main" val="579524247"/>
                        </a:ext>
                      </a:extLst>
                    </a:gridCol>
                    <a:gridCol w="5341601">
                      <a:extLst>
                        <a:ext uri="{9D8B030D-6E8A-4147-A177-3AD203B41FA5}">
                          <a16:colId xmlns:a16="http://schemas.microsoft.com/office/drawing/2014/main" val="1933665860"/>
                        </a:ext>
                      </a:extLst>
                    </a:gridCol>
                  </a:tblGrid>
                  <a:tr h="8942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Diagonal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1385559"/>
                      </a:ext>
                    </a:extLst>
                  </a:tr>
                  <a:tr h="2200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" t="-40997" r="-265559" b="-100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3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57098025"/>
                      </a:ext>
                    </a:extLst>
                  </a:tr>
                  <a:tr h="2200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" t="-140608" r="-265559" b="-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en-CO" sz="13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555" marR="735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03006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098335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Finish the statement. 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92125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𝐷𝑀𝐻𝑇 is classified as a  _____________ because ….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1 unit on the coordinate plane equals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(ft), what are the dimensions of the base of the house? Round to the nearest thousandth.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0983358" cy="3046988"/>
              </a:xfrm>
              <a:prstGeom prst="rect">
                <a:avLst/>
              </a:prstGeom>
              <a:blipFill>
                <a:blip r:embed="rId4"/>
                <a:stretch>
                  <a:fillRect l="-88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78725"/>
            <a:ext cx="10983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Jillian is determining which type of tile to place on the floor. She wants a tile in the shape of a parallelogram. The vertices of the tile options are shown.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622642-20CD-2547-8F67-61E2D38D48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779662"/>
                  </p:ext>
                </p:extLst>
              </p:nvPr>
            </p:nvGraphicFramePr>
            <p:xfrm>
              <a:off x="1316792" y="1879826"/>
              <a:ext cx="9984784" cy="14090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92392">
                      <a:extLst>
                        <a:ext uri="{9D8B030D-6E8A-4147-A177-3AD203B41FA5}">
                          <a16:colId xmlns:a16="http://schemas.microsoft.com/office/drawing/2014/main" val="577892253"/>
                        </a:ext>
                      </a:extLst>
                    </a:gridCol>
                    <a:gridCol w="4992392">
                      <a:extLst>
                        <a:ext uri="{9D8B030D-6E8A-4147-A177-3AD203B41FA5}">
                          <a16:colId xmlns:a16="http://schemas.microsoft.com/office/drawing/2014/main" val="4056004834"/>
                        </a:ext>
                      </a:extLst>
                    </a:gridCol>
                  </a:tblGrid>
                  <a:tr h="5636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A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B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2168739"/>
                      </a:ext>
                    </a:extLst>
                  </a:tr>
                  <a:tr h="8454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(−11,6.5)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(−10,3.5)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(−6,6.5)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(−7,9.5)</m:t>
                              </m:r>
                            </m:oMath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(3,9.5)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(7,6)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(9,8.5)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(5,11)</m:t>
                              </m:r>
                            </m:oMath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25520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622642-20CD-2547-8F67-61E2D38D48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779662"/>
                  </p:ext>
                </p:extLst>
              </p:nvPr>
            </p:nvGraphicFramePr>
            <p:xfrm>
              <a:off x="1316792" y="1879826"/>
              <a:ext cx="9984784" cy="14090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992392">
                      <a:extLst>
                        <a:ext uri="{9D8B030D-6E8A-4147-A177-3AD203B41FA5}">
                          <a16:colId xmlns:a16="http://schemas.microsoft.com/office/drawing/2014/main" val="577892253"/>
                        </a:ext>
                      </a:extLst>
                    </a:gridCol>
                    <a:gridCol w="4992392">
                      <a:extLst>
                        <a:ext uri="{9D8B030D-6E8A-4147-A177-3AD203B41FA5}">
                          <a16:colId xmlns:a16="http://schemas.microsoft.com/office/drawing/2014/main" val="4056004834"/>
                        </a:ext>
                      </a:extLst>
                    </a:gridCol>
                  </a:tblGrid>
                  <a:tr h="5636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A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B</a:t>
                          </a:r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5680" marR="1056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2168739"/>
                      </a:ext>
                    </a:extLst>
                  </a:tr>
                  <a:tr h="8454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680" marR="1056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" t="-67626" r="-100366" b="-7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680" marR="1056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44" t="-67626" r="-366" b="-7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25520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6195" y="1868160"/>
            <a:ext cx="110219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2125" indent="-479425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tile should Jillian pick if she wants a tile in the shape of a parallelogram?</a:t>
            </a: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479425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0" indent="-6223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your choice by listing the properties of  parallelograms that were applied.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132BA0-C862-4543-B5C4-DEE61A3D3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438617"/>
                  </p:ext>
                </p:extLst>
              </p:nvPr>
            </p:nvGraphicFramePr>
            <p:xfrm>
              <a:off x="1683995" y="406847"/>
              <a:ext cx="8090446" cy="1141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45223">
                      <a:extLst>
                        <a:ext uri="{9D8B030D-6E8A-4147-A177-3AD203B41FA5}">
                          <a16:colId xmlns:a16="http://schemas.microsoft.com/office/drawing/2014/main" val="577892253"/>
                        </a:ext>
                      </a:extLst>
                    </a:gridCol>
                    <a:gridCol w="4045223">
                      <a:extLst>
                        <a:ext uri="{9D8B030D-6E8A-4147-A177-3AD203B41FA5}">
                          <a16:colId xmlns:a16="http://schemas.microsoft.com/office/drawing/2014/main" val="4056004834"/>
                        </a:ext>
                      </a:extLst>
                    </a:gridCol>
                  </a:tblGrid>
                  <a:tr h="4566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B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2168739"/>
                      </a:ext>
                    </a:extLst>
                  </a:tr>
                  <a:tr h="6850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(−11,6.5)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(−10,3.5)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(−6,6.5)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(−7,9.5)</m:t>
                              </m:r>
                            </m:oMath>
                          </a14:m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(3,9.5)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(7,6)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(9,8.5)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(5,11)</m:t>
                              </m:r>
                            </m:oMath>
                          </a14:m>
                          <a:endParaRPr lang="en-CO" sz="15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25520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132BA0-C862-4543-B5C4-DEE61A3D3D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438617"/>
                  </p:ext>
                </p:extLst>
              </p:nvPr>
            </p:nvGraphicFramePr>
            <p:xfrm>
              <a:off x="1683995" y="406847"/>
              <a:ext cx="8090446" cy="11417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045223">
                      <a:extLst>
                        <a:ext uri="{9D8B030D-6E8A-4147-A177-3AD203B41FA5}">
                          <a16:colId xmlns:a16="http://schemas.microsoft.com/office/drawing/2014/main" val="577892253"/>
                        </a:ext>
                      </a:extLst>
                    </a:gridCol>
                    <a:gridCol w="4045223">
                      <a:extLst>
                        <a:ext uri="{9D8B030D-6E8A-4147-A177-3AD203B41FA5}">
                          <a16:colId xmlns:a16="http://schemas.microsoft.com/office/drawing/2014/main" val="4056004834"/>
                        </a:ext>
                      </a:extLst>
                    </a:gridCol>
                  </a:tblGrid>
                  <a:tr h="4566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A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Tile B</a:t>
                          </a:r>
                          <a:endParaRPr lang="en-CO" sz="15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630" marR="8563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2168739"/>
                      </a:ext>
                    </a:extLst>
                  </a:tr>
                  <a:tr h="68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5630" marR="8563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" t="-70796" r="-100301" b="-22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5630" marR="8563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51" t="-70796" r="-301" b="-221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25520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09833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35000" indent="-635000">
                  <a:buFont typeface="+mj-lt"/>
                  <a:buAutoNum type="arabicPeriod" startAt="3"/>
                </a:pP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Aharon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Shreya classified 𝑅𝑁𝑃𝐹 with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(−5,4)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Their classifications are shown.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0983358" cy="830997"/>
              </a:xfrm>
              <a:prstGeom prst="rect">
                <a:avLst/>
              </a:prstGeom>
              <a:blipFill>
                <a:blip r:embed="rId4"/>
                <a:stretch>
                  <a:fillRect l="-888" t="-6618" b="-154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FEA6E0-47C7-A746-B211-02819778B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71824"/>
                  </p:ext>
                </p:extLst>
              </p:nvPr>
            </p:nvGraphicFramePr>
            <p:xfrm>
              <a:off x="1754074" y="1346774"/>
              <a:ext cx="8683852" cy="23193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41926">
                      <a:extLst>
                        <a:ext uri="{9D8B030D-6E8A-4147-A177-3AD203B41FA5}">
                          <a16:colId xmlns:a16="http://schemas.microsoft.com/office/drawing/2014/main" val="137928379"/>
                        </a:ext>
                      </a:extLst>
                    </a:gridCol>
                    <a:gridCol w="4341926">
                      <a:extLst>
                        <a:ext uri="{9D8B030D-6E8A-4147-A177-3AD203B41FA5}">
                          <a16:colId xmlns:a16="http://schemas.microsoft.com/office/drawing/2014/main" val="1598407118"/>
                        </a:ext>
                      </a:extLst>
                    </a:gridCol>
                  </a:tblGrid>
                  <a:tr h="57983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Aharon’s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Classification</a:t>
                          </a:r>
                          <a:endParaRPr lang="en-CO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Shreya’s Classification</a:t>
                          </a:r>
                          <a:endParaRPr lang="en-CO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9412279"/>
                      </a:ext>
                    </a:extLst>
                  </a:tr>
                  <a:tr h="173949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𝑅𝑁𝑃𝐹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is a square or rectangle because the diagonals are congruent. </a:t>
                          </a:r>
                          <a:endParaRPr lang="en-CO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Quadrilateral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𝑅𝑁𝑃𝐹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has congruent diagonals but cannot be classified as a parallelogram. </a:t>
                          </a:r>
                          <a:endParaRPr lang="en-CO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493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FEA6E0-47C7-A746-B211-02819778B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871824"/>
                  </p:ext>
                </p:extLst>
              </p:nvPr>
            </p:nvGraphicFramePr>
            <p:xfrm>
              <a:off x="1754074" y="1346774"/>
              <a:ext cx="8683852" cy="231932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341926">
                      <a:extLst>
                        <a:ext uri="{9D8B030D-6E8A-4147-A177-3AD203B41FA5}">
                          <a16:colId xmlns:a16="http://schemas.microsoft.com/office/drawing/2014/main" val="137928379"/>
                        </a:ext>
                      </a:extLst>
                    </a:gridCol>
                    <a:gridCol w="4341926">
                      <a:extLst>
                        <a:ext uri="{9D8B030D-6E8A-4147-A177-3AD203B41FA5}">
                          <a16:colId xmlns:a16="http://schemas.microsoft.com/office/drawing/2014/main" val="1598407118"/>
                        </a:ext>
                      </a:extLst>
                    </a:gridCol>
                  </a:tblGrid>
                  <a:tr h="57983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Aharon’s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 Classification</a:t>
                          </a:r>
                          <a:endParaRPr lang="en-CO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Shreya’s Classification</a:t>
                          </a:r>
                          <a:endParaRPr lang="en-CO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7168" marR="871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9412279"/>
                      </a:ext>
                    </a:extLst>
                  </a:tr>
                  <a:tr h="17394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168" marR="8716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0" t="-33916" r="-100281" b="-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168" marR="8716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40" t="-33916" r="-281" b="-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93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812FA7-9733-4776-A86B-E0D8506C388C}"/>
              </a:ext>
            </a:extLst>
          </p:cNvPr>
          <p:cNvSpPr txBox="1"/>
          <p:nvPr/>
        </p:nvSpPr>
        <p:spPr>
          <a:xfrm>
            <a:off x="436340" y="3851581"/>
            <a:ext cx="103447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Whose classification do you agree with? Justify your answer using properties. 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note to the person whose classification is incorrect, explaining their mistake. </a:t>
            </a:r>
          </a:p>
        </p:txBody>
      </p:sp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108758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𝐾𝑉𝑆𝑊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(10,−4)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(9,−8)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Show mathematically that 𝐾𝑉𝑆𝑊 is a trapezoid, but not an isosceles trapezoid.</a:t>
                </a:r>
              </a:p>
              <a:p>
                <a:pPr marL="944563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44563" indent="-4524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List the properties of an isosceles trapezoid that did not apply to 𝐾𝑉𝑆𝑊.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1087584" cy="4154984"/>
              </a:xfrm>
              <a:prstGeom prst="rect">
                <a:avLst/>
              </a:prstGeom>
              <a:blipFill>
                <a:blip r:embed="rId4"/>
                <a:stretch>
                  <a:fillRect l="-880" t="-1320" r="-1539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257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86950"/>
                <a:ext cx="1108758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Ariyon was graphing square 𝑀𝐺𝑁𝑅, but mixed up her vertices. She knows that point 𝑀 has coordinates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(3, 5)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point 𝐺 has coordinates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(7, 7)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Her two options for points 𝑁 and 𝑅 are shown.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86950"/>
                <a:ext cx="11087584" cy="1200329"/>
              </a:xfrm>
              <a:prstGeom prst="rect">
                <a:avLst/>
              </a:prstGeom>
              <a:blipFill>
                <a:blip r:embed="rId4"/>
                <a:stretch>
                  <a:fillRect l="-880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759B4DC-D5E6-164C-BE9C-4DFBE95C44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1083468"/>
                  </p:ext>
                </p:extLst>
              </p:nvPr>
            </p:nvGraphicFramePr>
            <p:xfrm>
              <a:off x="1226797" y="1809474"/>
              <a:ext cx="9474158" cy="13370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737079">
                      <a:extLst>
                        <a:ext uri="{9D8B030D-6E8A-4147-A177-3AD203B41FA5}">
                          <a16:colId xmlns:a16="http://schemas.microsoft.com/office/drawing/2014/main" val="3780256984"/>
                        </a:ext>
                      </a:extLst>
                    </a:gridCol>
                    <a:gridCol w="4737079">
                      <a:extLst>
                        <a:ext uri="{9D8B030D-6E8A-4147-A177-3AD203B41FA5}">
                          <a16:colId xmlns:a16="http://schemas.microsoft.com/office/drawing/2014/main" val="1696296309"/>
                        </a:ext>
                      </a:extLst>
                    </a:gridCol>
                  </a:tblGrid>
                  <a:tr h="53480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𝑵</m:t>
                              </m:r>
                            </m:oMath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𝑹</m:t>
                              </m:r>
                            </m:oMath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703797"/>
                      </a:ext>
                    </a:extLst>
                  </a:tr>
                  <a:tr h="4011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(8,3)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(5,1)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0350236"/>
                      </a:ext>
                    </a:extLst>
                  </a:tr>
                  <a:tr h="4011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(9,3)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(4,1)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12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759B4DC-D5E6-164C-BE9C-4DFBE95C44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1083468"/>
                  </p:ext>
                </p:extLst>
              </p:nvPr>
            </p:nvGraphicFramePr>
            <p:xfrm>
              <a:off x="1226797" y="1809474"/>
              <a:ext cx="9474158" cy="13370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737079">
                      <a:extLst>
                        <a:ext uri="{9D8B030D-6E8A-4147-A177-3AD203B41FA5}">
                          <a16:colId xmlns:a16="http://schemas.microsoft.com/office/drawing/2014/main" val="3780256984"/>
                        </a:ext>
                      </a:extLst>
                    </a:gridCol>
                    <a:gridCol w="4737079">
                      <a:extLst>
                        <a:ext uri="{9D8B030D-6E8A-4147-A177-3AD203B41FA5}">
                          <a16:colId xmlns:a16="http://schemas.microsoft.com/office/drawing/2014/main" val="1696296309"/>
                        </a:ext>
                      </a:extLst>
                    </a:gridCol>
                  </a:tblGrid>
                  <a:tr h="5348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9" t="-2273" r="-100129" b="-173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57" t="-2273" r="-257" b="-1738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703797"/>
                      </a:ext>
                    </a:extLst>
                  </a:tr>
                  <a:tr h="4011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9" t="-134328" r="-100129" b="-128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57" t="-134328" r="-257" b="-128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350236"/>
                      </a:ext>
                    </a:extLst>
                  </a:tr>
                  <a:tr h="4011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9" t="-237879" r="-100129" b="-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275" marR="10027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257" t="-237879" r="-257" b="-3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122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041B46-8E1D-46E5-BCD1-8D47F788DDE5}"/>
              </a:ext>
            </a:extLst>
          </p:cNvPr>
          <p:cNvSpPr txBox="1"/>
          <p:nvPr/>
        </p:nvSpPr>
        <p:spPr>
          <a:xfrm>
            <a:off x="606195" y="3539366"/>
            <a:ext cx="109177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coordinates are correct for points 𝑁 and 𝑅? Justify your answer or show your work.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properties of a square did you use to determine the correct points 𝑁 and 𝑅? </a:t>
            </a:r>
          </a:p>
        </p:txBody>
      </p:sp>
    </p:spTree>
    <p:extLst>
      <p:ext uri="{BB962C8B-B14F-4D97-AF65-F5344CB8AC3E}">
        <p14:creationId xmlns:p14="http://schemas.microsoft.com/office/powerpoint/2010/main" val="1018175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22969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6.png" descr="Icon&#10;&#10;Description automatically generated">
            <a:extLst>
              <a:ext uri="{FF2B5EF4-FFF2-40B4-BE49-F238E27FC236}">
                <a16:creationId xmlns:a16="http://schemas.microsoft.com/office/drawing/2014/main" id="{3A49B76B-F42D-9A40-9FD4-524A0296BD9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37408" y="2857498"/>
            <a:ext cx="1142995" cy="114299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03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47956" y="-1476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13.9.3 Your Turn!</a:t>
            </a:r>
            <a:endParaRPr lang="en-US" sz="4000" b="1" dirty="0">
              <a:solidFill>
                <a:srgbClr val="E24E5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57523" y="1256446"/>
                <a:ext cx="108664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𝑆𝐶𝑊𝐾 has vertices 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(0,−10)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(−3,−8)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2438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𝑆𝐶𝑊𝐾 is classified as a(n) _______________________ because …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23" y="1256446"/>
                <a:ext cx="10866401" cy="1200329"/>
              </a:xfrm>
              <a:prstGeom prst="rect">
                <a:avLst/>
              </a:prstGeom>
              <a:blipFill>
                <a:blip r:embed="rId4"/>
                <a:stretch>
                  <a:fillRect l="-898" t="-4569" r="-1403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16.png" descr="Icon&#10;&#10;Description automatically generated">
            <a:extLst>
              <a:ext uri="{FF2B5EF4-FFF2-40B4-BE49-F238E27FC236}">
                <a16:creationId xmlns:a16="http://schemas.microsoft.com/office/drawing/2014/main" id="{086FE2DC-D34D-1E49-A114-EA8514EFEE6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8745" y="134725"/>
            <a:ext cx="749810" cy="7498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146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1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670774" y="398227"/>
            <a:ext cx="10853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indent="-538163">
              <a:buFont typeface="+mj-lt"/>
              <a:buAutoNum type="arabicPeriod" startAt="2"/>
            </a:pPr>
            <a:r>
              <a:rPr lang="en-US" sz="24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Ziquan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designing a template for his 3D printer. He created two quadrilaterals using his software.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7D77E98-EE3E-A140-9FB3-6F4084A71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0076904"/>
                  </p:ext>
                </p:extLst>
              </p:nvPr>
            </p:nvGraphicFramePr>
            <p:xfrm>
              <a:off x="1348434" y="1490465"/>
              <a:ext cx="9495132" cy="1473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747566">
                      <a:extLst>
                        <a:ext uri="{9D8B030D-6E8A-4147-A177-3AD203B41FA5}">
                          <a16:colId xmlns:a16="http://schemas.microsoft.com/office/drawing/2014/main" val="3628345460"/>
                        </a:ext>
                      </a:extLst>
                    </a:gridCol>
                    <a:gridCol w="4747566">
                      <a:extLst>
                        <a:ext uri="{9D8B030D-6E8A-4147-A177-3AD203B41FA5}">
                          <a16:colId xmlns:a16="http://schemas.microsoft.com/office/drawing/2014/main" val="889948524"/>
                        </a:ext>
                      </a:extLst>
                    </a:gridCol>
                  </a:tblGrid>
                  <a:tr h="66998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𝑻𝑮𝑯𝑵</m:t>
                                </m:r>
                              </m:oMath>
                            </m:oMathPara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497" marR="10049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𝑴𝑾𝑹𝑩</m:t>
                                </m:r>
                              </m:oMath>
                            </m:oMathPara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497" marR="10049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304332"/>
                      </a:ext>
                    </a:extLst>
                  </a:tr>
                  <a:tr h="80397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(16, 6)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𝐺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(18, 4)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(17,−2)</m:t>
                              </m:r>
                            </m:oMath>
                          </a14:m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(14, 4)</m:t>
                              </m:r>
                            </m:oMath>
                          </a14:m>
                          <a:endParaRPr lang="en-CO" sz="16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497" marR="10049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(4, 5)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𝑊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(7, 4)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𝑅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(8,−3)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𝐵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(3, 2)</m:t>
                              </m:r>
                            </m:oMath>
                          </a14:m>
                          <a:endParaRPr lang="en-CO" sz="16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00497" marR="10049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683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7D77E98-EE3E-A140-9FB3-6F4084A71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0076904"/>
                  </p:ext>
                </p:extLst>
              </p:nvPr>
            </p:nvGraphicFramePr>
            <p:xfrm>
              <a:off x="1348434" y="1490465"/>
              <a:ext cx="9495132" cy="1473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747566">
                      <a:extLst>
                        <a:ext uri="{9D8B030D-6E8A-4147-A177-3AD203B41FA5}">
                          <a16:colId xmlns:a16="http://schemas.microsoft.com/office/drawing/2014/main" val="3628345460"/>
                        </a:ext>
                      </a:extLst>
                    </a:gridCol>
                    <a:gridCol w="4747566">
                      <a:extLst>
                        <a:ext uri="{9D8B030D-6E8A-4147-A177-3AD203B41FA5}">
                          <a16:colId xmlns:a16="http://schemas.microsoft.com/office/drawing/2014/main" val="889948524"/>
                        </a:ext>
                      </a:extLst>
                    </a:gridCol>
                  </a:tblGrid>
                  <a:tr h="6699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497" marR="10049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8" t="-909" r="-100257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497" marR="10049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28" t="-909" r="-257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304332"/>
                      </a:ext>
                    </a:extLst>
                  </a:tr>
                  <a:tr h="8039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497" marR="10049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8" t="-83459" r="-100257" b="-127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497" marR="10049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128" t="-83459" r="-257" b="-127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6831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FAE5163-2305-8B4A-83F5-956454FCD05D}"/>
              </a:ext>
            </a:extLst>
          </p:cNvPr>
          <p:cNvSpPr txBox="1"/>
          <p:nvPr/>
        </p:nvSpPr>
        <p:spPr>
          <a:xfrm>
            <a:off x="670773" y="3350433"/>
            <a:ext cx="10626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350838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quadrilateral can be classified as a kite?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2438776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5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7A6B21-5499-A246-9AD7-1AD57E680FF3}"/>
                  </a:ext>
                </a:extLst>
              </p:cNvPr>
              <p:cNvSpPr txBox="1"/>
              <p:nvPr/>
            </p:nvSpPr>
            <p:spPr>
              <a:xfrm>
                <a:off x="672268" y="471214"/>
                <a:ext cx="1095588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99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List the properties of a kite that you used.</a:t>
                </a: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99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9575" indent="-396875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1 unit on the coordinate plane equals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inches (in), what are the measurements of the sides of the kite? Round to the nearest thousandth.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7A6B21-5499-A246-9AD7-1AD57E680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68" y="471214"/>
                <a:ext cx="10955881" cy="4154984"/>
              </a:xfrm>
              <a:prstGeom prst="rect">
                <a:avLst/>
              </a:prstGeom>
              <a:blipFill>
                <a:blip r:embed="rId4"/>
                <a:stretch>
                  <a:fillRect l="-723" t="-1173" r="-1057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92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1846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13.9.4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198181"/>
            <a:ext cx="110349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an </a:t>
            </a:r>
            <a:r>
              <a:rPr lang="en-US" sz="24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line in relation to how you feel about today’s learning target.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1200" indent="-349250">
              <a:buFont typeface="Wingdings" pitchFamily="2" charset="2"/>
              <a:buChar char="q"/>
              <a:tabLst>
                <a:tab pos="349250" algn="l"/>
              </a:tabLst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use coordinate geometry to classify quadrilaterals based on their properties in a mathematical or real-world context.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D89B4A-EBDE-7C48-888C-B1459C934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65471"/>
              </p:ext>
            </p:extLst>
          </p:nvPr>
        </p:nvGraphicFramePr>
        <p:xfrm>
          <a:off x="1177258" y="3995300"/>
          <a:ext cx="9810289" cy="1402372"/>
        </p:xfrm>
        <a:graphic>
          <a:graphicData uri="http://schemas.openxmlformats.org/drawingml/2006/table">
            <a:tbl>
              <a:tblPr firstRow="1" firstCol="1" bandRow="1"/>
              <a:tblGrid>
                <a:gridCol w="2761428">
                  <a:extLst>
                    <a:ext uri="{9D8B030D-6E8A-4147-A177-3AD203B41FA5}">
                      <a16:colId xmlns:a16="http://schemas.microsoft.com/office/drawing/2014/main" val="2737133234"/>
                    </a:ext>
                  </a:extLst>
                </a:gridCol>
                <a:gridCol w="3877731">
                  <a:extLst>
                    <a:ext uri="{9D8B030D-6E8A-4147-A177-3AD203B41FA5}">
                      <a16:colId xmlns:a16="http://schemas.microsoft.com/office/drawing/2014/main" val="2345619369"/>
                    </a:ext>
                  </a:extLst>
                </a:gridCol>
                <a:gridCol w="3171130">
                  <a:extLst>
                    <a:ext uri="{9D8B030D-6E8A-4147-A177-3AD203B41FA5}">
                      <a16:colId xmlns:a16="http://schemas.microsoft.com/office/drawing/2014/main" val="3729008741"/>
                    </a:ext>
                  </a:extLst>
                </a:gridCol>
              </a:tblGrid>
              <a:tr h="8085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I need help. 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</a:b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I can’t get started. </a:t>
                      </a:r>
                      <a:endParaRPr lang="en-CO" sz="17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462" marR="9746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7145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I’m getting there.</a:t>
                      </a:r>
                      <a:endParaRPr lang="en-CO" sz="17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462" marR="9746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I understand and have evidence. </a:t>
                      </a:r>
                      <a:endParaRPr lang="en-CO" sz="17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462" marR="97462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811959"/>
                  </a:ext>
                </a:extLst>
              </a:tr>
              <a:tr h="593797">
                <a:tc gridSpan="3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 </a:t>
                      </a:r>
                      <a:endParaRPr lang="en-CO" sz="17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9950" marR="129950" marT="64975" marB="649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99997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E8812E-CEAD-AE47-840B-C8AF1D1310E5}"/>
              </a:ext>
            </a:extLst>
          </p:cNvPr>
          <p:cNvCxnSpPr>
            <a:cxnSpLocks/>
          </p:cNvCxnSpPr>
          <p:nvPr/>
        </p:nvCxnSpPr>
        <p:spPr>
          <a:xfrm>
            <a:off x="1364899" y="4788626"/>
            <a:ext cx="9276955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1312</Words>
  <Application>Microsoft Office PowerPoint</Application>
  <PresentationFormat>Widescreen</PresentationFormat>
  <Paragraphs>187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 Black</vt:lpstr>
      <vt:lpstr>Verdana</vt:lpstr>
      <vt:lpstr>Cambria</vt:lpstr>
      <vt:lpstr>Century Gothic</vt:lpstr>
      <vt:lpstr>Arial</vt:lpstr>
      <vt:lpstr>Wingdings</vt:lpstr>
      <vt:lpstr>Calibri</vt:lpstr>
      <vt:lpstr>Cambria Math</vt:lpstr>
      <vt:lpstr>1_Office Theme</vt:lpstr>
      <vt:lpstr>Geometry  Unit 13, Lesson 9  Classifying Quadrilaterals – Part 2  Volume 2, pg. 334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Mark  Prendergast</cp:lastModifiedBy>
  <cp:revision>29</cp:revision>
  <dcterms:created xsi:type="dcterms:W3CDTF">2015-03-17T18:51:18Z</dcterms:created>
  <dcterms:modified xsi:type="dcterms:W3CDTF">2026-02-17T13:53:27Z</dcterms:modified>
</cp:coreProperties>
</file>