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32" r:id="rId11"/>
    <p:sldId id="342" r:id="rId12"/>
    <p:sldId id="343" r:id="rId13"/>
    <p:sldId id="344" r:id="rId14"/>
    <p:sldId id="351" r:id="rId15"/>
    <p:sldId id="345" r:id="rId16"/>
    <p:sldId id="346" r:id="rId17"/>
    <p:sldId id="347" r:id="rId18"/>
    <p:sldId id="348" r:id="rId19"/>
    <p:sldId id="349" r:id="rId20"/>
    <p:sldId id="350" r:id="rId21"/>
    <p:sldId id="302" r:id="rId22"/>
    <p:sldId id="303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04"/>
    <p:restoredTop sz="94695"/>
  </p:normalViewPr>
  <p:slideViewPr>
    <p:cSldViewPr snapToGrid="0">
      <p:cViewPr varScale="1">
        <p:scale>
          <a:sx n="77" d="100"/>
          <a:sy n="77" d="100"/>
        </p:scale>
        <p:origin x="59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953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8880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397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5374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1521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74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068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1484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1434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80357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0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H1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Law of Sines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427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36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MA.912.T.1.3 </a:t>
            </a:r>
          </a:p>
          <a:p>
            <a:pPr marL="46990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the Law of Sines and the Law of Cosines to solve mathematical and real-world problems involving triangles.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791"/>
            <a:ext cx="844650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268" y="1600324"/>
            <a:ext cx="111568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solve mathematical and real-world problems involving triangles using the Law of Sines.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7" y="-28039"/>
            <a:ext cx="1006612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7.H1.1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0516" y="1386150"/>
            <a:ext cx="10973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 theodolite is an instrument used for measuring angles between designated visible points on the horizontal and vertical planes. Theodolites are often used for land surveying.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593912"/>
              </p:ext>
            </p:extLst>
          </p:nvPr>
        </p:nvGraphicFramePr>
        <p:xfrm>
          <a:off x="738948" y="2949571"/>
          <a:ext cx="7804096" cy="3346450"/>
        </p:xfrm>
        <a:graphic>
          <a:graphicData uri="http://schemas.openxmlformats.org/drawingml/2006/table">
            <a:tbl>
              <a:tblPr firstRow="1" firstCol="1" bandRow="1"/>
              <a:tblGrid>
                <a:gridCol w="4123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Late 16</a:t>
                      </a:r>
                      <a:r>
                        <a:rPr lang="en-US" sz="2000" b="1" baseline="30000" dirty="0">
                          <a:effectLst/>
                          <a:latin typeface="Verdana" charset="0"/>
                        </a:rPr>
                        <a:t>th</a:t>
                      </a:r>
                      <a:r>
                        <a:rPr lang="en-US" sz="2000" b="1" dirty="0">
                          <a:effectLst/>
                          <a:latin typeface="Verdana" charset="0"/>
                        </a:rPr>
                        <a:t> century Theodolite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Modern Day Theodolite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85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6" name="Picture 10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7826" y="3707364"/>
            <a:ext cx="3479800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2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880" y="3707364"/>
            <a:ext cx="2806700" cy="245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2702" y="520518"/>
            <a:ext cx="791226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notice? 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wonder?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001" y="61987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99038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7.H1.2 Collaboration: Deriving the Formula for Law of Sines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76775" y="645580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50515" y="1386150"/>
                <a:ext cx="1106448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Right triangle trigonometry can be used to solve problems involving right triangles, but not all triangles are right triangles. If a triangle is not a right triangle, the triangle’s altitude can be used to create a right triangle so that right triangle trigonometry can be used.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5" y="1386150"/>
                <a:ext cx="11064485" cy="1938992"/>
              </a:xfrm>
              <a:prstGeom prst="rect">
                <a:avLst/>
              </a:prstGeom>
              <a:blipFill>
                <a:blip r:embed="rId5"/>
                <a:stretch>
                  <a:fillRect l="-551" t="-1572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2534" y="3730908"/>
            <a:ext cx="44831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9"/>
                <a:ext cx="11026091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62013" indent="-4556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do the following.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1270000" indent="-503238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Sketch an altitude from vertex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1270000" indent="-503238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altitude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altitude creates two right triangles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𝐴𝐵𝐶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Notice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contained in one of the right triangles,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contained in the other.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3925" indent="-4540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equation using right triangle trigonometry.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9"/>
                <a:ext cx="11026091" cy="3785652"/>
              </a:xfrm>
              <a:prstGeom prst="rect">
                <a:avLst/>
              </a:prstGeom>
              <a:blipFill>
                <a:blip r:embed="rId4"/>
                <a:stretch>
                  <a:fillRect l="-608" t="-1127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5152120"/>
                  </p:ext>
                </p:extLst>
              </p:nvPr>
            </p:nvGraphicFramePr>
            <p:xfrm>
              <a:off x="1219353" y="4699169"/>
              <a:ext cx="6943090" cy="304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sin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sin</m:t>
                                </m:r>
                                <m:r>
                                  <a:rPr lang="en-US" sz="200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5152120"/>
                  </p:ext>
                </p:extLst>
              </p:nvPr>
            </p:nvGraphicFramePr>
            <p:xfrm>
              <a:off x="1219353" y="4699169"/>
              <a:ext cx="6943090" cy="304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99825" b="-98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176" b="-9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2702" y="528618"/>
                <a:ext cx="1071544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why both equations 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discussion.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Solve each equation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Set the equations equal to each other to form a new equation.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the new equation by regrouping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sin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sin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02" y="528618"/>
                <a:ext cx="10715448" cy="4401205"/>
              </a:xfrm>
              <a:prstGeom prst="rect">
                <a:avLst/>
              </a:prstGeom>
              <a:blipFill>
                <a:blip r:embed="rId4"/>
                <a:stretch>
                  <a:fillRect l="-626" t="-970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64570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7"/>
                <a:ext cx="11130317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do the following.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1206500" indent="-328613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Sketch an altitude from vertex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1206500" indent="-328613">
                  <a:buFont typeface="Arial" charset="0"/>
                  <a:buChar char="•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206500" indent="-328613">
                  <a:buFont typeface="Arial" charset="0"/>
                  <a:buChar char="•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the altitude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7"/>
                <a:ext cx="11130317" cy="5940088"/>
              </a:xfrm>
              <a:prstGeom prst="rect">
                <a:avLst/>
              </a:prstGeom>
              <a:blipFill>
                <a:blip r:embed="rId4"/>
                <a:stretch>
                  <a:fillRect l="-548" t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301" y="1278882"/>
            <a:ext cx="4394200" cy="267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223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408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586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429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8"/>
                <a:ext cx="11002028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altitude creates two right triangles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𝐴𝐵𝐶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Notice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contained in one of the right triangles,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contained in the other.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3925" indent="-4540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equation using right triangle trigonometry.</a:t>
                </a:r>
              </a:p>
              <a:p>
                <a:pPr marL="9239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Solve each equation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8"/>
                <a:ext cx="11002028" cy="3785652"/>
              </a:xfrm>
              <a:prstGeom prst="rect">
                <a:avLst/>
              </a:prstGeom>
              <a:blipFill>
                <a:blip r:embed="rId4"/>
                <a:stretch>
                  <a:fillRect l="-610" t="-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9142783"/>
                  </p:ext>
                </p:extLst>
              </p:nvPr>
            </p:nvGraphicFramePr>
            <p:xfrm>
              <a:off x="692139" y="2197091"/>
              <a:ext cx="6943090" cy="4325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25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𝑠𝑖𝑛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𝑠𝑖𝑛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9142783"/>
                  </p:ext>
                </p:extLst>
              </p:nvPr>
            </p:nvGraphicFramePr>
            <p:xfrm>
              <a:off x="692139" y="2197091"/>
              <a:ext cx="6943090" cy="43250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325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1388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63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34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2702" y="520518"/>
                <a:ext cx="1061122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Set the equations equal to each other to form a new equation.</a:t>
                </a: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Re-write the new equation by regrouping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𝑠𝑖𝑛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𝑠𝑖𝑛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02" y="520518"/>
                <a:ext cx="10611222" cy="2554545"/>
              </a:xfrm>
              <a:prstGeom prst="rect">
                <a:avLst/>
              </a:prstGeom>
              <a:blipFill>
                <a:blip r:embed="rId4"/>
                <a:stretch>
                  <a:fillRect l="-632" t="-1432" b="-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4"/>
              <p:cNvSpPr txBox="1"/>
              <p:nvPr/>
            </p:nvSpPr>
            <p:spPr>
              <a:xfrm>
                <a:off x="1241862" y="3424949"/>
                <a:ext cx="6629400" cy="1937798"/>
              </a:xfrm>
              <a:prstGeom prst="roundRect">
                <a:avLst/>
              </a:prstGeom>
              <a:solidFill>
                <a:srgbClr val="BAE6F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	The </a:t>
                </a:r>
                <a:r>
                  <a:rPr lang="en-US" sz="2000" b="1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Law of Sines</a:t>
                </a:r>
                <a:r>
                  <a:rPr lang="en-US" sz="2000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𝐴</m:t>
                            </m:r>
                          </m:e>
                        </m:func>
                      </m:num>
                      <m:den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</m:den>
                    </m:f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𝐵</m:t>
                            </m:r>
                          </m:e>
                        </m:func>
                      </m:num>
                      <m:den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den>
                    </m:f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0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𝐶</m:t>
                            </m:r>
                          </m:e>
                        </m:func>
                      </m:num>
                      <m:den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𝑐</m:t>
                        </m:r>
                      </m:den>
                    </m:f>
                  </m:oMath>
                </a14:m>
                <a:endParaRPr lang="en-US" sz="2000" dirty="0">
                  <a:solidFill>
                    <a:srgbClr val="0070C0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	The Law of Sines may also be written as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𝑎</m:t>
                          </m:r>
                        </m:num>
                        <m:den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𝐴</m:t>
                              </m:r>
                            </m:e>
                          </m:func>
                        </m:den>
                      </m:f>
                      <m:r>
                        <a:rPr 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  <m:r>
                        <a:rPr lang="en-US" sz="20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Verdana" charset="0"/>
                              <a:cs typeface="Verdana" charset="0"/>
                            </a:rPr>
                            <m:t>𝑐</m:t>
                          </m:r>
                        </m:num>
                        <m:den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𝐶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862" y="3424949"/>
                <a:ext cx="6629400" cy="193779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9450" y="3633675"/>
            <a:ext cx="518433" cy="50678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682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430</a:t>
            </a:r>
          </a:p>
        </p:txBody>
      </p:sp>
    </p:spTree>
    <p:extLst>
      <p:ext uri="{BB962C8B-B14F-4D97-AF65-F5344CB8AC3E}">
        <p14:creationId xmlns:p14="http://schemas.microsoft.com/office/powerpoint/2010/main" val="127611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85855"/>
            <a:ext cx="106182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7.H1.3 Guided Instruction: Law of Sines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50516" y="1386150"/>
                <a:ext cx="1011256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Some of the measurements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𝐷𝐿𝐶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=17,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𝐷𝐿𝐶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=40°, 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𝐶𝐷𝐿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.Determine the measurement of each part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𝐷𝐿𝐶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Round to the nearest tenth.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50"/>
                <a:ext cx="10112568" cy="1015663"/>
              </a:xfrm>
              <a:prstGeom prst="rect">
                <a:avLst/>
              </a:prstGeom>
              <a:blipFill>
                <a:blip r:embed="rId5"/>
                <a:stretch>
                  <a:fillRect l="-663" t="-3593" r="-121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4206965"/>
                  </p:ext>
                </p:extLst>
              </p:nvPr>
            </p:nvGraphicFramePr>
            <p:xfrm>
              <a:off x="1622151" y="2710847"/>
              <a:ext cx="7391613" cy="27610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079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37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08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Measurement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76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𝐿𝐶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76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3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3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𝐷𝐶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76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3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𝐷𝐶𝐿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4206965"/>
                  </p:ext>
                </p:extLst>
              </p:nvPr>
            </p:nvGraphicFramePr>
            <p:xfrm>
              <a:off x="1622151" y="2710847"/>
              <a:ext cx="7391613" cy="27610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079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37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081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Measurement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76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4" t="-85593" r="-110938" b="-2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76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4" t="-185593" r="-110938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76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4" t="-285593" r="-110938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80013" marR="8001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1536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8"/>
                <a:ext cx="110260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𝑅𝐹𝑀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=66,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𝑅𝐹𝑀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=26°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Determine the measurement of each part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𝑅𝐹𝑀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Round to the nearest tenth.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8"/>
                <a:ext cx="11026091" cy="707886"/>
              </a:xfrm>
              <a:prstGeom prst="rect">
                <a:avLst/>
              </a:prstGeom>
              <a:blipFill>
                <a:blip r:embed="rId4"/>
                <a:stretch>
                  <a:fillRect l="-608" t="-512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965544"/>
                  </p:ext>
                </p:extLst>
              </p:nvPr>
            </p:nvGraphicFramePr>
            <p:xfrm>
              <a:off x="1383189" y="1578842"/>
              <a:ext cx="7285260" cy="28309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574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27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748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Measurement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20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2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𝐹𝑅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520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𝐹𝑅𝑀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20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2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𝐹𝑀𝑅</m:t>
                                </m:r>
                              </m:oMath>
                            </m:oMathPara>
                          </a14:m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965544"/>
                  </p:ext>
                </p:extLst>
              </p:nvPr>
            </p:nvGraphicFramePr>
            <p:xfrm>
              <a:off x="1383189" y="1578842"/>
              <a:ext cx="7285260" cy="283092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574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278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7488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Part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Measurement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520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" t="-78049" r="-111092" b="-2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520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" t="-176613" r="-111092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520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" t="-276613" r="-111092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2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6548" marR="7654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4874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431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23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878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125575"/>
            <a:ext cx="99038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7.H1.4 Guided Practice: Law of Sines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77652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431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50516" y="1386150"/>
                <a:ext cx="109611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𝐿𝑉𝑌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has side measurements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=8.5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=16.5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𝐿𝑉𝑌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84°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all missing sides and angles. Round to the nearest tenth.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50"/>
                <a:ext cx="10961136" cy="707886"/>
              </a:xfrm>
              <a:prstGeom prst="rect">
                <a:avLst/>
              </a:prstGeom>
              <a:blipFill>
                <a:blip r:embed="rId5"/>
                <a:stretch>
                  <a:fillRect l="-556" t="-4274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9185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8"/>
                <a:ext cx="110260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three known measurements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=26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𝑁𝐷𝐻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=80°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𝐷𝑁𝐻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Find all missing sides and angles. Round to the nearest tenth.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8"/>
                <a:ext cx="11026091" cy="707886"/>
              </a:xfrm>
              <a:prstGeom prst="rect">
                <a:avLst/>
              </a:prstGeom>
              <a:blipFill>
                <a:blip r:embed="rId4"/>
                <a:stretch>
                  <a:fillRect l="-608" t="-5128" b="-13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02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432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09918" y="6855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7.H1.5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85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714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50516" y="1394251"/>
                <a:ext cx="11077634" cy="1939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𝐿𝑆𝐾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𝐿𝑆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𝐾𝐿𝑆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𝐾𝑆𝐿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=107°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Round to the nearest tenth.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Cell phone towers represented by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miles apart. A new tower,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is being built so that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=26°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How far from tower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will tower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be built? Round to the nearest tenth.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94251"/>
                <a:ext cx="11077634" cy="1939698"/>
              </a:xfrm>
              <a:prstGeom prst="rect">
                <a:avLst/>
              </a:prstGeom>
              <a:blipFill>
                <a:blip r:embed="rId5"/>
                <a:stretch>
                  <a:fillRect l="-605" t="-2201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1301" y="3760419"/>
            <a:ext cx="4165567" cy="277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77652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433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878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8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7.H1.6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0516" y="1386149"/>
            <a:ext cx="1073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was the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muddiest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(most difficult or confusing) point in today’s lesson on the Law of Sines?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4933" y="2825218"/>
            <a:ext cx="37338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1032</Words>
  <Application>Microsoft Office PowerPoint</Application>
  <PresentationFormat>Widescreen</PresentationFormat>
  <Paragraphs>182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7, Lesson H1  Law of Sines  Volume 1, pg. 427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22</cp:revision>
  <dcterms:created xsi:type="dcterms:W3CDTF">2015-03-17T18:51:18Z</dcterms:created>
  <dcterms:modified xsi:type="dcterms:W3CDTF">2022-07-04T21:19:02Z</dcterms:modified>
</cp:coreProperties>
</file>